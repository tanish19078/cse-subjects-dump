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6858000" cx="9144000"/>
  <p:notesSz cx="6858000" cy="9144000"/>
  <p:embeddedFontLst>
    <p:embeddedFont>
      <p:font typeface="Quattrocento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g+OWJs7AzVGxRXyTiam3NNtrW7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FA88A0-500D-43FF-AB7B-9B9E46E50E5A}">
  <a:tblStyle styleId="{9BFA88A0-500D-43FF-AB7B-9B9E46E50E5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718F6CE-242B-49AE-AB84-1E0B7F1613B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QuattrocentoSans-regular.fntdata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font" Target="fonts/QuattrocentoSans-italic.fntdata"/><Relationship Id="rId23" Type="http://schemas.openxmlformats.org/officeDocument/2006/relationships/slide" Target="slides/slide17.xml"/><Relationship Id="rId45" Type="http://schemas.openxmlformats.org/officeDocument/2006/relationships/font" Target="fonts/Quattrocento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customschemas.google.com/relationships/presentationmetadata" Target="metadata"/><Relationship Id="rId25" Type="http://schemas.openxmlformats.org/officeDocument/2006/relationships/slide" Target="slides/slide19.xml"/><Relationship Id="rId47" Type="http://schemas.openxmlformats.org/officeDocument/2006/relationships/font" Target="fonts/QuattrocentoSans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gif" id="25" name="Google Shape;25;p39"/>
          <p:cNvPicPr preferRelativeResize="0"/>
          <p:nvPr/>
        </p:nvPicPr>
        <p:blipFill rotWithShape="1">
          <a:blip r:embed="rId2">
            <a:alphaModFix/>
          </a:blip>
          <a:srcRect b="10713" l="0" r="0" t="0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9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39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8" name="Google Shape;28;p39"/>
            <p:cNvPicPr preferRelativeResize="0"/>
            <p:nvPr/>
          </p:nvPicPr>
          <p:blipFill rotWithShape="1">
            <a:blip r:embed="rId2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9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30" name="Google Shape;3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9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68300" lvl="2" marL="1371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68300" lvl="3" marL="18288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68300" lvl="4" marL="22860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1"/>
          <p:cNvSpPr txBox="1"/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" type="subTitle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8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8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8"/>
          <p:cNvSpPr/>
          <p:nvPr/>
        </p:nvSpPr>
        <p:spPr>
          <a:xfrm flipH="1" rot="10800000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gif" id="17" name="Google Shape;17;p38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8" name="Google Shape;18;p38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8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3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1" name="Google Shape;21;p38"/>
            <p:cNvPicPr preferRelativeResize="0"/>
            <p:nvPr/>
          </p:nvPicPr>
          <p:blipFill rotWithShape="1">
            <a:blip r:embed="rId1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3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3" name="Google Shape;23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w3schools.com/tags/tag_abbr.asp" TargetMode="External"/><Relationship Id="rId4" Type="http://schemas.openxmlformats.org/officeDocument/2006/relationships/hyperlink" Target="https://www.w3schools.com/tags/tag_address.asp" TargetMode="External"/><Relationship Id="rId5" Type="http://schemas.openxmlformats.org/officeDocument/2006/relationships/hyperlink" Target="https://www.w3schools.com/tags/tag_bdo.asp" TargetMode="External"/><Relationship Id="rId6" Type="http://schemas.openxmlformats.org/officeDocument/2006/relationships/hyperlink" Target="https://www.w3schools.com/tags/tag_blockquote.asp" TargetMode="External"/><Relationship Id="rId7" Type="http://schemas.openxmlformats.org/officeDocument/2006/relationships/hyperlink" Target="https://www.w3schools.com/tags/tag_cite.asp" TargetMode="External"/><Relationship Id="rId8" Type="http://schemas.openxmlformats.org/officeDocument/2006/relationships/hyperlink" Target="https://www.w3schools.com/tags/tag_q.asp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52400" y="914400"/>
            <a:ext cx="87630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331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 sz="5000">
                <a:solidFill>
                  <a:schemeClr val="dk1"/>
                </a:solidFill>
              </a:rPr>
              <a:t>More on HTML</a:t>
            </a:r>
            <a:endParaRPr b="1"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1905000" y="4953000"/>
            <a:ext cx="4762500" cy="57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Dr. Gaganpreet Kaur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1676400" y="5599331"/>
            <a:ext cx="6172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</p:txBody>
      </p:sp>
      <p:sp>
        <p:nvSpPr>
          <p:cNvPr id="54" name="Google Shape;5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&lt;div&gt; tag</a:t>
            </a:r>
            <a:endParaRPr/>
          </a:p>
        </p:txBody>
      </p:sp>
      <p:sp>
        <p:nvSpPr>
          <p:cNvPr id="60" name="Google Shape;60;p2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The &lt;div&gt; tag defines a division or a section in an HTML document.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The &lt;div&gt; tag is used as a container for HTML elements - which is then styled with CSS or manipulated with JavaScript.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The &lt;div&gt; tag is easily styled by using the class or id attribute.</a:t>
            </a:r>
            <a:endParaRPr/>
          </a:p>
        </p:txBody>
      </p:sp>
      <p:sp>
        <p:nvSpPr>
          <p:cNvPr id="61" name="Google Shape;61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idx="1" type="body"/>
          </p:nvPr>
        </p:nvSpPr>
        <p:spPr>
          <a:xfrm>
            <a:off x="95250" y="114300"/>
            <a:ext cx="8801100" cy="611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&lt;!DOCTYPE html&gt;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&lt;html&gt;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&lt;head&gt;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&lt;style&gt;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.myDiv {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  border: 5px outset black;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  background-color: lightgreen;   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  text-align: center;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}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&lt;/style&gt;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&lt;/head&gt;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&lt;body&gt;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&lt;h1&gt;The div element&lt;/h1&gt;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&lt;div class="myDiv"&gt;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  &lt;h2&gt;This is a heading in a div element&lt;/h2&gt;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  &lt;p&gt;This is some text present  in a div element.&lt;/p&gt;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&lt;/div&gt;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&lt;p&gt;This is text outside the div element.&lt;/p&gt;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&lt;/body&gt;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&lt;/html&gt;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                    A &lt;div&gt; section in a document that is styled with CSS:</a:t>
            </a:r>
            <a:endParaRPr b="1" sz="1000"/>
          </a:p>
        </p:txBody>
      </p:sp>
      <p:sp>
        <p:nvSpPr>
          <p:cNvPr id="67" name="Google Shape;6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3982" l="49884" r="0" t="26427"/>
          <a:stretch/>
        </p:blipFill>
        <p:spPr>
          <a:xfrm>
            <a:off x="609600" y="1295400"/>
            <a:ext cx="805943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Block-level Elements</a:t>
            </a:r>
            <a:br>
              <a:rPr lang="en-US"/>
            </a:br>
            <a:endParaRPr/>
          </a:p>
        </p:txBody>
      </p:sp>
      <p:sp>
        <p:nvSpPr>
          <p:cNvPr id="80" name="Google Shape;80;p5"/>
          <p:cNvSpPr txBox="1"/>
          <p:nvPr>
            <p:ph idx="1" type="body"/>
          </p:nvPr>
        </p:nvSpPr>
        <p:spPr>
          <a:xfrm>
            <a:off x="190500" y="1143000"/>
            <a:ext cx="8953500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A block-level element always starts on a new line, and the browsers automatically add some space (a margin) before and after the element.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A block-level element always takes up the full width available (stretches out to the left and right as far as it can).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Two commonly used block elements are: &lt;p&gt; and &lt;div&gt;.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The &lt;p&gt; element defines a paragraph in an HTML document.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The &lt;div&gt; element defines a division or a section in an HTML document.</a:t>
            </a:r>
            <a:endParaRPr/>
          </a:p>
        </p:txBody>
      </p:sp>
      <p:sp>
        <p:nvSpPr>
          <p:cNvPr id="81" name="Google Shape;81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41313" y="1247775"/>
            <a:ext cx="6581775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&lt;p style="border: 1px solid black"&gt;Hello G27&lt;/p&gt;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&lt;div style="border: 1px solid black"&gt;Hello G27&lt;/div&gt;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&lt;/html&gt;</a:t>
            </a:r>
            <a:endParaRPr/>
          </a:p>
        </p:txBody>
      </p:sp>
      <p:pic>
        <p:nvPicPr>
          <p:cNvPr id="89" name="Google Shape;89;p6"/>
          <p:cNvPicPr preferRelativeResize="0"/>
          <p:nvPr/>
        </p:nvPicPr>
        <p:blipFill rotWithShape="1">
          <a:blip r:embed="rId3">
            <a:alphaModFix/>
          </a:blip>
          <a:srcRect b="52554" l="50536" r="2115" t="25594"/>
          <a:stretch/>
        </p:blipFill>
        <p:spPr>
          <a:xfrm>
            <a:off x="2429575" y="4387850"/>
            <a:ext cx="5990525" cy="196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Inline Elements</a:t>
            </a:r>
            <a:br>
              <a:rPr lang="en-US"/>
            </a:br>
            <a:endParaRPr/>
          </a:p>
        </p:txBody>
      </p:sp>
      <p:sp>
        <p:nvSpPr>
          <p:cNvPr id="95" name="Google Shape;95;p7"/>
          <p:cNvSpPr txBox="1"/>
          <p:nvPr>
            <p:ph idx="1" type="body"/>
          </p:nvPr>
        </p:nvSpPr>
        <p:spPr>
          <a:xfrm>
            <a:off x="152400" y="990600"/>
            <a:ext cx="85344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An inline element does not start on a new line.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An inline element only takes up as much width as necessary</a:t>
            </a:r>
            <a:endParaRPr/>
          </a:p>
        </p:txBody>
      </p:sp>
      <p:sp>
        <p:nvSpPr>
          <p:cNvPr id="96" name="Google Shape;9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495300" y="2701925"/>
            <a:ext cx="4572000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&lt;p&gt;This is an inline span &lt;span style="border: 1px solid black"&gt;Hello World&lt;/span&gt; element inside a paragraph.&lt;/p&gt;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&lt;/html&gt;</a:t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4152900" y="4933950"/>
            <a:ext cx="45720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an inline span Hello World element inside a paragraph.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8"/>
          <p:cNvPicPr preferRelativeResize="0"/>
          <p:nvPr/>
        </p:nvPicPr>
        <p:blipFill rotWithShape="1">
          <a:blip r:embed="rId3">
            <a:alphaModFix/>
          </a:blip>
          <a:srcRect b="39443" l="0" r="0" t="24603"/>
          <a:stretch/>
        </p:blipFill>
        <p:spPr>
          <a:xfrm>
            <a:off x="0" y="990600"/>
            <a:ext cx="9144000" cy="3698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Text Formatting Tags</a:t>
            </a:r>
            <a:endParaRPr/>
          </a:p>
        </p:txBody>
      </p:sp>
      <p:sp>
        <p:nvSpPr>
          <p:cNvPr id="111" name="Google Shape;111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304800" y="990600"/>
            <a:ext cx="8305800" cy="433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Formatting elements were designed to display special types of text: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&lt;b&gt; -         Bold 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&lt;strong&gt; - Important 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&lt;i&gt; -          Italic 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&lt;em&gt; -     Emphasized 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&lt;mark&gt; -   Marked 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&lt;small&gt; -   Smaller 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&lt;del&gt; -      Deleted 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&lt;ins&gt; -       Inserted 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&lt;sub&gt; -    Subscript 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&lt;sup&gt; -    Superscript text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Text Formatting Tags: Example</a:t>
            </a:r>
            <a:endParaRPr/>
          </a:p>
        </p:txBody>
      </p:sp>
      <p:sp>
        <p:nvSpPr>
          <p:cNvPr id="118" name="Google Shape;11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304800" y="990600"/>
            <a:ext cx="83058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&lt;p&gt;This text is normal.&lt;/p&gt;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&lt;p&gt;&lt;b&gt;This text is bold.&lt;/b&gt;&lt;/p&gt;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&lt;/html&gt;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Text Formatting Tags: Example</a:t>
            </a:r>
            <a:endParaRPr/>
          </a:p>
        </p:txBody>
      </p:sp>
      <p:sp>
        <p:nvSpPr>
          <p:cNvPr id="125" name="Google Shape;125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11"/>
          <p:cNvPicPr preferRelativeResize="0"/>
          <p:nvPr/>
        </p:nvPicPr>
        <p:blipFill rotWithShape="1">
          <a:blip r:embed="rId3">
            <a:alphaModFix/>
          </a:blip>
          <a:srcRect b="51111" l="50000" r="18213" t="25555"/>
          <a:stretch/>
        </p:blipFill>
        <p:spPr>
          <a:xfrm>
            <a:off x="457200" y="1219200"/>
            <a:ext cx="5812971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 Quotation and Citation Elements</a:t>
            </a:r>
            <a:endParaRPr/>
          </a:p>
        </p:txBody>
      </p:sp>
      <p:sp>
        <p:nvSpPr>
          <p:cNvPr id="132" name="Google Shape;1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3" name="Google Shape;133;p12"/>
          <p:cNvGraphicFramePr/>
          <p:nvPr/>
        </p:nvGraphicFramePr>
        <p:xfrm>
          <a:off x="304800" y="1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{9BFA88A0-500D-43FF-AB7B-9B9E46E50E5A}</a:tableStyleId>
              </a:tblPr>
              <a:tblGrid>
                <a:gridCol w="1644500"/>
                <a:gridCol w="6585100"/>
              </a:tblGrid>
              <a:tr h="34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Tag</a:t>
                      </a:r>
                      <a:endParaRPr/>
                    </a:p>
                  </a:txBody>
                  <a:tcPr marT="53200" marB="53200" marR="53200" marL="1063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53200" marB="53200" marR="53200" marL="53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sng" cap="none" strike="noStrike">
                          <a:solidFill>
                            <a:schemeClr val="dk1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&lt;abbr&gt;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3200" marB="53200" marR="53200" marL="1063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Defines an abbreviation or acronym</a:t>
                      </a:r>
                      <a:endParaRPr/>
                    </a:p>
                  </a:txBody>
                  <a:tcPr marT="53200" marB="53200" marR="53200" marL="53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  <a:tr h="34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sng" cap="none" strike="noStrike">
                          <a:solidFill>
                            <a:schemeClr val="dk1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&lt;address&gt;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3200" marB="53200" marR="53200" marL="1063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Defines contact information for the author/owner of a document</a:t>
                      </a:r>
                      <a:endParaRPr/>
                    </a:p>
                  </a:txBody>
                  <a:tcPr marT="53200" marB="53200" marR="53200" marL="53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sng" cap="none" strike="noStrike">
                          <a:solidFill>
                            <a:schemeClr val="dk1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&lt;bdo&gt;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3200" marB="53200" marR="53200" marL="1063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Defines the text direction</a:t>
                      </a:r>
                      <a:endParaRPr/>
                    </a:p>
                  </a:txBody>
                  <a:tcPr marT="53200" marB="53200" marR="53200" marL="53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  <a:tr h="34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sng" cap="none" strike="noStrike">
                          <a:solidFill>
                            <a:schemeClr val="dk1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&lt;blockquote&gt;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3200" marB="53200" marR="53200" marL="1063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Defines a section that is quoted from another source</a:t>
                      </a:r>
                      <a:endParaRPr/>
                    </a:p>
                  </a:txBody>
                  <a:tcPr marT="53200" marB="53200" marR="53200" marL="53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sng" cap="none" strike="noStrike">
                          <a:solidFill>
                            <a:schemeClr val="dk1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&lt;cite&gt;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3200" marB="53200" marR="53200" marL="1063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Defines the title of a work</a:t>
                      </a:r>
                      <a:endParaRPr/>
                    </a:p>
                  </a:txBody>
                  <a:tcPr marT="53200" marB="53200" marR="53200" marL="53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  <a:tr h="34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sng" cap="none" strike="noStrike">
                          <a:solidFill>
                            <a:schemeClr val="dk1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&lt;q&gt;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3200" marB="53200" marR="53200" marL="1063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Defines a short inline quotation</a:t>
                      </a:r>
                      <a:endParaRPr/>
                    </a:p>
                  </a:txBody>
                  <a:tcPr marT="53200" marB="53200" marR="53200" marL="53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&lt;abbr&gt; Tag</a:t>
            </a:r>
            <a:endParaRPr/>
          </a:p>
        </p:txBody>
      </p:sp>
      <p:sp>
        <p:nvSpPr>
          <p:cNvPr id="139" name="Google Shape;139;p13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HTML &lt;abbr&gt; for Abbreviations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The HTML &lt;abbr&gt; tag defines an abbreviation or an acronym, like "HTML", "CSS", "Mr.", "Dr.", "ASAP", "ATM".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Marking abbreviations can give useful information to browsers, translation systems and search-engines.</a:t>
            </a:r>
            <a:endParaRPr/>
          </a:p>
        </p:txBody>
      </p:sp>
      <p:sp>
        <p:nvSpPr>
          <p:cNvPr id="140" name="Google Shape;14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&lt;abbr&gt; Tag</a:t>
            </a:r>
            <a:endParaRPr/>
          </a:p>
        </p:txBody>
      </p:sp>
      <p:sp>
        <p:nvSpPr>
          <p:cNvPr id="146" name="Google Shape;14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14"/>
          <p:cNvSpPr txBox="1"/>
          <p:nvPr>
            <p:ph idx="1" type="body"/>
          </p:nvPr>
        </p:nvSpPr>
        <p:spPr>
          <a:xfrm>
            <a:off x="152400" y="9906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/>
              <a:t>&lt;!DOCTYPE html&gt;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/>
              <a:t>&lt;html&gt;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/>
              <a:t>&lt;body&gt;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/>
              <a:t>&lt;p&gt;The &lt;abbr title="World Health Organization"&gt;WHO&lt;/abbr&gt; was founded in 1948.&lt;/p&gt;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/>
              <a:t>&lt;p&gt;Marking up abbreviations can give useful information to browsers, translation systems and search-engines.&lt;/p&gt;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/>
              <a:t>&lt;/body&gt;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/>
              <a:t>&lt;/html&gt;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&lt;abbr&gt; Tag</a:t>
            </a:r>
            <a:endParaRPr/>
          </a:p>
        </p:txBody>
      </p:sp>
      <p:sp>
        <p:nvSpPr>
          <p:cNvPr id="153" name="Google Shape;1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4" name="Google Shape;154;p15"/>
          <p:cNvPicPr preferRelativeResize="0"/>
          <p:nvPr/>
        </p:nvPicPr>
        <p:blipFill rotWithShape="1">
          <a:blip r:embed="rId3">
            <a:alphaModFix/>
          </a:blip>
          <a:srcRect b="46488" l="49677" r="0" t="26272"/>
          <a:stretch/>
        </p:blipFill>
        <p:spPr>
          <a:xfrm>
            <a:off x="228600" y="1066800"/>
            <a:ext cx="8001000" cy="243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&lt;address&gt; Tag</a:t>
            </a:r>
            <a:endParaRPr/>
          </a:p>
        </p:txBody>
      </p:sp>
      <p:sp>
        <p:nvSpPr>
          <p:cNvPr id="160" name="Google Shape;1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1" name="Google Shape;161;p16"/>
          <p:cNvPicPr preferRelativeResize="0"/>
          <p:nvPr/>
        </p:nvPicPr>
        <p:blipFill rotWithShape="1">
          <a:blip r:embed="rId3">
            <a:alphaModFix/>
          </a:blip>
          <a:srcRect b="37458" l="0" r="0" t="26249"/>
          <a:stretch/>
        </p:blipFill>
        <p:spPr>
          <a:xfrm>
            <a:off x="229625" y="2667000"/>
            <a:ext cx="8701474" cy="3378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/>
          <p:nvPr/>
        </p:nvSpPr>
        <p:spPr>
          <a:xfrm>
            <a:off x="76200" y="914400"/>
            <a:ext cx="70104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HTML &lt;address&gt; tag defines the contact information for the author/owner of a document or an article.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contact information can be an email address, URL, physical address, phone number, social media handle, etc.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 Semantic Elements</a:t>
            </a:r>
            <a:br>
              <a:rPr lang="en-US"/>
            </a:br>
            <a:endParaRPr/>
          </a:p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161925" y="1076325"/>
            <a:ext cx="8467725" cy="5148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What are Semantic Elements?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A semantic element clearly describes its meaning to both the browser and the developer.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Examples of non-semantic elements: &lt;div&gt; and &lt;span&gt; - Tells nothing about its content.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Examples of semantic elements: &lt;form&gt;, &lt;table&gt;, and &lt;article&gt; - Clearly defines its content.</a:t>
            </a:r>
            <a:endParaRPr/>
          </a:p>
        </p:txBody>
      </p:sp>
      <p:sp>
        <p:nvSpPr>
          <p:cNvPr id="169" name="Google Shape;16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 Hyper Links</a:t>
            </a:r>
            <a:endParaRPr/>
          </a:p>
        </p:txBody>
      </p:sp>
      <p:sp>
        <p:nvSpPr>
          <p:cNvPr id="175" name="Google Shape;175;p18"/>
          <p:cNvSpPr txBox="1"/>
          <p:nvPr>
            <p:ph idx="1" type="body"/>
          </p:nvPr>
        </p:nvSpPr>
        <p:spPr>
          <a:xfrm>
            <a:off x="76200" y="1131888"/>
            <a:ext cx="8953500" cy="276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HTML links are hyperlinks.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You can click on a link and jump to another document.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When you move the mouse over a link, the mouse arrow will turn into a little hand.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Note: A link does not have to be text. A link can be an image or any other HTML element!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295275" y="3843338"/>
            <a:ext cx="8582025" cy="2314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3475" lIns="0" spcFirstLastPara="1" rIns="0" wrap="square" tIns="634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HTML Links - Syntax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HTML</a:t>
            </a:r>
            <a:r>
              <a:rPr b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lang="en-US" sz="1400">
                <a:solidFill>
                  <a:srgbClr val="DC143C"/>
                </a:solidFill>
                <a:latin typeface="Consolas"/>
                <a:ea typeface="Consolas"/>
                <a:cs typeface="Consolas"/>
                <a:sym typeface="Consolas"/>
              </a:rPr>
              <a:t>&lt;a&gt;</a:t>
            </a:r>
            <a:r>
              <a:rPr b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lang="en-US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tag defines a hyperlink. It has the following syntax:</a:t>
            </a:r>
            <a:endParaRPr b="1"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b="1"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b="1" i="1"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b="1"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b="1" i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link text</a:t>
            </a:r>
            <a:r>
              <a:rPr b="1"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/a</a:t>
            </a:r>
            <a:r>
              <a:rPr b="1"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1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most important attribute of the</a:t>
            </a:r>
            <a:r>
              <a:rPr b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lang="en-US" sz="1400">
                <a:solidFill>
                  <a:srgbClr val="DC143C"/>
                </a:solidFill>
                <a:latin typeface="Consolas"/>
                <a:ea typeface="Consolas"/>
                <a:cs typeface="Consolas"/>
                <a:sym typeface="Consolas"/>
              </a:rPr>
              <a:t>&lt;a&gt;</a:t>
            </a:r>
            <a:r>
              <a:rPr b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lang="en-US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element is the</a:t>
            </a:r>
            <a:r>
              <a:rPr b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lang="en-US" sz="1400">
                <a:solidFill>
                  <a:srgbClr val="DC143C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b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lang="en-US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attribute, </a:t>
            </a:r>
            <a:r>
              <a:rPr i="1" lang="en-US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which indicates the link's destination.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b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i="1" lang="en-US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link text</a:t>
            </a:r>
            <a:r>
              <a:rPr b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lang="en-US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is the part that will be visible to the reader.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Clicking on the link text, will send the reader to the specified URL address.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5305425" y="4527550"/>
            <a:ext cx="319087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&lt;a&gt; is called anchor tag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 txBox="1"/>
          <p:nvPr>
            <p:ph idx="1" type="body"/>
          </p:nvPr>
        </p:nvSpPr>
        <p:spPr>
          <a:xfrm>
            <a:off x="123825" y="1185863"/>
            <a:ext cx="8515350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&lt;!DOCTYPE html&gt;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&lt;html&gt;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&lt;body&gt;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&lt;h1&gt;HTML Links&lt;/h1&gt;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&lt;p&gt;&lt;a href="https://www.google.co.in/"&gt;Visit Google !&lt;/a&gt;&lt;/p&gt;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&lt;/body&gt;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&lt;/html&gt;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Absolute URLs vs. Relative URLs</a:t>
            </a:r>
            <a:br>
              <a:rPr lang="en-US"/>
            </a:br>
            <a:endParaRPr/>
          </a:p>
        </p:txBody>
      </p:sp>
      <p:sp>
        <p:nvSpPr>
          <p:cNvPr id="191" name="Google Shape;191;p20"/>
          <p:cNvSpPr txBox="1"/>
          <p:nvPr>
            <p:ph idx="1" type="body"/>
          </p:nvPr>
        </p:nvSpPr>
        <p:spPr>
          <a:xfrm>
            <a:off x="95250" y="1471613"/>
            <a:ext cx="8839200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Both examples above are using an </a:t>
            </a:r>
            <a:r>
              <a:rPr b="1" lang="en-US"/>
              <a:t>absolute URL </a:t>
            </a:r>
            <a:r>
              <a:rPr lang="en-US"/>
              <a:t>(a full web address) in the href attribute.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A </a:t>
            </a:r>
            <a:r>
              <a:rPr b="1" lang="en-US"/>
              <a:t>local link </a:t>
            </a:r>
            <a:r>
              <a:rPr lang="en-US"/>
              <a:t>(a link to a page within the same website) is specified with a </a:t>
            </a:r>
            <a:r>
              <a:rPr b="1" lang="en-US"/>
              <a:t>relative URL          </a:t>
            </a:r>
            <a:r>
              <a:rPr lang="en-US"/>
              <a:t>(</a:t>
            </a:r>
            <a:r>
              <a:rPr b="1" lang="en-US"/>
              <a:t>without</a:t>
            </a:r>
            <a:r>
              <a:rPr lang="en-US"/>
              <a:t> the "https://www" part):</a:t>
            </a:r>
            <a:endParaRPr/>
          </a:p>
        </p:txBody>
      </p:sp>
      <p:sp>
        <p:nvSpPr>
          <p:cNvPr id="192" name="Google Shape;19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 txBox="1"/>
          <p:nvPr>
            <p:ph idx="1" type="body"/>
          </p:nvPr>
        </p:nvSpPr>
        <p:spPr>
          <a:xfrm>
            <a:off x="95250" y="1133475"/>
            <a:ext cx="8477250" cy="5091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&lt;!DOCTYPE html&gt;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&lt;html&gt;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&lt;body&gt;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&lt;h2&gt;Absolute URLs&lt;/h2&gt;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&lt;p&gt;&lt;a href="https://www.google.com/"&gt;Google&lt;/a&gt;&lt;/p&gt;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&lt;h2&gt;Relative URLs&lt;/h2&gt;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&lt;p&gt;&lt;a href="html_images.asp"&gt;HTML Images&lt;/a&gt;&lt;/p&gt;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&lt;p&gt;&lt;a href="/css/default.asp"&gt;CSS Tutorial&lt;/a&gt;&lt;/p&gt;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&lt;/body&gt;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&lt;/html&gt;</a:t>
            </a:r>
            <a:endParaRPr/>
          </a:p>
        </p:txBody>
      </p:sp>
      <p:sp>
        <p:nvSpPr>
          <p:cNvPr id="199" name="Google Shape;19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"/>
          <p:cNvSpPr txBox="1"/>
          <p:nvPr>
            <p:ph idx="1" type="body"/>
          </p:nvPr>
        </p:nvSpPr>
        <p:spPr>
          <a:xfrm>
            <a:off x="152400" y="9144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sz="4400"/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sz="4400"/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/>
              <a:t>     TABLE TAGS</a:t>
            </a:r>
            <a:endParaRPr/>
          </a:p>
        </p:txBody>
      </p:sp>
      <p:sp>
        <p:nvSpPr>
          <p:cNvPr id="206" name="Google Shape;20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/>
            </a:br>
            <a:r>
              <a:rPr b="1" lang="en-US"/>
              <a:t>HTML &lt;table&gt; Tag</a:t>
            </a:r>
            <a:br>
              <a:rPr b="1" lang="en-US"/>
            </a:br>
            <a:endParaRPr b="1"/>
          </a:p>
        </p:txBody>
      </p:sp>
      <p:sp>
        <p:nvSpPr>
          <p:cNvPr id="212" name="Google Shape;21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3"/>
          <p:cNvSpPr txBox="1"/>
          <p:nvPr>
            <p:ph idx="1" type="body"/>
          </p:nvPr>
        </p:nvSpPr>
        <p:spPr>
          <a:xfrm>
            <a:off x="95250" y="1712913"/>
            <a:ext cx="8953500" cy="19383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HTML table consists of one &lt;table&gt; element and one or more &lt;tr&gt;, &lt;th&gt;, &lt;td&gt; elements.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&lt;tr&gt; element defines a table row,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&lt;th&gt; element defines a table header,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the &lt;td&gt; element defines a table cell.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19" name="Google Shape;219;p24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&lt;!DOCTYPE html&gt;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&lt;html&gt;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&lt;head&gt;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&lt;style&gt;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bordertable, th, td {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: 1px solid black;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}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Th, td {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Padding: 10px;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}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&lt;/style&gt;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&lt;/head&gt;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&lt;body&gt;</a:t>
            </a:r>
            <a:endParaRPr/>
          </a:p>
          <a:p>
            <a:pPr indent="-2413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413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220" name="Google Shape;2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26" name="Google Shape;226;p25"/>
          <p:cNvSpPr txBox="1"/>
          <p:nvPr>
            <p:ph idx="1" type="body"/>
          </p:nvPr>
        </p:nvSpPr>
        <p:spPr>
          <a:xfrm>
            <a:off x="85725" y="1090613"/>
            <a:ext cx="7073900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&lt;h1&gt;The table element&lt;/h1&gt;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&lt;table style = “width:500px”&gt;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&lt;table style = “background-color:#000000”&gt;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&lt;table style = “float:right”&gt;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&lt;tr&gt;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&lt;th&gt;Month&lt;/th&gt;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&lt;th&gt;Savings&lt;/th&gt;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&lt;/tr&gt;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&lt;tr&gt;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&lt;td&gt;January&lt;/td&gt;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&lt;td&gt;$100&lt;/td&gt;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&lt;/tr&gt;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&lt;tr&gt;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&lt;td&gt;February&lt;/td&gt;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&lt;td&gt;$80&lt;/td&gt;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&lt;/tr&gt;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&lt;/table&gt;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&lt;/body&gt;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&lt;/html&gt;</a:t>
            </a:r>
            <a:endParaRPr/>
          </a:p>
          <a:p>
            <a:pPr indent="-2540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227" name="Google Shape;22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8" name="Google Shape;228;p25"/>
          <p:cNvGraphicFramePr/>
          <p:nvPr/>
        </p:nvGraphicFramePr>
        <p:xfrm>
          <a:off x="5249863" y="27035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{7718F6CE-242B-49AE-AB84-1E0B7F1613B8}</a:tableStyleId>
              </a:tblPr>
              <a:tblGrid>
                <a:gridCol w="1666875"/>
                <a:gridCol w="1666875"/>
              </a:tblGrid>
              <a:tr h="678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Month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Savings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5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January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$100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5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Feb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$80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lang="en-US" sz="3000"/>
              <a:t>HTML &lt;caption&gt; Tag</a:t>
            </a:r>
            <a:br>
              <a:rPr b="1" lang="en-US" sz="3000"/>
            </a:br>
            <a:endParaRPr b="1" sz="3000"/>
          </a:p>
        </p:txBody>
      </p:sp>
      <p:sp>
        <p:nvSpPr>
          <p:cNvPr id="234" name="Google Shape;23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6"/>
          <p:cNvSpPr/>
          <p:nvPr/>
        </p:nvSpPr>
        <p:spPr>
          <a:xfrm>
            <a:off x="95250" y="1322388"/>
            <a:ext cx="18415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6"/>
          <p:cNvSpPr txBox="1"/>
          <p:nvPr/>
        </p:nvSpPr>
        <p:spPr>
          <a:xfrm>
            <a:off x="187325" y="1238250"/>
            <a:ext cx="8651875" cy="1385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 </a:t>
            </a:r>
            <a:r>
              <a:rPr lang="en-US" sz="2800">
                <a:solidFill>
                  <a:srgbClr val="DC143C"/>
                </a:solidFill>
                <a:latin typeface="Calibri"/>
                <a:ea typeface="Calibri"/>
                <a:cs typeface="Calibri"/>
                <a:sym typeface="Calibri"/>
              </a:rPr>
              <a:t>&lt;caption&gt;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tag defines a table caption.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 </a:t>
            </a:r>
            <a:r>
              <a:rPr lang="en-US" sz="2800">
                <a:solidFill>
                  <a:srgbClr val="DC143C"/>
                </a:solidFill>
                <a:latin typeface="Calibri"/>
                <a:ea typeface="Calibri"/>
                <a:cs typeface="Calibri"/>
                <a:sym typeface="Calibri"/>
              </a:rPr>
              <a:t>&lt;caption&gt;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tag must be inserted immediately after the &lt;table&gt; tag.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7"/>
          <p:cNvSpPr txBox="1"/>
          <p:nvPr/>
        </p:nvSpPr>
        <p:spPr>
          <a:xfrm>
            <a:off x="176213" y="1046163"/>
            <a:ext cx="7935900" cy="56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&lt;!DOCTYPE html&gt;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&lt;head&gt;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&lt;style&gt;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table, th, td {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border: 1px solid black;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background-image: url('image.jpg');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&lt;/style&gt;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&lt;/head&gt;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&lt;table&gt;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&lt;caption style="text-align:right"&gt;My savings&lt;/caption&gt;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&lt;tr&gt;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&lt;th&gt;Month&lt;/th&gt;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&lt;th&gt;Savings&lt;/th&gt;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&lt;/tr&gt;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&lt;tr&gt;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&lt;td&gt;January&lt;/td&gt;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&lt;td&gt;$100&lt;/td&gt;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&lt;/tr&gt;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&lt;/table&gt;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&lt;br&gt;</a:t>
            </a:r>
            <a:endParaRPr sz="15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8"/>
          <p:cNvSpPr txBox="1"/>
          <p:nvPr/>
        </p:nvSpPr>
        <p:spPr>
          <a:xfrm>
            <a:off x="300050" y="1203325"/>
            <a:ext cx="6664200" cy="49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&lt;table&gt;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&lt;caption style="caption-side:bottom"&gt;My savings&lt;/caption&gt;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&lt;tr&gt;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&lt;th&gt;Month&lt;/th&gt;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&lt;th&gt;Savings&lt;/th&gt;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&lt;/tr&gt;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&lt;tr&gt;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&lt;td&gt;January&lt;/td&gt;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&lt;td&gt;$100&lt;/td&gt;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&lt;/tr&gt;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&lt;/table&gt;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&lt;/html&gt;</a:t>
            </a:r>
            <a:endParaRPr sz="23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 &lt;colgroup&gt; Tag</a:t>
            </a:r>
            <a:endParaRPr/>
          </a:p>
        </p:txBody>
      </p:sp>
      <p:sp>
        <p:nvSpPr>
          <p:cNvPr id="256" name="Google Shape;256;p29"/>
          <p:cNvSpPr txBox="1"/>
          <p:nvPr>
            <p:ph idx="1" type="body"/>
          </p:nvPr>
        </p:nvSpPr>
        <p:spPr>
          <a:xfrm>
            <a:off x="95250" y="1471613"/>
            <a:ext cx="8858250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The &lt;colgroup&gt; tag specifies a group of one or more columns in a table for formatting.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The &lt;colgroup&gt; tag is useful for applying styles to entire columns, instead of repeating the styles for each cell, for each row.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Note: The &lt;colgroup&gt; tag must be a child of a &lt;table&gt; element, after any &lt;caption&gt; elements and before any &lt;thead&gt;, &lt;tbody&gt;, &lt;tfoot&gt;, and &lt;tr&gt; elements.</a:t>
            </a:r>
            <a:endParaRPr/>
          </a:p>
        </p:txBody>
      </p:sp>
      <p:sp>
        <p:nvSpPr>
          <p:cNvPr id="257" name="Google Shape;25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2723" l="0" r="23847" t="22103"/>
          <a:stretch/>
        </p:blipFill>
        <p:spPr>
          <a:xfrm>
            <a:off x="190500" y="1049125"/>
            <a:ext cx="8639100" cy="502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Add a Border</a:t>
            </a:r>
            <a:br>
              <a:rPr lang="en-US"/>
            </a:br>
            <a:endParaRPr/>
          </a:p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152400" y="990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To add a border, use the CSS border property on table, th, and td elements: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Char char="•"/>
            </a:pPr>
            <a:r>
              <a:rPr lang="en-US">
                <a:solidFill>
                  <a:srgbClr val="FF0000"/>
                </a:solidFill>
              </a:rPr>
              <a:t>table, th, td {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  border: 1px solid black;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}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None/>
            </a:pPr>
            <a:r>
              <a:rPr lang="en-US">
                <a:solidFill>
                  <a:srgbClr val="FF0000"/>
                </a:solidFill>
              </a:rPr>
              <a:t>Collapse Borders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table, th, td {</a:t>
            </a:r>
            <a:br>
              <a:rPr lang="en-US"/>
            </a:br>
            <a:r>
              <a:rPr lang="en-US"/>
              <a:t>  border: 1px solid black;</a:t>
            </a:r>
            <a:br>
              <a:rPr lang="en-US"/>
            </a:br>
            <a:r>
              <a:rPr lang="en-US"/>
              <a:t>  border-collapse: collapse;</a:t>
            </a:r>
            <a:br>
              <a:rPr lang="en-US"/>
            </a:br>
            <a:r>
              <a:rPr lang="en-US"/>
              <a:t>}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70" name="Google Shape;27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 Table - Cell Padding</a:t>
            </a:r>
            <a:br>
              <a:rPr lang="en-US"/>
            </a:br>
            <a:endParaRPr/>
          </a:p>
        </p:txBody>
      </p:sp>
      <p:sp>
        <p:nvSpPr>
          <p:cNvPr id="276" name="Google Shape;276;p32"/>
          <p:cNvSpPr txBox="1"/>
          <p:nvPr>
            <p:ph idx="1" type="body"/>
          </p:nvPr>
        </p:nvSpPr>
        <p:spPr>
          <a:xfrm>
            <a:off x="152400" y="914400"/>
            <a:ext cx="8172450" cy="5053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/>
              <a:t>Cell padding is the space between the cell edges and the cell content.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By default the padding is set to 0.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To add padding on table cells, use the CSS padding property: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Example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th, td {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padding: 15px;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}</a:t>
            </a:r>
            <a:endParaRPr/>
          </a:p>
        </p:txBody>
      </p:sp>
      <p:sp>
        <p:nvSpPr>
          <p:cNvPr id="277" name="Google Shape;27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 Table - Cell Spacing</a:t>
            </a:r>
            <a:br>
              <a:rPr lang="en-US"/>
            </a:br>
            <a:endParaRPr/>
          </a:p>
        </p:txBody>
      </p:sp>
      <p:sp>
        <p:nvSpPr>
          <p:cNvPr id="283" name="Google Shape;283;p33"/>
          <p:cNvSpPr txBox="1"/>
          <p:nvPr>
            <p:ph idx="1" type="body"/>
          </p:nvPr>
        </p:nvSpPr>
        <p:spPr>
          <a:xfrm>
            <a:off x="0" y="914400"/>
            <a:ext cx="86868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Cell spacing </a:t>
            </a:r>
            <a:r>
              <a:rPr b="1" lang="en-US"/>
              <a:t>is the space between each cell.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/>
              <a:t>By default the space is set to 2 pixels.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To change the space between table cells, use the CSS border-spacing property on the table element: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Example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table {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  border-spacing: 30px;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}</a:t>
            </a:r>
            <a:endParaRPr/>
          </a:p>
        </p:txBody>
      </p:sp>
      <p:sp>
        <p:nvSpPr>
          <p:cNvPr id="284" name="Google Shape;28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4"/>
          <p:cNvSpPr txBox="1"/>
          <p:nvPr/>
        </p:nvSpPr>
        <p:spPr>
          <a:xfrm>
            <a:off x="69574" y="1014413"/>
            <a:ext cx="8935277" cy="213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650">
            <a:spAutoFit/>
          </a:bodyPr>
          <a:lstStyle/>
          <a:p>
            <a:pPr indent="0" lvl="0" marL="8251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34"/>
          <p:cNvSpPr/>
          <p:nvPr/>
        </p:nvSpPr>
        <p:spPr>
          <a:xfrm>
            <a:off x="4191000" y="990600"/>
            <a:ext cx="4631635" cy="5599962"/>
          </a:xfrm>
          <a:prstGeom prst="rect">
            <a:avLst/>
          </a:prstGeom>
          <a:solidFill>
            <a:srgbClr val="F2DADA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9700" lIns="59400" spcFirstLastPara="1" rIns="59400" wrap="square" tIns="29700">
            <a:spAutoFit/>
          </a:bodyPr>
          <a:lstStyle/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&lt;title&gt;HTML Tables&lt;/title&gt; &lt;/head&gt;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&lt;table border="1"</a:t>
            </a:r>
            <a:r>
              <a:rPr b="1" lang="en-US" sz="1800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bordercolor="red</a:t>
            </a: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 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&lt;tr&gt; </a:t>
            </a:r>
            <a:endParaRPr/>
          </a:p>
          <a:p>
            <a:pPr indent="0" lvl="1" marL="4658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&lt;th&gt;Name&lt;/th&gt;</a:t>
            </a:r>
            <a:endParaRPr/>
          </a:p>
          <a:p>
            <a:pPr indent="0" lvl="1" marL="4658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&lt;th&gt;Salary&lt;/th&gt; 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&lt;/tr&gt;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&lt;tr&gt;</a:t>
            </a:r>
            <a:endParaRPr/>
          </a:p>
          <a:p>
            <a:pPr indent="0" lvl="1" marL="4658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&lt;td&gt;Shivam&lt;/td&gt;</a:t>
            </a:r>
            <a:endParaRPr/>
          </a:p>
          <a:p>
            <a:pPr indent="0" lvl="1" marL="4658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&lt;td&gt;50,000.00&lt;/td&gt;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&lt;/tr&gt;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&lt;tr&gt; </a:t>
            </a:r>
            <a:endParaRPr/>
          </a:p>
          <a:p>
            <a:pPr indent="0" lvl="1" marL="4658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&lt;td&gt;Vansh&lt;/td&gt; </a:t>
            </a:r>
            <a:endParaRPr/>
          </a:p>
          <a:p>
            <a:pPr indent="0" lvl="1" marL="4658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&lt;td&gt;45,000.00&lt;/td&gt;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&lt;/tr&gt;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&lt;/table&gt;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/>
          </a:p>
        </p:txBody>
      </p:sp>
      <p:sp>
        <p:nvSpPr>
          <p:cNvPr id="291" name="Google Shape;291;p34"/>
          <p:cNvSpPr/>
          <p:nvPr/>
        </p:nvSpPr>
        <p:spPr>
          <a:xfrm>
            <a:off x="69574" y="1412081"/>
            <a:ext cx="4631635" cy="521649"/>
          </a:xfrm>
          <a:prstGeom prst="rect">
            <a:avLst/>
          </a:prstGeom>
          <a:noFill/>
          <a:ln>
            <a:noFill/>
          </a:ln>
        </p:spPr>
        <p:txBody>
          <a:bodyPr anchorCtr="0" anchor="t" bIns="29700" lIns="59400" spcFirstLastPara="1" rIns="59400" wrap="square" tIns="29700">
            <a:spAutoFit/>
          </a:bodyPr>
          <a:lstStyle/>
          <a:p>
            <a:pPr indent="-214313" lvl="0" marL="22145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also set border color also using </a:t>
            </a: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bordercolor attribute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2" name="Google Shape;29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783" y="2420182"/>
            <a:ext cx="2503589" cy="154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4"/>
          <p:cNvSpPr/>
          <p:nvPr/>
        </p:nvSpPr>
        <p:spPr>
          <a:xfrm>
            <a:off x="381000" y="152400"/>
            <a:ext cx="4114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8251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Tables – bordercolor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 txBox="1"/>
          <p:nvPr/>
        </p:nvSpPr>
        <p:spPr>
          <a:xfrm>
            <a:off x="-533400" y="152400"/>
            <a:ext cx="8903251" cy="398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650">
            <a:spAutoFit/>
          </a:bodyPr>
          <a:lstStyle/>
          <a:p>
            <a:pPr indent="0" lvl="0" marL="8251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Tables – Backgrounds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35"/>
          <p:cNvSpPr/>
          <p:nvPr/>
        </p:nvSpPr>
        <p:spPr>
          <a:xfrm>
            <a:off x="4297025" y="1462076"/>
            <a:ext cx="4631700" cy="5039700"/>
          </a:xfrm>
          <a:prstGeom prst="rect">
            <a:avLst/>
          </a:prstGeom>
          <a:solidFill>
            <a:srgbClr val="F2DADA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9700" lIns="59400" spcFirstLastPara="1" rIns="59400" wrap="square" tIns="29700">
            <a:spAutoFit/>
          </a:bodyPr>
          <a:lstStyle/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 sz="11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 sz="11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&lt;title&gt;HTML Tables&lt;/title&gt; &lt;/head&gt;</a:t>
            </a:r>
            <a:endParaRPr sz="11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sz="11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&lt;table border="1"</a:t>
            </a:r>
            <a:r>
              <a:rPr b="1" lang="en-US" sz="1500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bgcolor="yellow</a:t>
            </a:r>
            <a:r>
              <a:rPr b="1" lang="en-US" sz="15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"&gt;</a:t>
            </a:r>
            <a:endParaRPr sz="11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&lt;tr&gt; </a:t>
            </a:r>
            <a:endParaRPr sz="1100"/>
          </a:p>
          <a:p>
            <a:pPr indent="0" lvl="1" marL="4658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&lt;th&gt;Name&lt;/th&gt;</a:t>
            </a:r>
            <a:endParaRPr sz="1100"/>
          </a:p>
          <a:p>
            <a:pPr indent="0" lvl="1" marL="4658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&lt;th&gt;Salary&lt;/th&gt; </a:t>
            </a:r>
            <a:endParaRPr sz="11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&lt;/tr&gt;</a:t>
            </a:r>
            <a:endParaRPr sz="11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&lt;tr&gt;</a:t>
            </a:r>
            <a:endParaRPr sz="1100"/>
          </a:p>
          <a:p>
            <a:pPr indent="0" lvl="1" marL="4658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&lt;td&gt;Jayapal&lt;/td&gt;</a:t>
            </a:r>
            <a:endParaRPr sz="1100"/>
          </a:p>
          <a:p>
            <a:pPr indent="0" lvl="1" marL="4658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&lt;td&gt;50,000.00&lt;/td&gt;</a:t>
            </a:r>
            <a:endParaRPr sz="11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&lt;/tr&gt;</a:t>
            </a:r>
            <a:endParaRPr sz="11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&lt;tr&gt; </a:t>
            </a:r>
            <a:endParaRPr sz="1100"/>
          </a:p>
          <a:p>
            <a:pPr indent="0" lvl="1" marL="4658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&lt;td&gt;Ravi&lt;/td&gt; </a:t>
            </a:r>
            <a:endParaRPr sz="1100"/>
          </a:p>
          <a:p>
            <a:pPr indent="0" lvl="1" marL="4658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&lt;td&gt;45,000.00&lt;/td&gt;</a:t>
            </a:r>
            <a:endParaRPr sz="11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&lt;/tr&gt;</a:t>
            </a:r>
            <a:endParaRPr sz="11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&lt;/table&gt;</a:t>
            </a:r>
            <a:endParaRPr sz="11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sz="11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sz="1100"/>
          </a:p>
        </p:txBody>
      </p:sp>
      <p:sp>
        <p:nvSpPr>
          <p:cNvPr id="300" name="Google Shape;300;p35"/>
          <p:cNvSpPr/>
          <p:nvPr/>
        </p:nvSpPr>
        <p:spPr>
          <a:xfrm>
            <a:off x="76200" y="914400"/>
            <a:ext cx="4631635" cy="1242680"/>
          </a:xfrm>
          <a:prstGeom prst="rect">
            <a:avLst/>
          </a:prstGeom>
          <a:noFill/>
          <a:ln>
            <a:noFill/>
          </a:ln>
        </p:spPr>
        <p:txBody>
          <a:bodyPr anchorCtr="0" anchor="t" bIns="29700" lIns="59400" spcFirstLastPara="1" rIns="59400" wrap="square" tIns="29700">
            <a:spAutoFit/>
          </a:bodyPr>
          <a:lstStyle/>
          <a:p>
            <a:pPr indent="0" lvl="0" marL="9525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Tables Backgrounds</a:t>
            </a:r>
            <a:endParaRPr/>
          </a:p>
          <a:p>
            <a:pPr indent="-214313" lvl="0" marL="221456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Noto Sans Symbols"/>
              <a:buChar char="▪"/>
            </a:pPr>
            <a:r>
              <a:rPr b="1" lang="en-US" sz="1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bgcolor attribute 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we can </a:t>
            </a: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background color for whole table or just for one cell.</a:t>
            </a:r>
            <a:endParaRPr/>
          </a:p>
          <a:p>
            <a:pPr indent="-214313" lvl="0" marL="221456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Noto Sans Symbols"/>
              <a:buChar char="▪"/>
            </a:pPr>
            <a:r>
              <a:rPr b="1" lang="en-US" sz="1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 attribute 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we can </a:t>
            </a: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background image 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whole table or just for one cell.</a:t>
            </a:r>
            <a:endParaRPr/>
          </a:p>
        </p:txBody>
      </p:sp>
      <p:pic>
        <p:nvPicPr>
          <p:cNvPr id="301" name="Google Shape;30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663" y="3884538"/>
            <a:ext cx="2074069" cy="1360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6"/>
          <p:cNvSpPr txBox="1"/>
          <p:nvPr/>
        </p:nvSpPr>
        <p:spPr>
          <a:xfrm>
            <a:off x="-16164" y="152400"/>
            <a:ext cx="8935277" cy="398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650">
            <a:spAutoFit/>
          </a:bodyPr>
          <a:lstStyle/>
          <a:p>
            <a:pPr indent="0" lvl="0" marL="8251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Tables – table body &lt;tbody&gt;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36"/>
          <p:cNvSpPr/>
          <p:nvPr/>
        </p:nvSpPr>
        <p:spPr>
          <a:xfrm>
            <a:off x="1422797" y="5551885"/>
            <a:ext cx="6313884" cy="0"/>
          </a:xfrm>
          <a:custGeom>
            <a:rect b="b" l="l" r="r" t="t"/>
            <a:pathLst>
              <a:path extrusionOk="0" h="120000" w="7156450">
                <a:moveTo>
                  <a:pt x="0" y="0"/>
                </a:moveTo>
                <a:lnTo>
                  <a:pt x="7156450" y="0"/>
                </a:lnTo>
              </a:path>
            </a:pathLst>
          </a:custGeom>
          <a:noFill/>
          <a:ln cap="flat" cmpd="sng" w="1217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6"/>
          <p:cNvSpPr/>
          <p:nvPr/>
        </p:nvSpPr>
        <p:spPr>
          <a:xfrm>
            <a:off x="4373225" y="1462100"/>
            <a:ext cx="4631700" cy="5094900"/>
          </a:xfrm>
          <a:prstGeom prst="rect">
            <a:avLst/>
          </a:prstGeom>
          <a:solidFill>
            <a:srgbClr val="F2DADA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9700" lIns="59400" spcFirstLastPara="1" rIns="59400" wrap="square" tIns="29700">
            <a:spAutoFit/>
          </a:bodyPr>
          <a:lstStyle/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&lt;h1&gt;The thead, tbody, and tfoot elements&lt;/h1&gt;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&lt;table border="1"&gt;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&lt;thead&gt;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&lt;tr&gt;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&lt;th&gt;Day&lt;/th&gt;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&lt;th&gt;venue&lt;/th&gt;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&lt;/tr&gt;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&lt;/thead&gt;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&lt;tbody&gt;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&lt;tr&gt;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&lt;td&gt;Mon&lt;/td&gt;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&lt;td&gt;TG&lt;/td&gt;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&lt;/tr&gt;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&lt;tr&gt;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&lt;td&gt;Tue&lt;/td&gt;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&lt;td&gt;PG&lt;/td&gt;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&lt;/tr&gt;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&lt;/tbody&gt;</a:t>
            </a:r>
            <a:endParaRPr sz="9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900"/>
          </a:p>
        </p:txBody>
      </p:sp>
      <p:sp>
        <p:nvSpPr>
          <p:cNvPr id="309" name="Google Shape;309;p36"/>
          <p:cNvSpPr/>
          <p:nvPr/>
        </p:nvSpPr>
        <p:spPr>
          <a:xfrm>
            <a:off x="69574" y="1412082"/>
            <a:ext cx="4194314" cy="2505334"/>
          </a:xfrm>
          <a:prstGeom prst="rect">
            <a:avLst/>
          </a:prstGeom>
          <a:noFill/>
          <a:ln>
            <a:noFill/>
          </a:ln>
        </p:spPr>
        <p:txBody>
          <a:bodyPr anchorCtr="0" anchor="t" bIns="29700" lIns="59400" spcFirstLastPara="1" rIns="59400" wrap="square" tIns="29700">
            <a:spAutoFit/>
          </a:bodyPr>
          <a:lstStyle/>
          <a:p>
            <a:pPr indent="-257175" lvl="0" marL="264319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</a:pPr>
            <a:r>
              <a:rPr b="1"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</a:t>
            </a:r>
            <a:r>
              <a:rPr b="1" lang="en-US" sz="135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&lt;tbody&gt; </a:t>
            </a:r>
            <a:r>
              <a:rPr b="1"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 is used to group the table rows (&lt;tr&gt;) together, which indicates that this is body part of a table (&lt;table&gt;).</a:t>
            </a:r>
            <a:endParaRPr/>
          </a:p>
          <a:p>
            <a:pPr indent="-171450" lvl="0" marL="264319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t/>
            </a:r>
            <a:endParaRPr b="1"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7175" lvl="0" marL="264319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</a:pPr>
            <a:r>
              <a:rPr b="1"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135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&lt;tbody&gt; </a:t>
            </a:r>
            <a:r>
              <a:rPr b="1"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 must be a child of &lt;table&gt; element.</a:t>
            </a:r>
            <a:endParaRPr/>
          </a:p>
          <a:p>
            <a:pPr indent="-171450" lvl="0" marL="264319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t/>
            </a:r>
            <a:endParaRPr b="1"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7175" lvl="0" marL="264319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</a:pPr>
            <a:r>
              <a:rPr b="1"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135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&lt;tbody&gt; </a:t>
            </a:r>
            <a:r>
              <a:rPr b="1"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used along with </a:t>
            </a:r>
            <a:r>
              <a:rPr b="1" lang="en-US" sz="135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&lt;thead&gt; </a:t>
            </a:r>
            <a:r>
              <a:rPr b="1"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1" lang="en-US" sz="135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&lt;tfoot&gt; </a:t>
            </a:r>
            <a:r>
              <a:rPr b="1"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shows the different part of the table that are table head, table body, and table footer, however, it does not affect the layout of the table.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0" name="Google Shape;31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828" y="3863526"/>
            <a:ext cx="1165364" cy="1311034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6"/>
          <p:cNvSpPr txBox="1"/>
          <p:nvPr/>
        </p:nvSpPr>
        <p:spPr>
          <a:xfrm>
            <a:off x="6503814" y="3555467"/>
            <a:ext cx="2484784" cy="286232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&lt;tfoot&gt;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&lt;tr&gt;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&lt;td&gt;wed&lt;/td&gt;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&lt;td&gt;tesla&lt;/td&gt;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&lt;/tr&gt;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&lt;/tfoot&gt;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&lt;/table&gt;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"/>
          <p:cNvSpPr txBox="1"/>
          <p:nvPr/>
        </p:nvSpPr>
        <p:spPr>
          <a:xfrm>
            <a:off x="373075" y="251800"/>
            <a:ext cx="8152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650">
            <a:spAutoFit/>
          </a:bodyPr>
          <a:lstStyle/>
          <a:p>
            <a:pPr indent="0" lvl="0" marL="8251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Tables-  Height and Width attributes</a:t>
            </a:r>
            <a:endParaRPr/>
          </a:p>
          <a:p>
            <a:pPr indent="0" lvl="0" marL="8251" marR="0" rtl="0" algn="l">
              <a:spcBef>
                <a:spcPts val="588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37"/>
          <p:cNvSpPr/>
          <p:nvPr/>
        </p:nvSpPr>
        <p:spPr>
          <a:xfrm>
            <a:off x="1422797" y="5551885"/>
            <a:ext cx="6313884" cy="0"/>
          </a:xfrm>
          <a:custGeom>
            <a:rect b="b" l="l" r="r" t="t"/>
            <a:pathLst>
              <a:path extrusionOk="0" h="120000" w="7156450">
                <a:moveTo>
                  <a:pt x="0" y="0"/>
                </a:moveTo>
                <a:lnTo>
                  <a:pt x="7156450" y="0"/>
                </a:lnTo>
              </a:path>
            </a:pathLst>
          </a:custGeom>
          <a:noFill/>
          <a:ln cap="flat" cmpd="sng" w="1217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37"/>
          <p:cNvCxnSpPr/>
          <p:nvPr/>
        </p:nvCxnSpPr>
        <p:spPr>
          <a:xfrm>
            <a:off x="1446610" y="1362075"/>
            <a:ext cx="629959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37"/>
          <p:cNvSpPr/>
          <p:nvPr/>
        </p:nvSpPr>
        <p:spPr>
          <a:xfrm>
            <a:off x="4876800" y="1060175"/>
            <a:ext cx="4154100" cy="5201400"/>
          </a:xfrm>
          <a:prstGeom prst="rect">
            <a:avLst/>
          </a:prstGeom>
          <a:solidFill>
            <a:srgbClr val="F2DADA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9700" lIns="59400" spcFirstLastPara="1" rIns="59400" wrap="square" tIns="29700">
            <a:spAutoFit/>
          </a:bodyPr>
          <a:lstStyle/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 sz="10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&lt;head&gt;</a:t>
            </a:r>
            <a:endParaRPr sz="10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&lt;title&gt;HTML Table Width/Height&lt;/title&gt;</a:t>
            </a:r>
            <a:endParaRPr sz="10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&lt;/head&gt;</a:t>
            </a:r>
            <a:endParaRPr sz="10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&lt;body&gt;</a:t>
            </a:r>
            <a:endParaRPr sz="10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&lt;table border = "1" width = "400" height = "150"&gt;</a:t>
            </a:r>
            <a:endParaRPr sz="10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&lt;caption&gt;This is the caption&lt;/caption&gt;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&lt;tr&gt;</a:t>
            </a:r>
            <a:endParaRPr sz="10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&lt;td&gt;Row 1, Column 1&lt;/td&gt;</a:t>
            </a:r>
            <a:endParaRPr sz="10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&lt;td&gt;Row 1, Column 2&lt;/td&gt;</a:t>
            </a:r>
            <a:endParaRPr sz="10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&lt;/tr&gt;</a:t>
            </a:r>
            <a:endParaRPr sz="10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endParaRPr sz="10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&lt;tr&gt;</a:t>
            </a:r>
            <a:endParaRPr sz="10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&lt;td&gt;Row 2, Column 1&lt;/td&gt;</a:t>
            </a:r>
            <a:endParaRPr sz="10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&lt;td&gt;Row 2, Column 2&lt;/td&gt;</a:t>
            </a:r>
            <a:endParaRPr sz="10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&lt;/tr&gt;</a:t>
            </a:r>
            <a:endParaRPr sz="10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&lt;/table&gt;</a:t>
            </a:r>
            <a:endParaRPr sz="10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&lt;/body&gt;</a:t>
            </a:r>
            <a:endParaRPr sz="10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1000"/>
          </a:p>
          <a:p>
            <a:pPr indent="0" lvl="0" marL="12293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sz="1000"/>
          </a:p>
        </p:txBody>
      </p:sp>
      <p:sp>
        <p:nvSpPr>
          <p:cNvPr id="320" name="Google Shape;320;p37"/>
          <p:cNvSpPr/>
          <p:nvPr/>
        </p:nvSpPr>
        <p:spPr>
          <a:xfrm>
            <a:off x="27709" y="1371600"/>
            <a:ext cx="4870174" cy="229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9700" lIns="59400" spcFirstLastPara="1" rIns="59400" wrap="square" tIns="29700">
            <a:spAutoFit/>
          </a:bodyPr>
          <a:lstStyle/>
          <a:p>
            <a:pPr indent="-214313" lvl="0" marL="221456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set a table</a:t>
            </a: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width </a:t>
            </a: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height</a:t>
            </a: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 </a:t>
            </a: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width</a:t>
            </a: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and </a:t>
            </a: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height</a:t>
            </a: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attributes. </a:t>
            </a:r>
            <a:endParaRPr/>
          </a:p>
          <a:p>
            <a:pPr indent="-214313" lvl="0" marL="221456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Specify table width or height in terms of </a:t>
            </a: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pixels or in terms of percentage</a:t>
            </a: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available screen area.</a:t>
            </a:r>
            <a:endParaRPr/>
          </a:p>
          <a:p>
            <a:pPr indent="0" lvl="0" marL="9525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Caption</a:t>
            </a:r>
            <a:endParaRPr/>
          </a:p>
          <a:p>
            <a:pPr indent="-214313" lvl="0" marL="221456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 caption tag will serve as a title or explanation for the table and it shows up at the top of the table. This tag is deprecated in newer version of HTML/XHTML</a:t>
            </a:r>
            <a:endParaRPr/>
          </a:p>
          <a:p>
            <a:pPr indent="0" lvl="0" marL="9525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None/>
            </a:pPr>
            <a:r>
              <a:t/>
            </a:r>
            <a:endParaRPr sz="127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525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None/>
            </a:pPr>
            <a:r>
              <a:t/>
            </a:r>
            <a:endParaRPr sz="127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1" name="Google Shape;32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084" y="3809466"/>
            <a:ext cx="3513116" cy="1608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2010-04-09T07:36:00Z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0816DB4EA2254B8095D92CBE0445F10C_13</vt:lpwstr>
  </property>
  <property fmtid="{D5CDD505-2E9C-101B-9397-08002B2CF9AE}" pid="3" name="KSOProductBuildVer">
    <vt:lpwstr>1033-12.2.0.17545</vt:lpwstr>
  </property>
</Properties>
</file>