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embeddedFontLst>
    <p:embeddedFont>
      <p:font typeface="Arimo" panose="020B0604020202020204" charset="0"/>
      <p:regular r:id="rId40"/>
      <p:bold r:id="rId41"/>
      <p:italic r:id="rId42"/>
      <p:boldItalic r:id="rId43"/>
    </p:embeddedFont>
    <p:embeddedFont>
      <p:font typeface="Consolas" panose="020B0609020204030204" pitchFamily="49" charset="0"/>
      <p:regular r:id="rId44"/>
      <p:bold r:id="rId45"/>
      <p:italic r:id="rId46"/>
      <p:boldItalic r:id="rId47"/>
    </p:embeddedFont>
    <p:embeddedFont>
      <p:font typeface="Inter" panose="020B0604020202020204" charset="0"/>
      <p:regular r:id="rId48"/>
      <p:bold r:id="rId49"/>
      <p:italic r:id="rId50"/>
      <p:boldItalic r:id="rId51"/>
    </p:embeddedFont>
    <p:embeddedFont>
      <p:font typeface="Quattrocento Sans" panose="020B0502050000020003" pitchFamily="34" charset="0"/>
      <p:regular r:id="rId52"/>
      <p:bold r:id="rId53"/>
      <p:italic r:id="rId54"/>
      <p:boldItalic r:id="rId55"/>
    </p:embeddedFont>
    <p:embeddedFont>
      <p:font typeface="Raleway" pitchFamily="2" charset="0"/>
      <p:regular r:id="rId56"/>
      <p:bold r:id="rId57"/>
      <p:italic r:id="rId58"/>
      <p:boldItalic r:id="rId59"/>
    </p:embeddedFont>
    <p:embeddedFont>
      <p:font typeface="Trebuchet MS" panose="020B0603020202020204" pitchFamily="34" charset="0"/>
      <p:regular r:id="rId60"/>
      <p:bold r:id="rId61"/>
      <p:italic r:id="rId62"/>
      <p:boldItalic r:id="rId63"/>
    </p:embeddedFont>
    <p:embeddedFont>
      <p:font typeface="Verdana" panose="020B0604030504040204" pitchFamily="3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2" roundtripDataSignature="AMtx7mjHBJkJ7iGOy6fE6hs5U1juvNve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EAB23C-F1A7-4F69-BAAB-EF61674C34FD}">
  <a:tblStyle styleId="{7AEAB23C-F1A7-4F69-BAAB-EF61674C34F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DC4DB9-D520-43BD-A049-DAEF52D9185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FDFB401-6C5B-4D00-9001-CC80CE76A071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DE48064-F750-496B-9BB9-CFEB342D939D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-5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63" Type="http://schemas.openxmlformats.org/officeDocument/2006/relationships/font" Target="fonts/font2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66" Type="http://schemas.openxmlformats.org/officeDocument/2006/relationships/font" Target="fonts/font27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2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64" Type="http://schemas.openxmlformats.org/officeDocument/2006/relationships/font" Target="fonts/font25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font" Target="fonts/font20.fntdata"/><Relationship Id="rId67" Type="http://schemas.openxmlformats.org/officeDocument/2006/relationships/font" Target="fonts/font28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font" Target="fonts/font23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font" Target="fonts/font21.fntdata"/><Relationship Id="rId65" Type="http://schemas.openxmlformats.org/officeDocument/2006/relationships/font" Target="fonts/font26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7" name="Google Shape;1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0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41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" name="Google Shape;36;p41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37" name="Google Shape;37;p41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" name="Google Shape;38;p41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41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" name="Google Shape;40;p41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8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8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38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8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38" descr="LOGO.gif"/>
            <p:cNvPicPr preferRelativeResize="0"/>
            <p:nvPr/>
          </p:nvPicPr>
          <p:blipFill rotWithShape="1">
            <a:blip r:embed="rId5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" name="Google Shape;23;p38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itkara.edu.i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login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tp://ftp.dartmouth.edu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/>
          <p:nvPr/>
        </p:nvSpPr>
        <p:spPr>
          <a:xfrm>
            <a:off x="1793034" y="2132856"/>
            <a:ext cx="579374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ENGINEERING-I</a:t>
            </a:r>
            <a:endParaRPr sz="3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(24CSE0102)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1793034" y="4140370"/>
            <a:ext cx="555793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Chetna Shamra</a:t>
            </a:r>
            <a:endParaRPr sz="22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/>
        </p:nvSpPr>
        <p:spPr>
          <a:xfrm>
            <a:off x="488547" y="2744725"/>
            <a:ext cx="3348037" cy="136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WEB TECHNOLOGIES</a:t>
            </a:r>
            <a:endParaRPr sz="4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 descr="&quot;&quot;"/>
          <p:cNvSpPr/>
          <p:nvPr/>
        </p:nvSpPr>
        <p:spPr>
          <a:xfrm rot="5400000">
            <a:off x="1769641" y="3700537"/>
            <a:ext cx="4687887" cy="15875"/>
          </a:xfrm>
          <a:custGeom>
            <a:avLst/>
            <a:gdLst/>
            <a:ahLst/>
            <a:cxnLst/>
            <a:rect l="l" t="t" r="r" b="b"/>
            <a:pathLst>
              <a:path w="4688840" h="15850" fill="none" extrusionOk="0">
                <a:moveTo>
                  <a:pt x="0" y="0"/>
                </a:moveTo>
                <a:cubicBezTo>
                  <a:pt x="126295" y="21349"/>
                  <a:pt x="439672" y="5217"/>
                  <a:pt x="622946" y="0"/>
                </a:cubicBezTo>
                <a:cubicBezTo>
                  <a:pt x="806961" y="315"/>
                  <a:pt x="936637" y="25556"/>
                  <a:pt x="1152115" y="0"/>
                </a:cubicBezTo>
                <a:cubicBezTo>
                  <a:pt x="1360903" y="-19910"/>
                  <a:pt x="1440073" y="24137"/>
                  <a:pt x="1728172" y="0"/>
                </a:cubicBezTo>
                <a:cubicBezTo>
                  <a:pt x="2005760" y="-57416"/>
                  <a:pt x="2139489" y="-19997"/>
                  <a:pt x="2444895" y="0"/>
                </a:cubicBezTo>
                <a:cubicBezTo>
                  <a:pt x="2721409" y="22025"/>
                  <a:pt x="2819002" y="9693"/>
                  <a:pt x="3067841" y="0"/>
                </a:cubicBezTo>
                <a:cubicBezTo>
                  <a:pt x="3299257" y="30491"/>
                  <a:pt x="3459045" y="-44178"/>
                  <a:pt x="3643899" y="0"/>
                </a:cubicBezTo>
                <a:cubicBezTo>
                  <a:pt x="3847127" y="35787"/>
                  <a:pt x="4166978" y="-55918"/>
                  <a:pt x="4688840" y="0"/>
                </a:cubicBezTo>
                <a:cubicBezTo>
                  <a:pt x="4688917" y="6447"/>
                  <a:pt x="4687818" y="10960"/>
                  <a:pt x="4688840" y="15850"/>
                </a:cubicBezTo>
                <a:cubicBezTo>
                  <a:pt x="4411318" y="22727"/>
                  <a:pt x="4262428" y="31744"/>
                  <a:pt x="4019006" y="15850"/>
                </a:cubicBezTo>
                <a:cubicBezTo>
                  <a:pt x="3786274" y="-28516"/>
                  <a:pt x="3602629" y="-7819"/>
                  <a:pt x="3442948" y="15850"/>
                </a:cubicBezTo>
                <a:cubicBezTo>
                  <a:pt x="3286692" y="4982"/>
                  <a:pt x="3045293" y="-40770"/>
                  <a:pt x="2679337" y="15850"/>
                </a:cubicBezTo>
                <a:cubicBezTo>
                  <a:pt x="2315985" y="62495"/>
                  <a:pt x="2245692" y="25614"/>
                  <a:pt x="2056391" y="15850"/>
                </a:cubicBezTo>
                <a:cubicBezTo>
                  <a:pt x="1890923" y="15135"/>
                  <a:pt x="1638589" y="44551"/>
                  <a:pt x="1527222" y="15850"/>
                </a:cubicBezTo>
                <a:cubicBezTo>
                  <a:pt x="1431362" y="20597"/>
                  <a:pt x="956683" y="-15298"/>
                  <a:pt x="810499" y="15850"/>
                </a:cubicBezTo>
                <a:cubicBezTo>
                  <a:pt x="703996" y="40299"/>
                  <a:pt x="314811" y="47888"/>
                  <a:pt x="0" y="15850"/>
                </a:cubicBezTo>
                <a:cubicBezTo>
                  <a:pt x="440" y="11620"/>
                  <a:pt x="-317" y="7592"/>
                  <a:pt x="0" y="0"/>
                </a:cubicBezTo>
                <a:close/>
              </a:path>
              <a:path w="4688840" h="15850" extrusionOk="0">
                <a:moveTo>
                  <a:pt x="0" y="0"/>
                </a:moveTo>
                <a:cubicBezTo>
                  <a:pt x="251335" y="47330"/>
                  <a:pt x="399030" y="-20185"/>
                  <a:pt x="622946" y="0"/>
                </a:cubicBezTo>
                <a:cubicBezTo>
                  <a:pt x="802163" y="11034"/>
                  <a:pt x="1025874" y="7158"/>
                  <a:pt x="1152115" y="0"/>
                </a:cubicBezTo>
                <a:cubicBezTo>
                  <a:pt x="1312968" y="-9775"/>
                  <a:pt x="1727044" y="-33888"/>
                  <a:pt x="1915726" y="0"/>
                </a:cubicBezTo>
                <a:cubicBezTo>
                  <a:pt x="2066924" y="28646"/>
                  <a:pt x="2261470" y="10848"/>
                  <a:pt x="2538672" y="0"/>
                </a:cubicBezTo>
                <a:cubicBezTo>
                  <a:pt x="2805038" y="-19035"/>
                  <a:pt x="2916197" y="-28431"/>
                  <a:pt x="3161618" y="0"/>
                </a:cubicBezTo>
                <a:cubicBezTo>
                  <a:pt x="3454304" y="54265"/>
                  <a:pt x="3705015" y="-6646"/>
                  <a:pt x="3925229" y="0"/>
                </a:cubicBezTo>
                <a:cubicBezTo>
                  <a:pt x="4177471" y="20614"/>
                  <a:pt x="4391331" y="-1662"/>
                  <a:pt x="4688840" y="0"/>
                </a:cubicBezTo>
                <a:cubicBezTo>
                  <a:pt x="4689064" y="6767"/>
                  <a:pt x="4689420" y="9178"/>
                  <a:pt x="4688840" y="15850"/>
                </a:cubicBezTo>
                <a:cubicBezTo>
                  <a:pt x="4438927" y="31842"/>
                  <a:pt x="4304558" y="-26888"/>
                  <a:pt x="4112783" y="15850"/>
                </a:cubicBezTo>
                <a:cubicBezTo>
                  <a:pt x="3949188" y="25446"/>
                  <a:pt x="3607934" y="-6861"/>
                  <a:pt x="3442948" y="15850"/>
                </a:cubicBezTo>
                <a:cubicBezTo>
                  <a:pt x="3302687" y="14253"/>
                  <a:pt x="3099740" y="-19213"/>
                  <a:pt x="2773114" y="15850"/>
                </a:cubicBezTo>
                <a:cubicBezTo>
                  <a:pt x="2449843" y="39755"/>
                  <a:pt x="2431887" y="9461"/>
                  <a:pt x="2150168" y="15850"/>
                </a:cubicBezTo>
                <a:cubicBezTo>
                  <a:pt x="1888241" y="37228"/>
                  <a:pt x="1613106" y="35977"/>
                  <a:pt x="1386557" y="15850"/>
                </a:cubicBezTo>
                <a:cubicBezTo>
                  <a:pt x="1075920" y="22165"/>
                  <a:pt x="799695" y="-10884"/>
                  <a:pt x="622946" y="15850"/>
                </a:cubicBezTo>
                <a:cubicBezTo>
                  <a:pt x="416554" y="39209"/>
                  <a:pt x="162041" y="43374"/>
                  <a:pt x="0" y="15850"/>
                </a:cubicBezTo>
                <a:cubicBezTo>
                  <a:pt x="310" y="12435"/>
                  <a:pt x="872" y="5802"/>
                  <a:pt x="0" y="0"/>
                </a:cubicBezTo>
                <a:close/>
              </a:path>
              <a:path w="4688840" h="15850" fill="none" extrusionOk="0">
                <a:moveTo>
                  <a:pt x="0" y="0"/>
                </a:moveTo>
                <a:cubicBezTo>
                  <a:pt x="96461" y="-42256"/>
                  <a:pt x="397561" y="22492"/>
                  <a:pt x="622946" y="0"/>
                </a:cubicBezTo>
                <a:cubicBezTo>
                  <a:pt x="823173" y="-7070"/>
                  <a:pt x="912250" y="26132"/>
                  <a:pt x="1152115" y="0"/>
                </a:cubicBezTo>
                <a:cubicBezTo>
                  <a:pt x="1341055" y="-8218"/>
                  <a:pt x="1456967" y="20705"/>
                  <a:pt x="1728172" y="0"/>
                </a:cubicBezTo>
                <a:cubicBezTo>
                  <a:pt x="1979034" y="-25180"/>
                  <a:pt x="2183553" y="-13031"/>
                  <a:pt x="2444895" y="0"/>
                </a:cubicBezTo>
                <a:cubicBezTo>
                  <a:pt x="2734512" y="20199"/>
                  <a:pt x="2831285" y="-20535"/>
                  <a:pt x="3067841" y="0"/>
                </a:cubicBezTo>
                <a:cubicBezTo>
                  <a:pt x="3277888" y="696"/>
                  <a:pt x="3463211" y="-16435"/>
                  <a:pt x="3643899" y="0"/>
                </a:cubicBezTo>
                <a:cubicBezTo>
                  <a:pt x="3807410" y="-44751"/>
                  <a:pt x="4151640" y="14160"/>
                  <a:pt x="4688840" y="0"/>
                </a:cubicBezTo>
                <a:cubicBezTo>
                  <a:pt x="4689128" y="6512"/>
                  <a:pt x="4689394" y="10807"/>
                  <a:pt x="4688840" y="15850"/>
                </a:cubicBezTo>
                <a:cubicBezTo>
                  <a:pt x="4386109" y="11675"/>
                  <a:pt x="4274684" y="53986"/>
                  <a:pt x="4019006" y="15850"/>
                </a:cubicBezTo>
                <a:cubicBezTo>
                  <a:pt x="3772535" y="-13286"/>
                  <a:pt x="3588049" y="45717"/>
                  <a:pt x="3442948" y="15850"/>
                </a:cubicBezTo>
                <a:cubicBezTo>
                  <a:pt x="3330560" y="56947"/>
                  <a:pt x="3043426" y="1434"/>
                  <a:pt x="2679337" y="15850"/>
                </a:cubicBezTo>
                <a:cubicBezTo>
                  <a:pt x="2340165" y="46847"/>
                  <a:pt x="2241920" y="8234"/>
                  <a:pt x="2056391" y="15850"/>
                </a:cubicBezTo>
                <a:cubicBezTo>
                  <a:pt x="1853877" y="21872"/>
                  <a:pt x="1628801" y="5895"/>
                  <a:pt x="1527222" y="15850"/>
                </a:cubicBezTo>
                <a:cubicBezTo>
                  <a:pt x="1397515" y="13294"/>
                  <a:pt x="949973" y="-25964"/>
                  <a:pt x="810499" y="15850"/>
                </a:cubicBezTo>
                <a:cubicBezTo>
                  <a:pt x="662333" y="32407"/>
                  <a:pt x="234341" y="28068"/>
                  <a:pt x="0" y="15850"/>
                </a:cubicBezTo>
                <a:cubicBezTo>
                  <a:pt x="133" y="11927"/>
                  <a:pt x="194" y="77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2" descr="Css Logo Jquery - Html Css And Jquery, HD Png Download - kind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528" y="2491655"/>
            <a:ext cx="4225925" cy="23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" descr="internet_technologies_tutori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95468" y="2117382"/>
            <a:ext cx="5150644" cy="188833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 txBox="1"/>
          <p:nvPr/>
        </p:nvSpPr>
        <p:spPr>
          <a:xfrm>
            <a:off x="171449" y="891779"/>
            <a:ext cx="3968485" cy="393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9525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endParaRPr sz="27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spcBef>
                <a:spcPts val="3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" marR="0" lvl="0" indent="-95250" algn="just" rtl="0">
              <a:spcBef>
                <a:spcPts val="3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Noto Sans Symbols"/>
              <a:buChar char="▪"/>
            </a:pPr>
            <a:r>
              <a:rPr lang="en-US" sz="15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can we do on web?</a:t>
            </a:r>
            <a:endParaRPr sz="15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" marR="0" lvl="0" indent="0" algn="just" rtl="0">
              <a:spcBef>
                <a:spcPts val="3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Arial"/>
              <a:buNone/>
            </a:pP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rely on different websites/web apps for </a:t>
            </a: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tasks.</a:t>
            </a:r>
            <a:endParaRPr sz="1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5850" marR="0" lvl="1" indent="-342900" algn="just" rtl="0">
              <a:spcBef>
                <a:spcPts val="3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Noto Sans Symbols"/>
              <a:buChar char="▪"/>
            </a:pPr>
            <a:r>
              <a:rPr lang="en-US" sz="1500" b="0" i="1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Submitting online application</a:t>
            </a:r>
            <a:endParaRPr sz="1500" b="0" i="1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5850" marR="0" lvl="1" indent="-342900" algn="just" rtl="0">
              <a:spcBef>
                <a:spcPts val="3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Noto Sans Symbols"/>
              <a:buChar char="▪"/>
            </a:pPr>
            <a:r>
              <a:rPr lang="en-US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Banking transactions</a:t>
            </a:r>
            <a:endParaRPr sz="15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5850" marR="0" lvl="1" indent="-342900" algn="just" rtl="0">
              <a:spcBef>
                <a:spcPts val="3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Noto Sans Symbols"/>
              <a:buChar char="▪"/>
            </a:pPr>
            <a:r>
              <a:rPr lang="en-US" sz="1500" b="0" i="1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Purchasing of goods</a:t>
            </a:r>
            <a:endParaRPr sz="1500" b="0" i="1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5850" marR="0" lvl="1" indent="-342900" algn="just" rtl="0">
              <a:spcBef>
                <a:spcPts val="3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Noto Sans Symbols"/>
              <a:buChar char="▪"/>
            </a:pPr>
            <a:r>
              <a:rPr lang="en-US" sz="1500" b="0" i="1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Watching movies .</a:t>
            </a:r>
            <a:r>
              <a:rPr lang="en-US" sz="15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etc</a:t>
            </a:r>
            <a:endParaRPr sz="15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" marR="0" lvl="0" indent="0" algn="just" rtl="0">
              <a:spcBef>
                <a:spcPts val="3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Arial"/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" marR="0" lvl="0" indent="-95250" algn="just" rtl="0">
              <a:spcBef>
                <a:spcPts val="3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5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web page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 texts, images, graphics, sounds animations etc.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" marR="0" lvl="0" indent="0" algn="just" rtl="0">
              <a:spcBef>
                <a:spcPts val="3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Arial"/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" marR="0" lvl="0" indent="-95250" algn="just" rtl="0">
              <a:spcBef>
                <a:spcPts val="3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pages are developed in HTML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1907" y="857250"/>
            <a:ext cx="9132094" cy="54769"/>
          </a:xfrm>
          <a:custGeom>
            <a:avLst/>
            <a:gdLst/>
            <a:ahLst/>
            <a:cxnLst/>
            <a:rect l="l" t="t" r="r" b="b"/>
            <a:pathLst>
              <a:path w="7156450" h="45719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3"/>
          <p:cNvCxnSpPr/>
          <p:nvPr/>
        </p:nvCxnSpPr>
        <p:spPr>
          <a:xfrm>
            <a:off x="5954" y="1447800"/>
            <a:ext cx="91320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3" descr="HTML Building blocks "/>
          <p:cNvSpPr/>
          <p:nvPr/>
        </p:nvSpPr>
        <p:spPr>
          <a:xfrm>
            <a:off x="1243012" y="762000"/>
            <a:ext cx="195263" cy="20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 descr="HTML Building blocks "/>
          <p:cNvSpPr/>
          <p:nvPr/>
        </p:nvSpPr>
        <p:spPr>
          <a:xfrm>
            <a:off x="1243012" y="762000"/>
            <a:ext cx="195263" cy="20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138047" y="990600"/>
            <a:ext cx="0" cy="4550569"/>
          </a:xfrm>
          <a:custGeom>
            <a:avLst/>
            <a:gdLst/>
            <a:ahLst/>
            <a:cxnLst/>
            <a:rect l="l" t="t" r="r" b="b"/>
            <a:pathLst>
              <a:path w="1" h="9467215" extrusionOk="0">
                <a:moveTo>
                  <a:pt x="0" y="0"/>
                </a:moveTo>
                <a:lnTo>
                  <a:pt x="0" y="9466783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71450" y="5600700"/>
            <a:ext cx="8915400" cy="34529"/>
          </a:xfrm>
          <a:custGeom>
            <a:avLst/>
            <a:gdLst/>
            <a:ahLst/>
            <a:cxnLst/>
            <a:rect l="l" t="t" r="r" b="b"/>
            <a:pathLst>
              <a:path w="7156450" h="45719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177142" y="199132"/>
            <a:ext cx="27499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 descr="HTML Building blocks "/>
          <p:cNvSpPr/>
          <p:nvPr/>
        </p:nvSpPr>
        <p:spPr>
          <a:xfrm>
            <a:off x="1243012" y="762000"/>
            <a:ext cx="195263" cy="20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 descr="HTML Building blocks "/>
          <p:cNvSpPr/>
          <p:nvPr/>
        </p:nvSpPr>
        <p:spPr>
          <a:xfrm>
            <a:off x="1243012" y="762000"/>
            <a:ext cx="195263" cy="20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9138047" y="990600"/>
            <a:ext cx="0" cy="4550569"/>
          </a:xfrm>
          <a:custGeom>
            <a:avLst/>
            <a:gdLst/>
            <a:ahLst/>
            <a:cxnLst/>
            <a:rect l="l" t="t" r="r" b="b"/>
            <a:pathLst>
              <a:path w="1" h="9467215" extrusionOk="0">
                <a:moveTo>
                  <a:pt x="0" y="0"/>
                </a:moveTo>
                <a:lnTo>
                  <a:pt x="0" y="9466783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71450" y="5600700"/>
            <a:ext cx="8915400" cy="34529"/>
          </a:xfrm>
          <a:custGeom>
            <a:avLst/>
            <a:gdLst/>
            <a:ahLst/>
            <a:cxnLst/>
            <a:rect l="l" t="t" r="r" b="b"/>
            <a:pathLst>
              <a:path w="7156450" h="45719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1" y="1434704"/>
            <a:ext cx="8289131" cy="401716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/>
        </p:nvSpPr>
        <p:spPr>
          <a:xfrm>
            <a:off x="171450" y="164367"/>
            <a:ext cx="484267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 Application Architecture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5" descr="What is the difference between Front-End and Back-End Web Development? -  GeeksforGeek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568" y="1052736"/>
            <a:ext cx="7903790" cy="5445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/>
        </p:nvSpPr>
        <p:spPr>
          <a:xfrm>
            <a:off x="0" y="914400"/>
            <a:ext cx="9144000" cy="461665"/>
          </a:xfrm>
          <a:prstGeom prst="rect">
            <a:avLst/>
          </a:prstGeom>
          <a:solidFill>
            <a:srgbClr val="A84B1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Front End vs Back End</a:t>
            </a: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87" y="2237185"/>
            <a:ext cx="9129713" cy="436016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 txBox="1"/>
          <p:nvPr/>
        </p:nvSpPr>
        <p:spPr>
          <a:xfrm>
            <a:off x="0" y="1314450"/>
            <a:ext cx="4572000" cy="784830"/>
          </a:xfrm>
          <a:prstGeom prst="rect">
            <a:avLst/>
          </a:prstGeom>
          <a:solidFill>
            <a:srgbClr val="C6D9F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Front end development is programming which focuses on the visual elements used to see on client side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4579144" y="1314450"/>
            <a:ext cx="4572000" cy="784830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7175" marR="0" lvl="0" indent="-257175" algn="l" rtl="0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Back-end ensure the website performs correctly, focusing on organization of data,  logic, application programming interface (APIs)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179512" y="191155"/>
            <a:ext cx="379135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 End vs Back End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3157" y="2060848"/>
            <a:ext cx="2061538" cy="4365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4088" y="2060848"/>
            <a:ext cx="1989832" cy="4266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26717" y="1089298"/>
            <a:ext cx="2303544" cy="833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64064" y="1089297"/>
            <a:ext cx="2249764" cy="86943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 txBox="1"/>
          <p:nvPr/>
        </p:nvSpPr>
        <p:spPr>
          <a:xfrm>
            <a:off x="179512" y="191155"/>
            <a:ext cx="214424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1652588" y="1416844"/>
            <a:ext cx="5766197" cy="567929"/>
          </a:xfrm>
          <a:custGeom>
            <a:avLst/>
            <a:gdLst/>
            <a:ahLst/>
            <a:cxnLst/>
            <a:rect l="l" t="t" r="r" b="b"/>
            <a:pathLst>
              <a:path w="6534784" h="1182370" extrusionOk="0">
                <a:moveTo>
                  <a:pt x="6337935" y="0"/>
                </a:moveTo>
                <a:lnTo>
                  <a:pt x="196850" y="0"/>
                </a:lnTo>
                <a:lnTo>
                  <a:pt x="151764" y="5079"/>
                </a:lnTo>
                <a:lnTo>
                  <a:pt x="110489" y="19685"/>
                </a:lnTo>
                <a:lnTo>
                  <a:pt x="73659" y="43179"/>
                </a:lnTo>
                <a:lnTo>
                  <a:pt x="43179" y="73660"/>
                </a:lnTo>
                <a:lnTo>
                  <a:pt x="20319" y="110490"/>
                </a:lnTo>
                <a:lnTo>
                  <a:pt x="5079" y="151765"/>
                </a:lnTo>
                <a:lnTo>
                  <a:pt x="0" y="196850"/>
                </a:lnTo>
                <a:lnTo>
                  <a:pt x="0" y="984885"/>
                </a:lnTo>
                <a:lnTo>
                  <a:pt x="5079" y="1029970"/>
                </a:lnTo>
                <a:lnTo>
                  <a:pt x="20319" y="1071879"/>
                </a:lnTo>
                <a:lnTo>
                  <a:pt x="43179" y="1108075"/>
                </a:lnTo>
                <a:lnTo>
                  <a:pt x="73659" y="1139190"/>
                </a:lnTo>
                <a:lnTo>
                  <a:pt x="110489" y="1162050"/>
                </a:lnTo>
                <a:lnTo>
                  <a:pt x="151764" y="1177290"/>
                </a:lnTo>
                <a:lnTo>
                  <a:pt x="196850" y="1182370"/>
                </a:lnTo>
                <a:lnTo>
                  <a:pt x="6337935" y="1182370"/>
                </a:lnTo>
                <a:lnTo>
                  <a:pt x="6383020" y="1177290"/>
                </a:lnTo>
                <a:lnTo>
                  <a:pt x="6424295" y="1162050"/>
                </a:lnTo>
                <a:lnTo>
                  <a:pt x="6461125" y="1139190"/>
                </a:lnTo>
                <a:lnTo>
                  <a:pt x="6491605" y="1108075"/>
                </a:lnTo>
                <a:lnTo>
                  <a:pt x="6514464" y="1071879"/>
                </a:lnTo>
                <a:lnTo>
                  <a:pt x="6529705" y="1029970"/>
                </a:lnTo>
                <a:lnTo>
                  <a:pt x="6534784" y="984885"/>
                </a:lnTo>
                <a:lnTo>
                  <a:pt x="6534784" y="196850"/>
                </a:lnTo>
                <a:lnTo>
                  <a:pt x="6529705" y="151765"/>
                </a:lnTo>
                <a:lnTo>
                  <a:pt x="6514464" y="110490"/>
                </a:lnTo>
                <a:lnTo>
                  <a:pt x="6491605" y="73660"/>
                </a:lnTo>
                <a:lnTo>
                  <a:pt x="6461125" y="43179"/>
                </a:lnTo>
                <a:lnTo>
                  <a:pt x="6424295" y="19685"/>
                </a:lnTo>
                <a:lnTo>
                  <a:pt x="6383020" y="5079"/>
                </a:lnTo>
                <a:lnTo>
                  <a:pt x="6337935" y="0"/>
                </a:lnTo>
                <a:close/>
              </a:path>
            </a:pathLst>
          </a:custGeom>
          <a:solidFill>
            <a:srgbClr val="808080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1584723" y="1453754"/>
            <a:ext cx="6112669" cy="865584"/>
          </a:xfrm>
          <a:custGeom>
            <a:avLst/>
            <a:gdLst/>
            <a:ahLst/>
            <a:cxnLst/>
            <a:rect l="l" t="t" r="r" b="b"/>
            <a:pathLst>
              <a:path w="6534784" h="1182370" extrusionOk="0">
                <a:moveTo>
                  <a:pt x="6337935" y="0"/>
                </a:moveTo>
                <a:lnTo>
                  <a:pt x="196850" y="0"/>
                </a:lnTo>
                <a:lnTo>
                  <a:pt x="151764" y="5079"/>
                </a:lnTo>
                <a:lnTo>
                  <a:pt x="110489" y="19685"/>
                </a:lnTo>
                <a:lnTo>
                  <a:pt x="73659" y="43179"/>
                </a:lnTo>
                <a:lnTo>
                  <a:pt x="43179" y="73660"/>
                </a:lnTo>
                <a:lnTo>
                  <a:pt x="20319" y="110490"/>
                </a:lnTo>
                <a:lnTo>
                  <a:pt x="5079" y="151765"/>
                </a:lnTo>
                <a:lnTo>
                  <a:pt x="0" y="196850"/>
                </a:lnTo>
                <a:lnTo>
                  <a:pt x="0" y="984885"/>
                </a:lnTo>
                <a:lnTo>
                  <a:pt x="5079" y="1029970"/>
                </a:lnTo>
                <a:lnTo>
                  <a:pt x="20319" y="1071879"/>
                </a:lnTo>
                <a:lnTo>
                  <a:pt x="43179" y="1108075"/>
                </a:lnTo>
                <a:lnTo>
                  <a:pt x="73659" y="1139190"/>
                </a:lnTo>
                <a:lnTo>
                  <a:pt x="110489" y="1162050"/>
                </a:lnTo>
                <a:lnTo>
                  <a:pt x="151764" y="1177290"/>
                </a:lnTo>
                <a:lnTo>
                  <a:pt x="196850" y="1182370"/>
                </a:lnTo>
                <a:lnTo>
                  <a:pt x="6337935" y="1182370"/>
                </a:lnTo>
                <a:lnTo>
                  <a:pt x="6383020" y="1177290"/>
                </a:lnTo>
                <a:lnTo>
                  <a:pt x="6424295" y="1162050"/>
                </a:lnTo>
                <a:lnTo>
                  <a:pt x="6461125" y="1139190"/>
                </a:lnTo>
                <a:lnTo>
                  <a:pt x="6491605" y="1108075"/>
                </a:lnTo>
                <a:lnTo>
                  <a:pt x="6514464" y="1071879"/>
                </a:lnTo>
                <a:lnTo>
                  <a:pt x="6529705" y="1029970"/>
                </a:lnTo>
                <a:lnTo>
                  <a:pt x="6534784" y="984885"/>
                </a:lnTo>
                <a:lnTo>
                  <a:pt x="6534784" y="196850"/>
                </a:lnTo>
                <a:lnTo>
                  <a:pt x="6529705" y="151765"/>
                </a:lnTo>
                <a:lnTo>
                  <a:pt x="6514464" y="110490"/>
                </a:lnTo>
                <a:lnTo>
                  <a:pt x="6491605" y="73660"/>
                </a:lnTo>
                <a:lnTo>
                  <a:pt x="6461125" y="43179"/>
                </a:lnTo>
                <a:lnTo>
                  <a:pt x="6424295" y="19685"/>
                </a:lnTo>
                <a:lnTo>
                  <a:pt x="6383020" y="5079"/>
                </a:lnTo>
                <a:lnTo>
                  <a:pt x="63379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114300" y="1458525"/>
            <a:ext cx="8972550" cy="534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25" rIns="0" bIns="0" anchor="t" anchorCtr="0">
            <a:spAutoFit/>
          </a:bodyPr>
          <a:lstStyle/>
          <a:p>
            <a:pPr marL="9525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endParaRPr sz="79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just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Noto Sans Symbols"/>
              <a:buChar char="▪"/>
            </a:pP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Internet:-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computer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and it is a 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collection of computers and  devices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via communication  channels and transmission media allow to  share resources (hardware, software, data,  information).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42874" algn="l" rtl="0"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l" rtl="0">
              <a:spcBef>
                <a:spcPts val="1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Noto Sans Symbols"/>
              <a:buChar char="▪"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WWW(World Wide Web)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–It is a </a:t>
            </a:r>
            <a:r>
              <a:rPr lang="en-US" sz="1800" b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repository of interlinked hypertext documents(web pages)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other resources files that can be accessed via the internet.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42874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These web resources are identified  by  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Resource Locators (URLs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is the </a:t>
            </a:r>
            <a:r>
              <a:rPr lang="en-US" sz="180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address of a given unique resource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Web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 </a:t>
            </a:r>
            <a:r>
              <a:rPr lang="en-US" sz="1800" b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https://www.chitkara.edu.in/</a:t>
            </a:r>
            <a:endParaRPr sz="18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Here login.html is a web resource(webpage)</a:t>
            </a:r>
            <a:endParaRPr sz="18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endParaRPr sz="79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endParaRPr sz="79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endParaRPr sz="79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endParaRPr sz="79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endParaRPr sz="79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endParaRPr sz="79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endParaRPr sz="79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endParaRPr sz="79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"/>
              <a:buFont typeface="Arial"/>
              <a:buNone/>
            </a:pPr>
            <a:endParaRPr sz="79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 sz="1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1422797" y="1007269"/>
            <a:ext cx="6313884" cy="0"/>
          </a:xfrm>
          <a:custGeom>
            <a:avLst/>
            <a:gdLst/>
            <a:ahLst/>
            <a:cxnLst/>
            <a:rect l="l" t="t" r="r" b="b"/>
            <a:pathLst>
              <a:path w="7156450" h="1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1422797" y="5551885"/>
            <a:ext cx="6313884" cy="297656"/>
          </a:xfrm>
          <a:custGeom>
            <a:avLst/>
            <a:gdLst/>
            <a:ahLst/>
            <a:cxnLst/>
            <a:rect l="l" t="t" r="r" b="b"/>
            <a:pathLst>
              <a:path w="7156450" h="397110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8"/>
          <p:cNvCxnSpPr/>
          <p:nvPr/>
        </p:nvCxnSpPr>
        <p:spPr>
          <a:xfrm rot="10800000" flipH="1">
            <a:off x="1" y="1413272"/>
            <a:ext cx="7746206" cy="35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8"/>
          <p:cNvSpPr txBox="1"/>
          <p:nvPr/>
        </p:nvSpPr>
        <p:spPr>
          <a:xfrm>
            <a:off x="114300" y="1040606"/>
            <a:ext cx="885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and Web(WWW)</a:t>
            </a:r>
            <a:endParaRPr sz="1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179512" y="191155"/>
            <a:ext cx="43005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and Web (WWW)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/>
        </p:nvSpPr>
        <p:spPr>
          <a:xfrm>
            <a:off x="114300" y="985838"/>
            <a:ext cx="9029700" cy="469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9525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between Internet and World Wide Web</a:t>
            </a:r>
            <a:endParaRPr sz="1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3" name="Google Shape;123;p9"/>
          <p:cNvCxnSpPr/>
          <p:nvPr/>
        </p:nvCxnSpPr>
        <p:spPr>
          <a:xfrm>
            <a:off x="1397794" y="5799535"/>
            <a:ext cx="6397229" cy="5000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24" name="Google Shape;124;p9"/>
          <p:cNvGraphicFramePr/>
          <p:nvPr/>
        </p:nvGraphicFramePr>
        <p:xfrm>
          <a:off x="114300" y="1418035"/>
          <a:ext cx="9029700" cy="4780375"/>
        </p:xfrm>
        <a:graphic>
          <a:graphicData uri="http://schemas.openxmlformats.org/drawingml/2006/table">
            <a:tbl>
              <a:tblPr firstRow="1" bandRow="1">
                <a:noFill/>
                <a:tableStyleId>{7AEAB23C-F1A7-4F69-BAAB-EF61674C34FD}</a:tableStyleId>
              </a:tblPr>
              <a:tblGrid>
                <a:gridCol w="451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/>
                        <a:t>Internet </a:t>
                      </a:r>
                      <a:endParaRPr sz="2400" u="none" strike="noStrike" cap="none"/>
                    </a:p>
                  </a:txBody>
                  <a:tcPr marL="58625" marR="58625" marT="30250" marB="302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WWW</a:t>
                      </a:r>
                      <a:endParaRPr sz="2400" u="none" strike="noStrike" cap="none"/>
                    </a:p>
                  </a:txBody>
                  <a:tcPr marL="58625" marR="58625" marT="30250" marB="302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                                             </a:t>
                      </a:r>
                      <a:endParaRPr sz="1400"/>
                    </a:p>
                  </a:txBody>
                  <a:tcPr marL="58625" marR="58625" marT="30250" marB="30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It is a repository of </a:t>
                      </a:r>
                      <a:endParaRPr sz="12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Common resoucres</a:t>
                      </a:r>
                      <a:endParaRPr sz="1200"/>
                    </a:p>
                  </a:txBody>
                  <a:tcPr marL="58625" marR="58625" marT="30250" marB="302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                                                                                                                  </a:t>
                      </a:r>
                      <a:endParaRPr sz="1200"/>
                    </a:p>
                  </a:txBody>
                  <a:tcPr marL="58625" marR="58625" marT="30250" marB="30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58625" marR="58625" marT="30250" marB="302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Nature of Internet is </a:t>
                      </a:r>
                      <a:r>
                        <a:rPr lang="en-US" sz="1400" b="1"/>
                        <a:t>hardware.</a:t>
                      </a:r>
                      <a:endParaRPr sz="1400" b="1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58625" marR="58625" marT="30250" marB="30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Nature of www is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</a:rPr>
                        <a:t>software.</a:t>
                      </a:r>
                      <a:endParaRPr sz="1400"/>
                    </a:p>
                  </a:txBody>
                  <a:tcPr marL="58625" marR="58625" marT="30250" marB="302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 consists of computers, routers, cables, bridges, servers, cellular towers, satellites etc</a:t>
                      </a:r>
                      <a:endParaRPr sz="1400"/>
                    </a:p>
                  </a:txBody>
                  <a:tcPr marL="58625" marR="58625" marT="30250" marB="30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www consists of </a:t>
                      </a:r>
                      <a:r>
                        <a:rPr lang="en-US" sz="14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information</a:t>
                      </a:r>
                      <a:r>
                        <a:rPr lang="en-US" sz="14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like text, images, audio, video</a:t>
                      </a:r>
                      <a:endParaRPr sz="1400"/>
                    </a:p>
                  </a:txBody>
                  <a:tcPr marL="58625" marR="58625" marT="30250" marB="302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 works on the basis of </a:t>
                      </a:r>
                      <a:r>
                        <a:rPr lang="en-US" sz="14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 Protocol (IP)</a:t>
                      </a:r>
                      <a:endParaRPr sz="1400" b="1"/>
                    </a:p>
                  </a:txBody>
                  <a:tcPr marL="58625" marR="58625" marT="30250" marB="30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WWW works on the basis of </a:t>
                      </a:r>
                      <a:r>
                        <a:rPr lang="en-US" sz="14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Hyper Text Transfer Protocol (HTTP)</a:t>
                      </a:r>
                      <a:endParaRPr sz="1400" b="1"/>
                    </a:p>
                  </a:txBody>
                  <a:tcPr marL="58625" marR="58625" marT="30250" marB="302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5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Computing devices are identified by IP Addresses</a:t>
                      </a:r>
                      <a:endParaRPr sz="1400"/>
                    </a:p>
                  </a:txBody>
                  <a:tcPr marL="58625" marR="58625" marT="30250" marB="302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Information pieces are identified by Uniform Resource Locator (URL)</a:t>
                      </a:r>
                      <a:endParaRPr sz="1400"/>
                    </a:p>
                  </a:txBody>
                  <a:tcPr marL="58625" marR="58625" marT="30250" marB="302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5" name="Google Shape;12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244" y="1901429"/>
            <a:ext cx="1762125" cy="134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4492" y="1972867"/>
            <a:ext cx="1631156" cy="1364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 txBox="1"/>
          <p:nvPr/>
        </p:nvSpPr>
        <p:spPr>
          <a:xfrm>
            <a:off x="3546872" y="1960960"/>
            <a:ext cx="976313" cy="64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a network of network</a:t>
            </a:r>
            <a:endParaRPr sz="1275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3257550" y="2571750"/>
            <a:ext cx="1314450" cy="68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</a:t>
            </a:r>
            <a:r>
              <a:rPr lang="en-US" sz="135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connecting </a:t>
            </a:r>
            <a:endParaRPr sz="135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computers</a:t>
            </a:r>
            <a:endParaRPr sz="135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4743450" y="2571751"/>
            <a:ext cx="1314450" cy="68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Connects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users/ resources</a:t>
            </a:r>
            <a:endParaRPr sz="135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 internet 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179512" y="191155"/>
            <a:ext cx="629518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between Internet and WWW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/>
        </p:nvSpPr>
        <p:spPr>
          <a:xfrm>
            <a:off x="57150" y="953599"/>
            <a:ext cx="9144000" cy="4975810"/>
          </a:xfrm>
          <a:prstGeom prst="rect">
            <a:avLst/>
          </a:prstGeom>
          <a:noFill/>
          <a:ln w="952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775" rIns="0" bIns="0" anchor="t" anchorCtr="0">
            <a:spAutoFit/>
          </a:bodyPr>
          <a:lstStyle/>
          <a:p>
            <a:pPr marL="6985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Browser</a:t>
            </a:r>
            <a:r>
              <a:rPr lang="en-US" sz="21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1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4515" marR="0" lvl="1" indent="-214630" algn="just" rtl="0"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browser is a</a:t>
            </a:r>
            <a:r>
              <a:rPr lang="en-US" sz="1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program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allows us to view and explore information on the web . A software application for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retrieving, presenting, and  traversing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resources on the World Wide  Web.</a:t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4515" marR="0" lvl="1" indent="-119380" algn="just" rtl="0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4515" marR="0" lvl="1" indent="-214630" algn="just" rtl="0"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browser can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text, audio, video, animation and more</a:t>
            </a: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It is the responsibility of a web browser to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 text and commands contained in the web page.</a:t>
            </a: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4515" marR="0" lvl="1" indent="-119380" algn="just" rtl="0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4515" marR="0" lvl="1" indent="-214630" algn="just" rtl="0"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can request for any web page by just entering a URL into address bar</a:t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85" marR="0" lvl="0" indent="0" algn="just" rtl="0">
              <a:spcBef>
                <a:spcPts val="4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85" marR="0" lvl="0" indent="0" algn="just" rtl="0"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Resource Locators, or URLs:</a:t>
            </a:r>
            <a:endParaRPr sz="1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just" rtl="0"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Resource Locator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</a:t>
            </a:r>
            <a:r>
              <a:rPr lang="en-US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</a:t>
            </a:r>
            <a:r>
              <a:rPr lang="en-US" sz="1500" b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address of  a document/ web page</a:t>
            </a:r>
            <a:r>
              <a:rPr lang="en-US" sz="150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 on the WWW</a:t>
            </a:r>
            <a:r>
              <a:rPr lang="en-US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just" rtl="0"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▪"/>
            </a:pPr>
            <a:r>
              <a:rPr lang="en-US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 </a:t>
            </a:r>
            <a:r>
              <a:rPr lang="en-US" sz="135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http://www.google.com/login.html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71449" algn="just" rtl="0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71449" algn="just" rtl="0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71449" algn="just" rtl="0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71449" algn="just" rtl="0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71449" algn="just" rtl="0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71449" algn="just" rtl="0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endParaRPr sz="135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just" rtl="0"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lang="en-US" sz="1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contains 1) Protocol   2) Domain  3)Content/filename/pathname</a:t>
            </a:r>
            <a:endParaRPr sz="15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85" marR="0" lvl="0" indent="0" algn="just" rtl="0">
              <a:spcBef>
                <a:spcPts val="40"/>
              </a:spcBef>
              <a:spcAft>
                <a:spcPts val="0"/>
              </a:spcAft>
              <a:buNone/>
            </a:pPr>
            <a:endParaRPr sz="135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85" marR="0" lvl="0" indent="0" algn="just" rtl="0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85" marR="0" lvl="0" indent="0" algn="just" rtl="0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3838575" y="7092554"/>
            <a:ext cx="1128258" cy="26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Domain Name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297" y="4114800"/>
            <a:ext cx="3933825" cy="92154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38" name="Google Shape;138;p10"/>
          <p:cNvSpPr txBox="1"/>
          <p:nvPr/>
        </p:nvSpPr>
        <p:spPr>
          <a:xfrm>
            <a:off x="179512" y="191155"/>
            <a:ext cx="312284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and URLs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/>
        </p:nvSpPr>
        <p:spPr>
          <a:xfrm>
            <a:off x="228602" y="1065609"/>
            <a:ext cx="8915397" cy="217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25" rIns="0" bIns="0" anchor="t" anchorCtr="0">
            <a:spAutoFit/>
          </a:bodyPr>
          <a:lstStyle/>
          <a:p>
            <a:pPr marL="9525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Protocol: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protocol that is used to </a:t>
            </a:r>
            <a:r>
              <a:rPr lang="en-US" sz="180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transfer pages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web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6400" marR="0" lvl="1" indent="-114300" algn="just" rtl="0">
              <a:spcBef>
                <a:spcPts val="4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 Hypertext protocol: http://www.aucegypt.edu  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6400" marR="0" lvl="1" indent="-101600" algn="just" rtl="0">
              <a:spcBef>
                <a:spcPts val="44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FTP: File Transfer Protocol: </a:t>
            </a:r>
            <a:r>
              <a:rPr lang="en-US" sz="1800" b="0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ftp://ftp.dartmouth.edu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112000"/>
              </a:lnSpc>
              <a:spcBef>
                <a:spcPts val="265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Domain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</a:t>
            </a:r>
            <a:r>
              <a:rPr lang="en-US" sz="1800" b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unique reference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identifies a website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112000"/>
              </a:lnSpc>
              <a:spcBef>
                <a:spcPts val="26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 World Wide Web sites into </a:t>
            </a: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categories based on the nature  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their owner, and they form part of a site's address, or uniform resource locator (URL). 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lnSpc>
                <a:spcPct val="112000"/>
              </a:lnSpc>
              <a:spcBef>
                <a:spcPts val="26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Common top- level domains are:</a:t>
            </a:r>
            <a:endParaRPr sz="16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4" name="Google Shape;144;p11"/>
          <p:cNvGraphicFramePr/>
          <p:nvPr/>
        </p:nvGraphicFramePr>
        <p:xfrm>
          <a:off x="3428997" y="3000919"/>
          <a:ext cx="5486400" cy="1641660"/>
        </p:xfrm>
        <a:graphic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DAFEA4"/>
                    </a:gs>
                    <a:gs pos="35000">
                      <a:srgbClr val="E3FEBF"/>
                    </a:gs>
                    <a:gs pos="100000">
                      <a:srgbClr val="F4FEE6"/>
                    </a:gs>
                  </a:gsLst>
                  <a:lin ang="16200000" scaled="0"/>
                </a:gradFill>
                <a:tableStyleId>{59DC4DB9-D520-43BD-A049-DAEF52D9185C}</a:tableStyleId>
              </a:tblPr>
              <a:tblGrid>
                <a:gridCol w="2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725"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 - desc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 -desc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725"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C00000"/>
                          </a:solidFill>
                        </a:rPr>
                        <a:t>.com</a:t>
                      </a:r>
                      <a:r>
                        <a:rPr lang="en-US" sz="1200"/>
                        <a:t>—commercial enterprises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C00000"/>
                          </a:solidFill>
                        </a:rPr>
                        <a:t>.mil</a:t>
                      </a:r>
                      <a:r>
                        <a:rPr lang="en-US" sz="1200"/>
                        <a:t>—military site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25">
                <a:tc>
                  <a:txBody>
                    <a:bodyPr/>
                    <a:lstStyle/>
                    <a:p>
                      <a:pPr marL="74295" marR="37973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C00000"/>
                          </a:solidFill>
                        </a:rPr>
                        <a:t>.org</a:t>
                      </a:r>
                      <a:r>
                        <a:rPr lang="en-US" sz="1200"/>
                        <a:t>—organization site (non-profits,  etc.)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225" marB="0"/>
                </a:tc>
                <a:tc>
                  <a:txBody>
                    <a:bodyPr/>
                    <a:lstStyle/>
                    <a:p>
                      <a:pPr marL="77470" marR="32321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C00000"/>
                          </a:solidFill>
                        </a:rPr>
                        <a:t>.int</a:t>
                      </a:r>
                      <a:r>
                        <a:rPr lang="en-US" sz="1200"/>
                        <a:t>—organizations established by  international treaty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2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75"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C00000"/>
                          </a:solidFill>
                        </a:rPr>
                        <a:t>.net</a:t>
                      </a:r>
                      <a:r>
                        <a:rPr lang="en-US" sz="1200"/>
                        <a:t>—network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C00000"/>
                          </a:solidFill>
                        </a:rPr>
                        <a:t>.biz</a:t>
                      </a:r>
                      <a:r>
                        <a:rPr lang="en-US" sz="1200"/>
                        <a:t>—commercial and personal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.edu—educational site (universities,</a:t>
                      </a:r>
                      <a:endParaRPr sz="1200"/>
                    </a:p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schools, etc.)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C00000"/>
                          </a:solidFill>
                        </a:rPr>
                        <a:t>.info</a:t>
                      </a:r>
                      <a:r>
                        <a:rPr lang="en-US" sz="1200"/>
                        <a:t>—commercial and personal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750"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C00000"/>
                          </a:solidFill>
                        </a:rPr>
                        <a:t>.gov</a:t>
                      </a:r>
                      <a:r>
                        <a:rPr lang="en-US" sz="1200"/>
                        <a:t>—government organizations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C00000"/>
                          </a:solidFill>
                        </a:rPr>
                        <a:t>.name</a:t>
                      </a:r>
                      <a:r>
                        <a:rPr lang="en-US" sz="1200"/>
                        <a:t>—personal sites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5" name="Google Shape;145;p11"/>
          <p:cNvSpPr txBox="1"/>
          <p:nvPr/>
        </p:nvSpPr>
        <p:spPr>
          <a:xfrm>
            <a:off x="-108520" y="4686810"/>
            <a:ext cx="8801100" cy="173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25" rIns="0" bIns="0" anchor="t" anchorCtr="0">
            <a:spAutoFit/>
          </a:bodyPr>
          <a:lstStyle/>
          <a:p>
            <a:pPr marL="9525" marR="0" lvl="0" indent="395605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country linked to the Web has a two- letter top- level domain, 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395605" algn="just" rtl="0">
              <a:lnSpc>
                <a:spcPct val="109000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 .fr is France, .ie is  Ireland.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395605" algn="just" rtl="0">
              <a:lnSpc>
                <a:spcPct val="109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395605" algn="just" rtl="0">
              <a:lnSpc>
                <a:spcPct val="109000"/>
              </a:lnSpc>
              <a:spcBef>
                <a:spcPts val="5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File name or path name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6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name of the document file requested.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395605" algn="just" rtl="0">
              <a:lnSpc>
                <a:spcPct val="109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395605" algn="just" rtl="0">
              <a:lnSpc>
                <a:spcPct val="109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1"/>
          <p:cNvSpPr/>
          <p:nvPr/>
        </p:nvSpPr>
        <p:spPr>
          <a:xfrm flipH="1">
            <a:off x="7742635" y="1003698"/>
            <a:ext cx="1401365" cy="4550569"/>
          </a:xfrm>
          <a:custGeom>
            <a:avLst/>
            <a:gdLst/>
            <a:ahLst/>
            <a:cxnLst/>
            <a:rect l="l" t="t" r="r" b="b"/>
            <a:pathLst>
              <a:path w="1868487" h="9467215" extrusionOk="0">
                <a:moveTo>
                  <a:pt x="0" y="0"/>
                </a:moveTo>
                <a:lnTo>
                  <a:pt x="0" y="9466783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1422797" y="5551885"/>
            <a:ext cx="6313884" cy="0"/>
          </a:xfrm>
          <a:custGeom>
            <a:avLst/>
            <a:gdLst/>
            <a:ahLst/>
            <a:cxnLst/>
            <a:rect l="l" t="t" r="r" b="b"/>
            <a:pathLst>
              <a:path w="7156450" h="1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179512" y="191155"/>
            <a:ext cx="477880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Protocols and Domain names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/>
        </p:nvSpPr>
        <p:spPr>
          <a:xfrm>
            <a:off x="57150" y="1371601"/>
            <a:ext cx="4972050" cy="366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264160" marR="0" lvl="0" indent="-142874" algn="l" rtl="0">
              <a:spcBef>
                <a:spcPts val="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57175" algn="l" rtl="0">
              <a:spcBef>
                <a:spcPts val="36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stands for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 Text Markup Language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57175" algn="l" rtl="0">
              <a:spcBef>
                <a:spcPts val="36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is used to 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create </a:t>
            </a:r>
            <a:r>
              <a:rPr lang="en-US" sz="1800" b="1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web pages.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57175" algn="l" rtl="0">
              <a:spcBef>
                <a:spcPts val="36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is a format that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tells a browser how to  display a web page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57175" algn="l" rtl="0">
              <a:spcBef>
                <a:spcPts val="36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HTML file  is a text file containing </a:t>
            </a:r>
            <a:r>
              <a:rPr lang="en-US" sz="1800" b="1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small markup tags</a:t>
            </a:r>
            <a:endParaRPr sz="1800" b="1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57175" algn="l" rtl="0">
              <a:spcBef>
                <a:spcPts val="36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documents are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plain text files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"tags"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codes  that a web browser uses to interpret and display information on web browser.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57175" algn="l" rtl="0">
              <a:spcBef>
                <a:spcPts val="36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HTML file must have an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.htm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.html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extension.</a:t>
            </a:r>
            <a:endParaRPr sz="13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2160985" y="2095500"/>
            <a:ext cx="48815" cy="273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2" descr="Image result for htm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0175" y="2257425"/>
            <a:ext cx="3910013" cy="2343150"/>
          </a:xfrm>
          <a:prstGeom prst="rect">
            <a:avLst/>
          </a:prstGeom>
          <a:noFill/>
          <a:ln w="9525" cap="flat" cmpd="sng">
            <a:solidFill>
              <a:srgbClr val="558ED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6" name="Google Shape;156;p12" descr="HTML Building blocks "/>
          <p:cNvSpPr/>
          <p:nvPr/>
        </p:nvSpPr>
        <p:spPr>
          <a:xfrm>
            <a:off x="1243012" y="762000"/>
            <a:ext cx="195263" cy="20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 descr="HTML Building blocks "/>
          <p:cNvSpPr/>
          <p:nvPr/>
        </p:nvSpPr>
        <p:spPr>
          <a:xfrm>
            <a:off x="1243012" y="762000"/>
            <a:ext cx="195263" cy="20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57150" y="884635"/>
            <a:ext cx="9086850" cy="526256"/>
          </a:xfrm>
          <a:prstGeom prst="rect">
            <a:avLst/>
          </a:prstGeom>
          <a:solidFill>
            <a:srgbClr val="CCC0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179512" y="191155"/>
            <a:ext cx="613821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Hypertext Markup Language (HTML)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0" y="1412082"/>
            <a:ext cx="9144000" cy="4663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9525" marR="0" lvl="1" indent="0" algn="just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tag</a:t>
            </a: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14425" marR="0" lvl="2" indent="-257175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HTML tag is </a:t>
            </a:r>
            <a:r>
              <a:rPr lang="en-US" sz="1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surrounded by the two  characters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lang="en-US" sz="1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lang="en-US" sz="1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14425" marR="0" lvl="2" indent="-257175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surrounding characters are called  </a:t>
            </a:r>
            <a:r>
              <a:rPr lang="en-US" sz="1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angle brackets</a:t>
            </a:r>
            <a:r>
              <a:rPr lang="en-US"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 Ex. </a:t>
            </a:r>
            <a:r>
              <a:rPr lang="en-US" sz="15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&lt;html&gt; </a:t>
            </a:r>
            <a:endParaRPr sz="1500" b="0" i="0" u="none" strike="noStrike" cap="none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just" rtl="0">
              <a:spcBef>
                <a:spcPts val="45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Element:  </a:t>
            </a:r>
            <a:endParaRPr sz="15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1615" marR="0" lvl="1" indent="-214630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Come </a:t>
            </a:r>
            <a:r>
              <a:rPr lang="en-US" sz="1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 pair in which </a:t>
            </a: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 tag is the </a:t>
            </a:r>
            <a:r>
              <a:rPr lang="en-US" sz="1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&lt;start tag&gt;</a:t>
            </a: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second tag is the </a:t>
            </a:r>
            <a:r>
              <a:rPr lang="en-US" sz="1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&lt;/end tag&gt;.</a:t>
            </a:r>
            <a:endParaRPr sz="12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14425" marR="0" lvl="2" indent="-257175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</a:t>
            </a: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the  start and end tags is the </a:t>
            </a:r>
            <a:r>
              <a:rPr lang="en-US" sz="1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 content</a:t>
            </a:r>
            <a:r>
              <a:rPr lang="en-US" sz="1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61924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61924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61924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61924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61924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61924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 An attribute in HTML provides extra information about the element, and it is applied within the start tag.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14425" marR="0" lvl="2" indent="-257175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</a:pPr>
            <a:r>
              <a:rPr lang="en-US" sz="13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HTML attribute contains two fields: </a:t>
            </a:r>
            <a:r>
              <a:rPr lang="en-US" sz="135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&amp; value</a:t>
            </a:r>
            <a:r>
              <a:rPr lang="en-US" sz="13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3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14425" marR="0" lvl="2" indent="-257175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</a:pPr>
            <a:r>
              <a:rPr lang="en-US" sz="13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tags are </a:t>
            </a:r>
            <a:r>
              <a:rPr lang="en-US" sz="135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case sensitive </a:t>
            </a:r>
            <a:r>
              <a:rPr lang="en-US" sz="135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&lt;B&gt;</a:t>
            </a:r>
            <a:r>
              <a:rPr lang="en-US" sz="135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means the same as  </a:t>
            </a:r>
            <a:r>
              <a:rPr lang="en-US" sz="135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&lt;b&gt;.</a:t>
            </a:r>
            <a:endParaRPr sz="135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161924" algn="just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2160985" y="2095500"/>
            <a:ext cx="48815" cy="273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1422797" y="1007269"/>
            <a:ext cx="6313884" cy="0"/>
          </a:xfrm>
          <a:custGeom>
            <a:avLst/>
            <a:gdLst/>
            <a:ahLst/>
            <a:cxnLst/>
            <a:rect l="l" t="t" r="r" b="b"/>
            <a:pathLst>
              <a:path w="7156450" h="1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13"/>
          <p:cNvCxnSpPr/>
          <p:nvPr/>
        </p:nvCxnSpPr>
        <p:spPr>
          <a:xfrm>
            <a:off x="1397794" y="1412081"/>
            <a:ext cx="6397229" cy="119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" name="Google Shape;168;p13" descr="Image result for html element structure"/>
          <p:cNvSpPr/>
          <p:nvPr/>
        </p:nvSpPr>
        <p:spPr>
          <a:xfrm>
            <a:off x="1243012" y="762000"/>
            <a:ext cx="195263" cy="20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0985" y="3257550"/>
            <a:ext cx="5506640" cy="1620441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70" name="Google Shape;170;p13"/>
          <p:cNvSpPr txBox="1"/>
          <p:nvPr/>
        </p:nvSpPr>
        <p:spPr>
          <a:xfrm>
            <a:off x="0" y="971550"/>
            <a:ext cx="9144000" cy="415498"/>
          </a:xfrm>
          <a:prstGeom prst="rect">
            <a:avLst/>
          </a:prstGeom>
          <a:solidFill>
            <a:srgbClr val="CCC0D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</a:pP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Anatomy of an HTML element or HTML Tags/Element structure:-</a:t>
            </a:r>
            <a:endParaRPr sz="21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179512" y="191155"/>
            <a:ext cx="499309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Anatomy of an HTML Element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 descr="Image result for structure of html"/>
          <p:cNvSpPr/>
          <p:nvPr/>
        </p:nvSpPr>
        <p:spPr>
          <a:xfrm>
            <a:off x="1243012" y="762000"/>
            <a:ext cx="195263" cy="20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4" descr="Summary of Basic HTML Tag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4" y="1493044"/>
            <a:ext cx="4964906" cy="409932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/>
          <p:nvPr/>
        </p:nvSpPr>
        <p:spPr>
          <a:xfrm>
            <a:off x="145257" y="1007269"/>
            <a:ext cx="4688681" cy="38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structure of an HTML document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93544" y="1657351"/>
            <a:ext cx="3643313" cy="213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 txBox="1"/>
          <p:nvPr/>
        </p:nvSpPr>
        <p:spPr>
          <a:xfrm>
            <a:off x="5943600" y="4114800"/>
            <a:ext cx="263405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Fig.Tree Structure of HTML Doc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179512" y="191155"/>
            <a:ext cx="619208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Structure of an HTML document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/>
        </p:nvSpPr>
        <p:spPr>
          <a:xfrm>
            <a:off x="0" y="865585"/>
            <a:ext cx="9144000" cy="415498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HTML </a:t>
            </a:r>
            <a:r>
              <a:rPr lang="en-US" sz="2100" b="1">
                <a:solidFill>
                  <a:srgbClr val="C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&lt;html&gt; </a:t>
            </a:r>
            <a:r>
              <a:rPr lang="en-US" sz="21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Tag</a:t>
            </a:r>
            <a:endParaRPr sz="2100" b="1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57150" y="1428749"/>
            <a:ext cx="8915400" cy="216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5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&lt;html&gt;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represents the </a:t>
            </a:r>
            <a:r>
              <a:rPr lang="en-US" sz="15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root of an HTML document.</a:t>
            </a:r>
            <a:endParaRPr sz="15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5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&lt;html&gt;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is the </a:t>
            </a:r>
            <a:r>
              <a:rPr lang="en-US" sz="15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container for all other HTML elements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(except for the &lt;!DOCTYPE&gt; tag).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HTML tag is a piece of markup language used to indicate the beginning and end of an HTML element in an HTML document.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part of an HTML element, HTML tags help web browsers convert HTML documents into web pages.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1085850" y="3943350"/>
            <a:ext cx="45731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73239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&lt;html&gt; HTML Contents... &lt;/html&gt;</a:t>
            </a:r>
            <a:r>
              <a:rPr lang="en-US" sz="1500">
                <a:solidFill>
                  <a:schemeClr val="dk1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700">
              <a:solidFill>
                <a:schemeClr val="dk1"/>
              </a:solidFill>
              <a:highlight>
                <a:srgbClr val="00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179512" y="191155"/>
            <a:ext cx="444660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HTML tag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/>
          <p:nvPr/>
        </p:nvSpPr>
        <p:spPr>
          <a:xfrm>
            <a:off x="285750" y="1543051"/>
            <a:ext cx="4573191" cy="235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&lt;head&gt;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&lt;/head&gt;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&lt;body bgcolor="cyan"&gt;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welcome to web world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&lt;/body&gt; 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0" y="865585"/>
            <a:ext cx="9144000" cy="415498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Program for Displaying Welcome</a:t>
            </a:r>
            <a:endParaRPr sz="2100" b="1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179512" y="191155"/>
            <a:ext cx="24632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179512" y="191155"/>
            <a:ext cx="474052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(… continued)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/>
          <p:nvPr/>
        </p:nvSpPr>
        <p:spPr>
          <a:xfrm>
            <a:off x="0" y="865585"/>
            <a:ext cx="9144000" cy="415498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&lt;head&gt; </a:t>
            </a:r>
            <a:r>
              <a:rPr lang="en-US" sz="21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Tag</a:t>
            </a:r>
            <a:endParaRPr sz="2100" b="1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57149" y="1428750"/>
            <a:ext cx="8915400" cy="170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&lt;head&gt;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 is a container for metadata (data about data) and is placed between the &lt;html&gt; tag and the &lt;body&gt; tag.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Metadata is data about the HTML document. Metadata is not displayed.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Metadata typically define the </a:t>
            </a:r>
            <a:r>
              <a:rPr lang="en-US" sz="15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document title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character set, styles, scripts, and other meta information.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342900" y="3200400"/>
            <a:ext cx="5086350" cy="92333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Title of the document</a:t>
            </a:r>
            <a:r>
              <a:rPr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/title</a:t>
            </a:r>
            <a:r>
              <a:rPr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/head</a:t>
            </a:r>
            <a:r>
              <a:rPr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348853" y="4286250"/>
            <a:ext cx="5080397" cy="1477328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    h1 </a:t>
            </a: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15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;}</a:t>
            </a:r>
            <a:b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    p </a:t>
            </a: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15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blue</a:t>
            </a: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;}</a:t>
            </a:r>
            <a:b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/style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/head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179512" y="191155"/>
            <a:ext cx="41890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Head tag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 txBox="1"/>
          <p:nvPr/>
        </p:nvSpPr>
        <p:spPr>
          <a:xfrm>
            <a:off x="0" y="865585"/>
            <a:ext cx="9144000" cy="415498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HTML &lt;body&gt; Tag</a:t>
            </a:r>
            <a:endParaRPr sz="2100" b="1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57150" y="1428751"/>
            <a:ext cx="89154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14630" marR="0" lvl="0" indent="-2146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5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&lt;body&gt;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 defines the document's body.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4630" marR="0" lvl="0" indent="-11937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4630" marR="0" lvl="0" indent="-2146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&lt;body&gt;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 contains all the contents of an HTML document, such as </a:t>
            </a: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headings, paragraphs, images, hyperlinks, tables, lists, etc.</a:t>
            </a:r>
            <a:endParaRPr sz="1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4630" marR="0" lvl="0" indent="-11937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can only be one </a:t>
            </a: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 in an HTML document.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342901" y="3052762"/>
            <a:ext cx="5080397" cy="263149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Title of the document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/title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/head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 is a heading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/h1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 is a paragraph.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/p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/body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5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/html</a:t>
            </a:r>
            <a:r>
              <a:rPr lang="en-US" sz="15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179512" y="191155"/>
            <a:ext cx="416985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Body tag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/>
          <p:nvPr/>
        </p:nvSpPr>
        <p:spPr>
          <a:xfrm>
            <a:off x="171450" y="947737"/>
            <a:ext cx="8972550" cy="505301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326232" y="1082279"/>
            <a:ext cx="8417719" cy="69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Headings:-</a:t>
            </a:r>
            <a:endParaRPr sz="1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headings are </a:t>
            </a:r>
            <a:r>
              <a:rPr lang="en-US" sz="1800" b="1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titles or subtitles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you want to display on a webpage.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1" name="Google Shape;221;p19"/>
          <p:cNvGrpSpPr/>
          <p:nvPr/>
        </p:nvGrpSpPr>
        <p:grpSpPr>
          <a:xfrm>
            <a:off x="354807" y="1918098"/>
            <a:ext cx="7474744" cy="3588822"/>
            <a:chOff x="87389" y="4017231"/>
            <a:chExt cx="5886924" cy="3209709"/>
          </a:xfrm>
        </p:grpSpPr>
        <p:sp>
          <p:nvSpPr>
            <p:cNvPr id="222" name="Google Shape;222;p19"/>
            <p:cNvSpPr/>
            <p:nvPr/>
          </p:nvSpPr>
          <p:spPr>
            <a:xfrm>
              <a:off x="183112" y="4017231"/>
              <a:ext cx="5791201" cy="2683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473074" y="5410198"/>
              <a:ext cx="3093347" cy="181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&lt;h1&gt;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Heading no. 1</a:t>
              </a: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&lt;/h1&gt;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 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&lt;h2&gt;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Heading no. 2</a:t>
              </a: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&lt;/h2&gt;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 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&lt;h3&gt;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Heading no. 3</a:t>
              </a: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&lt;/h3&gt;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 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&lt;h4&gt;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Heading no. 4</a:t>
              </a: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&lt;/h4&gt;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 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&lt;h5&gt;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Heading no. 5</a:t>
              </a: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&lt;/h5&gt;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 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&lt;h6&gt;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Heading no. 6</a:t>
              </a:r>
              <a:r>
                <a:rPr lang="en-US" sz="21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&lt;/h6&gt;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4" name="Google Shape;224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636132" y="4419600"/>
              <a:ext cx="2170943" cy="2743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19"/>
            <p:cNvSpPr/>
            <p:nvPr/>
          </p:nvSpPr>
          <p:spPr>
            <a:xfrm>
              <a:off x="87389" y="4243186"/>
              <a:ext cx="3143084" cy="660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&lt;h1&gt;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is the largest heading tag and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&lt;h6</a:t>
              </a:r>
              <a:r>
                <a:rPr lang="en-US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&gt; is the smallest one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9"/>
          <p:cNvSpPr txBox="1"/>
          <p:nvPr/>
        </p:nvSpPr>
        <p:spPr>
          <a:xfrm>
            <a:off x="179512" y="191155"/>
            <a:ext cx="638200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Heading tags in HTML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" name="Google Shape;231;p20"/>
          <p:cNvGraphicFramePr/>
          <p:nvPr>
            <p:extLst>
              <p:ext uri="{D42A27DB-BD31-4B8C-83A1-F6EECF244321}">
                <p14:modId xmlns:p14="http://schemas.microsoft.com/office/powerpoint/2010/main" val="1716403624"/>
              </p:ext>
            </p:extLst>
          </p:nvPr>
        </p:nvGraphicFramePr>
        <p:xfrm>
          <a:off x="8335" y="1365647"/>
          <a:ext cx="3614750" cy="2100225"/>
        </p:xfrm>
        <a:graphic>
          <a:graphicData uri="http://schemas.openxmlformats.org/drawingml/2006/table">
            <a:tbl>
              <a:tblPr firstRow="1" bandRow="1">
                <a:noFill/>
                <a:tableStyleId>{7FDFB401-6C5B-4D00-9001-CC80CE76A071}</a:tableStyleId>
              </a:tblPr>
              <a:tblGrid>
                <a:gridCol w="13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950">
                <a:tc>
                  <a:txBody>
                    <a:bodyPr/>
                    <a:lstStyle/>
                    <a:p>
                      <a:pPr marL="7429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Tag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marL="8382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B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875">
                <a:tc>
                  <a:txBody>
                    <a:bodyPr/>
                    <a:lstStyle/>
                    <a:p>
                      <a:pPr marL="74295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&lt;p&gt;</a:t>
                      </a:r>
                      <a:endParaRPr sz="14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838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tag represents a paragraph.</a:t>
                      </a:r>
                      <a:endParaRPr sz="14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850">
                <a:tc>
                  <a:txBody>
                    <a:bodyPr/>
                    <a:lstStyle/>
                    <a:p>
                      <a:pPr marL="74295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&lt;h1&gt; to &lt;h6&gt;</a:t>
                      </a:r>
                      <a:endParaRPr sz="14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838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Defines header 1 to header 6</a:t>
                      </a:r>
                      <a:endParaRPr sz="14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850">
                <a:tc>
                  <a:txBody>
                    <a:bodyPr/>
                    <a:lstStyle/>
                    <a:p>
                      <a:pPr marL="74295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&lt;br&gt;</a:t>
                      </a:r>
                      <a:endParaRPr sz="14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838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Inserts a single line break</a:t>
                      </a:r>
                      <a:endParaRPr sz="14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850">
                <a:tc>
                  <a:txBody>
                    <a:bodyPr/>
                    <a:lstStyle/>
                    <a:p>
                      <a:pPr marL="74295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&lt;hr&gt;</a:t>
                      </a:r>
                      <a:endParaRPr sz="14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838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Defines a </a:t>
                      </a:r>
                      <a:r>
                        <a:rPr lang="en-US" sz="1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horizontal rule</a:t>
                      </a:r>
                      <a:endParaRPr sz="14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850">
                <a:tc>
                  <a:txBody>
                    <a:bodyPr/>
                    <a:lstStyle/>
                    <a:p>
                      <a:pPr marL="74295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&lt;!--&gt; </a:t>
                      </a:r>
                      <a:endParaRPr sz="14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838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Defines a </a:t>
                      </a:r>
                      <a:r>
                        <a:rPr lang="en-US" sz="14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</a:t>
                      </a:r>
                      <a:endParaRPr sz="14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2" name="Google Shape;232;p20"/>
          <p:cNvSpPr/>
          <p:nvPr/>
        </p:nvSpPr>
        <p:spPr>
          <a:xfrm>
            <a:off x="8335" y="929878"/>
            <a:ext cx="4004072" cy="33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Displaying Texts and like breaks</a:t>
            </a:r>
            <a:endParaRPr sz="1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3657601" y="1371600"/>
            <a:ext cx="5337572" cy="1126495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100330" marR="0" lvl="0" indent="0" algn="just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 - Paragraph Tag</a:t>
            </a:r>
            <a:endParaRPr sz="15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0330" marR="0" lvl="0" indent="0" algn="just" rtl="0">
              <a:lnSpc>
                <a:spcPct val="108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&lt;p&gt; tag defines a paragraph. Browsers automatically add some space (margin) before and after each &lt;p&gt; element..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0330" marR="0" lvl="0" indent="0" algn="just" rtl="0">
              <a:lnSpc>
                <a:spcPct val="6740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0330" marR="0" lvl="0" indent="0" algn="just" rtl="0">
              <a:lnSpc>
                <a:spcPct val="6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&lt;p&gt;This is a paragraph&lt;/p&gt;</a:t>
            </a: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0330" marR="0" lvl="0" indent="0" algn="just" rtl="0">
              <a:lnSpc>
                <a:spcPct val="7137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75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657601" y="2553891"/>
            <a:ext cx="5337572" cy="6874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100330" marR="0" lvl="0" indent="0" algn="just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&lt;br&gt; Line Breaks:-</a:t>
            </a:r>
            <a:endParaRPr sz="1275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0330" marR="0" lvl="0" indent="0" algn="just" rtl="0"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3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&lt;br&gt; </a:t>
            </a: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 is used when we want to </a:t>
            </a:r>
            <a:r>
              <a:rPr lang="en-US" sz="13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a new line</a:t>
            </a: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don't want to start a new paragraph. 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5" name="Google Shape;235;p20"/>
          <p:cNvGraphicFramePr/>
          <p:nvPr/>
        </p:nvGraphicFramePr>
        <p:xfrm>
          <a:off x="3657601" y="3415904"/>
          <a:ext cx="5337575" cy="1094175"/>
        </p:xfrm>
        <a:graphic>
          <a:graphicData uri="http://schemas.openxmlformats.org/drawingml/2006/table">
            <a:tbl>
              <a:tblPr firstRow="1" bandRow="1">
                <a:noFill/>
                <a:tableStyleId>{7FDFB401-6C5B-4D00-9001-CC80CE76A071}</a:tableStyleId>
              </a:tblPr>
              <a:tblGrid>
                <a:gridCol w="264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250">
                <a:tc>
                  <a:txBody>
                    <a:bodyPr/>
                    <a:lstStyle/>
                    <a:p>
                      <a:pPr marL="1143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Code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FDD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925"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1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&lt;p&gt;This </a:t>
                      </a:r>
                      <a:r>
                        <a:rPr lang="en-US" sz="1200" b="1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&lt;br&gt; is a para&lt;br</a:t>
                      </a: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graph with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 breaks&lt;/p&gt;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a para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graph with line breaks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36" name="Google Shape;236;p20"/>
          <p:cNvGrpSpPr/>
          <p:nvPr/>
        </p:nvGrpSpPr>
        <p:grpSpPr>
          <a:xfrm>
            <a:off x="3657601" y="4669632"/>
            <a:ext cx="5299472" cy="923330"/>
            <a:chOff x="5196688" y="4237672"/>
            <a:chExt cx="4953787" cy="1394264"/>
          </a:xfrm>
        </p:grpSpPr>
        <p:sp>
          <p:nvSpPr>
            <p:cNvPr id="237" name="Google Shape;237;p20"/>
            <p:cNvSpPr/>
            <p:nvPr/>
          </p:nvSpPr>
          <p:spPr>
            <a:xfrm>
              <a:off x="5196688" y="4237672"/>
              <a:ext cx="4953787" cy="1394264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&lt;hr&gt; </a:t>
              </a:r>
              <a:r>
                <a:rPr lang="en-US" sz="13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element is used for </a:t>
              </a:r>
              <a:r>
                <a:rPr lang="en-US" sz="135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horizontal rules </a:t>
              </a:r>
              <a:r>
                <a:rPr lang="en-US" sz="13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that act as </a:t>
              </a:r>
              <a:r>
                <a:rPr lang="en-US" sz="135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dividers between sections </a:t>
              </a:r>
              <a:endParaRPr sz="13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8" name="Google Shape;238;p20"/>
            <p:cNvCxnSpPr/>
            <p:nvPr/>
          </p:nvCxnSpPr>
          <p:spPr>
            <a:xfrm>
              <a:off x="6492174" y="5352365"/>
              <a:ext cx="3049511" cy="1798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9" name="Google Shape;239;p20"/>
          <p:cNvSpPr txBox="1"/>
          <p:nvPr/>
        </p:nvSpPr>
        <p:spPr>
          <a:xfrm>
            <a:off x="179512" y="191155"/>
            <a:ext cx="598029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Text Level Elements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0" y="857250"/>
            <a:ext cx="9144000" cy="336983"/>
          </a:xfrm>
          <a:prstGeom prst="rect">
            <a:avLst/>
          </a:prstGeom>
          <a:solidFill>
            <a:srgbClr val="FBD4B4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HTML Text Formatting Elements</a:t>
            </a:r>
            <a:endParaRPr sz="18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0" y="1276350"/>
            <a:ext cx="6397229" cy="302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Formatting</a:t>
            </a:r>
            <a:r>
              <a:rPr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a process of formatting text for better look and feel.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21"/>
          <p:cNvGraphicFramePr/>
          <p:nvPr>
            <p:extLst>
              <p:ext uri="{D42A27DB-BD31-4B8C-83A1-F6EECF244321}">
                <p14:modId xmlns:p14="http://schemas.microsoft.com/office/powerpoint/2010/main" val="2122875100"/>
              </p:ext>
            </p:extLst>
          </p:nvPr>
        </p:nvGraphicFramePr>
        <p:xfrm>
          <a:off x="21432" y="1687116"/>
          <a:ext cx="9122575" cy="4214031"/>
        </p:xfrm>
        <a:graphic>
          <a:graphicData uri="http://schemas.openxmlformats.org/drawingml/2006/table">
            <a:tbl>
              <a:tblPr>
                <a:noFill/>
                <a:tableStyleId>{ADE48064-F750-496B-9BB9-CFEB342D939D}</a:tableStyleId>
              </a:tblPr>
              <a:tblGrid>
                <a:gridCol w="16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Element name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0775" marR="20775" marT="21425" marB="21425">
                    <a:lnL w="9525" cap="flat" cmpd="sng">
                      <a:solidFill>
                        <a:srgbClr val="4014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014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014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0775" marR="20775" marT="21425" marB="21425">
                    <a:lnL w="9525" cap="flat" cmpd="sng">
                      <a:solidFill>
                        <a:srgbClr val="4014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014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014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&lt;b&gt;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Bold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Text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&lt;strong&gt;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is a logical tag, which tells the browser that the text is important.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&lt;i&gt;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used to make text italic.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&lt;em&gt;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used to display content in italic.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&lt;mark&gt;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tag is used to highlight text.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&lt;u&gt;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used to underline text written between it.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85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&lt;strike&gt;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tag is used to draw a strikethrough on a section of text.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&lt;sup&gt;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-Superscript text.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&lt;sub&gt;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Subscript text.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&lt;del&gt;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tag is used to display the deleted content.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&lt;ins&gt;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tag displays the content which is added.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3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&lt;big&gt;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tag is used to increase the font size by one conventional unit.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63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&lt;small&gt;</a:t>
                      </a:r>
                      <a:endParaRPr sz="1400" b="1" i="0" u="none" strike="noStrike" cap="none">
                        <a:solidFill>
                          <a:srgbClr val="C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tag is used to decrease the font size by one unit from base font size.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3850" marR="13850" marT="14300" marB="14300">
                    <a:lnL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47" name="Google Shape;247;p21"/>
          <p:cNvSpPr txBox="1"/>
          <p:nvPr/>
        </p:nvSpPr>
        <p:spPr>
          <a:xfrm>
            <a:off x="179512" y="191155"/>
            <a:ext cx="60155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Text Formatting tags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/>
          <p:nvPr/>
        </p:nvSpPr>
        <p:spPr>
          <a:xfrm>
            <a:off x="8335" y="929878"/>
            <a:ext cx="9135665" cy="336983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the spaces between text:</a:t>
            </a:r>
            <a:endParaRPr sz="1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57150" y="1428749"/>
            <a:ext cx="89154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page </a:t>
            </a:r>
            <a:r>
              <a:rPr lang="en-US" sz="15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shows only one space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the two words. It does not matter that how much we have pressed the spacebar.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want to show more than one space before or after the text on the webpage then we have to give the following tag: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&amp;nbsp    Non-breaking space</a:t>
            </a:r>
            <a:endParaRPr sz="1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tag is used for </a:t>
            </a: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displaying only one space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the text.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00050" y="3513341"/>
            <a:ext cx="8572500" cy="1082828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10033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&lt;p&gt;There is one space between these</a:t>
            </a:r>
            <a:r>
              <a:rPr lang="en-US" sz="1500" b="1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&amp;nbsp;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words.&lt;/p&gt;</a:t>
            </a: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0330" marR="0" lvl="0" indent="0" algn="just" rtl="0">
              <a:lnSpc>
                <a:spcPct val="15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&lt;p&gt;There are </a:t>
            </a:r>
            <a:r>
              <a:rPr lang="en-US" sz="1500" b="1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two spaces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 these</a:t>
            </a:r>
            <a:r>
              <a:rPr lang="en-US" sz="1500" b="1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&amp;nbsp;&amp;nbsp;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words.&lt;/p&gt;</a:t>
            </a: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0330" marR="0" lvl="0" indent="0" algn="just" rtl="0">
              <a:lnSpc>
                <a:spcPct val="15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&lt;p&gt;There are </a:t>
            </a:r>
            <a:r>
              <a:rPr lang="en-US" sz="1500" b="1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five spaces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 these</a:t>
            </a:r>
            <a:r>
              <a:rPr lang="en-US" sz="1500" b="1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&amp;nbsp;&amp;nbsp;&amp;nbsp;&amp;nbsp;&amp;nbsp;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words.&lt;/p&gt;</a:t>
            </a:r>
            <a:endParaRPr sz="1275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373856" y="4787503"/>
            <a:ext cx="4605338" cy="78483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one space between these words.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spaces between these  words.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five spaces between these     words.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179512" y="191155"/>
            <a:ext cx="60155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Text Formatting tags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/>
          <p:nvPr/>
        </p:nvSpPr>
        <p:spPr>
          <a:xfrm>
            <a:off x="8335" y="929878"/>
            <a:ext cx="9135665" cy="336983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the spaces between text:</a:t>
            </a:r>
            <a:endParaRPr sz="1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57150" y="1428749"/>
            <a:ext cx="89154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want to insert/add the </a:t>
            </a:r>
            <a:r>
              <a:rPr lang="en-US" sz="15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longer space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we also use the following tags for showing </a:t>
            </a: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spaces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the text on the web page: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&amp;ensp;      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tag is used for </a:t>
            </a: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displaying two spaces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&amp;emsp;      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tag is used for </a:t>
            </a: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displaying four space</a:t>
            </a:r>
            <a:endParaRPr sz="1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228600" y="3282553"/>
            <a:ext cx="8572500" cy="710932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10033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also add the &lt;pre&gt; tag, which displays the text on the web page as same as entered in the Html document.</a:t>
            </a: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342900" y="4206479"/>
            <a:ext cx="4605338" cy="397032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33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&lt;pre&gt;   Any text or paragraph &lt;/pre&gt;</a:t>
            </a:r>
            <a:endParaRPr sz="1275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179512" y="191155"/>
            <a:ext cx="60155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Text Formatting tags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" name="Google Shape;270;p24"/>
          <p:cNvGraphicFramePr/>
          <p:nvPr>
            <p:extLst>
              <p:ext uri="{D42A27DB-BD31-4B8C-83A1-F6EECF244321}">
                <p14:modId xmlns:p14="http://schemas.microsoft.com/office/powerpoint/2010/main" val="2212793185"/>
              </p:ext>
            </p:extLst>
          </p:nvPr>
        </p:nvGraphicFramePr>
        <p:xfrm>
          <a:off x="0" y="1348979"/>
          <a:ext cx="9144000" cy="4658875"/>
        </p:xfrm>
        <a:graphic>
          <a:graphicData uri="http://schemas.openxmlformats.org/drawingml/2006/table">
            <a:tbl>
              <a:tblPr>
                <a:noFill/>
                <a:tableStyleId>{ADE48064-F750-496B-9BB9-CFEB342D939D}</a:tableStyleId>
              </a:tblPr>
              <a:tblGrid>
                <a:gridCol w="114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symbol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Description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Entity Name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Entity Number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B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non-breaking space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</a:t>
                      </a:r>
                      <a:r>
                        <a:rPr lang="en-US" sz="1800" dirty="0" err="1"/>
                        <a:t>nbsp</a:t>
                      </a:r>
                      <a:r>
                        <a:rPr lang="en-US" sz="1800" dirty="0"/>
                        <a:t>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&amp;#160;</a:t>
                      </a:r>
                      <a:endParaRPr sz="180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less than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</a:t>
                      </a:r>
                      <a:r>
                        <a:rPr lang="en-US" sz="1800" dirty="0" err="1"/>
                        <a:t>lt</a:t>
                      </a:r>
                      <a:r>
                        <a:rPr lang="en-US" sz="1800" dirty="0"/>
                        <a:t>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&amp;#60;</a:t>
                      </a:r>
                      <a:endParaRPr sz="180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&gt;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greater than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</a:t>
                      </a:r>
                      <a:r>
                        <a:rPr lang="en-US" sz="1800" dirty="0" err="1"/>
                        <a:t>gt</a:t>
                      </a:r>
                      <a:r>
                        <a:rPr lang="en-US" sz="1800" dirty="0"/>
                        <a:t>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&amp;#62;</a:t>
                      </a:r>
                      <a:endParaRPr sz="180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Ampersand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&amp;amp;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&amp;#38;</a:t>
                      </a:r>
                      <a:endParaRPr sz="180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"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double quotation mark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</a:t>
                      </a:r>
                      <a:r>
                        <a:rPr lang="en-US" sz="1800" dirty="0" err="1"/>
                        <a:t>quot</a:t>
                      </a:r>
                      <a:r>
                        <a:rPr lang="en-US" sz="1800" dirty="0"/>
                        <a:t>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&amp;#34;</a:t>
                      </a:r>
                      <a:endParaRPr sz="180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'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single quotation mark (apostrophe)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&amp;apos;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&amp;#39;</a:t>
                      </a:r>
                      <a:endParaRPr sz="180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¢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Cent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&amp;cent;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&amp;#162;</a:t>
                      </a:r>
                      <a:endParaRPr sz="180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£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Pound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&amp;pound;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&amp;#163;</a:t>
                      </a:r>
                      <a:endParaRPr sz="180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¥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Yen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&amp;yen;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&amp;#165;</a:t>
                      </a:r>
                      <a:endParaRPr sz="180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€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Euro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&amp;euro;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&amp;#8364;</a:t>
                      </a:r>
                      <a:endParaRPr sz="180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©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Copyright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&amp;copy;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&amp;#169;</a:t>
                      </a:r>
                      <a:endParaRPr sz="180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®</a:t>
                      </a:r>
                      <a:endParaRPr sz="1800"/>
                    </a:p>
                  </a:txBody>
                  <a:tcPr marL="567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registered trademark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&amp;reg;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&amp;#174;</a:t>
                      </a:r>
                      <a:endParaRPr sz="1800" dirty="0"/>
                    </a:p>
                  </a:txBody>
                  <a:tcPr marL="28375" marR="28375" marT="28375" marB="283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71" name="Google Shape;271;p24"/>
          <p:cNvSpPr/>
          <p:nvPr/>
        </p:nvSpPr>
        <p:spPr>
          <a:xfrm>
            <a:off x="0" y="897310"/>
            <a:ext cx="9144000" cy="411609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0" tIns="66650" rIns="0" bIns="666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Some Useful HTML Character Entities</a:t>
            </a:r>
            <a:endParaRPr sz="13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179512" y="191155"/>
            <a:ext cx="62649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Special Character tags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 txBox="1"/>
          <p:nvPr/>
        </p:nvSpPr>
        <p:spPr>
          <a:xfrm>
            <a:off x="0" y="1241949"/>
            <a:ext cx="9201149" cy="3701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650" rIns="0" bIns="0" anchor="t" anchorCtr="0">
            <a:spAutoFit/>
          </a:bodyPr>
          <a:lstStyle/>
          <a:p>
            <a:pPr marL="557530" marR="0" lvl="1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list is a </a:t>
            </a: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collection of items. 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7530" marR="0" lvl="1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offers web authors three ways for specifying lists of information. 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7530" marR="0" lvl="1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lists must contain one or more list elements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2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Lists are of three types</a:t>
            </a:r>
            <a:endParaRPr sz="1800" b="1" i="0" u="none" strike="noStrike" cap="none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Un ordered list  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&lt;ul&gt; 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 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marked with bullets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Ordered List   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&lt;ol&gt;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Items marked with 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or letters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Definition list  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&lt;dl&gt;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Arranges  items in the same way as they are arranged in a 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0" y="857250"/>
            <a:ext cx="9144000" cy="369332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6799660" y="2832498"/>
            <a:ext cx="1600200" cy="715581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57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html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857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css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857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javascript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6856810" y="3714750"/>
            <a:ext cx="1487090" cy="715581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57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AutoNum type="arabicPeriod"/>
            </a:pPr>
            <a:r>
              <a:rPr lang="en-US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Coffee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857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AutoNum type="arabicPeriod"/>
            </a:pPr>
            <a:r>
              <a:rPr lang="en-US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857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AutoNum type="arabicPeriod"/>
            </a:pPr>
            <a:r>
              <a:rPr lang="en-US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Milk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6858000" y="4981575"/>
            <a:ext cx="1828800" cy="923330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Coffee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black hot drink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Milk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white cold drink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179512" y="191155"/>
            <a:ext cx="353988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Lists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 txBox="1"/>
          <p:nvPr/>
        </p:nvSpPr>
        <p:spPr>
          <a:xfrm>
            <a:off x="0" y="1241949"/>
            <a:ext cx="9144000" cy="118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650" rIns="0" bIns="0" anchor="t" anchorCtr="0">
            <a:spAutoFit/>
          </a:bodyPr>
          <a:lstStyle/>
          <a:p>
            <a:pPr marL="222884" marR="0" lvl="0" indent="-222884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Unordered Lists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0075" marR="0" lvl="1" indent="-257175" algn="l" rtl="0"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unordered list is a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collection of related items that have no  special order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0075" marR="0" lvl="1" indent="-257175" algn="l" rtl="0"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list is created by using HTML </a:t>
            </a:r>
            <a:r>
              <a:rPr lang="en-US" sz="1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&lt;ul&gt;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tag.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0075" marR="0" lvl="1" indent="-257175" algn="l" rtl="0"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item in the list is  marked with a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bullet.</a:t>
            </a:r>
            <a:endParaRPr sz="825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57150" y="2571751"/>
            <a:ext cx="5372100" cy="3460915"/>
          </a:xfrm>
          <a:prstGeom prst="rect">
            <a:avLst/>
          </a:prstGeom>
          <a:solidFill>
            <a:srgbClr val="F2DADA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35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1846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5645" marR="0" lvl="0" indent="0" algn="l" rtl="0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12825" marR="0" lvl="0" indent="0" algn="l" rtl="0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&lt;title&gt;HTML Unordered List&lt;/title&gt;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5645" marR="0" lvl="0" indent="0" algn="l" rtl="0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5645" marR="0" lvl="0" indent="0" algn="l" rtl="0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37589" marR="0" lvl="0" indent="0" algn="l" rtl="0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lang="en-US" sz="15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</a:t>
            </a:r>
            <a:r>
              <a:rPr lang="en-US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&lt;li&gt;Beetroot&lt;/li&gt;</a:t>
            </a: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35405" marR="0" lvl="0" indent="0" algn="l" rtl="0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&lt;li&gt;Ginger&lt;/li&gt; </a:t>
            </a: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35405" marR="0" lvl="0" indent="0" algn="l" rtl="0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&lt;li&gt;Potato&lt;/li&gt;</a:t>
            </a: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35405" marR="0" lvl="0" indent="0" algn="l" rtl="0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&lt;li&gt;Radish&lt;/li&gt;</a:t>
            </a: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12825" marR="0" lvl="0" indent="0" algn="l" rtl="0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</a:t>
            </a:r>
            <a:r>
              <a:rPr lang="en-US" sz="15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</a:t>
            </a:r>
            <a:r>
              <a:rPr lang="en-US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5645" marR="0" lvl="0" indent="0" algn="l" rtl="0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5645" marR="0" lvl="0" indent="0" algn="l" rtl="0"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0" y="857250"/>
            <a:ext cx="9144000" cy="369332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9300" y="2506266"/>
            <a:ext cx="1864519" cy="135731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179512" y="191155"/>
            <a:ext cx="622644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Lists (Unordered lists)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 txBox="1"/>
          <p:nvPr/>
        </p:nvSpPr>
        <p:spPr>
          <a:xfrm>
            <a:off x="114300" y="1371601"/>
            <a:ext cx="9029700" cy="10371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74650" rIns="0" bIns="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</a:pPr>
            <a:r>
              <a:rPr lang="en-US" sz="15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type Attribute</a:t>
            </a:r>
            <a:endParaRPr sz="15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use type attribute for &lt;</a:t>
            </a:r>
            <a:r>
              <a:rPr lang="en-US" sz="15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</a:t>
            </a: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tag to specify the</a:t>
            </a:r>
            <a:r>
              <a:rPr lang="en-US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</a:t>
            </a: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bullet we like. </a:t>
            </a:r>
            <a:r>
              <a:rPr lang="en-US" sz="1500" dirty="0">
                <a:solidFill>
                  <a:schemeClr val="dk1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By default, it is a </a:t>
            </a:r>
            <a:r>
              <a:rPr lang="en-US" sz="1500" b="1" dirty="0">
                <a:solidFill>
                  <a:schemeClr val="dk1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disc</a:t>
            </a: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Following are the possible options −</a:t>
            </a:r>
            <a:endParaRPr sz="15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6400" marR="0" lvl="1" indent="0" algn="l" rtl="0">
              <a:spcBef>
                <a:spcPts val="115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lang="en-US" sz="1500" b="1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</a:t>
            </a:r>
            <a:r>
              <a:rPr lang="en-US" sz="15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= "square"&gt; &lt;</a:t>
            </a:r>
            <a:r>
              <a:rPr lang="en-US" sz="1500" b="1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</a:t>
            </a:r>
            <a:r>
              <a:rPr lang="en-US" sz="15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= "disc"&gt; &lt;</a:t>
            </a:r>
            <a:r>
              <a:rPr lang="en-US" sz="1500" b="1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</a:t>
            </a:r>
            <a:r>
              <a:rPr lang="en-US" sz="15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= "circle"&gt;</a:t>
            </a:r>
            <a:endParaRPr sz="825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1422797" y="1007269"/>
            <a:ext cx="6313884" cy="0"/>
          </a:xfrm>
          <a:custGeom>
            <a:avLst/>
            <a:gdLst/>
            <a:ahLst/>
            <a:cxnLst/>
            <a:rect l="l" t="t" r="r" b="b"/>
            <a:pathLst>
              <a:path w="7156450" h="1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1422797" y="5551885"/>
            <a:ext cx="6313884" cy="0"/>
          </a:xfrm>
          <a:custGeom>
            <a:avLst/>
            <a:gdLst/>
            <a:ahLst/>
            <a:cxnLst/>
            <a:rect l="l" t="t" r="r" b="b"/>
            <a:pathLst>
              <a:path w="7156450" h="1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27"/>
          <p:cNvCxnSpPr/>
          <p:nvPr/>
        </p:nvCxnSpPr>
        <p:spPr>
          <a:xfrm>
            <a:off x="1446610" y="1362075"/>
            <a:ext cx="62995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" name="Google Shape;300;p27"/>
          <p:cNvSpPr/>
          <p:nvPr/>
        </p:nvSpPr>
        <p:spPr>
          <a:xfrm>
            <a:off x="114300" y="2482454"/>
            <a:ext cx="3771900" cy="3060806"/>
          </a:xfrm>
          <a:prstGeom prst="rect">
            <a:avLst/>
          </a:prstGeom>
          <a:solidFill>
            <a:srgbClr val="F2DADA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 &lt;title&gt;HTML Unordered List&lt;/title&gt; &lt;/head&gt;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&lt;body&gt;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&lt;ul type = "square"&gt; </a:t>
            </a:r>
            <a:endParaRPr sz="1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115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&lt;li&gt;Beetroot&lt;/li&gt;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115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&lt;li&gt;Ginger&lt;/li&gt;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115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&lt;li&gt;Potato&lt;/li&gt;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115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&lt;li&gt;Radish&lt;/li&gt;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&lt;/ul&gt; </a:t>
            </a:r>
            <a:endParaRPr sz="1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&lt;/html&gt;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1" name="Google Shape;30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9100" y="2665810"/>
            <a:ext cx="1771650" cy="150852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/>
          <p:cNvSpPr txBox="1"/>
          <p:nvPr/>
        </p:nvSpPr>
        <p:spPr>
          <a:xfrm>
            <a:off x="0" y="857250"/>
            <a:ext cx="9144000" cy="369332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UNORDERD LISTS WITH  “TYPE” ATTRIBUTE</a:t>
            </a:r>
            <a:endParaRPr sz="1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179512" y="191155"/>
            <a:ext cx="353988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Lists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179512" y="191155"/>
            <a:ext cx="622644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Lists (Unordered lists)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/>
        </p:nvSpPr>
        <p:spPr>
          <a:xfrm>
            <a:off x="25003" y="914400"/>
            <a:ext cx="9118997" cy="352396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spcFirstLastPara="1" wrap="square" lIns="0" tIns="74650" rIns="0" bIns="0" anchor="t" anchorCtr="0">
            <a:spAutoFit/>
          </a:bodyPr>
          <a:lstStyle/>
          <a:p>
            <a:pPr marL="8255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ORDERED LISTS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1422797" y="5551885"/>
            <a:ext cx="6313884" cy="0"/>
          </a:xfrm>
          <a:custGeom>
            <a:avLst/>
            <a:gdLst/>
            <a:ahLst/>
            <a:cxnLst/>
            <a:rect l="l" t="t" r="r" b="b"/>
            <a:pathLst>
              <a:path w="7156450" h="1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166687" y="2347913"/>
            <a:ext cx="4576763" cy="3241624"/>
          </a:xfrm>
          <a:prstGeom prst="rect">
            <a:avLst/>
          </a:prstGeom>
          <a:solidFill>
            <a:srgbClr val="F2DADA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2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7970" marR="0" lvl="0" indent="0" algn="l" rtl="0"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797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70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423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&lt;title&gt;HTML Ordered List&lt;/title&gt;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70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70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423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&lt;ol&gt;</a:t>
            </a:r>
            <a:endParaRPr sz="13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6141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&lt;li&gt;Beetroot&lt;/li&gt;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6141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&lt;li&gt;Ginger&lt;/li&gt;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6141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&lt;li&gt;Potato&lt;/li&gt;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6141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&lt;li&gt;Radish&lt;/li&gt;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423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&lt;/ol&gt;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70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7970" marR="0" lvl="0" indent="0" algn="l" rtl="0"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0" y="1293485"/>
            <a:ext cx="9094764" cy="95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Ordered Lists:- </a:t>
            </a:r>
            <a:endParaRPr sz="15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1615" marR="0" lvl="0" indent="-21463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</a:pPr>
            <a:r>
              <a:rPr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Items are </a:t>
            </a:r>
            <a:r>
              <a:rPr lang="en-US" sz="135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numbered</a:t>
            </a:r>
            <a:r>
              <a:rPr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list instead of bulleted, This list is created  by using </a:t>
            </a:r>
            <a:r>
              <a:rPr lang="en-US" sz="1350" b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&lt;ol&gt; </a:t>
            </a:r>
            <a:r>
              <a:rPr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tag.</a:t>
            </a:r>
            <a:endParaRPr sz="13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21615" marR="0" lvl="0" indent="-21463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</a:pPr>
            <a:r>
              <a:rPr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1350" b="1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numbering starts at one </a:t>
            </a:r>
            <a:r>
              <a:rPr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 is incremented by one for each successive ordered list element tagged with &lt;li&gt;.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3" name="Google Shape;31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2100" y="2359819"/>
            <a:ext cx="1675210" cy="1346597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8"/>
          <p:cNvSpPr txBox="1"/>
          <p:nvPr/>
        </p:nvSpPr>
        <p:spPr>
          <a:xfrm>
            <a:off x="179512" y="191155"/>
            <a:ext cx="586577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Lists (Ordered lists)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/>
          <p:nvPr/>
        </p:nvSpPr>
        <p:spPr>
          <a:xfrm>
            <a:off x="-26194" y="875110"/>
            <a:ext cx="8801100" cy="39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650" rIns="0" bIns="0" anchor="t" anchorCtr="0">
            <a:spAutoFit/>
          </a:bodyPr>
          <a:lstStyle/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3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ORDERED LISTS WITH TYPE ATTRIBURE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20"/>
              </a:spcBef>
              <a:spcAft>
                <a:spcPts val="0"/>
              </a:spcAft>
              <a:buNone/>
            </a:pPr>
            <a:endParaRPr sz="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1446610" y="859631"/>
            <a:ext cx="6313884" cy="0"/>
          </a:xfrm>
          <a:custGeom>
            <a:avLst/>
            <a:gdLst/>
            <a:ahLst/>
            <a:cxnLst/>
            <a:rect l="l" t="t" r="r" b="b"/>
            <a:pathLst>
              <a:path w="7156450" h="1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29"/>
          <p:cNvCxnSpPr/>
          <p:nvPr/>
        </p:nvCxnSpPr>
        <p:spPr>
          <a:xfrm>
            <a:off x="1446610" y="1257300"/>
            <a:ext cx="62995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2" name="Google Shape;322;p29"/>
          <p:cNvSpPr/>
          <p:nvPr/>
        </p:nvSpPr>
        <p:spPr>
          <a:xfrm>
            <a:off x="338138" y="3600451"/>
            <a:ext cx="3429000" cy="2218267"/>
          </a:xfrm>
          <a:prstGeom prst="rect">
            <a:avLst/>
          </a:prstGeom>
          <a:solidFill>
            <a:srgbClr val="F2DADA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 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 &lt;title&gt;HTML Ordered List&lt;/title&gt; &lt;/head&gt; &lt;body&gt;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&lt;ol type = "1"&gt; </a:t>
            </a:r>
            <a:endParaRPr sz="1275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&lt;li&gt;Beetroot&lt;/li&gt;</a:t>
            </a:r>
            <a:endParaRPr sz="1275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&lt;li&gt;Ginger&lt;/li&gt;</a:t>
            </a:r>
            <a:endParaRPr sz="1275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&lt;li&gt;Potato&lt;/li&gt;</a:t>
            </a:r>
            <a:endParaRPr sz="1275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&lt;li&gt;Radish&lt;/li&gt;</a:t>
            </a:r>
            <a:endParaRPr sz="1275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&lt;/ol&gt;</a:t>
            </a:r>
            <a:endParaRPr sz="1275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&lt;/body&gt;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&lt;/html&gt;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117872" y="1450181"/>
            <a:ext cx="8972550" cy="1999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None/>
            </a:pPr>
            <a:r>
              <a:rPr lang="en-US" sz="13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type Attribute:</a:t>
            </a:r>
            <a:endParaRPr sz="135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use </a:t>
            </a: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attribute for &lt;ol&gt; tag to specify the type of numbering we like. By default, it is a number. Following are the possible options.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&lt;ol type = "1"&gt; - Default-Case Numerals.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&lt;ol type = "I"&gt; - Upper-Case Numerals.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&lt;ol type = "i"&gt; - Lower-Case Numerals. 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&lt;ol type = "A"&gt;  - Upper-Case Letters.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&lt;ol type = "a"&gt;  - Lower-Case Letters.</a:t>
            </a:r>
            <a:endParaRPr sz="15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0550" y="3792141"/>
            <a:ext cx="1675210" cy="134778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9"/>
          <p:cNvSpPr txBox="1"/>
          <p:nvPr/>
        </p:nvSpPr>
        <p:spPr>
          <a:xfrm>
            <a:off x="145752" y="191155"/>
            <a:ext cx="586577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Lists (Ordered lists)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"/>
          <p:cNvSpPr txBox="1"/>
          <p:nvPr/>
        </p:nvSpPr>
        <p:spPr>
          <a:xfrm>
            <a:off x="0" y="957263"/>
            <a:ext cx="9144000" cy="49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650" rIns="0" bIns="0" anchor="t" anchorCtr="0">
            <a:spAutoFit/>
          </a:bodyPr>
          <a:lstStyle/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5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ORDERED LISTS WITH “START” ATTRIBURE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2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1422797" y="914400"/>
            <a:ext cx="6313884" cy="0"/>
          </a:xfrm>
          <a:custGeom>
            <a:avLst/>
            <a:gdLst/>
            <a:ahLst/>
            <a:cxnLst/>
            <a:rect l="l" t="t" r="r" b="b"/>
            <a:pathLst>
              <a:path w="7156450" h="1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1422797" y="5551885"/>
            <a:ext cx="6313884" cy="0"/>
          </a:xfrm>
          <a:custGeom>
            <a:avLst/>
            <a:gdLst/>
            <a:ahLst/>
            <a:cxnLst/>
            <a:rect l="l" t="t" r="r" b="b"/>
            <a:pathLst>
              <a:path w="7156450" h="1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30"/>
          <p:cNvCxnSpPr/>
          <p:nvPr/>
        </p:nvCxnSpPr>
        <p:spPr>
          <a:xfrm>
            <a:off x="1446610" y="1362075"/>
            <a:ext cx="62995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4" name="Google Shape;334;p30"/>
          <p:cNvSpPr/>
          <p:nvPr/>
        </p:nvSpPr>
        <p:spPr>
          <a:xfrm>
            <a:off x="5151835" y="2115742"/>
            <a:ext cx="3429000" cy="2218267"/>
          </a:xfrm>
          <a:prstGeom prst="rect">
            <a:avLst/>
          </a:prstGeom>
          <a:solidFill>
            <a:srgbClr val="F2DADA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&lt;head&gt; &lt;title&gt;HTML Ordered List&lt;/title&gt; &lt;/head&gt;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&lt;body&gt; 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&lt;ol type = "i" start = "4"&gt; 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&lt;li&gt;Beetroot&lt;/li&gt; 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&lt;li&gt;Ginger&lt;/li&gt;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&lt;li&gt;Potato&lt;/li&gt;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&lt;li&gt;Radish&lt;/li&gt;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&lt;/ol&gt; 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 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0" y="1412082"/>
            <a:ext cx="9144000" cy="209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75"/>
              <a:buFont typeface="Arial"/>
              <a:buNone/>
            </a:pPr>
            <a:r>
              <a:rPr lang="en-US" sz="127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start Attribute</a:t>
            </a:r>
            <a:endParaRPr sz="1275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</a:pP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use </a:t>
            </a:r>
            <a:r>
              <a:rPr lang="en-US" sz="127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r>
              <a:rPr lang="en-US" sz="12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attribute for &lt;ol&gt; tag to specify the starting point of numbering we need. Following are the possible options −	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</a:pP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&lt;ol type = "1" start = "4"&gt; - Numerals starts with 4. 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&lt;ol type = "I" start = "4"&gt; - Numerals starts with IV. 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&lt;ol type = "i" start = "4"&gt; - Numerals starts with iv.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&lt;ol type = "a" start = "4"&gt; - Letters starts with d. 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&lt;ol type = "A" start = "4"&gt; - Letters starts with D</a:t>
            </a: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2550" y="4475560"/>
            <a:ext cx="1437085" cy="933450"/>
          </a:xfrm>
          <a:prstGeom prst="rect">
            <a:avLst/>
          </a:prstGeom>
          <a:solidFill>
            <a:srgbClr val="B9CDE5"/>
          </a:solidFill>
          <a:ln w="9525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37" name="Google Shape;337;p30"/>
          <p:cNvSpPr txBox="1"/>
          <p:nvPr/>
        </p:nvSpPr>
        <p:spPr>
          <a:xfrm>
            <a:off x="179512" y="191155"/>
            <a:ext cx="586577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Lists (Ordered lists)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/>
        </p:nvSpPr>
        <p:spPr>
          <a:xfrm>
            <a:off x="0" y="953027"/>
            <a:ext cx="9086850" cy="427481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spcFirstLastPara="1" wrap="square" lIns="0" tIns="74650" rIns="0" bIns="0" anchor="ctr" anchorCtr="0">
            <a:spAutoFit/>
          </a:bodyPr>
          <a:lstStyle/>
          <a:p>
            <a:pPr marL="8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5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DEFINITION LISTS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20"/>
              </a:spcBef>
              <a:spcAft>
                <a:spcPts val="0"/>
              </a:spcAft>
              <a:buNone/>
            </a:pPr>
            <a:endParaRPr sz="7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1422797" y="1007269"/>
            <a:ext cx="6313884" cy="0"/>
          </a:xfrm>
          <a:custGeom>
            <a:avLst/>
            <a:gdLst/>
            <a:ahLst/>
            <a:cxnLst/>
            <a:rect l="l" t="t" r="r" b="b"/>
            <a:pathLst>
              <a:path w="7156450" h="1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1422797" y="5551885"/>
            <a:ext cx="6313884" cy="0"/>
          </a:xfrm>
          <a:custGeom>
            <a:avLst/>
            <a:gdLst/>
            <a:ahLst/>
            <a:cxnLst/>
            <a:rect l="l" t="t" r="r" b="b"/>
            <a:pathLst>
              <a:path w="7156450" h="1" extrusionOk="0">
                <a:moveTo>
                  <a:pt x="0" y="0"/>
                </a:moveTo>
                <a:lnTo>
                  <a:pt x="715645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31"/>
          <p:cNvCxnSpPr/>
          <p:nvPr/>
        </p:nvCxnSpPr>
        <p:spPr>
          <a:xfrm>
            <a:off x="1446610" y="1362075"/>
            <a:ext cx="62995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6" name="Google Shape;346;p31"/>
          <p:cNvSpPr/>
          <p:nvPr/>
        </p:nvSpPr>
        <p:spPr>
          <a:xfrm>
            <a:off x="4416893" y="2927488"/>
            <a:ext cx="4686300" cy="3753303"/>
          </a:xfrm>
          <a:prstGeom prst="rect">
            <a:avLst/>
          </a:prstGeom>
          <a:solidFill>
            <a:srgbClr val="F2DADA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1206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65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924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&lt;title&gt;HTML Definition List&lt;/title&gt;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11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11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65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&lt;dl&gt;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370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&lt;dt&gt;HTML&lt;/dt&gt;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370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&lt;dd&gt;This stands for Hyper Text Markup Language&lt;/dd&gt;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370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&lt;dt&gt;HTTP&lt;/dt&gt;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370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&lt;dd&gt;This stands for Hyper Text Transfer Protocol&lt;/dd&gt;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370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&lt;/dl&gt;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370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370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171450" y="1412081"/>
            <a:ext cx="8972550" cy="2218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 Lists:</a:t>
            </a:r>
            <a:endParaRPr sz="15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HTML  supports a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style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called  definition lists where entries are listed like in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dictionary or encyclopedia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4160" marR="0" lvl="0" indent="-257175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definition list is  the ideal way to present a glossary, list of terms, or other name/value list.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 List makes  use of following three tags.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1).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&lt;dl&gt;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Defines the start of the list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&lt;/dl&gt;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Defines the end of the list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2).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&lt;dt&gt;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 term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-876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0"/>
              <a:buFont typeface="Arial"/>
              <a:buAutoNum type="arabicParenR" startAt="3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&lt;dd&gt;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Term definition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8" name="Google Shape;34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" y="3738563"/>
            <a:ext cx="3523060" cy="1027510"/>
          </a:xfrm>
          <a:prstGeom prst="rect">
            <a:avLst/>
          </a:prstGeom>
          <a:noFill/>
          <a:ln w="9525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49" name="Google Shape;349;p31"/>
          <p:cNvSpPr txBox="1"/>
          <p:nvPr/>
        </p:nvSpPr>
        <p:spPr>
          <a:xfrm>
            <a:off x="179512" y="191155"/>
            <a:ext cx="609506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Lists (Definition lists)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/>
          <p:nvPr/>
        </p:nvSpPr>
        <p:spPr>
          <a:xfrm>
            <a:off x="1348979" y="2571750"/>
            <a:ext cx="2978944" cy="504825"/>
          </a:xfrm>
          <a:prstGeom prst="rect">
            <a:avLst/>
          </a:prstGeom>
          <a:solidFill>
            <a:srgbClr val="FDE9D8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1348979" y="2621757"/>
            <a:ext cx="3174206" cy="45481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1397794" y="2672954"/>
            <a:ext cx="2881313" cy="30241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1397794" y="2621757"/>
            <a:ext cx="2930129" cy="40362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 txBox="1"/>
          <p:nvPr/>
        </p:nvSpPr>
        <p:spPr>
          <a:xfrm>
            <a:off x="24408" y="854641"/>
            <a:ext cx="9144000" cy="441075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0" tIns="74650" rIns="0" bIns="0" anchor="ctr" anchorCtr="0">
            <a:spAutoFit/>
          </a:bodyPr>
          <a:lstStyle/>
          <a:p>
            <a:pPr marL="8255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</a:t>
            </a:r>
            <a:endParaRPr sz="1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9" name="Google Shape;359;p32"/>
          <p:cNvCxnSpPr/>
          <p:nvPr/>
        </p:nvCxnSpPr>
        <p:spPr>
          <a:xfrm>
            <a:off x="1446610" y="1362075"/>
            <a:ext cx="62995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0" name="Google Shape;360;p32"/>
          <p:cNvSpPr/>
          <p:nvPr/>
        </p:nvSpPr>
        <p:spPr>
          <a:xfrm>
            <a:off x="-2" y="1257300"/>
            <a:ext cx="9144000" cy="488765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&lt;img&gt; tag</a:t>
            </a:r>
            <a:br>
              <a:rPr lang="en-US" sz="15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5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HTML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500">
                <a:solidFill>
                  <a:srgbClr val="DC143C"/>
                </a:solidFill>
                <a:latin typeface="Consolas"/>
                <a:ea typeface="Consolas"/>
                <a:cs typeface="Consolas"/>
                <a:sym typeface="Consolas"/>
              </a:rPr>
              <a:t>&lt;img&gt;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5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tag is used to </a:t>
            </a:r>
            <a:r>
              <a:rPr lang="en-US" sz="1500" b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embed an image in a web page.</a:t>
            </a:r>
            <a:r>
              <a:rPr lang="en-US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1615" marR="0" lvl="0" indent="-21463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lang="en-US" sz="15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Closing tags are not used in HTML image element.</a:t>
            </a:r>
            <a:endParaRPr sz="15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&lt;img&gt; tag has two required attributes:</a:t>
            </a:r>
            <a:endParaRPr sz="1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src - Specifies the path to the image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 - Specifies an alternate text for the image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</a:pP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Image : </a:t>
            </a:r>
            <a:endParaRPr sz="21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</a:pPr>
            <a:r>
              <a:rPr lang="en-US" sz="21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insert any image in web page by using </a:t>
            </a:r>
            <a:r>
              <a:rPr lang="en-US" sz="1800" b="1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&lt;img&gt;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Syntax: </a:t>
            </a:r>
            <a:endParaRPr sz="18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        &lt;img src = "Image URL"   attributes-list&gt;</a:t>
            </a:r>
            <a:endParaRPr sz="1800" b="1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Ex.:</a:t>
            </a:r>
            <a:endParaRPr sz="27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6400" marR="0" lvl="1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C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800" b="1" i="0" u="none" strike="noStrike" cap="none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img</a:t>
            </a:r>
            <a:r>
              <a:rPr lang="en-US" sz="1800" b="1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src</a:t>
            </a:r>
            <a:r>
              <a:rPr lang="en-US" sz="1800" b="1" i="0" u="none" strike="noStrike" cap="non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en-US" sz="1800" b="1" i="1" u="none" strike="noStrike" cap="non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C:\Users\Pictures\flowe.jpeg</a:t>
            </a:r>
            <a:r>
              <a:rPr lang="en-US" sz="1800" b="1" i="0" u="none" strike="noStrike" cap="non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800" b="1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alt</a:t>
            </a:r>
            <a:r>
              <a:rPr lang="en-US" sz="1800" b="1" i="0" u="none" strike="noStrike" cap="non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=“</a:t>
            </a:r>
            <a:r>
              <a:rPr lang="en-US" sz="1800" b="1" i="1" u="none" strike="noStrike" cap="non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A pixabay flower</a:t>
            </a:r>
            <a:r>
              <a:rPr lang="en-US" sz="1800" b="1" i="0" u="none" strike="noStrike" cap="none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8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6500812" y="1463278"/>
            <a:ext cx="2471738" cy="196572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 txBox="1"/>
          <p:nvPr/>
        </p:nvSpPr>
        <p:spPr>
          <a:xfrm>
            <a:off x="179512" y="191155"/>
            <a:ext cx="432855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Image tag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/>
          <p:nvPr/>
        </p:nvSpPr>
        <p:spPr>
          <a:xfrm>
            <a:off x="0" y="910829"/>
            <a:ext cx="9144000" cy="349703"/>
          </a:xfrm>
          <a:prstGeom prst="rect">
            <a:avLst/>
          </a:prstGeom>
          <a:solidFill>
            <a:srgbClr val="F2DADA"/>
          </a:solidFill>
          <a:ln>
            <a:noFill/>
          </a:ln>
        </p:spPr>
        <p:txBody>
          <a:bodyPr spcFirstLastPara="1" wrap="square" lIns="0" tIns="74650" rIns="0" bIns="0" anchor="t" anchorCtr="0">
            <a:spAutoFit/>
          </a:bodyPr>
          <a:lstStyle/>
          <a:p>
            <a:pPr marL="8255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IMAGES:</a:t>
            </a:r>
            <a:endParaRPr sz="135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8" name="Google Shape;368;p33"/>
          <p:cNvCxnSpPr/>
          <p:nvPr/>
        </p:nvCxnSpPr>
        <p:spPr>
          <a:xfrm>
            <a:off x="1446610" y="1362075"/>
            <a:ext cx="62995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9" name="Google Shape;369;p33"/>
          <p:cNvSpPr/>
          <p:nvPr/>
        </p:nvSpPr>
        <p:spPr>
          <a:xfrm>
            <a:off x="47222" y="3116904"/>
            <a:ext cx="6829034" cy="2829973"/>
          </a:xfrm>
          <a:prstGeom prst="rect">
            <a:avLst/>
          </a:prstGeom>
          <a:solidFill>
            <a:srgbClr val="F2DADA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12319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319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319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319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&lt;h2&gt;Image Size&lt;/h2&gt;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319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319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&lt;img src=“flower.jpg" alt=“A Pixabay flower” </a:t>
            </a:r>
            <a:r>
              <a:rPr lang="en-US" sz="1800" b="1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width="500" height="600"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319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319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319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47222" y="1376362"/>
            <a:ext cx="6420253" cy="123229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Set Image Width/Height</a:t>
            </a:r>
            <a:endParaRPr sz="18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&lt;img src = "/html/images/test.png" alt = "Test Image" width = "150" height = "100"/&gt;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33" descr="A white flower with yellow center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7475" y="1373830"/>
            <a:ext cx="267652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3"/>
          <p:cNvSpPr txBox="1"/>
          <p:nvPr/>
        </p:nvSpPr>
        <p:spPr>
          <a:xfrm>
            <a:off x="179512" y="191155"/>
            <a:ext cx="527593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Image tag (Size)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"/>
          <p:cNvSpPr txBox="1"/>
          <p:nvPr/>
        </p:nvSpPr>
        <p:spPr>
          <a:xfrm>
            <a:off x="0" y="910829"/>
            <a:ext cx="9144000" cy="349703"/>
          </a:xfrm>
          <a:prstGeom prst="rect">
            <a:avLst/>
          </a:prstGeom>
          <a:solidFill>
            <a:srgbClr val="F2DADA"/>
          </a:solidFill>
          <a:ln>
            <a:noFill/>
          </a:ln>
        </p:spPr>
        <p:txBody>
          <a:bodyPr spcFirstLastPara="1" wrap="square" lIns="0" tIns="74650" rIns="0" bIns="0" anchor="t" anchorCtr="0">
            <a:spAutoFit/>
          </a:bodyPr>
          <a:lstStyle/>
          <a:p>
            <a:pPr marL="8255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</a:t>
            </a:r>
            <a:endParaRPr sz="135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8" name="Google Shape;378;p34"/>
          <p:cNvCxnSpPr/>
          <p:nvPr/>
        </p:nvCxnSpPr>
        <p:spPr>
          <a:xfrm>
            <a:off x="1446610" y="1362075"/>
            <a:ext cx="62995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9" name="Google Shape;379;p34"/>
          <p:cNvSpPr/>
          <p:nvPr/>
        </p:nvSpPr>
        <p:spPr>
          <a:xfrm>
            <a:off x="21432" y="1501378"/>
            <a:ext cx="9122569" cy="380107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500"/>
              <a:buFont typeface="Arial"/>
              <a:buNone/>
            </a:pPr>
            <a:r>
              <a:rPr lang="en-US" sz="1500" b="1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IMAGE ALIGNMENT</a:t>
            </a:r>
            <a:endParaRPr sz="1500" b="1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-9525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•"/>
            </a:pPr>
            <a:r>
              <a:rPr lang="en-US" sz="15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The align attribute specifies the </a:t>
            </a:r>
            <a:r>
              <a:rPr lang="en-US" sz="1500" b="1" dirty="0">
                <a:solidFill>
                  <a:srgbClr val="C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horizontal and vertical alignment </a:t>
            </a:r>
            <a:r>
              <a:rPr lang="en-US" sz="15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of the image in relation to the surrounding text/elements. </a:t>
            </a: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</a:pPr>
            <a:r>
              <a:rPr lang="en-US" sz="15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</a:pPr>
            <a:r>
              <a:rPr lang="en-US" sz="15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 </a:t>
            </a: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&lt;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src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"test.png" alt = "Test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Image"align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"right"/&gt;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34"/>
          <p:cNvGraphicFramePr/>
          <p:nvPr/>
        </p:nvGraphicFramePr>
        <p:xfrm>
          <a:off x="457200" y="2424112"/>
          <a:ext cx="6915150" cy="2225300"/>
        </p:xfrm>
        <a:graphic>
          <a:graphicData uri="http://schemas.openxmlformats.org/drawingml/2006/table">
            <a:tbl>
              <a:tblPr>
                <a:noFill/>
                <a:tableStyleId>{ADE48064-F750-496B-9BB9-CFEB342D939D}</a:tableStyleId>
              </a:tblPr>
              <a:tblGrid>
                <a:gridCol w="138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Value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Description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left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1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Align the image to the left 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right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1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Align the image to the right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top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1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Align the image on the top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bottom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1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Align the image on the bottom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Middle 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1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Align the image on the middle</a:t>
                      </a:r>
                      <a:endParaRPr sz="14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1425" marR="21425" marT="21425" marB="143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1" name="Google Shape;381;p34"/>
          <p:cNvSpPr txBox="1"/>
          <p:nvPr/>
        </p:nvSpPr>
        <p:spPr>
          <a:xfrm>
            <a:off x="179512" y="191155"/>
            <a:ext cx="627620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Image tag (Alignment)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 txBox="1"/>
          <p:nvPr/>
        </p:nvSpPr>
        <p:spPr>
          <a:xfrm>
            <a:off x="0" y="910829"/>
            <a:ext cx="9144000" cy="441075"/>
          </a:xfrm>
          <a:prstGeom prst="rect">
            <a:avLst/>
          </a:prstGeom>
          <a:solidFill>
            <a:srgbClr val="F2DADA"/>
          </a:solidFill>
          <a:ln>
            <a:noFill/>
          </a:ln>
        </p:spPr>
        <p:txBody>
          <a:bodyPr spcFirstLastPara="1" wrap="square" lIns="0" tIns="74650" rIns="0" bIns="0" anchor="t" anchorCtr="0">
            <a:spAutoFit/>
          </a:bodyPr>
          <a:lstStyle/>
          <a:p>
            <a:pPr marL="8255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IMAGES:</a:t>
            </a:r>
            <a:endParaRPr sz="1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7" name="Google Shape;387;p35"/>
          <p:cNvCxnSpPr/>
          <p:nvPr/>
        </p:nvCxnSpPr>
        <p:spPr>
          <a:xfrm>
            <a:off x="1446610" y="1362075"/>
            <a:ext cx="62995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8" name="Google Shape;388;p35"/>
          <p:cNvSpPr/>
          <p:nvPr/>
        </p:nvSpPr>
        <p:spPr>
          <a:xfrm>
            <a:off x="21432" y="1501379"/>
            <a:ext cx="8779669" cy="267538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SET IMAGE BORDER:</a:t>
            </a:r>
            <a:endParaRPr sz="18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57175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&lt;img&gt; border attribute is used to specify the border width around the image.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57175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default value of &lt;img&gt; border attribute is 0.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57175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not supported by HTML 5. Use CSS instead of this attribute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&lt;img src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"test.png" alt = "Test Image"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border = "3"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5"/>
          <p:cNvSpPr txBox="1"/>
          <p:nvPr/>
        </p:nvSpPr>
        <p:spPr>
          <a:xfrm>
            <a:off x="179512" y="191155"/>
            <a:ext cx="589308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Image tag (Borders)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36"/>
          <p:cNvCxnSpPr/>
          <p:nvPr/>
        </p:nvCxnSpPr>
        <p:spPr>
          <a:xfrm>
            <a:off x="1446610" y="1362075"/>
            <a:ext cx="62995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5" name="Google Shape;395;p36"/>
          <p:cNvSpPr/>
          <p:nvPr/>
        </p:nvSpPr>
        <p:spPr>
          <a:xfrm>
            <a:off x="21432" y="1501379"/>
            <a:ext cx="9122569" cy="152865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9400" tIns="29700" rIns="59400" bIns="29700" anchor="t" anchorCtr="0">
            <a:spAutoFit/>
          </a:bodyPr>
          <a:lstStyle/>
          <a:p>
            <a:pPr marL="264160" marR="0" lvl="0" indent="-257175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HTML anchor tag defines a </a:t>
            </a:r>
            <a:r>
              <a:rPr lang="en-US" sz="1800" b="1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hyperlink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links one page to another page.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57175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create hyperlink to other web page as well as files, location, or any URL.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142874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142874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142874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6"/>
          <p:cNvSpPr txBox="1"/>
          <p:nvPr/>
        </p:nvSpPr>
        <p:spPr>
          <a:xfrm>
            <a:off x="114300" y="988219"/>
            <a:ext cx="9029700" cy="369332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255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Anchor tag &lt;a&gt;</a:t>
            </a:r>
            <a:endParaRPr sz="1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-10716" y="2455702"/>
            <a:ext cx="9122569" cy="713636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66650" tIns="33325" rIns="91425" bIns="33325" anchor="ctr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syntax </a:t>
            </a:r>
            <a:endParaRPr sz="24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mo"/>
                <a:ea typeface="Arimo"/>
                <a:cs typeface="Arimo"/>
                <a:sym typeface="Arimo"/>
              </a:rPr>
              <a:t>			&lt;a href = “url"&gt; Link Text &lt;/a&gt;</a:t>
            </a:r>
            <a:endParaRPr sz="40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6"/>
          <p:cNvSpPr/>
          <p:nvPr/>
        </p:nvSpPr>
        <p:spPr>
          <a:xfrm>
            <a:off x="0" y="3564584"/>
            <a:ext cx="9101138" cy="1329189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66650" tIns="33325" rIns="91425" bIns="33325" anchor="ctr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Ex: </a:t>
            </a:r>
            <a:endParaRPr sz="24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mo"/>
                <a:ea typeface="Arimo"/>
                <a:cs typeface="Arimo"/>
                <a:sym typeface="Arimo"/>
              </a:rPr>
              <a:t>			&lt;a href = “www.goolge.com"&gt; Click Here &lt;/a&gt;</a:t>
            </a:r>
            <a:endParaRPr sz="1800">
              <a:solidFill>
                <a:srgbClr val="C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mo"/>
                <a:ea typeface="Arimo"/>
                <a:cs typeface="Arimo"/>
                <a:sym typeface="Arimo"/>
              </a:rPr>
              <a:t>	                         &lt;a href = “home.html"&gt; Home page&lt;/a&gt;</a:t>
            </a:r>
            <a:r>
              <a:rPr lang="en-US" sz="4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0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6"/>
          <p:cNvSpPr txBox="1"/>
          <p:nvPr/>
        </p:nvSpPr>
        <p:spPr>
          <a:xfrm>
            <a:off x="179512" y="191155"/>
            <a:ext cx="450264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Anchor tag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7"/>
          <p:cNvSpPr txBox="1"/>
          <p:nvPr/>
        </p:nvSpPr>
        <p:spPr>
          <a:xfrm>
            <a:off x="114300" y="1485901"/>
            <a:ext cx="902970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&lt;title&gt;&lt;/title&gt;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on 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&lt;a href="https://www.chitkara.edu.in/" target="_blank"&gt; this-link &lt;/a&gt;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go on home page of Chitkara University.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7"/>
          <p:cNvSpPr txBox="1"/>
          <p:nvPr/>
        </p:nvSpPr>
        <p:spPr>
          <a:xfrm>
            <a:off x="114300" y="988219"/>
            <a:ext cx="9029700" cy="369332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255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to create a Hyperlink</a:t>
            </a:r>
            <a:endParaRPr sz="1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37"/>
          <p:cNvSpPr txBox="1"/>
          <p:nvPr/>
        </p:nvSpPr>
        <p:spPr>
          <a:xfrm>
            <a:off x="179512" y="191155"/>
            <a:ext cx="586840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 in HTML – Anchor tag example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000" advTm="4000">
        <p:cut/>
      </p:transition>
    </mc:Choice>
    <mc:Fallback>
      <p:transition spd="slow" advTm="4000">
        <p:cut/>
      </p:transition>
    </mc:Fallback>
  </mc:AlternateContent>
</p:sld>
</file>

<file path=ppt/theme/theme1.xml><?xml version="1.0" encoding="utf-8"?>
<a:theme xmlns:a="http://schemas.openxmlformats.org/drawingml/2006/main" name="Bubble Sor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3860</Words>
  <Application>Microsoft Office PowerPoint</Application>
  <PresentationFormat>On-screen Show (4:3)</PresentationFormat>
  <Paragraphs>559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Times New Roman</vt:lpstr>
      <vt:lpstr>Arimo</vt:lpstr>
      <vt:lpstr>Trebuchet MS</vt:lpstr>
      <vt:lpstr>Verdana</vt:lpstr>
      <vt:lpstr>Arial</vt:lpstr>
      <vt:lpstr>Consolas</vt:lpstr>
      <vt:lpstr>Raleway</vt:lpstr>
      <vt:lpstr>Noto Sans Symbols</vt:lpstr>
      <vt:lpstr>Quattrocento Sans</vt:lpstr>
      <vt:lpstr>Calibri</vt:lpstr>
      <vt:lpstr>Inter</vt:lpstr>
      <vt:lpstr>Bubble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Tanish Singla</cp:lastModifiedBy>
  <cp:revision>2</cp:revision>
  <dcterms:created xsi:type="dcterms:W3CDTF">2022-12-12T14:14:00Z</dcterms:created>
  <dcterms:modified xsi:type="dcterms:W3CDTF">2025-10-09T10:05:41Z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2024-08-16T10:40:24Z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37573baf-977c-40f0-8e9b-6ecfbf81fd4b</vt:lpwstr>
  </property>
  <property fmtid="{D5CDD505-2E9C-101B-9397-08002B2CF9AE}" pid="7" name="MSIP_Label_defa4170-0d19-0005-0004-bc88714345d2_ActionId">
    <vt:lpwstr>895bb241-6d0c-47f6-a36d-0545160b3387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02C795D27986430CA9EE0C6524092CE4_12</vt:lpwstr>
  </property>
  <property fmtid="{D5CDD505-2E9C-101B-9397-08002B2CF9AE}" pid="10" name="KSOProductBuildVer">
    <vt:lpwstr>1033-12.2.0.17545</vt:lpwstr>
  </property>
</Properties>
</file>