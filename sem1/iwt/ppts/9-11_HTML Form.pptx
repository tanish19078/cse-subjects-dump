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6858000" cx="9144000"/>
  <p:notesSz cx="6858000" cy="9144000"/>
  <p:embeddedFontLst>
    <p:embeddedFont>
      <p:font typeface="Inter"/>
      <p:regular r:id="rId36"/>
      <p:bold r:id="rId37"/>
      <p:italic r:id="rId38"/>
      <p:boldItalic r:id="rId39"/>
    </p:embeddedFont>
    <p:embeddedFont>
      <p:font typeface="Quattrocento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4" roundtripDataSignature="AMtx7mg/3hiH3Syz/XnPZpuuOGdUXhZG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AA0637-1FEF-444C-8B85-F55AE5AD8FE5}">
  <a:tblStyle styleId="{F8AA0637-1FEF-444C-8B85-F55AE5AD8FE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3721C2D-95C6-4A07-B70B-F2A0B44D9C60}"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QuattrocentoSans-regular.fntdata"/><Relationship Id="rId20" Type="http://schemas.openxmlformats.org/officeDocument/2006/relationships/slide" Target="slides/slide14.xml"/><Relationship Id="rId42" Type="http://schemas.openxmlformats.org/officeDocument/2006/relationships/font" Target="fonts/QuattrocentoSans-italic.fntdata"/><Relationship Id="rId41" Type="http://schemas.openxmlformats.org/officeDocument/2006/relationships/font" Target="fonts/QuattrocentoSans-bold.fntdata"/><Relationship Id="rId22" Type="http://schemas.openxmlformats.org/officeDocument/2006/relationships/slide" Target="slides/slide16.xml"/><Relationship Id="rId44" Type="http://customschemas.google.com/relationships/presentationmetadata" Target="metadata"/><Relationship Id="rId21" Type="http://schemas.openxmlformats.org/officeDocument/2006/relationships/slide" Target="slides/slide15.xml"/><Relationship Id="rId43" Type="http://schemas.openxmlformats.org/officeDocument/2006/relationships/font" Target="fonts/QuattrocentoSans-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Inter-bold.fntdata"/><Relationship Id="rId14" Type="http://schemas.openxmlformats.org/officeDocument/2006/relationships/slide" Target="slides/slide8.xml"/><Relationship Id="rId36" Type="http://schemas.openxmlformats.org/officeDocument/2006/relationships/font" Target="fonts/Inter-regular.fntdata"/><Relationship Id="rId17" Type="http://schemas.openxmlformats.org/officeDocument/2006/relationships/slide" Target="slides/slide11.xml"/><Relationship Id="rId39" Type="http://schemas.openxmlformats.org/officeDocument/2006/relationships/font" Target="fonts/Inter-boldItalic.fntdata"/><Relationship Id="rId16" Type="http://schemas.openxmlformats.org/officeDocument/2006/relationships/slide" Target="slides/slide10.xml"/><Relationship Id="rId38" Type="http://schemas.openxmlformats.org/officeDocument/2006/relationships/font" Target="fonts/Inter-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 name="Google Shape;48;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 name="Google Shape;54;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4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5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5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5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5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5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5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5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5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5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6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6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6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6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6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6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6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3.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4000">
    <p:cut/>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 name="Shape 28"/>
        <p:cNvGrpSpPr/>
        <p:nvPr/>
      </p:nvGrpSpPr>
      <p:grpSpPr>
        <a:xfrm>
          <a:off x="0" y="0"/>
          <a:ext cx="0" cy="0"/>
          <a:chOff x="0" y="0"/>
          <a:chExt cx="0" cy="0"/>
        </a:xfrm>
      </p:grpSpPr>
      <p:sp>
        <p:nvSpPr>
          <p:cNvPr id="29" name="Google Shape;29;p40"/>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sz="3200">
                <a:latin typeface="Times New Roman"/>
                <a:ea typeface="Times New Roman"/>
                <a:cs typeface="Times New Roman"/>
                <a:sym typeface="Times New Roman"/>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 name="Google Shape;30;p40"/>
          <p:cNvSpPr txBox="1"/>
          <p:nvPr>
            <p:ph idx="1" type="subTitle"/>
          </p:nvPr>
        </p:nvSpPr>
        <p:spPr>
          <a:xfrm>
            <a:off x="533400" y="1371600"/>
            <a:ext cx="8153400" cy="4724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1" name="Google Shape;3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4000">
    <p:cut/>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4" name="Shape 34"/>
        <p:cNvGrpSpPr/>
        <p:nvPr/>
      </p:nvGrpSpPr>
      <p:grpSpPr>
        <a:xfrm>
          <a:off x="0" y="0"/>
          <a:ext cx="0" cy="0"/>
          <a:chOff x="0" y="0"/>
          <a:chExt cx="0" cy="0"/>
        </a:xfrm>
      </p:grpSpPr>
      <p:pic>
        <p:nvPicPr>
          <p:cNvPr descr="LOGO.gif" id="35" name="Google Shape;35;p41"/>
          <p:cNvPicPr preferRelativeResize="0"/>
          <p:nvPr/>
        </p:nvPicPr>
        <p:blipFill rotWithShape="1">
          <a:blip r:embed="rId2">
            <a:alphaModFix/>
          </a:blip>
          <a:srcRect b="10713" l="0" r="0" t="0"/>
          <a:stretch/>
        </p:blipFill>
        <p:spPr>
          <a:xfrm>
            <a:off x="6553200" y="228600"/>
            <a:ext cx="2057400" cy="635000"/>
          </a:xfrm>
          <a:prstGeom prst="rect">
            <a:avLst/>
          </a:prstGeom>
          <a:noFill/>
          <a:ln>
            <a:noFill/>
          </a:ln>
        </p:spPr>
      </p:pic>
      <p:grpSp>
        <p:nvGrpSpPr>
          <p:cNvPr id="36" name="Google Shape;36;p41"/>
          <p:cNvGrpSpPr/>
          <p:nvPr/>
        </p:nvGrpSpPr>
        <p:grpSpPr>
          <a:xfrm>
            <a:off x="6146800" y="0"/>
            <a:ext cx="2997200" cy="876300"/>
            <a:chOff x="6096000" y="3924300"/>
            <a:chExt cx="2997200" cy="876300"/>
          </a:xfrm>
        </p:grpSpPr>
        <p:sp>
          <p:nvSpPr>
            <p:cNvPr id="37" name="Google Shape;37;p41"/>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38" name="Google Shape;38;p41"/>
            <p:cNvPicPr preferRelativeResize="0"/>
            <p:nvPr/>
          </p:nvPicPr>
          <p:blipFill rotWithShape="1">
            <a:blip r:embed="rId2">
              <a:alphaModFix/>
            </a:blip>
            <a:srcRect b="10713" l="0" r="0" t="0"/>
            <a:stretch/>
          </p:blipFill>
          <p:spPr>
            <a:xfrm>
              <a:off x="6502400" y="4152900"/>
              <a:ext cx="2057400" cy="635000"/>
            </a:xfrm>
            <a:prstGeom prst="rect">
              <a:avLst/>
            </a:prstGeom>
            <a:noFill/>
            <a:ln>
              <a:noFill/>
            </a:ln>
          </p:spPr>
        </p:pic>
        <p:sp>
          <p:nvSpPr>
            <p:cNvPr id="39" name="Google Shape;39;p41"/>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descr="logo.jpg" id="40" name="Google Shape;40;p41"/>
          <p:cNvPicPr preferRelativeResize="0"/>
          <p:nvPr/>
        </p:nvPicPr>
        <p:blipFill rotWithShape="1">
          <a:blip r:embed="rId3">
            <a:alphaModFix/>
          </a:blip>
          <a:srcRect b="0" l="0" r="0" t="0"/>
          <a:stretch/>
        </p:blipFill>
        <p:spPr>
          <a:xfrm>
            <a:off x="6553200" y="228600"/>
            <a:ext cx="1920875" cy="609600"/>
          </a:xfrm>
          <a:prstGeom prst="rect">
            <a:avLst/>
          </a:prstGeom>
          <a:noFill/>
          <a:ln>
            <a:noFill/>
          </a:ln>
        </p:spPr>
      </p:pic>
      <p:sp>
        <p:nvSpPr>
          <p:cNvPr id="41" name="Google Shape;41;p41"/>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3200">
                <a:latin typeface="Times New Roman"/>
                <a:ea typeface="Times New Roman"/>
                <a:cs typeface="Times New Roman"/>
                <a:sym typeface="Times New Roman"/>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 name="Google Shape;42;p41"/>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lvl1pPr indent="-368300" lvl="0" marL="4572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1pPr>
            <a:lvl2pPr indent="-368300" lvl="1" marL="9144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2pPr>
            <a:lvl3pPr indent="-368300" lvl="2" marL="13716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3pPr>
            <a:lvl4pPr indent="-368300" lvl="3" marL="18288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4pPr>
            <a:lvl5pPr indent="-368300" lvl="4" marL="22860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3" name="Google Shape;43;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4000">
    <p:cut/>
  </p:transition>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3.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9pPr>
          </a:lstStyle>
          <a:p/>
        </p:txBody>
      </p:sp>
      <p:sp>
        <p:nvSpPr>
          <p:cNvPr id="11" name="Google Shape;11;p38"/>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0070C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0070C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38"/>
          <p:cNvSpPr/>
          <p:nvPr/>
        </p:nvSpPr>
        <p:spPr>
          <a:xfrm>
            <a:off x="0" y="0"/>
            <a:ext cx="91440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38"/>
          <p:cNvSpPr/>
          <p:nvPr/>
        </p:nvSpPr>
        <p:spPr>
          <a:xfrm flipH="1" rot="10800000">
            <a:off x="0" y="6705600"/>
            <a:ext cx="9144000" cy="19811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17" name="Google Shape;17;p38"/>
          <p:cNvPicPr preferRelativeResize="0"/>
          <p:nvPr/>
        </p:nvPicPr>
        <p:blipFill rotWithShape="1">
          <a:blip r:embed="rId1">
            <a:alphaModFix/>
          </a:blip>
          <a:srcRect b="10713" l="0" r="0" t="0"/>
          <a:stretch/>
        </p:blipFill>
        <p:spPr>
          <a:xfrm>
            <a:off x="6553200" y="228600"/>
            <a:ext cx="2057400" cy="635000"/>
          </a:xfrm>
          <a:prstGeom prst="rect">
            <a:avLst/>
          </a:prstGeom>
          <a:noFill/>
          <a:ln>
            <a:noFill/>
          </a:ln>
        </p:spPr>
      </p:pic>
      <p:pic>
        <p:nvPicPr>
          <p:cNvPr descr="LOGO.gif" id="18" name="Google Shape;18;p38"/>
          <p:cNvPicPr preferRelativeResize="0"/>
          <p:nvPr/>
        </p:nvPicPr>
        <p:blipFill rotWithShape="1">
          <a:blip r:embed="rId1">
            <a:alphaModFix/>
          </a:blip>
          <a:srcRect b="10713" l="0" r="0" t="0"/>
          <a:stretch/>
        </p:blipFill>
        <p:spPr>
          <a:xfrm>
            <a:off x="6553200" y="228600"/>
            <a:ext cx="2057400" cy="635000"/>
          </a:xfrm>
          <a:prstGeom prst="rect">
            <a:avLst/>
          </a:prstGeom>
          <a:noFill/>
          <a:ln>
            <a:noFill/>
          </a:ln>
        </p:spPr>
      </p:pic>
      <p:grpSp>
        <p:nvGrpSpPr>
          <p:cNvPr id="19" name="Google Shape;19;p38"/>
          <p:cNvGrpSpPr/>
          <p:nvPr/>
        </p:nvGrpSpPr>
        <p:grpSpPr>
          <a:xfrm>
            <a:off x="6146800" y="0"/>
            <a:ext cx="2997200" cy="876300"/>
            <a:chOff x="6096000" y="3924300"/>
            <a:chExt cx="2997200" cy="876300"/>
          </a:xfrm>
        </p:grpSpPr>
        <p:sp>
          <p:nvSpPr>
            <p:cNvPr id="20" name="Google Shape;20;p38"/>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21" name="Google Shape;21;p38"/>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22" name="Google Shape;22;p38"/>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descr="logo.jpg" id="23" name="Google Shape;23;p38"/>
          <p:cNvPicPr preferRelativeResize="0"/>
          <p:nvPr/>
        </p:nvPicPr>
        <p:blipFill rotWithShape="1">
          <a:blip r:embed="rId2">
            <a:alphaModFix/>
          </a:blip>
          <a:srcRect b="0" l="0" r="0" t="0"/>
          <a:stretch/>
        </p:blipFill>
        <p:spPr>
          <a:xfrm>
            <a:off x="6553200" y="228600"/>
            <a:ext cx="1920875" cy="6096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Lst>
  <p:transition advTm="4000">
    <p:cut/>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developer.mozilla.org/en-US/docs/Web/HTML/Element/inpu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developer.mozilla.org/en-US/docs/Web/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developer.mozilla.org/en-US/docs/Web/CSS/margin" TargetMode="External"/><Relationship Id="rId4" Type="http://schemas.openxmlformats.org/officeDocument/2006/relationships/hyperlink" Target="https://developer.mozilla.org/en-US/docs/Web/CSS/margin"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
          <p:cNvSpPr txBox="1"/>
          <p:nvPr/>
        </p:nvSpPr>
        <p:spPr>
          <a:xfrm>
            <a:off x="1793034" y="2132856"/>
            <a:ext cx="6059400" cy="892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FRONT END ENGINEERING-I</a:t>
            </a:r>
            <a:endParaRPr b="1" i="0" sz="3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(24CSE0102)</a:t>
            </a:r>
            <a:endParaRPr b="1" i="0" sz="2000" u="none" cap="none" strike="noStrike">
              <a:solidFill>
                <a:schemeClr val="dk1"/>
              </a:solidFill>
              <a:latin typeface="Times New Roman"/>
              <a:ea typeface="Times New Roman"/>
              <a:cs typeface="Times New Roman"/>
              <a:sym typeface="Times New Roman"/>
            </a:endParaRPr>
          </a:p>
        </p:txBody>
      </p:sp>
      <p:sp>
        <p:nvSpPr>
          <p:cNvPr id="51" name="Google Shape;51;p1"/>
          <p:cNvSpPr txBox="1"/>
          <p:nvPr/>
        </p:nvSpPr>
        <p:spPr>
          <a:xfrm>
            <a:off x="1793034" y="4140370"/>
            <a:ext cx="5557932" cy="138499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0000"/>
                </a:solidFill>
                <a:latin typeface="Times New Roman"/>
                <a:ea typeface="Times New Roman"/>
                <a:cs typeface="Times New Roman"/>
                <a:sym typeface="Times New Roman"/>
              </a:rPr>
              <a:t>Dr. Simarjeet Kaur</a:t>
            </a:r>
            <a:endParaRPr b="1" i="0" sz="22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200"/>
              <a:buFont typeface="Arial"/>
              <a:buNone/>
            </a:pPr>
            <a:r>
              <a:t/>
            </a:r>
            <a:endParaRPr b="1" i="0" sz="22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FF0000"/>
                </a:solidFill>
                <a:latin typeface="Times New Roman"/>
                <a:ea typeface="Times New Roman"/>
                <a:cs typeface="Times New Roman"/>
                <a:sym typeface="Times New Roman"/>
              </a:rPr>
              <a:t>Department of Computer Science and Engineering,</a:t>
            </a:r>
            <a:endParaRPr b="0" i="0" sz="20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FF0000"/>
                </a:solidFill>
                <a:latin typeface="Times New Roman"/>
                <a:ea typeface="Times New Roman"/>
                <a:cs typeface="Times New Roman"/>
                <a:sym typeface="Times New Roman"/>
              </a:rPr>
              <a:t>Chitkara University, Punjab</a:t>
            </a:r>
            <a:endParaRPr b="0" i="0" sz="2000" u="none" cap="none" strike="noStrike">
              <a:solidFill>
                <a:srgbClr val="FF0000"/>
              </a:solidFill>
              <a:latin typeface="Times New Roman"/>
              <a:ea typeface="Times New Roman"/>
              <a:cs typeface="Times New Roman"/>
              <a:sym typeface="Times New Roman"/>
            </a:endParaRPr>
          </a:p>
        </p:txBody>
      </p:sp>
    </p:spTree>
  </p:cSld>
  <p:clrMapOvr>
    <a:masterClrMapping/>
  </p:clrMapOvr>
  <p:transition advTm="4000">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2"/>
          <p:cNvSpPr txBox="1"/>
          <p:nvPr/>
        </p:nvSpPr>
        <p:spPr>
          <a:xfrm>
            <a:off x="2296987" y="1764350"/>
            <a:ext cx="4034547" cy="2102177"/>
          </a:xfrm>
          <a:prstGeom prst="rect">
            <a:avLst/>
          </a:prstGeom>
          <a:solidFill>
            <a:srgbClr val="DDD9C3"/>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0070C0"/>
                </a:solidFill>
                <a:latin typeface="Calibri"/>
                <a:ea typeface="Calibri"/>
                <a:cs typeface="Calibri"/>
                <a:sym typeface="Calibri"/>
              </a:rPr>
              <a:t>HTML FORMS</a:t>
            </a:r>
            <a:endParaRPr/>
          </a:p>
          <a:p>
            <a:pPr indent="0" lvl="0" marL="0" marR="0" rtl="0" algn="ctr">
              <a:lnSpc>
                <a:spcPct val="100000"/>
              </a:lnSpc>
              <a:spcBef>
                <a:spcPts val="0"/>
              </a:spcBef>
              <a:spcAft>
                <a:spcPts val="0"/>
              </a:spcAft>
              <a:buClr>
                <a:srgbClr val="000000"/>
              </a:buClr>
              <a:buSzPts val="4200"/>
              <a:buFont typeface="Arial"/>
              <a:buNone/>
            </a:pPr>
            <a:r>
              <a:t/>
            </a:r>
            <a:endParaRPr b="1" i="0" sz="4200" u="none" cap="none" strike="noStrike">
              <a:solidFill>
                <a:schemeClr val="dk1"/>
              </a:solidFill>
              <a:latin typeface="Calibri"/>
              <a:ea typeface="Calibri"/>
              <a:cs typeface="Calibri"/>
              <a:sym typeface="Calibri"/>
            </a:endParaRPr>
          </a:p>
        </p:txBody>
      </p:sp>
      <p:pic>
        <p:nvPicPr>
          <p:cNvPr descr="Css Logo Jquery - Html Css And Jquery, HD Png Download - kindpng" id="57" name="Google Shape;57;p2"/>
          <p:cNvPicPr preferRelativeResize="0"/>
          <p:nvPr/>
        </p:nvPicPr>
        <p:blipFill rotWithShape="1">
          <a:blip r:embed="rId3">
            <a:alphaModFix/>
          </a:blip>
          <a:srcRect b="0" l="0" r="0" t="0"/>
          <a:stretch/>
        </p:blipFill>
        <p:spPr>
          <a:xfrm>
            <a:off x="2601798" y="4640966"/>
            <a:ext cx="2923956" cy="1621619"/>
          </a:xfrm>
          <a:prstGeom prst="rect">
            <a:avLst/>
          </a:prstGeom>
          <a:noFill/>
          <a:ln>
            <a:noFill/>
          </a:ln>
        </p:spPr>
      </p:pic>
    </p:spTree>
  </p:cSld>
  <p:clrMapOvr>
    <a:masterClrMapping/>
  </p:clrMapOvr>
  <p:transition advTm="4000">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42"/>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HTML Forms</a:t>
            </a:r>
            <a:endParaRPr/>
          </a:p>
        </p:txBody>
      </p:sp>
      <p:sp>
        <p:nvSpPr>
          <p:cNvPr id="63" name="Google Shape;63;p42"/>
          <p:cNvSpPr txBox="1"/>
          <p:nvPr>
            <p:ph idx="1" type="subTitle"/>
          </p:nvPr>
        </p:nvSpPr>
        <p:spPr>
          <a:xfrm>
            <a:off x="74929" y="1583777"/>
            <a:ext cx="8621811" cy="4401205"/>
          </a:xfrm>
          <a:prstGeom prst="rect">
            <a:avLst/>
          </a:prstGeom>
          <a:solidFill>
            <a:srgbClr val="FFFFFF"/>
          </a:solidFill>
          <a:ln>
            <a:noFill/>
          </a:ln>
        </p:spPr>
        <p:txBody>
          <a:bodyPr anchorCtr="0" anchor="ctr" bIns="45700" lIns="91425" spcFirstLastPara="1" rIns="91425" wrap="square" tIns="45700">
            <a:spAutoFit/>
          </a:bodyPr>
          <a:lstStyle/>
          <a:p>
            <a:pPr indent="-342900" lvl="0" marL="342900" marR="0" rtl="0" algn="just">
              <a:lnSpc>
                <a:spcPct val="100000"/>
              </a:lnSpc>
              <a:spcBef>
                <a:spcPts val="0"/>
              </a:spcBef>
              <a:spcAft>
                <a:spcPts val="0"/>
              </a:spcAft>
              <a:buClr>
                <a:srgbClr val="0070C0"/>
              </a:buClr>
              <a:buSzPts val="2000"/>
              <a:buFont typeface="Arial"/>
              <a:buChar char="•"/>
            </a:pPr>
            <a:r>
              <a:rPr b="1" i="0" lang="en-US" sz="2000" u="none" cap="none" strike="noStrike">
                <a:solidFill>
                  <a:srgbClr val="0070C0"/>
                </a:solidFill>
                <a:latin typeface="Inter"/>
                <a:ea typeface="Inter"/>
                <a:cs typeface="Inter"/>
                <a:sym typeface="Inter"/>
              </a:rPr>
              <a:t>Web forms</a:t>
            </a:r>
            <a:r>
              <a:rPr b="0" i="0" lang="en-US" sz="2000" u="none" cap="none" strike="noStrike">
                <a:solidFill>
                  <a:srgbClr val="0070C0"/>
                </a:solidFill>
                <a:latin typeface="Inter"/>
                <a:ea typeface="Inter"/>
                <a:cs typeface="Inter"/>
                <a:sym typeface="Inter"/>
              </a:rPr>
              <a:t> </a:t>
            </a:r>
            <a:r>
              <a:rPr b="0" i="0" lang="en-US" sz="2000" u="none" cap="none" strike="noStrike">
                <a:solidFill>
                  <a:srgbClr val="1B1B1B"/>
                </a:solidFill>
                <a:latin typeface="Inter"/>
                <a:ea typeface="Inter"/>
                <a:cs typeface="Inter"/>
                <a:sym typeface="Inter"/>
              </a:rPr>
              <a:t>are one of the main points of interaction between a user and a website or application. </a:t>
            </a:r>
            <a:endParaRPr/>
          </a:p>
          <a:p>
            <a:pPr indent="-342900" lvl="0" marL="342900" marR="0" rtl="0" algn="just">
              <a:lnSpc>
                <a:spcPct val="100000"/>
              </a:lnSpc>
              <a:spcBef>
                <a:spcPts val="0"/>
              </a:spcBef>
              <a:spcAft>
                <a:spcPts val="0"/>
              </a:spcAft>
              <a:buClr>
                <a:srgbClr val="1B1B1B"/>
              </a:buClr>
              <a:buSzPts val="2000"/>
              <a:buFont typeface="Arial"/>
              <a:buChar char="•"/>
            </a:pPr>
            <a:r>
              <a:rPr b="0" i="0" lang="en-US" sz="2000" u="none" cap="none" strike="noStrike">
                <a:solidFill>
                  <a:srgbClr val="1B1B1B"/>
                </a:solidFill>
                <a:latin typeface="Inter"/>
                <a:ea typeface="Inter"/>
                <a:cs typeface="Inter"/>
                <a:sym typeface="Inter"/>
              </a:rPr>
              <a:t>Forms allow users to enter data, which is generally sent to a web server for processing and storage, or used on the client-side to immediately update the interface in some way (for example, add another item to a list, or show or hide a UI feature).</a:t>
            </a:r>
            <a:endParaRPr b="0" i="0" sz="2000" u="none" cap="none" strike="noStrike">
              <a:solidFill>
                <a:schemeClr val="dk1"/>
              </a:solidFill>
              <a:latin typeface="Arial"/>
              <a:ea typeface="Arial"/>
              <a:cs typeface="Arial"/>
              <a:sym typeface="Arial"/>
            </a:endParaRPr>
          </a:p>
          <a:p>
            <a:pPr indent="-342900" lvl="0" marL="342900" marR="0" rtl="0" algn="just">
              <a:lnSpc>
                <a:spcPct val="100000"/>
              </a:lnSpc>
              <a:spcBef>
                <a:spcPts val="0"/>
              </a:spcBef>
              <a:spcAft>
                <a:spcPts val="0"/>
              </a:spcAft>
              <a:buClr>
                <a:srgbClr val="1B1B1B"/>
              </a:buClr>
              <a:buSzPts val="2000"/>
              <a:buFont typeface="Arial"/>
              <a:buChar char="•"/>
            </a:pPr>
            <a:r>
              <a:rPr b="0" i="0" lang="en-US" sz="2000" u="none" cap="none" strike="noStrike">
                <a:solidFill>
                  <a:srgbClr val="1B1B1B"/>
                </a:solidFill>
                <a:latin typeface="Inter"/>
                <a:ea typeface="Inter"/>
                <a:cs typeface="Inter"/>
                <a:sym typeface="Inter"/>
              </a:rPr>
              <a:t>A web form's HTML is made up of one or more </a:t>
            </a:r>
            <a:r>
              <a:rPr b="1" i="0" lang="en-US" sz="2000" u="none" cap="none" strike="noStrike">
                <a:solidFill>
                  <a:srgbClr val="1B1B1B"/>
                </a:solidFill>
                <a:latin typeface="Inter"/>
                <a:ea typeface="Inter"/>
                <a:cs typeface="Inter"/>
                <a:sym typeface="Inter"/>
              </a:rPr>
              <a:t>form controls</a:t>
            </a:r>
            <a:r>
              <a:rPr b="0" i="0" lang="en-US" sz="2000" u="none" cap="none" strike="noStrike">
                <a:solidFill>
                  <a:srgbClr val="1B1B1B"/>
                </a:solidFill>
                <a:latin typeface="Inter"/>
                <a:ea typeface="Inter"/>
                <a:cs typeface="Inter"/>
                <a:sym typeface="Inter"/>
              </a:rPr>
              <a:t> </a:t>
            </a:r>
            <a:endParaRPr/>
          </a:p>
          <a:p>
            <a:pPr indent="0" lvl="0" marL="0" marR="0" rtl="0" algn="just">
              <a:lnSpc>
                <a:spcPct val="100000"/>
              </a:lnSpc>
              <a:spcBef>
                <a:spcPts val="0"/>
              </a:spcBef>
              <a:spcAft>
                <a:spcPts val="0"/>
              </a:spcAft>
              <a:buClr>
                <a:srgbClr val="1B1B1B"/>
              </a:buClr>
              <a:buSzPts val="2000"/>
              <a:buFont typeface="Arial"/>
              <a:buNone/>
            </a:pPr>
            <a:r>
              <a:rPr b="0" i="0" lang="en-US" sz="2000" u="none" cap="none" strike="noStrike">
                <a:solidFill>
                  <a:srgbClr val="1B1B1B"/>
                </a:solidFill>
                <a:latin typeface="Inter"/>
                <a:ea typeface="Inter"/>
                <a:cs typeface="Inter"/>
                <a:sym typeface="Inter"/>
              </a:rPr>
              <a:t>     (sometimes called </a:t>
            </a:r>
            <a:r>
              <a:rPr b="1" i="0" lang="en-US" sz="2000" u="none" cap="none" strike="noStrike">
                <a:solidFill>
                  <a:srgbClr val="1B1B1B"/>
                </a:solidFill>
                <a:latin typeface="Inter"/>
                <a:ea typeface="Inter"/>
                <a:cs typeface="Inter"/>
                <a:sym typeface="Inter"/>
              </a:rPr>
              <a:t>widgets</a:t>
            </a:r>
            <a:r>
              <a:rPr b="0" i="0" lang="en-US" sz="2000" u="none" cap="none" strike="noStrike">
                <a:solidFill>
                  <a:srgbClr val="1B1B1B"/>
                </a:solidFill>
                <a:latin typeface="Inter"/>
                <a:ea typeface="Inter"/>
                <a:cs typeface="Inter"/>
                <a:sym typeface="Inter"/>
              </a:rPr>
              <a:t>), plus some additional elements to help      </a:t>
            </a:r>
            <a:endParaRPr/>
          </a:p>
          <a:p>
            <a:pPr indent="0" lvl="0" marL="0" marR="0" rtl="0" algn="just">
              <a:lnSpc>
                <a:spcPct val="100000"/>
              </a:lnSpc>
              <a:spcBef>
                <a:spcPts val="0"/>
              </a:spcBef>
              <a:spcAft>
                <a:spcPts val="0"/>
              </a:spcAft>
              <a:buClr>
                <a:srgbClr val="1B1B1B"/>
              </a:buClr>
              <a:buSzPts val="2000"/>
              <a:buFont typeface="Arial"/>
              <a:buNone/>
            </a:pPr>
            <a:r>
              <a:rPr b="0" i="0" lang="en-US" sz="2000" u="none" cap="none" strike="noStrike">
                <a:solidFill>
                  <a:srgbClr val="1B1B1B"/>
                </a:solidFill>
                <a:latin typeface="Inter"/>
                <a:ea typeface="Inter"/>
                <a:cs typeface="Inter"/>
                <a:sym typeface="Inter"/>
              </a:rPr>
              <a:t>     structure the overall form — they are often referred to as </a:t>
            </a:r>
            <a:r>
              <a:rPr b="1" i="0" lang="en-US" sz="2000" u="none" cap="none" strike="noStrike">
                <a:solidFill>
                  <a:srgbClr val="1B1B1B"/>
                </a:solidFill>
                <a:latin typeface="Inter"/>
                <a:ea typeface="Inter"/>
                <a:cs typeface="Inter"/>
                <a:sym typeface="Inter"/>
              </a:rPr>
              <a:t>HTML   </a:t>
            </a:r>
            <a:endParaRPr/>
          </a:p>
          <a:p>
            <a:pPr indent="0" lvl="0" marL="0" marR="0" rtl="0" algn="just">
              <a:lnSpc>
                <a:spcPct val="100000"/>
              </a:lnSpc>
              <a:spcBef>
                <a:spcPts val="0"/>
              </a:spcBef>
              <a:spcAft>
                <a:spcPts val="0"/>
              </a:spcAft>
              <a:buClr>
                <a:srgbClr val="1B1B1B"/>
              </a:buClr>
              <a:buSzPts val="2000"/>
              <a:buFont typeface="Arial"/>
              <a:buNone/>
            </a:pPr>
            <a:r>
              <a:rPr b="1" i="0" lang="en-US" sz="2000" u="none" cap="none" strike="noStrike">
                <a:solidFill>
                  <a:srgbClr val="1B1B1B"/>
                </a:solidFill>
                <a:latin typeface="Inter"/>
                <a:ea typeface="Inter"/>
                <a:cs typeface="Inter"/>
                <a:sym typeface="Inter"/>
              </a:rPr>
              <a:t>     forms</a:t>
            </a:r>
            <a:r>
              <a:rPr b="0" i="0" lang="en-US" sz="2000" u="none" cap="none" strike="noStrike">
                <a:solidFill>
                  <a:srgbClr val="1B1B1B"/>
                </a:solidFill>
                <a:latin typeface="Inter"/>
                <a:ea typeface="Inter"/>
                <a:cs typeface="Inter"/>
                <a:sym typeface="Inter"/>
              </a:rPr>
              <a:t>. </a:t>
            </a:r>
            <a:endParaRPr/>
          </a:p>
          <a:p>
            <a:pPr indent="-342900" lvl="0" marL="342900" marR="0" rtl="0" algn="just">
              <a:lnSpc>
                <a:spcPct val="100000"/>
              </a:lnSpc>
              <a:spcBef>
                <a:spcPts val="0"/>
              </a:spcBef>
              <a:spcAft>
                <a:spcPts val="0"/>
              </a:spcAft>
              <a:buClr>
                <a:srgbClr val="1B1B1B"/>
              </a:buClr>
              <a:buSzPts val="2000"/>
              <a:buFont typeface="Arial"/>
              <a:buChar char="•"/>
            </a:pPr>
            <a:r>
              <a:rPr b="0" i="0" lang="en-US" sz="2000" u="none" cap="none" strike="noStrike">
                <a:solidFill>
                  <a:srgbClr val="1B1B1B"/>
                </a:solidFill>
                <a:latin typeface="Inter"/>
                <a:ea typeface="Inter"/>
                <a:cs typeface="Inter"/>
                <a:sym typeface="Inter"/>
              </a:rPr>
              <a:t>The controls can be single or multi-line text fields, dropdown boxes, buttons, checkboxes, or radio buttons, and are mostly created using the </a:t>
            </a:r>
            <a:r>
              <a:rPr b="0" i="0" lang="en-US" sz="2000" u="sng" cap="none" strike="noStrike">
                <a:solidFill>
                  <a:srgbClr val="1B1B1B"/>
                </a:solidFill>
                <a:latin typeface="Arial"/>
                <a:ea typeface="Arial"/>
                <a:cs typeface="Arial"/>
                <a:sym typeface="Arial"/>
                <a:hlinkClick r:id="rId3">
                  <a:extLst>
                    <a:ext uri="{A12FA001-AC4F-418D-AE19-62706E023703}">
                      <ahyp:hlinkClr val="tx"/>
                    </a:ext>
                  </a:extLst>
                </a:hlinkClick>
              </a:rPr>
              <a:t>&lt;input&gt;</a:t>
            </a:r>
            <a:r>
              <a:rPr b="0" i="0" lang="en-US" sz="2000" u="none" cap="none" strike="noStrike">
                <a:solidFill>
                  <a:srgbClr val="1B1B1B"/>
                </a:solidFill>
                <a:latin typeface="Inter"/>
                <a:ea typeface="Inter"/>
                <a:cs typeface="Inter"/>
                <a:sym typeface="Inter"/>
              </a:rPr>
              <a:t> element, although there are some other elements to learn about too.</a:t>
            </a:r>
            <a:endParaRPr b="0" i="0" sz="2000" u="none" cap="none" strike="noStrike">
              <a:solidFill>
                <a:schemeClr val="dk1"/>
              </a:solidFill>
              <a:latin typeface="Arial"/>
              <a:ea typeface="Arial"/>
              <a:cs typeface="Arial"/>
              <a:sym typeface="Arial"/>
            </a:endParaRPr>
          </a:p>
        </p:txBody>
      </p:sp>
    </p:spTree>
  </p:cSld>
  <p:clrMapOvr>
    <a:masterClrMapping/>
  </p:clrMapOvr>
  <p:transition advTm="4000">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43"/>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69" name="Google Shape;69;p43"/>
          <p:cNvSpPr txBox="1"/>
          <p:nvPr>
            <p:ph idx="1" type="subTitle"/>
          </p:nvPr>
        </p:nvSpPr>
        <p:spPr>
          <a:xfrm>
            <a:off x="533400" y="1371600"/>
            <a:ext cx="8153400" cy="5142322"/>
          </a:xfrm>
          <a:prstGeom prst="rect">
            <a:avLst/>
          </a:prstGeom>
          <a:noFill/>
          <a:ln>
            <a:noFill/>
          </a:ln>
        </p:spPr>
        <p:txBody>
          <a:bodyPr anchorCtr="0" anchor="t" bIns="45700" lIns="91425" spcFirstLastPara="1" rIns="91425" wrap="square" tIns="45700">
            <a:noAutofit/>
          </a:bodyPr>
          <a:lstStyle/>
          <a:p>
            <a:pPr indent="-431800" lvl="0" marL="457200" rtl="0" algn="just">
              <a:lnSpc>
                <a:spcPct val="100000"/>
              </a:lnSpc>
              <a:spcBef>
                <a:spcPts val="640"/>
              </a:spcBef>
              <a:spcAft>
                <a:spcPts val="0"/>
              </a:spcAft>
              <a:buSzPts val="3200"/>
              <a:buNone/>
            </a:pPr>
            <a:r>
              <a:rPr b="0" i="0" lang="en-US" sz="2000">
                <a:solidFill>
                  <a:srgbClr val="000000"/>
                </a:solidFill>
                <a:highlight>
                  <a:srgbClr val="FFFFFF"/>
                </a:highlight>
                <a:latin typeface="Verdana"/>
                <a:ea typeface="Verdana"/>
                <a:cs typeface="Verdana"/>
                <a:sym typeface="Verdana"/>
              </a:rPr>
              <a:t>An HTML form is used to collect user input. The user input is most often sent to a server for processing.</a:t>
            </a:r>
            <a:endParaRPr/>
          </a:p>
          <a:p>
            <a:pPr indent="-431800" lvl="0" marL="457200" rtl="0" algn="just">
              <a:lnSpc>
                <a:spcPct val="100000"/>
              </a:lnSpc>
              <a:spcBef>
                <a:spcPts val="640"/>
              </a:spcBef>
              <a:spcAft>
                <a:spcPts val="0"/>
              </a:spcAft>
              <a:buSzPts val="3200"/>
              <a:buNone/>
            </a:pPr>
            <a:r>
              <a:rPr b="1" lang="en-US" sz="2500">
                <a:solidFill>
                  <a:schemeClr val="dk1"/>
                </a:solidFill>
              </a:rPr>
              <a:t>The &lt;form&gt; element:</a:t>
            </a:r>
            <a:endParaRPr/>
          </a:p>
          <a:p>
            <a:pPr indent="-431800" lvl="0" marL="457200" rtl="0" algn="just">
              <a:lnSpc>
                <a:spcPct val="100000"/>
              </a:lnSpc>
              <a:spcBef>
                <a:spcPts val="640"/>
              </a:spcBef>
              <a:spcAft>
                <a:spcPts val="0"/>
              </a:spcAft>
              <a:buSzPts val="3200"/>
              <a:buNone/>
            </a:pPr>
            <a:r>
              <a:rPr lang="en-US" sz="2500">
                <a:solidFill>
                  <a:schemeClr val="dk1"/>
                </a:solidFill>
              </a:rPr>
              <a:t>The html &lt;form&gt; element is used to create an HTML form for user input. </a:t>
            </a:r>
            <a:endParaRPr/>
          </a:p>
          <a:p>
            <a:pPr indent="-431800" lvl="0" marL="457200" rtl="0" algn="just">
              <a:lnSpc>
                <a:spcPct val="100000"/>
              </a:lnSpc>
              <a:spcBef>
                <a:spcPts val="640"/>
              </a:spcBef>
              <a:spcAft>
                <a:spcPts val="0"/>
              </a:spcAft>
              <a:buSzPts val="3200"/>
              <a:buNone/>
            </a:pPr>
            <a:r>
              <a:rPr b="1" lang="en-US" sz="2500">
                <a:solidFill>
                  <a:schemeClr val="dk1"/>
                </a:solidFill>
              </a:rPr>
              <a:t>Syntax:</a:t>
            </a:r>
            <a:endParaRPr/>
          </a:p>
          <a:p>
            <a:pPr indent="-431800" lvl="0" marL="457200" rtl="0" algn="just">
              <a:lnSpc>
                <a:spcPct val="100000"/>
              </a:lnSpc>
              <a:spcBef>
                <a:spcPts val="640"/>
              </a:spcBef>
              <a:spcAft>
                <a:spcPts val="0"/>
              </a:spcAft>
              <a:buSzPts val="3200"/>
              <a:buNone/>
            </a:pPr>
            <a:r>
              <a:rPr lang="en-US" sz="2500">
                <a:solidFill>
                  <a:schemeClr val="dk1"/>
                </a:solidFill>
              </a:rPr>
              <a:t>&lt;form&gt;</a:t>
            </a:r>
            <a:endParaRPr/>
          </a:p>
          <a:p>
            <a:pPr indent="-431800" lvl="0" marL="457200" rtl="0" algn="just">
              <a:lnSpc>
                <a:spcPct val="100000"/>
              </a:lnSpc>
              <a:spcBef>
                <a:spcPts val="640"/>
              </a:spcBef>
              <a:spcAft>
                <a:spcPts val="0"/>
              </a:spcAft>
              <a:buSzPts val="3200"/>
              <a:buNone/>
            </a:pPr>
            <a:r>
              <a:rPr lang="en-US" sz="2500">
                <a:solidFill>
                  <a:schemeClr val="dk1"/>
                </a:solidFill>
              </a:rPr>
              <a:t>…</a:t>
            </a:r>
            <a:endParaRPr/>
          </a:p>
          <a:p>
            <a:pPr indent="-431800" lvl="0" marL="457200" rtl="0" algn="just">
              <a:lnSpc>
                <a:spcPct val="100000"/>
              </a:lnSpc>
              <a:spcBef>
                <a:spcPts val="640"/>
              </a:spcBef>
              <a:spcAft>
                <a:spcPts val="0"/>
              </a:spcAft>
              <a:buSzPts val="3200"/>
              <a:buNone/>
            </a:pPr>
            <a:r>
              <a:rPr lang="en-US" sz="2500">
                <a:solidFill>
                  <a:schemeClr val="dk1"/>
                </a:solidFill>
              </a:rPr>
              <a:t>Form elements</a:t>
            </a:r>
            <a:endParaRPr/>
          </a:p>
          <a:p>
            <a:pPr indent="-431800" lvl="0" marL="457200" rtl="0" algn="just">
              <a:lnSpc>
                <a:spcPct val="100000"/>
              </a:lnSpc>
              <a:spcBef>
                <a:spcPts val="640"/>
              </a:spcBef>
              <a:spcAft>
                <a:spcPts val="0"/>
              </a:spcAft>
              <a:buSzPts val="3200"/>
              <a:buNone/>
            </a:pPr>
            <a:r>
              <a:rPr lang="en-US" sz="2500">
                <a:solidFill>
                  <a:schemeClr val="dk1"/>
                </a:solidFill>
              </a:rPr>
              <a:t>…</a:t>
            </a:r>
            <a:endParaRPr/>
          </a:p>
          <a:p>
            <a:pPr indent="-431800" lvl="0" marL="457200" rtl="0" algn="just">
              <a:lnSpc>
                <a:spcPct val="100000"/>
              </a:lnSpc>
              <a:spcBef>
                <a:spcPts val="640"/>
              </a:spcBef>
              <a:spcAft>
                <a:spcPts val="0"/>
              </a:spcAft>
              <a:buSzPts val="3200"/>
              <a:buNone/>
            </a:pPr>
            <a:r>
              <a:rPr lang="en-US" sz="2500">
                <a:solidFill>
                  <a:schemeClr val="dk1"/>
                </a:solidFill>
              </a:rPr>
              <a:t>&lt;/form&gt;</a:t>
            </a:r>
            <a:endParaRPr/>
          </a:p>
        </p:txBody>
      </p:sp>
    </p:spTree>
  </p:cSld>
  <p:clrMapOvr>
    <a:masterClrMapping/>
  </p:clrMapOvr>
  <p:transition advTm="4000">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44"/>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75" name="Google Shape;75;p44"/>
          <p:cNvSpPr txBox="1"/>
          <p:nvPr>
            <p:ph idx="1" type="subTitle"/>
          </p:nvPr>
        </p:nvSpPr>
        <p:spPr>
          <a:xfrm>
            <a:off x="533400" y="1013791"/>
            <a:ext cx="8153400" cy="5082209"/>
          </a:xfrm>
          <a:prstGeom prst="rect">
            <a:avLst/>
          </a:prstGeom>
          <a:noFill/>
          <a:ln>
            <a:noFill/>
          </a:ln>
        </p:spPr>
        <p:txBody>
          <a:bodyPr anchorCtr="0" anchor="t" bIns="45700" lIns="91425" spcFirstLastPara="1" rIns="91425" wrap="square" tIns="45700">
            <a:noAutofit/>
          </a:bodyPr>
          <a:lstStyle/>
          <a:p>
            <a:pPr indent="-343535" lvl="0" marL="355600" marR="450850" rtl="0" algn="l">
              <a:lnSpc>
                <a:spcPct val="107916"/>
              </a:lnSpc>
              <a:spcBef>
                <a:spcPts val="425"/>
              </a:spcBef>
              <a:spcAft>
                <a:spcPts val="0"/>
              </a:spcAft>
              <a:buClr>
                <a:srgbClr val="0099CC"/>
              </a:buClr>
              <a:buSzPts val="1450"/>
              <a:buFont typeface="Noto Sans Symbols"/>
              <a:buChar char="■"/>
            </a:pPr>
            <a:r>
              <a:rPr lang="en-US" sz="2400">
                <a:solidFill>
                  <a:schemeClr val="dk1"/>
                </a:solidFill>
                <a:latin typeface="Times New Roman"/>
                <a:ea typeface="Times New Roman"/>
                <a:cs typeface="Times New Roman"/>
                <a:sym typeface="Times New Roman"/>
              </a:rPr>
              <a:t>The</a:t>
            </a:r>
            <a:r>
              <a:rPr lang="en-US" sz="2400">
                <a:latin typeface="Times New Roman"/>
                <a:ea typeface="Times New Roman"/>
                <a:cs typeface="Times New Roman"/>
                <a:sym typeface="Times New Roman"/>
              </a:rPr>
              <a:t> </a:t>
            </a:r>
            <a:r>
              <a:rPr lang="en-US" sz="2400">
                <a:solidFill>
                  <a:srgbClr val="3300FF"/>
                </a:solidFill>
                <a:latin typeface="Trebuchet MS"/>
                <a:ea typeface="Trebuchet MS"/>
                <a:cs typeface="Trebuchet MS"/>
                <a:sym typeface="Trebuchet MS"/>
              </a:rPr>
              <a:t>&lt;form </a:t>
            </a:r>
            <a:r>
              <a:rPr b="1" i="1" lang="en-US" sz="2400">
                <a:solidFill>
                  <a:srgbClr val="CC00CC"/>
                </a:solidFill>
                <a:latin typeface="Times New Roman"/>
                <a:ea typeface="Times New Roman"/>
                <a:cs typeface="Times New Roman"/>
                <a:sym typeface="Times New Roman"/>
              </a:rPr>
              <a:t>arguments</a:t>
            </a:r>
            <a:r>
              <a:rPr lang="en-US" sz="2400">
                <a:solidFill>
                  <a:srgbClr val="3300FF"/>
                </a:solidFill>
                <a:latin typeface="Trebuchet MS"/>
                <a:ea typeface="Trebuchet MS"/>
                <a:cs typeface="Trebuchet MS"/>
                <a:sym typeface="Trebuchet MS"/>
              </a:rPr>
              <a:t>&gt; ... &lt;/form&gt; </a:t>
            </a:r>
            <a:r>
              <a:rPr lang="en-US" sz="2400">
                <a:solidFill>
                  <a:schemeClr val="dk1"/>
                </a:solidFill>
                <a:latin typeface="Times New Roman"/>
                <a:ea typeface="Times New Roman"/>
                <a:cs typeface="Times New Roman"/>
                <a:sym typeface="Times New Roman"/>
              </a:rPr>
              <a:t>tag encloses form  elements.</a:t>
            </a:r>
            <a:endParaRPr sz="2400">
              <a:solidFill>
                <a:schemeClr val="dk1"/>
              </a:solidFill>
              <a:latin typeface="Times New Roman"/>
              <a:ea typeface="Times New Roman"/>
              <a:cs typeface="Times New Roman"/>
              <a:sym typeface="Times New Roman"/>
            </a:endParaRPr>
          </a:p>
          <a:p>
            <a:pPr indent="-343535" lvl="0" marL="355600" rtl="0" algn="l">
              <a:lnSpc>
                <a:spcPct val="100000"/>
              </a:lnSpc>
              <a:spcBef>
                <a:spcPts val="254"/>
              </a:spcBef>
              <a:spcAft>
                <a:spcPts val="0"/>
              </a:spcAft>
              <a:buClr>
                <a:srgbClr val="0099CC"/>
              </a:buClr>
              <a:buSzPts val="1450"/>
              <a:buFont typeface="Noto Sans Symbols"/>
              <a:buChar char="■"/>
            </a:pPr>
            <a:r>
              <a:rPr lang="en-US" sz="2400">
                <a:solidFill>
                  <a:schemeClr val="dk1"/>
                </a:solidFill>
                <a:latin typeface="Times New Roman"/>
                <a:ea typeface="Times New Roman"/>
                <a:cs typeface="Times New Roman"/>
                <a:sym typeface="Times New Roman"/>
              </a:rPr>
              <a:t>The arguments to </a:t>
            </a:r>
            <a:r>
              <a:rPr lang="en-US" sz="2400">
                <a:solidFill>
                  <a:srgbClr val="3300FF"/>
                </a:solidFill>
                <a:latin typeface="Trebuchet MS"/>
                <a:ea typeface="Trebuchet MS"/>
                <a:cs typeface="Trebuchet MS"/>
                <a:sym typeface="Trebuchet MS"/>
              </a:rPr>
              <a:t>form </a:t>
            </a:r>
            <a:r>
              <a:rPr lang="en-US" sz="2400">
                <a:solidFill>
                  <a:schemeClr val="dk1"/>
                </a:solidFill>
                <a:latin typeface="Times New Roman"/>
                <a:ea typeface="Times New Roman"/>
                <a:cs typeface="Times New Roman"/>
                <a:sym typeface="Times New Roman"/>
              </a:rPr>
              <a:t>tell what to do with the user input</a:t>
            </a:r>
            <a:endParaRPr/>
          </a:p>
          <a:p>
            <a:pPr indent="-287019" lvl="1" marL="756285" rtl="0" algn="l">
              <a:lnSpc>
                <a:spcPct val="100000"/>
              </a:lnSpc>
              <a:spcBef>
                <a:spcPts val="259"/>
              </a:spcBef>
              <a:spcAft>
                <a:spcPts val="0"/>
              </a:spcAft>
              <a:buClr>
                <a:srgbClr val="CC00CC"/>
              </a:buClr>
              <a:buSzPts val="1100"/>
              <a:buFont typeface="Noto Sans Symbols"/>
              <a:buChar char="■"/>
            </a:pPr>
            <a:r>
              <a:rPr lang="en-US" sz="2000">
                <a:solidFill>
                  <a:srgbClr val="3300FF"/>
                </a:solidFill>
                <a:latin typeface="Trebuchet MS"/>
                <a:ea typeface="Trebuchet MS"/>
                <a:cs typeface="Trebuchet MS"/>
                <a:sym typeface="Trebuchet MS"/>
              </a:rPr>
              <a:t>action="</a:t>
            </a:r>
            <a:r>
              <a:rPr b="1" i="1" lang="en-US" sz="2000">
                <a:solidFill>
                  <a:srgbClr val="CC00CC"/>
                </a:solidFill>
                <a:latin typeface="Times New Roman"/>
                <a:ea typeface="Times New Roman"/>
                <a:cs typeface="Times New Roman"/>
                <a:sym typeface="Times New Roman"/>
              </a:rPr>
              <a:t>url</a:t>
            </a:r>
            <a:r>
              <a:rPr lang="en-US" sz="2000">
                <a:solidFill>
                  <a:srgbClr val="3300FF"/>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(required)</a:t>
            </a:r>
            <a:endParaRPr/>
          </a:p>
          <a:p>
            <a:pPr indent="-229235" lvl="2" marL="1155700" rtl="0" algn="l">
              <a:lnSpc>
                <a:spcPct val="100000"/>
              </a:lnSpc>
              <a:spcBef>
                <a:spcPts val="220"/>
              </a:spcBef>
              <a:spcAft>
                <a:spcPts val="0"/>
              </a:spcAft>
              <a:buClr>
                <a:srgbClr val="0099CC"/>
              </a:buClr>
              <a:buSzPts val="900"/>
              <a:buFont typeface="Noto Sans Symbols"/>
              <a:buChar char="■"/>
            </a:pPr>
            <a:r>
              <a:rPr lang="en-US" sz="1800">
                <a:solidFill>
                  <a:schemeClr val="dk1"/>
                </a:solidFill>
                <a:latin typeface="Times New Roman"/>
                <a:ea typeface="Times New Roman"/>
                <a:cs typeface="Times New Roman"/>
                <a:sym typeface="Times New Roman"/>
              </a:rPr>
              <a:t>Specifies where to send the data when the </a:t>
            </a:r>
            <a:r>
              <a:rPr lang="en-US" sz="1800">
                <a:solidFill>
                  <a:srgbClr val="3300FF"/>
                </a:solidFill>
                <a:latin typeface="Trebuchet MS"/>
                <a:ea typeface="Trebuchet MS"/>
                <a:cs typeface="Trebuchet MS"/>
                <a:sym typeface="Trebuchet MS"/>
              </a:rPr>
              <a:t>Submit </a:t>
            </a:r>
            <a:r>
              <a:rPr lang="en-US" sz="1800">
                <a:solidFill>
                  <a:schemeClr val="dk1"/>
                </a:solidFill>
                <a:latin typeface="Times New Roman"/>
                <a:ea typeface="Times New Roman"/>
                <a:cs typeface="Times New Roman"/>
                <a:sym typeface="Times New Roman"/>
              </a:rPr>
              <a:t>button is clicked</a:t>
            </a:r>
            <a:endParaRPr/>
          </a:p>
          <a:p>
            <a:pPr indent="-287019" lvl="1" marL="756285" rtl="0" algn="l">
              <a:lnSpc>
                <a:spcPct val="100000"/>
              </a:lnSpc>
              <a:spcBef>
                <a:spcPts val="234"/>
              </a:spcBef>
              <a:spcAft>
                <a:spcPts val="0"/>
              </a:spcAft>
              <a:buClr>
                <a:srgbClr val="CC00CC"/>
              </a:buClr>
              <a:buSzPts val="1100"/>
              <a:buFont typeface="Noto Sans Symbols"/>
              <a:buChar char="■"/>
            </a:pPr>
            <a:r>
              <a:rPr lang="en-US" sz="2000">
                <a:solidFill>
                  <a:srgbClr val="3300FF"/>
                </a:solidFill>
                <a:latin typeface="Trebuchet MS"/>
                <a:ea typeface="Trebuchet MS"/>
                <a:cs typeface="Trebuchet MS"/>
                <a:sym typeface="Trebuchet MS"/>
              </a:rPr>
              <a:t>method="get"	</a:t>
            </a:r>
            <a:r>
              <a:rPr lang="en-US" sz="2000">
                <a:solidFill>
                  <a:schemeClr val="dk1"/>
                </a:solidFill>
                <a:latin typeface="Times New Roman"/>
                <a:ea typeface="Times New Roman"/>
                <a:cs typeface="Times New Roman"/>
                <a:sym typeface="Times New Roman"/>
              </a:rPr>
              <a:t>(default)</a:t>
            </a:r>
            <a:endParaRPr/>
          </a:p>
          <a:p>
            <a:pPr indent="-229235" lvl="2" marL="1155700" rtl="0" algn="l">
              <a:lnSpc>
                <a:spcPct val="100000"/>
              </a:lnSpc>
              <a:spcBef>
                <a:spcPts val="220"/>
              </a:spcBef>
              <a:spcAft>
                <a:spcPts val="0"/>
              </a:spcAft>
              <a:buClr>
                <a:srgbClr val="0099CC"/>
              </a:buClr>
              <a:buSzPts val="900"/>
              <a:buFont typeface="Noto Sans Symbols"/>
              <a:buChar char="■"/>
            </a:pPr>
            <a:r>
              <a:rPr lang="en-US" sz="1800">
                <a:solidFill>
                  <a:schemeClr val="dk1"/>
                </a:solidFill>
                <a:latin typeface="Times New Roman"/>
                <a:ea typeface="Times New Roman"/>
                <a:cs typeface="Times New Roman"/>
                <a:sym typeface="Times New Roman"/>
              </a:rPr>
              <a:t>Form data is sent as a URL with </a:t>
            </a:r>
            <a:r>
              <a:rPr lang="en-US" sz="1800">
                <a:solidFill>
                  <a:srgbClr val="3300FF"/>
                </a:solidFill>
                <a:latin typeface="Trebuchet MS"/>
                <a:ea typeface="Trebuchet MS"/>
                <a:cs typeface="Trebuchet MS"/>
                <a:sym typeface="Trebuchet MS"/>
              </a:rPr>
              <a:t>?form_data </a:t>
            </a:r>
            <a:r>
              <a:rPr lang="en-US" sz="1800">
                <a:solidFill>
                  <a:schemeClr val="dk1"/>
                </a:solidFill>
                <a:latin typeface="Times New Roman"/>
                <a:ea typeface="Times New Roman"/>
                <a:cs typeface="Times New Roman"/>
                <a:sym typeface="Times New Roman"/>
              </a:rPr>
              <a:t>info appended to the end</a:t>
            </a:r>
            <a:endParaRPr/>
          </a:p>
          <a:p>
            <a:pPr indent="-229235" lvl="2" marL="1155700" rtl="0" algn="l">
              <a:lnSpc>
                <a:spcPct val="100000"/>
              </a:lnSpc>
              <a:spcBef>
                <a:spcPts val="220"/>
              </a:spcBef>
              <a:spcAft>
                <a:spcPts val="0"/>
              </a:spcAft>
              <a:buClr>
                <a:srgbClr val="0099CC"/>
              </a:buClr>
              <a:buSzPts val="900"/>
              <a:buFont typeface="Noto Sans Symbols"/>
              <a:buChar char="■"/>
            </a:pPr>
            <a:r>
              <a:rPr lang="en-US" sz="1800">
                <a:solidFill>
                  <a:schemeClr val="dk1"/>
                </a:solidFill>
                <a:latin typeface="Times New Roman"/>
                <a:ea typeface="Times New Roman"/>
                <a:cs typeface="Times New Roman"/>
                <a:sym typeface="Times New Roman"/>
              </a:rPr>
              <a:t>Can be used </a:t>
            </a:r>
            <a:r>
              <a:rPr i="1" lang="en-US" sz="1800">
                <a:solidFill>
                  <a:schemeClr val="dk1"/>
                </a:solidFill>
                <a:latin typeface="Times New Roman"/>
                <a:ea typeface="Times New Roman"/>
                <a:cs typeface="Times New Roman"/>
                <a:sym typeface="Times New Roman"/>
              </a:rPr>
              <a:t>only </a:t>
            </a:r>
            <a:r>
              <a:rPr lang="en-US" sz="1800">
                <a:solidFill>
                  <a:schemeClr val="dk1"/>
                </a:solidFill>
                <a:latin typeface="Times New Roman"/>
                <a:ea typeface="Times New Roman"/>
                <a:cs typeface="Times New Roman"/>
                <a:sym typeface="Times New Roman"/>
              </a:rPr>
              <a:t>if data is all ASCII and not more than 100 characters</a:t>
            </a:r>
            <a:endParaRPr/>
          </a:p>
          <a:p>
            <a:pPr indent="-287019" lvl="1" marL="756285" rtl="0" algn="l">
              <a:lnSpc>
                <a:spcPct val="100000"/>
              </a:lnSpc>
              <a:spcBef>
                <a:spcPts val="245"/>
              </a:spcBef>
              <a:spcAft>
                <a:spcPts val="0"/>
              </a:spcAft>
              <a:buClr>
                <a:srgbClr val="CC00CC"/>
              </a:buClr>
              <a:buSzPts val="1100"/>
              <a:buFont typeface="Noto Sans Symbols"/>
              <a:buChar char="■"/>
            </a:pPr>
            <a:r>
              <a:rPr lang="en-US" sz="2000">
                <a:solidFill>
                  <a:srgbClr val="3300FF"/>
                </a:solidFill>
                <a:latin typeface="Trebuchet MS"/>
                <a:ea typeface="Trebuchet MS"/>
                <a:cs typeface="Trebuchet MS"/>
                <a:sym typeface="Trebuchet MS"/>
              </a:rPr>
              <a:t>method="post"</a:t>
            </a:r>
            <a:endParaRPr sz="2000">
              <a:latin typeface="Trebuchet MS"/>
              <a:ea typeface="Trebuchet MS"/>
              <a:cs typeface="Trebuchet MS"/>
              <a:sym typeface="Trebuchet MS"/>
            </a:endParaRPr>
          </a:p>
          <a:p>
            <a:pPr indent="-229235" lvl="2" marL="1155700" rtl="0" algn="l">
              <a:lnSpc>
                <a:spcPct val="100000"/>
              </a:lnSpc>
              <a:spcBef>
                <a:spcPts val="210"/>
              </a:spcBef>
              <a:spcAft>
                <a:spcPts val="0"/>
              </a:spcAft>
              <a:buClr>
                <a:srgbClr val="0099CC"/>
              </a:buClr>
              <a:buSzPts val="900"/>
              <a:buFont typeface="Noto Sans Symbols"/>
              <a:buChar char="■"/>
            </a:pPr>
            <a:r>
              <a:rPr lang="en-US" sz="1800">
                <a:solidFill>
                  <a:schemeClr val="dk1"/>
                </a:solidFill>
                <a:latin typeface="Times New Roman"/>
                <a:ea typeface="Times New Roman"/>
                <a:cs typeface="Times New Roman"/>
                <a:sym typeface="Times New Roman"/>
              </a:rPr>
              <a:t>Form data is sent in the body of the URL request</a:t>
            </a:r>
            <a:endParaRPr/>
          </a:p>
          <a:p>
            <a:pPr indent="-229235" lvl="2" marL="1155700" rtl="0" algn="l">
              <a:lnSpc>
                <a:spcPct val="100000"/>
              </a:lnSpc>
              <a:spcBef>
                <a:spcPts val="219"/>
              </a:spcBef>
              <a:spcAft>
                <a:spcPts val="0"/>
              </a:spcAft>
              <a:buClr>
                <a:srgbClr val="0099CC"/>
              </a:buClr>
              <a:buSzPts val="900"/>
              <a:buFont typeface="Noto Sans Symbols"/>
              <a:buChar char="■"/>
            </a:pPr>
            <a:r>
              <a:rPr lang="en-US" sz="1800">
                <a:solidFill>
                  <a:schemeClr val="dk1"/>
                </a:solidFill>
                <a:latin typeface="Times New Roman"/>
                <a:ea typeface="Times New Roman"/>
                <a:cs typeface="Times New Roman"/>
                <a:sym typeface="Times New Roman"/>
              </a:rPr>
              <a:t>Cannot be bookmarked by most browsers</a:t>
            </a:r>
            <a:endParaRPr sz="1800">
              <a:solidFill>
                <a:schemeClr val="dk1"/>
              </a:solidFill>
              <a:latin typeface="Times New Roman"/>
              <a:ea typeface="Times New Roman"/>
              <a:cs typeface="Times New Roman"/>
              <a:sym typeface="Times New Roman"/>
            </a:endParaRPr>
          </a:p>
          <a:p>
            <a:pPr indent="-287019" lvl="1" marL="756285" rtl="0" algn="l">
              <a:lnSpc>
                <a:spcPct val="100000"/>
              </a:lnSpc>
              <a:spcBef>
                <a:spcPts val="229"/>
              </a:spcBef>
              <a:spcAft>
                <a:spcPts val="0"/>
              </a:spcAft>
              <a:buClr>
                <a:srgbClr val="CC00CC"/>
              </a:buClr>
              <a:buSzPts val="1100"/>
              <a:buFont typeface="Noto Sans Symbols"/>
              <a:buChar char="■"/>
            </a:pPr>
            <a:r>
              <a:rPr lang="en-US" sz="2000">
                <a:solidFill>
                  <a:srgbClr val="3300FF"/>
                </a:solidFill>
                <a:latin typeface="Trebuchet MS"/>
                <a:ea typeface="Trebuchet MS"/>
                <a:cs typeface="Trebuchet MS"/>
                <a:sym typeface="Trebuchet MS"/>
              </a:rPr>
              <a:t>target="</a:t>
            </a:r>
            <a:r>
              <a:rPr b="1" i="1" lang="en-US" sz="2000">
                <a:solidFill>
                  <a:srgbClr val="CC00CC"/>
                </a:solidFill>
                <a:latin typeface="Times New Roman"/>
                <a:ea typeface="Times New Roman"/>
                <a:cs typeface="Times New Roman"/>
                <a:sym typeface="Times New Roman"/>
              </a:rPr>
              <a:t>target</a:t>
            </a:r>
            <a:r>
              <a:rPr lang="en-US" sz="2000">
                <a:solidFill>
                  <a:srgbClr val="3300FF"/>
                </a:solidFill>
                <a:latin typeface="Trebuchet MS"/>
                <a:ea typeface="Trebuchet MS"/>
                <a:cs typeface="Trebuchet MS"/>
                <a:sym typeface="Trebuchet MS"/>
              </a:rPr>
              <a:t>"</a:t>
            </a:r>
            <a:endParaRPr sz="2000">
              <a:latin typeface="Trebuchet MS"/>
              <a:ea typeface="Trebuchet MS"/>
              <a:cs typeface="Trebuchet MS"/>
              <a:sym typeface="Trebuchet MS"/>
            </a:endParaRPr>
          </a:p>
          <a:p>
            <a:pPr indent="-229235" lvl="2" marL="1155700" rtl="0" algn="l">
              <a:lnSpc>
                <a:spcPct val="100000"/>
              </a:lnSpc>
              <a:spcBef>
                <a:spcPts val="225"/>
              </a:spcBef>
              <a:spcAft>
                <a:spcPts val="0"/>
              </a:spcAft>
              <a:buClr>
                <a:srgbClr val="0099CC"/>
              </a:buClr>
              <a:buSzPts val="900"/>
              <a:buFont typeface="Noto Sans Symbols"/>
              <a:buChar char="■"/>
            </a:pPr>
            <a:r>
              <a:rPr lang="en-US" sz="1800">
                <a:solidFill>
                  <a:schemeClr val="dk1"/>
                </a:solidFill>
                <a:latin typeface="Times New Roman"/>
                <a:ea typeface="Times New Roman"/>
                <a:cs typeface="Times New Roman"/>
                <a:sym typeface="Times New Roman"/>
              </a:rPr>
              <a:t>Tells where to open the page sent as a result of the request</a:t>
            </a:r>
            <a:endParaRPr/>
          </a:p>
          <a:p>
            <a:pPr indent="-229235" lvl="2" marL="1155700" rtl="0" algn="l">
              <a:lnSpc>
                <a:spcPct val="100000"/>
              </a:lnSpc>
              <a:spcBef>
                <a:spcPts val="215"/>
              </a:spcBef>
              <a:spcAft>
                <a:spcPts val="0"/>
              </a:spcAft>
              <a:buClr>
                <a:srgbClr val="0099CC"/>
              </a:buClr>
              <a:buSzPts val="900"/>
              <a:buFont typeface="Noto Sans Symbols"/>
              <a:buChar char="■"/>
            </a:pPr>
            <a:r>
              <a:rPr b="1" i="1" lang="en-US" sz="1800">
                <a:solidFill>
                  <a:srgbClr val="CC00CC"/>
                </a:solidFill>
                <a:latin typeface="Times New Roman"/>
                <a:ea typeface="Times New Roman"/>
                <a:cs typeface="Times New Roman"/>
                <a:sym typeface="Times New Roman"/>
              </a:rPr>
              <a:t>target</a:t>
            </a:r>
            <a:r>
              <a:rPr b="1" lang="en-US" sz="1800">
                <a:solidFill>
                  <a:srgbClr val="3300FF"/>
                </a:solidFill>
                <a:latin typeface="Times New Roman"/>
                <a:ea typeface="Times New Roman"/>
                <a:cs typeface="Times New Roman"/>
                <a:sym typeface="Times New Roman"/>
              </a:rPr>
              <a:t>= </a:t>
            </a:r>
            <a:r>
              <a:rPr lang="en-US" sz="1800">
                <a:solidFill>
                  <a:srgbClr val="3300FF"/>
                </a:solidFill>
                <a:latin typeface="Trebuchet MS"/>
                <a:ea typeface="Trebuchet MS"/>
                <a:cs typeface="Trebuchet MS"/>
                <a:sym typeface="Trebuchet MS"/>
              </a:rPr>
              <a:t>_blank </a:t>
            </a:r>
            <a:r>
              <a:rPr lang="en-US" sz="1800">
                <a:solidFill>
                  <a:schemeClr val="dk1"/>
                </a:solidFill>
                <a:latin typeface="Times New Roman"/>
                <a:ea typeface="Times New Roman"/>
                <a:cs typeface="Times New Roman"/>
                <a:sym typeface="Times New Roman"/>
              </a:rPr>
              <a:t>means open in a new window</a:t>
            </a:r>
            <a:endParaRPr sz="1800">
              <a:solidFill>
                <a:schemeClr val="dk1"/>
              </a:solidFill>
              <a:latin typeface="Times New Roman"/>
              <a:ea typeface="Times New Roman"/>
              <a:cs typeface="Times New Roman"/>
              <a:sym typeface="Times New Roman"/>
            </a:endParaRPr>
          </a:p>
          <a:p>
            <a:pPr indent="-229235" lvl="2" marL="1155700" rtl="0" algn="l">
              <a:lnSpc>
                <a:spcPct val="100000"/>
              </a:lnSpc>
              <a:spcBef>
                <a:spcPts val="219"/>
              </a:spcBef>
              <a:spcAft>
                <a:spcPts val="0"/>
              </a:spcAft>
              <a:buClr>
                <a:srgbClr val="0099CC"/>
              </a:buClr>
              <a:buSzPts val="900"/>
              <a:buFont typeface="Noto Sans Symbols"/>
              <a:buChar char="■"/>
            </a:pPr>
            <a:r>
              <a:rPr b="1" i="1" lang="en-US" sz="1800">
                <a:solidFill>
                  <a:srgbClr val="CC00CC"/>
                </a:solidFill>
                <a:latin typeface="Times New Roman"/>
                <a:ea typeface="Times New Roman"/>
                <a:cs typeface="Times New Roman"/>
                <a:sym typeface="Times New Roman"/>
              </a:rPr>
              <a:t>target</a:t>
            </a:r>
            <a:r>
              <a:rPr b="1" lang="en-US" sz="1800">
                <a:solidFill>
                  <a:srgbClr val="3300FF"/>
                </a:solidFill>
                <a:latin typeface="Times New Roman"/>
                <a:ea typeface="Times New Roman"/>
                <a:cs typeface="Times New Roman"/>
                <a:sym typeface="Times New Roman"/>
              </a:rPr>
              <a:t>= </a:t>
            </a:r>
            <a:r>
              <a:rPr lang="en-US" sz="1800">
                <a:solidFill>
                  <a:srgbClr val="3300FF"/>
                </a:solidFill>
                <a:latin typeface="Trebuchet MS"/>
                <a:ea typeface="Trebuchet MS"/>
                <a:cs typeface="Trebuchet MS"/>
                <a:sym typeface="Trebuchet MS"/>
              </a:rPr>
              <a:t>_top </a:t>
            </a:r>
            <a:r>
              <a:rPr lang="en-US" sz="1800">
                <a:solidFill>
                  <a:schemeClr val="dk1"/>
                </a:solidFill>
                <a:latin typeface="Times New Roman"/>
                <a:ea typeface="Times New Roman"/>
                <a:cs typeface="Times New Roman"/>
                <a:sym typeface="Times New Roman"/>
              </a:rPr>
              <a:t>means use the same window</a:t>
            </a:r>
            <a:endParaRPr sz="1800">
              <a:solidFill>
                <a:schemeClr val="dk1"/>
              </a:solidFill>
              <a:latin typeface="Times New Roman"/>
              <a:ea typeface="Times New Roman"/>
              <a:cs typeface="Times New Roman"/>
              <a:sym typeface="Times New Roman"/>
            </a:endParaRPr>
          </a:p>
          <a:p>
            <a:pPr indent="-431800" lvl="0" marL="457200" rtl="0" algn="ctr">
              <a:lnSpc>
                <a:spcPct val="100000"/>
              </a:lnSpc>
              <a:spcBef>
                <a:spcPts val="640"/>
              </a:spcBef>
              <a:spcAft>
                <a:spcPts val="0"/>
              </a:spcAft>
              <a:buClr>
                <a:srgbClr val="888888"/>
              </a:buClr>
              <a:buSzPts val="3200"/>
              <a:buNone/>
            </a:pPr>
            <a:r>
              <a:t/>
            </a:r>
            <a:endParaRPr/>
          </a:p>
        </p:txBody>
      </p:sp>
    </p:spTree>
  </p:cSld>
  <p:clrMapOvr>
    <a:masterClrMapping/>
  </p:clrMapOvr>
  <p:transition advTm="4000">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45"/>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81" name="Google Shape;81;p45"/>
          <p:cNvSpPr txBox="1"/>
          <p:nvPr>
            <p:ph idx="1" type="subTitle"/>
          </p:nvPr>
        </p:nvSpPr>
        <p:spPr>
          <a:xfrm>
            <a:off x="533400" y="1371599"/>
            <a:ext cx="8153400" cy="5406887"/>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640"/>
              </a:spcBef>
              <a:spcAft>
                <a:spcPts val="0"/>
              </a:spcAft>
              <a:buSzPts val="3200"/>
              <a:buFont typeface="Arial"/>
              <a:buChar char="•"/>
            </a:pPr>
            <a:r>
              <a:rPr lang="en-US" sz="2400">
                <a:solidFill>
                  <a:schemeClr val="dk1"/>
                </a:solidFill>
              </a:rPr>
              <a:t>The &lt;form&gt; element is a container for different types of input elements such as: text fields, checkboxes, radio buttons, submit buttons etc.</a:t>
            </a:r>
            <a:endParaRPr/>
          </a:p>
          <a:p>
            <a:pPr indent="-431800" lvl="0" marL="457200" rtl="0" algn="l">
              <a:lnSpc>
                <a:spcPct val="100000"/>
              </a:lnSpc>
              <a:spcBef>
                <a:spcPts val="640"/>
              </a:spcBef>
              <a:spcAft>
                <a:spcPts val="0"/>
              </a:spcAft>
              <a:buSzPts val="3200"/>
              <a:buNone/>
            </a:pPr>
            <a:r>
              <a:rPr b="1" lang="en-US" sz="2400">
                <a:solidFill>
                  <a:schemeClr val="dk1"/>
                </a:solidFill>
              </a:rPr>
              <a:t>The &lt;input&gt; element</a:t>
            </a:r>
            <a:endParaRPr/>
          </a:p>
          <a:p>
            <a:pPr indent="-342900" lvl="0" marL="342900" rtl="0" algn="l">
              <a:lnSpc>
                <a:spcPct val="100000"/>
              </a:lnSpc>
              <a:spcBef>
                <a:spcPts val="640"/>
              </a:spcBef>
              <a:spcAft>
                <a:spcPts val="0"/>
              </a:spcAft>
              <a:buSzPts val="3200"/>
              <a:buFont typeface="Arial"/>
              <a:buChar char="•"/>
            </a:pPr>
            <a:r>
              <a:rPr lang="en-US" sz="2400">
                <a:solidFill>
                  <a:schemeClr val="dk1"/>
                </a:solidFill>
              </a:rPr>
              <a:t>It is the most used form element. An &lt;input&gt; element can be displayed in many ways, depending on the </a:t>
            </a:r>
            <a:r>
              <a:rPr b="1" lang="en-US" sz="2400">
                <a:solidFill>
                  <a:srgbClr val="FF0000"/>
                </a:solidFill>
              </a:rPr>
              <a:t>type</a:t>
            </a:r>
            <a:r>
              <a:rPr lang="en-US" sz="2400">
                <a:solidFill>
                  <a:schemeClr val="dk1"/>
                </a:solidFill>
              </a:rPr>
              <a:t> attribute.</a:t>
            </a:r>
            <a:endParaRPr sz="2400">
              <a:solidFill>
                <a:schemeClr val="dk1"/>
              </a:solidFill>
            </a:endParaRPr>
          </a:p>
        </p:txBody>
      </p:sp>
      <p:graphicFrame>
        <p:nvGraphicFramePr>
          <p:cNvPr id="82" name="Google Shape;82;p45"/>
          <p:cNvGraphicFramePr/>
          <p:nvPr/>
        </p:nvGraphicFramePr>
        <p:xfrm>
          <a:off x="827296" y="3978475"/>
          <a:ext cx="3000000" cy="3000000"/>
        </p:xfrm>
        <a:graphic>
          <a:graphicData uri="http://schemas.openxmlformats.org/drawingml/2006/table">
            <a:tbl>
              <a:tblPr>
                <a:noFill/>
                <a:tableStyleId>{F8AA0637-1FEF-444C-8B85-F55AE5AD8FE5}</a:tableStyleId>
              </a:tblPr>
              <a:tblGrid>
                <a:gridCol w="3376950"/>
                <a:gridCol w="4188650"/>
              </a:tblGrid>
              <a:tr h="177800">
                <a:tc>
                  <a:txBody>
                    <a:bodyPr/>
                    <a:lstStyle/>
                    <a:p>
                      <a:pPr indent="0" lvl="0" marL="0" marR="0" rtl="0" algn="l">
                        <a:lnSpc>
                          <a:spcPct val="100000"/>
                        </a:lnSpc>
                        <a:spcBef>
                          <a:spcPts val="0"/>
                        </a:spcBef>
                        <a:spcAft>
                          <a:spcPts val="0"/>
                        </a:spcAft>
                        <a:buNone/>
                      </a:pPr>
                      <a:r>
                        <a:rPr b="1" lang="en-US" sz="1400" u="none" cap="none" strike="noStrike"/>
                        <a:t>Type</a:t>
                      </a:r>
                      <a:endParaRPr/>
                    </a:p>
                  </a:txBody>
                  <a:tcPr marT="60950" marB="60950" marR="60950" marL="1219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lang="en-US" sz="1400" u="none" cap="none" strike="noStrike"/>
                        <a:t>Description</a:t>
                      </a:r>
                      <a:endParaRPr/>
                    </a:p>
                  </a:txBody>
                  <a:tcPr marT="60950" marB="60950" marR="60950" marL="609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177800">
                <a:tc>
                  <a:txBody>
                    <a:bodyPr/>
                    <a:lstStyle/>
                    <a:p>
                      <a:pPr indent="0" lvl="0" marL="0" marR="0" rtl="0" algn="l">
                        <a:lnSpc>
                          <a:spcPct val="100000"/>
                        </a:lnSpc>
                        <a:spcBef>
                          <a:spcPts val="0"/>
                        </a:spcBef>
                        <a:spcAft>
                          <a:spcPts val="0"/>
                        </a:spcAft>
                        <a:buNone/>
                      </a:pPr>
                      <a:r>
                        <a:rPr lang="en-US" sz="1400" u="none" cap="none" strike="noStrike"/>
                        <a:t>&lt;input type="text"&gt;</a:t>
                      </a:r>
                      <a:endParaRPr/>
                    </a:p>
                  </a:txBody>
                  <a:tcPr marT="60950" marB="60950" marR="60950" marL="1219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7E9EB"/>
                    </a:solidFill>
                  </a:tcPr>
                </a:tc>
                <a:tc>
                  <a:txBody>
                    <a:bodyPr/>
                    <a:lstStyle/>
                    <a:p>
                      <a:pPr indent="0" lvl="0" marL="0" marR="0" rtl="0" algn="l">
                        <a:lnSpc>
                          <a:spcPct val="100000"/>
                        </a:lnSpc>
                        <a:spcBef>
                          <a:spcPts val="0"/>
                        </a:spcBef>
                        <a:spcAft>
                          <a:spcPts val="0"/>
                        </a:spcAft>
                        <a:buNone/>
                      </a:pPr>
                      <a:r>
                        <a:rPr lang="en-US" sz="1400" u="none" cap="none" strike="noStrike"/>
                        <a:t>Displays a single-line text input field</a:t>
                      </a:r>
                      <a:endParaRPr/>
                    </a:p>
                  </a:txBody>
                  <a:tcPr marT="60950" marB="60950" marR="60950" marL="609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7E9EB"/>
                    </a:solidFill>
                  </a:tcPr>
                </a:tc>
              </a:tr>
              <a:tr h="177800">
                <a:tc>
                  <a:txBody>
                    <a:bodyPr/>
                    <a:lstStyle/>
                    <a:p>
                      <a:pPr indent="0" lvl="0" marL="0" marR="0" rtl="0" algn="l">
                        <a:lnSpc>
                          <a:spcPct val="100000"/>
                        </a:lnSpc>
                        <a:spcBef>
                          <a:spcPts val="0"/>
                        </a:spcBef>
                        <a:spcAft>
                          <a:spcPts val="0"/>
                        </a:spcAft>
                        <a:buNone/>
                      </a:pPr>
                      <a:r>
                        <a:rPr lang="en-US" sz="1400" u="none" cap="none" strike="noStrike"/>
                        <a:t>&lt;input type="radio"&gt;</a:t>
                      </a:r>
                      <a:endParaRPr/>
                    </a:p>
                  </a:txBody>
                  <a:tcPr marT="60950" marB="60950" marR="60950" marL="1219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US" sz="1400" u="none" cap="none" strike="noStrike"/>
                        <a:t>Displays a radio button (for selecting one of many choices)</a:t>
                      </a:r>
                      <a:endParaRPr/>
                    </a:p>
                  </a:txBody>
                  <a:tcPr marT="60950" marB="60950" marR="60950" marL="609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177800">
                <a:tc>
                  <a:txBody>
                    <a:bodyPr/>
                    <a:lstStyle/>
                    <a:p>
                      <a:pPr indent="0" lvl="0" marL="0" marR="0" rtl="0" algn="l">
                        <a:lnSpc>
                          <a:spcPct val="100000"/>
                        </a:lnSpc>
                        <a:spcBef>
                          <a:spcPts val="0"/>
                        </a:spcBef>
                        <a:spcAft>
                          <a:spcPts val="0"/>
                        </a:spcAft>
                        <a:buNone/>
                      </a:pPr>
                      <a:r>
                        <a:rPr lang="en-US" sz="1400" u="none" cap="none" strike="noStrike"/>
                        <a:t>&lt;input type="checkbox"&gt;</a:t>
                      </a:r>
                      <a:endParaRPr/>
                    </a:p>
                  </a:txBody>
                  <a:tcPr marT="60950" marB="60950" marR="60950" marL="1219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7E9EB"/>
                    </a:solidFill>
                  </a:tcPr>
                </a:tc>
                <a:tc>
                  <a:txBody>
                    <a:bodyPr/>
                    <a:lstStyle/>
                    <a:p>
                      <a:pPr indent="0" lvl="0" marL="0" marR="0" rtl="0" algn="l">
                        <a:lnSpc>
                          <a:spcPct val="100000"/>
                        </a:lnSpc>
                        <a:spcBef>
                          <a:spcPts val="0"/>
                        </a:spcBef>
                        <a:spcAft>
                          <a:spcPts val="0"/>
                        </a:spcAft>
                        <a:buNone/>
                      </a:pPr>
                      <a:r>
                        <a:rPr lang="en-US" sz="1400" u="none" cap="none" strike="noStrike"/>
                        <a:t>Displays a checkbox (for selecting zero or more of many choices)</a:t>
                      </a:r>
                      <a:endParaRPr/>
                    </a:p>
                  </a:txBody>
                  <a:tcPr marT="60950" marB="60950" marR="60950" marL="609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7E9EB"/>
                    </a:solidFill>
                  </a:tcPr>
                </a:tc>
              </a:tr>
              <a:tr h="177800">
                <a:tc>
                  <a:txBody>
                    <a:bodyPr/>
                    <a:lstStyle/>
                    <a:p>
                      <a:pPr indent="0" lvl="0" marL="0" marR="0" rtl="0" algn="l">
                        <a:lnSpc>
                          <a:spcPct val="100000"/>
                        </a:lnSpc>
                        <a:spcBef>
                          <a:spcPts val="0"/>
                        </a:spcBef>
                        <a:spcAft>
                          <a:spcPts val="0"/>
                        </a:spcAft>
                        <a:buNone/>
                      </a:pPr>
                      <a:r>
                        <a:rPr lang="en-US" sz="1400" u="none" cap="none" strike="noStrike"/>
                        <a:t>&lt;input type="submit"&gt;</a:t>
                      </a:r>
                      <a:endParaRPr/>
                    </a:p>
                  </a:txBody>
                  <a:tcPr marT="60950" marB="60950" marR="60950" marL="1219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US" sz="1400" u="none" cap="none" strike="noStrike"/>
                        <a:t>Displays a submit button (for submitting the form)</a:t>
                      </a:r>
                      <a:endParaRPr/>
                    </a:p>
                  </a:txBody>
                  <a:tcPr marT="60950" marB="60950" marR="60950" marL="609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177800">
                <a:tc>
                  <a:txBody>
                    <a:bodyPr/>
                    <a:lstStyle/>
                    <a:p>
                      <a:pPr indent="0" lvl="0" marL="0" marR="0" rtl="0" algn="l">
                        <a:lnSpc>
                          <a:spcPct val="100000"/>
                        </a:lnSpc>
                        <a:spcBef>
                          <a:spcPts val="0"/>
                        </a:spcBef>
                        <a:spcAft>
                          <a:spcPts val="0"/>
                        </a:spcAft>
                        <a:buNone/>
                      </a:pPr>
                      <a:r>
                        <a:rPr lang="en-US" sz="1400" u="none" cap="none" strike="noStrike"/>
                        <a:t>&lt;input type="button"&gt;</a:t>
                      </a:r>
                      <a:endParaRPr/>
                    </a:p>
                  </a:txBody>
                  <a:tcPr marT="60950" marB="60950" marR="60950" marL="1219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c>
                  <a:txBody>
                    <a:bodyPr/>
                    <a:lstStyle/>
                    <a:p>
                      <a:pPr indent="0" lvl="0" marL="0" marR="0" rtl="0" algn="l">
                        <a:lnSpc>
                          <a:spcPct val="100000"/>
                        </a:lnSpc>
                        <a:spcBef>
                          <a:spcPts val="0"/>
                        </a:spcBef>
                        <a:spcAft>
                          <a:spcPts val="0"/>
                        </a:spcAft>
                        <a:buNone/>
                      </a:pPr>
                      <a:r>
                        <a:rPr lang="en-US" sz="1400" u="none" cap="none" strike="noStrike"/>
                        <a:t>Displays a clickable button</a:t>
                      </a:r>
                      <a:endParaRPr/>
                    </a:p>
                  </a:txBody>
                  <a:tcPr marT="60950" marB="60950" marR="60950" marL="609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DDDDD"/>
                      </a:solidFill>
                      <a:prstDash val="solid"/>
                      <a:round/>
                      <a:headEnd len="sm" w="sm" type="none"/>
                      <a:tailEnd len="sm" w="sm" type="none"/>
                    </a:lnB>
                    <a:solidFill>
                      <a:srgbClr val="E7E9EB"/>
                    </a:solidFill>
                  </a:tcPr>
                </a:tc>
              </a:tr>
            </a:tbl>
          </a:graphicData>
        </a:graphic>
      </p:graphicFrame>
    </p:spTree>
  </p:cSld>
  <p:clrMapOvr>
    <a:masterClrMapping/>
  </p:clrMapOvr>
  <p:transition advTm="4000">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46"/>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The &lt;input&gt; tag</a:t>
            </a:r>
            <a:endParaRPr/>
          </a:p>
        </p:txBody>
      </p:sp>
      <p:sp>
        <p:nvSpPr>
          <p:cNvPr id="88" name="Google Shape;88;p46"/>
          <p:cNvSpPr txBox="1"/>
          <p:nvPr>
            <p:ph idx="1" type="subTitle"/>
          </p:nvPr>
        </p:nvSpPr>
        <p:spPr>
          <a:xfrm>
            <a:off x="533400" y="1371599"/>
            <a:ext cx="8153400" cy="5337313"/>
          </a:xfrm>
          <a:prstGeom prst="rect">
            <a:avLst/>
          </a:prstGeom>
          <a:noFill/>
          <a:ln>
            <a:noFill/>
          </a:ln>
        </p:spPr>
        <p:txBody>
          <a:bodyPr anchorCtr="0" anchor="t" bIns="45700" lIns="91425" spcFirstLastPara="1" rIns="91425" wrap="square" tIns="45700">
            <a:noAutofit/>
          </a:bodyPr>
          <a:lstStyle/>
          <a:p>
            <a:pPr indent="-349250" lvl="0" marL="349250" marR="868680" rtl="0" algn="l">
              <a:lnSpc>
                <a:spcPct val="100000"/>
              </a:lnSpc>
              <a:spcBef>
                <a:spcPts val="100"/>
              </a:spcBef>
              <a:spcAft>
                <a:spcPts val="0"/>
              </a:spcAft>
              <a:buClr>
                <a:srgbClr val="0099CC"/>
              </a:buClr>
              <a:buSzPts val="1450"/>
              <a:buFont typeface="Noto Sans Symbols"/>
              <a:buChar char="■"/>
            </a:pPr>
            <a:r>
              <a:rPr lang="en-US" sz="2400">
                <a:solidFill>
                  <a:schemeClr val="dk1"/>
                </a:solidFill>
              </a:rPr>
              <a:t>Most, but not all, form elements use the </a:t>
            </a:r>
            <a:r>
              <a:rPr lang="en-US" sz="2400">
                <a:solidFill>
                  <a:srgbClr val="3300FF"/>
                </a:solidFill>
                <a:latin typeface="Trebuchet MS"/>
                <a:ea typeface="Trebuchet MS"/>
                <a:cs typeface="Trebuchet MS"/>
                <a:sym typeface="Trebuchet MS"/>
              </a:rPr>
              <a:t>input </a:t>
            </a:r>
            <a:r>
              <a:rPr lang="en-US" sz="2400">
                <a:solidFill>
                  <a:schemeClr val="dk1"/>
                </a:solidFill>
              </a:rPr>
              <a:t>tag,</a:t>
            </a:r>
            <a:r>
              <a:rPr lang="en-US" sz="2400"/>
              <a:t> </a:t>
            </a:r>
            <a:r>
              <a:rPr lang="en-US" sz="2400">
                <a:solidFill>
                  <a:schemeClr val="dk1"/>
                </a:solidFill>
              </a:rPr>
              <a:t>with a </a:t>
            </a:r>
            <a:r>
              <a:rPr lang="en-US" sz="2400">
                <a:solidFill>
                  <a:srgbClr val="3300FF"/>
                </a:solidFill>
                <a:latin typeface="Trebuchet MS"/>
                <a:ea typeface="Trebuchet MS"/>
                <a:cs typeface="Trebuchet MS"/>
                <a:sym typeface="Trebuchet MS"/>
              </a:rPr>
              <a:t>type="..." </a:t>
            </a:r>
            <a:r>
              <a:rPr lang="en-US" sz="2400">
                <a:solidFill>
                  <a:schemeClr val="dk1"/>
                </a:solidFill>
              </a:rPr>
              <a:t>argument to tell which kind of element it is</a:t>
            </a:r>
            <a:endParaRPr/>
          </a:p>
          <a:p>
            <a:pPr indent="-287019" lvl="1" marL="763270" marR="5080" rtl="0" algn="l">
              <a:lnSpc>
                <a:spcPct val="100000"/>
              </a:lnSpc>
              <a:spcBef>
                <a:spcPts val="495"/>
              </a:spcBef>
              <a:spcAft>
                <a:spcPts val="0"/>
              </a:spcAft>
              <a:buClr>
                <a:srgbClr val="CC00CC"/>
              </a:buClr>
              <a:buSzPts val="880"/>
              <a:buFont typeface="Noto Sans Symbols"/>
              <a:buChar char="■"/>
            </a:pPr>
            <a:r>
              <a:rPr lang="en-US" sz="1600">
                <a:solidFill>
                  <a:srgbClr val="3300FF"/>
                </a:solidFill>
                <a:latin typeface="Trebuchet MS"/>
                <a:ea typeface="Trebuchet MS"/>
                <a:cs typeface="Trebuchet MS"/>
                <a:sym typeface="Trebuchet MS"/>
              </a:rPr>
              <a:t>type </a:t>
            </a:r>
            <a:r>
              <a:rPr lang="en-US" sz="1600">
                <a:latin typeface="Times New Roman"/>
                <a:ea typeface="Times New Roman"/>
                <a:cs typeface="Times New Roman"/>
                <a:sym typeface="Times New Roman"/>
              </a:rPr>
              <a:t>can be </a:t>
            </a:r>
            <a:r>
              <a:rPr lang="en-US" sz="1600">
                <a:solidFill>
                  <a:srgbClr val="3300FF"/>
                </a:solidFill>
                <a:latin typeface="Trebuchet MS"/>
                <a:ea typeface="Trebuchet MS"/>
                <a:cs typeface="Trebuchet MS"/>
                <a:sym typeface="Trebuchet MS"/>
              </a:rPr>
              <a:t>text</a:t>
            </a:r>
            <a:r>
              <a:rPr lang="en-US" sz="1600">
                <a:latin typeface="Times New Roman"/>
                <a:ea typeface="Times New Roman"/>
                <a:cs typeface="Times New Roman"/>
                <a:sym typeface="Times New Roman"/>
              </a:rPr>
              <a:t>, </a:t>
            </a:r>
            <a:r>
              <a:rPr lang="en-US" sz="1600">
                <a:solidFill>
                  <a:srgbClr val="3300FF"/>
                </a:solidFill>
                <a:latin typeface="Trebuchet MS"/>
                <a:ea typeface="Trebuchet MS"/>
                <a:cs typeface="Trebuchet MS"/>
                <a:sym typeface="Trebuchet MS"/>
              </a:rPr>
              <a:t>checkbox</a:t>
            </a:r>
            <a:r>
              <a:rPr lang="en-US" sz="1600">
                <a:latin typeface="Times New Roman"/>
                <a:ea typeface="Times New Roman"/>
                <a:cs typeface="Times New Roman"/>
                <a:sym typeface="Times New Roman"/>
              </a:rPr>
              <a:t>, </a:t>
            </a:r>
            <a:r>
              <a:rPr lang="en-US" sz="1600">
                <a:solidFill>
                  <a:srgbClr val="3300FF"/>
                </a:solidFill>
                <a:latin typeface="Trebuchet MS"/>
                <a:ea typeface="Trebuchet MS"/>
                <a:cs typeface="Trebuchet MS"/>
                <a:sym typeface="Trebuchet MS"/>
              </a:rPr>
              <a:t>radio</a:t>
            </a:r>
            <a:r>
              <a:rPr lang="en-US" sz="1600">
                <a:latin typeface="Times New Roman"/>
                <a:ea typeface="Times New Roman"/>
                <a:cs typeface="Times New Roman"/>
                <a:sym typeface="Times New Roman"/>
              </a:rPr>
              <a:t>, </a:t>
            </a:r>
            <a:r>
              <a:rPr lang="en-US" sz="1600">
                <a:solidFill>
                  <a:srgbClr val="3300FF"/>
                </a:solidFill>
                <a:latin typeface="Trebuchet MS"/>
                <a:ea typeface="Trebuchet MS"/>
                <a:cs typeface="Trebuchet MS"/>
                <a:sym typeface="Trebuchet MS"/>
              </a:rPr>
              <a:t>password</a:t>
            </a:r>
            <a:r>
              <a:rPr lang="en-US" sz="1600">
                <a:latin typeface="Times New Roman"/>
                <a:ea typeface="Times New Roman"/>
                <a:cs typeface="Times New Roman"/>
                <a:sym typeface="Times New Roman"/>
              </a:rPr>
              <a:t>, </a:t>
            </a:r>
            <a:r>
              <a:rPr lang="en-US" sz="1600">
                <a:solidFill>
                  <a:srgbClr val="3300FF"/>
                </a:solidFill>
                <a:latin typeface="Trebuchet MS"/>
                <a:ea typeface="Trebuchet MS"/>
                <a:cs typeface="Trebuchet MS"/>
                <a:sym typeface="Trebuchet MS"/>
              </a:rPr>
              <a:t>hidden</a:t>
            </a:r>
            <a:r>
              <a:rPr lang="en-US" sz="1600">
                <a:latin typeface="Times New Roman"/>
                <a:ea typeface="Times New Roman"/>
                <a:cs typeface="Times New Roman"/>
                <a:sym typeface="Times New Roman"/>
              </a:rPr>
              <a:t>, </a:t>
            </a:r>
            <a:r>
              <a:rPr lang="en-US" sz="1600">
                <a:solidFill>
                  <a:srgbClr val="3300FF"/>
                </a:solidFill>
                <a:latin typeface="Trebuchet MS"/>
                <a:ea typeface="Trebuchet MS"/>
                <a:cs typeface="Trebuchet MS"/>
                <a:sym typeface="Trebuchet MS"/>
              </a:rPr>
              <a:t>submit</a:t>
            </a:r>
            <a:r>
              <a:rPr lang="en-US" sz="1600">
                <a:latin typeface="Times New Roman"/>
                <a:ea typeface="Times New Roman"/>
                <a:cs typeface="Times New Roman"/>
                <a:sym typeface="Times New Roman"/>
              </a:rPr>
              <a:t>, </a:t>
            </a:r>
            <a:r>
              <a:rPr lang="en-US" sz="1600">
                <a:solidFill>
                  <a:srgbClr val="3300FF"/>
                </a:solidFill>
                <a:latin typeface="Trebuchet MS"/>
                <a:ea typeface="Trebuchet MS"/>
                <a:cs typeface="Trebuchet MS"/>
                <a:sym typeface="Trebuchet MS"/>
              </a:rPr>
              <a:t>reset</a:t>
            </a:r>
            <a:r>
              <a:rPr lang="en-US" sz="1600">
                <a:latin typeface="Times New Roman"/>
                <a:ea typeface="Times New Roman"/>
                <a:cs typeface="Times New Roman"/>
                <a:sym typeface="Times New Roman"/>
              </a:rPr>
              <a:t>,  </a:t>
            </a:r>
            <a:r>
              <a:rPr lang="en-US" sz="1600">
                <a:solidFill>
                  <a:srgbClr val="3300FF"/>
                </a:solidFill>
                <a:latin typeface="Trebuchet MS"/>
                <a:ea typeface="Trebuchet MS"/>
                <a:cs typeface="Trebuchet MS"/>
                <a:sym typeface="Trebuchet MS"/>
              </a:rPr>
              <a:t>button</a:t>
            </a:r>
            <a:r>
              <a:rPr lang="en-US" sz="1600">
                <a:latin typeface="Times New Roman"/>
                <a:ea typeface="Times New Roman"/>
                <a:cs typeface="Times New Roman"/>
                <a:sym typeface="Times New Roman"/>
              </a:rPr>
              <a:t>, </a:t>
            </a:r>
            <a:r>
              <a:rPr lang="en-US" sz="1600">
                <a:solidFill>
                  <a:srgbClr val="3300FF"/>
                </a:solidFill>
                <a:latin typeface="Trebuchet MS"/>
                <a:ea typeface="Trebuchet MS"/>
                <a:cs typeface="Trebuchet MS"/>
                <a:sym typeface="Trebuchet MS"/>
              </a:rPr>
              <a:t>file</a:t>
            </a:r>
            <a:r>
              <a:rPr lang="en-US" sz="1600">
                <a:latin typeface="Times New Roman"/>
                <a:ea typeface="Times New Roman"/>
                <a:cs typeface="Times New Roman"/>
                <a:sym typeface="Times New Roman"/>
              </a:rPr>
              <a:t>, or </a:t>
            </a:r>
            <a:r>
              <a:rPr lang="en-US" sz="1600">
                <a:solidFill>
                  <a:srgbClr val="3300FF"/>
                </a:solidFill>
                <a:latin typeface="Trebuchet MS"/>
                <a:ea typeface="Trebuchet MS"/>
                <a:cs typeface="Trebuchet MS"/>
                <a:sym typeface="Trebuchet MS"/>
              </a:rPr>
              <a:t>image</a:t>
            </a:r>
            <a:endParaRPr sz="1600">
              <a:latin typeface="Trebuchet MS"/>
              <a:ea typeface="Trebuchet MS"/>
              <a:cs typeface="Trebuchet MS"/>
              <a:sym typeface="Trebuchet MS"/>
            </a:endParaRPr>
          </a:p>
          <a:p>
            <a:pPr indent="-342900" lvl="0" marL="362585" rtl="0" algn="l">
              <a:lnSpc>
                <a:spcPct val="100000"/>
              </a:lnSpc>
              <a:spcBef>
                <a:spcPts val="565"/>
              </a:spcBef>
              <a:spcAft>
                <a:spcPts val="0"/>
              </a:spcAft>
              <a:buClr>
                <a:srgbClr val="0099CC"/>
              </a:buClr>
              <a:buSzPts val="1450"/>
              <a:buFont typeface="Noto Sans Symbols"/>
              <a:buChar char="■"/>
            </a:pPr>
            <a:r>
              <a:rPr lang="en-US" sz="2400">
                <a:solidFill>
                  <a:schemeClr val="dk1"/>
                </a:solidFill>
              </a:rPr>
              <a:t>Other common </a:t>
            </a:r>
            <a:r>
              <a:rPr lang="en-US" sz="2400">
                <a:solidFill>
                  <a:schemeClr val="dk1"/>
                </a:solidFill>
                <a:latin typeface="Trebuchet MS"/>
                <a:ea typeface="Trebuchet MS"/>
                <a:cs typeface="Trebuchet MS"/>
                <a:sym typeface="Trebuchet MS"/>
              </a:rPr>
              <a:t>input </a:t>
            </a:r>
            <a:r>
              <a:rPr lang="en-US" sz="2400">
                <a:solidFill>
                  <a:schemeClr val="dk1"/>
                </a:solidFill>
              </a:rPr>
              <a:t>tag arguments include:</a:t>
            </a:r>
            <a:endParaRPr/>
          </a:p>
          <a:p>
            <a:pPr indent="-287019" lvl="1" marL="763270" rtl="0" algn="l">
              <a:lnSpc>
                <a:spcPct val="100000"/>
              </a:lnSpc>
              <a:spcBef>
                <a:spcPts val="495"/>
              </a:spcBef>
              <a:spcAft>
                <a:spcPts val="0"/>
              </a:spcAft>
              <a:buClr>
                <a:srgbClr val="CC00CC"/>
              </a:buClr>
              <a:buSzPts val="1100"/>
              <a:buFont typeface="Noto Sans Symbols"/>
              <a:buChar char="■"/>
            </a:pPr>
            <a:r>
              <a:rPr lang="en-US" sz="2000">
                <a:solidFill>
                  <a:srgbClr val="3300FF"/>
                </a:solidFill>
                <a:latin typeface="Trebuchet MS"/>
                <a:ea typeface="Trebuchet MS"/>
                <a:cs typeface="Trebuchet MS"/>
                <a:sym typeface="Trebuchet MS"/>
              </a:rPr>
              <a:t>name</a:t>
            </a:r>
            <a:r>
              <a:rPr lang="en-US" sz="2000">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the name of the element</a:t>
            </a:r>
            <a:endParaRPr sz="2000">
              <a:solidFill>
                <a:schemeClr val="dk1"/>
              </a:solidFill>
              <a:latin typeface="Times New Roman"/>
              <a:ea typeface="Times New Roman"/>
              <a:cs typeface="Times New Roman"/>
              <a:sym typeface="Times New Roman"/>
            </a:endParaRPr>
          </a:p>
          <a:p>
            <a:pPr indent="-287019" lvl="1" marL="763270" marR="394970" rtl="0" algn="l">
              <a:lnSpc>
                <a:spcPct val="100000"/>
              </a:lnSpc>
              <a:spcBef>
                <a:spcPts val="480"/>
              </a:spcBef>
              <a:spcAft>
                <a:spcPts val="0"/>
              </a:spcAft>
              <a:buClr>
                <a:srgbClr val="CC00CC"/>
              </a:buClr>
              <a:buSzPts val="1100"/>
              <a:buFont typeface="Noto Sans Symbols"/>
              <a:buChar char="■"/>
            </a:pPr>
            <a:r>
              <a:rPr lang="en-US" sz="2000">
                <a:solidFill>
                  <a:srgbClr val="3300FF"/>
                </a:solidFill>
                <a:latin typeface="Trebuchet MS"/>
                <a:ea typeface="Trebuchet MS"/>
                <a:cs typeface="Trebuchet MS"/>
                <a:sym typeface="Trebuchet MS"/>
              </a:rPr>
              <a:t>value</a:t>
            </a:r>
            <a:r>
              <a:rPr lang="en-US" sz="2000">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the “value” of the element; used in different ways for different  values of </a:t>
            </a:r>
            <a:r>
              <a:rPr lang="en-US" sz="2000">
                <a:solidFill>
                  <a:srgbClr val="3300FF"/>
                </a:solidFill>
                <a:latin typeface="Trebuchet MS"/>
                <a:ea typeface="Trebuchet MS"/>
                <a:cs typeface="Trebuchet MS"/>
                <a:sym typeface="Trebuchet MS"/>
              </a:rPr>
              <a:t>type</a:t>
            </a:r>
            <a:endParaRPr sz="2000">
              <a:latin typeface="Trebuchet MS"/>
              <a:ea typeface="Trebuchet MS"/>
              <a:cs typeface="Trebuchet MS"/>
              <a:sym typeface="Trebuchet MS"/>
            </a:endParaRPr>
          </a:p>
          <a:p>
            <a:pPr indent="-287019" lvl="1" marL="763270" rtl="0" algn="l">
              <a:lnSpc>
                <a:spcPct val="100000"/>
              </a:lnSpc>
              <a:spcBef>
                <a:spcPts val="480"/>
              </a:spcBef>
              <a:spcAft>
                <a:spcPts val="0"/>
              </a:spcAft>
              <a:buClr>
                <a:srgbClr val="CC00CC"/>
              </a:buClr>
              <a:buSzPts val="1100"/>
              <a:buFont typeface="Noto Sans Symbols"/>
              <a:buChar char="■"/>
            </a:pPr>
            <a:r>
              <a:rPr lang="en-US" sz="2000">
                <a:solidFill>
                  <a:srgbClr val="3300FF"/>
                </a:solidFill>
                <a:latin typeface="Trebuchet MS"/>
                <a:ea typeface="Trebuchet MS"/>
                <a:cs typeface="Trebuchet MS"/>
                <a:sym typeface="Trebuchet MS"/>
              </a:rPr>
              <a:t>readonly</a:t>
            </a:r>
            <a:r>
              <a:rPr lang="en-US" sz="2000">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the value cannot be changed</a:t>
            </a:r>
            <a:endParaRPr/>
          </a:p>
          <a:p>
            <a:pPr indent="-287019" lvl="1" marL="763270" rtl="0" algn="l">
              <a:lnSpc>
                <a:spcPct val="100000"/>
              </a:lnSpc>
              <a:spcBef>
                <a:spcPts val="480"/>
              </a:spcBef>
              <a:spcAft>
                <a:spcPts val="0"/>
              </a:spcAft>
              <a:buClr>
                <a:srgbClr val="CC00CC"/>
              </a:buClr>
              <a:buSzPts val="1100"/>
              <a:buFont typeface="Noto Sans Symbols"/>
              <a:buChar char="■"/>
            </a:pPr>
            <a:r>
              <a:rPr lang="en-US" sz="2000">
                <a:solidFill>
                  <a:srgbClr val="3300FF"/>
                </a:solidFill>
                <a:latin typeface="Trebuchet MS"/>
                <a:ea typeface="Trebuchet MS"/>
                <a:cs typeface="Trebuchet MS"/>
                <a:sym typeface="Trebuchet MS"/>
              </a:rPr>
              <a:t>disabled</a:t>
            </a:r>
            <a:r>
              <a:rPr lang="en-US" sz="2000">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the user can’t do anything with this element</a:t>
            </a:r>
            <a:endParaRPr sz="2000">
              <a:solidFill>
                <a:schemeClr val="dk1"/>
              </a:solidFill>
              <a:latin typeface="Times New Roman"/>
              <a:ea typeface="Times New Roman"/>
              <a:cs typeface="Times New Roman"/>
              <a:sym typeface="Times New Roman"/>
            </a:endParaRPr>
          </a:p>
          <a:p>
            <a:pPr indent="-287019" lvl="1" marL="763270" rtl="0" algn="l">
              <a:lnSpc>
                <a:spcPct val="100000"/>
              </a:lnSpc>
              <a:spcBef>
                <a:spcPts val="480"/>
              </a:spcBef>
              <a:spcAft>
                <a:spcPts val="0"/>
              </a:spcAft>
              <a:buClr>
                <a:srgbClr val="CC00CC"/>
              </a:buClr>
              <a:buSzPts val="1100"/>
              <a:buFont typeface="Noto Sans Symbols"/>
              <a:buChar char="■"/>
            </a:pPr>
            <a:r>
              <a:rPr lang="en-US" sz="2000">
                <a:solidFill>
                  <a:schemeClr val="dk1"/>
                </a:solidFill>
                <a:latin typeface="Times New Roman"/>
                <a:ea typeface="Times New Roman"/>
                <a:cs typeface="Times New Roman"/>
                <a:sym typeface="Times New Roman"/>
              </a:rPr>
              <a:t>Other arguments are defined for the </a:t>
            </a:r>
            <a:r>
              <a:rPr b="1" lang="en-US" sz="2000">
                <a:solidFill>
                  <a:schemeClr val="dk1"/>
                </a:solidFill>
                <a:latin typeface="Trebuchet MS"/>
                <a:ea typeface="Trebuchet MS"/>
                <a:cs typeface="Trebuchet MS"/>
                <a:sym typeface="Trebuchet MS"/>
              </a:rPr>
              <a:t>input</a:t>
            </a:r>
            <a:r>
              <a:rPr lang="en-US" sz="2000">
                <a:solidFill>
                  <a:schemeClr val="dk1"/>
                </a:solidFill>
                <a:latin typeface="Trebuchet MS"/>
                <a:ea typeface="Trebuchet MS"/>
                <a:cs typeface="Trebuchet MS"/>
                <a:sym typeface="Trebuchet MS"/>
              </a:rPr>
              <a:t> </a:t>
            </a:r>
            <a:r>
              <a:rPr lang="en-US" sz="2000">
                <a:solidFill>
                  <a:schemeClr val="dk1"/>
                </a:solidFill>
                <a:latin typeface="Times New Roman"/>
                <a:ea typeface="Times New Roman"/>
                <a:cs typeface="Times New Roman"/>
                <a:sym typeface="Times New Roman"/>
              </a:rPr>
              <a:t>tag but have meaning only for </a:t>
            </a:r>
            <a:r>
              <a:rPr lang="en-US" sz="2000">
                <a:solidFill>
                  <a:schemeClr val="dk1"/>
                </a:solidFill>
              </a:rPr>
              <a:t>certain values of </a:t>
            </a:r>
            <a:r>
              <a:rPr b="1" lang="en-US" sz="2000">
                <a:solidFill>
                  <a:schemeClr val="dk1"/>
                </a:solidFill>
                <a:latin typeface="Trebuchet MS"/>
                <a:ea typeface="Trebuchet MS"/>
                <a:cs typeface="Trebuchet MS"/>
                <a:sym typeface="Trebuchet MS"/>
              </a:rPr>
              <a:t>type</a:t>
            </a:r>
            <a:endParaRPr b="1" sz="2000">
              <a:solidFill>
                <a:schemeClr val="dk1"/>
              </a:solidFill>
              <a:latin typeface="Trebuchet MS"/>
              <a:ea typeface="Trebuchet MS"/>
              <a:cs typeface="Trebuchet MS"/>
              <a:sym typeface="Trebuchet MS"/>
            </a:endParaRPr>
          </a:p>
          <a:p>
            <a:pPr indent="-431800" lvl="0" marL="457200" rtl="0" algn="l">
              <a:lnSpc>
                <a:spcPct val="100000"/>
              </a:lnSpc>
              <a:spcBef>
                <a:spcPts val="640"/>
              </a:spcBef>
              <a:spcAft>
                <a:spcPts val="0"/>
              </a:spcAft>
              <a:buSzPts val="3200"/>
              <a:buNone/>
            </a:pPr>
            <a:r>
              <a:t/>
            </a:r>
            <a:endParaRPr sz="2400"/>
          </a:p>
        </p:txBody>
      </p:sp>
    </p:spTree>
  </p:cSld>
  <p:clrMapOvr>
    <a:masterClrMapping/>
  </p:clrMapOvr>
  <p:transition advTm="4000">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47"/>
          <p:cNvSpPr txBox="1"/>
          <p:nvPr>
            <p:ph type="title"/>
          </p:nvPr>
        </p:nvSpPr>
        <p:spPr>
          <a:xfrm>
            <a:off x="1347890" y="148792"/>
            <a:ext cx="2091055" cy="517449"/>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95"/>
              </a:spcBef>
              <a:spcAft>
                <a:spcPts val="0"/>
              </a:spcAft>
              <a:buSzPts val="1400"/>
              <a:buNone/>
            </a:pPr>
            <a:r>
              <a:rPr b="1" lang="en-US"/>
              <a:t>Text input</a:t>
            </a:r>
            <a:endParaRPr/>
          </a:p>
        </p:txBody>
      </p:sp>
      <p:pic>
        <p:nvPicPr>
          <p:cNvPr id="94" name="Google Shape;94;p47"/>
          <p:cNvPicPr preferRelativeResize="0"/>
          <p:nvPr/>
        </p:nvPicPr>
        <p:blipFill rotWithShape="1">
          <a:blip r:embed="rId3">
            <a:alphaModFix/>
          </a:blip>
          <a:srcRect b="0" l="0" r="0" t="0"/>
          <a:stretch/>
        </p:blipFill>
        <p:spPr>
          <a:xfrm>
            <a:off x="1105154" y="2316967"/>
            <a:ext cx="4248241" cy="329658"/>
          </a:xfrm>
          <a:prstGeom prst="rect">
            <a:avLst/>
          </a:prstGeom>
          <a:noFill/>
          <a:ln>
            <a:noFill/>
          </a:ln>
        </p:spPr>
      </p:pic>
      <p:sp>
        <p:nvSpPr>
          <p:cNvPr id="95" name="Google Shape;95;p47"/>
          <p:cNvSpPr txBox="1"/>
          <p:nvPr/>
        </p:nvSpPr>
        <p:spPr>
          <a:xfrm>
            <a:off x="685291" y="1473453"/>
            <a:ext cx="8405748" cy="93679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i="0" lang="en-US" sz="2000" u="none" cap="none" strike="noStrike">
                <a:solidFill>
                  <a:srgbClr val="3300FF"/>
                </a:solidFill>
                <a:latin typeface="Trebuchet MS"/>
                <a:ea typeface="Trebuchet MS"/>
                <a:cs typeface="Trebuchet MS"/>
                <a:sym typeface="Trebuchet MS"/>
              </a:rPr>
              <a:t>A text field:</a:t>
            </a:r>
            <a:endParaRPr b="1" i="0" sz="2000" u="none" cap="none" strike="noStrike">
              <a:solidFill>
                <a:srgbClr val="000000"/>
              </a:solidFill>
              <a:latin typeface="Trebuchet MS"/>
              <a:ea typeface="Trebuchet MS"/>
              <a:cs typeface="Trebuchet MS"/>
              <a:sym typeface="Trebuchet MS"/>
            </a:endParaRPr>
          </a:p>
          <a:p>
            <a:pPr indent="0" lvl="0" marL="316865" marR="0" rtl="0" algn="l">
              <a:lnSpc>
                <a:spcPct val="100000"/>
              </a:lnSpc>
              <a:spcBef>
                <a:spcPts val="0"/>
              </a:spcBef>
              <a:spcAft>
                <a:spcPts val="0"/>
              </a:spcAft>
              <a:buNone/>
            </a:pPr>
            <a:r>
              <a:rPr b="0" i="0" lang="en-US" sz="2000" u="none" cap="none" strike="noStrike">
                <a:solidFill>
                  <a:schemeClr val="dk1"/>
                </a:solidFill>
                <a:latin typeface="Trebuchet MS"/>
                <a:ea typeface="Trebuchet MS"/>
                <a:cs typeface="Trebuchet MS"/>
                <a:sym typeface="Trebuchet MS"/>
              </a:rPr>
              <a:t>A text field&lt;input type="text" name="textfield" value="with an initial value"&gt;</a:t>
            </a:r>
            <a:endParaRPr/>
          </a:p>
        </p:txBody>
      </p:sp>
      <p:sp>
        <p:nvSpPr>
          <p:cNvPr id="96" name="Google Shape;96;p47"/>
          <p:cNvSpPr txBox="1"/>
          <p:nvPr/>
        </p:nvSpPr>
        <p:spPr>
          <a:xfrm>
            <a:off x="612140" y="3013710"/>
            <a:ext cx="7623809" cy="6362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i="0" lang="en-US" sz="2000" u="none" cap="none" strike="noStrike">
                <a:solidFill>
                  <a:srgbClr val="3300FF"/>
                </a:solidFill>
                <a:latin typeface="Trebuchet MS"/>
                <a:ea typeface="Trebuchet MS"/>
                <a:cs typeface="Trebuchet MS"/>
                <a:sym typeface="Trebuchet MS"/>
              </a:rPr>
              <a:t>A multi-line text field</a:t>
            </a:r>
            <a:endParaRPr b="1" i="0" sz="2000" u="none" cap="none" strike="noStrike">
              <a:solidFill>
                <a:srgbClr val="000000"/>
              </a:solidFill>
              <a:latin typeface="Trebuchet MS"/>
              <a:ea typeface="Trebuchet MS"/>
              <a:cs typeface="Trebuchet MS"/>
              <a:sym typeface="Trebuchet MS"/>
            </a:endParaRPr>
          </a:p>
          <a:p>
            <a:pPr indent="0" lvl="0" marL="317500" marR="0" rtl="0" algn="l">
              <a:lnSpc>
                <a:spcPct val="100000"/>
              </a:lnSpc>
              <a:spcBef>
                <a:spcPts val="0"/>
              </a:spcBef>
              <a:spcAft>
                <a:spcPts val="0"/>
              </a:spcAft>
              <a:buNone/>
            </a:pPr>
            <a:r>
              <a:rPr b="0" i="0" lang="en-US" sz="2000" u="none" cap="none" strike="noStrike">
                <a:solidFill>
                  <a:schemeClr val="dk1"/>
                </a:solidFill>
                <a:latin typeface="Trebuchet MS"/>
                <a:ea typeface="Trebuchet MS"/>
                <a:cs typeface="Trebuchet MS"/>
                <a:sym typeface="Trebuchet MS"/>
              </a:rPr>
              <a:t>&lt;textarea name="textarea" cols="24" rows="2"&gt;Hello&lt;/textarea&gt;</a:t>
            </a:r>
            <a:endParaRPr b="0" i="0" sz="2000" u="none" cap="none" strike="noStrike">
              <a:solidFill>
                <a:schemeClr val="dk1"/>
              </a:solidFill>
              <a:latin typeface="Trebuchet MS"/>
              <a:ea typeface="Trebuchet MS"/>
              <a:cs typeface="Trebuchet MS"/>
              <a:sym typeface="Trebuchet MS"/>
            </a:endParaRPr>
          </a:p>
        </p:txBody>
      </p:sp>
      <p:sp>
        <p:nvSpPr>
          <p:cNvPr id="97" name="Google Shape;97;p47"/>
          <p:cNvSpPr txBox="1"/>
          <p:nvPr/>
        </p:nvSpPr>
        <p:spPr>
          <a:xfrm>
            <a:off x="626465" y="4614164"/>
            <a:ext cx="8026045" cy="936154"/>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i="0" lang="en-US" sz="2000" u="none" cap="none" strike="noStrike">
                <a:solidFill>
                  <a:srgbClr val="3300FF"/>
                </a:solidFill>
                <a:latin typeface="Trebuchet MS"/>
                <a:ea typeface="Trebuchet MS"/>
                <a:cs typeface="Trebuchet MS"/>
                <a:sym typeface="Trebuchet MS"/>
              </a:rPr>
              <a:t>A password field:</a:t>
            </a:r>
            <a:endParaRPr b="1" i="0" sz="2000" u="none" cap="none" strike="noStrike">
              <a:solidFill>
                <a:srgbClr val="000000"/>
              </a:solidFill>
              <a:latin typeface="Trebuchet MS"/>
              <a:ea typeface="Trebuchet MS"/>
              <a:cs typeface="Trebuchet MS"/>
              <a:sym typeface="Trebuchet MS"/>
            </a:endParaRPr>
          </a:p>
          <a:p>
            <a:pPr indent="0" lvl="0" marL="317500" marR="0" rtl="0" algn="l">
              <a:lnSpc>
                <a:spcPct val="100000"/>
              </a:lnSpc>
              <a:spcBef>
                <a:spcPts val="0"/>
              </a:spcBef>
              <a:spcAft>
                <a:spcPts val="0"/>
              </a:spcAft>
              <a:buNone/>
            </a:pPr>
            <a:r>
              <a:rPr b="0" i="0" lang="en-US" sz="2000" u="none" cap="none" strike="noStrike">
                <a:solidFill>
                  <a:schemeClr val="dk1"/>
                </a:solidFill>
                <a:latin typeface="Trebuchet MS"/>
                <a:ea typeface="Trebuchet MS"/>
                <a:cs typeface="Trebuchet MS"/>
                <a:sym typeface="Trebuchet MS"/>
              </a:rPr>
              <a:t>A password field &lt;input type="password" name="textfield3" value="secret"&gt;</a:t>
            </a:r>
            <a:endParaRPr/>
          </a:p>
        </p:txBody>
      </p:sp>
      <p:pic>
        <p:nvPicPr>
          <p:cNvPr id="98" name="Google Shape;98;p47"/>
          <p:cNvPicPr preferRelativeResize="0"/>
          <p:nvPr/>
        </p:nvPicPr>
        <p:blipFill rotWithShape="1">
          <a:blip r:embed="rId4">
            <a:alphaModFix/>
          </a:blip>
          <a:srcRect b="0" l="0" r="0" t="0"/>
          <a:stretch/>
        </p:blipFill>
        <p:spPr>
          <a:xfrm>
            <a:off x="609600" y="5196840"/>
            <a:ext cx="5943600" cy="750337"/>
          </a:xfrm>
          <a:prstGeom prst="rect">
            <a:avLst/>
          </a:prstGeom>
          <a:noFill/>
          <a:ln>
            <a:noFill/>
          </a:ln>
        </p:spPr>
      </p:pic>
      <p:sp>
        <p:nvSpPr>
          <p:cNvPr id="99" name="Google Shape;99;p47"/>
          <p:cNvSpPr txBox="1"/>
          <p:nvPr/>
        </p:nvSpPr>
        <p:spPr>
          <a:xfrm>
            <a:off x="688340" y="5998870"/>
            <a:ext cx="7964170" cy="391160"/>
          </a:xfrm>
          <a:prstGeom prst="rect">
            <a:avLst/>
          </a:prstGeom>
          <a:noFill/>
          <a:ln>
            <a:noFill/>
          </a:ln>
        </p:spPr>
        <p:txBody>
          <a:bodyPr anchorCtr="0" anchor="t" bIns="0" lIns="0" spcFirstLastPara="1" rIns="0" wrap="square" tIns="12700">
            <a:spAutoFit/>
          </a:bodyPr>
          <a:lstStyle/>
          <a:p>
            <a:pPr indent="-182880" lvl="0" marL="194945"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Note that two of these use the </a:t>
            </a:r>
            <a:r>
              <a:rPr b="0" i="0" lang="en-US" sz="2400" u="none" cap="none" strike="noStrike">
                <a:solidFill>
                  <a:srgbClr val="3300FF"/>
                </a:solidFill>
                <a:latin typeface="Trebuchet MS"/>
                <a:ea typeface="Trebuchet MS"/>
                <a:cs typeface="Trebuchet MS"/>
                <a:sym typeface="Trebuchet MS"/>
              </a:rPr>
              <a:t>input </a:t>
            </a:r>
            <a:r>
              <a:rPr b="0" i="0" lang="en-US" sz="2400" u="none" cap="none" strike="noStrike">
                <a:solidFill>
                  <a:srgbClr val="000000"/>
                </a:solidFill>
                <a:latin typeface="Times New Roman"/>
                <a:ea typeface="Times New Roman"/>
                <a:cs typeface="Times New Roman"/>
                <a:sym typeface="Times New Roman"/>
              </a:rPr>
              <a:t>tag, but one uses </a:t>
            </a:r>
            <a:r>
              <a:rPr b="0" i="0" lang="en-US" sz="2400" u="none" cap="none" strike="noStrike">
                <a:solidFill>
                  <a:srgbClr val="3300FF"/>
                </a:solidFill>
                <a:latin typeface="Trebuchet MS"/>
                <a:ea typeface="Trebuchet MS"/>
                <a:cs typeface="Trebuchet MS"/>
                <a:sym typeface="Trebuchet MS"/>
              </a:rPr>
              <a:t>textarea</a:t>
            </a:r>
            <a:endParaRPr b="0" i="0" sz="2400" u="none" cap="none" strike="noStrike">
              <a:solidFill>
                <a:srgbClr val="000000"/>
              </a:solidFill>
              <a:latin typeface="Trebuchet MS"/>
              <a:ea typeface="Trebuchet MS"/>
              <a:cs typeface="Trebuchet MS"/>
              <a:sym typeface="Trebuchet MS"/>
            </a:endParaRPr>
          </a:p>
        </p:txBody>
      </p:sp>
      <p:pic>
        <p:nvPicPr>
          <p:cNvPr id="100" name="Google Shape;100;p47"/>
          <p:cNvPicPr preferRelativeResize="0"/>
          <p:nvPr/>
        </p:nvPicPr>
        <p:blipFill rotWithShape="1">
          <a:blip r:embed="rId5">
            <a:alphaModFix/>
          </a:blip>
          <a:srcRect b="0" l="0" r="0" t="0"/>
          <a:stretch/>
        </p:blipFill>
        <p:spPr>
          <a:xfrm>
            <a:off x="720290" y="3838891"/>
            <a:ext cx="5017970" cy="590404"/>
          </a:xfrm>
          <a:prstGeom prst="rect">
            <a:avLst/>
          </a:prstGeom>
          <a:noFill/>
          <a:ln>
            <a:noFill/>
          </a:ln>
        </p:spPr>
      </p:pic>
      <p:sp>
        <p:nvSpPr>
          <p:cNvPr id="101" name="Google Shape;101;p47"/>
          <p:cNvSpPr txBox="1"/>
          <p:nvPr>
            <p:ph idx="12" type="sldNum"/>
          </p:nvPr>
        </p:nvSpPr>
        <p:spPr>
          <a:xfrm>
            <a:off x="8816085" y="6597957"/>
            <a:ext cx="274954" cy="225425"/>
          </a:xfrm>
          <a:prstGeom prst="rect">
            <a:avLst/>
          </a:prstGeom>
          <a:noFill/>
          <a:ln>
            <a:noFill/>
          </a:ln>
        </p:spPr>
        <p:txBody>
          <a:bodyPr anchorCtr="0" anchor="t" bIns="0" lIns="0" spcFirstLastPara="1" rIns="0" wrap="square" tIns="0">
            <a:spAutoFit/>
          </a:bodyPr>
          <a:lstStyle/>
          <a:p>
            <a:pPr indent="0" lvl="0" marL="38100" marR="0" rtl="0" algn="l">
              <a:lnSpc>
                <a:spcPct val="118214"/>
              </a:lnSpc>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advTm="4000">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8"/>
          <p:cNvSpPr txBox="1"/>
          <p:nvPr>
            <p:ph type="title"/>
          </p:nvPr>
        </p:nvSpPr>
        <p:spPr>
          <a:xfrm>
            <a:off x="1305098" y="172687"/>
            <a:ext cx="1607185" cy="517449"/>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95"/>
              </a:spcBef>
              <a:spcAft>
                <a:spcPts val="0"/>
              </a:spcAft>
              <a:buSzPts val="1400"/>
              <a:buNone/>
            </a:pPr>
            <a:r>
              <a:rPr b="1" lang="en-US"/>
              <a:t>Buttons</a:t>
            </a:r>
            <a:endParaRPr/>
          </a:p>
        </p:txBody>
      </p:sp>
      <p:pic>
        <p:nvPicPr>
          <p:cNvPr id="107" name="Google Shape;107;p48"/>
          <p:cNvPicPr preferRelativeResize="0"/>
          <p:nvPr/>
        </p:nvPicPr>
        <p:blipFill rotWithShape="1">
          <a:blip r:embed="rId3">
            <a:alphaModFix/>
          </a:blip>
          <a:srcRect b="0" l="0" r="0" t="0"/>
          <a:stretch/>
        </p:blipFill>
        <p:spPr>
          <a:xfrm>
            <a:off x="872255" y="3675935"/>
            <a:ext cx="2472873" cy="1543726"/>
          </a:xfrm>
          <a:prstGeom prst="rect">
            <a:avLst/>
          </a:prstGeom>
          <a:noFill/>
          <a:ln>
            <a:noFill/>
          </a:ln>
        </p:spPr>
      </p:pic>
      <p:sp>
        <p:nvSpPr>
          <p:cNvPr id="108" name="Google Shape;108;p48"/>
          <p:cNvSpPr txBox="1"/>
          <p:nvPr/>
        </p:nvSpPr>
        <p:spPr>
          <a:xfrm>
            <a:off x="764540" y="1595374"/>
            <a:ext cx="7779384" cy="4610735"/>
          </a:xfrm>
          <a:prstGeom prst="rect">
            <a:avLst/>
          </a:prstGeom>
          <a:noFill/>
          <a:ln>
            <a:noFill/>
          </a:ln>
        </p:spPr>
        <p:txBody>
          <a:bodyPr anchorCtr="0" anchor="t" bIns="0" lIns="0" spcFirstLastPara="1" rIns="0" wrap="square" tIns="13325">
            <a:spAutoFit/>
          </a:bodyPr>
          <a:lstStyle/>
          <a:p>
            <a:pPr indent="-481965" lvl="0" marL="494030" marR="0" rtl="0" algn="l">
              <a:lnSpc>
                <a:spcPct val="114000"/>
              </a:lnSpc>
              <a:spcBef>
                <a:spcPts val="0"/>
              </a:spcBef>
              <a:spcAft>
                <a:spcPts val="0"/>
              </a:spcAft>
              <a:buClr>
                <a:srgbClr val="0099CC"/>
              </a:buClr>
              <a:buSzPts val="1200"/>
              <a:buFont typeface="Noto Sans Symbols"/>
              <a:buChar char="■"/>
            </a:pPr>
            <a:r>
              <a:rPr b="0" i="0" lang="en-US" sz="2000" u="none" cap="none" strike="noStrike">
                <a:solidFill>
                  <a:srgbClr val="3300FF"/>
                </a:solidFill>
                <a:latin typeface="Trebuchet MS"/>
                <a:ea typeface="Trebuchet MS"/>
                <a:cs typeface="Trebuchet MS"/>
                <a:sym typeface="Trebuchet MS"/>
              </a:rPr>
              <a:t>A submit button:</a:t>
            </a:r>
            <a:endParaRPr b="0" i="0" sz="2000" u="none" cap="none" strike="noStrike">
              <a:solidFill>
                <a:srgbClr val="000000"/>
              </a:solidFill>
              <a:latin typeface="Trebuchet MS"/>
              <a:ea typeface="Trebuchet MS"/>
              <a:cs typeface="Trebuchet MS"/>
              <a:sym typeface="Trebuchet MS"/>
            </a:endParaRPr>
          </a:p>
          <a:p>
            <a:pPr indent="0" lvl="0" marL="965200" marR="0" rtl="0" algn="l">
              <a:lnSpc>
                <a:spcPct val="114000"/>
              </a:lnSpc>
              <a:spcBef>
                <a:spcPts val="0"/>
              </a:spcBef>
              <a:spcAft>
                <a:spcPts val="0"/>
              </a:spcAft>
              <a:buNone/>
            </a:pPr>
            <a:r>
              <a:rPr b="0" i="0" lang="en-US" sz="2000" u="none" cap="none" strike="noStrike">
                <a:solidFill>
                  <a:schemeClr val="dk1"/>
                </a:solidFill>
                <a:latin typeface="Trebuchet MS"/>
                <a:ea typeface="Trebuchet MS"/>
                <a:cs typeface="Trebuchet MS"/>
                <a:sym typeface="Trebuchet MS"/>
              </a:rPr>
              <a:t>&lt;input type="submit" name="Submit" value="Submit"&gt;</a:t>
            </a:r>
            <a:endParaRPr/>
          </a:p>
          <a:p>
            <a:pPr indent="-343535" lvl="0" marL="355600" marR="0" rtl="0" algn="l">
              <a:lnSpc>
                <a:spcPct val="114000"/>
              </a:lnSpc>
              <a:spcBef>
                <a:spcPts val="240"/>
              </a:spcBef>
              <a:spcAft>
                <a:spcPts val="0"/>
              </a:spcAft>
              <a:buClr>
                <a:srgbClr val="0099CC"/>
              </a:buClr>
              <a:buSzPts val="1200"/>
              <a:buFont typeface="Noto Sans Symbols"/>
              <a:buChar char="■"/>
            </a:pPr>
            <a:r>
              <a:rPr b="0" i="0" lang="en-US" sz="2000" u="none" cap="none" strike="noStrike">
                <a:solidFill>
                  <a:srgbClr val="3300FF"/>
                </a:solidFill>
                <a:latin typeface="Trebuchet MS"/>
                <a:ea typeface="Trebuchet MS"/>
                <a:cs typeface="Trebuchet MS"/>
                <a:sym typeface="Trebuchet MS"/>
              </a:rPr>
              <a:t>A reset button:</a:t>
            </a:r>
            <a:endParaRPr b="0" i="0" sz="2000" u="none" cap="none" strike="noStrike">
              <a:solidFill>
                <a:srgbClr val="000000"/>
              </a:solidFill>
              <a:latin typeface="Trebuchet MS"/>
              <a:ea typeface="Trebuchet MS"/>
              <a:cs typeface="Trebuchet MS"/>
              <a:sym typeface="Trebuchet MS"/>
            </a:endParaRPr>
          </a:p>
          <a:p>
            <a:pPr indent="0" lvl="0" marL="965200" marR="0" rtl="0" algn="l">
              <a:lnSpc>
                <a:spcPct val="114000"/>
              </a:lnSpc>
              <a:spcBef>
                <a:spcPts val="0"/>
              </a:spcBef>
              <a:spcAft>
                <a:spcPts val="0"/>
              </a:spcAft>
              <a:buNone/>
            </a:pPr>
            <a:r>
              <a:rPr b="0" i="0" lang="en-US" sz="2000" u="none" cap="none" strike="noStrike">
                <a:solidFill>
                  <a:schemeClr val="dk1"/>
                </a:solidFill>
                <a:latin typeface="Trebuchet MS"/>
                <a:ea typeface="Trebuchet MS"/>
                <a:cs typeface="Trebuchet MS"/>
                <a:sym typeface="Trebuchet MS"/>
              </a:rPr>
              <a:t>&lt;input type="reset" name="Submit2" value="Reset"&gt;</a:t>
            </a:r>
            <a:endParaRPr b="0" i="0" sz="2000" u="none" cap="none" strike="noStrike">
              <a:solidFill>
                <a:schemeClr val="dk1"/>
              </a:solidFill>
              <a:latin typeface="Trebuchet MS"/>
              <a:ea typeface="Trebuchet MS"/>
              <a:cs typeface="Trebuchet MS"/>
              <a:sym typeface="Trebuchet MS"/>
            </a:endParaRPr>
          </a:p>
          <a:p>
            <a:pPr indent="-343535" lvl="0" marL="355600" marR="0" rtl="0" algn="l">
              <a:lnSpc>
                <a:spcPct val="114000"/>
              </a:lnSpc>
              <a:spcBef>
                <a:spcPts val="240"/>
              </a:spcBef>
              <a:spcAft>
                <a:spcPts val="0"/>
              </a:spcAft>
              <a:buClr>
                <a:srgbClr val="0099CC"/>
              </a:buClr>
              <a:buSzPts val="1200"/>
              <a:buFont typeface="Noto Sans Symbols"/>
              <a:buChar char="■"/>
            </a:pPr>
            <a:r>
              <a:rPr b="0" i="0" lang="en-US" sz="2000" u="none" cap="none" strike="noStrike">
                <a:solidFill>
                  <a:srgbClr val="3300FF"/>
                </a:solidFill>
                <a:latin typeface="Trebuchet MS"/>
                <a:ea typeface="Trebuchet MS"/>
                <a:cs typeface="Trebuchet MS"/>
                <a:sym typeface="Trebuchet MS"/>
              </a:rPr>
              <a:t>A plain button:</a:t>
            </a:r>
            <a:endParaRPr b="0" i="0" sz="2000" u="none" cap="none" strike="noStrike">
              <a:solidFill>
                <a:srgbClr val="000000"/>
              </a:solidFill>
              <a:latin typeface="Trebuchet MS"/>
              <a:ea typeface="Trebuchet MS"/>
              <a:cs typeface="Trebuchet MS"/>
              <a:sym typeface="Trebuchet MS"/>
            </a:endParaRPr>
          </a:p>
          <a:p>
            <a:pPr indent="0" lvl="0" marL="965200" marR="0" rtl="0" algn="l">
              <a:lnSpc>
                <a:spcPct val="114000"/>
              </a:lnSpc>
              <a:spcBef>
                <a:spcPts val="0"/>
              </a:spcBef>
              <a:spcAft>
                <a:spcPts val="0"/>
              </a:spcAft>
              <a:buNone/>
            </a:pPr>
            <a:r>
              <a:rPr b="0" i="0" lang="en-US" sz="2000" u="none" cap="none" strike="noStrike">
                <a:solidFill>
                  <a:schemeClr val="dk1"/>
                </a:solidFill>
                <a:latin typeface="Trebuchet MS"/>
                <a:ea typeface="Trebuchet MS"/>
                <a:cs typeface="Trebuchet MS"/>
                <a:sym typeface="Trebuchet MS"/>
              </a:rPr>
              <a:t>&lt;input type="button" name="Submit3" value="Push Me"&gt;</a:t>
            </a:r>
            <a:endParaRPr b="0" i="0" sz="20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45"/>
              </a:spcBef>
              <a:spcAft>
                <a:spcPts val="0"/>
              </a:spcAft>
              <a:buNone/>
            </a:pPr>
            <a:r>
              <a:t/>
            </a:r>
            <a:endParaRPr b="0" i="0" sz="1900" u="none" cap="none" strike="noStrike">
              <a:solidFill>
                <a:schemeClr val="dk1"/>
              </a:solidFill>
              <a:latin typeface="Trebuchet MS"/>
              <a:ea typeface="Trebuchet MS"/>
              <a:cs typeface="Trebuchet MS"/>
              <a:sym typeface="Trebuchet MS"/>
            </a:endParaRPr>
          </a:p>
          <a:p>
            <a:pPr indent="-342899" lvl="1" marL="3556634" marR="0" rtl="0" algn="l">
              <a:lnSpc>
                <a:spcPct val="100000"/>
              </a:lnSpc>
              <a:spcBef>
                <a:spcPts val="5"/>
              </a:spcBef>
              <a:spcAft>
                <a:spcPts val="0"/>
              </a:spcAft>
              <a:buClr>
                <a:srgbClr val="0099CC"/>
              </a:buClr>
              <a:buSzPts val="1450"/>
              <a:buFont typeface="Noto Sans Symbols"/>
              <a:buChar char="■"/>
            </a:pPr>
            <a:r>
              <a:rPr b="0" i="0" lang="en-US" sz="2400" u="none" cap="none" strike="noStrike">
                <a:solidFill>
                  <a:srgbClr val="3300FF"/>
                </a:solidFill>
                <a:latin typeface="Trebuchet MS"/>
                <a:ea typeface="Trebuchet MS"/>
                <a:cs typeface="Trebuchet MS"/>
                <a:sym typeface="Trebuchet MS"/>
              </a:rPr>
              <a:t>submit</a:t>
            </a:r>
            <a:r>
              <a:rPr b="0" i="0" lang="en-US" sz="2400" u="none" cap="none" strike="noStrike">
                <a:solidFill>
                  <a:srgbClr val="000000"/>
                </a:solidFill>
                <a:latin typeface="Times New Roman"/>
                <a:ea typeface="Times New Roman"/>
                <a:cs typeface="Times New Roman"/>
                <a:sym typeface="Times New Roman"/>
              </a:rPr>
              <a:t>: send data</a:t>
            </a:r>
            <a:endParaRPr/>
          </a:p>
          <a:p>
            <a:pPr indent="-342899" lvl="1" marL="3556634" marR="5080" rtl="0" algn="l">
              <a:lnSpc>
                <a:spcPct val="100000"/>
              </a:lnSpc>
              <a:spcBef>
                <a:spcPts val="1535"/>
              </a:spcBef>
              <a:spcAft>
                <a:spcPts val="0"/>
              </a:spcAft>
              <a:buClr>
                <a:srgbClr val="0099CC"/>
              </a:buClr>
              <a:buSzPts val="1450"/>
              <a:buFont typeface="Noto Sans Symbols"/>
              <a:buChar char="■"/>
            </a:pPr>
            <a:r>
              <a:rPr b="0" i="0" lang="en-US" sz="2400" u="none" cap="none" strike="noStrike">
                <a:solidFill>
                  <a:srgbClr val="3300FF"/>
                </a:solidFill>
                <a:latin typeface="Trebuchet MS"/>
                <a:ea typeface="Trebuchet MS"/>
                <a:cs typeface="Trebuchet MS"/>
                <a:sym typeface="Trebuchet MS"/>
              </a:rPr>
              <a:t>reset</a:t>
            </a:r>
            <a:r>
              <a:rPr b="0" i="0" lang="en-US" sz="2400" u="none" cap="none" strike="noStrike">
                <a:solidFill>
                  <a:srgbClr val="000000"/>
                </a:solidFill>
                <a:latin typeface="Times New Roman"/>
                <a:ea typeface="Times New Roman"/>
                <a:cs typeface="Times New Roman"/>
                <a:sym typeface="Times New Roman"/>
              </a:rPr>
              <a:t>: restore all form elements to  their initial state</a:t>
            </a:r>
            <a:endParaRPr/>
          </a:p>
          <a:p>
            <a:pPr indent="-342899" lvl="1" marL="3556634" marR="0" rtl="0" algn="l">
              <a:lnSpc>
                <a:spcPct val="100000"/>
              </a:lnSpc>
              <a:spcBef>
                <a:spcPts val="575"/>
              </a:spcBef>
              <a:spcAft>
                <a:spcPts val="0"/>
              </a:spcAft>
              <a:buClr>
                <a:srgbClr val="0099CC"/>
              </a:buClr>
              <a:buSzPts val="1450"/>
              <a:buFont typeface="Noto Sans Symbols"/>
              <a:buChar char="■"/>
            </a:pPr>
            <a:r>
              <a:rPr b="0" i="0" lang="en-US" sz="2400" u="none" cap="none" strike="noStrike">
                <a:solidFill>
                  <a:srgbClr val="3300FF"/>
                </a:solidFill>
                <a:latin typeface="Trebuchet MS"/>
                <a:ea typeface="Trebuchet MS"/>
                <a:cs typeface="Trebuchet MS"/>
                <a:sym typeface="Trebuchet MS"/>
              </a:rPr>
              <a:t>button</a:t>
            </a:r>
            <a:r>
              <a:rPr b="0" i="0" lang="en-US" sz="2400" u="none" cap="none" strike="noStrike">
                <a:solidFill>
                  <a:srgbClr val="000000"/>
                </a:solidFill>
                <a:latin typeface="Times New Roman"/>
                <a:ea typeface="Times New Roman"/>
                <a:cs typeface="Times New Roman"/>
                <a:sym typeface="Times New Roman"/>
              </a:rPr>
              <a:t>: take some action as</a:t>
            </a:r>
            <a:endParaRPr/>
          </a:p>
          <a:p>
            <a:pPr indent="0" lvl="0" marL="3556634" marR="0" rtl="0" algn="l">
              <a:lnSpc>
                <a:spcPct val="100000"/>
              </a:lnSpc>
              <a:spcBef>
                <a:spcPts val="5"/>
              </a:spcBef>
              <a:spcAft>
                <a:spcPts val="0"/>
              </a:spcAft>
              <a:buNone/>
            </a:pPr>
            <a:r>
              <a:rPr b="0" i="0" lang="en-US" sz="2400" u="none" cap="none" strike="noStrike">
                <a:solidFill>
                  <a:srgbClr val="000000"/>
                </a:solidFill>
                <a:latin typeface="Times New Roman"/>
                <a:ea typeface="Times New Roman"/>
                <a:cs typeface="Times New Roman"/>
                <a:sym typeface="Times New Roman"/>
              </a:rPr>
              <a:t>specified by JavaScript</a:t>
            </a:r>
            <a:endParaRPr/>
          </a:p>
          <a:p>
            <a:pPr indent="-183514" lvl="0" marL="271780" marR="0" rtl="0" algn="l">
              <a:lnSpc>
                <a:spcPct val="100000"/>
              </a:lnSpc>
              <a:spcBef>
                <a:spcPts val="285"/>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Note that the type is </a:t>
            </a:r>
            <a:r>
              <a:rPr b="0" i="0" lang="en-US" sz="2400" u="none" cap="none" strike="noStrike">
                <a:solidFill>
                  <a:srgbClr val="3300FF"/>
                </a:solidFill>
                <a:latin typeface="Trebuchet MS"/>
                <a:ea typeface="Trebuchet MS"/>
                <a:cs typeface="Trebuchet MS"/>
                <a:sym typeface="Trebuchet MS"/>
              </a:rPr>
              <a:t>input</a:t>
            </a:r>
            <a:r>
              <a:rPr b="0" i="0" lang="en-US" sz="2400" u="none" cap="none" strike="noStrike">
                <a:solidFill>
                  <a:srgbClr val="000000"/>
                </a:solidFill>
                <a:latin typeface="Times New Roman"/>
                <a:ea typeface="Times New Roman"/>
                <a:cs typeface="Times New Roman"/>
                <a:sym typeface="Times New Roman"/>
              </a:rPr>
              <a:t>, not “button”</a:t>
            </a:r>
            <a:endParaRPr/>
          </a:p>
        </p:txBody>
      </p:sp>
      <p:sp>
        <p:nvSpPr>
          <p:cNvPr id="109" name="Google Shape;109;p48"/>
          <p:cNvSpPr txBox="1"/>
          <p:nvPr>
            <p:ph idx="12" type="sldNum"/>
          </p:nvPr>
        </p:nvSpPr>
        <p:spPr>
          <a:xfrm>
            <a:off x="8816085" y="6597957"/>
            <a:ext cx="274954" cy="225425"/>
          </a:xfrm>
          <a:prstGeom prst="rect">
            <a:avLst/>
          </a:prstGeom>
          <a:noFill/>
          <a:ln>
            <a:noFill/>
          </a:ln>
        </p:spPr>
        <p:txBody>
          <a:bodyPr anchorCtr="0" anchor="t" bIns="0" lIns="0" spcFirstLastPara="1" rIns="0" wrap="square" tIns="0">
            <a:spAutoFit/>
          </a:bodyPr>
          <a:lstStyle/>
          <a:p>
            <a:pPr indent="0" lvl="0" marL="38100" marR="0" rtl="0" algn="l">
              <a:lnSpc>
                <a:spcPct val="118214"/>
              </a:lnSpc>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advTm="4000">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49"/>
          <p:cNvSpPr txBox="1"/>
          <p:nvPr>
            <p:ph type="title"/>
          </p:nvPr>
        </p:nvSpPr>
        <p:spPr>
          <a:xfrm>
            <a:off x="1298194" y="221461"/>
            <a:ext cx="2508885" cy="517449"/>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95"/>
              </a:spcBef>
              <a:spcAft>
                <a:spcPts val="0"/>
              </a:spcAft>
              <a:buSzPts val="1400"/>
              <a:buNone/>
            </a:pPr>
            <a:r>
              <a:rPr b="1" lang="en-US"/>
              <a:t>Checkboxes</a:t>
            </a:r>
            <a:endParaRPr/>
          </a:p>
        </p:txBody>
      </p:sp>
      <p:sp>
        <p:nvSpPr>
          <p:cNvPr id="115" name="Google Shape;115;p49"/>
          <p:cNvSpPr txBox="1"/>
          <p:nvPr/>
        </p:nvSpPr>
        <p:spPr>
          <a:xfrm>
            <a:off x="459740" y="1397253"/>
            <a:ext cx="7342477" cy="936795"/>
          </a:xfrm>
          <a:prstGeom prst="rect">
            <a:avLst/>
          </a:prstGeom>
          <a:noFill/>
          <a:ln>
            <a:noFill/>
          </a:ln>
        </p:spPr>
        <p:txBody>
          <a:bodyPr anchorCtr="0" anchor="t" bIns="0" lIns="0" spcFirstLastPara="1" rIns="0" wrap="square" tIns="13325">
            <a:spAutoFit/>
          </a:bodyPr>
          <a:lstStyle/>
          <a:p>
            <a:pPr indent="-342900" lvl="0" marL="355600" marR="0" rtl="0" algn="l">
              <a:lnSpc>
                <a:spcPct val="100000"/>
              </a:lnSpc>
              <a:spcBef>
                <a:spcPts val="0"/>
              </a:spcBef>
              <a:spcAft>
                <a:spcPts val="0"/>
              </a:spcAft>
              <a:buClr>
                <a:srgbClr val="0099CC"/>
              </a:buClr>
              <a:buSzPts val="1200"/>
              <a:buFont typeface="Noto Sans Symbols"/>
              <a:buChar char="■"/>
            </a:pPr>
            <a:r>
              <a:rPr b="0" i="0" lang="en-US" sz="2000" u="none" cap="none" strike="noStrike">
                <a:solidFill>
                  <a:srgbClr val="3300FF"/>
                </a:solidFill>
                <a:latin typeface="Trebuchet MS"/>
                <a:ea typeface="Trebuchet MS"/>
                <a:cs typeface="Trebuchet MS"/>
                <a:sym typeface="Trebuchet MS"/>
              </a:rPr>
              <a:t>A checkbox:</a:t>
            </a:r>
            <a:endParaRPr b="0" i="0" sz="2000" u="none" cap="none" strike="noStrike">
              <a:solidFill>
                <a:srgbClr val="000000"/>
              </a:solidFill>
              <a:latin typeface="Trebuchet MS"/>
              <a:ea typeface="Trebuchet MS"/>
              <a:cs typeface="Trebuchet MS"/>
              <a:sym typeface="Trebuchet MS"/>
            </a:endParaRPr>
          </a:p>
          <a:p>
            <a:pPr indent="0" lvl="0" marL="647700" marR="0" rtl="0" algn="ctr">
              <a:lnSpc>
                <a:spcPct val="119750"/>
              </a:lnSpc>
              <a:spcBef>
                <a:spcPts val="0"/>
              </a:spcBef>
              <a:spcAft>
                <a:spcPts val="0"/>
              </a:spcAft>
              <a:buNone/>
            </a:pPr>
            <a:r>
              <a:rPr b="0" i="0" lang="en-US" sz="2000" u="none" cap="none" strike="noStrike">
                <a:solidFill>
                  <a:schemeClr val="dk1"/>
                </a:solidFill>
                <a:latin typeface="Trebuchet MS"/>
                <a:ea typeface="Trebuchet MS"/>
                <a:cs typeface="Trebuchet MS"/>
                <a:sym typeface="Trebuchet MS"/>
              </a:rPr>
              <a:t>A checkbox &lt;input type="checkbox" name="checkbox”</a:t>
            </a:r>
            <a:endParaRPr b="0" i="0" sz="2000" u="none" cap="none" strike="noStrike">
              <a:solidFill>
                <a:schemeClr val="dk1"/>
              </a:solidFill>
              <a:latin typeface="Trebuchet MS"/>
              <a:ea typeface="Trebuchet MS"/>
              <a:cs typeface="Trebuchet MS"/>
              <a:sym typeface="Trebuchet MS"/>
            </a:endParaRPr>
          </a:p>
          <a:p>
            <a:pPr indent="0" lvl="0" marL="669290" marR="0" rtl="0" algn="ctr">
              <a:lnSpc>
                <a:spcPct val="119750"/>
              </a:lnSpc>
              <a:spcBef>
                <a:spcPts val="0"/>
              </a:spcBef>
              <a:spcAft>
                <a:spcPts val="0"/>
              </a:spcAft>
              <a:buNone/>
            </a:pPr>
            <a:r>
              <a:rPr b="0" i="0" lang="en-US" sz="2000" u="none" cap="none" strike="noStrike">
                <a:solidFill>
                  <a:schemeClr val="dk1"/>
                </a:solidFill>
                <a:latin typeface="Trebuchet MS"/>
                <a:ea typeface="Trebuchet MS"/>
                <a:cs typeface="Trebuchet MS"/>
                <a:sym typeface="Trebuchet MS"/>
              </a:rPr>
              <a:t>value="checkbox" checked&gt;</a:t>
            </a:r>
            <a:endParaRPr b="0" i="0" sz="2000" u="none" cap="none" strike="noStrike">
              <a:solidFill>
                <a:schemeClr val="dk1"/>
              </a:solidFill>
              <a:latin typeface="Trebuchet MS"/>
              <a:ea typeface="Trebuchet MS"/>
              <a:cs typeface="Trebuchet MS"/>
              <a:sym typeface="Trebuchet MS"/>
            </a:endParaRPr>
          </a:p>
        </p:txBody>
      </p:sp>
      <p:sp>
        <p:nvSpPr>
          <p:cNvPr id="116" name="Google Shape;116;p49"/>
          <p:cNvSpPr txBox="1"/>
          <p:nvPr/>
        </p:nvSpPr>
        <p:spPr>
          <a:xfrm>
            <a:off x="688340" y="3253485"/>
            <a:ext cx="7590155" cy="2147570"/>
          </a:xfrm>
          <a:prstGeom prst="rect">
            <a:avLst/>
          </a:prstGeom>
          <a:noFill/>
          <a:ln>
            <a:noFill/>
          </a:ln>
        </p:spPr>
        <p:txBody>
          <a:bodyPr anchorCtr="0" anchor="t" bIns="0" lIns="0" spcFirstLastPara="1" rIns="0" wrap="square" tIns="85725">
            <a:spAutoFit/>
          </a:bodyPr>
          <a:lstStyle/>
          <a:p>
            <a:pPr indent="-343535" lvl="0" marL="355600" marR="0" rtl="0" algn="l">
              <a:lnSpc>
                <a:spcPct val="100000"/>
              </a:lnSpc>
              <a:spcBef>
                <a:spcPts val="0"/>
              </a:spcBef>
              <a:spcAft>
                <a:spcPts val="0"/>
              </a:spcAft>
              <a:buClr>
                <a:srgbClr val="0099CC"/>
              </a:buClr>
              <a:buSzPts val="1450"/>
              <a:buFont typeface="Noto Sans Symbols"/>
              <a:buChar char="■"/>
            </a:pPr>
            <a:r>
              <a:rPr b="0" i="0" lang="en-US" sz="2400" u="none" cap="none" strike="noStrike">
                <a:solidFill>
                  <a:srgbClr val="3300FF"/>
                </a:solidFill>
                <a:latin typeface="Trebuchet MS"/>
                <a:ea typeface="Trebuchet MS"/>
                <a:cs typeface="Trebuchet MS"/>
                <a:sym typeface="Trebuchet MS"/>
              </a:rPr>
              <a:t>type</a:t>
            </a:r>
            <a:r>
              <a:rPr b="0" i="0" lang="en-US" sz="2400" u="none" cap="none" strike="noStrike">
                <a:solidFill>
                  <a:srgbClr val="3300FF"/>
                </a:solidFill>
                <a:latin typeface="Times New Roman"/>
                <a:ea typeface="Times New Roman"/>
                <a:cs typeface="Times New Roman"/>
                <a:sym typeface="Times New Roman"/>
              </a:rPr>
              <a:t>: </a:t>
            </a:r>
            <a:r>
              <a:rPr b="0" i="0" lang="en-US" sz="2400" u="none" cap="none" strike="noStrike">
                <a:solidFill>
                  <a:srgbClr val="3300FF"/>
                </a:solidFill>
                <a:latin typeface="Trebuchet MS"/>
                <a:ea typeface="Trebuchet MS"/>
                <a:cs typeface="Trebuchet MS"/>
                <a:sym typeface="Trebuchet MS"/>
              </a:rPr>
              <a:t>"checkbox"</a:t>
            </a:r>
            <a:endParaRPr b="0" i="0" sz="2400" u="none" cap="none" strike="noStrike">
              <a:solidFill>
                <a:srgbClr val="000000"/>
              </a:solidFill>
              <a:latin typeface="Trebuchet MS"/>
              <a:ea typeface="Trebuchet MS"/>
              <a:cs typeface="Trebuchet MS"/>
              <a:sym typeface="Trebuchet MS"/>
            </a:endParaRPr>
          </a:p>
          <a:p>
            <a:pPr indent="-343535" lvl="0" marL="355600" marR="0" rtl="0" algn="l">
              <a:lnSpc>
                <a:spcPct val="100000"/>
              </a:lnSpc>
              <a:spcBef>
                <a:spcPts val="575"/>
              </a:spcBef>
              <a:spcAft>
                <a:spcPts val="0"/>
              </a:spcAft>
              <a:buClr>
                <a:srgbClr val="0099CC"/>
              </a:buClr>
              <a:buSzPts val="1450"/>
              <a:buFont typeface="Noto Sans Symbols"/>
              <a:buChar char="■"/>
            </a:pPr>
            <a:r>
              <a:rPr b="0" i="0" lang="en-US" sz="2400" u="none" cap="none" strike="noStrike">
                <a:solidFill>
                  <a:srgbClr val="3300FF"/>
                </a:solidFill>
                <a:latin typeface="Trebuchet MS"/>
                <a:ea typeface="Trebuchet MS"/>
                <a:cs typeface="Trebuchet MS"/>
                <a:sym typeface="Trebuchet MS"/>
              </a:rPr>
              <a:t>name</a:t>
            </a:r>
            <a:r>
              <a:rPr b="0" i="0" lang="en-US" sz="2400" u="none" cap="none" strike="noStrike">
                <a:solidFill>
                  <a:srgbClr val="000000"/>
                </a:solidFill>
                <a:latin typeface="Times New Roman"/>
                <a:ea typeface="Times New Roman"/>
                <a:cs typeface="Times New Roman"/>
                <a:sym typeface="Times New Roman"/>
              </a:rPr>
              <a:t>: used to reference this form element from JavaScript</a:t>
            </a:r>
            <a:endParaRPr/>
          </a:p>
          <a:p>
            <a:pPr indent="-343535" lvl="0" marL="355600" marR="0" rtl="0" algn="l">
              <a:lnSpc>
                <a:spcPct val="100000"/>
              </a:lnSpc>
              <a:spcBef>
                <a:spcPts val="575"/>
              </a:spcBef>
              <a:spcAft>
                <a:spcPts val="0"/>
              </a:spcAft>
              <a:buClr>
                <a:srgbClr val="0099CC"/>
              </a:buClr>
              <a:buSzPts val="1450"/>
              <a:buFont typeface="Noto Sans Symbols"/>
              <a:buChar char="■"/>
            </a:pPr>
            <a:r>
              <a:rPr b="0" i="0" lang="en-US" sz="2400" u="none" cap="none" strike="noStrike">
                <a:solidFill>
                  <a:srgbClr val="3300FF"/>
                </a:solidFill>
                <a:latin typeface="Trebuchet MS"/>
                <a:ea typeface="Trebuchet MS"/>
                <a:cs typeface="Trebuchet MS"/>
                <a:sym typeface="Trebuchet MS"/>
              </a:rPr>
              <a:t>value</a:t>
            </a:r>
            <a:r>
              <a:rPr b="0" i="0" lang="en-US" sz="2400" u="none" cap="none" strike="noStrike">
                <a:solidFill>
                  <a:srgbClr val="000000"/>
                </a:solidFill>
                <a:latin typeface="Times New Roman"/>
                <a:ea typeface="Times New Roman"/>
                <a:cs typeface="Times New Roman"/>
                <a:sym typeface="Times New Roman"/>
              </a:rPr>
              <a:t>: value to be returned when element is checked</a:t>
            </a:r>
            <a:endParaRPr/>
          </a:p>
          <a:p>
            <a:pPr indent="-343535" lvl="0" marL="355600" marR="299720" rtl="0" algn="l">
              <a:lnSpc>
                <a:spcPct val="100000"/>
              </a:lnSpc>
              <a:spcBef>
                <a:spcPts val="580"/>
              </a:spcBef>
              <a:spcAft>
                <a:spcPts val="0"/>
              </a:spcAft>
              <a:buClr>
                <a:srgbClr val="0099CC"/>
              </a:buClr>
              <a:buSzPts val="1450"/>
              <a:buFont typeface="Noto Sans Symbols"/>
              <a:buChar char="■"/>
            </a:pPr>
            <a:r>
              <a:rPr b="0" i="0" lang="en-US" sz="2400" u="none" cap="none" strike="noStrike">
                <a:solidFill>
                  <a:srgbClr val="000000"/>
                </a:solidFill>
                <a:latin typeface="Times New Roman"/>
                <a:ea typeface="Times New Roman"/>
                <a:cs typeface="Times New Roman"/>
                <a:sym typeface="Times New Roman"/>
              </a:rPr>
              <a:t>Note that there is </a:t>
            </a:r>
            <a:r>
              <a:rPr b="0" i="1" lang="en-US" sz="2400" u="none" cap="none" strike="noStrike">
                <a:solidFill>
                  <a:srgbClr val="000000"/>
                </a:solidFill>
                <a:latin typeface="Times New Roman"/>
                <a:ea typeface="Times New Roman"/>
                <a:cs typeface="Times New Roman"/>
                <a:sym typeface="Times New Roman"/>
              </a:rPr>
              <a:t>no text </a:t>
            </a:r>
            <a:r>
              <a:rPr b="0" i="0" lang="en-US" sz="2400" u="none" cap="none" strike="noStrike">
                <a:solidFill>
                  <a:srgbClr val="000000"/>
                </a:solidFill>
                <a:latin typeface="Times New Roman"/>
                <a:ea typeface="Times New Roman"/>
                <a:cs typeface="Times New Roman"/>
                <a:sym typeface="Times New Roman"/>
              </a:rPr>
              <a:t>associated with the checkbox—  you have to supply text in the surrounding HTML</a:t>
            </a:r>
            <a:endParaRPr b="0" i="0" sz="2400" u="none" cap="none" strike="noStrike">
              <a:solidFill>
                <a:srgbClr val="000000"/>
              </a:solidFill>
              <a:latin typeface="Times New Roman"/>
              <a:ea typeface="Times New Roman"/>
              <a:cs typeface="Times New Roman"/>
              <a:sym typeface="Times New Roman"/>
            </a:endParaRPr>
          </a:p>
        </p:txBody>
      </p:sp>
      <p:pic>
        <p:nvPicPr>
          <p:cNvPr id="117" name="Google Shape;117;p49"/>
          <p:cNvPicPr preferRelativeResize="0"/>
          <p:nvPr/>
        </p:nvPicPr>
        <p:blipFill rotWithShape="1">
          <a:blip r:embed="rId3">
            <a:alphaModFix/>
          </a:blip>
          <a:srcRect b="0" l="0" r="0" t="0"/>
          <a:stretch/>
        </p:blipFill>
        <p:spPr>
          <a:xfrm>
            <a:off x="920576" y="2769797"/>
            <a:ext cx="1956448" cy="267272"/>
          </a:xfrm>
          <a:prstGeom prst="rect">
            <a:avLst/>
          </a:prstGeom>
          <a:noFill/>
          <a:ln>
            <a:noFill/>
          </a:ln>
        </p:spPr>
      </p:pic>
      <p:sp>
        <p:nvSpPr>
          <p:cNvPr id="118" name="Google Shape;118;p49"/>
          <p:cNvSpPr txBox="1"/>
          <p:nvPr>
            <p:ph idx="12" type="sldNum"/>
          </p:nvPr>
        </p:nvSpPr>
        <p:spPr>
          <a:xfrm>
            <a:off x="8816085" y="6597957"/>
            <a:ext cx="274954" cy="225425"/>
          </a:xfrm>
          <a:prstGeom prst="rect">
            <a:avLst/>
          </a:prstGeom>
          <a:noFill/>
          <a:ln>
            <a:noFill/>
          </a:ln>
        </p:spPr>
        <p:txBody>
          <a:bodyPr anchorCtr="0" anchor="t" bIns="0" lIns="0" spcFirstLastPara="1" rIns="0" wrap="square" tIns="0">
            <a:spAutoFit/>
          </a:bodyPr>
          <a:lstStyle/>
          <a:p>
            <a:pPr indent="0" lvl="0" marL="38100" marR="0" rtl="0" algn="l">
              <a:lnSpc>
                <a:spcPct val="118214"/>
              </a:lnSpc>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advTm="4000">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0"/>
          <p:cNvSpPr txBox="1"/>
          <p:nvPr>
            <p:ph type="title"/>
          </p:nvPr>
        </p:nvSpPr>
        <p:spPr>
          <a:xfrm>
            <a:off x="1308133" y="182981"/>
            <a:ext cx="2861310" cy="517449"/>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95"/>
              </a:spcBef>
              <a:spcAft>
                <a:spcPts val="0"/>
              </a:spcAft>
              <a:buSzPts val="1400"/>
              <a:buNone/>
            </a:pPr>
            <a:r>
              <a:rPr b="1" lang="en-US"/>
              <a:t>Radio buttons</a:t>
            </a:r>
            <a:endParaRPr/>
          </a:p>
        </p:txBody>
      </p:sp>
      <p:sp>
        <p:nvSpPr>
          <p:cNvPr id="124" name="Google Shape;124;p50"/>
          <p:cNvSpPr txBox="1"/>
          <p:nvPr/>
        </p:nvSpPr>
        <p:spPr>
          <a:xfrm>
            <a:off x="592262" y="1048722"/>
            <a:ext cx="8099425" cy="1462580"/>
          </a:xfrm>
          <a:prstGeom prst="rect">
            <a:avLst/>
          </a:prstGeom>
          <a:noFill/>
          <a:ln>
            <a:noFill/>
          </a:ln>
        </p:spPr>
        <p:txBody>
          <a:bodyPr anchorCtr="0" anchor="t" bIns="0" lIns="0" spcFirstLastPara="1" rIns="0" wrap="square" tIns="13325">
            <a:spAutoFit/>
          </a:bodyPr>
          <a:lstStyle/>
          <a:p>
            <a:pPr indent="0" lvl="0" marL="12700" marR="0" rtl="0" algn="l">
              <a:lnSpc>
                <a:spcPct val="114000"/>
              </a:lnSpc>
              <a:spcBef>
                <a:spcPts val="0"/>
              </a:spcBef>
              <a:spcAft>
                <a:spcPts val="0"/>
              </a:spcAft>
              <a:buNone/>
            </a:pPr>
            <a:r>
              <a:rPr b="0" i="0" lang="en-US" sz="2000" u="none" cap="none" strike="noStrike">
                <a:solidFill>
                  <a:schemeClr val="dk1"/>
                </a:solidFill>
                <a:latin typeface="Trebuchet MS"/>
                <a:ea typeface="Trebuchet MS"/>
                <a:cs typeface="Trebuchet MS"/>
                <a:sym typeface="Trebuchet MS"/>
              </a:rPr>
              <a:t>Radio buttons:&lt;br&gt;</a:t>
            </a:r>
            <a:endParaRPr b="0" i="0" sz="2000" u="none" cap="none" strike="noStrike">
              <a:solidFill>
                <a:schemeClr val="dk1"/>
              </a:solidFill>
              <a:latin typeface="Trebuchet MS"/>
              <a:ea typeface="Trebuchet MS"/>
              <a:cs typeface="Trebuchet MS"/>
              <a:sym typeface="Trebuchet MS"/>
            </a:endParaRPr>
          </a:p>
          <a:p>
            <a:pPr indent="0" lvl="0" marL="355600" marR="0" rtl="0" algn="l">
              <a:lnSpc>
                <a:spcPct val="108000"/>
              </a:lnSpc>
              <a:spcBef>
                <a:spcPts val="0"/>
              </a:spcBef>
              <a:spcAft>
                <a:spcPts val="0"/>
              </a:spcAft>
              <a:buNone/>
            </a:pPr>
            <a:r>
              <a:rPr b="0" i="0" lang="en-US" sz="2000" u="none" cap="none" strike="noStrike">
                <a:solidFill>
                  <a:schemeClr val="dk1"/>
                </a:solidFill>
                <a:latin typeface="Trebuchet MS"/>
                <a:ea typeface="Trebuchet MS"/>
                <a:cs typeface="Trebuchet MS"/>
                <a:sym typeface="Trebuchet MS"/>
              </a:rPr>
              <a:t>&lt;input type="radio" name="radiobutton" value="myValue1"&gt;</a:t>
            </a:r>
            <a:endParaRPr b="0" i="0" sz="2000" u="none" cap="none" strike="noStrike">
              <a:solidFill>
                <a:schemeClr val="dk1"/>
              </a:solidFill>
              <a:latin typeface="Trebuchet MS"/>
              <a:ea typeface="Trebuchet MS"/>
              <a:cs typeface="Trebuchet MS"/>
              <a:sym typeface="Trebuchet MS"/>
            </a:endParaRPr>
          </a:p>
          <a:p>
            <a:pPr indent="0" lvl="0" marL="355600" marR="0" rtl="0" algn="l">
              <a:lnSpc>
                <a:spcPct val="108000"/>
              </a:lnSpc>
              <a:spcBef>
                <a:spcPts val="0"/>
              </a:spcBef>
              <a:spcAft>
                <a:spcPts val="0"/>
              </a:spcAft>
              <a:buNone/>
            </a:pPr>
            <a:r>
              <a:rPr b="0" i="0" lang="en-US" sz="2000" u="none" cap="none" strike="noStrike">
                <a:solidFill>
                  <a:schemeClr val="dk1"/>
                </a:solidFill>
                <a:latin typeface="Trebuchet MS"/>
                <a:ea typeface="Trebuchet MS"/>
                <a:cs typeface="Trebuchet MS"/>
                <a:sym typeface="Trebuchet MS"/>
              </a:rPr>
              <a:t>male&lt;br&gt;</a:t>
            </a:r>
            <a:endParaRPr/>
          </a:p>
          <a:p>
            <a:pPr indent="0" lvl="0" marL="355600" marR="5080" rtl="0" algn="l">
              <a:lnSpc>
                <a:spcPct val="107500"/>
              </a:lnSpc>
              <a:spcBef>
                <a:spcPts val="155"/>
              </a:spcBef>
              <a:spcAft>
                <a:spcPts val="0"/>
              </a:spcAft>
              <a:buNone/>
            </a:pPr>
            <a:r>
              <a:rPr b="0" i="0" lang="en-US" sz="2000" u="none" cap="none" strike="noStrike">
                <a:solidFill>
                  <a:schemeClr val="dk1"/>
                </a:solidFill>
                <a:latin typeface="Trebuchet MS"/>
                <a:ea typeface="Trebuchet MS"/>
                <a:cs typeface="Trebuchet MS"/>
                <a:sym typeface="Trebuchet MS"/>
              </a:rPr>
              <a:t>&lt;input type="radio" name="radiobutton" value="myValue2" checked&gt;  female</a:t>
            </a:r>
            <a:endParaRPr/>
          </a:p>
        </p:txBody>
      </p:sp>
      <p:sp>
        <p:nvSpPr>
          <p:cNvPr id="125" name="Google Shape;125;p50"/>
          <p:cNvSpPr txBox="1"/>
          <p:nvPr/>
        </p:nvSpPr>
        <p:spPr>
          <a:xfrm>
            <a:off x="459740" y="4049014"/>
            <a:ext cx="8042275" cy="2367280"/>
          </a:xfrm>
          <a:prstGeom prst="rect">
            <a:avLst/>
          </a:prstGeom>
          <a:noFill/>
          <a:ln>
            <a:noFill/>
          </a:ln>
        </p:spPr>
        <p:txBody>
          <a:bodyPr anchorCtr="0" anchor="t" bIns="0" lIns="0" spcFirstLastPara="1" rIns="0" wrap="square" tIns="12700">
            <a:spAutoFit/>
          </a:bodyPr>
          <a:lstStyle/>
          <a:p>
            <a:pPr indent="-342900" lvl="0" marL="355600" marR="5080" rtl="0" algn="l">
              <a:lnSpc>
                <a:spcPct val="100000"/>
              </a:lnSpc>
              <a:spcBef>
                <a:spcPts val="0"/>
              </a:spcBef>
              <a:spcAft>
                <a:spcPts val="0"/>
              </a:spcAft>
              <a:buClr>
                <a:srgbClr val="0099CC"/>
              </a:buClr>
              <a:buSzPts val="1450"/>
              <a:buFont typeface="Noto Sans Symbols"/>
              <a:buChar char="■"/>
            </a:pPr>
            <a:r>
              <a:rPr b="0" i="0" lang="en-US" sz="2400" u="none" cap="none" strike="noStrike">
                <a:solidFill>
                  <a:srgbClr val="000000"/>
                </a:solidFill>
                <a:latin typeface="Times New Roman"/>
                <a:ea typeface="Times New Roman"/>
                <a:cs typeface="Times New Roman"/>
                <a:sym typeface="Times New Roman"/>
              </a:rPr>
              <a:t>If two or more radio buttons have the same </a:t>
            </a:r>
            <a:r>
              <a:rPr b="0" i="0" lang="en-US" sz="2400" u="none" cap="none" strike="noStrike">
                <a:solidFill>
                  <a:srgbClr val="3300FF"/>
                </a:solidFill>
                <a:latin typeface="Trebuchet MS"/>
                <a:ea typeface="Trebuchet MS"/>
                <a:cs typeface="Trebuchet MS"/>
                <a:sym typeface="Trebuchet MS"/>
              </a:rPr>
              <a:t>name</a:t>
            </a:r>
            <a:r>
              <a:rPr b="0" i="0" lang="en-US" sz="2400" u="none" cap="none" strike="noStrike">
                <a:solidFill>
                  <a:srgbClr val="000000"/>
                </a:solidFill>
                <a:latin typeface="Times New Roman"/>
                <a:ea typeface="Times New Roman"/>
                <a:cs typeface="Times New Roman"/>
                <a:sym typeface="Times New Roman"/>
              </a:rPr>
              <a:t>, the user can  only select one of them at a time</a:t>
            </a:r>
            <a:endParaRPr b="0" i="0" sz="2400" u="none" cap="none" strike="noStrike">
              <a:solidFill>
                <a:srgbClr val="000000"/>
              </a:solidFill>
              <a:latin typeface="Times New Roman"/>
              <a:ea typeface="Times New Roman"/>
              <a:cs typeface="Times New Roman"/>
              <a:sym typeface="Times New Roman"/>
            </a:endParaRPr>
          </a:p>
          <a:p>
            <a:pPr indent="-287019" lvl="1" marL="756285" marR="0" rtl="0" algn="l">
              <a:lnSpc>
                <a:spcPct val="100000"/>
              </a:lnSpc>
              <a:spcBef>
                <a:spcPts val="495"/>
              </a:spcBef>
              <a:spcAft>
                <a:spcPts val="0"/>
              </a:spcAft>
              <a:buClr>
                <a:srgbClr val="CC00CC"/>
              </a:buClr>
              <a:buSzPts val="1100"/>
              <a:buFont typeface="Noto Sans Symbols"/>
              <a:buChar char="■"/>
            </a:pPr>
            <a:r>
              <a:rPr b="0" i="0" lang="en-US" sz="2000" u="none" cap="none" strike="noStrike">
                <a:solidFill>
                  <a:srgbClr val="000000"/>
                </a:solidFill>
                <a:latin typeface="Times New Roman"/>
                <a:ea typeface="Times New Roman"/>
                <a:cs typeface="Times New Roman"/>
                <a:sym typeface="Times New Roman"/>
              </a:rPr>
              <a:t>This is how you make a radio button “group”</a:t>
            </a:r>
            <a:endParaRPr b="0" i="0" sz="2000" u="none" cap="none" strike="noStrike">
              <a:solidFill>
                <a:srgbClr val="000000"/>
              </a:solidFill>
              <a:latin typeface="Times New Roman"/>
              <a:ea typeface="Times New Roman"/>
              <a:cs typeface="Times New Roman"/>
              <a:sym typeface="Times New Roman"/>
            </a:endParaRPr>
          </a:p>
          <a:p>
            <a:pPr indent="-342900" lvl="0" marL="355600" marR="0" rtl="0" algn="l">
              <a:lnSpc>
                <a:spcPct val="100000"/>
              </a:lnSpc>
              <a:spcBef>
                <a:spcPts val="560"/>
              </a:spcBef>
              <a:spcAft>
                <a:spcPts val="0"/>
              </a:spcAft>
              <a:buClr>
                <a:srgbClr val="0099CC"/>
              </a:buClr>
              <a:buSzPts val="1450"/>
              <a:buFont typeface="Noto Sans Symbols"/>
              <a:buChar char="■"/>
            </a:pPr>
            <a:r>
              <a:rPr b="0" i="0" lang="en-US" sz="2400" u="none" cap="none" strike="noStrike">
                <a:solidFill>
                  <a:srgbClr val="000000"/>
                </a:solidFill>
                <a:latin typeface="Times New Roman"/>
                <a:ea typeface="Times New Roman"/>
                <a:cs typeface="Times New Roman"/>
                <a:sym typeface="Times New Roman"/>
              </a:rPr>
              <a:t>If you ask for the value of that </a:t>
            </a:r>
            <a:r>
              <a:rPr b="0" i="0" lang="en-US" sz="2400" u="none" cap="none" strike="noStrike">
                <a:solidFill>
                  <a:srgbClr val="3300FF"/>
                </a:solidFill>
                <a:latin typeface="Trebuchet MS"/>
                <a:ea typeface="Trebuchet MS"/>
                <a:cs typeface="Trebuchet MS"/>
                <a:sym typeface="Trebuchet MS"/>
              </a:rPr>
              <a:t>name</a:t>
            </a:r>
            <a:r>
              <a:rPr b="0" i="0" lang="en-US" sz="2400" u="none" cap="none" strike="noStrike">
                <a:solidFill>
                  <a:srgbClr val="000000"/>
                </a:solidFill>
                <a:latin typeface="Times New Roman"/>
                <a:ea typeface="Times New Roman"/>
                <a:cs typeface="Times New Roman"/>
                <a:sym typeface="Times New Roman"/>
              </a:rPr>
              <a:t>, you will get the </a:t>
            </a:r>
            <a:r>
              <a:rPr b="0" i="0" lang="en-US" sz="2400" u="none" cap="none" strike="noStrike">
                <a:solidFill>
                  <a:srgbClr val="3300FF"/>
                </a:solidFill>
                <a:latin typeface="Trebuchet MS"/>
                <a:ea typeface="Trebuchet MS"/>
                <a:cs typeface="Trebuchet MS"/>
                <a:sym typeface="Trebuchet MS"/>
              </a:rPr>
              <a:t>value</a:t>
            </a:r>
            <a:endParaRPr b="0" i="0" sz="2400" u="none" cap="none" strike="noStrike">
              <a:solidFill>
                <a:srgbClr val="000000"/>
              </a:solidFill>
              <a:latin typeface="Trebuchet MS"/>
              <a:ea typeface="Trebuchet MS"/>
              <a:cs typeface="Trebuchet MS"/>
              <a:sym typeface="Trebuchet MS"/>
            </a:endParaRPr>
          </a:p>
          <a:p>
            <a:pPr indent="0" lvl="0" marL="355600" marR="0" rtl="0" algn="l">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specified for the selected radio button</a:t>
            </a:r>
            <a:endParaRPr b="0" i="0" sz="2400" u="none" cap="none" strike="noStrike">
              <a:solidFill>
                <a:srgbClr val="000000"/>
              </a:solidFill>
              <a:latin typeface="Times New Roman"/>
              <a:ea typeface="Times New Roman"/>
              <a:cs typeface="Times New Roman"/>
              <a:sym typeface="Times New Roman"/>
            </a:endParaRPr>
          </a:p>
          <a:p>
            <a:pPr indent="-342900" lvl="0" marL="355600" marR="0" rtl="0" algn="l">
              <a:lnSpc>
                <a:spcPct val="100000"/>
              </a:lnSpc>
              <a:spcBef>
                <a:spcPts val="580"/>
              </a:spcBef>
              <a:spcAft>
                <a:spcPts val="0"/>
              </a:spcAft>
              <a:buClr>
                <a:srgbClr val="0099CC"/>
              </a:buClr>
              <a:buSzPts val="1450"/>
              <a:buFont typeface="Noto Sans Symbols"/>
              <a:buChar char="■"/>
            </a:pPr>
            <a:r>
              <a:rPr b="0" i="0" lang="en-US" sz="2400" u="none" cap="none" strike="noStrike">
                <a:solidFill>
                  <a:srgbClr val="000000"/>
                </a:solidFill>
                <a:latin typeface="Times New Roman"/>
                <a:ea typeface="Times New Roman"/>
                <a:cs typeface="Times New Roman"/>
                <a:sym typeface="Times New Roman"/>
              </a:rPr>
              <a:t>As with checkboxes, radio buttons do not contain any text</a:t>
            </a:r>
            <a:endParaRPr b="0" i="0" sz="2400" u="none" cap="none" strike="noStrike">
              <a:solidFill>
                <a:srgbClr val="000000"/>
              </a:solidFill>
              <a:latin typeface="Times New Roman"/>
              <a:ea typeface="Times New Roman"/>
              <a:cs typeface="Times New Roman"/>
              <a:sym typeface="Times New Roman"/>
            </a:endParaRPr>
          </a:p>
        </p:txBody>
      </p:sp>
      <p:pic>
        <p:nvPicPr>
          <p:cNvPr id="126" name="Google Shape;126;p50"/>
          <p:cNvPicPr preferRelativeResize="0"/>
          <p:nvPr/>
        </p:nvPicPr>
        <p:blipFill rotWithShape="1">
          <a:blip r:embed="rId3">
            <a:alphaModFix/>
          </a:blip>
          <a:srcRect b="0" l="0" r="0" t="0"/>
          <a:stretch/>
        </p:blipFill>
        <p:spPr>
          <a:xfrm>
            <a:off x="2256366" y="2984089"/>
            <a:ext cx="1759655" cy="919398"/>
          </a:xfrm>
          <a:prstGeom prst="rect">
            <a:avLst/>
          </a:prstGeom>
          <a:noFill/>
          <a:ln>
            <a:noFill/>
          </a:ln>
        </p:spPr>
      </p:pic>
      <p:sp>
        <p:nvSpPr>
          <p:cNvPr id="127" name="Google Shape;127;p50"/>
          <p:cNvSpPr txBox="1"/>
          <p:nvPr>
            <p:ph idx="12" type="sldNum"/>
          </p:nvPr>
        </p:nvSpPr>
        <p:spPr>
          <a:xfrm>
            <a:off x="8816085" y="6597957"/>
            <a:ext cx="274954" cy="225425"/>
          </a:xfrm>
          <a:prstGeom prst="rect">
            <a:avLst/>
          </a:prstGeom>
          <a:noFill/>
          <a:ln>
            <a:noFill/>
          </a:ln>
        </p:spPr>
        <p:txBody>
          <a:bodyPr anchorCtr="0" anchor="t" bIns="0" lIns="0" spcFirstLastPara="1" rIns="0" wrap="square" tIns="0">
            <a:spAutoFit/>
          </a:bodyPr>
          <a:lstStyle/>
          <a:p>
            <a:pPr indent="0" lvl="0" marL="38100" marR="0" rtl="0" algn="l">
              <a:lnSpc>
                <a:spcPct val="118214"/>
              </a:lnSpc>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advTm="4000">
    <p:c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1"/>
          <p:cNvSpPr txBox="1"/>
          <p:nvPr>
            <p:ph type="title"/>
          </p:nvPr>
        </p:nvSpPr>
        <p:spPr>
          <a:xfrm>
            <a:off x="1197282" y="131967"/>
            <a:ext cx="4921250" cy="517449"/>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95"/>
              </a:spcBef>
              <a:spcAft>
                <a:spcPts val="0"/>
              </a:spcAft>
              <a:buSzPts val="1400"/>
              <a:buNone/>
            </a:pPr>
            <a:r>
              <a:rPr b="1" lang="en-US"/>
              <a:t>Drop-down menu or list</a:t>
            </a:r>
            <a:endParaRPr/>
          </a:p>
        </p:txBody>
      </p:sp>
      <p:sp>
        <p:nvSpPr>
          <p:cNvPr id="133" name="Google Shape;133;p51"/>
          <p:cNvSpPr txBox="1"/>
          <p:nvPr/>
        </p:nvSpPr>
        <p:spPr>
          <a:xfrm>
            <a:off x="441412" y="1136098"/>
            <a:ext cx="5056505" cy="1731884"/>
          </a:xfrm>
          <a:prstGeom prst="rect">
            <a:avLst/>
          </a:prstGeom>
          <a:noFill/>
          <a:ln>
            <a:noFill/>
          </a:ln>
        </p:spPr>
        <p:txBody>
          <a:bodyPr anchorCtr="0" anchor="t" bIns="0" lIns="0" spcFirstLastPara="1" rIns="0" wrap="square" tIns="13325">
            <a:spAutoFit/>
          </a:bodyPr>
          <a:lstStyle/>
          <a:p>
            <a:pPr indent="-342900" lvl="0" marL="355600" marR="0" rtl="0" algn="l">
              <a:lnSpc>
                <a:spcPct val="114000"/>
              </a:lnSpc>
              <a:spcBef>
                <a:spcPts val="0"/>
              </a:spcBef>
              <a:spcAft>
                <a:spcPts val="0"/>
              </a:spcAft>
              <a:buClr>
                <a:srgbClr val="0099CC"/>
              </a:buClr>
              <a:buSzPts val="1200"/>
              <a:buFont typeface="Noto Sans Symbols"/>
              <a:buChar char="■"/>
            </a:pPr>
            <a:r>
              <a:rPr b="0" i="0" lang="en-US" sz="2000" u="none" cap="none" strike="noStrike">
                <a:solidFill>
                  <a:schemeClr val="dk1"/>
                </a:solidFill>
                <a:latin typeface="Trebuchet MS"/>
                <a:ea typeface="Trebuchet MS"/>
                <a:cs typeface="Trebuchet MS"/>
                <a:sym typeface="Trebuchet MS"/>
              </a:rPr>
              <a:t>A menu or list:</a:t>
            </a:r>
            <a:endParaRPr b="0" i="0" sz="2000" u="none" cap="none" strike="noStrike">
              <a:solidFill>
                <a:schemeClr val="dk1"/>
              </a:solidFill>
              <a:latin typeface="Trebuchet MS"/>
              <a:ea typeface="Trebuchet MS"/>
              <a:cs typeface="Trebuchet MS"/>
              <a:sym typeface="Trebuchet MS"/>
            </a:endParaRPr>
          </a:p>
          <a:p>
            <a:pPr indent="0" lvl="0" marL="355600" marR="0" rtl="0" algn="l">
              <a:lnSpc>
                <a:spcPct val="108000"/>
              </a:lnSpc>
              <a:spcBef>
                <a:spcPts val="0"/>
              </a:spcBef>
              <a:spcAft>
                <a:spcPts val="0"/>
              </a:spcAft>
              <a:buNone/>
            </a:pPr>
            <a:r>
              <a:rPr b="0" i="0" lang="en-US" sz="2000" u="none" cap="none" strike="noStrike">
                <a:solidFill>
                  <a:schemeClr val="dk1"/>
                </a:solidFill>
                <a:latin typeface="Trebuchet MS"/>
                <a:ea typeface="Trebuchet MS"/>
                <a:cs typeface="Trebuchet MS"/>
                <a:sym typeface="Trebuchet MS"/>
              </a:rPr>
              <a:t>&lt;select name="select"&gt;</a:t>
            </a:r>
            <a:endParaRPr b="0" i="0" sz="2000" u="none" cap="none" strike="noStrike">
              <a:solidFill>
                <a:schemeClr val="dk1"/>
              </a:solidFill>
              <a:latin typeface="Trebuchet MS"/>
              <a:ea typeface="Trebuchet MS"/>
              <a:cs typeface="Trebuchet MS"/>
              <a:sym typeface="Trebuchet MS"/>
            </a:endParaRPr>
          </a:p>
          <a:p>
            <a:pPr indent="0" lvl="0" marL="660400" marR="0" rtl="0" algn="l">
              <a:lnSpc>
                <a:spcPct val="108000"/>
              </a:lnSpc>
              <a:spcBef>
                <a:spcPts val="0"/>
              </a:spcBef>
              <a:spcAft>
                <a:spcPts val="0"/>
              </a:spcAft>
              <a:buNone/>
            </a:pPr>
            <a:r>
              <a:rPr b="0" i="0" lang="en-US" sz="2000" u="none" cap="none" strike="noStrike">
                <a:solidFill>
                  <a:schemeClr val="dk1"/>
                </a:solidFill>
                <a:latin typeface="Trebuchet MS"/>
                <a:ea typeface="Trebuchet MS"/>
                <a:cs typeface="Trebuchet MS"/>
                <a:sym typeface="Trebuchet MS"/>
              </a:rPr>
              <a:t>&lt;option value="red"&gt;red&lt;/option&gt;</a:t>
            </a:r>
            <a:endParaRPr b="0" i="0" sz="2000" u="none" cap="none" strike="noStrike">
              <a:solidFill>
                <a:schemeClr val="dk1"/>
              </a:solidFill>
              <a:latin typeface="Trebuchet MS"/>
              <a:ea typeface="Trebuchet MS"/>
              <a:cs typeface="Trebuchet MS"/>
              <a:sym typeface="Trebuchet MS"/>
            </a:endParaRPr>
          </a:p>
          <a:p>
            <a:pPr indent="0" lvl="0" marL="660400" marR="0" rtl="0" algn="l">
              <a:lnSpc>
                <a:spcPct val="108000"/>
              </a:lnSpc>
              <a:spcBef>
                <a:spcPts val="0"/>
              </a:spcBef>
              <a:spcAft>
                <a:spcPts val="0"/>
              </a:spcAft>
              <a:buNone/>
            </a:pPr>
            <a:r>
              <a:rPr b="0" i="0" lang="en-US" sz="2000" u="none" cap="none" strike="noStrike">
                <a:solidFill>
                  <a:schemeClr val="dk1"/>
                </a:solidFill>
                <a:latin typeface="Trebuchet MS"/>
                <a:ea typeface="Trebuchet MS"/>
                <a:cs typeface="Trebuchet MS"/>
                <a:sym typeface="Trebuchet MS"/>
              </a:rPr>
              <a:t>&lt;option value="green"&gt;green&lt;/option&gt;</a:t>
            </a:r>
            <a:endParaRPr b="0" i="0" sz="2000" u="none" cap="none" strike="noStrike">
              <a:solidFill>
                <a:schemeClr val="dk1"/>
              </a:solidFill>
              <a:latin typeface="Trebuchet MS"/>
              <a:ea typeface="Trebuchet MS"/>
              <a:cs typeface="Trebuchet MS"/>
              <a:sym typeface="Trebuchet MS"/>
            </a:endParaRPr>
          </a:p>
          <a:p>
            <a:pPr indent="0" lvl="0" marL="660400" marR="0" rtl="0" algn="l">
              <a:lnSpc>
                <a:spcPct val="107750"/>
              </a:lnSpc>
              <a:spcBef>
                <a:spcPts val="0"/>
              </a:spcBef>
              <a:spcAft>
                <a:spcPts val="0"/>
              </a:spcAft>
              <a:buNone/>
            </a:pPr>
            <a:r>
              <a:rPr b="0" i="0" lang="en-US" sz="2000" u="none" cap="none" strike="noStrike">
                <a:solidFill>
                  <a:schemeClr val="dk1"/>
                </a:solidFill>
                <a:latin typeface="Trebuchet MS"/>
                <a:ea typeface="Trebuchet MS"/>
                <a:cs typeface="Trebuchet MS"/>
                <a:sym typeface="Trebuchet MS"/>
              </a:rPr>
              <a:t>&lt;option value="BLUE"&gt;blue&lt;/option&gt;</a:t>
            </a:r>
            <a:endParaRPr b="0" i="0" sz="2000" u="none" cap="none" strike="noStrike">
              <a:solidFill>
                <a:schemeClr val="dk1"/>
              </a:solidFill>
              <a:latin typeface="Trebuchet MS"/>
              <a:ea typeface="Trebuchet MS"/>
              <a:cs typeface="Trebuchet MS"/>
              <a:sym typeface="Trebuchet MS"/>
            </a:endParaRPr>
          </a:p>
          <a:p>
            <a:pPr indent="0" lvl="0" marL="355600" marR="0" rtl="0" algn="l">
              <a:lnSpc>
                <a:spcPct val="113750"/>
              </a:lnSpc>
              <a:spcBef>
                <a:spcPts val="0"/>
              </a:spcBef>
              <a:spcAft>
                <a:spcPts val="0"/>
              </a:spcAft>
              <a:buNone/>
            </a:pPr>
            <a:r>
              <a:rPr b="0" i="0" lang="en-US" sz="2000" u="none" cap="none" strike="noStrike">
                <a:solidFill>
                  <a:schemeClr val="dk1"/>
                </a:solidFill>
                <a:latin typeface="Trebuchet MS"/>
                <a:ea typeface="Trebuchet MS"/>
                <a:cs typeface="Trebuchet MS"/>
                <a:sym typeface="Trebuchet MS"/>
              </a:rPr>
              <a:t>&lt;/select&gt;</a:t>
            </a:r>
            <a:endParaRPr/>
          </a:p>
        </p:txBody>
      </p:sp>
      <p:sp>
        <p:nvSpPr>
          <p:cNvPr id="134" name="Google Shape;134;p51"/>
          <p:cNvSpPr txBox="1"/>
          <p:nvPr/>
        </p:nvSpPr>
        <p:spPr>
          <a:xfrm>
            <a:off x="688340" y="4217587"/>
            <a:ext cx="7218045" cy="1504315"/>
          </a:xfrm>
          <a:prstGeom prst="rect">
            <a:avLst/>
          </a:prstGeom>
          <a:noFill/>
          <a:ln>
            <a:noFill/>
          </a:ln>
        </p:spPr>
        <p:txBody>
          <a:bodyPr anchorCtr="0" anchor="t" bIns="0" lIns="0" spcFirstLastPara="1" rIns="0" wrap="square" tIns="86975">
            <a:spAutoFit/>
          </a:bodyPr>
          <a:lstStyle/>
          <a:p>
            <a:pPr indent="-343535" lvl="0" marL="355600" marR="0" rtl="0" algn="l">
              <a:lnSpc>
                <a:spcPct val="100000"/>
              </a:lnSpc>
              <a:spcBef>
                <a:spcPts val="0"/>
              </a:spcBef>
              <a:spcAft>
                <a:spcPts val="0"/>
              </a:spcAft>
              <a:buClr>
                <a:srgbClr val="0099CC"/>
              </a:buClr>
              <a:buSzPts val="1450"/>
              <a:buFont typeface="Noto Sans Symbols"/>
              <a:buChar char="■"/>
            </a:pPr>
            <a:r>
              <a:rPr b="0" i="0" lang="en-US" sz="2400" u="none" cap="none" strike="noStrike">
                <a:solidFill>
                  <a:srgbClr val="000000"/>
                </a:solidFill>
                <a:latin typeface="Times New Roman"/>
                <a:ea typeface="Times New Roman"/>
                <a:cs typeface="Times New Roman"/>
                <a:sym typeface="Times New Roman"/>
              </a:rPr>
              <a:t>Additional arguments:</a:t>
            </a:r>
            <a:endParaRPr b="0" i="0" sz="2400" u="none" cap="none" strike="noStrike">
              <a:solidFill>
                <a:srgbClr val="000000"/>
              </a:solidFill>
              <a:latin typeface="Times New Roman"/>
              <a:ea typeface="Times New Roman"/>
              <a:cs typeface="Times New Roman"/>
              <a:sym typeface="Times New Roman"/>
            </a:endParaRPr>
          </a:p>
          <a:p>
            <a:pPr indent="-287019" lvl="1" marL="756285" marR="0" rtl="0" algn="l">
              <a:lnSpc>
                <a:spcPct val="100000"/>
              </a:lnSpc>
              <a:spcBef>
                <a:spcPts val="495"/>
              </a:spcBef>
              <a:spcAft>
                <a:spcPts val="0"/>
              </a:spcAft>
              <a:buClr>
                <a:srgbClr val="CC00CC"/>
              </a:buClr>
              <a:buSzPts val="1100"/>
              <a:buFont typeface="Noto Sans Symbols"/>
              <a:buChar char="■"/>
            </a:pPr>
            <a:r>
              <a:rPr b="0" i="0" lang="en-US" sz="2000" u="none" cap="none" strike="noStrike">
                <a:solidFill>
                  <a:srgbClr val="3300FF"/>
                </a:solidFill>
                <a:latin typeface="Trebuchet MS"/>
                <a:ea typeface="Trebuchet MS"/>
                <a:cs typeface="Trebuchet MS"/>
                <a:sym typeface="Trebuchet MS"/>
              </a:rPr>
              <a:t>size</a:t>
            </a:r>
            <a:r>
              <a:rPr b="0" i="0" lang="en-US" sz="2000" u="none" cap="none" strike="noStrike">
                <a:solidFill>
                  <a:srgbClr val="000000"/>
                </a:solidFill>
                <a:latin typeface="Times New Roman"/>
                <a:ea typeface="Times New Roman"/>
                <a:cs typeface="Times New Roman"/>
                <a:sym typeface="Times New Roman"/>
              </a:rPr>
              <a:t>: the number of items visible in the list (default is </a:t>
            </a:r>
            <a:r>
              <a:rPr b="0" i="0" lang="en-US" sz="2000" u="none" cap="none" strike="noStrike">
                <a:solidFill>
                  <a:srgbClr val="3300FF"/>
                </a:solidFill>
                <a:latin typeface="Trebuchet MS"/>
                <a:ea typeface="Trebuchet MS"/>
                <a:cs typeface="Trebuchet MS"/>
                <a:sym typeface="Trebuchet MS"/>
              </a:rPr>
              <a:t>"1"</a:t>
            </a:r>
            <a:r>
              <a:rPr b="0" i="0" lang="en-US" sz="2000" u="none" cap="none" strike="noStrike">
                <a:solidFill>
                  <a:srgbClr val="000000"/>
                </a:solidFill>
                <a:latin typeface="Times New Roman"/>
                <a:ea typeface="Times New Roman"/>
                <a:cs typeface="Times New Roman"/>
                <a:sym typeface="Times New Roman"/>
              </a:rPr>
              <a:t>)</a:t>
            </a:r>
            <a:endParaRPr/>
          </a:p>
          <a:p>
            <a:pPr indent="-287019" lvl="1" marL="756285" marR="5080" rtl="0" algn="l">
              <a:lnSpc>
                <a:spcPct val="100000"/>
              </a:lnSpc>
              <a:spcBef>
                <a:spcPts val="484"/>
              </a:spcBef>
              <a:spcAft>
                <a:spcPts val="0"/>
              </a:spcAft>
              <a:buClr>
                <a:srgbClr val="CC00CC"/>
              </a:buClr>
              <a:buSzPts val="1100"/>
              <a:buFont typeface="Noto Sans Symbols"/>
              <a:buChar char="■"/>
            </a:pPr>
            <a:r>
              <a:rPr b="0" i="0" lang="en-US" sz="2000" u="none" cap="none" strike="noStrike">
                <a:solidFill>
                  <a:srgbClr val="3300FF"/>
                </a:solidFill>
                <a:latin typeface="Trebuchet MS"/>
                <a:ea typeface="Trebuchet MS"/>
                <a:cs typeface="Trebuchet MS"/>
                <a:sym typeface="Trebuchet MS"/>
              </a:rPr>
              <a:t>multiple</a:t>
            </a:r>
            <a:r>
              <a:rPr b="0" i="0" lang="en-US" sz="2000" u="none" cap="none" strike="noStrike">
                <a:solidFill>
                  <a:srgbClr val="000000"/>
                </a:solidFill>
                <a:latin typeface="Times New Roman"/>
                <a:ea typeface="Times New Roman"/>
                <a:cs typeface="Times New Roman"/>
                <a:sym typeface="Times New Roman"/>
              </a:rPr>
              <a:t>: if set to </a:t>
            </a:r>
            <a:r>
              <a:rPr b="0" i="0" lang="en-US" sz="2000" u="none" cap="none" strike="noStrike">
                <a:solidFill>
                  <a:srgbClr val="3300FF"/>
                </a:solidFill>
                <a:latin typeface="Trebuchet MS"/>
                <a:ea typeface="Trebuchet MS"/>
                <a:cs typeface="Trebuchet MS"/>
                <a:sym typeface="Trebuchet MS"/>
              </a:rPr>
              <a:t>"true"</a:t>
            </a:r>
            <a:r>
              <a:rPr b="0" i="0" lang="en-US" sz="2000" u="none" cap="none" strike="noStrike">
                <a:solidFill>
                  <a:srgbClr val="000000"/>
                </a:solidFill>
                <a:latin typeface="Times New Roman"/>
                <a:ea typeface="Times New Roman"/>
                <a:cs typeface="Times New Roman"/>
                <a:sym typeface="Times New Roman"/>
              </a:rPr>
              <a:t>, any number of items may be selected  (default is </a:t>
            </a:r>
            <a:r>
              <a:rPr b="0" i="0" lang="en-US" sz="2000" u="none" cap="none" strike="noStrike">
                <a:solidFill>
                  <a:srgbClr val="3300FF"/>
                </a:solidFill>
                <a:latin typeface="Trebuchet MS"/>
                <a:ea typeface="Trebuchet MS"/>
                <a:cs typeface="Trebuchet MS"/>
                <a:sym typeface="Trebuchet MS"/>
              </a:rPr>
              <a:t>"false"</a:t>
            </a:r>
            <a:r>
              <a:rPr b="0" i="0" lang="en-US" sz="2000" u="none" cap="none" strike="noStrike">
                <a:solidFill>
                  <a:srgbClr val="000000"/>
                </a:solidFill>
                <a:latin typeface="Times New Roman"/>
                <a:ea typeface="Times New Roman"/>
                <a:cs typeface="Times New Roman"/>
                <a:sym typeface="Times New Roman"/>
              </a:rPr>
              <a:t>)</a:t>
            </a:r>
            <a:endParaRPr/>
          </a:p>
        </p:txBody>
      </p:sp>
      <p:pic>
        <p:nvPicPr>
          <p:cNvPr id="135" name="Google Shape;135;p51"/>
          <p:cNvPicPr preferRelativeResize="0"/>
          <p:nvPr/>
        </p:nvPicPr>
        <p:blipFill rotWithShape="1">
          <a:blip r:embed="rId3">
            <a:alphaModFix/>
          </a:blip>
          <a:srcRect b="0" l="0" r="0" t="0"/>
          <a:stretch/>
        </p:blipFill>
        <p:spPr>
          <a:xfrm>
            <a:off x="1197282" y="3482418"/>
            <a:ext cx="3544767" cy="432059"/>
          </a:xfrm>
          <a:prstGeom prst="rect">
            <a:avLst/>
          </a:prstGeom>
          <a:noFill/>
          <a:ln>
            <a:noFill/>
          </a:ln>
        </p:spPr>
      </p:pic>
      <p:sp>
        <p:nvSpPr>
          <p:cNvPr id="136" name="Google Shape;136;p51"/>
          <p:cNvSpPr txBox="1"/>
          <p:nvPr>
            <p:ph idx="12" type="sldNum"/>
          </p:nvPr>
        </p:nvSpPr>
        <p:spPr>
          <a:xfrm>
            <a:off x="8816085" y="6597957"/>
            <a:ext cx="274954" cy="225425"/>
          </a:xfrm>
          <a:prstGeom prst="rect">
            <a:avLst/>
          </a:prstGeom>
          <a:noFill/>
          <a:ln>
            <a:noFill/>
          </a:ln>
        </p:spPr>
        <p:txBody>
          <a:bodyPr anchorCtr="0" anchor="t" bIns="0" lIns="0" spcFirstLastPara="1" rIns="0" wrap="square" tIns="0">
            <a:spAutoFit/>
          </a:bodyPr>
          <a:lstStyle/>
          <a:p>
            <a:pPr indent="0" lvl="0" marL="38100" marR="0" rtl="0" algn="l">
              <a:lnSpc>
                <a:spcPct val="118214"/>
              </a:lnSpc>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advTm="4000">
    <p:c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52"/>
          <p:cNvSpPr txBox="1"/>
          <p:nvPr>
            <p:ph type="title"/>
          </p:nvPr>
        </p:nvSpPr>
        <p:spPr>
          <a:xfrm>
            <a:off x="1308133" y="182626"/>
            <a:ext cx="2776220" cy="517449"/>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95"/>
              </a:spcBef>
              <a:spcAft>
                <a:spcPts val="0"/>
              </a:spcAft>
              <a:buSzPts val="1400"/>
              <a:buNone/>
            </a:pPr>
            <a:r>
              <a:rPr b="1" lang="en-US"/>
              <a:t>Hidden fields</a:t>
            </a:r>
            <a:endParaRPr/>
          </a:p>
        </p:txBody>
      </p:sp>
      <p:sp>
        <p:nvSpPr>
          <p:cNvPr id="142" name="Google Shape;142;p52"/>
          <p:cNvSpPr txBox="1"/>
          <p:nvPr/>
        </p:nvSpPr>
        <p:spPr>
          <a:xfrm>
            <a:off x="459740" y="1395729"/>
            <a:ext cx="8006080" cy="755650"/>
          </a:xfrm>
          <a:prstGeom prst="rect">
            <a:avLst/>
          </a:prstGeom>
          <a:noFill/>
          <a:ln>
            <a:noFill/>
          </a:ln>
        </p:spPr>
        <p:txBody>
          <a:bodyPr anchorCtr="0" anchor="t" bIns="0" lIns="0" spcFirstLastPara="1" rIns="0" wrap="square" tIns="26025">
            <a:spAutoFit/>
          </a:bodyPr>
          <a:lstStyle/>
          <a:p>
            <a:pPr indent="-354965" lvl="0" marL="354965" marR="5080" rtl="0" algn="l">
              <a:lnSpc>
                <a:spcPct val="119583"/>
              </a:lnSpc>
              <a:spcBef>
                <a:spcPts val="0"/>
              </a:spcBef>
              <a:spcAft>
                <a:spcPts val="0"/>
              </a:spcAft>
              <a:buClr>
                <a:srgbClr val="0099CC"/>
              </a:buClr>
              <a:buSzPts val="1450"/>
              <a:buFont typeface="Noto Sans Symbols"/>
              <a:buChar char="■"/>
            </a:pPr>
            <a:r>
              <a:rPr b="0" i="0" lang="en-US" sz="2400" u="none" cap="none" strike="noStrike">
                <a:solidFill>
                  <a:schemeClr val="dk1"/>
                </a:solidFill>
                <a:latin typeface="Trebuchet MS"/>
                <a:ea typeface="Trebuchet MS"/>
                <a:cs typeface="Trebuchet MS"/>
                <a:sym typeface="Trebuchet MS"/>
              </a:rPr>
              <a:t>&lt;input type="hidden" name="hiddenField" value="nyah"&gt;  &amp;lt;-- right there, don't you see it?</a:t>
            </a:r>
            <a:endParaRPr b="0" i="0" sz="2400" u="none" cap="none" strike="noStrike">
              <a:solidFill>
                <a:schemeClr val="dk1"/>
              </a:solidFill>
              <a:latin typeface="Trebuchet MS"/>
              <a:ea typeface="Trebuchet MS"/>
              <a:cs typeface="Trebuchet MS"/>
              <a:sym typeface="Trebuchet MS"/>
            </a:endParaRPr>
          </a:p>
        </p:txBody>
      </p:sp>
      <p:sp>
        <p:nvSpPr>
          <p:cNvPr id="143" name="Google Shape;143;p52"/>
          <p:cNvSpPr txBox="1"/>
          <p:nvPr/>
        </p:nvSpPr>
        <p:spPr>
          <a:xfrm>
            <a:off x="459740" y="3193459"/>
            <a:ext cx="8105140" cy="2175510"/>
          </a:xfrm>
          <a:prstGeom prst="rect">
            <a:avLst/>
          </a:prstGeom>
          <a:noFill/>
          <a:ln>
            <a:noFill/>
          </a:ln>
        </p:spPr>
        <p:txBody>
          <a:bodyPr anchorCtr="0" anchor="t" bIns="0" lIns="0" spcFirstLastPara="1" rIns="0" wrap="square" tIns="86975">
            <a:spAutoFit/>
          </a:bodyPr>
          <a:lstStyle/>
          <a:p>
            <a:pPr indent="-342900" lvl="0" marL="355600" marR="0" rtl="0" algn="l">
              <a:lnSpc>
                <a:spcPct val="100000"/>
              </a:lnSpc>
              <a:spcBef>
                <a:spcPts val="0"/>
              </a:spcBef>
              <a:spcAft>
                <a:spcPts val="0"/>
              </a:spcAft>
              <a:buClr>
                <a:srgbClr val="0099CC"/>
              </a:buClr>
              <a:buSzPts val="1450"/>
              <a:buFont typeface="Noto Sans Symbols"/>
              <a:buChar char="■"/>
            </a:pPr>
            <a:r>
              <a:rPr b="0" i="0" lang="en-US" sz="2400" u="none" cap="none" strike="noStrike">
                <a:solidFill>
                  <a:srgbClr val="000000"/>
                </a:solidFill>
                <a:latin typeface="Times New Roman"/>
                <a:ea typeface="Times New Roman"/>
                <a:cs typeface="Times New Roman"/>
                <a:sym typeface="Times New Roman"/>
              </a:rPr>
              <a:t>What good is this?</a:t>
            </a:r>
            <a:endParaRPr/>
          </a:p>
          <a:p>
            <a:pPr indent="-287019" lvl="1" marL="756285" marR="0" rtl="0" algn="l">
              <a:lnSpc>
                <a:spcPct val="100000"/>
              </a:lnSpc>
              <a:spcBef>
                <a:spcPts val="495"/>
              </a:spcBef>
              <a:spcAft>
                <a:spcPts val="0"/>
              </a:spcAft>
              <a:buClr>
                <a:srgbClr val="CC00CC"/>
              </a:buClr>
              <a:buSzPts val="1100"/>
              <a:buFont typeface="Noto Sans Symbols"/>
              <a:buChar char="■"/>
            </a:pPr>
            <a:r>
              <a:rPr b="0" i="0" lang="en-US" sz="2000" u="none" cap="none" strike="noStrike">
                <a:solidFill>
                  <a:srgbClr val="000000"/>
                </a:solidFill>
                <a:latin typeface="Times New Roman"/>
                <a:ea typeface="Times New Roman"/>
                <a:cs typeface="Times New Roman"/>
                <a:sym typeface="Times New Roman"/>
              </a:rPr>
              <a:t>All </a:t>
            </a:r>
            <a:r>
              <a:rPr b="0" i="0" lang="en-US" sz="2000" u="none" cap="none" strike="noStrike">
                <a:solidFill>
                  <a:srgbClr val="3300FF"/>
                </a:solidFill>
                <a:latin typeface="Trebuchet MS"/>
                <a:ea typeface="Trebuchet MS"/>
                <a:cs typeface="Trebuchet MS"/>
                <a:sym typeface="Trebuchet MS"/>
              </a:rPr>
              <a:t>input </a:t>
            </a:r>
            <a:r>
              <a:rPr b="0" i="0" lang="en-US" sz="2000" u="none" cap="none" strike="noStrike">
                <a:solidFill>
                  <a:srgbClr val="000000"/>
                </a:solidFill>
                <a:latin typeface="Times New Roman"/>
                <a:ea typeface="Times New Roman"/>
                <a:cs typeface="Times New Roman"/>
                <a:sym typeface="Times New Roman"/>
              </a:rPr>
              <a:t>fields are sent back to the server, including hidden fields</a:t>
            </a:r>
            <a:endParaRPr/>
          </a:p>
          <a:p>
            <a:pPr indent="-287019" lvl="1" marL="756285" marR="5080" rtl="0" algn="l">
              <a:lnSpc>
                <a:spcPct val="100000"/>
              </a:lnSpc>
              <a:spcBef>
                <a:spcPts val="484"/>
              </a:spcBef>
              <a:spcAft>
                <a:spcPts val="0"/>
              </a:spcAft>
              <a:buClr>
                <a:srgbClr val="CC00CC"/>
              </a:buClr>
              <a:buSzPts val="1100"/>
              <a:buFont typeface="Noto Sans Symbols"/>
              <a:buChar char="■"/>
            </a:pPr>
            <a:r>
              <a:rPr b="0" i="0" lang="en-US" sz="2000" u="none" cap="none" strike="noStrike">
                <a:solidFill>
                  <a:srgbClr val="000000"/>
                </a:solidFill>
                <a:latin typeface="Times New Roman"/>
                <a:ea typeface="Times New Roman"/>
                <a:cs typeface="Times New Roman"/>
                <a:sym typeface="Times New Roman"/>
              </a:rPr>
              <a:t>This is a way to include information that the user doesn’t need to see (or  that you don’t want him/her to see)</a:t>
            </a:r>
            <a:endParaRPr b="0" i="0" sz="2000" u="none" cap="none" strike="noStrike">
              <a:solidFill>
                <a:srgbClr val="000000"/>
              </a:solidFill>
              <a:latin typeface="Times New Roman"/>
              <a:ea typeface="Times New Roman"/>
              <a:cs typeface="Times New Roman"/>
              <a:sym typeface="Times New Roman"/>
            </a:endParaRPr>
          </a:p>
          <a:p>
            <a:pPr indent="-287019" lvl="1" marL="756285" marR="5080" rtl="0" algn="l">
              <a:lnSpc>
                <a:spcPct val="100000"/>
              </a:lnSpc>
              <a:spcBef>
                <a:spcPts val="480"/>
              </a:spcBef>
              <a:spcAft>
                <a:spcPts val="0"/>
              </a:spcAft>
              <a:buClr>
                <a:srgbClr val="CC00CC"/>
              </a:buClr>
              <a:buSzPts val="1100"/>
              <a:buFont typeface="Noto Sans Symbols"/>
              <a:buChar char="■"/>
            </a:pPr>
            <a:r>
              <a:rPr b="0" i="0" lang="en-US" sz="2000" u="none" cap="none" strike="noStrike">
                <a:solidFill>
                  <a:srgbClr val="000000"/>
                </a:solidFill>
                <a:latin typeface="Times New Roman"/>
                <a:ea typeface="Times New Roman"/>
                <a:cs typeface="Times New Roman"/>
                <a:sym typeface="Times New Roman"/>
              </a:rPr>
              <a:t>The </a:t>
            </a:r>
            <a:r>
              <a:rPr b="0" i="0" lang="en-US" sz="2000" u="none" cap="none" strike="noStrike">
                <a:solidFill>
                  <a:srgbClr val="3300FF"/>
                </a:solidFill>
                <a:latin typeface="Trebuchet MS"/>
                <a:ea typeface="Trebuchet MS"/>
                <a:cs typeface="Trebuchet MS"/>
                <a:sym typeface="Trebuchet MS"/>
              </a:rPr>
              <a:t>value </a:t>
            </a:r>
            <a:r>
              <a:rPr b="0" i="0" lang="en-US" sz="2000" u="none" cap="none" strike="noStrike">
                <a:solidFill>
                  <a:srgbClr val="000000"/>
                </a:solidFill>
                <a:latin typeface="Times New Roman"/>
                <a:ea typeface="Times New Roman"/>
                <a:cs typeface="Times New Roman"/>
                <a:sym typeface="Times New Roman"/>
              </a:rPr>
              <a:t>of a hidden field can be set programmatically (by JavaScript)  before the form is submitted</a:t>
            </a:r>
            <a:endParaRPr b="0" i="0" sz="2000" u="none" cap="none" strike="noStrike">
              <a:solidFill>
                <a:srgbClr val="000000"/>
              </a:solidFill>
              <a:latin typeface="Times New Roman"/>
              <a:ea typeface="Times New Roman"/>
              <a:cs typeface="Times New Roman"/>
              <a:sym typeface="Times New Roman"/>
            </a:endParaRPr>
          </a:p>
        </p:txBody>
      </p:sp>
      <p:pic>
        <p:nvPicPr>
          <p:cNvPr id="144" name="Google Shape;144;p52"/>
          <p:cNvPicPr preferRelativeResize="0"/>
          <p:nvPr/>
        </p:nvPicPr>
        <p:blipFill rotWithShape="1">
          <a:blip r:embed="rId3">
            <a:alphaModFix/>
          </a:blip>
          <a:srcRect b="0" l="0" r="0" t="0"/>
          <a:stretch/>
        </p:blipFill>
        <p:spPr>
          <a:xfrm>
            <a:off x="811026" y="2647543"/>
            <a:ext cx="7037733" cy="350906"/>
          </a:xfrm>
          <a:prstGeom prst="rect">
            <a:avLst/>
          </a:prstGeom>
          <a:noFill/>
          <a:ln>
            <a:noFill/>
          </a:ln>
        </p:spPr>
      </p:pic>
      <p:sp>
        <p:nvSpPr>
          <p:cNvPr id="145" name="Google Shape;145;p52"/>
          <p:cNvSpPr txBox="1"/>
          <p:nvPr>
            <p:ph idx="12" type="sldNum"/>
          </p:nvPr>
        </p:nvSpPr>
        <p:spPr>
          <a:xfrm>
            <a:off x="8816085" y="6597957"/>
            <a:ext cx="274954" cy="225425"/>
          </a:xfrm>
          <a:prstGeom prst="rect">
            <a:avLst/>
          </a:prstGeom>
          <a:noFill/>
          <a:ln>
            <a:noFill/>
          </a:ln>
        </p:spPr>
        <p:txBody>
          <a:bodyPr anchorCtr="0" anchor="t" bIns="0" lIns="0" spcFirstLastPara="1" rIns="0" wrap="square" tIns="0">
            <a:spAutoFit/>
          </a:bodyPr>
          <a:lstStyle/>
          <a:p>
            <a:pPr indent="0" lvl="0" marL="38100" marR="0" rtl="0" algn="l">
              <a:lnSpc>
                <a:spcPct val="118214"/>
              </a:lnSpc>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advTm="4000">
    <p:cu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53"/>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Code to create a html Form </a:t>
            </a:r>
            <a:endParaRPr/>
          </a:p>
        </p:txBody>
      </p:sp>
      <p:sp>
        <p:nvSpPr>
          <p:cNvPr id="151" name="Google Shape;151;p53"/>
          <p:cNvSpPr txBox="1"/>
          <p:nvPr>
            <p:ph idx="1" type="subTitle"/>
          </p:nvPr>
        </p:nvSpPr>
        <p:spPr>
          <a:xfrm>
            <a:off x="266700" y="914400"/>
            <a:ext cx="8153400" cy="5702299"/>
          </a:xfrm>
          <a:prstGeom prst="rect">
            <a:avLst/>
          </a:prstGeom>
          <a:noFill/>
          <a:ln>
            <a:noFill/>
          </a:ln>
        </p:spPr>
        <p:txBody>
          <a:bodyPr anchorCtr="0" anchor="t" bIns="45700" lIns="91425" spcFirstLastPara="1" rIns="91425" wrap="square" tIns="45700">
            <a:noAutofit/>
          </a:bodyPr>
          <a:lstStyle/>
          <a:p>
            <a:pPr indent="-431800" lvl="0" marL="457200" rtl="0" algn="l">
              <a:lnSpc>
                <a:spcPct val="100000"/>
              </a:lnSpc>
              <a:spcBef>
                <a:spcPts val="640"/>
              </a:spcBef>
              <a:spcAft>
                <a:spcPts val="0"/>
              </a:spcAft>
              <a:buSzPts val="3200"/>
              <a:buNone/>
            </a:pPr>
            <a:r>
              <a:rPr b="0" lang="en-US" sz="1400">
                <a:solidFill>
                  <a:srgbClr val="800000"/>
                </a:solidFill>
                <a:highlight>
                  <a:srgbClr val="FFFFFF"/>
                </a:highlight>
                <a:latin typeface="Consolas"/>
                <a:ea typeface="Consolas"/>
                <a:cs typeface="Consolas"/>
                <a:sym typeface="Consolas"/>
              </a:rPr>
              <a:t>&lt;!DOCTYPE</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html</a:t>
            </a:r>
            <a:r>
              <a:rPr b="0" lang="en-US" sz="1400">
                <a:solidFill>
                  <a:srgbClr val="800000"/>
                </a:solidFill>
                <a:highlight>
                  <a:srgbClr val="FFFFFF"/>
                </a:highlight>
                <a:latin typeface="Consolas"/>
                <a:ea typeface="Consolas"/>
                <a:cs typeface="Consolas"/>
                <a:sym typeface="Consolas"/>
              </a:rPr>
              <a:t>&gt;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800000"/>
                </a:solidFill>
                <a:highlight>
                  <a:srgbClr val="FFFFFF"/>
                </a:highlight>
                <a:latin typeface="Consolas"/>
                <a:ea typeface="Consolas"/>
                <a:cs typeface="Consolas"/>
                <a:sym typeface="Consolas"/>
              </a:rPr>
              <a:t>&lt;html&gt;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&lt;head&gt;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&lt;title&gt;</a:t>
            </a:r>
            <a:r>
              <a:rPr b="0" lang="en-US" sz="1400">
                <a:solidFill>
                  <a:srgbClr val="000000"/>
                </a:solidFill>
                <a:highlight>
                  <a:srgbClr val="FFFFFF"/>
                </a:highlight>
                <a:latin typeface="Consolas"/>
                <a:ea typeface="Consolas"/>
                <a:cs typeface="Consolas"/>
                <a:sym typeface="Consolas"/>
              </a:rPr>
              <a:t>Form</a:t>
            </a:r>
            <a:r>
              <a:rPr b="0" lang="en-US" sz="1400">
                <a:solidFill>
                  <a:srgbClr val="800000"/>
                </a:solidFill>
                <a:highlight>
                  <a:srgbClr val="FFFFFF"/>
                </a:highlight>
                <a:latin typeface="Consolas"/>
                <a:ea typeface="Consolas"/>
                <a:cs typeface="Consolas"/>
                <a:sym typeface="Consolas"/>
              </a:rPr>
              <a:t>&lt;/title&gt;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&lt;/head&gt;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&lt;body</a:t>
            </a:r>
            <a:r>
              <a:rPr b="0" lang="en-US" sz="1400">
                <a:solidFill>
                  <a:srgbClr val="000000"/>
                </a:solidFill>
                <a:highlight>
                  <a:srgbClr val="FFFFFF"/>
                </a:highlight>
                <a:latin typeface="Consolas"/>
                <a:ea typeface="Consolas"/>
                <a:cs typeface="Consolas"/>
                <a:sym typeface="Consolas"/>
              </a:rPr>
              <a:t> </a:t>
            </a:r>
            <a:r>
              <a:rPr b="0" lang="en-US" sz="1400">
                <a:solidFill>
                  <a:srgbClr val="CD3131"/>
                </a:solidFill>
                <a:highlight>
                  <a:srgbClr val="FFFFFF"/>
                </a:highlight>
                <a:latin typeface="Consolas"/>
                <a:ea typeface="Consolas"/>
                <a:cs typeface="Consolas"/>
                <a:sym typeface="Consolas"/>
              </a:rPr>
              <a:t>bgcolor</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"pink"</a:t>
            </a:r>
            <a:r>
              <a:rPr b="0" lang="en-US" sz="1400">
                <a:solidFill>
                  <a:srgbClr val="800000"/>
                </a:solidFill>
                <a:highlight>
                  <a:srgbClr val="FFFFFF"/>
                </a:highlight>
                <a:latin typeface="Consolas"/>
                <a:ea typeface="Consolas"/>
                <a:cs typeface="Consolas"/>
                <a:sym typeface="Consolas"/>
              </a:rPr>
              <a:t>&gt;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&lt;</a:t>
            </a:r>
            <a:r>
              <a:rPr b="0" lang="en-US" sz="1400">
                <a:solidFill>
                  <a:srgbClr val="CD3131"/>
                </a:solidFill>
                <a:highlight>
                  <a:srgbClr val="FFFFFF"/>
                </a:highlight>
                <a:latin typeface="Consolas"/>
                <a:ea typeface="Consolas"/>
                <a:cs typeface="Consolas"/>
                <a:sym typeface="Consolas"/>
              </a:rPr>
              <a:t>center</a:t>
            </a:r>
            <a:r>
              <a:rPr b="0" lang="en-US" sz="1400">
                <a:solidFill>
                  <a:srgbClr val="800000"/>
                </a:solidFill>
                <a:highlight>
                  <a:srgbClr val="FFFFFF"/>
                </a:highlight>
                <a:latin typeface="Consolas"/>
                <a:ea typeface="Consolas"/>
                <a:cs typeface="Consolas"/>
                <a:sym typeface="Consolas"/>
              </a:rPr>
              <a:t>&gt;&lt;</a:t>
            </a:r>
            <a:r>
              <a:rPr b="0" lang="en-US" sz="1400">
                <a:solidFill>
                  <a:srgbClr val="CD3131"/>
                </a:solidFill>
                <a:highlight>
                  <a:srgbClr val="FFFFFF"/>
                </a:highlight>
                <a:latin typeface="Consolas"/>
                <a:ea typeface="Consolas"/>
                <a:cs typeface="Consolas"/>
                <a:sym typeface="Consolas"/>
              </a:rPr>
              <a:t>font</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color</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"red"</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size</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"7"</a:t>
            </a:r>
            <a:r>
              <a:rPr b="0" lang="en-US" sz="1400">
                <a:solidFill>
                  <a:srgbClr val="800000"/>
                </a:solidFill>
                <a:highlight>
                  <a:srgbClr val="FFFFFF"/>
                </a:highlight>
                <a:latin typeface="Consolas"/>
                <a:ea typeface="Consolas"/>
                <a:cs typeface="Consolas"/>
                <a:sym typeface="Consolas"/>
              </a:rPr>
              <a:t>&gt;</a:t>
            </a:r>
            <a:r>
              <a:rPr b="0" lang="en-US" sz="1400">
                <a:solidFill>
                  <a:srgbClr val="000000"/>
                </a:solidFill>
                <a:highlight>
                  <a:srgbClr val="FFFFFF"/>
                </a:highlight>
                <a:latin typeface="Consolas"/>
                <a:ea typeface="Consolas"/>
                <a:cs typeface="Consolas"/>
                <a:sym typeface="Consolas"/>
              </a:rPr>
              <a:t>Application Form</a:t>
            </a:r>
            <a:r>
              <a:rPr b="0" lang="en-US" sz="1400">
                <a:solidFill>
                  <a:srgbClr val="800000"/>
                </a:solidFill>
                <a:highlight>
                  <a:srgbClr val="FFFFFF"/>
                </a:highlight>
                <a:latin typeface="Consolas"/>
                <a:ea typeface="Consolas"/>
                <a:cs typeface="Consolas"/>
                <a:sym typeface="Consolas"/>
              </a:rPr>
              <a:t>&lt;/</a:t>
            </a:r>
            <a:r>
              <a:rPr b="0" lang="en-US" sz="1400">
                <a:solidFill>
                  <a:srgbClr val="CD3131"/>
                </a:solidFill>
                <a:highlight>
                  <a:srgbClr val="FFFFFF"/>
                </a:highlight>
                <a:latin typeface="Consolas"/>
                <a:ea typeface="Consolas"/>
                <a:cs typeface="Consolas"/>
                <a:sym typeface="Consolas"/>
              </a:rPr>
              <a:t>font</a:t>
            </a:r>
            <a:r>
              <a:rPr b="0" lang="en-US" sz="1400">
                <a:solidFill>
                  <a:srgbClr val="800000"/>
                </a:solidFill>
                <a:highlight>
                  <a:srgbClr val="FFFFFF"/>
                </a:highlight>
                <a:latin typeface="Consolas"/>
                <a:ea typeface="Consolas"/>
                <a:cs typeface="Consolas"/>
                <a:sym typeface="Consolas"/>
              </a:rPr>
              <a:t>&gt;&lt;/</a:t>
            </a:r>
            <a:r>
              <a:rPr b="0" lang="en-US" sz="1400">
                <a:solidFill>
                  <a:srgbClr val="CD3131"/>
                </a:solidFill>
                <a:highlight>
                  <a:srgbClr val="FFFFFF"/>
                </a:highlight>
                <a:latin typeface="Consolas"/>
                <a:ea typeface="Consolas"/>
                <a:cs typeface="Consolas"/>
                <a:sym typeface="Consolas"/>
              </a:rPr>
              <a:t>center</a:t>
            </a:r>
            <a:r>
              <a:rPr b="0" lang="en-US" sz="1400">
                <a:solidFill>
                  <a:srgbClr val="800000"/>
                </a:solidFill>
                <a:highlight>
                  <a:srgbClr val="FFFFFF"/>
                </a:highlight>
                <a:latin typeface="Consolas"/>
                <a:ea typeface="Consolas"/>
                <a:cs typeface="Consolas"/>
                <a:sym typeface="Consolas"/>
              </a:rPr>
              <a:t>&gt;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&lt;hr</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size</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"5"</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color</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"blue"</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width</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"400"</a:t>
            </a:r>
            <a:r>
              <a:rPr b="0" lang="en-US" sz="1400">
                <a:solidFill>
                  <a:srgbClr val="800000"/>
                </a:solidFill>
                <a:highlight>
                  <a:srgbClr val="FFFFFF"/>
                </a:highlight>
                <a:latin typeface="Consolas"/>
                <a:ea typeface="Consolas"/>
                <a:cs typeface="Consolas"/>
                <a:sym typeface="Consolas"/>
              </a:rPr>
              <a:t>&gt;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&lt;form</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action</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"a.html"</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method</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"GET"</a:t>
            </a:r>
            <a:r>
              <a:rPr b="0" lang="en-US" sz="1400">
                <a:solidFill>
                  <a:srgbClr val="800000"/>
                </a:solidFill>
                <a:highlight>
                  <a:srgbClr val="FFFFFF"/>
                </a:highlight>
                <a:latin typeface="Consolas"/>
                <a:ea typeface="Consolas"/>
                <a:cs typeface="Consolas"/>
                <a:sym typeface="Consolas"/>
              </a:rPr>
              <a:t>&gt;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&lt;table</a:t>
            </a:r>
            <a:r>
              <a:rPr b="0" lang="en-US" sz="1400">
                <a:solidFill>
                  <a:srgbClr val="000000"/>
                </a:solidFill>
                <a:highlight>
                  <a:srgbClr val="FFFFFF"/>
                </a:highlight>
                <a:latin typeface="Consolas"/>
                <a:ea typeface="Consolas"/>
                <a:cs typeface="Consolas"/>
                <a:sym typeface="Consolas"/>
              </a:rPr>
              <a:t> </a:t>
            </a:r>
            <a:r>
              <a:rPr b="0" lang="en-US" sz="1400">
                <a:solidFill>
                  <a:srgbClr val="CD3131"/>
                </a:solidFill>
                <a:highlight>
                  <a:srgbClr val="FFFFFF"/>
                </a:highlight>
                <a:latin typeface="Consolas"/>
                <a:ea typeface="Consolas"/>
                <a:cs typeface="Consolas"/>
                <a:sym typeface="Consolas"/>
              </a:rPr>
              <a:t>align</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"center"</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cellspacing</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"5"</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cellpadding</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"5"</a:t>
            </a:r>
            <a:r>
              <a:rPr b="0" lang="en-US" sz="1400">
                <a:solidFill>
                  <a:srgbClr val="800000"/>
                </a:solidFill>
                <a:highlight>
                  <a:srgbClr val="FFFFFF"/>
                </a:highlight>
                <a:latin typeface="Consolas"/>
                <a:ea typeface="Consolas"/>
                <a:cs typeface="Consolas"/>
                <a:sym typeface="Consolas"/>
              </a:rPr>
              <a:t>&gt;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&lt;tr&gt;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&lt;td&gt;</a:t>
            </a:r>
            <a:r>
              <a:rPr b="0" lang="en-US" sz="1400">
                <a:solidFill>
                  <a:srgbClr val="000000"/>
                </a:solidFill>
                <a:highlight>
                  <a:srgbClr val="FFFFFF"/>
                </a:highlight>
                <a:latin typeface="Consolas"/>
                <a:ea typeface="Consolas"/>
                <a:cs typeface="Consolas"/>
                <a:sym typeface="Consolas"/>
              </a:rPr>
              <a:t>First Name:</a:t>
            </a:r>
            <a:r>
              <a:rPr b="0" lang="en-US" sz="1400">
                <a:solidFill>
                  <a:srgbClr val="800000"/>
                </a:solidFill>
                <a:highlight>
                  <a:srgbClr val="FFFFFF"/>
                </a:highlight>
                <a:latin typeface="Consolas"/>
                <a:ea typeface="Consolas"/>
                <a:cs typeface="Consolas"/>
                <a:sym typeface="Consolas"/>
              </a:rPr>
              <a:t>&lt;/td&gt;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&lt;td&gt;&lt;input</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type</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"text"</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name</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"fname"</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placeholder</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“name"</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size</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"30"</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maxlength</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"6"</a:t>
            </a: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/&gt;&lt;/td&gt;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&lt;/tr&gt;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&lt;tr&gt;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&lt;td&gt;</a:t>
            </a:r>
            <a:r>
              <a:rPr b="0" lang="en-US" sz="1400">
                <a:solidFill>
                  <a:srgbClr val="000000"/>
                </a:solidFill>
                <a:highlight>
                  <a:srgbClr val="FFFFFF"/>
                </a:highlight>
                <a:latin typeface="Consolas"/>
                <a:ea typeface="Consolas"/>
                <a:cs typeface="Consolas"/>
                <a:sym typeface="Consolas"/>
              </a:rPr>
              <a:t>Last Name:</a:t>
            </a:r>
            <a:r>
              <a:rPr b="0" lang="en-US" sz="1400">
                <a:solidFill>
                  <a:srgbClr val="800000"/>
                </a:solidFill>
                <a:highlight>
                  <a:srgbClr val="FFFFFF"/>
                </a:highlight>
                <a:latin typeface="Consolas"/>
                <a:ea typeface="Consolas"/>
                <a:cs typeface="Consolas"/>
                <a:sym typeface="Consolas"/>
              </a:rPr>
              <a:t>&lt;/td&gt;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&lt;td&gt;&lt;input</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type</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"text"</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name</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"lname"</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value</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a:t>
            </a:r>
            <a:r>
              <a:rPr b="0" lang="en-US" sz="1400">
                <a:solidFill>
                  <a:srgbClr val="000000"/>
                </a:solidFill>
                <a:highlight>
                  <a:srgbClr val="FFFFFF"/>
                </a:highlight>
                <a:latin typeface="Consolas"/>
                <a:ea typeface="Consolas"/>
                <a:cs typeface="Consolas"/>
                <a:sym typeface="Consolas"/>
              </a:rPr>
              <a:t> </a:t>
            </a:r>
            <a:r>
              <a:rPr b="0" lang="en-US" sz="1400">
                <a:solidFill>
                  <a:srgbClr val="E50000"/>
                </a:solidFill>
                <a:highlight>
                  <a:srgbClr val="FFFFFF"/>
                </a:highlight>
                <a:latin typeface="Consolas"/>
                <a:ea typeface="Consolas"/>
                <a:cs typeface="Consolas"/>
                <a:sym typeface="Consolas"/>
              </a:rPr>
              <a:t>size</a:t>
            </a:r>
            <a:r>
              <a:rPr b="0" lang="en-US" sz="1400">
                <a:solidFill>
                  <a:srgbClr val="000000"/>
                </a:solidFill>
                <a:highlight>
                  <a:srgbClr val="FFFFFF"/>
                </a:highlight>
                <a:latin typeface="Consolas"/>
                <a:ea typeface="Consolas"/>
                <a:cs typeface="Consolas"/>
                <a:sym typeface="Consolas"/>
              </a:rPr>
              <a:t>=</a:t>
            </a:r>
            <a:r>
              <a:rPr b="0" lang="en-US" sz="1400">
                <a:solidFill>
                  <a:srgbClr val="0000FF"/>
                </a:solidFill>
                <a:highlight>
                  <a:srgbClr val="FFFFFF"/>
                </a:highlight>
                <a:latin typeface="Consolas"/>
                <a:ea typeface="Consolas"/>
                <a:cs typeface="Consolas"/>
                <a:sym typeface="Consolas"/>
              </a:rPr>
              <a:t>"30"</a:t>
            </a:r>
            <a:r>
              <a:rPr b="0" lang="en-US" sz="1400">
                <a:solidFill>
                  <a:srgbClr val="800000"/>
                </a:solidFill>
                <a:highlight>
                  <a:srgbClr val="FFFFFF"/>
                </a:highlight>
                <a:latin typeface="Consolas"/>
                <a:ea typeface="Consolas"/>
                <a:cs typeface="Consolas"/>
                <a:sym typeface="Consolas"/>
              </a:rPr>
              <a:t>/&gt;&lt;/td&gt;</a:t>
            </a:r>
            <a:endParaRPr b="0" sz="14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400">
                <a:solidFill>
                  <a:srgbClr val="000000"/>
                </a:solidFill>
                <a:highlight>
                  <a:srgbClr val="FFFFFF"/>
                </a:highlight>
                <a:latin typeface="Consolas"/>
                <a:ea typeface="Consolas"/>
                <a:cs typeface="Consolas"/>
                <a:sym typeface="Consolas"/>
              </a:rPr>
              <a:t>            </a:t>
            </a:r>
            <a:r>
              <a:rPr b="0" lang="en-US" sz="1400">
                <a:solidFill>
                  <a:srgbClr val="800000"/>
                </a:solidFill>
                <a:highlight>
                  <a:srgbClr val="FFFFFF"/>
                </a:highlight>
                <a:latin typeface="Consolas"/>
                <a:ea typeface="Consolas"/>
                <a:cs typeface="Consolas"/>
                <a:sym typeface="Consolas"/>
              </a:rPr>
              <a:t>&lt;/tr&gt;</a:t>
            </a:r>
            <a:r>
              <a:rPr b="0" lang="en-US" sz="1400">
                <a:solidFill>
                  <a:srgbClr val="000000"/>
                </a:solidFill>
                <a:highlight>
                  <a:srgbClr val="FFFFFF"/>
                </a:highlight>
                <a:latin typeface="Consolas"/>
                <a:ea typeface="Consolas"/>
                <a:cs typeface="Consolas"/>
                <a:sym typeface="Consolas"/>
              </a:rPr>
              <a:t> </a:t>
            </a:r>
            <a:endParaRPr/>
          </a:p>
          <a:p>
            <a:pPr indent="-431800" lvl="0" marL="457200" rtl="0" algn="l">
              <a:lnSpc>
                <a:spcPct val="100000"/>
              </a:lnSpc>
              <a:spcBef>
                <a:spcPts val="640"/>
              </a:spcBef>
              <a:spcAft>
                <a:spcPts val="0"/>
              </a:spcAft>
              <a:buSzPts val="3200"/>
              <a:buNone/>
            </a:pPr>
            <a:r>
              <a:t/>
            </a:r>
            <a:endParaRPr sz="1400"/>
          </a:p>
        </p:txBody>
      </p:sp>
    </p:spTree>
  </p:cSld>
  <p:clrMapOvr>
    <a:masterClrMapping/>
  </p:clrMapOvr>
  <p:transition advTm="4000">
    <p:c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54"/>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57" name="Google Shape;157;p54"/>
          <p:cNvSpPr txBox="1"/>
          <p:nvPr>
            <p:ph idx="1" type="subTitle"/>
          </p:nvPr>
        </p:nvSpPr>
        <p:spPr>
          <a:xfrm>
            <a:off x="127000" y="914400"/>
            <a:ext cx="8610600" cy="5791199"/>
          </a:xfrm>
          <a:prstGeom prst="rect">
            <a:avLst/>
          </a:prstGeom>
          <a:noFill/>
          <a:ln>
            <a:noFill/>
          </a:ln>
        </p:spPr>
        <p:txBody>
          <a:bodyPr anchorCtr="0" anchor="t" bIns="45700" lIns="91425" spcFirstLastPara="1" rIns="91425" wrap="square" tIns="45700">
            <a:noAutofit/>
          </a:bodyPr>
          <a:lstStyle/>
          <a:p>
            <a:pPr indent="-431800" lvl="0" marL="457200" rtl="0" algn="l">
              <a:lnSpc>
                <a:spcPct val="100000"/>
              </a:lnSpc>
              <a:spcBef>
                <a:spcPts val="640"/>
              </a:spcBef>
              <a:spcAft>
                <a:spcPts val="0"/>
              </a:spcAft>
              <a:buSzPts val="3200"/>
              <a:buNone/>
            </a:pPr>
            <a:r>
              <a:rPr b="0" lang="en-US" sz="1800">
                <a:solidFill>
                  <a:srgbClr val="800000"/>
                </a:solidFill>
                <a:highlight>
                  <a:srgbClr val="FFFFFF"/>
                </a:highlight>
                <a:latin typeface="Consolas"/>
                <a:ea typeface="Consolas"/>
                <a:cs typeface="Consolas"/>
                <a:sym typeface="Consolas"/>
              </a:rPr>
              <a:t>&lt;tr&gt;</a:t>
            </a:r>
            <a:r>
              <a:rPr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&lt;td&gt;</a:t>
            </a:r>
            <a:r>
              <a:rPr b="0" lang="en-US" sz="1800">
                <a:solidFill>
                  <a:srgbClr val="000000"/>
                </a:solidFill>
                <a:highlight>
                  <a:srgbClr val="FFFFFF"/>
                </a:highlight>
                <a:latin typeface="Consolas"/>
                <a:ea typeface="Consolas"/>
                <a:cs typeface="Consolas"/>
                <a:sym typeface="Consolas"/>
              </a:rPr>
              <a:t>Password:</a:t>
            </a:r>
            <a:r>
              <a:rPr b="0" lang="en-US" sz="1800">
                <a:solidFill>
                  <a:srgbClr val="800000"/>
                </a:solidFill>
                <a:highlight>
                  <a:srgbClr val="FFFFFF"/>
                </a:highlight>
                <a:latin typeface="Consolas"/>
                <a:ea typeface="Consolas"/>
                <a:cs typeface="Consolas"/>
                <a:sym typeface="Consolas"/>
              </a:rPr>
              <a:t>&lt;/td&gt;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&lt;td&gt;&lt;input</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type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"password"</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name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"pwd"</a:t>
            </a:r>
            <a:r>
              <a:rPr b="0" lang="en-US" sz="1800">
                <a:solidFill>
                  <a:srgbClr val="800000"/>
                </a:solidFill>
                <a:highlight>
                  <a:srgbClr val="FFFFFF"/>
                </a:highlight>
                <a:latin typeface="Consolas"/>
                <a:ea typeface="Consolas"/>
                <a:cs typeface="Consolas"/>
                <a:sym typeface="Consolas"/>
              </a:rPr>
              <a:t>/&gt;&lt;/td&gt;</a:t>
            </a:r>
            <a:endParaRPr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&lt;/tr&gt;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&lt;tr&gt;</a:t>
            </a:r>
            <a:r>
              <a:rPr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&lt;td&gt;</a:t>
            </a:r>
            <a:r>
              <a:rPr b="0" lang="en-US" sz="1800">
                <a:solidFill>
                  <a:srgbClr val="000000"/>
                </a:solidFill>
                <a:highlight>
                  <a:srgbClr val="FFFFFF"/>
                </a:highlight>
                <a:latin typeface="Consolas"/>
                <a:ea typeface="Consolas"/>
                <a:cs typeface="Consolas"/>
                <a:sym typeface="Consolas"/>
              </a:rPr>
              <a:t>Comments:</a:t>
            </a:r>
            <a:r>
              <a:rPr b="0" lang="en-US" sz="1800">
                <a:solidFill>
                  <a:srgbClr val="800000"/>
                </a:solidFill>
                <a:highlight>
                  <a:srgbClr val="FFFFFF"/>
                </a:highlight>
                <a:latin typeface="Consolas"/>
                <a:ea typeface="Consolas"/>
                <a:cs typeface="Consolas"/>
                <a:sym typeface="Consolas"/>
              </a:rPr>
              <a:t>&lt;/td&gt;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800000"/>
                </a:solidFill>
                <a:highlight>
                  <a:srgbClr val="FFFFFF"/>
                </a:highlight>
                <a:latin typeface="Consolas"/>
                <a:ea typeface="Consolas"/>
                <a:cs typeface="Consolas"/>
                <a:sym typeface="Consolas"/>
              </a:rPr>
              <a:t>&lt;td&gt;&lt;textarea</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rows</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"8"</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cols</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"20"</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name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"comm"</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placeholder</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"enter comments"</a:t>
            </a:r>
            <a:r>
              <a:rPr b="0" lang="en-US" sz="1800">
                <a:solidFill>
                  <a:srgbClr val="800000"/>
                </a:solidFill>
                <a:highlight>
                  <a:srgbClr val="FFFFFF"/>
                </a:highlight>
                <a:latin typeface="Consolas"/>
                <a:ea typeface="Consolas"/>
                <a:cs typeface="Consolas"/>
                <a:sym typeface="Consolas"/>
              </a:rPr>
              <a:t>&gt;&lt;/textarea&gt;&lt;/td&gt;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&lt;/tr&gt;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800000"/>
                </a:solidFill>
                <a:highlight>
                  <a:srgbClr val="FFFFFF"/>
                </a:highlight>
                <a:latin typeface="Consolas"/>
                <a:ea typeface="Consolas"/>
                <a:cs typeface="Consolas"/>
                <a:sym typeface="Consolas"/>
              </a:rPr>
              <a:t>&lt;tr&gt;</a:t>
            </a:r>
            <a:r>
              <a:rPr lang="en-US" sz="1800">
                <a:solidFill>
                  <a:srgbClr val="000000"/>
                </a:solidFill>
                <a:highlight>
                  <a:srgbClr val="FFFFFF"/>
                </a:highlight>
                <a:latin typeface="Consolas"/>
                <a:ea typeface="Consolas"/>
                <a:cs typeface="Consolas"/>
                <a:sym typeface="Consolas"/>
              </a:rPr>
              <a:t>           </a:t>
            </a: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&lt;td&gt;</a:t>
            </a:r>
            <a:r>
              <a:rPr b="0" lang="en-US" sz="1800">
                <a:solidFill>
                  <a:srgbClr val="000000"/>
                </a:solidFill>
                <a:highlight>
                  <a:srgbClr val="FFFFFF"/>
                </a:highlight>
                <a:latin typeface="Consolas"/>
                <a:ea typeface="Consolas"/>
                <a:cs typeface="Consolas"/>
                <a:sym typeface="Consolas"/>
              </a:rPr>
              <a:t>Language</a:t>
            </a:r>
            <a:r>
              <a:rPr b="0" lang="en-US" sz="1800">
                <a:solidFill>
                  <a:srgbClr val="800000"/>
                </a:solidFill>
                <a:highlight>
                  <a:srgbClr val="FFFFFF"/>
                </a:highlight>
                <a:latin typeface="Consolas"/>
                <a:ea typeface="Consolas"/>
                <a:cs typeface="Consolas"/>
                <a:sym typeface="Consolas"/>
              </a:rPr>
              <a:t>&lt;/td&gt;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&lt;td&gt;&lt;input</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type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"checkbox"</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name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"cb1"</a:t>
            </a:r>
            <a:r>
              <a:rPr b="0" lang="en-US" sz="1800">
                <a:solidFill>
                  <a:srgbClr val="E50000"/>
                </a:solidFill>
                <a:highlight>
                  <a:srgbClr val="FFFFFF"/>
                </a:highlight>
                <a:latin typeface="Consolas"/>
                <a:ea typeface="Consolas"/>
                <a:cs typeface="Consolas"/>
                <a:sym typeface="Consolas"/>
              </a:rPr>
              <a:t>checked</a:t>
            </a:r>
            <a:r>
              <a:rPr b="0" lang="en-US" sz="1800">
                <a:solidFill>
                  <a:srgbClr val="800000"/>
                </a:solidFill>
                <a:highlight>
                  <a:srgbClr val="FFFFFF"/>
                </a:highlight>
                <a:latin typeface="Consolas"/>
                <a:ea typeface="Consolas"/>
                <a:cs typeface="Consolas"/>
                <a:sym typeface="Consolas"/>
              </a:rPr>
              <a:t>&gt;</a:t>
            </a:r>
            <a:r>
              <a:rPr b="0" lang="en-US" sz="1800">
                <a:solidFill>
                  <a:srgbClr val="000000"/>
                </a:solidFill>
                <a:highlight>
                  <a:srgbClr val="FFFFFF"/>
                </a:highlight>
                <a:latin typeface="Consolas"/>
                <a:ea typeface="Consolas"/>
                <a:cs typeface="Consolas"/>
                <a:sym typeface="Consolas"/>
              </a:rPr>
              <a:t>Hindi</a:t>
            </a:r>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&lt;input</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type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"checkbox"</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name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"cb1"</a:t>
            </a:r>
            <a:r>
              <a:rPr b="0" lang="en-US" sz="1800">
                <a:solidFill>
                  <a:srgbClr val="800000"/>
                </a:solidFill>
                <a:highlight>
                  <a:srgbClr val="FFFFFF"/>
                </a:highlight>
                <a:latin typeface="Consolas"/>
                <a:ea typeface="Consolas"/>
                <a:cs typeface="Consolas"/>
                <a:sym typeface="Consolas"/>
              </a:rPr>
              <a:t>&gt;</a:t>
            </a:r>
            <a:r>
              <a:rPr b="0" lang="en-US" sz="1800">
                <a:solidFill>
                  <a:srgbClr val="000000"/>
                </a:solidFill>
                <a:highlight>
                  <a:srgbClr val="FFFFFF"/>
                </a:highlight>
                <a:latin typeface="Consolas"/>
                <a:ea typeface="Consolas"/>
                <a:cs typeface="Consolas"/>
                <a:sym typeface="Consolas"/>
              </a:rPr>
              <a:t> English</a:t>
            </a:r>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&lt;input</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type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"checkbox"</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name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"cb1"</a:t>
            </a:r>
            <a:r>
              <a:rPr b="0" lang="en-US" sz="1800">
                <a:solidFill>
                  <a:srgbClr val="800000"/>
                </a:solidFill>
                <a:highlight>
                  <a:srgbClr val="FFFFFF"/>
                </a:highlight>
                <a:latin typeface="Consolas"/>
                <a:ea typeface="Consolas"/>
                <a:cs typeface="Consolas"/>
                <a:sym typeface="Consolas"/>
              </a:rPr>
              <a:t>&gt;</a:t>
            </a:r>
            <a:r>
              <a:rPr b="0" lang="en-US" sz="1800">
                <a:solidFill>
                  <a:srgbClr val="000000"/>
                </a:solidFill>
                <a:highlight>
                  <a:srgbClr val="FFFFFF"/>
                </a:highlight>
                <a:latin typeface="Consolas"/>
                <a:ea typeface="Consolas"/>
                <a:cs typeface="Consolas"/>
                <a:sym typeface="Consolas"/>
              </a:rPr>
              <a:t>Punjabi</a:t>
            </a:r>
            <a:r>
              <a:rPr b="0" lang="en-US" sz="1800">
                <a:solidFill>
                  <a:srgbClr val="800000"/>
                </a:solidFill>
                <a:highlight>
                  <a:srgbClr val="FFFFFF"/>
                </a:highlight>
                <a:latin typeface="Consolas"/>
                <a:ea typeface="Consolas"/>
                <a:cs typeface="Consolas"/>
                <a:sym typeface="Consolas"/>
              </a:rPr>
              <a:t>&lt;/td&gt;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&lt;/tr&gt;</a:t>
            </a:r>
            <a:endParaRPr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&lt;tr&gt;&lt;td&gt;</a:t>
            </a:r>
            <a:r>
              <a:rPr b="0" lang="en-US" sz="1800">
                <a:solidFill>
                  <a:srgbClr val="000000"/>
                </a:solidFill>
                <a:highlight>
                  <a:srgbClr val="FFFFFF"/>
                </a:highlight>
                <a:latin typeface="Consolas"/>
                <a:ea typeface="Consolas"/>
                <a:cs typeface="Consolas"/>
                <a:sym typeface="Consolas"/>
              </a:rPr>
              <a:t>Gender:</a:t>
            </a:r>
            <a:r>
              <a:rPr b="0" lang="en-US" sz="1800">
                <a:solidFill>
                  <a:srgbClr val="800000"/>
                </a:solidFill>
                <a:highlight>
                  <a:srgbClr val="FFFFFF"/>
                </a:highlight>
                <a:latin typeface="Consolas"/>
                <a:ea typeface="Consolas"/>
                <a:cs typeface="Consolas"/>
                <a:sym typeface="Consolas"/>
              </a:rPr>
              <a:t>&lt;/td&gt;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&lt;td&gt;&lt;input</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type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"radio"</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name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"r1"</a:t>
            </a:r>
            <a:r>
              <a:rPr b="0" lang="en-US" sz="1800">
                <a:solidFill>
                  <a:srgbClr val="800000"/>
                </a:solidFill>
                <a:highlight>
                  <a:srgbClr val="FFFFFF"/>
                </a:highlight>
                <a:latin typeface="Consolas"/>
                <a:ea typeface="Consolas"/>
                <a:cs typeface="Consolas"/>
                <a:sym typeface="Consolas"/>
              </a:rPr>
              <a:t>&gt;</a:t>
            </a:r>
            <a:r>
              <a:rPr b="0" lang="en-US" sz="1800">
                <a:solidFill>
                  <a:srgbClr val="000000"/>
                </a:solidFill>
                <a:highlight>
                  <a:srgbClr val="FFFFFF"/>
                </a:highlight>
                <a:latin typeface="Consolas"/>
                <a:ea typeface="Consolas"/>
                <a:cs typeface="Consolas"/>
                <a:sym typeface="Consolas"/>
              </a:rPr>
              <a:t>Male</a:t>
            </a:r>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&lt;input</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type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"radio"</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name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"r1"</a:t>
            </a:r>
            <a:r>
              <a:rPr b="0" lang="en-US" sz="1800">
                <a:solidFill>
                  <a:srgbClr val="800000"/>
                </a:solidFill>
                <a:highlight>
                  <a:srgbClr val="FFFFFF"/>
                </a:highlight>
                <a:latin typeface="Consolas"/>
                <a:ea typeface="Consolas"/>
                <a:cs typeface="Consolas"/>
                <a:sym typeface="Consolas"/>
              </a:rPr>
              <a:t>&gt;</a:t>
            </a:r>
            <a:r>
              <a:rPr b="0" lang="en-US" sz="1800">
                <a:solidFill>
                  <a:srgbClr val="000000"/>
                </a:solidFill>
                <a:highlight>
                  <a:srgbClr val="FFFFFF"/>
                </a:highlight>
                <a:latin typeface="Consolas"/>
                <a:ea typeface="Consolas"/>
                <a:cs typeface="Consolas"/>
                <a:sym typeface="Consolas"/>
              </a:rPr>
              <a:t>Female</a:t>
            </a:r>
            <a:r>
              <a:rPr b="0" lang="en-US" sz="1800">
                <a:solidFill>
                  <a:srgbClr val="800000"/>
                </a:solidFill>
                <a:highlight>
                  <a:srgbClr val="FFFFFF"/>
                </a:highlight>
                <a:latin typeface="Consolas"/>
                <a:ea typeface="Consolas"/>
                <a:cs typeface="Consolas"/>
                <a:sym typeface="Consolas"/>
              </a:rPr>
              <a:t>&lt;/td&gt;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&lt;/tr&gt;</a:t>
            </a:r>
            <a:endParaRPr b="0" sz="1800">
              <a:solidFill>
                <a:srgbClr val="000000"/>
              </a:solidFill>
              <a:highlight>
                <a:srgbClr val="FFFFFF"/>
              </a:highlight>
              <a:latin typeface="Consolas"/>
              <a:ea typeface="Consolas"/>
              <a:cs typeface="Consolas"/>
              <a:sym typeface="Consolas"/>
            </a:endParaRPr>
          </a:p>
          <a:p>
            <a:pPr indent="-431800" lvl="0" marL="457200" rtl="0" algn="ctr">
              <a:lnSpc>
                <a:spcPct val="100000"/>
              </a:lnSpc>
              <a:spcBef>
                <a:spcPts val="640"/>
              </a:spcBef>
              <a:spcAft>
                <a:spcPts val="0"/>
              </a:spcAft>
              <a:buClr>
                <a:srgbClr val="888888"/>
              </a:buClr>
              <a:buSzPts val="3200"/>
              <a:buNone/>
            </a:pPr>
            <a:r>
              <a:t/>
            </a:r>
            <a:endParaRPr sz="1800"/>
          </a:p>
        </p:txBody>
      </p:sp>
    </p:spTree>
  </p:cSld>
  <p:clrMapOvr>
    <a:masterClrMapping/>
  </p:clrMapOvr>
  <p:transition advTm="4000">
    <p:c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55"/>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63" name="Google Shape;163;p55"/>
          <p:cNvSpPr txBox="1"/>
          <p:nvPr>
            <p:ph idx="1" type="subTitle"/>
          </p:nvPr>
        </p:nvSpPr>
        <p:spPr>
          <a:xfrm>
            <a:off x="533400" y="1371600"/>
            <a:ext cx="8153400" cy="4724400"/>
          </a:xfrm>
          <a:prstGeom prst="rect">
            <a:avLst/>
          </a:prstGeom>
          <a:noFill/>
          <a:ln>
            <a:noFill/>
          </a:ln>
        </p:spPr>
        <p:txBody>
          <a:bodyPr anchorCtr="0" anchor="t" bIns="45700" lIns="91425" spcFirstLastPara="1" rIns="91425" wrap="square" tIns="45700">
            <a:noAutofit/>
          </a:bodyPr>
          <a:lstStyle/>
          <a:p>
            <a:pPr indent="-431800" lvl="0" marL="457200" rtl="0" algn="l">
              <a:lnSpc>
                <a:spcPct val="100000"/>
              </a:lnSpc>
              <a:spcBef>
                <a:spcPts val="640"/>
              </a:spcBef>
              <a:spcAft>
                <a:spcPts val="0"/>
              </a:spcAft>
              <a:buSzPts val="3200"/>
              <a:buNone/>
            </a:pPr>
            <a:r>
              <a:rPr b="0" lang="en-US" sz="1800">
                <a:solidFill>
                  <a:srgbClr val="800000"/>
                </a:solidFill>
                <a:highlight>
                  <a:srgbClr val="FFFFFF"/>
                </a:highlight>
                <a:latin typeface="Consolas"/>
                <a:ea typeface="Consolas"/>
                <a:cs typeface="Consolas"/>
                <a:sym typeface="Consolas"/>
              </a:rPr>
              <a:t>&lt;tr&gt;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&lt;td&gt;</a:t>
            </a:r>
            <a:r>
              <a:rPr b="0" lang="en-US" sz="1800">
                <a:solidFill>
                  <a:srgbClr val="000000"/>
                </a:solidFill>
                <a:highlight>
                  <a:srgbClr val="FFFFFF"/>
                </a:highlight>
                <a:latin typeface="Consolas"/>
                <a:ea typeface="Consolas"/>
                <a:cs typeface="Consolas"/>
                <a:sym typeface="Consolas"/>
              </a:rPr>
              <a:t>Select fruit:</a:t>
            </a:r>
            <a:r>
              <a:rPr b="0" lang="en-US" sz="1800">
                <a:solidFill>
                  <a:srgbClr val="800000"/>
                </a:solidFill>
                <a:highlight>
                  <a:srgbClr val="FFFFFF"/>
                </a:highlight>
                <a:latin typeface="Consolas"/>
                <a:ea typeface="Consolas"/>
                <a:cs typeface="Consolas"/>
                <a:sym typeface="Consolas"/>
              </a:rPr>
              <a:t>&lt;/td&gt;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&lt;td&gt;&lt;select</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name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"s1"</a:t>
            </a:r>
            <a:r>
              <a:rPr b="0" lang="en-US" sz="1800">
                <a:solidFill>
                  <a:srgbClr val="800000"/>
                </a:solidFill>
                <a:highlight>
                  <a:srgbClr val="FFFFFF"/>
                </a:highlight>
                <a:latin typeface="Consolas"/>
                <a:ea typeface="Consolas"/>
                <a:cs typeface="Consolas"/>
                <a:sym typeface="Consolas"/>
              </a:rPr>
              <a:t>&gt;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&lt;option&gt;</a:t>
            </a:r>
            <a:r>
              <a:rPr b="0" lang="en-US" sz="1800">
                <a:solidFill>
                  <a:srgbClr val="000000"/>
                </a:solidFill>
                <a:highlight>
                  <a:srgbClr val="FFFFFF"/>
                </a:highlight>
                <a:latin typeface="Consolas"/>
                <a:ea typeface="Consolas"/>
                <a:cs typeface="Consolas"/>
                <a:sym typeface="Consolas"/>
              </a:rPr>
              <a:t>----select----</a:t>
            </a:r>
            <a:r>
              <a:rPr b="0" lang="en-US" sz="1800">
                <a:solidFill>
                  <a:srgbClr val="800000"/>
                </a:solidFill>
                <a:highlight>
                  <a:srgbClr val="FFFFFF"/>
                </a:highlight>
                <a:latin typeface="Consolas"/>
                <a:ea typeface="Consolas"/>
                <a:cs typeface="Consolas"/>
                <a:sym typeface="Consolas"/>
              </a:rPr>
              <a:t>&lt;/option&gt;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&lt;option&gt;</a:t>
            </a:r>
            <a:r>
              <a:rPr b="0" lang="en-US" sz="1800">
                <a:solidFill>
                  <a:srgbClr val="000000"/>
                </a:solidFill>
                <a:highlight>
                  <a:srgbClr val="FFFFFF"/>
                </a:highlight>
                <a:latin typeface="Consolas"/>
                <a:ea typeface="Consolas"/>
                <a:cs typeface="Consolas"/>
                <a:sym typeface="Consolas"/>
              </a:rPr>
              <a:t>Orange</a:t>
            </a:r>
            <a:r>
              <a:rPr b="0" lang="en-US" sz="1800">
                <a:solidFill>
                  <a:srgbClr val="800000"/>
                </a:solidFill>
                <a:highlight>
                  <a:srgbClr val="FFFFFF"/>
                </a:highlight>
                <a:latin typeface="Consolas"/>
                <a:ea typeface="Consolas"/>
                <a:cs typeface="Consolas"/>
                <a:sym typeface="Consolas"/>
              </a:rPr>
              <a:t>&lt;/option&gt;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&lt;option&gt;</a:t>
            </a:r>
            <a:r>
              <a:rPr b="0" lang="en-US" sz="1800">
                <a:solidFill>
                  <a:srgbClr val="000000"/>
                </a:solidFill>
                <a:highlight>
                  <a:srgbClr val="FFFFFF"/>
                </a:highlight>
                <a:latin typeface="Consolas"/>
                <a:ea typeface="Consolas"/>
                <a:cs typeface="Consolas"/>
                <a:sym typeface="Consolas"/>
              </a:rPr>
              <a:t>Mango</a:t>
            </a:r>
            <a:r>
              <a:rPr b="0" lang="en-US" sz="1800">
                <a:solidFill>
                  <a:srgbClr val="800000"/>
                </a:solidFill>
                <a:highlight>
                  <a:srgbClr val="FFFFFF"/>
                </a:highlight>
                <a:latin typeface="Consolas"/>
                <a:ea typeface="Consolas"/>
                <a:cs typeface="Consolas"/>
                <a:sym typeface="Consolas"/>
              </a:rPr>
              <a:t>&lt;/option&gt;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&lt;option&gt;</a:t>
            </a:r>
            <a:r>
              <a:rPr b="0" lang="en-US" sz="1800">
                <a:solidFill>
                  <a:srgbClr val="000000"/>
                </a:solidFill>
                <a:highlight>
                  <a:srgbClr val="FFFFFF"/>
                </a:highlight>
                <a:latin typeface="Consolas"/>
                <a:ea typeface="Consolas"/>
                <a:cs typeface="Consolas"/>
                <a:sym typeface="Consolas"/>
              </a:rPr>
              <a:t>Pineapple</a:t>
            </a:r>
            <a:r>
              <a:rPr b="0" lang="en-US" sz="1800">
                <a:solidFill>
                  <a:srgbClr val="800000"/>
                </a:solidFill>
                <a:highlight>
                  <a:srgbClr val="FFFFFF"/>
                </a:highlight>
                <a:latin typeface="Consolas"/>
                <a:ea typeface="Consolas"/>
                <a:cs typeface="Consolas"/>
                <a:sym typeface="Consolas"/>
              </a:rPr>
              <a:t>&lt;/option&gt;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&lt;option&gt;</a:t>
            </a:r>
            <a:r>
              <a:rPr b="0" lang="en-US" sz="1800">
                <a:solidFill>
                  <a:srgbClr val="000000"/>
                </a:solidFill>
                <a:highlight>
                  <a:srgbClr val="FFFFFF"/>
                </a:highlight>
                <a:latin typeface="Consolas"/>
                <a:ea typeface="Consolas"/>
                <a:cs typeface="Consolas"/>
                <a:sym typeface="Consolas"/>
              </a:rPr>
              <a:t>Strawberry</a:t>
            </a:r>
            <a:r>
              <a:rPr b="0" lang="en-US" sz="1800">
                <a:solidFill>
                  <a:srgbClr val="800000"/>
                </a:solidFill>
                <a:highlight>
                  <a:srgbClr val="FFFFFF"/>
                </a:highlight>
                <a:latin typeface="Consolas"/>
                <a:ea typeface="Consolas"/>
                <a:cs typeface="Consolas"/>
                <a:sym typeface="Consolas"/>
              </a:rPr>
              <a:t>&lt;/option&gt;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&lt;/select&gt;&lt;/td&gt;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&lt;/tr&gt;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&lt;tr&gt;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&lt;td&gt;</a:t>
            </a:r>
            <a:r>
              <a:rPr b="0" lang="en-US" sz="1800">
                <a:solidFill>
                  <a:srgbClr val="000000"/>
                </a:solidFill>
                <a:highlight>
                  <a:srgbClr val="FFFFFF"/>
                </a:highlight>
                <a:latin typeface="Consolas"/>
                <a:ea typeface="Consolas"/>
                <a:cs typeface="Consolas"/>
                <a:sym typeface="Consolas"/>
              </a:rPr>
              <a:t>Select Resume</a:t>
            </a:r>
            <a:r>
              <a:rPr b="0" lang="en-US" sz="1800">
                <a:solidFill>
                  <a:srgbClr val="800000"/>
                </a:solidFill>
                <a:highlight>
                  <a:srgbClr val="FFFFFF"/>
                </a:highlight>
                <a:latin typeface="Consolas"/>
                <a:ea typeface="Consolas"/>
                <a:cs typeface="Consolas"/>
                <a:sym typeface="Consolas"/>
              </a:rPr>
              <a:t>&lt;/td&gt;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&lt;td&gt;&lt;input</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type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"file"</a:t>
            </a:r>
            <a:r>
              <a:rPr b="0" lang="en-US" sz="1800">
                <a:solidFill>
                  <a:srgbClr val="800000"/>
                </a:solidFill>
                <a:highlight>
                  <a:srgbClr val="FFFFFF"/>
                </a:highlight>
                <a:latin typeface="Consolas"/>
                <a:ea typeface="Consolas"/>
                <a:cs typeface="Consolas"/>
                <a:sym typeface="Consolas"/>
              </a:rPr>
              <a:t>/&gt;&lt;/td&gt;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&lt;/tr&gt;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t/>
            </a:r>
            <a:endParaRPr sz="1800"/>
          </a:p>
        </p:txBody>
      </p:sp>
    </p:spTree>
  </p:cSld>
  <p:clrMapOvr>
    <a:masterClrMapping/>
  </p:clrMapOvr>
  <p:transition advTm="4000">
    <p:c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56"/>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69" name="Google Shape;169;p56"/>
          <p:cNvSpPr txBox="1"/>
          <p:nvPr>
            <p:ph idx="1" type="subTitle"/>
          </p:nvPr>
        </p:nvSpPr>
        <p:spPr>
          <a:xfrm>
            <a:off x="533400" y="1371600"/>
            <a:ext cx="8153400" cy="4724400"/>
          </a:xfrm>
          <a:prstGeom prst="rect">
            <a:avLst/>
          </a:prstGeom>
          <a:noFill/>
          <a:ln>
            <a:noFill/>
          </a:ln>
        </p:spPr>
        <p:txBody>
          <a:bodyPr anchorCtr="0" anchor="t" bIns="45700" lIns="91425" spcFirstLastPara="1" rIns="91425" wrap="square" tIns="45700">
            <a:noAutofit/>
          </a:bodyPr>
          <a:lstStyle/>
          <a:p>
            <a:pPr indent="-431800" lvl="0" marL="457200" rtl="0" algn="l">
              <a:lnSpc>
                <a:spcPct val="100000"/>
              </a:lnSpc>
              <a:spcBef>
                <a:spcPts val="640"/>
              </a:spcBef>
              <a:spcAft>
                <a:spcPts val="0"/>
              </a:spcAft>
              <a:buSzPts val="3200"/>
              <a:buNone/>
            </a:pPr>
            <a:r>
              <a:rPr b="0" lang="en-US" sz="1800">
                <a:solidFill>
                  <a:srgbClr val="800000"/>
                </a:solidFill>
                <a:highlight>
                  <a:srgbClr val="FFFFFF"/>
                </a:highlight>
                <a:latin typeface="Consolas"/>
                <a:ea typeface="Consolas"/>
                <a:cs typeface="Consolas"/>
                <a:sym typeface="Consolas"/>
              </a:rPr>
              <a:t>&lt;tr&gt;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&lt;td</a:t>
            </a:r>
            <a:r>
              <a:rPr b="0" lang="en-US" sz="1800">
                <a:solidFill>
                  <a:srgbClr val="000000"/>
                </a:solidFill>
                <a:highlight>
                  <a:srgbClr val="FFFFFF"/>
                </a:highlight>
                <a:latin typeface="Consolas"/>
                <a:ea typeface="Consolas"/>
                <a:cs typeface="Consolas"/>
                <a:sym typeface="Consolas"/>
              </a:rPr>
              <a:t> </a:t>
            </a:r>
            <a:r>
              <a:rPr b="0" lang="en-US" sz="1800">
                <a:solidFill>
                  <a:srgbClr val="CD3131"/>
                </a:solidFill>
                <a:highlight>
                  <a:srgbClr val="FFFFFF"/>
                </a:highlight>
                <a:latin typeface="Consolas"/>
                <a:ea typeface="Consolas"/>
                <a:cs typeface="Consolas"/>
                <a:sym typeface="Consolas"/>
              </a:rPr>
              <a:t>align</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"center"</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colspan</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"2"</a:t>
            </a:r>
            <a:r>
              <a:rPr b="0" lang="en-US" sz="1800">
                <a:solidFill>
                  <a:srgbClr val="800000"/>
                </a:solidFill>
                <a:highlight>
                  <a:srgbClr val="FFFFFF"/>
                </a:highlight>
                <a:latin typeface="Consolas"/>
                <a:ea typeface="Consolas"/>
                <a:cs typeface="Consolas"/>
                <a:sym typeface="Consolas"/>
              </a:rPr>
              <a:t>&gt;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&lt;input</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type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"submit"</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value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"REGISTER"</a:t>
            </a:r>
            <a:r>
              <a:rPr b="0" lang="en-US" sz="1800">
                <a:solidFill>
                  <a:srgbClr val="800000"/>
                </a:solidFill>
                <a:highlight>
                  <a:srgbClr val="FFFFFF"/>
                </a:highlight>
                <a:latin typeface="Consolas"/>
                <a:ea typeface="Consolas"/>
                <a:cs typeface="Consolas"/>
                <a:sym typeface="Consolas"/>
              </a:rPr>
              <a:t>/&gt;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&lt;input</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type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"reset"</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value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"CLEAR"</a:t>
            </a:r>
            <a:r>
              <a:rPr b="0" lang="en-US" sz="1800">
                <a:solidFill>
                  <a:srgbClr val="800000"/>
                </a:solidFill>
                <a:highlight>
                  <a:srgbClr val="FFFFFF"/>
                </a:highlight>
                <a:latin typeface="Consolas"/>
                <a:ea typeface="Consolas"/>
                <a:cs typeface="Consolas"/>
                <a:sym typeface="Consolas"/>
              </a:rPr>
              <a:t>/&gt;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&lt;input</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type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"button"</a:t>
            </a:r>
            <a:r>
              <a:rPr b="0" lang="en-US" sz="1800">
                <a:solidFill>
                  <a:srgbClr val="000000"/>
                </a:solidFill>
                <a:highlight>
                  <a:srgbClr val="FFFFFF"/>
                </a:highlight>
                <a:latin typeface="Consolas"/>
                <a:ea typeface="Consolas"/>
                <a:cs typeface="Consolas"/>
                <a:sym typeface="Consolas"/>
              </a:rPr>
              <a:t> </a:t>
            </a:r>
            <a:r>
              <a:rPr b="0" lang="en-US" sz="1800">
                <a:solidFill>
                  <a:srgbClr val="E50000"/>
                </a:solidFill>
                <a:highlight>
                  <a:srgbClr val="FFFFFF"/>
                </a:highlight>
                <a:latin typeface="Consolas"/>
                <a:ea typeface="Consolas"/>
                <a:cs typeface="Consolas"/>
                <a:sym typeface="Consolas"/>
              </a:rPr>
              <a:t>value</a:t>
            </a:r>
            <a:r>
              <a:rPr b="0" lang="en-US" sz="1800">
                <a:solidFill>
                  <a:srgbClr val="000000"/>
                </a:solidFill>
                <a:highlight>
                  <a:srgbClr val="FFFFFF"/>
                </a:highlight>
                <a:latin typeface="Consolas"/>
                <a:ea typeface="Consolas"/>
                <a:cs typeface="Consolas"/>
                <a:sym typeface="Consolas"/>
              </a:rPr>
              <a:t>=</a:t>
            </a:r>
            <a:r>
              <a:rPr b="0" lang="en-US" sz="1800">
                <a:solidFill>
                  <a:srgbClr val="0000FF"/>
                </a:solidFill>
                <a:highlight>
                  <a:srgbClr val="FFFFFF"/>
                </a:highlight>
                <a:latin typeface="Consolas"/>
                <a:ea typeface="Consolas"/>
                <a:cs typeface="Consolas"/>
                <a:sym typeface="Consolas"/>
              </a:rPr>
              <a:t>"OK"</a:t>
            </a:r>
            <a:r>
              <a:rPr b="0" lang="en-US" sz="1800">
                <a:solidFill>
                  <a:srgbClr val="800000"/>
                </a:solidFill>
                <a:highlight>
                  <a:srgbClr val="FFFFFF"/>
                </a:highlight>
                <a:latin typeface="Consolas"/>
                <a:ea typeface="Consolas"/>
                <a:cs typeface="Consolas"/>
                <a:sym typeface="Consolas"/>
              </a:rPr>
              <a:t>/&gt;&lt;/td&gt;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&lt;/tr&gt;</a:t>
            </a:r>
            <a:r>
              <a:rPr b="0" lang="en-US" sz="1800">
                <a:solidFill>
                  <a:srgbClr val="000000"/>
                </a:solidFill>
                <a:highlight>
                  <a:srgbClr val="FFFFFF"/>
                </a:highlight>
                <a:latin typeface="Consolas"/>
                <a:ea typeface="Consolas"/>
                <a:cs typeface="Consolas"/>
                <a:sym typeface="Consolas"/>
              </a:rPr>
              <a:t> </a:t>
            </a:r>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&lt;/table&gt;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&lt;/form&gt;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000000"/>
                </a:solidFill>
                <a:highlight>
                  <a:srgbClr val="FFFFFF"/>
                </a:highlight>
                <a:latin typeface="Consolas"/>
                <a:ea typeface="Consolas"/>
                <a:cs typeface="Consolas"/>
                <a:sym typeface="Consolas"/>
              </a:rPr>
              <a:t>    </a:t>
            </a:r>
            <a:r>
              <a:rPr b="0" lang="en-US" sz="1800">
                <a:solidFill>
                  <a:srgbClr val="800000"/>
                </a:solidFill>
                <a:highlight>
                  <a:srgbClr val="FFFFFF"/>
                </a:highlight>
                <a:latin typeface="Consolas"/>
                <a:ea typeface="Consolas"/>
                <a:cs typeface="Consolas"/>
                <a:sym typeface="Consolas"/>
              </a:rPr>
              <a:t>&lt;/body&gt;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rPr b="0" lang="en-US" sz="1800">
                <a:solidFill>
                  <a:srgbClr val="800000"/>
                </a:solidFill>
                <a:highlight>
                  <a:srgbClr val="FFFFFF"/>
                </a:highlight>
                <a:latin typeface="Consolas"/>
                <a:ea typeface="Consolas"/>
                <a:cs typeface="Consolas"/>
                <a:sym typeface="Consolas"/>
              </a:rPr>
              <a:t>&lt;/html&gt;</a:t>
            </a:r>
            <a:endParaRPr b="0" sz="1800">
              <a:solidFill>
                <a:srgbClr val="000000"/>
              </a:solidFill>
              <a:highlight>
                <a:srgbClr val="FFFFFF"/>
              </a:highlight>
              <a:latin typeface="Consolas"/>
              <a:ea typeface="Consolas"/>
              <a:cs typeface="Consolas"/>
              <a:sym typeface="Consolas"/>
            </a:endParaRPr>
          </a:p>
          <a:p>
            <a:pPr indent="-431800" lvl="0" marL="457200" rtl="0" algn="l">
              <a:lnSpc>
                <a:spcPct val="100000"/>
              </a:lnSpc>
              <a:spcBef>
                <a:spcPts val="640"/>
              </a:spcBef>
              <a:spcAft>
                <a:spcPts val="0"/>
              </a:spcAft>
              <a:buSzPts val="3200"/>
              <a:buNone/>
            </a:pPr>
            <a:r>
              <a:t/>
            </a:r>
            <a:endParaRPr sz="1800"/>
          </a:p>
        </p:txBody>
      </p:sp>
    </p:spTree>
  </p:cSld>
  <p:clrMapOvr>
    <a:masterClrMapping/>
  </p:clrMapOvr>
  <p:transition advTm="4000">
    <p:c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57"/>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Media Tags</a:t>
            </a:r>
            <a:endParaRPr/>
          </a:p>
        </p:txBody>
      </p:sp>
      <p:sp>
        <p:nvSpPr>
          <p:cNvPr id="175" name="Google Shape;175;p57"/>
          <p:cNvSpPr txBox="1"/>
          <p:nvPr>
            <p:ph idx="1" type="subTitle"/>
          </p:nvPr>
        </p:nvSpPr>
        <p:spPr>
          <a:xfrm>
            <a:off x="258638" y="1026638"/>
            <a:ext cx="8537492" cy="5016758"/>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Calibri"/>
                <a:ea typeface="Calibri"/>
                <a:cs typeface="Calibri"/>
                <a:sym typeface="Calibri"/>
              </a:rPr>
              <a:t>Multimedia tags include:</a:t>
            </a:r>
            <a:endParaRPr/>
          </a:p>
          <a:p>
            <a:pPr indent="-127000" lvl="0" marL="0" marR="0" rtl="0" algn="just">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Image</a:t>
            </a:r>
            <a:endParaRPr b="0" i="0" sz="2000" u="none" cap="none" strike="noStrike">
              <a:solidFill>
                <a:schemeClr val="dk1"/>
              </a:solidFill>
              <a:latin typeface="Arial"/>
              <a:ea typeface="Arial"/>
              <a:cs typeface="Arial"/>
              <a:sym typeface="Arial"/>
            </a:endParaRPr>
          </a:p>
          <a:p>
            <a:pPr indent="-127000" lvl="0" marL="0" marR="0" rtl="0" algn="just">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Video</a:t>
            </a:r>
            <a:endParaRPr b="0" i="0" sz="2000" u="none" cap="none" strike="noStrike">
              <a:solidFill>
                <a:schemeClr val="dk1"/>
              </a:solidFill>
              <a:latin typeface="Arial"/>
              <a:ea typeface="Arial"/>
              <a:cs typeface="Arial"/>
              <a:sym typeface="Arial"/>
            </a:endParaRPr>
          </a:p>
          <a:p>
            <a:pPr indent="-127000" lvl="0" marL="0" marR="0" rtl="0" algn="just">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Audio</a:t>
            </a:r>
            <a:endParaRPr b="0" i="0" sz="2000" u="none" cap="none" strike="noStrike">
              <a:solidFill>
                <a:schemeClr val="dk1"/>
              </a:solidFill>
              <a:latin typeface="Arial"/>
              <a:ea typeface="Arial"/>
              <a:cs typeface="Arial"/>
              <a:sym typeface="Arial"/>
            </a:endParaRPr>
          </a:p>
          <a:p>
            <a:pPr indent="-127000" lvl="0" marL="0" marR="0" rtl="0" algn="just">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Flash Files</a:t>
            </a:r>
            <a:endParaRPr b="0" i="0" sz="2000" u="none" cap="none" strike="noStrike">
              <a:solidFill>
                <a:schemeClr val="dk1"/>
              </a:solidFill>
              <a:latin typeface="Arial"/>
              <a:ea typeface="Arial"/>
              <a:cs typeface="Arial"/>
              <a:sym typeface="Arial"/>
            </a:endParaRPr>
          </a:p>
          <a:p>
            <a:pPr indent="-127000" lvl="0" marL="0" marR="0" rtl="0" algn="just">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Marquee </a:t>
            </a:r>
            <a:endParaRPr b="0" i="0" sz="20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Calibri"/>
                <a:ea typeface="Calibri"/>
                <a:cs typeface="Calibri"/>
                <a:sym typeface="Calibri"/>
              </a:rPr>
              <a:t>1.Image Tag: </a:t>
            </a:r>
            <a:r>
              <a:rPr b="0" i="0" lang="en-US" sz="2000" u="none" cap="none" strike="noStrike">
                <a:solidFill>
                  <a:srgbClr val="000000"/>
                </a:solidFill>
                <a:latin typeface="Quattrocento Sans"/>
                <a:ea typeface="Quattrocento Sans"/>
                <a:cs typeface="Quattrocento Sans"/>
                <a:sym typeface="Quattrocento Sans"/>
              </a:rPr>
              <a:t>The</a:t>
            </a:r>
            <a:r>
              <a:rPr b="0" i="0" lang="en-US" sz="2000" u="none" cap="none" strike="noStrike">
                <a:solidFill>
                  <a:srgbClr val="000000"/>
                </a:solidFill>
                <a:latin typeface="Calibri"/>
                <a:ea typeface="Calibri"/>
                <a:cs typeface="Calibri"/>
                <a:sym typeface="Calibri"/>
              </a:rPr>
              <a:t> </a:t>
            </a:r>
            <a:r>
              <a:rPr b="1" i="0" lang="en-US" sz="2000" u="none" cap="none" strike="noStrike">
                <a:solidFill>
                  <a:srgbClr val="000000"/>
                </a:solidFill>
                <a:latin typeface="Arial"/>
                <a:ea typeface="Arial"/>
                <a:cs typeface="Arial"/>
                <a:sym typeface="Arial"/>
              </a:rPr>
              <a:t>&lt;img&gt;</a:t>
            </a:r>
            <a:r>
              <a:rPr b="0" i="0" lang="en-US" sz="2000" u="none" cap="none" strike="noStrike">
                <a:solidFill>
                  <a:srgbClr val="000000"/>
                </a:solidFill>
                <a:latin typeface="Calibri"/>
                <a:ea typeface="Calibri"/>
                <a:cs typeface="Calibri"/>
                <a:sym typeface="Calibri"/>
              </a:rPr>
              <a:t> </a:t>
            </a:r>
            <a:r>
              <a:rPr b="0" i="0" lang="en-US" sz="2000" u="sng" cap="none" strike="noStrike">
                <a:solidFill>
                  <a:schemeClr val="dk1"/>
                </a:solidFill>
                <a:latin typeface="Quattrocento Sans"/>
                <a:ea typeface="Quattrocento Sans"/>
                <a:cs typeface="Quattrocento Sans"/>
                <a:sym typeface="Quattrocento Sans"/>
                <a:hlinkClick r:id="rId3">
                  <a:extLst>
                    <a:ext uri="{A12FA001-AC4F-418D-AE19-62706E023703}">
                      <ahyp:hlinkClr val="tx"/>
                    </a:ext>
                  </a:extLst>
                </a:hlinkClick>
              </a:rPr>
              <a:t>HTML</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Quattrocento Sans"/>
                <a:ea typeface="Quattrocento Sans"/>
                <a:cs typeface="Quattrocento Sans"/>
                <a:sym typeface="Quattrocento Sans"/>
              </a:rPr>
              <a:t>element embeds an image into the document.  It has various attributes such as</a:t>
            </a:r>
            <a:endParaRPr b="0" i="0" sz="20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Quattrocento Sans"/>
                <a:ea typeface="Quattrocento Sans"/>
                <a:cs typeface="Quattrocento Sans"/>
                <a:sym typeface="Quattrocento Sans"/>
              </a:rPr>
              <a:t>src</a:t>
            </a:r>
            <a:r>
              <a:rPr b="0" i="0" lang="en-US" sz="2000" u="none" cap="none" strike="noStrike">
                <a:solidFill>
                  <a:srgbClr val="000000"/>
                </a:solidFill>
                <a:latin typeface="Quattrocento Sans"/>
                <a:ea typeface="Quattrocento Sans"/>
                <a:cs typeface="Quattrocento Sans"/>
                <a:sym typeface="Quattrocento Sans"/>
              </a:rPr>
              <a:t> attribute is required and contains path to the image you want to embed. </a:t>
            </a:r>
            <a:endParaRPr b="0" i="0" sz="20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FF0000"/>
              </a:buClr>
              <a:buSzPts val="2000"/>
              <a:buFont typeface="Arial"/>
              <a:buNone/>
            </a:pPr>
            <a:r>
              <a:rPr b="1" i="0" lang="en-US" sz="2000" u="none" cap="none" strike="noStrike">
                <a:solidFill>
                  <a:srgbClr val="FF0000"/>
                </a:solidFill>
                <a:latin typeface="Arial"/>
                <a:ea typeface="Arial"/>
                <a:cs typeface="Arial"/>
                <a:sym typeface="Arial"/>
              </a:rPr>
              <a:t>alt</a:t>
            </a:r>
            <a:r>
              <a:rPr b="0" i="0" lang="en-US" sz="2000" u="none" cap="none" strike="noStrike">
                <a:solidFill>
                  <a:srgbClr val="FF0000"/>
                </a:solidFill>
                <a:latin typeface="Calibri"/>
                <a:ea typeface="Calibri"/>
                <a:cs typeface="Calibri"/>
                <a:sym typeface="Calibri"/>
              </a:rPr>
              <a:t> </a:t>
            </a:r>
            <a:r>
              <a:rPr b="0" i="0" lang="en-US" sz="2000" u="none" cap="none" strike="noStrike">
                <a:solidFill>
                  <a:srgbClr val="000000"/>
                </a:solidFill>
                <a:latin typeface="Quattrocento Sans"/>
                <a:ea typeface="Quattrocento Sans"/>
                <a:cs typeface="Quattrocento Sans"/>
                <a:sym typeface="Quattrocento Sans"/>
              </a:rPr>
              <a:t>(alternative text) attribute holds a textual replacement for the image, which is mandatory and</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Quattrocento Sans"/>
                <a:ea typeface="Quattrocento Sans"/>
                <a:cs typeface="Quattrocento Sans"/>
                <a:sym typeface="Quattrocento Sans"/>
              </a:rPr>
              <a:t>incredibly useful</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Quattrocento Sans"/>
                <a:ea typeface="Quattrocento Sans"/>
                <a:cs typeface="Quattrocento Sans"/>
                <a:sym typeface="Quattrocento Sans"/>
              </a:rPr>
              <a:t>for </a:t>
            </a:r>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Quattrocento Sans"/>
                <a:ea typeface="Quattrocento Sans"/>
                <a:cs typeface="Quattrocento Sans"/>
                <a:sym typeface="Quattrocento Sans"/>
              </a:rPr>
              <a:t>accessibility </a:t>
            </a:r>
            <a:r>
              <a:rPr b="0" i="0" lang="en-US" sz="2000" u="none" cap="none" strike="noStrike">
                <a:solidFill>
                  <a:srgbClr val="000000"/>
                </a:solidFill>
                <a:latin typeface="Calibri"/>
                <a:ea typeface="Calibri"/>
                <a:cs typeface="Calibri"/>
                <a:sym typeface="Calibri"/>
              </a:rPr>
              <a:t>—</a:t>
            </a:r>
            <a:r>
              <a:rPr b="0" i="0" lang="en-US" sz="2000" u="none" cap="none" strike="noStrike">
                <a:solidFill>
                  <a:srgbClr val="000000"/>
                </a:solidFill>
                <a:latin typeface="Quattrocento Sans"/>
                <a:ea typeface="Quattrocento Sans"/>
                <a:cs typeface="Quattrocento Sans"/>
                <a:sym typeface="Quattrocento Sans"/>
              </a:rPr>
              <a:t> screen readers read the attribute value out to their users so they know what the image means. </a:t>
            </a:r>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Quattrocento Sans"/>
                <a:ea typeface="Quattrocento Sans"/>
                <a:cs typeface="Quattrocento Sans"/>
                <a:sym typeface="Quattrocento Sans"/>
              </a:rPr>
              <a:t>Alt text is also displayed on the page if the image can't be loaded for some reason: for example, network errors, content blocking etc.</a:t>
            </a:r>
            <a:endParaRPr b="0" i="0" sz="2000" u="none" cap="none" strike="noStrike">
              <a:solidFill>
                <a:schemeClr val="dk1"/>
              </a:solidFill>
              <a:latin typeface="Arial"/>
              <a:ea typeface="Arial"/>
              <a:cs typeface="Arial"/>
              <a:sym typeface="Arial"/>
            </a:endParaRPr>
          </a:p>
        </p:txBody>
      </p:sp>
    </p:spTree>
  </p:cSld>
  <p:clrMapOvr>
    <a:masterClrMapping/>
  </p:clrMapOvr>
  <p:transition advTm="4000">
    <p:c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58"/>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81" name="Google Shape;181;p58"/>
          <p:cNvSpPr txBox="1"/>
          <p:nvPr>
            <p:ph idx="1" type="subTitle"/>
          </p:nvPr>
        </p:nvSpPr>
        <p:spPr>
          <a:xfrm>
            <a:off x="215347" y="203758"/>
            <a:ext cx="8570843" cy="645048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888888"/>
              </a:buClr>
              <a:buSzPts val="2400"/>
              <a:buFont typeface="Calibri"/>
              <a:buNone/>
            </a:pPr>
            <a:r>
              <a:t/>
            </a:r>
            <a:endParaRPr b="1" i="0" sz="2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888888"/>
              </a:buClr>
              <a:buSzPts val="2400"/>
              <a:buFont typeface="Calibri"/>
              <a:buNone/>
            </a:pPr>
            <a:r>
              <a:t/>
            </a:r>
            <a:endParaRPr b="1" sz="2400">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FF0000"/>
              </a:buClr>
              <a:buSzPts val="2200"/>
              <a:buFont typeface="Calibri"/>
              <a:buNone/>
            </a:pPr>
            <a:r>
              <a:rPr b="1" i="0" lang="en-US" sz="2200" u="none" cap="none" strike="noStrike">
                <a:solidFill>
                  <a:srgbClr val="FF0000"/>
                </a:solidFill>
                <a:latin typeface="Calibri"/>
                <a:ea typeface="Calibri"/>
                <a:cs typeface="Calibri"/>
                <a:sym typeface="Calibri"/>
              </a:rPr>
              <a:t>hspace</a:t>
            </a:r>
            <a:r>
              <a:rPr b="1" i="0" lang="en-US" sz="2200" u="none" cap="none" strike="noStrike">
                <a:solidFill>
                  <a:schemeClr val="dk1"/>
                </a:solidFill>
                <a:latin typeface="Calibri"/>
                <a:ea typeface="Calibri"/>
                <a:cs typeface="Calibri"/>
                <a:sym typeface="Calibri"/>
              </a:rPr>
              <a:t>: (Horizontal space) </a:t>
            </a:r>
            <a:r>
              <a:rPr b="0" i="0" lang="en-US" sz="2200" u="none" cap="none" strike="noStrike">
                <a:solidFill>
                  <a:srgbClr val="000000"/>
                </a:solidFill>
                <a:latin typeface="Quattrocento Sans"/>
                <a:ea typeface="Quattrocento Sans"/>
                <a:cs typeface="Quattrocento Sans"/>
                <a:sym typeface="Quattrocento Sans"/>
              </a:rPr>
              <a:t>The number of pixels of white space on the left and right of the image. </a:t>
            </a:r>
            <a:endParaRPr/>
          </a:p>
          <a:p>
            <a:pPr indent="0" lvl="0" marL="0" marR="0" rtl="0" algn="l">
              <a:lnSpc>
                <a:spcPct val="100000"/>
              </a:lnSpc>
              <a:spcBef>
                <a:spcPts val="0"/>
              </a:spcBef>
              <a:spcAft>
                <a:spcPts val="0"/>
              </a:spcAft>
              <a:buClr>
                <a:srgbClr val="000000"/>
              </a:buClr>
              <a:buSzPts val="2200"/>
              <a:buFont typeface="Quattrocento Sans"/>
              <a:buNone/>
            </a:pPr>
            <a:r>
              <a:rPr b="0" i="0" lang="en-US" sz="2200" u="none" cap="none" strike="noStrike">
                <a:solidFill>
                  <a:srgbClr val="000000"/>
                </a:solidFill>
                <a:latin typeface="Quattrocento Sans"/>
                <a:ea typeface="Quattrocento Sans"/>
                <a:cs typeface="Quattrocento Sans"/>
                <a:sym typeface="Quattrocento Sans"/>
              </a:rPr>
              <a:t>Use the</a:t>
            </a:r>
            <a:r>
              <a:rPr b="0" i="0" lang="en-US" sz="2200" u="none" cap="none" strike="noStrike">
                <a:solidFill>
                  <a:srgbClr val="000000"/>
                </a:solidFill>
                <a:latin typeface="Calibri"/>
                <a:ea typeface="Calibri"/>
                <a:cs typeface="Calibri"/>
                <a:sym typeface="Calibri"/>
              </a:rPr>
              <a:t> </a:t>
            </a:r>
            <a:r>
              <a:rPr b="0" i="0" lang="en-US" sz="2200" u="sng" cap="none" strike="noStrike">
                <a:solidFill>
                  <a:srgbClr val="000000"/>
                </a:solidFill>
                <a:latin typeface="Arial"/>
                <a:ea typeface="Arial"/>
                <a:cs typeface="Arial"/>
                <a:sym typeface="Arial"/>
                <a:hlinkClick r:id="rId3">
                  <a:extLst>
                    <a:ext uri="{A12FA001-AC4F-418D-AE19-62706E023703}">
                      <ahyp:hlinkClr val="tx"/>
                    </a:ext>
                  </a:extLst>
                </a:hlinkClick>
              </a:rPr>
              <a:t>margin</a:t>
            </a:r>
            <a:r>
              <a:rPr b="0" i="0" lang="en-US" sz="2200" u="none" cap="none" strike="noStrike">
                <a:solidFill>
                  <a:srgbClr val="000000"/>
                </a:solidFill>
                <a:latin typeface="Calibri"/>
                <a:ea typeface="Calibri"/>
                <a:cs typeface="Calibri"/>
                <a:sym typeface="Calibri"/>
              </a:rPr>
              <a:t> </a:t>
            </a:r>
            <a:r>
              <a:rPr b="0" i="0" lang="en-US" sz="2200" u="none" cap="none" strike="noStrike">
                <a:solidFill>
                  <a:srgbClr val="000000"/>
                </a:solidFill>
                <a:latin typeface="Quattrocento Sans"/>
                <a:ea typeface="Quattrocento Sans"/>
                <a:cs typeface="Quattrocento Sans"/>
                <a:sym typeface="Quattrocento Sans"/>
              </a:rPr>
              <a:t>CSS property instead.</a:t>
            </a:r>
            <a:endParaRPr b="0" i="0" sz="2200" u="none" cap="none" strike="noStrike">
              <a:solidFill>
                <a:schemeClr val="dk1"/>
              </a:solidFill>
            </a:endParaRPr>
          </a:p>
          <a:p>
            <a:pPr indent="0" lvl="0" marL="0" marR="0" rtl="0" algn="l">
              <a:lnSpc>
                <a:spcPct val="100000"/>
              </a:lnSpc>
              <a:spcBef>
                <a:spcPts val="0"/>
              </a:spcBef>
              <a:spcAft>
                <a:spcPts val="0"/>
              </a:spcAft>
              <a:buClr>
                <a:srgbClr val="FF0000"/>
              </a:buClr>
              <a:buSzPts val="2200"/>
              <a:buFont typeface="Calibri"/>
              <a:buNone/>
            </a:pPr>
            <a:r>
              <a:rPr b="1" i="0" lang="en-US" sz="2200" u="none" cap="none" strike="noStrike">
                <a:solidFill>
                  <a:srgbClr val="FF0000"/>
                </a:solidFill>
                <a:latin typeface="Calibri"/>
                <a:ea typeface="Calibri"/>
                <a:cs typeface="Calibri"/>
                <a:sym typeface="Calibri"/>
              </a:rPr>
              <a:t>vspace</a:t>
            </a:r>
            <a:r>
              <a:rPr b="1" i="0" lang="en-US" sz="2200" u="none" cap="none" strike="noStrike">
                <a:solidFill>
                  <a:schemeClr val="dk1"/>
                </a:solidFill>
                <a:latin typeface="Calibri"/>
                <a:ea typeface="Calibri"/>
                <a:cs typeface="Calibri"/>
                <a:sym typeface="Calibri"/>
              </a:rPr>
              <a:t>: (vertical space) </a:t>
            </a:r>
            <a:r>
              <a:rPr b="0" i="0" lang="en-US" sz="2200" u="none" cap="none" strike="noStrike">
                <a:solidFill>
                  <a:srgbClr val="000000"/>
                </a:solidFill>
                <a:latin typeface="Quattrocento Sans"/>
                <a:ea typeface="Quattrocento Sans"/>
                <a:cs typeface="Quattrocento Sans"/>
                <a:sym typeface="Quattrocento Sans"/>
              </a:rPr>
              <a:t>The number of pixels of white space above and below the image. </a:t>
            </a:r>
            <a:endParaRPr/>
          </a:p>
          <a:p>
            <a:pPr indent="0" lvl="0" marL="0" marR="0" rtl="0" algn="l">
              <a:lnSpc>
                <a:spcPct val="100000"/>
              </a:lnSpc>
              <a:spcBef>
                <a:spcPts val="0"/>
              </a:spcBef>
              <a:spcAft>
                <a:spcPts val="0"/>
              </a:spcAft>
              <a:buClr>
                <a:srgbClr val="000000"/>
              </a:buClr>
              <a:buSzPts val="2200"/>
              <a:buFont typeface="Quattrocento Sans"/>
              <a:buNone/>
            </a:pPr>
            <a:r>
              <a:rPr b="0" i="0" lang="en-US" sz="2200" u="none" cap="none" strike="noStrike">
                <a:solidFill>
                  <a:srgbClr val="000000"/>
                </a:solidFill>
                <a:latin typeface="Quattrocento Sans"/>
                <a:ea typeface="Quattrocento Sans"/>
                <a:cs typeface="Quattrocento Sans"/>
                <a:sym typeface="Quattrocento Sans"/>
              </a:rPr>
              <a:t>Use the</a:t>
            </a:r>
            <a:r>
              <a:rPr b="0" i="0" lang="en-US" sz="2200" u="none" cap="none" strike="noStrike">
                <a:solidFill>
                  <a:srgbClr val="000000"/>
                </a:solidFill>
                <a:latin typeface="Calibri"/>
                <a:ea typeface="Calibri"/>
                <a:cs typeface="Calibri"/>
                <a:sym typeface="Calibri"/>
              </a:rPr>
              <a:t> </a:t>
            </a:r>
            <a:r>
              <a:rPr b="0" i="0" lang="en-US" sz="2200" u="sng" cap="none" strike="noStrike">
                <a:solidFill>
                  <a:srgbClr val="000000"/>
                </a:solidFill>
                <a:latin typeface="Arial"/>
                <a:ea typeface="Arial"/>
                <a:cs typeface="Arial"/>
                <a:sym typeface="Arial"/>
                <a:hlinkClick r:id="rId4">
                  <a:extLst>
                    <a:ext uri="{A12FA001-AC4F-418D-AE19-62706E023703}">
                      <ahyp:hlinkClr val="tx"/>
                    </a:ext>
                  </a:extLst>
                </a:hlinkClick>
              </a:rPr>
              <a:t>margin</a:t>
            </a:r>
            <a:r>
              <a:rPr b="0" i="0" lang="en-US" sz="2200" u="none" cap="none" strike="noStrike">
                <a:solidFill>
                  <a:srgbClr val="000000"/>
                </a:solidFill>
                <a:latin typeface="Calibri"/>
                <a:ea typeface="Calibri"/>
                <a:cs typeface="Calibri"/>
                <a:sym typeface="Calibri"/>
              </a:rPr>
              <a:t> </a:t>
            </a:r>
            <a:r>
              <a:rPr b="0" i="0" lang="en-US" sz="2200" u="none" cap="none" strike="noStrike">
                <a:solidFill>
                  <a:srgbClr val="000000"/>
                </a:solidFill>
                <a:latin typeface="Quattrocento Sans"/>
                <a:ea typeface="Quattrocento Sans"/>
                <a:cs typeface="Quattrocento Sans"/>
                <a:sym typeface="Quattrocento Sans"/>
              </a:rPr>
              <a:t>CSS property instead.</a:t>
            </a:r>
            <a:endParaRPr b="0" i="0" sz="2200" u="none" cap="none" strike="noStrike">
              <a:solidFill>
                <a:schemeClr val="dk1"/>
              </a:solidFill>
            </a:endParaRPr>
          </a:p>
          <a:p>
            <a:pPr indent="0" lvl="0" marL="0" marR="0" rtl="0" algn="l">
              <a:lnSpc>
                <a:spcPct val="100000"/>
              </a:lnSpc>
              <a:spcBef>
                <a:spcPts val="0"/>
              </a:spcBef>
              <a:spcAft>
                <a:spcPts val="0"/>
              </a:spcAft>
              <a:buClr>
                <a:srgbClr val="FF0000"/>
              </a:buClr>
              <a:buSzPts val="2200"/>
              <a:buFont typeface="Quattrocento Sans"/>
              <a:buNone/>
            </a:pPr>
            <a:r>
              <a:rPr b="1" i="0" lang="en-US" sz="2200" u="none" cap="none" strike="noStrike">
                <a:solidFill>
                  <a:srgbClr val="FF0000"/>
                </a:solidFill>
                <a:latin typeface="Quattrocento Sans"/>
                <a:ea typeface="Quattrocento Sans"/>
                <a:cs typeface="Quattrocento Sans"/>
                <a:sym typeface="Quattrocento Sans"/>
              </a:rPr>
              <a:t>width/height</a:t>
            </a:r>
            <a:r>
              <a:rPr b="1" i="0" lang="en-US" sz="2200" u="none" cap="none" strike="noStrike">
                <a:solidFill>
                  <a:srgbClr val="1B1B1B"/>
                </a:solidFill>
                <a:latin typeface="Quattrocento Sans"/>
                <a:ea typeface="Quattrocento Sans"/>
                <a:cs typeface="Quattrocento Sans"/>
                <a:sym typeface="Quattrocento Sans"/>
              </a:rPr>
              <a:t>:</a:t>
            </a:r>
            <a:r>
              <a:rPr b="0" i="0" lang="en-US" sz="2200" u="none" cap="none" strike="noStrike">
                <a:solidFill>
                  <a:srgbClr val="1B1B1B"/>
                </a:solidFill>
                <a:latin typeface="Quattrocento Sans"/>
                <a:ea typeface="Quattrocento Sans"/>
                <a:cs typeface="Quattrocento Sans"/>
                <a:sym typeface="Quattrocento Sans"/>
              </a:rPr>
              <a:t> The intrinsic width/height of the image in pixels. Must be an integer without a unit.</a:t>
            </a:r>
            <a:endParaRPr/>
          </a:p>
          <a:p>
            <a:pPr indent="0" lvl="0" marL="0" marR="0" rtl="0" algn="l">
              <a:lnSpc>
                <a:spcPct val="100000"/>
              </a:lnSpc>
              <a:spcBef>
                <a:spcPts val="0"/>
              </a:spcBef>
              <a:spcAft>
                <a:spcPts val="0"/>
              </a:spcAft>
              <a:buClr>
                <a:srgbClr val="888888"/>
              </a:buClr>
              <a:buSzPts val="2400"/>
              <a:buFont typeface="Calibri"/>
              <a:buNone/>
            </a:pPr>
            <a:r>
              <a:t/>
            </a:r>
            <a:endParaRPr sz="2400">
              <a:solidFill>
                <a:srgbClr val="1B1B1B"/>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888888"/>
              </a:buClr>
              <a:buSzPts val="1050"/>
              <a:buFont typeface="Calibri"/>
              <a:buNone/>
            </a:pPr>
            <a:r>
              <a:t/>
            </a:r>
            <a:endParaRPr b="0" i="0" sz="1050" u="none" cap="none" strike="noStrike">
              <a:solidFill>
                <a:schemeClr val="dk1"/>
              </a:solidFill>
            </a:endParaRPr>
          </a:p>
          <a:p>
            <a:pPr indent="0" lvl="0" marL="0" marR="0" rtl="0" algn="l">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&lt;img src="3_small.jpg" </a:t>
            </a:r>
            <a:endParaRPr b="0" i="0" sz="1050" u="none" cap="none" strike="noStrike">
              <a:solidFill>
                <a:schemeClr val="dk1"/>
              </a:solidFill>
            </a:endParaRPr>
          </a:p>
          <a:p>
            <a:pPr indent="0" lvl="0" marL="0" marR="0" rtl="0" algn="l">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     width="550" height="450" border="10"  </a:t>
            </a:r>
            <a:endParaRPr b="0" i="0" sz="1050" u="none" cap="none" strike="noStrike">
              <a:solidFill>
                <a:schemeClr val="dk1"/>
              </a:solidFill>
            </a:endParaRPr>
          </a:p>
          <a:p>
            <a:pPr indent="0" lvl="0" marL="0" marR="0" rtl="0" algn="l">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     hspace="400" vspace="100" alt="Sunset View"&gt;</a:t>
            </a:r>
            <a:endParaRPr/>
          </a:p>
          <a:p>
            <a:pPr indent="0" lvl="0" marL="0" marR="0" rtl="0" algn="ctr">
              <a:lnSpc>
                <a:spcPct val="59375"/>
              </a:lnSpc>
              <a:spcBef>
                <a:spcPts val="0"/>
              </a:spcBef>
              <a:spcAft>
                <a:spcPts val="0"/>
              </a:spcAft>
              <a:buSzPts val="3200"/>
              <a:buNone/>
            </a:pPr>
            <a:r>
              <a:t/>
            </a:r>
            <a:endParaRPr sz="2400">
              <a:solidFill>
                <a:srgbClr val="000000"/>
              </a:solidFill>
              <a:highlight>
                <a:srgbClr val="FFFFFF"/>
              </a:highlight>
              <a:latin typeface="Consolas"/>
              <a:ea typeface="Consolas"/>
              <a:cs typeface="Consolas"/>
              <a:sym typeface="Consolas"/>
            </a:endParaRPr>
          </a:p>
          <a:p>
            <a:pPr indent="0" lvl="0" marL="0" marR="0" rtl="0" algn="l">
              <a:lnSpc>
                <a:spcPct val="79166"/>
              </a:lnSpc>
              <a:spcBef>
                <a:spcPts val="0"/>
              </a:spcBef>
              <a:spcAft>
                <a:spcPts val="0"/>
              </a:spcAft>
              <a:buSzPts val="3200"/>
              <a:buNone/>
            </a:pPr>
            <a:r>
              <a:rPr b="1" lang="en-US" sz="1800" u="sng">
                <a:solidFill>
                  <a:srgbClr val="000000"/>
                </a:solidFill>
                <a:highlight>
                  <a:srgbClr val="FFFFFF"/>
                </a:highlight>
                <a:latin typeface="Calibri"/>
                <a:ea typeface="Calibri"/>
                <a:cs typeface="Calibri"/>
                <a:sym typeface="Calibri"/>
              </a:rPr>
              <a:t>USE IMAGE DIRECTLY FROM INTERNET WITHOUT DOWNLOADING</a:t>
            </a:r>
            <a:endParaRPr/>
          </a:p>
          <a:p>
            <a:pPr indent="0" lvl="0" marL="0" marR="0" rtl="0" algn="l">
              <a:lnSpc>
                <a:spcPct val="79166"/>
              </a:lnSpc>
              <a:spcBef>
                <a:spcPts val="0"/>
              </a:spcBef>
              <a:spcAft>
                <a:spcPts val="0"/>
              </a:spcAft>
              <a:buSzPts val="3200"/>
              <a:buNone/>
            </a:pPr>
            <a:r>
              <a:t/>
            </a:r>
            <a:endParaRPr sz="1800">
              <a:highlight>
                <a:srgbClr val="FFFFFF"/>
              </a:highlight>
              <a:latin typeface="Calibri"/>
              <a:ea typeface="Calibri"/>
              <a:cs typeface="Calibri"/>
              <a:sym typeface="Calibri"/>
            </a:endParaRPr>
          </a:p>
          <a:p>
            <a:pPr indent="0" lvl="0" marL="0" marR="0" rtl="0" algn="l">
              <a:lnSpc>
                <a:spcPct val="79166"/>
              </a:lnSpc>
              <a:spcBef>
                <a:spcPts val="0"/>
              </a:spcBef>
              <a:spcAft>
                <a:spcPts val="0"/>
              </a:spcAft>
              <a:buSzPts val="3200"/>
              <a:buNone/>
            </a:pPr>
            <a:r>
              <a:rPr lang="en-US" sz="1800">
                <a:solidFill>
                  <a:srgbClr val="000000"/>
                </a:solidFill>
                <a:highlight>
                  <a:srgbClr val="FFFFFF"/>
                </a:highlight>
                <a:latin typeface="Calibri"/>
                <a:ea typeface="Calibri"/>
                <a:cs typeface="Calibri"/>
                <a:sym typeface="Calibri"/>
              </a:rPr>
              <a:t>Right click on image and click </a:t>
            </a:r>
            <a:r>
              <a:rPr i="1" lang="en-US" sz="1800">
                <a:solidFill>
                  <a:srgbClr val="000000"/>
                </a:solidFill>
                <a:highlight>
                  <a:srgbClr val="FFFFFF"/>
                </a:highlight>
                <a:latin typeface="Calibri"/>
                <a:ea typeface="Calibri"/>
                <a:cs typeface="Calibri"/>
                <a:sym typeface="Calibri"/>
              </a:rPr>
              <a:t>copy image address</a:t>
            </a:r>
            <a:r>
              <a:rPr lang="en-US" sz="1800">
                <a:solidFill>
                  <a:srgbClr val="000000"/>
                </a:solidFill>
                <a:highlight>
                  <a:srgbClr val="FFFFFF"/>
                </a:highlight>
                <a:latin typeface="Calibri"/>
                <a:ea typeface="Calibri"/>
                <a:cs typeface="Calibri"/>
                <a:sym typeface="Calibri"/>
              </a:rPr>
              <a:t> and paste in </a:t>
            </a:r>
            <a:r>
              <a:rPr b="1" lang="en-US" sz="1800">
                <a:solidFill>
                  <a:srgbClr val="000000"/>
                </a:solidFill>
                <a:highlight>
                  <a:srgbClr val="FFFFFF"/>
                </a:highlight>
                <a:latin typeface="Calibri"/>
                <a:ea typeface="Calibri"/>
                <a:cs typeface="Calibri"/>
                <a:sym typeface="Calibri"/>
              </a:rPr>
              <a:t>src</a:t>
            </a:r>
            <a:r>
              <a:rPr lang="en-US" sz="1800">
                <a:solidFill>
                  <a:srgbClr val="000000"/>
                </a:solidFill>
                <a:highlight>
                  <a:srgbClr val="FFFFFF"/>
                </a:highlight>
                <a:latin typeface="Calibri"/>
                <a:ea typeface="Calibri"/>
                <a:cs typeface="Calibri"/>
                <a:sym typeface="Calibri"/>
              </a:rPr>
              <a:t> attribute</a:t>
            </a:r>
            <a:endParaRPr sz="1800">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888888"/>
              </a:buClr>
              <a:buSzPts val="3600"/>
              <a:buFont typeface="Calibri"/>
              <a:buNone/>
            </a:pPr>
            <a:r>
              <a:t/>
            </a:r>
            <a:endParaRPr b="0" i="0" sz="3600" u="none" cap="none" strike="noStrike">
              <a:solidFill>
                <a:schemeClr val="dk1"/>
              </a:solidFill>
              <a:latin typeface="Arial"/>
              <a:ea typeface="Arial"/>
              <a:cs typeface="Arial"/>
              <a:sym typeface="Arial"/>
            </a:endParaRPr>
          </a:p>
        </p:txBody>
      </p:sp>
    </p:spTree>
  </p:cSld>
  <p:clrMapOvr>
    <a:masterClrMapping/>
  </p:clrMapOvr>
  <p:transition advTm="4000">
    <p:c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59"/>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 Video</a:t>
            </a:r>
            <a:endParaRPr/>
          </a:p>
        </p:txBody>
      </p:sp>
      <p:sp>
        <p:nvSpPr>
          <p:cNvPr id="187" name="Google Shape;187;p59"/>
          <p:cNvSpPr txBox="1"/>
          <p:nvPr>
            <p:ph idx="1" type="subTitle"/>
          </p:nvPr>
        </p:nvSpPr>
        <p:spPr>
          <a:xfrm>
            <a:off x="395908" y="1066800"/>
            <a:ext cx="8352183" cy="5455920"/>
          </a:xfrm>
          <a:prstGeom prst="rect">
            <a:avLst/>
          </a:prstGeom>
          <a:noFill/>
          <a:ln>
            <a:noFill/>
          </a:ln>
        </p:spPr>
        <p:txBody>
          <a:bodyPr anchorCtr="0" anchor="t" bIns="45700" lIns="91425" spcFirstLastPara="1" rIns="91425" wrap="square" tIns="45700">
            <a:noAutofit/>
          </a:bodyPr>
          <a:lstStyle/>
          <a:p>
            <a:pPr indent="-431800" lvl="0" marL="457200" rtl="0" algn="l">
              <a:lnSpc>
                <a:spcPct val="100000"/>
              </a:lnSpc>
              <a:spcBef>
                <a:spcPts val="640"/>
              </a:spcBef>
              <a:spcAft>
                <a:spcPts val="0"/>
              </a:spcAft>
              <a:buSzPts val="3200"/>
              <a:buNone/>
            </a:pPr>
            <a:r>
              <a:rPr lang="en-US"/>
              <a:t>Code to embed video:</a:t>
            </a:r>
            <a:endParaRPr/>
          </a:p>
          <a:p>
            <a:pPr indent="0" lvl="0" marL="0" marR="0" rtl="0" algn="l">
              <a:lnSpc>
                <a:spcPct val="83333"/>
              </a:lnSpc>
              <a:spcBef>
                <a:spcPts val="0"/>
              </a:spcBef>
              <a:spcAft>
                <a:spcPts val="0"/>
              </a:spcAft>
              <a:buSzPts val="3200"/>
              <a:buNone/>
            </a:pPr>
            <a:r>
              <a:rPr lang="en-US" sz="1800">
                <a:solidFill>
                  <a:srgbClr val="000000"/>
                </a:solidFill>
                <a:highlight>
                  <a:srgbClr val="FFFFFF"/>
                </a:highlight>
                <a:latin typeface="Consolas"/>
                <a:ea typeface="Consolas"/>
                <a:cs typeface="Consolas"/>
                <a:sym typeface="Consolas"/>
              </a:rPr>
              <a:t>&lt;video width="320" height="240" controls autoplay muted loop&gt; </a:t>
            </a:r>
            <a:endParaRPr sz="1800">
              <a:highlight>
                <a:srgbClr val="FFFFFF"/>
              </a:highlight>
              <a:latin typeface="Calibri"/>
              <a:ea typeface="Calibri"/>
              <a:cs typeface="Calibri"/>
              <a:sym typeface="Calibri"/>
            </a:endParaRPr>
          </a:p>
          <a:p>
            <a:pPr indent="0" lvl="0" marL="0" marR="0" rtl="0" algn="l">
              <a:lnSpc>
                <a:spcPct val="83333"/>
              </a:lnSpc>
              <a:spcBef>
                <a:spcPts val="0"/>
              </a:spcBef>
              <a:spcAft>
                <a:spcPts val="0"/>
              </a:spcAft>
              <a:buSzPts val="3200"/>
              <a:buNone/>
            </a:pPr>
            <a:r>
              <a:rPr lang="en-US" sz="1800">
                <a:solidFill>
                  <a:srgbClr val="000000"/>
                </a:solidFill>
                <a:highlight>
                  <a:srgbClr val="FFFFFF"/>
                </a:highlight>
                <a:latin typeface="Consolas"/>
                <a:ea typeface="Consolas"/>
                <a:cs typeface="Consolas"/>
                <a:sym typeface="Consolas"/>
              </a:rPr>
              <a:t>                &lt;source src="Colourmixing.mp4“ type="video/mp4"&gt;</a:t>
            </a:r>
            <a:endParaRPr sz="1800">
              <a:highlight>
                <a:srgbClr val="FFFFFF"/>
              </a:highlight>
              <a:latin typeface="Calibri"/>
              <a:ea typeface="Calibri"/>
              <a:cs typeface="Calibri"/>
              <a:sym typeface="Calibri"/>
            </a:endParaRPr>
          </a:p>
          <a:p>
            <a:pPr indent="0" lvl="0" marL="0" marR="0" rtl="0" algn="l">
              <a:lnSpc>
                <a:spcPct val="83333"/>
              </a:lnSpc>
              <a:spcBef>
                <a:spcPts val="0"/>
              </a:spcBef>
              <a:spcAft>
                <a:spcPts val="0"/>
              </a:spcAft>
              <a:buSzPts val="3200"/>
              <a:buNone/>
            </a:pPr>
            <a:r>
              <a:rPr lang="en-US" sz="1800">
                <a:solidFill>
                  <a:srgbClr val="000000"/>
                </a:solidFill>
                <a:highlight>
                  <a:srgbClr val="FFFFFF"/>
                </a:highlight>
                <a:latin typeface="Consolas"/>
                <a:ea typeface="Consolas"/>
                <a:cs typeface="Consolas"/>
                <a:sym typeface="Consolas"/>
              </a:rPr>
              <a:t>                &lt;source src="movie.ogg" type="video/ogg"&gt;</a:t>
            </a:r>
            <a:endParaRPr sz="1800">
              <a:highlight>
                <a:srgbClr val="FFFFFF"/>
              </a:highlight>
              <a:latin typeface="Calibri"/>
              <a:ea typeface="Calibri"/>
              <a:cs typeface="Calibri"/>
              <a:sym typeface="Calibri"/>
            </a:endParaRPr>
          </a:p>
          <a:p>
            <a:pPr indent="0" lvl="0" marL="0" marR="0" rtl="0" algn="l">
              <a:lnSpc>
                <a:spcPct val="83333"/>
              </a:lnSpc>
              <a:spcBef>
                <a:spcPts val="0"/>
              </a:spcBef>
              <a:spcAft>
                <a:spcPts val="0"/>
              </a:spcAft>
              <a:buSzPts val="3200"/>
              <a:buNone/>
            </a:pPr>
            <a:r>
              <a:rPr lang="en-US" sz="1800">
                <a:solidFill>
                  <a:srgbClr val="000000"/>
                </a:solidFill>
                <a:highlight>
                  <a:srgbClr val="FFFFFF"/>
                </a:highlight>
                <a:latin typeface="Consolas"/>
                <a:ea typeface="Consolas"/>
                <a:cs typeface="Consolas"/>
                <a:sym typeface="Consolas"/>
              </a:rPr>
              <a:t>Your browser does not support the video tag.</a:t>
            </a:r>
            <a:endParaRPr sz="1800">
              <a:highlight>
                <a:srgbClr val="FFFFFF"/>
              </a:highlight>
              <a:latin typeface="Calibri"/>
              <a:ea typeface="Calibri"/>
              <a:cs typeface="Calibri"/>
              <a:sym typeface="Calibri"/>
            </a:endParaRPr>
          </a:p>
          <a:p>
            <a:pPr indent="0" lvl="0" marL="0" marR="0" rtl="0" algn="l">
              <a:lnSpc>
                <a:spcPct val="83333"/>
              </a:lnSpc>
              <a:spcBef>
                <a:spcPts val="0"/>
              </a:spcBef>
              <a:spcAft>
                <a:spcPts val="0"/>
              </a:spcAft>
              <a:buSzPts val="3200"/>
              <a:buNone/>
            </a:pPr>
            <a:r>
              <a:rPr lang="en-US" sz="1800">
                <a:solidFill>
                  <a:srgbClr val="000000"/>
                </a:solidFill>
                <a:highlight>
                  <a:srgbClr val="FFFFFF"/>
                </a:highlight>
                <a:latin typeface="Consolas"/>
                <a:ea typeface="Consolas"/>
                <a:cs typeface="Consolas"/>
                <a:sym typeface="Consolas"/>
              </a:rPr>
              <a:t>&lt;/video&gt;</a:t>
            </a:r>
            <a:endParaRPr/>
          </a:p>
          <a:p>
            <a:pPr indent="0" lvl="0" marL="0" marR="0" rtl="0" algn="l">
              <a:lnSpc>
                <a:spcPct val="83333"/>
              </a:lnSpc>
              <a:spcBef>
                <a:spcPts val="0"/>
              </a:spcBef>
              <a:spcAft>
                <a:spcPts val="0"/>
              </a:spcAft>
              <a:buSzPts val="3200"/>
              <a:buNone/>
            </a:pPr>
            <a:r>
              <a:t/>
            </a:r>
            <a:endParaRPr sz="1800">
              <a:solidFill>
                <a:srgbClr val="000000"/>
              </a:solidFill>
              <a:highlight>
                <a:srgbClr val="FFFFFF"/>
              </a:highlight>
              <a:latin typeface="Consolas"/>
              <a:ea typeface="Consolas"/>
              <a:cs typeface="Consolas"/>
              <a:sym typeface="Consolas"/>
            </a:endParaRPr>
          </a:p>
          <a:p>
            <a:pPr indent="0" lvl="0" marL="0" marR="0" rtl="0" algn="just">
              <a:lnSpc>
                <a:spcPct val="100000"/>
              </a:lnSpc>
              <a:spcBef>
                <a:spcPts val="0"/>
              </a:spcBef>
              <a:spcAft>
                <a:spcPts val="0"/>
              </a:spcAft>
              <a:buClr>
                <a:schemeClr val="dk1"/>
              </a:buClr>
              <a:buSzPts val="1900"/>
              <a:buFont typeface="Calibri"/>
              <a:buNone/>
            </a:pPr>
            <a:r>
              <a:rPr lang="en-US" sz="1900">
                <a:solidFill>
                  <a:schemeClr val="dk1"/>
                </a:solidFill>
                <a:highlight>
                  <a:srgbClr val="FFFFFF"/>
                </a:highlight>
                <a:latin typeface="Calibri"/>
                <a:ea typeface="Calibri"/>
                <a:cs typeface="Calibri"/>
                <a:sym typeface="Calibri"/>
              </a:rPr>
              <a:t>The </a:t>
            </a:r>
            <a:r>
              <a:rPr b="1" lang="en-US" sz="1900">
                <a:solidFill>
                  <a:schemeClr val="dk1"/>
                </a:solidFill>
                <a:highlight>
                  <a:srgbClr val="FFFFFF"/>
                </a:highlight>
                <a:latin typeface="Calibri"/>
                <a:ea typeface="Calibri"/>
                <a:cs typeface="Calibri"/>
                <a:sym typeface="Calibri"/>
              </a:rPr>
              <a:t>&lt;video&gt; </a:t>
            </a:r>
            <a:r>
              <a:rPr lang="en-US" sz="1900">
                <a:solidFill>
                  <a:schemeClr val="dk1"/>
                </a:solidFill>
                <a:highlight>
                  <a:srgbClr val="FFFFFF"/>
                </a:highlight>
                <a:latin typeface="Calibri"/>
                <a:ea typeface="Calibri"/>
                <a:cs typeface="Calibri"/>
                <a:sym typeface="Calibri"/>
              </a:rPr>
              <a:t>tag is used to embed video content in a document. The &lt;video&gt; tag contains one or more &lt;source&gt; tags with different video sources. </a:t>
            </a:r>
            <a:r>
              <a:rPr b="0" i="0" lang="en-US" sz="1900" u="none" cap="none" strike="noStrike">
                <a:solidFill>
                  <a:schemeClr val="dk1"/>
                </a:solidFill>
                <a:latin typeface="Calibri"/>
                <a:ea typeface="Calibri"/>
                <a:cs typeface="Calibri"/>
                <a:sym typeface="Calibri"/>
              </a:rPr>
              <a:t>The </a:t>
            </a:r>
            <a:r>
              <a:rPr b="0" i="0" lang="en-US" sz="1900" u="none" cap="none" strike="noStrike">
                <a:solidFill>
                  <a:srgbClr val="000000"/>
                </a:solidFill>
                <a:latin typeface="Calibri"/>
                <a:ea typeface="Calibri"/>
                <a:cs typeface="Calibri"/>
                <a:sym typeface="Calibri"/>
              </a:rPr>
              <a:t>browser will choose the first source it supports. The text between the </a:t>
            </a:r>
            <a:r>
              <a:rPr b="0" i="0" lang="en-US" sz="1900" u="none" cap="none" strike="noStrike">
                <a:solidFill>
                  <a:srgbClr val="DC143C"/>
                </a:solidFill>
                <a:latin typeface="Calibri"/>
                <a:ea typeface="Calibri"/>
                <a:cs typeface="Calibri"/>
                <a:sym typeface="Calibri"/>
              </a:rPr>
              <a:t>&lt;video&gt;</a:t>
            </a:r>
            <a:r>
              <a:rPr b="0" i="0" lang="en-US" sz="1900" u="none" cap="none" strike="noStrike">
                <a:solidFill>
                  <a:srgbClr val="000000"/>
                </a:solidFill>
                <a:latin typeface="Calibri"/>
                <a:ea typeface="Calibri"/>
                <a:cs typeface="Calibri"/>
                <a:sym typeface="Calibri"/>
              </a:rPr>
              <a:t> and </a:t>
            </a:r>
            <a:r>
              <a:rPr b="0" i="0" lang="en-US" sz="1900" u="none" cap="none" strike="noStrike">
                <a:solidFill>
                  <a:srgbClr val="DC143C"/>
                </a:solidFill>
                <a:latin typeface="Calibri"/>
                <a:ea typeface="Calibri"/>
                <a:cs typeface="Calibri"/>
                <a:sym typeface="Calibri"/>
              </a:rPr>
              <a:t>&lt;/video&gt;</a:t>
            </a:r>
            <a:r>
              <a:rPr b="0" i="0" lang="en-US" sz="1900" u="none" cap="none" strike="noStrike">
                <a:solidFill>
                  <a:srgbClr val="000000"/>
                </a:solidFill>
                <a:latin typeface="Calibri"/>
                <a:ea typeface="Calibri"/>
                <a:cs typeface="Calibri"/>
                <a:sym typeface="Calibri"/>
              </a:rPr>
              <a:t> tags will only be displayed in browsers that do not support the &lt;video&gt; element. There are three supported video formats in HTML: MP4, WebM, and OGG.</a:t>
            </a:r>
            <a:r>
              <a:rPr b="0" i="0" lang="en-US" sz="1900" u="none" cap="none" strike="noStrike">
                <a:solidFill>
                  <a:schemeClr val="dk1"/>
                </a:solidFill>
                <a:latin typeface="Calibri"/>
                <a:ea typeface="Calibri"/>
                <a:cs typeface="Calibri"/>
                <a:sym typeface="Calibri"/>
              </a:rPr>
              <a:t> </a:t>
            </a:r>
            <a:endParaRPr/>
          </a:p>
          <a:p>
            <a:pPr indent="0" lvl="0" marL="0" marR="0" rtl="0" algn="just">
              <a:lnSpc>
                <a:spcPct val="100000"/>
              </a:lnSpc>
              <a:spcBef>
                <a:spcPts val="0"/>
              </a:spcBef>
              <a:spcAft>
                <a:spcPts val="0"/>
              </a:spcAft>
              <a:buClr>
                <a:schemeClr val="dk1"/>
              </a:buClr>
              <a:buSzPts val="1900"/>
              <a:buFont typeface="Calibri"/>
              <a:buNone/>
            </a:pPr>
            <a:r>
              <a:rPr b="1" lang="en-US" sz="1900">
                <a:solidFill>
                  <a:schemeClr val="dk1"/>
                </a:solidFill>
                <a:highlight>
                  <a:srgbClr val="FFFF00"/>
                </a:highlight>
                <a:latin typeface="Calibri"/>
                <a:ea typeface="Calibri"/>
                <a:cs typeface="Calibri"/>
                <a:sym typeface="Calibri"/>
              </a:rPr>
              <a:t>Attributes:</a:t>
            </a:r>
            <a:endParaRPr b="1" i="0" sz="1900" u="none" cap="none" strike="noStrike">
              <a:solidFill>
                <a:schemeClr val="dk1"/>
              </a:solidFill>
              <a:highlight>
                <a:srgbClr val="FFFF00"/>
              </a:highlight>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900"/>
              <a:buFont typeface="Calibri"/>
              <a:buNone/>
            </a:pPr>
            <a:r>
              <a:rPr b="1" i="0" lang="en-US" sz="1900" u="none" cap="none" strike="noStrike">
                <a:solidFill>
                  <a:srgbClr val="000000"/>
                </a:solidFill>
                <a:latin typeface="Calibri"/>
                <a:ea typeface="Calibri"/>
                <a:cs typeface="Calibri"/>
                <a:sym typeface="Calibri"/>
              </a:rPr>
              <a:t>Controls:</a:t>
            </a:r>
            <a:r>
              <a:rPr b="0" i="0" lang="en-US" sz="1900" u="none" cap="none" strike="noStrike">
                <a:solidFill>
                  <a:srgbClr val="000000"/>
                </a:solidFill>
                <a:latin typeface="Calibri"/>
                <a:ea typeface="Calibri"/>
                <a:cs typeface="Calibri"/>
                <a:sym typeface="Calibri"/>
              </a:rPr>
              <a:t> Specifies that video controls should be displayed (such as a play/pause button etc).</a:t>
            </a:r>
            <a:endParaRPr b="0" i="0" sz="19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900"/>
              <a:buFont typeface="Calibri"/>
              <a:buNone/>
            </a:pPr>
            <a:r>
              <a:rPr b="1" i="0" lang="en-US" sz="1900" u="none" cap="none" strike="noStrike">
                <a:solidFill>
                  <a:srgbClr val="000000"/>
                </a:solidFill>
                <a:latin typeface="Calibri"/>
                <a:ea typeface="Calibri"/>
                <a:cs typeface="Calibri"/>
                <a:sym typeface="Calibri"/>
              </a:rPr>
              <a:t>Loop:</a:t>
            </a:r>
            <a:r>
              <a:rPr b="0" i="0" lang="en-US" sz="1900" u="none" cap="none" strike="noStrike">
                <a:solidFill>
                  <a:srgbClr val="000000"/>
                </a:solidFill>
                <a:latin typeface="Calibri"/>
                <a:ea typeface="Calibri"/>
                <a:cs typeface="Calibri"/>
                <a:sym typeface="Calibri"/>
              </a:rPr>
              <a:t> Specifies that the video will start over again &amp; again, every time it is finished. </a:t>
            </a:r>
            <a:endParaRPr/>
          </a:p>
          <a:p>
            <a:pPr indent="0" lvl="0" marL="0" marR="0" rtl="0" algn="just">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We cannot set the number of times a video is played i.e. No control over loop attribute but we can use JavaScript to set loops.</a:t>
            </a:r>
            <a:endParaRPr b="0" i="0" sz="19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888888"/>
              </a:buClr>
              <a:buSzPts val="1800"/>
              <a:buFont typeface="Calibri"/>
              <a:buNone/>
            </a:pPr>
            <a:r>
              <a:t/>
            </a:r>
            <a:endParaRPr b="0" i="0" sz="1800" u="none" cap="none" strike="noStrike">
              <a:solidFill>
                <a:schemeClr val="dk1"/>
              </a:solidFill>
            </a:endParaRPr>
          </a:p>
          <a:p>
            <a:pPr indent="0" lvl="0" marL="0" marR="0" rtl="0" algn="just">
              <a:lnSpc>
                <a:spcPct val="100000"/>
              </a:lnSpc>
              <a:spcBef>
                <a:spcPts val="0"/>
              </a:spcBef>
              <a:spcAft>
                <a:spcPts val="0"/>
              </a:spcAft>
              <a:buClr>
                <a:srgbClr val="888888"/>
              </a:buClr>
              <a:buSzPts val="1800"/>
              <a:buFont typeface="Calibri"/>
              <a:buNone/>
            </a:pPr>
            <a:r>
              <a:t/>
            </a:r>
            <a:endParaRPr b="0" i="0" sz="1800" u="none" cap="none" strike="noStrike">
              <a:solidFill>
                <a:schemeClr val="dk1"/>
              </a:solidFill>
              <a:latin typeface="Arial"/>
              <a:ea typeface="Arial"/>
              <a:cs typeface="Arial"/>
              <a:sym typeface="Arial"/>
            </a:endParaRPr>
          </a:p>
          <a:p>
            <a:pPr indent="203200" lvl="0" marL="0" marR="0" rtl="0" algn="l">
              <a:lnSpc>
                <a:spcPct val="83333"/>
              </a:lnSpc>
              <a:spcBef>
                <a:spcPts val="0"/>
              </a:spcBef>
              <a:spcAft>
                <a:spcPts val="0"/>
              </a:spcAft>
              <a:buSzPts val="3200"/>
              <a:buFont typeface="Arial"/>
              <a:buNone/>
            </a:pPr>
            <a:r>
              <a:t/>
            </a:r>
            <a:endParaRPr sz="1800">
              <a:highlight>
                <a:srgbClr val="FFFFFF"/>
              </a:highlight>
              <a:latin typeface="Calibri"/>
              <a:ea typeface="Calibri"/>
              <a:cs typeface="Calibri"/>
              <a:sym typeface="Calibri"/>
            </a:endParaRPr>
          </a:p>
          <a:p>
            <a:pPr indent="-431800" lvl="0" marL="457200" rtl="0" algn="ctr">
              <a:lnSpc>
                <a:spcPct val="100000"/>
              </a:lnSpc>
              <a:spcBef>
                <a:spcPts val="640"/>
              </a:spcBef>
              <a:spcAft>
                <a:spcPts val="0"/>
              </a:spcAft>
              <a:buClr>
                <a:srgbClr val="888888"/>
              </a:buClr>
              <a:buSzPts val="3200"/>
              <a:buNone/>
            </a:pPr>
            <a:r>
              <a:t/>
            </a:r>
            <a:endParaRPr/>
          </a:p>
        </p:txBody>
      </p:sp>
    </p:spTree>
  </p:cSld>
  <p:clrMapOvr>
    <a:masterClrMapping/>
  </p:clrMapOvr>
  <p:transition advTm="4000">
    <p:c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60"/>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93" name="Google Shape;193;p60"/>
          <p:cNvSpPr txBox="1"/>
          <p:nvPr>
            <p:ph idx="1" type="subTitle"/>
          </p:nvPr>
        </p:nvSpPr>
        <p:spPr>
          <a:xfrm>
            <a:off x="243840" y="1199664"/>
            <a:ext cx="8351520" cy="193899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Verdana"/>
              <a:buNone/>
            </a:pPr>
            <a:r>
              <a:rPr b="1" i="0" lang="en-US" sz="2000" u="none" cap="none" strike="noStrike">
                <a:solidFill>
                  <a:srgbClr val="000000"/>
                </a:solidFill>
                <a:latin typeface="Verdana"/>
                <a:ea typeface="Verdana"/>
                <a:cs typeface="Verdana"/>
                <a:sym typeface="Verdana"/>
              </a:rPr>
              <a:t>Autoplay:</a:t>
            </a:r>
            <a:r>
              <a:rPr b="0" i="0" lang="en-US" sz="2000" u="none" cap="none" strike="noStrike">
                <a:solidFill>
                  <a:srgbClr val="000000"/>
                </a:solidFill>
                <a:latin typeface="Verdana"/>
                <a:ea typeface="Verdana"/>
                <a:cs typeface="Verdana"/>
                <a:sym typeface="Verdana"/>
              </a:rPr>
              <a:t> Specifies that the video will start playing upon page load.</a:t>
            </a:r>
            <a:r>
              <a:rPr b="0" i="0" lang="en-US" sz="2000" u="none" cap="none" strike="noStrike">
                <a:solidFill>
                  <a:srgbClr val="0C0D0E"/>
                </a:solidFill>
                <a:latin typeface="Quattrocento Sans"/>
                <a:ea typeface="Quattrocento Sans"/>
                <a:cs typeface="Quattrocento Sans"/>
                <a:sym typeface="Quattrocento Sans"/>
              </a:rPr>
              <a:t> </a:t>
            </a:r>
            <a:r>
              <a:rPr b="0" i="0" lang="en-US" sz="2000" u="none" cap="none" strike="noStrike">
                <a:solidFill>
                  <a:srgbClr val="0C0D0E"/>
                </a:solidFill>
                <a:latin typeface="Verdana"/>
                <a:ea typeface="Verdana"/>
                <a:cs typeface="Verdana"/>
                <a:sym typeface="Verdana"/>
              </a:rPr>
              <a:t>Many browsers can only autoplay the videos with sound off, so you'll need to add </a:t>
            </a:r>
            <a:r>
              <a:rPr b="0" i="1" lang="en-US" sz="2000" u="sng" cap="none" strike="noStrike">
                <a:solidFill>
                  <a:srgbClr val="0C0D0E"/>
                </a:solidFill>
                <a:latin typeface="Verdana"/>
                <a:ea typeface="Verdana"/>
                <a:cs typeface="Verdana"/>
                <a:sym typeface="Verdana"/>
              </a:rPr>
              <a:t>muted</a:t>
            </a:r>
            <a:r>
              <a:rPr b="0" i="0" lang="en-US" sz="2000" u="none" cap="none" strike="noStrike">
                <a:solidFill>
                  <a:srgbClr val="0C0D0E"/>
                </a:solidFill>
                <a:latin typeface="Verdana"/>
                <a:ea typeface="Verdana"/>
                <a:cs typeface="Verdana"/>
                <a:sym typeface="Verdana"/>
              </a:rPr>
              <a:t> attribute</a:t>
            </a:r>
            <a:endParaRPr b="0" i="0" sz="2000" u="none" cap="none" strike="noStrike">
              <a:solidFill>
                <a:schemeClr val="dk1"/>
              </a:solidFill>
            </a:endParaRPr>
          </a:p>
          <a:p>
            <a:pPr indent="0" lvl="0" marL="0" marR="0" rtl="0" algn="just">
              <a:lnSpc>
                <a:spcPct val="100000"/>
              </a:lnSpc>
              <a:spcBef>
                <a:spcPts val="0"/>
              </a:spcBef>
              <a:spcAft>
                <a:spcPts val="0"/>
              </a:spcAft>
              <a:buClr>
                <a:srgbClr val="000000"/>
              </a:buClr>
              <a:buSzPts val="2000"/>
              <a:buFont typeface="Verdana"/>
              <a:buNone/>
            </a:pPr>
            <a:r>
              <a:rPr b="1" i="0" lang="en-US" sz="2000" u="none" cap="none" strike="noStrike">
                <a:solidFill>
                  <a:srgbClr val="000000"/>
                </a:solidFill>
                <a:latin typeface="Verdana"/>
                <a:ea typeface="Verdana"/>
                <a:cs typeface="Verdana"/>
                <a:sym typeface="Verdana"/>
              </a:rPr>
              <a:t>Muted:</a:t>
            </a:r>
            <a:r>
              <a:rPr b="0" i="0" lang="en-US" sz="2000" u="none" cap="none" strike="noStrike">
                <a:solidFill>
                  <a:srgbClr val="000000"/>
                </a:solidFill>
                <a:latin typeface="Verdana"/>
                <a:ea typeface="Verdana"/>
                <a:cs typeface="Verdana"/>
                <a:sym typeface="Verdana"/>
              </a:rPr>
              <a:t> specifies that the audio output of the video should be muted. Controls, loop, autoplay and loop are boolean attributes. </a:t>
            </a:r>
            <a:endParaRPr b="0" i="0" sz="2000" u="none" cap="none" strike="noStrike">
              <a:solidFill>
                <a:schemeClr val="dk1"/>
              </a:solidFill>
              <a:latin typeface="Arial"/>
              <a:ea typeface="Arial"/>
              <a:cs typeface="Arial"/>
              <a:sym typeface="Arial"/>
            </a:endParaRPr>
          </a:p>
        </p:txBody>
      </p:sp>
    </p:spTree>
  </p:cSld>
  <p:clrMapOvr>
    <a:masterClrMapping/>
  </p:clrMapOvr>
  <p:transition advTm="4000">
    <p:c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61"/>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3. Audio  4. Flash</a:t>
            </a:r>
            <a:endParaRPr/>
          </a:p>
        </p:txBody>
      </p:sp>
      <p:sp>
        <p:nvSpPr>
          <p:cNvPr id="199" name="Google Shape;199;p61"/>
          <p:cNvSpPr txBox="1"/>
          <p:nvPr>
            <p:ph idx="1" type="subTitle"/>
          </p:nvPr>
        </p:nvSpPr>
        <p:spPr>
          <a:xfrm>
            <a:off x="533400" y="1371600"/>
            <a:ext cx="8153400" cy="4724400"/>
          </a:xfrm>
          <a:prstGeom prst="rect">
            <a:avLst/>
          </a:prstGeom>
          <a:noFill/>
          <a:ln>
            <a:noFill/>
          </a:ln>
        </p:spPr>
        <p:txBody>
          <a:bodyPr anchorCtr="0" anchor="t" bIns="45700" lIns="91425" spcFirstLastPara="1" rIns="91425" wrap="square" tIns="45700">
            <a:noAutofit/>
          </a:bodyPr>
          <a:lstStyle/>
          <a:p>
            <a:pPr indent="-431800" lvl="0" marL="457200" rtl="0" algn="l">
              <a:lnSpc>
                <a:spcPct val="100000"/>
              </a:lnSpc>
              <a:spcBef>
                <a:spcPts val="640"/>
              </a:spcBef>
              <a:spcAft>
                <a:spcPts val="0"/>
              </a:spcAft>
              <a:buSzPts val="3200"/>
              <a:buNone/>
            </a:pPr>
            <a:r>
              <a:rPr lang="en-US" u="sng"/>
              <a:t>Code to include audio file:</a:t>
            </a:r>
            <a:endParaRPr/>
          </a:p>
          <a:p>
            <a:pPr indent="-431800" lvl="0" marL="457200" rtl="0" algn="l">
              <a:lnSpc>
                <a:spcPct val="100000"/>
              </a:lnSpc>
              <a:spcBef>
                <a:spcPts val="640"/>
              </a:spcBef>
              <a:spcAft>
                <a:spcPts val="0"/>
              </a:spcAft>
              <a:buSzPts val="3200"/>
              <a:buNone/>
            </a:pPr>
            <a:r>
              <a:t/>
            </a:r>
            <a:endParaRPr u="sng"/>
          </a:p>
          <a:p>
            <a:pPr indent="0" lvl="0" marL="0" marR="0" rtl="0" algn="l">
              <a:lnSpc>
                <a:spcPct val="79166"/>
              </a:lnSpc>
              <a:spcBef>
                <a:spcPts val="0"/>
              </a:spcBef>
              <a:spcAft>
                <a:spcPts val="0"/>
              </a:spcAft>
              <a:buSzPts val="3200"/>
              <a:buNone/>
            </a:pPr>
            <a:r>
              <a:rPr lang="en-US" sz="1800">
                <a:solidFill>
                  <a:srgbClr val="000000"/>
                </a:solidFill>
                <a:highlight>
                  <a:srgbClr val="FFFFFF"/>
                </a:highlight>
                <a:latin typeface="Consolas"/>
                <a:ea typeface="Consolas"/>
                <a:cs typeface="Consolas"/>
                <a:sym typeface="Consolas"/>
              </a:rPr>
              <a:t>&lt;audio controls loop&gt;</a:t>
            </a:r>
            <a:endParaRPr sz="1800">
              <a:highlight>
                <a:srgbClr val="FFFFFF"/>
              </a:highlight>
              <a:latin typeface="Calibri"/>
              <a:ea typeface="Calibri"/>
              <a:cs typeface="Calibri"/>
              <a:sym typeface="Calibri"/>
            </a:endParaRPr>
          </a:p>
          <a:p>
            <a:pPr indent="0" lvl="0" marL="0" marR="0" rtl="0" algn="l">
              <a:lnSpc>
                <a:spcPct val="79166"/>
              </a:lnSpc>
              <a:spcBef>
                <a:spcPts val="0"/>
              </a:spcBef>
              <a:spcAft>
                <a:spcPts val="0"/>
              </a:spcAft>
              <a:buSzPts val="3200"/>
              <a:buNone/>
            </a:pPr>
            <a:r>
              <a:rPr lang="en-US" sz="1800">
                <a:solidFill>
                  <a:srgbClr val="000000"/>
                </a:solidFill>
                <a:highlight>
                  <a:srgbClr val="FFFFFF"/>
                </a:highlight>
                <a:latin typeface="Consolas"/>
                <a:ea typeface="Consolas"/>
                <a:cs typeface="Consolas"/>
                <a:sym typeface="Consolas"/>
              </a:rPr>
              <a:t>     &lt;source src="abc.m4a"&gt;</a:t>
            </a:r>
            <a:endParaRPr sz="1800">
              <a:highlight>
                <a:srgbClr val="FFFFFF"/>
              </a:highlight>
              <a:latin typeface="Calibri"/>
              <a:ea typeface="Calibri"/>
              <a:cs typeface="Calibri"/>
              <a:sym typeface="Calibri"/>
            </a:endParaRPr>
          </a:p>
          <a:p>
            <a:pPr indent="0" lvl="0" marL="0" marR="0" rtl="0" algn="l">
              <a:lnSpc>
                <a:spcPct val="79166"/>
              </a:lnSpc>
              <a:spcBef>
                <a:spcPts val="0"/>
              </a:spcBef>
              <a:spcAft>
                <a:spcPts val="0"/>
              </a:spcAft>
              <a:buSzPts val="3200"/>
              <a:buNone/>
            </a:pPr>
            <a:r>
              <a:rPr lang="en-US" sz="1800">
                <a:solidFill>
                  <a:srgbClr val="000000"/>
                </a:solidFill>
                <a:highlight>
                  <a:srgbClr val="FFFFFF"/>
                </a:highlight>
                <a:latin typeface="Consolas"/>
                <a:ea typeface="Consolas"/>
                <a:cs typeface="Consolas"/>
                <a:sym typeface="Consolas"/>
              </a:rPr>
              <a:t>     &lt;source src="horse.mp3" type="audio/mpeg"&gt;</a:t>
            </a:r>
            <a:endParaRPr sz="1800">
              <a:highlight>
                <a:srgbClr val="FFFFFF"/>
              </a:highlight>
              <a:latin typeface="Calibri"/>
              <a:ea typeface="Calibri"/>
              <a:cs typeface="Calibri"/>
              <a:sym typeface="Calibri"/>
            </a:endParaRPr>
          </a:p>
          <a:p>
            <a:pPr indent="0" lvl="0" marL="0" marR="0" rtl="0" algn="l">
              <a:lnSpc>
                <a:spcPct val="79166"/>
              </a:lnSpc>
              <a:spcBef>
                <a:spcPts val="0"/>
              </a:spcBef>
              <a:spcAft>
                <a:spcPts val="0"/>
              </a:spcAft>
              <a:buSzPts val="3200"/>
              <a:buNone/>
            </a:pPr>
            <a:r>
              <a:rPr lang="en-US" sz="1800">
                <a:solidFill>
                  <a:srgbClr val="000000"/>
                </a:solidFill>
                <a:highlight>
                  <a:srgbClr val="FFFFFF"/>
                </a:highlight>
                <a:latin typeface="Consolas"/>
                <a:ea typeface="Consolas"/>
                <a:cs typeface="Consolas"/>
                <a:sym typeface="Consolas"/>
              </a:rPr>
              <a:t>        Your browser does not support the audio tag.</a:t>
            </a:r>
            <a:endParaRPr sz="1800">
              <a:highlight>
                <a:srgbClr val="FFFFFF"/>
              </a:highlight>
              <a:latin typeface="Calibri"/>
              <a:ea typeface="Calibri"/>
              <a:cs typeface="Calibri"/>
              <a:sym typeface="Calibri"/>
            </a:endParaRPr>
          </a:p>
          <a:p>
            <a:pPr indent="0" lvl="0" marL="0" marR="0" rtl="0" algn="l">
              <a:lnSpc>
                <a:spcPct val="79166"/>
              </a:lnSpc>
              <a:spcBef>
                <a:spcPts val="0"/>
              </a:spcBef>
              <a:spcAft>
                <a:spcPts val="0"/>
              </a:spcAft>
              <a:buSzPts val="3200"/>
              <a:buNone/>
            </a:pPr>
            <a:r>
              <a:rPr lang="en-US" sz="1800">
                <a:solidFill>
                  <a:srgbClr val="000000"/>
                </a:solidFill>
                <a:highlight>
                  <a:srgbClr val="FFFFFF"/>
                </a:highlight>
                <a:latin typeface="Consolas"/>
                <a:ea typeface="Consolas"/>
                <a:cs typeface="Consolas"/>
                <a:sym typeface="Consolas"/>
              </a:rPr>
              <a:t>  &lt;/audio&gt;</a:t>
            </a:r>
            <a:endParaRPr sz="1800">
              <a:highlight>
                <a:srgbClr val="FFFFFF"/>
              </a:highlight>
              <a:latin typeface="Calibri"/>
              <a:ea typeface="Calibri"/>
              <a:cs typeface="Calibri"/>
              <a:sym typeface="Calibri"/>
            </a:endParaRPr>
          </a:p>
          <a:p>
            <a:pPr indent="-431800" lvl="0" marL="457200" rtl="0" algn="l">
              <a:lnSpc>
                <a:spcPct val="100000"/>
              </a:lnSpc>
              <a:spcBef>
                <a:spcPts val="640"/>
              </a:spcBef>
              <a:spcAft>
                <a:spcPts val="0"/>
              </a:spcAft>
              <a:buSzPts val="3200"/>
              <a:buNone/>
            </a:pPr>
            <a:r>
              <a:t/>
            </a:r>
            <a:endParaRPr u="sng"/>
          </a:p>
          <a:p>
            <a:pPr indent="-431800" lvl="0" marL="457200" rtl="0" algn="l">
              <a:lnSpc>
                <a:spcPct val="100000"/>
              </a:lnSpc>
              <a:spcBef>
                <a:spcPts val="640"/>
              </a:spcBef>
              <a:spcAft>
                <a:spcPts val="0"/>
              </a:spcAft>
              <a:buSzPts val="3200"/>
              <a:buNone/>
            </a:pPr>
            <a:r>
              <a:rPr lang="en-US" u="sng"/>
              <a:t>Code to include flash/animated file:</a:t>
            </a:r>
            <a:endParaRPr/>
          </a:p>
          <a:p>
            <a:pPr indent="0" lvl="0" marL="0" marR="0" rtl="0" algn="ctr">
              <a:lnSpc>
                <a:spcPct val="79166"/>
              </a:lnSpc>
              <a:spcBef>
                <a:spcPts val="0"/>
              </a:spcBef>
              <a:spcAft>
                <a:spcPts val="0"/>
              </a:spcAft>
              <a:buSzPts val="3200"/>
              <a:buNone/>
            </a:pPr>
            <a:r>
              <a:t/>
            </a:r>
            <a:endParaRPr sz="1800">
              <a:solidFill>
                <a:srgbClr val="000000"/>
              </a:solidFill>
              <a:highlight>
                <a:srgbClr val="FFFFFF"/>
              </a:highlight>
              <a:latin typeface="Consolas"/>
              <a:ea typeface="Consolas"/>
              <a:cs typeface="Consolas"/>
              <a:sym typeface="Consolas"/>
            </a:endParaRPr>
          </a:p>
          <a:p>
            <a:pPr indent="0" lvl="0" marL="0" marR="0" rtl="0" algn="l">
              <a:lnSpc>
                <a:spcPct val="79166"/>
              </a:lnSpc>
              <a:spcBef>
                <a:spcPts val="0"/>
              </a:spcBef>
              <a:spcAft>
                <a:spcPts val="0"/>
              </a:spcAft>
              <a:buSzPts val="3200"/>
              <a:buNone/>
            </a:pPr>
            <a:r>
              <a:rPr lang="en-US" sz="1800">
                <a:solidFill>
                  <a:srgbClr val="000000"/>
                </a:solidFill>
                <a:highlight>
                  <a:srgbClr val="FFFFFF"/>
                </a:highlight>
                <a:latin typeface="Consolas"/>
                <a:ea typeface="Consolas"/>
                <a:cs typeface="Consolas"/>
                <a:sym typeface="Consolas"/>
              </a:rPr>
              <a:t>&lt;embed src="ball.svg" width="500" height="450"&gt;</a:t>
            </a:r>
            <a:endParaRPr sz="1800">
              <a:highlight>
                <a:srgbClr val="FFFFFF"/>
              </a:highlight>
              <a:latin typeface="Calibri"/>
              <a:ea typeface="Calibri"/>
              <a:cs typeface="Calibri"/>
              <a:sym typeface="Calibri"/>
            </a:endParaRPr>
          </a:p>
          <a:p>
            <a:pPr indent="0" lvl="0" marL="0" marR="0" rtl="0" algn="ctr">
              <a:lnSpc>
                <a:spcPct val="107000"/>
              </a:lnSpc>
              <a:spcBef>
                <a:spcPts val="0"/>
              </a:spcBef>
              <a:spcAft>
                <a:spcPts val="0"/>
              </a:spcAft>
              <a:buSzPts val="3200"/>
              <a:buNone/>
            </a:pPr>
            <a:r>
              <a:rPr lang="en-US" sz="1800">
                <a:latin typeface="Calibri"/>
                <a:ea typeface="Calibri"/>
                <a:cs typeface="Calibri"/>
                <a:sym typeface="Calibri"/>
              </a:rPr>
              <a:t>Svg: Scalable vector Graphics</a:t>
            </a:r>
            <a:endParaRPr/>
          </a:p>
          <a:p>
            <a:pPr indent="-431800" lvl="0" marL="457200" rtl="0" algn="l">
              <a:lnSpc>
                <a:spcPct val="100000"/>
              </a:lnSpc>
              <a:spcBef>
                <a:spcPts val="1440"/>
              </a:spcBef>
              <a:spcAft>
                <a:spcPts val="0"/>
              </a:spcAft>
              <a:buSzPts val="3200"/>
              <a:buNone/>
            </a:pPr>
            <a:r>
              <a:t/>
            </a:r>
            <a:endParaRPr u="sng"/>
          </a:p>
        </p:txBody>
      </p:sp>
    </p:spTree>
  </p:cSld>
  <p:clrMapOvr>
    <a:masterClrMapping/>
  </p:clrMapOvr>
  <p:transition advTm="4000">
    <p:cu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62"/>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5. Marquee</a:t>
            </a:r>
            <a:endParaRPr/>
          </a:p>
        </p:txBody>
      </p:sp>
      <p:sp>
        <p:nvSpPr>
          <p:cNvPr id="205" name="Google Shape;205;p62"/>
          <p:cNvSpPr txBox="1"/>
          <p:nvPr>
            <p:ph idx="1" type="subTitle"/>
          </p:nvPr>
        </p:nvSpPr>
        <p:spPr>
          <a:xfrm>
            <a:off x="533400" y="1371600"/>
            <a:ext cx="8153400" cy="472440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SzPts val="3200"/>
              <a:buNone/>
            </a:pPr>
            <a:r>
              <a:rPr lang="en-US" sz="2200">
                <a:solidFill>
                  <a:srgbClr val="000000"/>
                </a:solidFill>
                <a:highlight>
                  <a:srgbClr val="FFFFFF"/>
                </a:highlight>
                <a:latin typeface="Calibri"/>
                <a:ea typeface="Calibri"/>
                <a:cs typeface="Calibri"/>
                <a:sym typeface="Calibri"/>
              </a:rPr>
              <a:t>It is used to scroll an image or text horizontally or vertically. </a:t>
            </a:r>
            <a:r>
              <a:rPr lang="en-US" sz="2200">
                <a:solidFill>
                  <a:srgbClr val="2C2C2C"/>
                </a:solidFill>
                <a:highlight>
                  <a:srgbClr val="FFFFFF"/>
                </a:highlight>
                <a:latin typeface="Arial"/>
                <a:ea typeface="Arial"/>
                <a:cs typeface="Arial"/>
                <a:sym typeface="Arial"/>
              </a:rPr>
              <a:t>But this tag has been </a:t>
            </a:r>
            <a:r>
              <a:rPr b="1" lang="en-US" sz="2200">
                <a:solidFill>
                  <a:srgbClr val="000000"/>
                </a:solidFill>
                <a:highlight>
                  <a:srgbClr val="FFFFFF"/>
                </a:highlight>
                <a:latin typeface="Arial"/>
                <a:ea typeface="Arial"/>
                <a:cs typeface="Arial"/>
                <a:sym typeface="Arial"/>
              </a:rPr>
              <a:t>deprecated in HTML 5</a:t>
            </a:r>
            <a:r>
              <a:rPr lang="en-US" sz="2200">
                <a:solidFill>
                  <a:srgbClr val="2C2C2C"/>
                </a:solidFill>
                <a:highlight>
                  <a:srgbClr val="FFFFFF"/>
                </a:highlight>
                <a:latin typeface="Arial"/>
                <a:ea typeface="Arial"/>
                <a:cs typeface="Arial"/>
                <a:sym typeface="Arial"/>
              </a:rPr>
              <a:t>.</a:t>
            </a:r>
            <a:endParaRPr/>
          </a:p>
          <a:p>
            <a:pPr indent="0" lvl="0" marL="0" marR="0" rtl="0" algn="l">
              <a:lnSpc>
                <a:spcPct val="107000"/>
              </a:lnSpc>
              <a:spcBef>
                <a:spcPts val="800"/>
              </a:spcBef>
              <a:spcAft>
                <a:spcPts val="0"/>
              </a:spcAft>
              <a:buSzPts val="3200"/>
              <a:buNone/>
            </a:pPr>
            <a:r>
              <a:t/>
            </a:r>
            <a:endParaRPr sz="2200">
              <a:latin typeface="Calibri"/>
              <a:ea typeface="Calibri"/>
              <a:cs typeface="Calibri"/>
              <a:sym typeface="Calibri"/>
            </a:endParaRPr>
          </a:p>
          <a:p>
            <a:pPr indent="0" lvl="0" marL="0" marR="0" rtl="0" algn="l">
              <a:lnSpc>
                <a:spcPct val="64772"/>
              </a:lnSpc>
              <a:spcBef>
                <a:spcPts val="800"/>
              </a:spcBef>
              <a:spcAft>
                <a:spcPts val="0"/>
              </a:spcAft>
              <a:buSzPts val="3200"/>
              <a:buNone/>
            </a:pPr>
            <a:r>
              <a:rPr lang="en-US" sz="2200">
                <a:solidFill>
                  <a:srgbClr val="000000"/>
                </a:solidFill>
                <a:highlight>
                  <a:srgbClr val="FFFFFF"/>
                </a:highlight>
                <a:latin typeface="Consolas"/>
                <a:ea typeface="Consolas"/>
                <a:cs typeface="Consolas"/>
                <a:sym typeface="Consolas"/>
              </a:rPr>
              <a:t>&lt;marquee&gt; WELCOME &lt;/marquee&gt;</a:t>
            </a:r>
            <a:endParaRPr sz="2200">
              <a:highlight>
                <a:srgbClr val="FFFFFF"/>
              </a:highlight>
              <a:latin typeface="Calibri"/>
              <a:ea typeface="Calibri"/>
              <a:cs typeface="Calibri"/>
              <a:sym typeface="Calibri"/>
            </a:endParaRPr>
          </a:p>
          <a:p>
            <a:pPr indent="0" lvl="0" marL="0" marR="0" rtl="0" algn="l">
              <a:lnSpc>
                <a:spcPct val="64772"/>
              </a:lnSpc>
              <a:spcBef>
                <a:spcPts val="0"/>
              </a:spcBef>
              <a:spcAft>
                <a:spcPts val="0"/>
              </a:spcAft>
              <a:buSzPts val="3200"/>
              <a:buNone/>
            </a:pPr>
            <a:r>
              <a:rPr lang="en-US" sz="2200">
                <a:highlight>
                  <a:srgbClr val="FFFFFF"/>
                </a:highlight>
                <a:latin typeface="Consolas"/>
                <a:ea typeface="Consolas"/>
                <a:cs typeface="Consolas"/>
                <a:sym typeface="Consolas"/>
              </a:rPr>
              <a:t> </a:t>
            </a:r>
            <a:endParaRPr sz="2200">
              <a:highlight>
                <a:srgbClr val="FFFFFF"/>
              </a:highlight>
              <a:latin typeface="Calibri"/>
              <a:ea typeface="Calibri"/>
              <a:cs typeface="Calibri"/>
              <a:sym typeface="Calibri"/>
            </a:endParaRPr>
          </a:p>
          <a:p>
            <a:pPr indent="0" lvl="0" marL="0" marR="0" rtl="0" algn="l">
              <a:lnSpc>
                <a:spcPct val="64772"/>
              </a:lnSpc>
              <a:spcBef>
                <a:spcPts val="0"/>
              </a:spcBef>
              <a:spcAft>
                <a:spcPts val="0"/>
              </a:spcAft>
              <a:buSzPts val="3200"/>
              <a:buNone/>
            </a:pPr>
            <a:r>
              <a:rPr lang="en-US" sz="2200">
                <a:solidFill>
                  <a:srgbClr val="000000"/>
                </a:solidFill>
                <a:highlight>
                  <a:srgbClr val="FFFFFF"/>
                </a:highlight>
                <a:latin typeface="Consolas"/>
                <a:ea typeface="Consolas"/>
                <a:cs typeface="Consolas"/>
                <a:sym typeface="Consolas"/>
              </a:rPr>
              <a:t>&lt;marquee bgcolor="lightgreen"&gt;&lt;font size=”5” &gt;</a:t>
            </a:r>
            <a:endParaRPr/>
          </a:p>
          <a:p>
            <a:pPr indent="0" lvl="0" marL="0" marR="0" rtl="0" algn="l">
              <a:lnSpc>
                <a:spcPct val="64772"/>
              </a:lnSpc>
              <a:spcBef>
                <a:spcPts val="0"/>
              </a:spcBef>
              <a:spcAft>
                <a:spcPts val="0"/>
              </a:spcAft>
              <a:buSzPts val="3200"/>
              <a:buNone/>
            </a:pPr>
            <a:r>
              <a:t/>
            </a:r>
            <a:endParaRPr sz="2200">
              <a:solidFill>
                <a:srgbClr val="000000"/>
              </a:solidFill>
              <a:highlight>
                <a:srgbClr val="FFFFFF"/>
              </a:highlight>
              <a:latin typeface="Consolas"/>
              <a:ea typeface="Consolas"/>
              <a:cs typeface="Consolas"/>
              <a:sym typeface="Consolas"/>
            </a:endParaRPr>
          </a:p>
          <a:p>
            <a:pPr indent="0" lvl="0" marL="0" marR="0" rtl="0" algn="l">
              <a:lnSpc>
                <a:spcPct val="64772"/>
              </a:lnSpc>
              <a:spcBef>
                <a:spcPts val="0"/>
              </a:spcBef>
              <a:spcAft>
                <a:spcPts val="0"/>
              </a:spcAft>
              <a:buSzPts val="3200"/>
              <a:buNone/>
            </a:pPr>
            <a:r>
              <a:rPr lang="en-US" sz="2200">
                <a:solidFill>
                  <a:srgbClr val="000000"/>
                </a:solidFill>
                <a:highlight>
                  <a:srgbClr val="FFFFFF"/>
                </a:highlight>
                <a:latin typeface="Consolas"/>
                <a:ea typeface="Consolas"/>
                <a:cs typeface="Consolas"/>
                <a:sym typeface="Consolas"/>
              </a:rPr>
              <a:t> WELCOME &lt;/font&gt; &lt;/marquee&gt;</a:t>
            </a:r>
            <a:endParaRPr/>
          </a:p>
          <a:p>
            <a:pPr indent="0" lvl="0" marL="0" marR="0" rtl="0" algn="l">
              <a:lnSpc>
                <a:spcPct val="64772"/>
              </a:lnSpc>
              <a:spcBef>
                <a:spcPts val="0"/>
              </a:spcBef>
              <a:spcAft>
                <a:spcPts val="0"/>
              </a:spcAft>
              <a:buSzPts val="3200"/>
              <a:buNone/>
            </a:pPr>
            <a:r>
              <a:t/>
            </a:r>
            <a:endParaRPr sz="2200">
              <a:highlight>
                <a:srgbClr val="FFFFFF"/>
              </a:highlight>
              <a:latin typeface="Calibri"/>
              <a:ea typeface="Calibri"/>
              <a:cs typeface="Calibri"/>
              <a:sym typeface="Calibri"/>
            </a:endParaRPr>
          </a:p>
          <a:p>
            <a:pPr indent="-431800" lvl="0" marL="457200" rtl="0" algn="ctr">
              <a:lnSpc>
                <a:spcPct val="100000"/>
              </a:lnSpc>
              <a:spcBef>
                <a:spcPts val="640"/>
              </a:spcBef>
              <a:spcAft>
                <a:spcPts val="0"/>
              </a:spcAft>
              <a:buClr>
                <a:srgbClr val="888888"/>
              </a:buClr>
              <a:buSzPts val="3200"/>
              <a:buNone/>
            </a:pPr>
            <a:r>
              <a:t/>
            </a:r>
            <a:endParaRPr/>
          </a:p>
        </p:txBody>
      </p:sp>
    </p:spTree>
  </p:cSld>
  <p:clrMapOvr>
    <a:masterClrMapping/>
  </p:clrMapOvr>
  <p:transition advTm="4000">
    <p:cu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63"/>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Attributes of Marquee Tag</a:t>
            </a:r>
            <a:endParaRPr/>
          </a:p>
        </p:txBody>
      </p:sp>
      <p:sp>
        <p:nvSpPr>
          <p:cNvPr id="211" name="Google Shape;211;p63"/>
          <p:cNvSpPr txBox="1"/>
          <p:nvPr>
            <p:ph idx="1" type="subTitle"/>
          </p:nvPr>
        </p:nvSpPr>
        <p:spPr>
          <a:xfrm>
            <a:off x="533400" y="1371600"/>
            <a:ext cx="8153400" cy="4724400"/>
          </a:xfrm>
          <a:prstGeom prst="rect">
            <a:avLst/>
          </a:prstGeom>
          <a:noFill/>
          <a:ln>
            <a:noFill/>
          </a:ln>
        </p:spPr>
        <p:txBody>
          <a:bodyPr anchorCtr="0" anchor="t" bIns="45700" lIns="91425" spcFirstLastPara="1" rIns="91425" wrap="square" tIns="45700">
            <a:noAutofit/>
          </a:bodyPr>
          <a:lstStyle/>
          <a:p>
            <a:pPr indent="-431800" lvl="0" marL="457200" rtl="0" algn="ctr">
              <a:lnSpc>
                <a:spcPct val="100000"/>
              </a:lnSpc>
              <a:spcBef>
                <a:spcPts val="640"/>
              </a:spcBef>
              <a:spcAft>
                <a:spcPts val="0"/>
              </a:spcAft>
              <a:buClr>
                <a:srgbClr val="888888"/>
              </a:buClr>
              <a:buSzPts val="3200"/>
              <a:buNone/>
            </a:pPr>
            <a:r>
              <a:t/>
            </a:r>
            <a:endParaRPr/>
          </a:p>
        </p:txBody>
      </p:sp>
      <p:graphicFrame>
        <p:nvGraphicFramePr>
          <p:cNvPr id="212" name="Google Shape;212;p63"/>
          <p:cNvGraphicFramePr/>
          <p:nvPr/>
        </p:nvGraphicFramePr>
        <p:xfrm>
          <a:off x="709245" y="943874"/>
          <a:ext cx="3000000" cy="3000000"/>
        </p:xfrm>
        <a:graphic>
          <a:graphicData uri="http://schemas.openxmlformats.org/drawingml/2006/table">
            <a:tbl>
              <a:tblPr bandRow="1" firstCol="1" firstRow="1">
                <a:noFill/>
                <a:tableStyleId>{73721C2D-95C6-4A07-B70B-F2A0B44D9C60}</a:tableStyleId>
              </a:tblPr>
              <a:tblGrid>
                <a:gridCol w="1221200"/>
                <a:gridCol w="1744050"/>
                <a:gridCol w="3809675"/>
              </a:tblGrid>
              <a:tr h="295825">
                <a:tc>
                  <a:txBody>
                    <a:bodyPr/>
                    <a:lstStyle/>
                    <a:p>
                      <a:pPr indent="0" lvl="0" marL="0" marR="0" rtl="0" algn="l">
                        <a:lnSpc>
                          <a:spcPct val="107000"/>
                        </a:lnSpc>
                        <a:spcBef>
                          <a:spcPts val="0"/>
                        </a:spcBef>
                        <a:spcAft>
                          <a:spcPts val="0"/>
                        </a:spcAft>
                        <a:buNone/>
                      </a:pPr>
                      <a:r>
                        <a:rPr lang="en-US" sz="1500" u="none" cap="none" strike="noStrike"/>
                        <a:t> Attribute</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Values</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Description</a:t>
                      </a:r>
                      <a:endParaRPr sz="1500" u="none" cap="none" strike="noStrike">
                        <a:latin typeface="Calibri"/>
                        <a:ea typeface="Calibri"/>
                        <a:cs typeface="Calibri"/>
                        <a:sym typeface="Calibri"/>
                      </a:endParaRPr>
                    </a:p>
                  </a:txBody>
                  <a:tcPr marT="18250" marB="54750" marR="73000" marL="73000" anchor="ctr"/>
                </a:tc>
              </a:tr>
              <a:tr h="485800">
                <a:tc>
                  <a:txBody>
                    <a:bodyPr/>
                    <a:lstStyle/>
                    <a:p>
                      <a:pPr indent="0" lvl="0" marL="0" marR="0" rtl="0" algn="l">
                        <a:lnSpc>
                          <a:spcPct val="107000"/>
                        </a:lnSpc>
                        <a:spcBef>
                          <a:spcPts val="0"/>
                        </a:spcBef>
                        <a:spcAft>
                          <a:spcPts val="0"/>
                        </a:spcAft>
                        <a:buNone/>
                      </a:pPr>
                      <a:r>
                        <a:rPr lang="en-US" sz="1500" u="none" cap="none" strike="noStrike"/>
                        <a:t>Direction</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left, right, up, down</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Specifies the direction in which the marquee content scrolls.</a:t>
                      </a:r>
                      <a:endParaRPr sz="1500" u="none" cap="none" strike="noStrike">
                        <a:latin typeface="Calibri"/>
                        <a:ea typeface="Calibri"/>
                        <a:cs typeface="Calibri"/>
                        <a:sym typeface="Calibri"/>
                      </a:endParaRPr>
                    </a:p>
                  </a:txBody>
                  <a:tcPr marT="18250" marB="54750" marR="73000" marL="73000" anchor="ctr"/>
                </a:tc>
              </a:tr>
              <a:tr h="1108875">
                <a:tc>
                  <a:txBody>
                    <a:bodyPr/>
                    <a:lstStyle/>
                    <a:p>
                      <a:pPr indent="0" lvl="0" marL="0" marR="0" rtl="0" algn="l">
                        <a:lnSpc>
                          <a:spcPct val="107000"/>
                        </a:lnSpc>
                        <a:spcBef>
                          <a:spcPts val="0"/>
                        </a:spcBef>
                        <a:spcAft>
                          <a:spcPts val="0"/>
                        </a:spcAft>
                        <a:buNone/>
                      </a:pPr>
                      <a:r>
                        <a:rPr lang="en-US" sz="1500" u="none" cap="none" strike="noStrike"/>
                        <a:t>Behavior</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scroll, slide, alternate</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Defines the type of movement of the marquee. 'scroll' is the default behavior, causing the content to scroll endlessly. 'slide' makes the content slide in and stop. 'alternate' causes the content to bounce back and forth.</a:t>
                      </a:r>
                      <a:endParaRPr sz="1500" u="none" cap="none" strike="noStrike">
                        <a:latin typeface="Calibri"/>
                        <a:ea typeface="Calibri"/>
                        <a:cs typeface="Calibri"/>
                        <a:sym typeface="Calibri"/>
                      </a:endParaRPr>
                    </a:p>
                  </a:txBody>
                  <a:tcPr marT="18250" marB="54750" marR="73000" marL="73000" anchor="ctr"/>
                </a:tc>
              </a:tr>
              <a:tr h="485800">
                <a:tc>
                  <a:txBody>
                    <a:bodyPr/>
                    <a:lstStyle/>
                    <a:p>
                      <a:pPr indent="0" lvl="0" marL="0" marR="0" rtl="0" algn="l">
                        <a:lnSpc>
                          <a:spcPct val="107000"/>
                        </a:lnSpc>
                        <a:spcBef>
                          <a:spcPts val="0"/>
                        </a:spcBef>
                        <a:spcAft>
                          <a:spcPts val="0"/>
                        </a:spcAft>
                        <a:buNone/>
                      </a:pPr>
                      <a:r>
                        <a:rPr lang="en-US" sz="1500" u="none" cap="none" strike="noStrike"/>
                        <a:t>scrollamount</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number</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highlight>
                            <a:srgbClr val="FFFFFF"/>
                          </a:highlight>
                        </a:rPr>
                        <a:t>Defines the speed of the marquee text. </a:t>
                      </a:r>
                      <a:r>
                        <a:rPr lang="en-US" sz="1500" u="none" cap="none" strike="noStrike"/>
                        <a:t>Higher values result in faster scrolling. Default=6</a:t>
                      </a:r>
                      <a:endParaRPr sz="1500" u="none" cap="none" strike="noStrike">
                        <a:latin typeface="Calibri"/>
                        <a:ea typeface="Calibri"/>
                        <a:cs typeface="Calibri"/>
                        <a:sym typeface="Calibri"/>
                      </a:endParaRPr>
                    </a:p>
                  </a:txBody>
                  <a:tcPr marT="18250" marB="54750" marR="73000" marL="73000" anchor="ctr"/>
                </a:tc>
              </a:tr>
              <a:tr h="693500">
                <a:tc>
                  <a:txBody>
                    <a:bodyPr/>
                    <a:lstStyle/>
                    <a:p>
                      <a:pPr indent="0" lvl="0" marL="0" marR="0" rtl="0" algn="l">
                        <a:lnSpc>
                          <a:spcPct val="107000"/>
                        </a:lnSpc>
                        <a:spcBef>
                          <a:spcPts val="0"/>
                        </a:spcBef>
                        <a:spcAft>
                          <a:spcPts val="0"/>
                        </a:spcAft>
                        <a:buNone/>
                      </a:pPr>
                      <a:r>
                        <a:rPr lang="en-US" sz="1500" u="none" cap="none" strike="noStrike"/>
                        <a:t>Scrolldelay</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number</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Sets the delay in milliseconds between each movement. Higher values result in slower scrolling.</a:t>
                      </a:r>
                      <a:endParaRPr sz="1500" u="none" cap="none" strike="noStrike">
                        <a:latin typeface="Calibri"/>
                        <a:ea typeface="Calibri"/>
                        <a:cs typeface="Calibri"/>
                        <a:sym typeface="Calibri"/>
                      </a:endParaRPr>
                    </a:p>
                  </a:txBody>
                  <a:tcPr marT="18250" marB="54750" marR="73000" marL="73000" anchor="ctr"/>
                </a:tc>
              </a:tr>
              <a:tr h="485800">
                <a:tc>
                  <a:txBody>
                    <a:bodyPr/>
                    <a:lstStyle/>
                    <a:p>
                      <a:pPr indent="0" lvl="0" marL="0" marR="0" rtl="0" algn="l">
                        <a:lnSpc>
                          <a:spcPct val="107000"/>
                        </a:lnSpc>
                        <a:spcBef>
                          <a:spcPts val="0"/>
                        </a:spcBef>
                        <a:spcAft>
                          <a:spcPts val="0"/>
                        </a:spcAft>
                        <a:buNone/>
                      </a:pPr>
                      <a:r>
                        <a:rPr lang="en-US" sz="1500" u="none" cap="none" strike="noStrike"/>
                        <a:t>Loop</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number</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Specifies the number of times the marquee should loop. The default is infinite.</a:t>
                      </a:r>
                      <a:endParaRPr sz="1500" u="none" cap="none" strike="noStrike">
                        <a:latin typeface="Calibri"/>
                        <a:ea typeface="Calibri"/>
                        <a:cs typeface="Calibri"/>
                        <a:sym typeface="Calibri"/>
                      </a:endParaRPr>
                    </a:p>
                  </a:txBody>
                  <a:tcPr marT="18250" marB="54750" marR="73000" marL="73000" anchor="ctr"/>
                </a:tc>
              </a:tr>
              <a:tr h="485800">
                <a:tc>
                  <a:txBody>
                    <a:bodyPr/>
                    <a:lstStyle/>
                    <a:p>
                      <a:pPr indent="0" lvl="0" marL="0" marR="0" rtl="0" algn="l">
                        <a:lnSpc>
                          <a:spcPct val="107000"/>
                        </a:lnSpc>
                        <a:spcBef>
                          <a:spcPts val="0"/>
                        </a:spcBef>
                        <a:spcAft>
                          <a:spcPts val="0"/>
                        </a:spcAft>
                        <a:buNone/>
                      </a:pPr>
                      <a:r>
                        <a:rPr lang="en-US" sz="1500" u="none" cap="none" strike="noStrike"/>
                        <a:t>Bgcolor</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color</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Sets the background color of the marquee. You can use color names or hex codes.</a:t>
                      </a:r>
                      <a:endParaRPr sz="1500" u="none" cap="none" strike="noStrike">
                        <a:latin typeface="Calibri"/>
                        <a:ea typeface="Calibri"/>
                        <a:cs typeface="Calibri"/>
                        <a:sym typeface="Calibri"/>
                      </a:endParaRPr>
                    </a:p>
                  </a:txBody>
                  <a:tcPr marT="18250" marB="54750" marR="73000" marL="73000" anchor="ctr"/>
                </a:tc>
              </a:tr>
              <a:tr h="485800">
                <a:tc>
                  <a:txBody>
                    <a:bodyPr/>
                    <a:lstStyle/>
                    <a:p>
                      <a:pPr indent="0" lvl="0" marL="0" marR="0" rtl="0" algn="l">
                        <a:lnSpc>
                          <a:spcPct val="107000"/>
                        </a:lnSpc>
                        <a:spcBef>
                          <a:spcPts val="0"/>
                        </a:spcBef>
                        <a:spcAft>
                          <a:spcPts val="0"/>
                        </a:spcAft>
                        <a:buNone/>
                      </a:pPr>
                      <a:r>
                        <a:rPr lang="en-US" sz="1500" u="none" cap="none" strike="noStrike"/>
                        <a:t>Width</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value (in px, %, etc.)</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Sets the width of the marquee. It can be in pixels, percentages, etc.</a:t>
                      </a:r>
                      <a:endParaRPr sz="1500" u="none" cap="none" strike="noStrike">
                        <a:latin typeface="Calibri"/>
                        <a:ea typeface="Calibri"/>
                        <a:cs typeface="Calibri"/>
                        <a:sym typeface="Calibri"/>
                      </a:endParaRPr>
                    </a:p>
                  </a:txBody>
                  <a:tcPr marT="18250" marB="54750" marR="73000" marL="73000" anchor="ctr"/>
                </a:tc>
              </a:tr>
              <a:tr h="485800">
                <a:tc>
                  <a:txBody>
                    <a:bodyPr/>
                    <a:lstStyle/>
                    <a:p>
                      <a:pPr indent="0" lvl="0" marL="0" marR="0" rtl="0" algn="l">
                        <a:lnSpc>
                          <a:spcPct val="107000"/>
                        </a:lnSpc>
                        <a:spcBef>
                          <a:spcPts val="0"/>
                        </a:spcBef>
                        <a:spcAft>
                          <a:spcPts val="0"/>
                        </a:spcAft>
                        <a:buNone/>
                      </a:pPr>
                      <a:r>
                        <a:rPr lang="en-US" sz="1500" u="none" cap="none" strike="noStrike"/>
                        <a:t>Height</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value (in px, %, etc.)</a:t>
                      </a:r>
                      <a:endParaRPr sz="1500" u="none" cap="none" strike="noStrike">
                        <a:latin typeface="Calibri"/>
                        <a:ea typeface="Calibri"/>
                        <a:cs typeface="Calibri"/>
                        <a:sym typeface="Calibri"/>
                      </a:endParaRPr>
                    </a:p>
                  </a:txBody>
                  <a:tcPr marT="18250" marB="54750" marR="73000" marL="73000" anchor="ctr"/>
                </a:tc>
                <a:tc>
                  <a:txBody>
                    <a:bodyPr/>
                    <a:lstStyle/>
                    <a:p>
                      <a:pPr indent="0" lvl="0" marL="0" marR="0" rtl="0" algn="l">
                        <a:lnSpc>
                          <a:spcPct val="107000"/>
                        </a:lnSpc>
                        <a:spcBef>
                          <a:spcPts val="0"/>
                        </a:spcBef>
                        <a:spcAft>
                          <a:spcPts val="0"/>
                        </a:spcAft>
                        <a:buNone/>
                      </a:pPr>
                      <a:r>
                        <a:rPr lang="en-US" sz="1500" u="none" cap="none" strike="noStrike"/>
                        <a:t>Sets the height of the marquee. It can be in pixels, percentages, etc.</a:t>
                      </a:r>
                      <a:endParaRPr sz="1500" u="none" cap="none" strike="noStrike">
                        <a:latin typeface="Calibri"/>
                        <a:ea typeface="Calibri"/>
                        <a:cs typeface="Calibri"/>
                        <a:sym typeface="Calibri"/>
                      </a:endParaRPr>
                    </a:p>
                  </a:txBody>
                  <a:tcPr marT="18250" marB="54750" marR="73000" marL="73000" anchor="ctr"/>
                </a:tc>
              </a:tr>
            </a:tbl>
          </a:graphicData>
        </a:graphic>
      </p:graphicFrame>
    </p:spTree>
  </p:cSld>
  <p:clrMapOvr>
    <a:masterClrMapping/>
  </p:clrMapOvr>
  <p:transition advTm="4000">
    <p:cut/>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64"/>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218" name="Google Shape;218;p64"/>
          <p:cNvSpPr txBox="1"/>
          <p:nvPr>
            <p:ph idx="1" type="subTitle"/>
          </p:nvPr>
        </p:nvSpPr>
        <p:spPr>
          <a:xfrm>
            <a:off x="533399" y="1371599"/>
            <a:ext cx="8481391" cy="5387010"/>
          </a:xfrm>
          <a:prstGeom prst="rect">
            <a:avLst/>
          </a:prstGeom>
          <a:noFill/>
          <a:ln>
            <a:noFill/>
          </a:ln>
        </p:spPr>
        <p:txBody>
          <a:bodyPr anchorCtr="0" anchor="t" bIns="45700" lIns="91425" spcFirstLastPara="1" rIns="91425" wrap="square" tIns="45700">
            <a:noAutofit/>
          </a:bodyPr>
          <a:lstStyle/>
          <a:p>
            <a:pPr indent="0" lvl="0" marL="0" marR="0" rtl="0" algn="just">
              <a:lnSpc>
                <a:spcPct val="107000"/>
              </a:lnSpc>
              <a:spcBef>
                <a:spcPts val="0"/>
              </a:spcBef>
              <a:spcAft>
                <a:spcPts val="0"/>
              </a:spcAft>
              <a:buSzPts val="3200"/>
              <a:buNone/>
            </a:pPr>
            <a:r>
              <a:rPr b="1" lang="en-US" sz="2200">
                <a:solidFill>
                  <a:srgbClr val="000000"/>
                </a:solidFill>
                <a:highlight>
                  <a:srgbClr val="FFFFFF"/>
                </a:highlight>
                <a:latin typeface="Calibri"/>
                <a:ea typeface="Calibri"/>
                <a:cs typeface="Calibri"/>
                <a:sym typeface="Calibri"/>
              </a:rPr>
              <a:t>Behavior: It has 3 values:</a:t>
            </a:r>
            <a:endParaRPr sz="2200">
              <a:latin typeface="Calibri"/>
              <a:ea typeface="Calibri"/>
              <a:cs typeface="Calibri"/>
              <a:sym typeface="Calibri"/>
            </a:endParaRPr>
          </a:p>
          <a:p>
            <a:pPr indent="-342900" lvl="0" marL="342900" marR="0" rtl="0" algn="just">
              <a:lnSpc>
                <a:spcPct val="107000"/>
              </a:lnSpc>
              <a:spcBef>
                <a:spcPts val="800"/>
              </a:spcBef>
              <a:spcAft>
                <a:spcPts val="0"/>
              </a:spcAft>
              <a:buSzPts val="3200"/>
              <a:buFont typeface="Noto Sans Symbols"/>
              <a:buChar char="∙"/>
            </a:pPr>
            <a:r>
              <a:rPr b="1" i="1" lang="en-US" sz="2200">
                <a:solidFill>
                  <a:srgbClr val="000000"/>
                </a:solidFill>
                <a:highlight>
                  <a:srgbClr val="FFFFFF"/>
                </a:highlight>
                <a:latin typeface="Calibri"/>
                <a:ea typeface="Calibri"/>
                <a:cs typeface="Calibri"/>
                <a:sym typeface="Calibri"/>
              </a:rPr>
              <a:t>Scroll:</a:t>
            </a:r>
            <a:r>
              <a:rPr lang="en-US" sz="2200">
                <a:solidFill>
                  <a:srgbClr val="000000"/>
                </a:solidFill>
                <a:highlight>
                  <a:srgbClr val="FFFFFF"/>
                </a:highlight>
                <a:latin typeface="Calibri"/>
                <a:ea typeface="Calibri"/>
                <a:cs typeface="Calibri"/>
                <a:sym typeface="Calibri"/>
              </a:rPr>
              <a:t> It is default property. It is used to scroll the text from </a:t>
            </a:r>
            <a:r>
              <a:rPr b="1" lang="en-US" sz="2200">
                <a:solidFill>
                  <a:srgbClr val="000000"/>
                </a:solidFill>
                <a:highlight>
                  <a:srgbClr val="FFFFFF"/>
                </a:highlight>
                <a:latin typeface="Calibri"/>
                <a:ea typeface="Calibri"/>
                <a:cs typeface="Calibri"/>
                <a:sym typeface="Calibri"/>
              </a:rPr>
              <a:t>right to left</a:t>
            </a:r>
            <a:r>
              <a:rPr lang="en-US" sz="2200">
                <a:solidFill>
                  <a:srgbClr val="000000"/>
                </a:solidFill>
                <a:highlight>
                  <a:srgbClr val="FFFFFF"/>
                </a:highlight>
                <a:latin typeface="Calibri"/>
                <a:ea typeface="Calibri"/>
                <a:cs typeface="Calibri"/>
                <a:sym typeface="Calibri"/>
              </a:rPr>
              <a:t>, and restarts at the right side of the marquee when it is reached to the end of left side.</a:t>
            </a:r>
            <a:endParaRPr sz="2200">
              <a:latin typeface="Calibri"/>
              <a:ea typeface="Calibri"/>
              <a:cs typeface="Calibri"/>
              <a:sym typeface="Calibri"/>
            </a:endParaRPr>
          </a:p>
          <a:p>
            <a:pPr indent="-342900" lvl="0" marL="342900" marR="0" rtl="0" algn="just">
              <a:lnSpc>
                <a:spcPct val="107000"/>
              </a:lnSpc>
              <a:spcBef>
                <a:spcPts val="0"/>
              </a:spcBef>
              <a:spcAft>
                <a:spcPts val="0"/>
              </a:spcAft>
              <a:buSzPts val="3200"/>
              <a:buFont typeface="Noto Sans Symbols"/>
              <a:buChar char="∙"/>
            </a:pPr>
            <a:r>
              <a:rPr b="1" i="1" lang="en-US" sz="2200">
                <a:solidFill>
                  <a:srgbClr val="000000"/>
                </a:solidFill>
                <a:highlight>
                  <a:srgbClr val="FFFFFF"/>
                </a:highlight>
                <a:latin typeface="Calibri"/>
                <a:ea typeface="Calibri"/>
                <a:cs typeface="Calibri"/>
                <a:sym typeface="Calibri"/>
              </a:rPr>
              <a:t>Slide:</a:t>
            </a:r>
            <a:r>
              <a:rPr lang="en-US" sz="2200">
                <a:solidFill>
                  <a:srgbClr val="000000"/>
                </a:solidFill>
                <a:highlight>
                  <a:srgbClr val="FFFFFF"/>
                </a:highlight>
                <a:latin typeface="Calibri"/>
                <a:ea typeface="Calibri"/>
                <a:cs typeface="Calibri"/>
                <a:sym typeface="Calibri"/>
              </a:rPr>
              <a:t> In this marquee, all the contents to be scrolled will slide the entire length of marquee but stops at the end to display the content permanently.</a:t>
            </a:r>
            <a:endParaRPr sz="2200">
              <a:latin typeface="Calibri"/>
              <a:ea typeface="Calibri"/>
              <a:cs typeface="Calibri"/>
              <a:sym typeface="Calibri"/>
            </a:endParaRPr>
          </a:p>
          <a:p>
            <a:pPr indent="-342900" lvl="0" marL="342900" marR="0" rtl="0" algn="just">
              <a:lnSpc>
                <a:spcPct val="107000"/>
              </a:lnSpc>
              <a:spcBef>
                <a:spcPts val="0"/>
              </a:spcBef>
              <a:spcAft>
                <a:spcPts val="0"/>
              </a:spcAft>
              <a:buSzPts val="3200"/>
              <a:buFont typeface="Noto Sans Symbols"/>
              <a:buChar char="∙"/>
            </a:pPr>
            <a:r>
              <a:rPr b="1" i="1" lang="en-US" sz="2200">
                <a:solidFill>
                  <a:srgbClr val="000000"/>
                </a:solidFill>
                <a:highlight>
                  <a:srgbClr val="FFFFFF"/>
                </a:highlight>
                <a:latin typeface="Calibri"/>
                <a:ea typeface="Calibri"/>
                <a:cs typeface="Calibri"/>
                <a:sym typeface="Calibri"/>
              </a:rPr>
              <a:t>Alternate:</a:t>
            </a:r>
            <a:r>
              <a:rPr lang="en-US" sz="2200">
                <a:solidFill>
                  <a:srgbClr val="000000"/>
                </a:solidFill>
                <a:highlight>
                  <a:srgbClr val="FFFFFF"/>
                </a:highlight>
                <a:latin typeface="Calibri"/>
                <a:ea typeface="Calibri"/>
                <a:cs typeface="Calibri"/>
                <a:sym typeface="Calibri"/>
              </a:rPr>
              <a:t> It scrolls the text from </a:t>
            </a:r>
            <a:r>
              <a:rPr b="1" lang="en-US" sz="2200">
                <a:solidFill>
                  <a:srgbClr val="000000"/>
                </a:solidFill>
                <a:highlight>
                  <a:srgbClr val="FFFFFF"/>
                </a:highlight>
                <a:latin typeface="Calibri"/>
                <a:ea typeface="Calibri"/>
                <a:cs typeface="Calibri"/>
                <a:sym typeface="Calibri"/>
              </a:rPr>
              <a:t>right to left</a:t>
            </a:r>
            <a:r>
              <a:rPr lang="en-US" sz="2200">
                <a:solidFill>
                  <a:srgbClr val="000000"/>
                </a:solidFill>
                <a:highlight>
                  <a:srgbClr val="FFFFFF"/>
                </a:highlight>
                <a:latin typeface="Calibri"/>
                <a:ea typeface="Calibri"/>
                <a:cs typeface="Calibri"/>
                <a:sym typeface="Calibri"/>
              </a:rPr>
              <a:t> and goes back </a:t>
            </a:r>
            <a:r>
              <a:rPr b="1" lang="en-US" sz="2200">
                <a:solidFill>
                  <a:srgbClr val="000000"/>
                </a:solidFill>
                <a:highlight>
                  <a:srgbClr val="FFFFFF"/>
                </a:highlight>
                <a:latin typeface="Calibri"/>
                <a:ea typeface="Calibri"/>
                <a:cs typeface="Calibri"/>
                <a:sym typeface="Calibri"/>
              </a:rPr>
              <a:t>left to right</a:t>
            </a:r>
            <a:r>
              <a:rPr lang="en-US" sz="2200">
                <a:solidFill>
                  <a:srgbClr val="000000"/>
                </a:solidFill>
                <a:highlight>
                  <a:srgbClr val="FFFFFF"/>
                </a:highlight>
                <a:latin typeface="Calibri"/>
                <a:ea typeface="Calibri"/>
                <a:cs typeface="Calibri"/>
                <a:sym typeface="Calibri"/>
              </a:rPr>
              <a:t>.</a:t>
            </a:r>
            <a:endParaRPr sz="2200">
              <a:latin typeface="Calibri"/>
              <a:ea typeface="Calibri"/>
              <a:cs typeface="Calibri"/>
              <a:sym typeface="Calibri"/>
            </a:endParaRPr>
          </a:p>
          <a:p>
            <a:pPr indent="0" lvl="0" marL="0" marR="0" rtl="0" algn="l">
              <a:lnSpc>
                <a:spcPct val="64772"/>
              </a:lnSpc>
              <a:spcBef>
                <a:spcPts val="800"/>
              </a:spcBef>
              <a:spcAft>
                <a:spcPts val="0"/>
              </a:spcAft>
              <a:buSzPts val="3200"/>
              <a:buNone/>
            </a:pPr>
            <a:r>
              <a:rPr lang="en-US" sz="2200">
                <a:solidFill>
                  <a:srgbClr val="000000"/>
                </a:solidFill>
                <a:highlight>
                  <a:srgbClr val="FFFFFF"/>
                </a:highlight>
                <a:latin typeface="Consolas"/>
                <a:ea typeface="Consolas"/>
                <a:cs typeface="Consolas"/>
                <a:sym typeface="Consolas"/>
              </a:rPr>
              <a:t>&lt;marquee bgcolor="lightgreen"  </a:t>
            </a:r>
            <a:endParaRPr/>
          </a:p>
          <a:p>
            <a:pPr indent="0" lvl="0" marL="0" marR="0" rtl="0" algn="l">
              <a:lnSpc>
                <a:spcPct val="64772"/>
              </a:lnSpc>
              <a:spcBef>
                <a:spcPts val="0"/>
              </a:spcBef>
              <a:spcAft>
                <a:spcPts val="0"/>
              </a:spcAft>
              <a:buSzPts val="3200"/>
              <a:buNone/>
            </a:pPr>
            <a:r>
              <a:rPr lang="en-US" sz="2200">
                <a:solidFill>
                  <a:srgbClr val="000000"/>
                </a:solidFill>
                <a:highlight>
                  <a:srgbClr val="FFFFFF"/>
                </a:highlight>
                <a:latin typeface="Consolas"/>
                <a:ea typeface="Consolas"/>
                <a:cs typeface="Consolas"/>
                <a:sym typeface="Consolas"/>
              </a:rPr>
              <a:t>  </a:t>
            </a:r>
            <a:endParaRPr sz="2200">
              <a:highlight>
                <a:srgbClr val="FFFFFF"/>
              </a:highlight>
              <a:latin typeface="Calibri"/>
              <a:ea typeface="Calibri"/>
              <a:cs typeface="Calibri"/>
              <a:sym typeface="Calibri"/>
            </a:endParaRPr>
          </a:p>
          <a:p>
            <a:pPr indent="0" lvl="0" marL="0" marR="0" rtl="0" algn="l">
              <a:lnSpc>
                <a:spcPct val="64772"/>
              </a:lnSpc>
              <a:spcBef>
                <a:spcPts val="0"/>
              </a:spcBef>
              <a:spcAft>
                <a:spcPts val="0"/>
              </a:spcAft>
              <a:buSzPts val="3200"/>
              <a:buNone/>
            </a:pPr>
            <a:r>
              <a:rPr lang="en-US" sz="2200">
                <a:solidFill>
                  <a:srgbClr val="000000"/>
                </a:solidFill>
                <a:highlight>
                  <a:srgbClr val="FFFFFF"/>
                </a:highlight>
                <a:latin typeface="Consolas"/>
                <a:ea typeface="Consolas"/>
                <a:cs typeface="Consolas"/>
                <a:sym typeface="Consolas"/>
              </a:rPr>
              <a:t>         behavior="slide"    direction="right“</a:t>
            </a:r>
            <a:endParaRPr/>
          </a:p>
          <a:p>
            <a:pPr indent="0" lvl="0" marL="0" marR="0" rtl="0" algn="l">
              <a:lnSpc>
                <a:spcPct val="64772"/>
              </a:lnSpc>
              <a:spcBef>
                <a:spcPts val="0"/>
              </a:spcBef>
              <a:spcAft>
                <a:spcPts val="0"/>
              </a:spcAft>
              <a:buSzPts val="3200"/>
              <a:buNone/>
            </a:pPr>
            <a:r>
              <a:t/>
            </a:r>
            <a:endParaRPr sz="2200">
              <a:highlight>
                <a:srgbClr val="FFFFFF"/>
              </a:highlight>
              <a:latin typeface="Calibri"/>
              <a:ea typeface="Calibri"/>
              <a:cs typeface="Calibri"/>
              <a:sym typeface="Calibri"/>
            </a:endParaRPr>
          </a:p>
          <a:p>
            <a:pPr indent="0" lvl="0" marL="0" marR="0" rtl="0" algn="l">
              <a:lnSpc>
                <a:spcPct val="64772"/>
              </a:lnSpc>
              <a:spcBef>
                <a:spcPts val="0"/>
              </a:spcBef>
              <a:spcAft>
                <a:spcPts val="0"/>
              </a:spcAft>
              <a:buSzPts val="3200"/>
              <a:buNone/>
            </a:pPr>
            <a:r>
              <a:rPr lang="en-US" sz="2200">
                <a:solidFill>
                  <a:srgbClr val="000000"/>
                </a:solidFill>
                <a:highlight>
                  <a:srgbClr val="FFFFFF"/>
                </a:highlight>
                <a:latin typeface="Consolas"/>
                <a:ea typeface="Consolas"/>
                <a:cs typeface="Consolas"/>
                <a:sym typeface="Consolas"/>
              </a:rPr>
              <a:t>         scrollamount="25"   width="60%"   </a:t>
            </a:r>
            <a:endParaRPr/>
          </a:p>
          <a:p>
            <a:pPr indent="0" lvl="0" marL="0" marR="0" rtl="0" algn="l">
              <a:lnSpc>
                <a:spcPct val="64772"/>
              </a:lnSpc>
              <a:spcBef>
                <a:spcPts val="0"/>
              </a:spcBef>
              <a:spcAft>
                <a:spcPts val="0"/>
              </a:spcAft>
              <a:buSzPts val="3200"/>
              <a:buNone/>
            </a:pPr>
            <a:r>
              <a:t/>
            </a:r>
            <a:endParaRPr sz="2200">
              <a:solidFill>
                <a:srgbClr val="000000"/>
              </a:solidFill>
              <a:highlight>
                <a:srgbClr val="FFFFFF"/>
              </a:highlight>
              <a:latin typeface="Consolas"/>
              <a:ea typeface="Consolas"/>
              <a:cs typeface="Consolas"/>
              <a:sym typeface="Consolas"/>
            </a:endParaRPr>
          </a:p>
          <a:p>
            <a:pPr indent="0" lvl="0" marL="0" marR="0" rtl="0" algn="l">
              <a:lnSpc>
                <a:spcPct val="64772"/>
              </a:lnSpc>
              <a:spcBef>
                <a:spcPts val="0"/>
              </a:spcBef>
              <a:spcAft>
                <a:spcPts val="0"/>
              </a:spcAft>
              <a:buSzPts val="3200"/>
              <a:buNone/>
            </a:pPr>
            <a:r>
              <a:rPr lang="en-US" sz="2200">
                <a:solidFill>
                  <a:srgbClr val="000000"/>
                </a:solidFill>
                <a:highlight>
                  <a:srgbClr val="FFFFFF"/>
                </a:highlight>
                <a:latin typeface="Consolas"/>
                <a:ea typeface="Consolas"/>
                <a:cs typeface="Consolas"/>
                <a:sym typeface="Consolas"/>
              </a:rPr>
              <a:t>         height="200" </a:t>
            </a:r>
            <a:endParaRPr/>
          </a:p>
          <a:p>
            <a:pPr indent="0" lvl="0" marL="0" marR="0" rtl="0" algn="l">
              <a:lnSpc>
                <a:spcPct val="64772"/>
              </a:lnSpc>
              <a:spcBef>
                <a:spcPts val="0"/>
              </a:spcBef>
              <a:spcAft>
                <a:spcPts val="0"/>
              </a:spcAft>
              <a:buSzPts val="3200"/>
              <a:buNone/>
            </a:pPr>
            <a:r>
              <a:t/>
            </a:r>
            <a:endParaRPr sz="2200">
              <a:highlight>
                <a:srgbClr val="FFFFFF"/>
              </a:highlight>
              <a:latin typeface="Calibri"/>
              <a:ea typeface="Calibri"/>
              <a:cs typeface="Calibri"/>
              <a:sym typeface="Calibri"/>
            </a:endParaRPr>
          </a:p>
          <a:p>
            <a:pPr indent="0" lvl="0" marL="0" marR="0" rtl="0" algn="l">
              <a:lnSpc>
                <a:spcPct val="64772"/>
              </a:lnSpc>
              <a:spcBef>
                <a:spcPts val="0"/>
              </a:spcBef>
              <a:spcAft>
                <a:spcPts val="0"/>
              </a:spcAft>
              <a:buSzPts val="3200"/>
              <a:buNone/>
            </a:pPr>
            <a:r>
              <a:rPr lang="en-US" sz="2200">
                <a:solidFill>
                  <a:srgbClr val="000000"/>
                </a:solidFill>
                <a:highlight>
                  <a:srgbClr val="FFFFFF"/>
                </a:highlight>
                <a:latin typeface="Consolas"/>
                <a:ea typeface="Consolas"/>
                <a:cs typeface="Consolas"/>
                <a:sym typeface="Consolas"/>
              </a:rPr>
              <a:t>         hspace="250" vspace="200"    loop="4"&gt;</a:t>
            </a:r>
            <a:endParaRPr sz="2200">
              <a:highlight>
                <a:srgbClr val="FFFFFF"/>
              </a:highlight>
              <a:latin typeface="Calibri"/>
              <a:ea typeface="Calibri"/>
              <a:cs typeface="Calibri"/>
              <a:sym typeface="Calibri"/>
            </a:endParaRPr>
          </a:p>
          <a:p>
            <a:pPr indent="-431800" lvl="0" marL="457200" rtl="0" algn="ctr">
              <a:lnSpc>
                <a:spcPct val="100000"/>
              </a:lnSpc>
              <a:spcBef>
                <a:spcPts val="640"/>
              </a:spcBef>
              <a:spcAft>
                <a:spcPts val="0"/>
              </a:spcAft>
              <a:buClr>
                <a:srgbClr val="888888"/>
              </a:buClr>
              <a:buSzPts val="3200"/>
              <a:buNone/>
            </a:pPr>
            <a:r>
              <a:t/>
            </a:r>
            <a:endParaRPr sz="2200"/>
          </a:p>
        </p:txBody>
      </p:sp>
    </p:spTree>
  </p:cSld>
  <p:clrMapOvr>
    <a:masterClrMapping/>
  </p:clrMapOvr>
  <p:transition advTm="4000">
    <p:cut/>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65"/>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Favicon</a:t>
            </a:r>
            <a:endParaRPr/>
          </a:p>
        </p:txBody>
      </p:sp>
      <p:sp>
        <p:nvSpPr>
          <p:cNvPr id="224" name="Google Shape;224;p65"/>
          <p:cNvSpPr txBox="1"/>
          <p:nvPr>
            <p:ph idx="1" type="subTitle"/>
          </p:nvPr>
        </p:nvSpPr>
        <p:spPr>
          <a:xfrm>
            <a:off x="503583" y="1066800"/>
            <a:ext cx="8392044" cy="4724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640"/>
              </a:spcBef>
              <a:spcAft>
                <a:spcPts val="0"/>
              </a:spcAft>
              <a:buSzPts val="3200"/>
              <a:buFont typeface="Arial"/>
              <a:buChar char="•"/>
            </a:pPr>
            <a:r>
              <a:rPr b="0" i="0" lang="en-US" sz="2400">
                <a:solidFill>
                  <a:srgbClr val="000000"/>
                </a:solidFill>
                <a:highlight>
                  <a:srgbClr val="FFFFFF"/>
                </a:highlight>
                <a:latin typeface="Verdana"/>
                <a:ea typeface="Verdana"/>
                <a:cs typeface="Verdana"/>
                <a:sym typeface="Verdana"/>
              </a:rPr>
              <a:t>A favicon is a small image displayed next to the page title in the browser tab.</a:t>
            </a:r>
            <a:endParaRPr/>
          </a:p>
          <a:p>
            <a:pPr indent="-342900" lvl="0" marL="342900" rtl="0" algn="just">
              <a:lnSpc>
                <a:spcPct val="100000"/>
              </a:lnSpc>
              <a:spcBef>
                <a:spcPts val="640"/>
              </a:spcBef>
              <a:spcAft>
                <a:spcPts val="0"/>
              </a:spcAft>
              <a:buSzPts val="3200"/>
              <a:buFont typeface="Arial"/>
              <a:buChar char="•"/>
            </a:pPr>
            <a:r>
              <a:rPr b="1" i="0" lang="en-US" sz="2400">
                <a:solidFill>
                  <a:srgbClr val="273239"/>
                </a:solidFill>
                <a:highlight>
                  <a:srgbClr val="FFFFFF"/>
                </a:highlight>
                <a:latin typeface="Verdana"/>
                <a:ea typeface="Verdana"/>
                <a:cs typeface="Verdana"/>
                <a:sym typeface="Verdana"/>
              </a:rPr>
              <a:t>HTML Favicon</a:t>
            </a:r>
            <a:r>
              <a:rPr b="0" i="0" lang="en-US" sz="2400">
                <a:solidFill>
                  <a:srgbClr val="273239"/>
                </a:solidFill>
                <a:highlight>
                  <a:srgbClr val="FFFFFF"/>
                </a:highlight>
                <a:latin typeface="Verdana"/>
                <a:ea typeface="Verdana"/>
                <a:cs typeface="Verdana"/>
                <a:sym typeface="Verdana"/>
              </a:rPr>
              <a:t> is a small icon representing a website, appearing in the browser’s tab or bookmark bar. Defined using the &lt;link&gt; tag with `rel=”icon”`, it is also known as the Favorite icon.</a:t>
            </a:r>
            <a:endParaRPr sz="2400">
              <a:latin typeface="Verdana"/>
              <a:ea typeface="Verdana"/>
              <a:cs typeface="Verdana"/>
              <a:sym typeface="Verdana"/>
            </a:endParaRPr>
          </a:p>
        </p:txBody>
      </p:sp>
      <p:pic>
        <p:nvPicPr>
          <p:cNvPr id="225" name="Google Shape;225;p65"/>
          <p:cNvPicPr preferRelativeResize="0"/>
          <p:nvPr/>
        </p:nvPicPr>
        <p:blipFill rotWithShape="1">
          <a:blip r:embed="rId3">
            <a:alphaModFix/>
          </a:blip>
          <a:srcRect b="0" l="0" r="0" t="0"/>
          <a:stretch/>
        </p:blipFill>
        <p:spPr>
          <a:xfrm>
            <a:off x="1904172" y="3796748"/>
            <a:ext cx="3790950" cy="704850"/>
          </a:xfrm>
          <a:prstGeom prst="rect">
            <a:avLst/>
          </a:prstGeom>
          <a:noFill/>
          <a:ln>
            <a:noFill/>
          </a:ln>
        </p:spPr>
      </p:pic>
    </p:spTree>
  </p:cSld>
  <p:clrMapOvr>
    <a:masterClrMapping/>
  </p:clrMapOvr>
  <p:transition advTm="4000">
    <p:cut/>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66"/>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Adding a Favicon</a:t>
            </a:r>
            <a:endParaRPr/>
          </a:p>
        </p:txBody>
      </p:sp>
      <p:sp>
        <p:nvSpPr>
          <p:cNvPr id="231" name="Google Shape;231;p66"/>
          <p:cNvSpPr txBox="1"/>
          <p:nvPr>
            <p:ph idx="1" type="subTitle"/>
          </p:nvPr>
        </p:nvSpPr>
        <p:spPr>
          <a:xfrm>
            <a:off x="175592" y="1170252"/>
            <a:ext cx="8550965" cy="409342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Verdana"/>
              <a:buNone/>
            </a:pPr>
            <a:r>
              <a:rPr b="1" i="0" lang="en-US" sz="2000" u="none" cap="none" strike="noStrike">
                <a:solidFill>
                  <a:srgbClr val="000000"/>
                </a:solidFill>
                <a:latin typeface="Verdana"/>
                <a:ea typeface="Verdana"/>
                <a:cs typeface="Verdana"/>
                <a:sym typeface="Verdana"/>
              </a:rPr>
              <a:t>How to add favicon in HTML?</a:t>
            </a:r>
            <a:endParaRPr b="0" i="0" sz="2000" u="none" cap="none" strike="noStrike">
              <a:solidFill>
                <a:schemeClr val="dk1"/>
              </a:solidFill>
            </a:endParaRPr>
          </a:p>
          <a:p>
            <a:pPr indent="0" lvl="0" marL="0" marR="0" rtl="0" algn="l">
              <a:lnSpc>
                <a:spcPct val="100000"/>
              </a:lnSpc>
              <a:spcBef>
                <a:spcPts val="0"/>
              </a:spcBef>
              <a:spcAft>
                <a:spcPts val="0"/>
              </a:spcAft>
              <a:buClr>
                <a:srgbClr val="000000"/>
              </a:buClr>
              <a:buSzPts val="2000"/>
              <a:buFont typeface="Verdana"/>
              <a:buNone/>
            </a:pPr>
            <a:r>
              <a:rPr b="0" i="0" lang="en-US" sz="2000" u="none" cap="none" strike="noStrike">
                <a:solidFill>
                  <a:srgbClr val="000000"/>
                </a:solidFill>
                <a:latin typeface="Verdana"/>
                <a:ea typeface="Verdana"/>
                <a:cs typeface="Verdana"/>
                <a:sym typeface="Verdana"/>
              </a:rPr>
              <a:t>Add a</a:t>
            </a:r>
            <a:r>
              <a:rPr b="0" i="0" lang="en-US" sz="2000" u="none" cap="none" strike="noStrike">
                <a:solidFill>
                  <a:srgbClr val="000000"/>
                </a:solidFill>
                <a:latin typeface="Calibri"/>
                <a:ea typeface="Calibri"/>
                <a:cs typeface="Calibri"/>
                <a:sym typeface="Calibri"/>
              </a:rPr>
              <a:t> </a:t>
            </a:r>
            <a:r>
              <a:rPr b="0" i="0" lang="en-US" sz="2000" u="none" cap="none" strike="noStrike">
                <a:solidFill>
                  <a:schemeClr val="dk1"/>
                </a:solidFill>
                <a:latin typeface="Consolas"/>
                <a:ea typeface="Consolas"/>
                <a:cs typeface="Consolas"/>
                <a:sym typeface="Consolas"/>
              </a:rPr>
              <a:t>&lt;link&gt;</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Verdana"/>
                <a:ea typeface="Verdana"/>
                <a:cs typeface="Verdana"/>
                <a:sym typeface="Verdana"/>
              </a:rPr>
              <a:t>element to your "html" file, after</a:t>
            </a:r>
            <a:r>
              <a:rPr lang="en-US" sz="2000">
                <a:solidFill>
                  <a:srgbClr val="000000"/>
                </a:solidFill>
                <a:latin typeface="Verdana"/>
                <a:ea typeface="Verdana"/>
                <a:cs typeface="Verdana"/>
                <a:sym typeface="Verdana"/>
              </a:rPr>
              <a:t> the &lt;title&gt; </a:t>
            </a:r>
            <a:r>
              <a:rPr b="0" i="0" lang="en-US" sz="2000" u="none" cap="none" strike="noStrike">
                <a:solidFill>
                  <a:srgbClr val="000000"/>
                </a:solidFill>
                <a:latin typeface="Verdana"/>
                <a:ea typeface="Verdana"/>
                <a:cs typeface="Verdana"/>
                <a:sym typeface="Verdana"/>
              </a:rPr>
              <a:t> element, like this:</a:t>
            </a:r>
            <a:endParaRPr b="0" i="0" sz="2000" u="none" cap="none" strike="noStrike">
              <a:solidFill>
                <a:schemeClr val="dk1"/>
              </a:solidFill>
            </a:endParaRPr>
          </a:p>
          <a:p>
            <a:pPr indent="0" lvl="0" marL="0" marR="0" rtl="0" algn="l">
              <a:lnSpc>
                <a:spcPct val="100000"/>
              </a:lnSpc>
              <a:spcBef>
                <a:spcPts val="0"/>
              </a:spcBef>
              <a:spcAft>
                <a:spcPts val="0"/>
              </a:spcAft>
              <a:buClr>
                <a:srgbClr val="888888"/>
              </a:buClr>
              <a:buSzPts val="2000"/>
              <a:buFont typeface="Calibri"/>
              <a:buNone/>
            </a:pPr>
            <a:r>
              <a:t/>
            </a:r>
            <a:endParaRPr b="0" i="0" sz="20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Consolas"/>
              <a:buNone/>
            </a:pPr>
            <a:r>
              <a:rPr b="1" i="0" lang="en-US" sz="2000" u="none" cap="none" strike="noStrike">
                <a:solidFill>
                  <a:srgbClr val="000000"/>
                </a:solidFill>
                <a:latin typeface="Consolas"/>
                <a:ea typeface="Consolas"/>
                <a:cs typeface="Consolas"/>
                <a:sym typeface="Consolas"/>
              </a:rPr>
              <a:t>&lt;head&gt;</a:t>
            </a:r>
            <a:endParaRPr b="1" i="0" sz="2000" u="none" cap="none" strike="noStrike">
              <a:solidFill>
                <a:schemeClr val="dk1"/>
              </a:solidFill>
            </a:endParaRPr>
          </a:p>
          <a:p>
            <a:pPr indent="0" lvl="0" marL="0" marR="0" rtl="0" algn="l">
              <a:lnSpc>
                <a:spcPct val="100000"/>
              </a:lnSpc>
              <a:spcBef>
                <a:spcPts val="0"/>
              </a:spcBef>
              <a:spcAft>
                <a:spcPts val="0"/>
              </a:spcAft>
              <a:buClr>
                <a:srgbClr val="000000"/>
              </a:buClr>
              <a:buSzPts val="2000"/>
              <a:buFont typeface="Consolas"/>
              <a:buNone/>
            </a:pPr>
            <a:r>
              <a:rPr b="1" i="0" lang="en-US" sz="2000" u="none" cap="none" strike="noStrike">
                <a:solidFill>
                  <a:srgbClr val="000000"/>
                </a:solidFill>
                <a:latin typeface="Consolas"/>
                <a:ea typeface="Consolas"/>
                <a:cs typeface="Consolas"/>
                <a:sym typeface="Consolas"/>
              </a:rPr>
              <a:t>      &lt;title&gt; Adding Favicon &lt;/title&gt;</a:t>
            </a:r>
            <a:endParaRPr b="1" i="0" sz="2000" u="none" cap="none" strike="noStrike">
              <a:solidFill>
                <a:schemeClr val="dk1"/>
              </a:solidFill>
            </a:endParaRPr>
          </a:p>
          <a:p>
            <a:pPr indent="0" lvl="0" marL="0" marR="0" rtl="0" algn="l">
              <a:lnSpc>
                <a:spcPct val="100000"/>
              </a:lnSpc>
              <a:spcBef>
                <a:spcPts val="0"/>
              </a:spcBef>
              <a:spcAft>
                <a:spcPts val="0"/>
              </a:spcAft>
              <a:buClr>
                <a:srgbClr val="000000"/>
              </a:buClr>
              <a:buSzPts val="2000"/>
              <a:buFont typeface="Consolas"/>
              <a:buNone/>
            </a:pPr>
            <a:r>
              <a:rPr b="1" i="0" lang="en-US" sz="2000" u="none" cap="none" strike="noStrike">
                <a:solidFill>
                  <a:srgbClr val="000000"/>
                </a:solidFill>
                <a:latin typeface="Consolas"/>
                <a:ea typeface="Consolas"/>
                <a:cs typeface="Consolas"/>
                <a:sym typeface="Consolas"/>
              </a:rPr>
              <a:t>      &lt;link rel="icon" type="image" href="shopping.png"&gt;</a:t>
            </a:r>
            <a:endParaRPr b="1" i="0" sz="2000" u="none" cap="none" strike="noStrike">
              <a:solidFill>
                <a:schemeClr val="dk1"/>
              </a:solidFill>
            </a:endParaRPr>
          </a:p>
          <a:p>
            <a:pPr indent="0" lvl="0" marL="0" marR="0" rtl="0" algn="l">
              <a:lnSpc>
                <a:spcPct val="100000"/>
              </a:lnSpc>
              <a:spcBef>
                <a:spcPts val="0"/>
              </a:spcBef>
              <a:spcAft>
                <a:spcPts val="0"/>
              </a:spcAft>
              <a:buClr>
                <a:srgbClr val="000000"/>
              </a:buClr>
              <a:buSzPts val="2000"/>
              <a:buFont typeface="Consolas"/>
              <a:buNone/>
            </a:pPr>
            <a:r>
              <a:rPr b="1" i="0" lang="en-US" sz="2000" u="none" cap="none" strike="noStrike">
                <a:solidFill>
                  <a:srgbClr val="000000"/>
                </a:solidFill>
                <a:latin typeface="Consolas"/>
                <a:ea typeface="Consolas"/>
                <a:cs typeface="Consolas"/>
                <a:sym typeface="Consolas"/>
              </a:rPr>
              <a:t>&lt;/head&gt;</a:t>
            </a:r>
            <a:endParaRPr/>
          </a:p>
          <a:p>
            <a:pPr indent="0" lvl="0" marL="0" marR="0" rtl="0" algn="l">
              <a:lnSpc>
                <a:spcPct val="100000"/>
              </a:lnSpc>
              <a:spcBef>
                <a:spcPts val="0"/>
              </a:spcBef>
              <a:spcAft>
                <a:spcPts val="0"/>
              </a:spcAft>
              <a:buClr>
                <a:srgbClr val="888888"/>
              </a:buClr>
              <a:buSzPts val="2000"/>
              <a:buFont typeface="Calibri"/>
              <a:buNone/>
            </a:pPr>
            <a:r>
              <a:t/>
            </a:r>
            <a:endParaRPr b="1" sz="2000">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888888"/>
              </a:buClr>
              <a:buSzPts val="2000"/>
              <a:buFont typeface="Calibri"/>
              <a:buNone/>
            </a:pPr>
            <a:r>
              <a:t/>
            </a:r>
            <a:endParaRPr b="1" i="0" sz="2000" u="none" cap="none" strike="noStrike">
              <a:solidFill>
                <a:schemeClr val="dk1"/>
              </a:solidFill>
            </a:endParaRPr>
          </a:p>
          <a:p>
            <a:pPr indent="0" lvl="0" marL="0" marR="0" rtl="0" algn="l">
              <a:lnSpc>
                <a:spcPct val="100000"/>
              </a:lnSpc>
              <a:spcBef>
                <a:spcPts val="0"/>
              </a:spcBef>
              <a:spcAft>
                <a:spcPts val="0"/>
              </a:spcAft>
              <a:buClr>
                <a:srgbClr val="888888"/>
              </a:buClr>
              <a:buSzPts val="2000"/>
              <a:buFont typeface="Calibri"/>
              <a:buNone/>
            </a:pPr>
            <a:r>
              <a:t/>
            </a:r>
            <a:endParaRPr b="0" i="0" sz="20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2000"/>
              <a:buFont typeface="Verdana"/>
              <a:buNone/>
            </a:pPr>
            <a:r>
              <a:rPr b="0" i="0" lang="en-US" sz="2000" u="none" cap="none" strike="noStrike">
                <a:solidFill>
                  <a:srgbClr val="000000"/>
                </a:solidFill>
                <a:latin typeface="Verdana"/>
                <a:ea typeface="Verdana"/>
                <a:cs typeface="Verdana"/>
                <a:sym typeface="Verdana"/>
              </a:rPr>
              <a:t>&lt;link&gt; Defines the relationship between a document and an external resource</a:t>
            </a:r>
            <a:endParaRPr b="0" i="0" sz="2000" u="none" cap="none" strike="noStrike">
              <a:solidFill>
                <a:schemeClr val="dk1"/>
              </a:solidFill>
              <a:latin typeface="Arial"/>
              <a:ea typeface="Arial"/>
              <a:cs typeface="Arial"/>
              <a:sym typeface="Arial"/>
            </a:endParaRPr>
          </a:p>
        </p:txBody>
      </p:sp>
    </p:spTree>
  </p:cSld>
  <p:clrMapOvr>
    <a:masterClrMapping/>
  </p:clrMapOvr>
  <p:transition advTm="4000">
    <p:cu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67"/>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Meta Tag</a:t>
            </a:r>
            <a:endParaRPr/>
          </a:p>
        </p:txBody>
      </p:sp>
      <p:sp>
        <p:nvSpPr>
          <p:cNvPr id="237" name="Google Shape;237;p67"/>
          <p:cNvSpPr txBox="1"/>
          <p:nvPr>
            <p:ph idx="1" type="subTitle"/>
          </p:nvPr>
        </p:nvSpPr>
        <p:spPr>
          <a:xfrm>
            <a:off x="326326" y="1080810"/>
            <a:ext cx="8491347" cy="4093428"/>
          </a:xfrm>
          <a:prstGeom prst="rect">
            <a:avLst/>
          </a:prstGeom>
          <a:noFill/>
          <a:ln>
            <a:noFill/>
          </a:ln>
        </p:spPr>
        <p:txBody>
          <a:bodyPr anchorCtr="0" anchor="ctr" bIns="45700" lIns="91425" spcFirstLastPara="1" rIns="91425" wrap="square" tIns="45700">
            <a:spAutoFit/>
          </a:bodyPr>
          <a:lstStyle/>
          <a:p>
            <a:pPr indent="-342900" lvl="0" marL="34290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Verdana"/>
                <a:ea typeface="Verdana"/>
                <a:cs typeface="Verdana"/>
                <a:sym typeface="Verdana"/>
              </a:rPr>
              <a:t>The </a:t>
            </a:r>
            <a:r>
              <a:rPr b="0" i="0" lang="en-US" sz="1600" u="none" cap="none" strike="noStrike">
                <a:solidFill>
                  <a:srgbClr val="DC143C"/>
                </a:solidFill>
                <a:latin typeface="Consolas"/>
                <a:ea typeface="Consolas"/>
                <a:cs typeface="Consolas"/>
                <a:sym typeface="Consolas"/>
              </a:rPr>
              <a:t>&lt;meta&gt;</a:t>
            </a:r>
            <a:r>
              <a:rPr b="0" i="0" lang="en-US" sz="2000" u="none" cap="none" strike="noStrike">
                <a:solidFill>
                  <a:srgbClr val="000000"/>
                </a:solidFill>
                <a:latin typeface="Verdana"/>
                <a:ea typeface="Verdana"/>
                <a:cs typeface="Verdana"/>
                <a:sym typeface="Verdana"/>
              </a:rPr>
              <a:t> tag defines metadata about an HTML document. Metadata is data (information) about data.</a:t>
            </a:r>
            <a:endParaRPr b="0" i="0" sz="2400" u="none" cap="none" strike="noStrike">
              <a:solidFill>
                <a:schemeClr val="dk1"/>
              </a:solidFill>
            </a:endParaRPr>
          </a:p>
          <a:p>
            <a:pPr indent="-285750" lvl="0" marL="285750" marR="0" rtl="0" algn="just">
              <a:lnSpc>
                <a:spcPct val="100000"/>
              </a:lnSpc>
              <a:spcBef>
                <a:spcPts val="0"/>
              </a:spcBef>
              <a:spcAft>
                <a:spcPts val="0"/>
              </a:spcAft>
              <a:buClr>
                <a:srgbClr val="DC143C"/>
              </a:buClr>
              <a:buSzPts val="1600"/>
              <a:buFont typeface="Arial"/>
              <a:buChar char="•"/>
            </a:pPr>
            <a:r>
              <a:rPr b="0" i="0" lang="en-US" sz="1600" u="none" cap="none" strike="noStrike">
                <a:solidFill>
                  <a:srgbClr val="DC143C"/>
                </a:solidFill>
                <a:latin typeface="Consolas"/>
                <a:ea typeface="Consolas"/>
                <a:cs typeface="Consolas"/>
                <a:sym typeface="Consolas"/>
              </a:rPr>
              <a:t>&lt;meta&gt;</a:t>
            </a:r>
            <a:r>
              <a:rPr b="0" i="0" lang="en-US" sz="2000" u="none" cap="none" strike="noStrike">
                <a:solidFill>
                  <a:srgbClr val="000000"/>
                </a:solidFill>
                <a:latin typeface="Verdana"/>
                <a:ea typeface="Verdana"/>
                <a:cs typeface="Verdana"/>
                <a:sym typeface="Verdana"/>
              </a:rPr>
              <a:t> tags always go inside the &lt;head&gt; element, and are typically used to specify character set, page description, keywords, author of the document, and viewport settings.</a:t>
            </a:r>
            <a:endParaRPr b="0" i="0" sz="2400" u="none" cap="none" strike="noStrike">
              <a:solidFill>
                <a:schemeClr val="dk1"/>
              </a:solidFill>
            </a:endParaRPr>
          </a:p>
          <a:p>
            <a:pPr indent="-342900" lvl="0" marL="34290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Verdana"/>
                <a:ea typeface="Verdana"/>
                <a:cs typeface="Verdana"/>
                <a:sym typeface="Verdana"/>
              </a:rPr>
              <a:t>Metadata will not be displayed on the page, but is machine parsable.</a:t>
            </a:r>
            <a:endParaRPr b="0" i="0" sz="2400" u="none" cap="none" strike="noStrike">
              <a:solidFill>
                <a:schemeClr val="dk1"/>
              </a:solidFill>
            </a:endParaRPr>
          </a:p>
          <a:p>
            <a:pPr indent="-342900" lvl="0" marL="34290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Verdana"/>
                <a:ea typeface="Verdana"/>
                <a:cs typeface="Verdana"/>
                <a:sym typeface="Verdana"/>
              </a:rPr>
              <a:t>Metadata is used by browsers (how to display content or reload page), search engines (keywords), and other web services.</a:t>
            </a:r>
            <a:endParaRPr b="0" i="0" sz="2400" u="none" cap="none" strike="noStrike">
              <a:solidFill>
                <a:schemeClr val="dk1"/>
              </a:solidFill>
            </a:endParaRPr>
          </a:p>
          <a:p>
            <a:pPr indent="-342900" lvl="0" marL="34290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Verdana"/>
                <a:ea typeface="Verdana"/>
                <a:cs typeface="Verdana"/>
                <a:sym typeface="Verdana"/>
              </a:rPr>
              <a:t>There is a method to let web designers take control over the viewport (the user's visible area of a web page), through the </a:t>
            </a:r>
            <a:r>
              <a:rPr b="0" i="0" lang="en-US" sz="1600" u="none" cap="none" strike="noStrike">
                <a:solidFill>
                  <a:srgbClr val="DC143C"/>
                </a:solidFill>
                <a:latin typeface="Consolas"/>
                <a:ea typeface="Consolas"/>
                <a:cs typeface="Consolas"/>
                <a:sym typeface="Consolas"/>
              </a:rPr>
              <a:t>&lt;meta&gt;</a:t>
            </a:r>
            <a:r>
              <a:rPr b="0" i="0" lang="en-US" sz="2000" u="none" cap="none" strike="noStrike">
                <a:solidFill>
                  <a:srgbClr val="000000"/>
                </a:solidFill>
                <a:latin typeface="Verdana"/>
                <a:ea typeface="Verdana"/>
                <a:cs typeface="Verdana"/>
                <a:sym typeface="Verdana"/>
              </a:rPr>
              <a:t> tag.</a:t>
            </a:r>
            <a:endParaRPr b="0" i="0" sz="3600" u="none" cap="none" strike="noStrike">
              <a:solidFill>
                <a:schemeClr val="dk1"/>
              </a:solidFill>
              <a:latin typeface="Arial"/>
              <a:ea typeface="Arial"/>
              <a:cs typeface="Arial"/>
              <a:sym typeface="Arial"/>
            </a:endParaRPr>
          </a:p>
        </p:txBody>
      </p:sp>
    </p:spTree>
  </p:cSld>
  <p:clrMapOvr>
    <a:masterClrMapping/>
  </p:clrMapOvr>
  <p:transition advTm="4000">
    <p:cu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68"/>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243" name="Google Shape;243;p68"/>
          <p:cNvSpPr txBox="1"/>
          <p:nvPr>
            <p:ph idx="1" type="subTitle"/>
          </p:nvPr>
        </p:nvSpPr>
        <p:spPr>
          <a:xfrm>
            <a:off x="533400" y="1371600"/>
            <a:ext cx="8153400" cy="4724400"/>
          </a:xfrm>
          <a:prstGeom prst="rect">
            <a:avLst/>
          </a:prstGeom>
          <a:noFill/>
          <a:ln>
            <a:noFill/>
          </a:ln>
        </p:spPr>
        <p:txBody>
          <a:bodyPr anchorCtr="0" anchor="t" bIns="45700" lIns="91425" spcFirstLastPara="1" rIns="91425" wrap="square" tIns="45700">
            <a:noAutofit/>
          </a:bodyPr>
          <a:lstStyle/>
          <a:p>
            <a:pPr indent="0" lvl="0" marL="0" marR="0" rtl="0" algn="l">
              <a:lnSpc>
                <a:spcPct val="83333"/>
              </a:lnSpc>
              <a:spcBef>
                <a:spcPts val="0"/>
              </a:spcBef>
              <a:spcAft>
                <a:spcPts val="0"/>
              </a:spcAft>
              <a:buSzPts val="3200"/>
              <a:buNone/>
            </a:pPr>
            <a:r>
              <a:rPr lang="en-US" sz="1800">
                <a:solidFill>
                  <a:srgbClr val="800000"/>
                </a:solidFill>
                <a:highlight>
                  <a:srgbClr val="FFFFFF"/>
                </a:highlight>
                <a:latin typeface="Consolas"/>
                <a:ea typeface="Consolas"/>
                <a:cs typeface="Consolas"/>
                <a:sym typeface="Consolas"/>
              </a:rPr>
              <a:t>&lt;head&gt;</a:t>
            </a:r>
            <a:endParaRPr sz="1800">
              <a:highlight>
                <a:srgbClr val="FFFFFF"/>
              </a:highlight>
              <a:latin typeface="Calibri"/>
              <a:ea typeface="Calibri"/>
              <a:cs typeface="Calibri"/>
              <a:sym typeface="Calibri"/>
            </a:endParaRPr>
          </a:p>
          <a:p>
            <a:pPr indent="0" lvl="0" marL="0" marR="0" rtl="0" algn="l">
              <a:lnSpc>
                <a:spcPct val="83333"/>
              </a:lnSpc>
              <a:spcBef>
                <a:spcPts val="0"/>
              </a:spcBef>
              <a:spcAft>
                <a:spcPts val="0"/>
              </a:spcAft>
              <a:buSzPts val="3200"/>
              <a:buNone/>
            </a:pPr>
            <a:r>
              <a:rPr lang="en-US" sz="1800">
                <a:solidFill>
                  <a:srgbClr val="0000CD"/>
                </a:solidFill>
                <a:highlight>
                  <a:srgbClr val="FFFFFF"/>
                </a:highlight>
                <a:latin typeface="Consolas"/>
                <a:ea typeface="Consolas"/>
                <a:cs typeface="Consolas"/>
                <a:sym typeface="Consolas"/>
              </a:rPr>
              <a:t>&lt;</a:t>
            </a:r>
            <a:r>
              <a:rPr lang="en-US" sz="1800">
                <a:solidFill>
                  <a:srgbClr val="A52A2A"/>
                </a:solidFill>
                <a:highlight>
                  <a:srgbClr val="FFFFFF"/>
                </a:highlight>
                <a:latin typeface="Consolas"/>
                <a:ea typeface="Consolas"/>
                <a:cs typeface="Consolas"/>
                <a:sym typeface="Consolas"/>
              </a:rPr>
              <a:t>meta</a:t>
            </a:r>
            <a:r>
              <a:rPr lang="en-US" sz="1800">
                <a:solidFill>
                  <a:srgbClr val="FF0000"/>
                </a:solidFill>
                <a:highlight>
                  <a:srgbClr val="FFFFFF"/>
                </a:highlight>
                <a:latin typeface="Consolas"/>
                <a:ea typeface="Consolas"/>
                <a:cs typeface="Consolas"/>
                <a:sym typeface="Consolas"/>
              </a:rPr>
              <a:t> charset</a:t>
            </a:r>
            <a:r>
              <a:rPr lang="en-US" sz="1800">
                <a:solidFill>
                  <a:srgbClr val="0000CD"/>
                </a:solidFill>
                <a:highlight>
                  <a:srgbClr val="FFFFFF"/>
                </a:highlight>
                <a:latin typeface="Consolas"/>
                <a:ea typeface="Consolas"/>
                <a:cs typeface="Consolas"/>
                <a:sym typeface="Consolas"/>
              </a:rPr>
              <a:t>="UTF-8"&gt;</a:t>
            </a:r>
            <a:endParaRPr sz="1800">
              <a:highlight>
                <a:srgbClr val="FFFFFF"/>
              </a:highlight>
              <a:latin typeface="Calibri"/>
              <a:ea typeface="Calibri"/>
              <a:cs typeface="Calibri"/>
              <a:sym typeface="Calibri"/>
            </a:endParaRPr>
          </a:p>
          <a:p>
            <a:pPr indent="0" lvl="0" marL="0" marR="0" rtl="0" algn="l">
              <a:lnSpc>
                <a:spcPct val="83333"/>
              </a:lnSpc>
              <a:spcBef>
                <a:spcPts val="0"/>
              </a:spcBef>
              <a:spcAft>
                <a:spcPts val="0"/>
              </a:spcAft>
              <a:buSzPts val="3200"/>
              <a:buNone/>
            </a:pPr>
            <a:r>
              <a:rPr lang="en-US" sz="1800">
                <a:solidFill>
                  <a:srgbClr val="800000"/>
                </a:solidFill>
                <a:highlight>
                  <a:srgbClr val="FFFFFF"/>
                </a:highlight>
                <a:latin typeface="Consolas"/>
                <a:ea typeface="Consolas"/>
                <a:cs typeface="Consolas"/>
                <a:sym typeface="Consolas"/>
              </a:rPr>
              <a:t>&lt;meta</a:t>
            </a:r>
            <a:r>
              <a:rPr lang="en-US" sz="1800">
                <a:solidFill>
                  <a:srgbClr val="000000"/>
                </a:solidFill>
                <a:highlight>
                  <a:srgbClr val="FFFFFF"/>
                </a:highlight>
                <a:latin typeface="Consolas"/>
                <a:ea typeface="Consolas"/>
                <a:cs typeface="Consolas"/>
                <a:sym typeface="Consolas"/>
              </a:rPr>
              <a:t> </a:t>
            </a:r>
            <a:r>
              <a:rPr lang="en-US" sz="1800">
                <a:solidFill>
                  <a:srgbClr val="E50000"/>
                </a:solidFill>
                <a:highlight>
                  <a:srgbClr val="FFFFFF"/>
                </a:highlight>
                <a:latin typeface="Consolas"/>
                <a:ea typeface="Consolas"/>
                <a:cs typeface="Consolas"/>
                <a:sym typeface="Consolas"/>
              </a:rPr>
              <a:t>name</a:t>
            </a:r>
            <a:r>
              <a:rPr lang="en-US" sz="1800">
                <a:solidFill>
                  <a:srgbClr val="000000"/>
                </a:solidFill>
                <a:highlight>
                  <a:srgbClr val="FFFFFF"/>
                </a:highlight>
                <a:latin typeface="Consolas"/>
                <a:ea typeface="Consolas"/>
                <a:cs typeface="Consolas"/>
                <a:sym typeface="Consolas"/>
              </a:rPr>
              <a:t>=</a:t>
            </a:r>
            <a:r>
              <a:rPr lang="en-US" sz="1800">
                <a:solidFill>
                  <a:srgbClr val="0000FF"/>
                </a:solidFill>
                <a:highlight>
                  <a:srgbClr val="FFFFFF"/>
                </a:highlight>
                <a:latin typeface="Consolas"/>
                <a:ea typeface="Consolas"/>
                <a:cs typeface="Consolas"/>
                <a:sym typeface="Consolas"/>
              </a:rPr>
              <a:t>"keywords"</a:t>
            </a:r>
            <a:r>
              <a:rPr lang="en-US" sz="1800">
                <a:solidFill>
                  <a:srgbClr val="000000"/>
                </a:solidFill>
                <a:highlight>
                  <a:srgbClr val="FFFFFF"/>
                </a:highlight>
                <a:latin typeface="Consolas"/>
                <a:ea typeface="Consolas"/>
                <a:cs typeface="Consolas"/>
                <a:sym typeface="Consolas"/>
              </a:rPr>
              <a:t> </a:t>
            </a:r>
            <a:r>
              <a:rPr lang="en-US" sz="1800">
                <a:solidFill>
                  <a:srgbClr val="E50000"/>
                </a:solidFill>
                <a:highlight>
                  <a:srgbClr val="FFFFFF"/>
                </a:highlight>
                <a:latin typeface="Consolas"/>
                <a:ea typeface="Consolas"/>
                <a:cs typeface="Consolas"/>
                <a:sym typeface="Consolas"/>
              </a:rPr>
              <a:t>content</a:t>
            </a:r>
            <a:r>
              <a:rPr lang="en-US" sz="1800">
                <a:solidFill>
                  <a:srgbClr val="000000"/>
                </a:solidFill>
                <a:highlight>
                  <a:srgbClr val="FFFFFF"/>
                </a:highlight>
                <a:latin typeface="Consolas"/>
                <a:ea typeface="Consolas"/>
                <a:cs typeface="Consolas"/>
                <a:sym typeface="Consolas"/>
              </a:rPr>
              <a:t>=</a:t>
            </a:r>
            <a:r>
              <a:rPr lang="en-US" sz="1800">
                <a:solidFill>
                  <a:srgbClr val="0000FF"/>
                </a:solidFill>
                <a:highlight>
                  <a:srgbClr val="FFFFFF"/>
                </a:highlight>
                <a:latin typeface="Consolas"/>
                <a:ea typeface="Consolas"/>
                <a:cs typeface="Consolas"/>
                <a:sym typeface="Consolas"/>
              </a:rPr>
              <a:t>"HTML, CSS, JavaScript"</a:t>
            </a:r>
            <a:r>
              <a:rPr lang="en-US" sz="1800">
                <a:solidFill>
                  <a:srgbClr val="800000"/>
                </a:solidFill>
                <a:highlight>
                  <a:srgbClr val="FFFFFF"/>
                </a:highlight>
                <a:latin typeface="Consolas"/>
                <a:ea typeface="Consolas"/>
                <a:cs typeface="Consolas"/>
                <a:sym typeface="Consolas"/>
              </a:rPr>
              <a:t>&gt;</a:t>
            </a:r>
            <a:endParaRPr sz="1800">
              <a:highlight>
                <a:srgbClr val="FFFFFF"/>
              </a:highlight>
              <a:latin typeface="Calibri"/>
              <a:ea typeface="Calibri"/>
              <a:cs typeface="Calibri"/>
              <a:sym typeface="Calibri"/>
            </a:endParaRPr>
          </a:p>
          <a:p>
            <a:pPr indent="0" lvl="0" marL="0" marR="0" rtl="0" algn="l">
              <a:lnSpc>
                <a:spcPct val="83333"/>
              </a:lnSpc>
              <a:spcBef>
                <a:spcPts val="0"/>
              </a:spcBef>
              <a:spcAft>
                <a:spcPts val="0"/>
              </a:spcAft>
              <a:buSzPts val="3200"/>
              <a:buNone/>
            </a:pPr>
            <a:r>
              <a:rPr lang="en-US" sz="1800">
                <a:solidFill>
                  <a:srgbClr val="800000"/>
                </a:solidFill>
                <a:highlight>
                  <a:srgbClr val="FFFFFF"/>
                </a:highlight>
                <a:latin typeface="Consolas"/>
                <a:ea typeface="Consolas"/>
                <a:cs typeface="Consolas"/>
                <a:sym typeface="Consolas"/>
              </a:rPr>
              <a:t>&lt;meta</a:t>
            </a:r>
            <a:r>
              <a:rPr lang="en-US" sz="1800">
                <a:solidFill>
                  <a:srgbClr val="000000"/>
                </a:solidFill>
                <a:highlight>
                  <a:srgbClr val="FFFFFF"/>
                </a:highlight>
                <a:latin typeface="Consolas"/>
                <a:ea typeface="Consolas"/>
                <a:cs typeface="Consolas"/>
                <a:sym typeface="Consolas"/>
              </a:rPr>
              <a:t> </a:t>
            </a:r>
            <a:r>
              <a:rPr lang="en-US" sz="1800">
                <a:solidFill>
                  <a:srgbClr val="E50000"/>
                </a:solidFill>
                <a:highlight>
                  <a:srgbClr val="FFFFFF"/>
                </a:highlight>
                <a:latin typeface="Consolas"/>
                <a:ea typeface="Consolas"/>
                <a:cs typeface="Consolas"/>
                <a:sym typeface="Consolas"/>
              </a:rPr>
              <a:t>name</a:t>
            </a:r>
            <a:r>
              <a:rPr lang="en-US" sz="1800">
                <a:solidFill>
                  <a:srgbClr val="000000"/>
                </a:solidFill>
                <a:highlight>
                  <a:srgbClr val="FFFFFF"/>
                </a:highlight>
                <a:latin typeface="Consolas"/>
                <a:ea typeface="Consolas"/>
                <a:cs typeface="Consolas"/>
                <a:sym typeface="Consolas"/>
              </a:rPr>
              <a:t>=</a:t>
            </a:r>
            <a:r>
              <a:rPr lang="en-US" sz="1800">
                <a:solidFill>
                  <a:srgbClr val="0000FF"/>
                </a:solidFill>
                <a:highlight>
                  <a:srgbClr val="FFFFFF"/>
                </a:highlight>
                <a:latin typeface="Consolas"/>
                <a:ea typeface="Consolas"/>
                <a:cs typeface="Consolas"/>
                <a:sym typeface="Consolas"/>
              </a:rPr>
              <a:t>"description"</a:t>
            </a:r>
            <a:r>
              <a:rPr lang="en-US" sz="1800">
                <a:solidFill>
                  <a:srgbClr val="000000"/>
                </a:solidFill>
                <a:highlight>
                  <a:srgbClr val="FFFFFF"/>
                </a:highlight>
                <a:latin typeface="Consolas"/>
                <a:ea typeface="Consolas"/>
                <a:cs typeface="Consolas"/>
                <a:sym typeface="Consolas"/>
              </a:rPr>
              <a:t> </a:t>
            </a:r>
            <a:r>
              <a:rPr lang="en-US" sz="1800">
                <a:solidFill>
                  <a:srgbClr val="E50000"/>
                </a:solidFill>
                <a:highlight>
                  <a:srgbClr val="FFFFFF"/>
                </a:highlight>
                <a:latin typeface="Consolas"/>
                <a:ea typeface="Consolas"/>
                <a:cs typeface="Consolas"/>
                <a:sym typeface="Consolas"/>
              </a:rPr>
              <a:t>content</a:t>
            </a:r>
            <a:r>
              <a:rPr lang="en-US" sz="1800">
                <a:solidFill>
                  <a:srgbClr val="000000"/>
                </a:solidFill>
                <a:highlight>
                  <a:srgbClr val="FFFFFF"/>
                </a:highlight>
                <a:latin typeface="Consolas"/>
                <a:ea typeface="Consolas"/>
                <a:cs typeface="Consolas"/>
                <a:sym typeface="Consolas"/>
              </a:rPr>
              <a:t>=</a:t>
            </a:r>
            <a:r>
              <a:rPr lang="en-US" sz="1800">
                <a:solidFill>
                  <a:srgbClr val="0000FF"/>
                </a:solidFill>
                <a:highlight>
                  <a:srgbClr val="FFFFFF"/>
                </a:highlight>
                <a:latin typeface="Consolas"/>
                <a:ea typeface="Consolas"/>
                <a:cs typeface="Consolas"/>
                <a:sym typeface="Consolas"/>
              </a:rPr>
              <a:t>"Free Web tutorials for HTML and CSS"</a:t>
            </a:r>
            <a:r>
              <a:rPr lang="en-US" sz="1800">
                <a:solidFill>
                  <a:srgbClr val="800000"/>
                </a:solidFill>
                <a:highlight>
                  <a:srgbClr val="FFFFFF"/>
                </a:highlight>
                <a:latin typeface="Consolas"/>
                <a:ea typeface="Consolas"/>
                <a:cs typeface="Consolas"/>
                <a:sym typeface="Consolas"/>
              </a:rPr>
              <a:t>&gt;</a:t>
            </a:r>
            <a:endParaRPr sz="1800">
              <a:highlight>
                <a:srgbClr val="FFFFFF"/>
              </a:highlight>
              <a:latin typeface="Calibri"/>
              <a:ea typeface="Calibri"/>
              <a:cs typeface="Calibri"/>
              <a:sym typeface="Calibri"/>
            </a:endParaRPr>
          </a:p>
          <a:p>
            <a:pPr indent="0" lvl="0" marL="0" marR="0" rtl="0" algn="l">
              <a:lnSpc>
                <a:spcPct val="83333"/>
              </a:lnSpc>
              <a:spcBef>
                <a:spcPts val="0"/>
              </a:spcBef>
              <a:spcAft>
                <a:spcPts val="0"/>
              </a:spcAft>
              <a:buSzPts val="3200"/>
              <a:buNone/>
            </a:pPr>
            <a:r>
              <a:rPr lang="en-US" sz="1800">
                <a:solidFill>
                  <a:srgbClr val="800000"/>
                </a:solidFill>
                <a:highlight>
                  <a:srgbClr val="FFFFFF"/>
                </a:highlight>
                <a:latin typeface="Consolas"/>
                <a:ea typeface="Consolas"/>
                <a:cs typeface="Consolas"/>
                <a:sym typeface="Consolas"/>
              </a:rPr>
              <a:t>&lt;meta</a:t>
            </a:r>
            <a:r>
              <a:rPr lang="en-US" sz="1800">
                <a:solidFill>
                  <a:srgbClr val="000000"/>
                </a:solidFill>
                <a:highlight>
                  <a:srgbClr val="FFFFFF"/>
                </a:highlight>
                <a:latin typeface="Consolas"/>
                <a:ea typeface="Consolas"/>
                <a:cs typeface="Consolas"/>
                <a:sym typeface="Consolas"/>
              </a:rPr>
              <a:t> </a:t>
            </a:r>
            <a:r>
              <a:rPr lang="en-US" sz="1800">
                <a:solidFill>
                  <a:srgbClr val="E50000"/>
                </a:solidFill>
                <a:highlight>
                  <a:srgbClr val="FFFFFF"/>
                </a:highlight>
                <a:latin typeface="Consolas"/>
                <a:ea typeface="Consolas"/>
                <a:cs typeface="Consolas"/>
                <a:sym typeface="Consolas"/>
              </a:rPr>
              <a:t>name</a:t>
            </a:r>
            <a:r>
              <a:rPr lang="en-US" sz="1800">
                <a:solidFill>
                  <a:srgbClr val="000000"/>
                </a:solidFill>
                <a:highlight>
                  <a:srgbClr val="FFFFFF"/>
                </a:highlight>
                <a:latin typeface="Consolas"/>
                <a:ea typeface="Consolas"/>
                <a:cs typeface="Consolas"/>
                <a:sym typeface="Consolas"/>
              </a:rPr>
              <a:t>=</a:t>
            </a:r>
            <a:r>
              <a:rPr lang="en-US" sz="1800">
                <a:solidFill>
                  <a:srgbClr val="0000FF"/>
                </a:solidFill>
                <a:highlight>
                  <a:srgbClr val="FFFFFF"/>
                </a:highlight>
                <a:latin typeface="Consolas"/>
                <a:ea typeface="Consolas"/>
                <a:cs typeface="Consolas"/>
                <a:sym typeface="Consolas"/>
              </a:rPr>
              <a:t>"author"</a:t>
            </a:r>
            <a:r>
              <a:rPr lang="en-US" sz="1800">
                <a:solidFill>
                  <a:srgbClr val="000000"/>
                </a:solidFill>
                <a:highlight>
                  <a:srgbClr val="FFFFFF"/>
                </a:highlight>
                <a:latin typeface="Consolas"/>
                <a:ea typeface="Consolas"/>
                <a:cs typeface="Consolas"/>
                <a:sym typeface="Consolas"/>
              </a:rPr>
              <a:t> </a:t>
            </a:r>
            <a:r>
              <a:rPr lang="en-US" sz="1800">
                <a:solidFill>
                  <a:srgbClr val="E50000"/>
                </a:solidFill>
                <a:highlight>
                  <a:srgbClr val="FFFFFF"/>
                </a:highlight>
                <a:latin typeface="Consolas"/>
                <a:ea typeface="Consolas"/>
                <a:cs typeface="Consolas"/>
                <a:sym typeface="Consolas"/>
              </a:rPr>
              <a:t>content</a:t>
            </a:r>
            <a:r>
              <a:rPr lang="en-US" sz="1800">
                <a:solidFill>
                  <a:srgbClr val="000000"/>
                </a:solidFill>
                <a:highlight>
                  <a:srgbClr val="FFFFFF"/>
                </a:highlight>
                <a:latin typeface="Consolas"/>
                <a:ea typeface="Consolas"/>
                <a:cs typeface="Consolas"/>
                <a:sym typeface="Consolas"/>
              </a:rPr>
              <a:t>=</a:t>
            </a:r>
            <a:r>
              <a:rPr lang="en-US" sz="1800">
                <a:solidFill>
                  <a:srgbClr val="0000FF"/>
                </a:solidFill>
                <a:highlight>
                  <a:srgbClr val="FFFFFF"/>
                </a:highlight>
                <a:latin typeface="Consolas"/>
                <a:ea typeface="Consolas"/>
                <a:cs typeface="Consolas"/>
                <a:sym typeface="Consolas"/>
              </a:rPr>
              <a:t>"John Doe"</a:t>
            </a:r>
            <a:r>
              <a:rPr lang="en-US" sz="1800">
                <a:solidFill>
                  <a:srgbClr val="800000"/>
                </a:solidFill>
                <a:highlight>
                  <a:srgbClr val="FFFFFF"/>
                </a:highlight>
                <a:latin typeface="Consolas"/>
                <a:ea typeface="Consolas"/>
                <a:cs typeface="Consolas"/>
                <a:sym typeface="Consolas"/>
              </a:rPr>
              <a:t>&gt;</a:t>
            </a:r>
            <a:endParaRPr sz="1800">
              <a:highlight>
                <a:srgbClr val="FFFFFF"/>
              </a:highlight>
              <a:latin typeface="Calibri"/>
              <a:ea typeface="Calibri"/>
              <a:cs typeface="Calibri"/>
              <a:sym typeface="Calibri"/>
            </a:endParaRPr>
          </a:p>
          <a:p>
            <a:pPr indent="0" lvl="0" marL="0" marR="0" rtl="0" algn="l">
              <a:lnSpc>
                <a:spcPct val="83333"/>
              </a:lnSpc>
              <a:spcBef>
                <a:spcPts val="0"/>
              </a:spcBef>
              <a:spcAft>
                <a:spcPts val="0"/>
              </a:spcAft>
              <a:buSzPts val="3200"/>
              <a:buNone/>
            </a:pPr>
            <a:r>
              <a:rPr lang="en-US" sz="1800">
                <a:solidFill>
                  <a:srgbClr val="800000"/>
                </a:solidFill>
                <a:highlight>
                  <a:srgbClr val="FFFFFF"/>
                </a:highlight>
                <a:latin typeface="Consolas"/>
                <a:ea typeface="Consolas"/>
                <a:cs typeface="Consolas"/>
                <a:sym typeface="Consolas"/>
              </a:rPr>
              <a:t>&lt;/head&gt;</a:t>
            </a:r>
            <a:endParaRPr sz="1800">
              <a:highlight>
                <a:srgbClr val="FFFFFF"/>
              </a:highlight>
              <a:latin typeface="Calibri"/>
              <a:ea typeface="Calibri"/>
              <a:cs typeface="Calibri"/>
              <a:sym typeface="Calibri"/>
            </a:endParaRPr>
          </a:p>
          <a:p>
            <a:pPr indent="0" lvl="0" marL="0" marR="0" rtl="0" algn="just">
              <a:lnSpc>
                <a:spcPct val="100000"/>
              </a:lnSpc>
              <a:spcBef>
                <a:spcPts val="1440"/>
              </a:spcBef>
              <a:spcAft>
                <a:spcPts val="0"/>
              </a:spcAft>
              <a:buSzPts val="3200"/>
              <a:buNone/>
            </a:pPr>
            <a:r>
              <a:rPr lang="en-US" sz="1800">
                <a:solidFill>
                  <a:srgbClr val="000000"/>
                </a:solidFill>
                <a:highlight>
                  <a:srgbClr val="FFFFFF"/>
                </a:highlight>
                <a:latin typeface="Verdana"/>
                <a:ea typeface="Verdana"/>
                <a:cs typeface="Verdana"/>
                <a:sym typeface="Verdana"/>
              </a:rPr>
              <a:t>UTF-8: </a:t>
            </a:r>
            <a:r>
              <a:rPr lang="en-US" sz="1800">
                <a:solidFill>
                  <a:srgbClr val="000000"/>
                </a:solidFill>
                <a:highlight>
                  <a:srgbClr val="FFFFFF"/>
                </a:highlight>
                <a:latin typeface="Arial"/>
                <a:ea typeface="Arial"/>
                <a:cs typeface="Arial"/>
                <a:sym typeface="Arial"/>
              </a:rPr>
              <a:t>UTF-8 stands for “Unicode Transformation Format - 8 bits.” UTF-8 is an encoding system for Unicode. It can translate any Unicode character to a matching unique binary string, and can also translate the binary string back to a Unicode character.</a:t>
            </a:r>
            <a:endParaRPr sz="1800">
              <a:highlight>
                <a:srgbClr val="FFFFFF"/>
              </a:highlight>
              <a:latin typeface="Times New Roman"/>
              <a:ea typeface="Times New Roman"/>
              <a:cs typeface="Times New Roman"/>
              <a:sym typeface="Times New Roman"/>
            </a:endParaRPr>
          </a:p>
          <a:p>
            <a:pPr indent="-431800" lvl="0" marL="457200" rtl="0" algn="ctr">
              <a:lnSpc>
                <a:spcPct val="100000"/>
              </a:lnSpc>
              <a:spcBef>
                <a:spcPts val="2080"/>
              </a:spcBef>
              <a:spcAft>
                <a:spcPts val="0"/>
              </a:spcAft>
              <a:buClr>
                <a:srgbClr val="888888"/>
              </a:buClr>
              <a:buSzPts val="3200"/>
              <a:buNone/>
            </a:pPr>
            <a:r>
              <a:t/>
            </a:r>
            <a:endParaRPr/>
          </a:p>
        </p:txBody>
      </p:sp>
    </p:spTree>
  </p:cSld>
  <p:clrMapOvr>
    <a:masterClrMapping/>
  </p:clrMapOvr>
  <p:transition advTm="4000">
    <p:cut/>
  </p:transition>
</p:sld>
</file>

<file path=ppt/theme/theme1.xml><?xml version="1.0" encoding="utf-8"?>
<a:theme xmlns:a="http://schemas.openxmlformats.org/drawingml/2006/main" xmlns:r="http://schemas.openxmlformats.org/officeDocument/2006/relationships" name="Bubble Sort">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2022-12-12T14:14:00Z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2024-08-16T10:40:24Z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37573baf-977c-40f0-8e9b-6ecfbf81fd4b</vt:lpwstr>
  </property>
  <property fmtid="{D5CDD505-2E9C-101B-9397-08002B2CF9AE}" pid="7" name="MSIP_Label_defa4170-0d19-0005-0004-bc88714345d2_ActionId">
    <vt:lpwstr>895bb241-6d0c-47f6-a36d-0545160b3387</vt:lpwstr>
  </property>
  <property fmtid="{D5CDD505-2E9C-101B-9397-08002B2CF9AE}" pid="8" name="MSIP_Label_defa4170-0d19-0005-0004-bc88714345d2_ContentBits">
    <vt:lpwstr>0</vt:lpwstr>
  </property>
  <property fmtid="{D5CDD505-2E9C-101B-9397-08002B2CF9AE}" pid="9" name="ICV">
    <vt:lpwstr>02C795D27986430CA9EE0C6524092CE4_12</vt:lpwstr>
  </property>
  <property fmtid="{D5CDD505-2E9C-101B-9397-08002B2CF9AE}" pid="10" name="KSOProductBuildVer">
    <vt:lpwstr>1033-12.2.0.17545</vt:lpwstr>
  </property>
</Properties>
</file>