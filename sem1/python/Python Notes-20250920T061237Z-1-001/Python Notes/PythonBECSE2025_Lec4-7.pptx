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2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i68uC4OvzdU5uu1U5p2CVFal5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566" y="78"/>
      </p:cViewPr>
      <p:guideLst>
        <p:guide orient="horz" pos="2160"/>
        <p:guide pos="2880"/>
        <p:guide orient="horz" pos="5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facb10385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facb10385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2facb10385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facb10385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facb10385e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2facb10385e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facb10385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facb10385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facb10385e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acb10385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facb10385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2facb10385e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acb10385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facb10385e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2facb10385e_0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acb10385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facb10385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2facb10385e_0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facb10385e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facb10385e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2facb10385e_0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acb10385e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facb10385e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2facb10385e_0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facb10385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facb10385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2facb10385e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2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2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12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12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2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12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1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1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11" descr="LOGO.gif"/>
          <p:cNvPicPr preferRelativeResize="0"/>
          <p:nvPr/>
        </p:nvPicPr>
        <p:blipFill rotWithShape="1">
          <a:blip r:embed="rId3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1" descr="LOGO.gif"/>
          <p:cNvPicPr preferRelativeResize="0"/>
          <p:nvPr/>
        </p:nvPicPr>
        <p:blipFill rotWithShape="1">
          <a:blip r:embed="rId3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1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11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11" descr="LOGO.gif"/>
            <p:cNvPicPr preferRelativeResize="0"/>
            <p:nvPr/>
          </p:nvPicPr>
          <p:blipFill rotWithShape="1">
            <a:blip r:embed="rId3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1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11" descr="logo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/>
        </p:nvSpPr>
        <p:spPr>
          <a:xfrm>
            <a:off x="381000" y="2628900"/>
            <a:ext cx="83820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Decision Making &amp; Loops</a:t>
            </a:r>
            <a:endParaRPr sz="3200" b="1" dirty="0">
              <a:solidFill>
                <a:srgbClr val="3A30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1676400" y="5480923"/>
            <a:ext cx="615124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Chitkara University Institute of Engineering and Technology,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Chitkara University, Punjab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Topics Covered</a:t>
            </a:r>
            <a:endParaRPr sz="3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76200" y="948434"/>
            <a:ext cx="8001000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GB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Decision Making in Python</a:t>
            </a:r>
            <a:endParaRPr sz="2800" dirty="0"/>
          </a:p>
          <a:p>
            <a:pPr marL="0" marR="0" lvl="0" indent="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GB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If Statement</a:t>
            </a:r>
            <a:endParaRPr sz="2800" dirty="0"/>
          </a:p>
          <a:p>
            <a:pPr marL="0" marR="0" lvl="0" indent="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GB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If-Else Statement</a:t>
            </a:r>
            <a:endParaRPr sz="2800" dirty="0"/>
          </a:p>
          <a:p>
            <a:pPr marL="0" marR="0" lvl="0" indent="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GB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If-Else Statements</a:t>
            </a:r>
            <a:endParaRPr sz="2800" dirty="0"/>
          </a:p>
          <a:p>
            <a:pPr marL="0" marR="0" lvl="0" indent="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GB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Elif Statement</a:t>
            </a:r>
            <a:endParaRPr sz="2800" dirty="0"/>
          </a:p>
          <a:p>
            <a:pPr marL="0" marR="0" lvl="0" indent="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GB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 Statement (Python 3.10+)</a:t>
            </a:r>
            <a:endParaRPr sz="2800" dirty="0"/>
          </a:p>
          <a:p>
            <a:pPr marL="0" marR="0" lvl="0" indent="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GB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Loops in Python</a:t>
            </a:r>
            <a:endParaRPr sz="2800" dirty="0"/>
          </a:p>
          <a:p>
            <a:pPr marL="0" marR="0" lvl="0" indent="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GB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Loop</a:t>
            </a:r>
            <a:endParaRPr sz="2800" dirty="0"/>
          </a:p>
          <a:p>
            <a:pPr marL="0" marR="0" lvl="0" indent="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GB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Loop</a:t>
            </a: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GB" sz="1800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r>
              <a:rPr lang="en-GB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Introduction to Decision Making</a:t>
            </a:r>
            <a:endParaRPr sz="3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905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74372" y="1394937"/>
            <a:ext cx="7543800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Definition:</a:t>
            </a:r>
            <a:r>
              <a:rPr lang="en-GB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Decision making in Python refers to the process of choosing between different paths of execution based on certain conditions.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Importance:</a:t>
            </a:r>
            <a:r>
              <a:rPr lang="en-GB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Crucial for controlling the flow of a program, enabling the development of dynamic and responsive software. 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Essential for implementing logic and responding dynamically to user inputs.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Constructs: Includes </a:t>
            </a:r>
            <a:r>
              <a:rPr lang="en-GB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statements, if-else statements, elif statements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GB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 statements.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GB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Constructs: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if, else, elif, and match</a:t>
            </a:r>
            <a:r>
              <a:rPr lang="en-GB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>
            <a:spLocks noGrp="1"/>
          </p:cNvSpPr>
          <p:nvPr>
            <p:ph type="body" idx="1"/>
          </p:nvPr>
        </p:nvSpPr>
        <p:spPr>
          <a:xfrm>
            <a:off x="4191000" y="838200"/>
            <a:ext cx="45720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Example_1</a:t>
            </a:r>
            <a:endParaRPr/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temperature = 30</a:t>
            </a:r>
            <a:endParaRPr/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if temperature &gt; 25:</a:t>
            </a:r>
            <a:endParaRPr/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   print("It's a hot day!")</a:t>
            </a:r>
            <a:endParaRPr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Example_2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69699" y="100975"/>
            <a:ext cx="5266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If Statement</a:t>
            </a:r>
            <a:endParaRPr sz="3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423411" y="838200"/>
            <a:ext cx="3733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GB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/>
          </a:p>
          <a:p>
            <a:pPr marL="0" marR="0" lvl="0" indent="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condition:</a:t>
            </a:r>
            <a:endParaRPr/>
          </a:p>
          <a:p>
            <a:pPr marL="0" marR="0" lvl="0" indent="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# code block</a:t>
            </a:r>
            <a:endParaRPr/>
          </a:p>
          <a:p>
            <a:pPr marL="0" marR="0" lvl="0" indent="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23410" y="4566094"/>
            <a:ext cx="826338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GB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statement evaluates a condition. If it's True, the indented code block is executed. This forms the basic decision-making structure in Python </a:t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419600" y="3450788"/>
            <a:ext cx="2476640" cy="129266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 = 20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age &gt;= 18: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print("Adult")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if-Else Statement</a:t>
            </a:r>
            <a:endParaRPr sz="3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5"/>
          <p:cNvSpPr txBox="1">
            <a:spLocks noGrp="1"/>
          </p:cNvSpPr>
          <p:nvPr>
            <p:ph type="body" idx="1"/>
          </p:nvPr>
        </p:nvSpPr>
        <p:spPr>
          <a:xfrm>
            <a:off x="219075" y="838200"/>
            <a:ext cx="3276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GB" sz="2400" b="1"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if condition: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 # execute this block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else: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 # execute this block</a:t>
            </a:r>
            <a:endParaRPr/>
          </a:p>
          <a:p>
            <a:pPr marL="342900" lvl="0" indent="-22860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lvl="0" indent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2860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4371975"/>
            <a:ext cx="781050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GB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GB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GB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clause provides an alternative path of execution if the </a:t>
            </a:r>
            <a:r>
              <a:rPr lang="en-GB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condition is </a:t>
            </a:r>
            <a:r>
              <a:rPr lang="en-GB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GB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Commonly used in scenarios where a binary choice is required.</a:t>
            </a:r>
            <a:endParaRPr/>
          </a:p>
        </p:txBody>
      </p:sp>
      <p:sp>
        <p:nvSpPr>
          <p:cNvPr id="78" name="Google Shape;78;p5"/>
          <p:cNvSpPr txBox="1"/>
          <p:nvPr/>
        </p:nvSpPr>
        <p:spPr>
          <a:xfrm>
            <a:off x="3810000" y="838200"/>
            <a:ext cx="41529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= 500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withdrawal = 600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withdrawal &lt;= balance: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print("Withdrawal successful")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else: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print("Insufficient funds")</a:t>
            </a:r>
            <a:endParaRPr/>
          </a:p>
          <a:p>
            <a:pPr marL="0" marR="0" lvl="0" indent="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elif Statement</a:t>
            </a:r>
            <a:endParaRPr sz="3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6"/>
          <p:cNvSpPr txBox="1">
            <a:spLocks noGrp="1"/>
          </p:cNvSpPr>
          <p:nvPr>
            <p:ph type="body" idx="1"/>
          </p:nvPr>
        </p:nvSpPr>
        <p:spPr>
          <a:xfrm>
            <a:off x="200025" y="838200"/>
            <a:ext cx="3962400" cy="354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 b="1">
                <a:latin typeface="Times New Roman"/>
                <a:ea typeface="Times New Roman"/>
                <a:cs typeface="Times New Roman"/>
                <a:sym typeface="Times New Roman"/>
              </a:rPr>
              <a:t> Syntax:</a:t>
            </a:r>
            <a:endParaRPr/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 b="1"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condition1:</a:t>
            </a:r>
            <a:endParaRPr/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 # block1</a:t>
            </a:r>
            <a:endParaRPr/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 b="1">
                <a:latin typeface="Times New Roman"/>
                <a:ea typeface="Times New Roman"/>
                <a:cs typeface="Times New Roman"/>
                <a:sym typeface="Times New Roman"/>
              </a:rPr>
              <a:t>elif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condition2:</a:t>
            </a:r>
            <a:endParaRPr/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 # block2</a:t>
            </a:r>
            <a:endParaRPr/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 b="1">
                <a:latin typeface="Times New Roman"/>
                <a:ea typeface="Times New Roman"/>
                <a:cs typeface="Times New Roman"/>
                <a:sym typeface="Times New Roman"/>
              </a:rPr>
              <a:t>else:</a:t>
            </a:r>
            <a:endParaRPr/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 # block3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4695825" y="808009"/>
            <a:ext cx="3962400" cy="4685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= 75</a:t>
            </a:r>
            <a:endParaRPr/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&gt;= 90:</a:t>
            </a:r>
            <a:endParaRPr/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print("Grade A")</a:t>
            </a:r>
            <a:endParaRPr/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&gt;= 80:</a:t>
            </a:r>
            <a:endParaRPr/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print("Grade B")</a:t>
            </a:r>
            <a:endParaRPr/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&gt;= 70:</a:t>
            </a:r>
            <a:endParaRPr/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print("Grade C")</a:t>
            </a:r>
            <a:endParaRPr/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else:</a:t>
            </a:r>
            <a:endParaRPr/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print("Grade D")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6200" y="4203403"/>
            <a:ext cx="87630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Explanation: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GB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elif </a:t>
            </a: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for "else if") allows for multiple conditions to be checked in sequence. 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a condition is True, the corresponding block is executed, and the rest are ignored. 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the need for deeply nested if-else structures.planation: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7010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Match Statement (Python 3.10+)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7"/>
          <p:cNvSpPr txBox="1">
            <a:spLocks noGrp="1"/>
          </p:cNvSpPr>
          <p:nvPr>
            <p:ph type="body" idx="1"/>
          </p:nvPr>
        </p:nvSpPr>
        <p:spPr>
          <a:xfrm>
            <a:off x="228600" y="895350"/>
            <a:ext cx="3581400" cy="304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 b="1">
                <a:latin typeface="Times New Roman"/>
                <a:ea typeface="Times New Roman"/>
                <a:cs typeface="Times New Roman"/>
                <a:sym typeface="Times New Roman"/>
              </a:rPr>
              <a:t> Syntax: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match variable: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 case value1: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     # code block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 case value2: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     # code block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 case _: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     # default code block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4038600" y="838200"/>
            <a:ext cx="4572000" cy="525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 = "start"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 command: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case "start":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print("System starting...")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case "stop":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print("System stopping...")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case _: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print("Command not recognized")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04800" y="3657600"/>
            <a:ext cx="8458200" cy="298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match statement, introduced in Python 3.10, offers a more readable and efficient way to handle multiple conditions, similar to a switch-case in other languages.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_ case acts as a default case when no other matches are found.Ideal for scenarios where a variable needs to be compared against multiple potential values.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Introduction to Loops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304800" y="990600"/>
            <a:ext cx="8077200" cy="544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 b="1">
                <a:latin typeface="Times New Roman"/>
                <a:ea typeface="Times New Roman"/>
                <a:cs typeface="Times New Roman"/>
                <a:sym typeface="Times New Roman"/>
              </a:rPr>
              <a:t> Syntax: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Definition: Loops are used to repeatedly execute a block of code as long as a condition is True or for a specified number of iterations.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 b="1">
                <a:latin typeface="Times New Roman"/>
                <a:ea typeface="Times New Roman"/>
                <a:cs typeface="Times New Roman"/>
                <a:sym typeface="Times New Roman"/>
              </a:rPr>
              <a:t>Types of Loops: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 b="1">
                <a:latin typeface="Times New Roman"/>
                <a:ea typeface="Times New Roman"/>
                <a:cs typeface="Times New Roman"/>
                <a:sym typeface="Times New Roman"/>
              </a:rPr>
              <a:t>While Loop: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Repeats as long as a condition is True.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 b="1">
                <a:latin typeface="Times New Roman"/>
                <a:ea typeface="Times New Roman"/>
                <a:cs typeface="Times New Roman"/>
                <a:sym typeface="Times New Roman"/>
              </a:rPr>
              <a:t>For Loop: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Iterates over a sequence (like a list or range).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 b="1">
                <a:latin typeface="Times New Roman"/>
                <a:ea typeface="Times New Roman"/>
                <a:cs typeface="Times New Roman"/>
                <a:sym typeface="Times New Roman"/>
              </a:rPr>
              <a:t>Importance: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Essential for tasks that require repeated execution, such as processing elements in a list, automating repetitive tasks, and more.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Introduction to Loops</a:t>
            </a:r>
            <a:endParaRPr sz="3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9"/>
          <p:cNvSpPr txBox="1">
            <a:spLocks noGrp="1"/>
          </p:cNvSpPr>
          <p:nvPr>
            <p:ph type="body" idx="1"/>
          </p:nvPr>
        </p:nvSpPr>
        <p:spPr>
          <a:xfrm>
            <a:off x="457200" y="1105535"/>
            <a:ext cx="3581400" cy="293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 b="1">
                <a:latin typeface="Times New Roman"/>
                <a:ea typeface="Times New Roman"/>
                <a:cs typeface="Times New Roman"/>
                <a:sym typeface="Times New Roman"/>
              </a:rPr>
              <a:t>Syntax: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 b="1">
                <a:latin typeface="Times New Roman"/>
                <a:ea typeface="Times New Roman"/>
                <a:cs typeface="Times New Roman"/>
                <a:sym typeface="Times New Roman"/>
              </a:rPr>
              <a:t>while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condition: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 # code block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9"/>
          <p:cNvSpPr txBox="1"/>
          <p:nvPr/>
        </p:nvSpPr>
        <p:spPr>
          <a:xfrm>
            <a:off x="4114800" y="1105535"/>
            <a:ext cx="4267200" cy="293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counter = 1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counter &lt;= 5: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print("Counter:", counter)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counter += 1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838200" y="3326250"/>
            <a:ext cx="7086600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GB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while loop evaluates the condition before each iteration.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long as the condition remains True, the loop continues.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Pitfall:  Ensure that the loop condition eventually becomes False to avoid infinite loops.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acb10385e_0_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for Loop</a:t>
            </a:r>
            <a:endParaRPr sz="3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g2facb10385e_0_0"/>
          <p:cNvSpPr txBox="1">
            <a:spLocks noGrp="1"/>
          </p:cNvSpPr>
          <p:nvPr>
            <p:ph type="body" idx="1"/>
          </p:nvPr>
        </p:nvSpPr>
        <p:spPr>
          <a:xfrm>
            <a:off x="457200" y="1050875"/>
            <a:ext cx="8229600" cy="521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for Loop?</a:t>
            </a:r>
            <a:endParaRPr sz="20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loop is used for iterating over a sequence (like a list, tuple, dictionary, set, or string) in Python.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commonly used for tasks that need to repeat a specific number of times or for iterating over elements in a collection.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Characteristics:</a:t>
            </a:r>
            <a:endParaRPr sz="20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Iterates over each element in a sequence.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Stops automatically after the last element is processed.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Code: 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for variable in sequence: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# code block to execute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facb10385e_0_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</a:t>
            </a:r>
            <a:r>
              <a:rPr lang="en-GB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For Loop               contd…</a:t>
            </a:r>
            <a:endParaRPr/>
          </a:p>
        </p:txBody>
      </p:sp>
      <p:sp>
        <p:nvSpPr>
          <p:cNvPr id="122" name="Google Shape;122;g2facb10385e_0_20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519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Example 1: 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Iterating Over a Range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 b="1">
                <a:latin typeface="Times New Roman"/>
                <a:ea typeface="Times New Roman"/>
                <a:cs typeface="Times New Roman"/>
                <a:sym typeface="Times New Roman"/>
              </a:rPr>
              <a:t>Source code: </a:t>
            </a:r>
            <a:endParaRPr sz="23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fruits = ["apple", "banana", "cherry"]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fruit in fruits: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print(fruit)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2300" b="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apple 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banana 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Cherry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 b="1">
                <a:latin typeface="Times New Roman"/>
                <a:ea typeface="Times New Roman"/>
                <a:cs typeface="Times New Roman"/>
                <a:sym typeface="Times New Roman"/>
              </a:rPr>
              <a:t>Explanation</a:t>
            </a:r>
            <a:r>
              <a:rPr lang="en-GB" sz="36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Iterates through each item in the fruits list and prints each fruit.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facb10385e_0_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For Loop               contd…</a:t>
            </a:r>
            <a:endParaRPr sz="3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g2facb10385e_0_8"/>
          <p:cNvSpPr txBox="1">
            <a:spLocks noGrp="1"/>
          </p:cNvSpPr>
          <p:nvPr>
            <p:ph type="body" idx="1"/>
          </p:nvPr>
        </p:nvSpPr>
        <p:spPr>
          <a:xfrm>
            <a:off x="457200" y="1146400"/>
            <a:ext cx="5071200" cy="425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Example 2: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for with Strings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Python code:</a:t>
            </a:r>
            <a:endParaRPr sz="9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 = "Python"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letter in word: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print(letter)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30" name="Google Shape;130;g2facb10385e_0_8"/>
          <p:cNvSpPr txBox="1">
            <a:spLocks noGrp="1"/>
          </p:cNvSpPr>
          <p:nvPr>
            <p:ph type="body" idx="1"/>
          </p:nvPr>
        </p:nvSpPr>
        <p:spPr>
          <a:xfrm>
            <a:off x="5946900" y="1957925"/>
            <a:ext cx="2178000" cy="333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2facb10385e_0_8"/>
          <p:cNvSpPr txBox="1">
            <a:spLocks noGrp="1"/>
          </p:cNvSpPr>
          <p:nvPr>
            <p:ph type="body" idx="1"/>
          </p:nvPr>
        </p:nvSpPr>
        <p:spPr>
          <a:xfrm>
            <a:off x="408350" y="5522425"/>
            <a:ext cx="8219100" cy="95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Explanation:</a:t>
            </a:r>
            <a:r>
              <a:rPr lang="en-GB" sz="36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Iterates over each character in the string "Python" and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prints each character.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acb10385e_0_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For Loop               contd…</a:t>
            </a:r>
            <a:endParaRPr sz="3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g2facb10385e_0_36"/>
          <p:cNvSpPr txBox="1">
            <a:spLocks noGrp="1"/>
          </p:cNvSpPr>
          <p:nvPr>
            <p:ph type="body" idx="1"/>
          </p:nvPr>
        </p:nvSpPr>
        <p:spPr>
          <a:xfrm>
            <a:off x="408350" y="1889800"/>
            <a:ext cx="5930100" cy="281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Example 3: Iterating Over a Range 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Python code:</a:t>
            </a:r>
            <a:endParaRPr sz="9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i in range(5):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print(i)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2facb10385e_0_36"/>
          <p:cNvSpPr txBox="1">
            <a:spLocks noGrp="1"/>
          </p:cNvSpPr>
          <p:nvPr>
            <p:ph type="body" idx="1"/>
          </p:nvPr>
        </p:nvSpPr>
        <p:spPr>
          <a:xfrm>
            <a:off x="6883275" y="2125300"/>
            <a:ext cx="1896300" cy="3066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2facb10385e_0_36"/>
          <p:cNvSpPr txBox="1">
            <a:spLocks noGrp="1"/>
          </p:cNvSpPr>
          <p:nvPr>
            <p:ph type="body" idx="1"/>
          </p:nvPr>
        </p:nvSpPr>
        <p:spPr>
          <a:xfrm>
            <a:off x="408350" y="5522425"/>
            <a:ext cx="8219100" cy="1192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Explanation:</a:t>
            </a: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range(5) function generates a sequence from 0 to 4.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loop iterates over this sequence, printing each number.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acb10385e_0_9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For Loop               contd…</a:t>
            </a:r>
            <a:endParaRPr sz="3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g2facb10385e_0_93"/>
          <p:cNvSpPr txBox="1">
            <a:spLocks noGrp="1"/>
          </p:cNvSpPr>
          <p:nvPr>
            <p:ph type="body" idx="1"/>
          </p:nvPr>
        </p:nvSpPr>
        <p:spPr>
          <a:xfrm>
            <a:off x="457200" y="1146400"/>
            <a:ext cx="5217600" cy="452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Example 4: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Loop with  else Clause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Python code:</a:t>
            </a:r>
            <a:endParaRPr sz="9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num in range(3):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print(num)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else: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print("Loop completed!")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2facb10385e_0_93"/>
          <p:cNvSpPr txBox="1">
            <a:spLocks noGrp="1"/>
          </p:cNvSpPr>
          <p:nvPr>
            <p:ph type="body" idx="1"/>
          </p:nvPr>
        </p:nvSpPr>
        <p:spPr>
          <a:xfrm>
            <a:off x="6062075" y="1989325"/>
            <a:ext cx="2387400" cy="333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 completed!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2facb10385e_0_93"/>
          <p:cNvSpPr txBox="1">
            <a:spLocks noGrp="1"/>
          </p:cNvSpPr>
          <p:nvPr>
            <p:ph type="body" idx="1"/>
          </p:nvPr>
        </p:nvSpPr>
        <p:spPr>
          <a:xfrm>
            <a:off x="408350" y="5522425"/>
            <a:ext cx="8386800" cy="95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Explanation:</a:t>
            </a:r>
            <a:r>
              <a:rPr lang="en-GB" sz="36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else block is executed after the loop completes 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normally (not interrupted by break).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facb10385e_0_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For Loop               contd…</a:t>
            </a:r>
            <a:endParaRPr/>
          </a:p>
        </p:txBody>
      </p:sp>
      <p:sp>
        <p:nvSpPr>
          <p:cNvPr id="156" name="Google Shape;156;g2facb10385e_0_44"/>
          <p:cNvSpPr txBox="1">
            <a:spLocks noGrp="1"/>
          </p:cNvSpPr>
          <p:nvPr>
            <p:ph type="body" idx="1"/>
          </p:nvPr>
        </p:nvSpPr>
        <p:spPr>
          <a:xfrm>
            <a:off x="408350" y="1164750"/>
            <a:ext cx="6068700" cy="452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Example5: </a:t>
            </a:r>
            <a:r>
              <a:rPr lang="en-GB" sz="2000" b="1">
                <a:latin typeface="Times New Roman"/>
                <a:ea typeface="Times New Roman"/>
                <a:cs typeface="Times New Roman"/>
                <a:sym typeface="Times New Roman"/>
              </a:rPr>
              <a:t>Using for with break Statement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Python code:</a:t>
            </a:r>
            <a:endParaRPr sz="9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num in range(5):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num == 3: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break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print(num)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2facb10385e_0_44"/>
          <p:cNvSpPr txBox="1">
            <a:spLocks noGrp="1"/>
          </p:cNvSpPr>
          <p:nvPr>
            <p:ph type="body" idx="1"/>
          </p:nvPr>
        </p:nvSpPr>
        <p:spPr>
          <a:xfrm>
            <a:off x="6921900" y="1921075"/>
            <a:ext cx="1785300" cy="333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2facb10385e_0_44"/>
          <p:cNvSpPr txBox="1">
            <a:spLocks noGrp="1"/>
          </p:cNvSpPr>
          <p:nvPr>
            <p:ph type="body" idx="1"/>
          </p:nvPr>
        </p:nvSpPr>
        <p:spPr>
          <a:xfrm>
            <a:off x="408350" y="5498725"/>
            <a:ext cx="8574300" cy="95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Explanation:</a:t>
            </a:r>
            <a:r>
              <a:rPr lang="en-GB" sz="36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loop breaks when num equals 3, stopping further iterations.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acb10385e_0_10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For Loop                      contd…</a:t>
            </a:r>
            <a:endParaRPr/>
          </a:p>
        </p:txBody>
      </p:sp>
      <p:sp>
        <p:nvSpPr>
          <p:cNvPr id="165" name="Google Shape;165;g2facb10385e_0_101"/>
          <p:cNvSpPr txBox="1">
            <a:spLocks noGrp="1"/>
          </p:cNvSpPr>
          <p:nvPr>
            <p:ph type="body" idx="1"/>
          </p:nvPr>
        </p:nvSpPr>
        <p:spPr>
          <a:xfrm>
            <a:off x="408350" y="1164750"/>
            <a:ext cx="5160000" cy="452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Example 6: Nested for Loops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Python code:</a:t>
            </a:r>
            <a:endParaRPr sz="9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i in range(1, 4):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for j in range(1, 4):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print(f"i={i}, j={j}")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2facb10385e_0_101"/>
          <p:cNvSpPr txBox="1">
            <a:spLocks noGrp="1"/>
          </p:cNvSpPr>
          <p:nvPr>
            <p:ph type="body" idx="1"/>
          </p:nvPr>
        </p:nvSpPr>
        <p:spPr>
          <a:xfrm>
            <a:off x="5911950" y="1866325"/>
            <a:ext cx="2972700" cy="363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i=1, j=1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i=1, j=2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i=1, j=3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i=2, j=1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i=2, j=2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i=2, j=3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i=3, j=1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i=3, j=2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i=3, j=3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2facb10385e_0_101"/>
          <p:cNvSpPr txBox="1">
            <a:spLocks noGrp="1"/>
          </p:cNvSpPr>
          <p:nvPr>
            <p:ph type="body" idx="1"/>
          </p:nvPr>
        </p:nvSpPr>
        <p:spPr>
          <a:xfrm>
            <a:off x="408350" y="5498725"/>
            <a:ext cx="8574300" cy="95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latin typeface="Times New Roman"/>
                <a:ea typeface="Times New Roman"/>
                <a:cs typeface="Times New Roman"/>
                <a:sym typeface="Times New Roman"/>
              </a:rPr>
              <a:t>Explanation:</a:t>
            </a:r>
            <a:r>
              <a:rPr lang="en-GB" sz="36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how nested for loops can be used to iterate over multiple sequences.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facb10385e_0_1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latin typeface="Times New Roman"/>
                <a:ea typeface="Times New Roman"/>
                <a:cs typeface="Times New Roman"/>
                <a:sym typeface="Times New Roman"/>
              </a:rPr>
              <a:t>Common Use Cases for for Loop</a:t>
            </a:r>
            <a:endParaRPr sz="3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g2facb10385e_0_113"/>
          <p:cNvSpPr txBox="1">
            <a:spLocks noGrp="1"/>
          </p:cNvSpPr>
          <p:nvPr>
            <p:ph type="body" idx="1"/>
          </p:nvPr>
        </p:nvSpPr>
        <p:spPr>
          <a:xfrm>
            <a:off x="383900" y="1151725"/>
            <a:ext cx="8229600" cy="4093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Cases:</a:t>
            </a:r>
            <a:endParaRPr sz="20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Iterating over elements in a list, tuple, set, or dictionary.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each character in a string.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 a block of code a specific number of times (using range).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patterns and nested iterations.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Filtering data or generating sequences.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facb10385e_1_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latin typeface="Times New Roman"/>
                <a:ea typeface="Times New Roman"/>
                <a:cs typeface="Times New Roman"/>
                <a:sym typeface="Times New Roman"/>
              </a:rPr>
              <a:t>Summary : ‘for’ loops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2facb10385e_1_0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 b="1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1050" b="1" dirty="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GB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loops are fundamental to controlling the flow of a program by iterating over sequences.</a:t>
            </a: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GB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provide a simple and efficient way to perform repetitive tasks with minimal code.</a:t>
            </a: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GB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Versatile enough to handle lists, tuples, strings, dictionaries, and ranges, making them suitable for various applications.</a:t>
            </a: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GB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support additional control structures like break, continue, and else for more advanced usage.</a:t>
            </a: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GB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for loops enable complex data processing, such as multi-dimensional array handling.</a:t>
            </a: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GB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Mastery of for loops improves your problem-solving skills and makes your code more readable and maintainable.</a:t>
            </a: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>
            <a:spLocks noGrp="1"/>
          </p:cNvSpPr>
          <p:nvPr>
            <p:ph type="title"/>
          </p:nvPr>
        </p:nvSpPr>
        <p:spPr>
          <a:xfrm>
            <a:off x="82220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0"/>
          <p:cNvSpPr txBox="1">
            <a:spLocks noGrp="1"/>
          </p:cNvSpPr>
          <p:nvPr>
            <p:ph type="body" idx="1"/>
          </p:nvPr>
        </p:nvSpPr>
        <p:spPr>
          <a:xfrm>
            <a:off x="228600" y="1086000"/>
            <a:ext cx="8229600" cy="52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GB" sz="2800" b="1" dirty="0">
                <a:latin typeface="Times New Roman"/>
                <a:ea typeface="Times New Roman"/>
                <a:cs typeface="Times New Roman"/>
                <a:sym typeface="Times New Roman"/>
              </a:rPr>
              <a:t>Summary:</a:t>
            </a: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 Recap of decision-making constructs (if-else, </a:t>
            </a:r>
            <a:r>
              <a:rPr lang="en-GB" sz="2800" dirty="0" err="1">
                <a:latin typeface="Times New Roman"/>
                <a:ea typeface="Times New Roman"/>
                <a:cs typeface="Times New Roman"/>
                <a:sym typeface="Times New Roman"/>
              </a:rPr>
              <a:t>elif</a:t>
            </a: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, match) and looping mechanisms (while, for).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54000" algn="just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▪"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GB" sz="2800" b="1" dirty="0">
                <a:latin typeface="Times New Roman"/>
                <a:ea typeface="Times New Roman"/>
                <a:cs typeface="Times New Roman"/>
                <a:sym typeface="Times New Roman"/>
              </a:rPr>
              <a:t>Importance:</a:t>
            </a: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 Mastery of these concepts is critical for developing efficient and effective Python programs.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54000" algn="just" rtl="0">
              <a:spcBef>
                <a:spcPts val="640"/>
              </a:spcBef>
              <a:spcAft>
                <a:spcPts val="0"/>
              </a:spcAft>
              <a:buSzPts val="1800"/>
              <a:buFont typeface="Times New Roman"/>
              <a:buChar char="▪"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GB" sz="2800" b="1" dirty="0">
                <a:latin typeface="Times New Roman"/>
                <a:ea typeface="Times New Roman"/>
                <a:cs typeface="Times New Roman"/>
                <a:sym typeface="Times New Roman"/>
              </a:rPr>
              <a:t>Next Steps:</a:t>
            </a: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 Practice these concepts through coding exercises and projects.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1449</Words>
  <Application>Microsoft Office PowerPoint</Application>
  <PresentationFormat>On-screen Show (4:3)</PresentationFormat>
  <Paragraphs>354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Noto Sans Symbols</vt:lpstr>
      <vt:lpstr>Times New Roman</vt:lpstr>
      <vt:lpstr>Office Theme</vt:lpstr>
      <vt:lpstr>PowerPoint Presentation</vt:lpstr>
      <vt:lpstr>Topics Covered</vt:lpstr>
      <vt:lpstr>Introduction to Decision Making</vt:lpstr>
      <vt:lpstr>PowerPoint Presentation</vt:lpstr>
      <vt:lpstr>if-Else Statement</vt:lpstr>
      <vt:lpstr> elif Statement</vt:lpstr>
      <vt:lpstr>Match Statement (Python 3.10+)</vt:lpstr>
      <vt:lpstr>Introduction to Loops</vt:lpstr>
      <vt:lpstr>Introduction to Loops</vt:lpstr>
      <vt:lpstr>for Loop</vt:lpstr>
      <vt:lpstr>               For Loop               contd…</vt:lpstr>
      <vt:lpstr>For Loop               contd…</vt:lpstr>
      <vt:lpstr>For Loop               contd…</vt:lpstr>
      <vt:lpstr>For Loop               contd…</vt:lpstr>
      <vt:lpstr>For Loop               contd…</vt:lpstr>
      <vt:lpstr>For Loop                      contd…</vt:lpstr>
      <vt:lpstr>Common Use Cases for for Loop</vt:lpstr>
      <vt:lpstr>Summary : ‘for’ loops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Vibhu Sharma</cp:lastModifiedBy>
  <cp:revision>1</cp:revision>
  <dcterms:created xsi:type="dcterms:W3CDTF">2010-04-09T07:36:00Z</dcterms:created>
  <dcterms:modified xsi:type="dcterms:W3CDTF">2025-08-14T07:43:59Z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77C75C994B4C446DB33EAD35C783E0D7_12</vt:lpwstr>
  </property>
  <property fmtid="{D5CDD505-2E9C-101B-9397-08002B2CF9AE}" pid="3" name="KSOProductBuildVer">
    <vt:lpwstr>1033-12.2.0.17153</vt:lpwstr>
  </property>
</Properties>
</file>