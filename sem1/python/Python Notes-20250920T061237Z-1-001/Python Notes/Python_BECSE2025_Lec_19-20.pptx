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491" r:id="rId2"/>
    <p:sldId id="502" r:id="rId3"/>
    <p:sldId id="504" r:id="rId4"/>
    <p:sldId id="505" r:id="rId5"/>
    <p:sldId id="503" r:id="rId6"/>
    <p:sldId id="506" r:id="rId7"/>
    <p:sldId id="507" r:id="rId8"/>
    <p:sldId id="508" r:id="rId9"/>
    <p:sldId id="509" r:id="rId10"/>
    <p:sldId id="510" r:id="rId11"/>
    <p:sldId id="511" r:id="rId12"/>
    <p:sldId id="512" r:id="rId13"/>
    <p:sldId id="513" r:id="rId14"/>
    <p:sldId id="514" r:id="rId15"/>
    <p:sldId id="515" r:id="rId16"/>
    <p:sldId id="516" r:id="rId17"/>
    <p:sldId id="517" r:id="rId18"/>
    <p:sldId id="518" r:id="rId19"/>
    <p:sldId id="519" r:id="rId20"/>
    <p:sldId id="520" r:id="rId21"/>
    <p:sldId id="521" r:id="rId22"/>
    <p:sldId id="522" r:id="rId23"/>
    <p:sldId id="523" r:id="rId24"/>
    <p:sldId id="524" r:id="rId25"/>
    <p:sldId id="525" r:id="rId26"/>
    <p:sldId id="526" r:id="rId27"/>
    <p:sldId id="527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0FA"/>
    <a:srgbClr val="FF6600"/>
    <a:srgbClr val="F139E4"/>
    <a:srgbClr val="B85250"/>
    <a:srgbClr val="FF330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103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88709C98-B80A-4F28-AF74-CF08CF81A715}" type="datetime1">
              <a:rPr lang="en-US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4D112868-65FD-4572-A383-97DC0EC9B91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523EB20-6FC5-4DDA-8F23-B813642F520C}" type="datetime1">
              <a:rPr lang="en-US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C4ABB8-5B0F-4AA4-B6A6-7C7E2BD089D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 userDrawn="1"/>
        </p:nvPicPr>
        <p:blipFill>
          <a:blip r:embed="rId2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/>
          <p:nvPr userDrawn="1"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Calibri" panose="020F0502020204030204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DF5B256-931F-40A0-BC73-FE5211075C35}" type="datetime1">
              <a:rPr lang="en-US"/>
              <a:t>9/15/2025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D8F058-9003-4658-AA47-7D4800AF7E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7BE7C4ED-81C0-4682-BCCB-104FB5DDBDCB}" type="datetime1">
              <a:rPr lang="en-US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775DC763-8AAC-4A07-A453-38B55A3783BD}" type="slidenum">
              <a:rPr lang="en-US"/>
              <a:t>‹#›</a:t>
            </a:fld>
            <a:endParaRPr lang="en-US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4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4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7" name="Group 7"/>
          <p:cNvGrpSpPr/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Calibri" panose="020F0502020204030204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4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 txBox="1">
            <a:spLocks noChangeArrowheads="1"/>
          </p:cNvSpPr>
          <p:nvPr/>
        </p:nvSpPr>
        <p:spPr bwMode="auto">
          <a:xfrm>
            <a:off x="1333500" y="1091565"/>
            <a:ext cx="6553200" cy="1981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tIns="33120" anchor="ctr"/>
          <a:lstStyle/>
          <a:p>
            <a:pPr algn="ctr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</a:pPr>
            <a:r>
              <a:rPr lang="en-US" sz="3200" dirty="0"/>
              <a:t>Passing Arguments(call by value/call by reference), Recursive Functions, Lambda Expressions</a:t>
            </a:r>
            <a:endParaRPr lang="en-US" sz="3200" b="1" dirty="0">
              <a:solidFill>
                <a:srgbClr val="3A30FA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5455" y="5257800"/>
            <a:ext cx="61512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Chitkara University Institute of Engineering and Technology,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Chitkara University,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Argument Passing</a:t>
            </a:r>
            <a:endParaRPr lang="en-US" b="1" dirty="0">
              <a:ea typeface="MS PGothic" panose="020B0600070205080204" pitchFamily="34" charset="-128"/>
            </a:endParaRPr>
          </a:p>
        </p:txBody>
      </p:sp>
      <p:sp>
        <p:nvSpPr>
          <p:cNvPr id="153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/>
            <a:r>
              <a:rPr lang="en-US" dirty="0"/>
              <a:t>Functions in Python allow passing data through arguments.</a:t>
            </a:r>
          </a:p>
          <a:p>
            <a:pPr lvl="1"/>
            <a:r>
              <a:rPr lang="en-US" dirty="0"/>
              <a:t>Understanding how these arguments are passed is crucial for predicting function behavior.</a:t>
            </a:r>
          </a:p>
          <a:p>
            <a:pPr lvl="1"/>
            <a:r>
              <a:rPr lang="en-US" dirty="0"/>
              <a:t>Two common terms in programming for argument passing are </a:t>
            </a:r>
            <a:r>
              <a:rPr lang="en-US" b="1" dirty="0"/>
              <a:t>Call by Value</a:t>
            </a:r>
            <a:r>
              <a:rPr lang="en-US" dirty="0"/>
              <a:t> and </a:t>
            </a:r>
            <a:r>
              <a:rPr lang="en-US" b="1" dirty="0"/>
              <a:t>Call by Reference</a:t>
            </a:r>
            <a:r>
              <a:rPr lang="en-US" dirty="0"/>
              <a:t>.</a:t>
            </a:r>
          </a:p>
          <a:p>
            <a:endParaRPr 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Call by Value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def</a:t>
            </a:r>
            <a:r>
              <a:rPr lang="en-IN" dirty="0"/>
              <a:t> </a:t>
            </a:r>
            <a:r>
              <a:rPr lang="en-IN" dirty="0" err="1"/>
              <a:t>modify_value</a:t>
            </a:r>
            <a:r>
              <a:rPr lang="en-IN" dirty="0"/>
              <a:t>(x):</a:t>
            </a:r>
          </a:p>
          <a:p>
            <a:r>
              <a:rPr lang="en-IN" dirty="0"/>
              <a:t>    x = x + 10</a:t>
            </a:r>
          </a:p>
          <a:p>
            <a:r>
              <a:rPr lang="en-IN" dirty="0"/>
              <a:t>    print(</a:t>
            </a:r>
            <a:r>
              <a:rPr lang="en-IN" dirty="0" err="1"/>
              <a:t>f"Inside</a:t>
            </a:r>
            <a:r>
              <a:rPr lang="en-IN" dirty="0"/>
              <a:t> function: {x}")</a:t>
            </a:r>
          </a:p>
          <a:p>
            <a:endParaRPr lang="en-IN" dirty="0"/>
          </a:p>
          <a:p>
            <a:r>
              <a:rPr lang="en-IN" dirty="0" err="1"/>
              <a:t>num</a:t>
            </a:r>
            <a:r>
              <a:rPr lang="en-IN" dirty="0"/>
              <a:t> = 5</a:t>
            </a:r>
          </a:p>
          <a:p>
            <a:r>
              <a:rPr lang="en-IN" dirty="0" err="1"/>
              <a:t>modify_value</a:t>
            </a:r>
            <a:r>
              <a:rPr lang="en-IN" dirty="0"/>
              <a:t>(</a:t>
            </a:r>
            <a:r>
              <a:rPr lang="en-IN" dirty="0" err="1"/>
              <a:t>num</a:t>
            </a:r>
            <a:r>
              <a:rPr lang="en-IN" dirty="0"/>
              <a:t>)</a:t>
            </a:r>
          </a:p>
          <a:p>
            <a:r>
              <a:rPr lang="en-IN" dirty="0"/>
              <a:t>print(</a:t>
            </a:r>
            <a:r>
              <a:rPr lang="en-IN" dirty="0" err="1"/>
              <a:t>f"Outside</a:t>
            </a:r>
            <a:r>
              <a:rPr lang="en-IN" dirty="0"/>
              <a:t> function: {</a:t>
            </a:r>
            <a:r>
              <a:rPr lang="en-IN" dirty="0" err="1"/>
              <a:t>num</a:t>
            </a:r>
            <a:r>
              <a:rPr lang="en-IN" dirty="0"/>
              <a:t>}")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563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Explanation: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Inside the function, x is modified, but this change does not affect the original </a:t>
            </a:r>
            <a:r>
              <a:rPr lang="en-US" dirty="0" err="1"/>
              <a:t>num</a:t>
            </a:r>
            <a:r>
              <a:rPr lang="en-US" dirty="0"/>
              <a:t> variable.</a:t>
            </a:r>
          </a:p>
          <a:p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           Inside function: 15</a:t>
            </a:r>
          </a:p>
          <a:p>
            <a:pPr marL="0" indent="0">
              <a:buNone/>
            </a:pPr>
            <a:r>
              <a:rPr lang="en-US" dirty="0"/>
              <a:t>          Outside function: 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602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/>
              <a:t>Call</a:t>
            </a:r>
            <a:r>
              <a:rPr lang="en-IN" b="1" dirty="0"/>
              <a:t> </a:t>
            </a:r>
            <a:r>
              <a:rPr lang="en-IN" dirty="0"/>
              <a:t>by Value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Call by Value means that a copy of the actual value is passed to the function.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Changes made to the parameter inside the function do not affect the original value.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 Python, this applies to immutable types like integers, floats, strings, and tuples.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273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Call by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Call by Reference means that a reference to the actual data is passed to the function.</a:t>
            </a:r>
          </a:p>
          <a:p>
            <a:pPr algn="just"/>
            <a:r>
              <a:rPr lang="en-US" dirty="0"/>
              <a:t>Changes made to the parameter inside the function directly affect the original data.</a:t>
            </a:r>
          </a:p>
          <a:p>
            <a:pPr algn="just"/>
            <a:r>
              <a:rPr lang="en-US" dirty="0"/>
              <a:t>In Python, this applies to mutable types like lists, dictionaries, and sets.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515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 Call by Reference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def</a:t>
            </a:r>
            <a:r>
              <a:rPr lang="en-IN" dirty="0"/>
              <a:t> </a:t>
            </a:r>
            <a:r>
              <a:rPr lang="en-IN" dirty="0" err="1"/>
              <a:t>modify_list</a:t>
            </a:r>
            <a:r>
              <a:rPr lang="en-IN" dirty="0"/>
              <a:t>(</a:t>
            </a:r>
            <a:r>
              <a:rPr lang="en-IN" dirty="0" err="1"/>
              <a:t>lst</a:t>
            </a:r>
            <a:r>
              <a:rPr lang="en-IN" dirty="0"/>
              <a:t>):</a:t>
            </a:r>
          </a:p>
          <a:p>
            <a:r>
              <a:rPr lang="en-IN" dirty="0"/>
              <a:t>    </a:t>
            </a:r>
            <a:r>
              <a:rPr lang="en-IN" dirty="0" err="1"/>
              <a:t>lst.append</a:t>
            </a:r>
            <a:r>
              <a:rPr lang="en-IN" dirty="0"/>
              <a:t>(10)</a:t>
            </a:r>
          </a:p>
          <a:p>
            <a:r>
              <a:rPr lang="en-IN" dirty="0"/>
              <a:t>    print(</a:t>
            </a:r>
            <a:r>
              <a:rPr lang="en-IN" dirty="0" err="1"/>
              <a:t>f"Inside</a:t>
            </a:r>
            <a:r>
              <a:rPr lang="en-IN" dirty="0"/>
              <a:t> function: {</a:t>
            </a:r>
            <a:r>
              <a:rPr lang="en-IN" dirty="0" err="1"/>
              <a:t>lst</a:t>
            </a:r>
            <a:r>
              <a:rPr lang="en-IN" dirty="0"/>
              <a:t>}")</a:t>
            </a:r>
          </a:p>
          <a:p>
            <a:endParaRPr lang="en-IN" dirty="0"/>
          </a:p>
          <a:p>
            <a:r>
              <a:rPr lang="en-IN" dirty="0" err="1"/>
              <a:t>my_list</a:t>
            </a:r>
            <a:r>
              <a:rPr lang="en-IN" dirty="0"/>
              <a:t> = [1, 2, 3]</a:t>
            </a:r>
          </a:p>
          <a:p>
            <a:r>
              <a:rPr lang="en-IN" dirty="0" err="1"/>
              <a:t>modify_list</a:t>
            </a:r>
            <a:r>
              <a:rPr lang="en-IN" dirty="0"/>
              <a:t>(</a:t>
            </a:r>
            <a:r>
              <a:rPr lang="en-IN" dirty="0" err="1"/>
              <a:t>my_list</a:t>
            </a:r>
            <a:r>
              <a:rPr lang="en-IN" dirty="0"/>
              <a:t>)</a:t>
            </a:r>
          </a:p>
          <a:p>
            <a:r>
              <a:rPr lang="en-IN" dirty="0"/>
              <a:t>print(</a:t>
            </a:r>
            <a:r>
              <a:rPr lang="en-IN" dirty="0" err="1"/>
              <a:t>f"Outside</a:t>
            </a:r>
            <a:r>
              <a:rPr lang="en-IN" dirty="0"/>
              <a:t> function: {</a:t>
            </a:r>
            <a:r>
              <a:rPr lang="en-IN" dirty="0" err="1"/>
              <a:t>my_list</a:t>
            </a:r>
            <a:r>
              <a:rPr lang="en-IN" dirty="0"/>
              <a:t>}")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67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Explanation: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Inside the function, </a:t>
            </a:r>
            <a:r>
              <a:rPr lang="en-US" dirty="0" err="1"/>
              <a:t>lst</a:t>
            </a:r>
            <a:r>
              <a:rPr lang="en-US" dirty="0"/>
              <a:t> is modified, and this change is reflected in the original </a:t>
            </a:r>
            <a:r>
              <a:rPr lang="en-US" dirty="0" err="1"/>
              <a:t>my_list</a:t>
            </a:r>
            <a:r>
              <a:rPr lang="en-US" dirty="0"/>
              <a:t> variable.</a:t>
            </a:r>
          </a:p>
          <a:p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        Inside function: [1, 2, 3, 10]</a:t>
            </a:r>
          </a:p>
          <a:p>
            <a:pPr marL="0" indent="0">
              <a:buNone/>
            </a:pPr>
            <a:r>
              <a:rPr lang="en-US" dirty="0"/>
              <a:t>        Outside function: [1, 2, 3, 10]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23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Python's Approach: Call by Object Reference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229600" cy="5334000"/>
          </a:xfrm>
        </p:spPr>
        <p:txBody>
          <a:bodyPr/>
          <a:lstStyle/>
          <a:p>
            <a:pPr algn="just"/>
            <a:r>
              <a:rPr lang="en-US" dirty="0"/>
              <a:t>Python uses a model called Call by Object Reference or Call by Assignment.</a:t>
            </a:r>
          </a:p>
          <a:p>
            <a:pPr algn="just"/>
            <a:r>
              <a:rPr lang="en-US" dirty="0"/>
              <a:t>Python passes a reference to the object, not the actual value.</a:t>
            </a:r>
          </a:p>
          <a:p>
            <a:pPr algn="just"/>
            <a:r>
              <a:rPr lang="en-US" dirty="0"/>
              <a:t>The behavior depends on whether the object is mutable or immutable.</a:t>
            </a:r>
          </a:p>
          <a:p>
            <a:pPr algn="just"/>
            <a:r>
              <a:rPr lang="en-US" dirty="0"/>
              <a:t>Immutable objects (e.g., integers, strings) behave like Call by Value.</a:t>
            </a:r>
          </a:p>
          <a:p>
            <a:pPr algn="just"/>
            <a:r>
              <a:rPr lang="en-US" dirty="0"/>
              <a:t>Mutable objects (e.g., lists, dictionaries) behave like Call by Reference.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2605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Mutable vs Immutable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229600" cy="5334000"/>
          </a:xfrm>
        </p:spPr>
        <p:txBody>
          <a:bodyPr/>
          <a:lstStyle/>
          <a:p>
            <a:pPr algn="just"/>
            <a:r>
              <a:rPr lang="en-US" dirty="0"/>
              <a:t>Immutable types: </a:t>
            </a:r>
            <a:r>
              <a:rPr lang="en-US" dirty="0" err="1"/>
              <a:t>int</a:t>
            </a:r>
            <a:r>
              <a:rPr lang="en-US" dirty="0"/>
              <a:t>, float, bool, </a:t>
            </a:r>
            <a:r>
              <a:rPr lang="en-US" dirty="0" err="1"/>
              <a:t>str</a:t>
            </a:r>
            <a:r>
              <a:rPr lang="en-US" dirty="0"/>
              <a:t>, tuple, </a:t>
            </a:r>
            <a:r>
              <a:rPr lang="en-US" dirty="0" err="1"/>
              <a:t>frozenset</a:t>
            </a:r>
            <a:endParaRPr lang="en-US" dirty="0"/>
          </a:p>
          <a:p>
            <a:pPr algn="just"/>
            <a:r>
              <a:rPr lang="en-US" dirty="0"/>
              <a:t>Mutable types: list, </a:t>
            </a:r>
            <a:r>
              <a:rPr lang="en-US" dirty="0" err="1"/>
              <a:t>dict</a:t>
            </a:r>
            <a:r>
              <a:rPr lang="en-US" dirty="0"/>
              <a:t>, set, </a:t>
            </a:r>
            <a:r>
              <a:rPr lang="en-US" dirty="0" err="1"/>
              <a:t>bytearray</a:t>
            </a:r>
            <a:endParaRPr lang="en-US" dirty="0"/>
          </a:p>
          <a:p>
            <a:pPr algn="just"/>
            <a:r>
              <a:rPr lang="en-US" dirty="0"/>
              <a:t>Behavior:</a:t>
            </a:r>
          </a:p>
          <a:p>
            <a:pPr lvl="1" algn="just"/>
            <a:r>
              <a:rPr lang="en-US" dirty="0"/>
              <a:t>Immutable objects cannot be changed after creation; therefore, their references behave as if passed by value.</a:t>
            </a:r>
          </a:p>
          <a:p>
            <a:pPr lvl="1" algn="just"/>
            <a:r>
              <a:rPr lang="en-US" dirty="0"/>
              <a:t>Mutable objects can be changed after creation; their references allow modification of the original object.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262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6477000" cy="533400"/>
          </a:xfrm>
        </p:spPr>
        <p:txBody>
          <a:bodyPr/>
          <a:lstStyle/>
          <a:p>
            <a:pPr algn="l"/>
            <a:r>
              <a:rPr lang="en-IN" dirty="0"/>
              <a:t>Examples: Immutable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modify_string</a:t>
            </a:r>
            <a:r>
              <a:rPr lang="en-US" dirty="0"/>
              <a:t>(s):</a:t>
            </a:r>
          </a:p>
          <a:p>
            <a:pPr lvl="1"/>
            <a:r>
              <a:rPr lang="en-US" dirty="0"/>
              <a:t>    s += " world"</a:t>
            </a:r>
          </a:p>
          <a:p>
            <a:pPr lvl="1"/>
            <a:r>
              <a:rPr lang="en-US" dirty="0"/>
              <a:t>    print(</a:t>
            </a:r>
            <a:r>
              <a:rPr lang="en-US" dirty="0" err="1"/>
              <a:t>f"Inside</a:t>
            </a:r>
            <a:r>
              <a:rPr lang="en-US" dirty="0"/>
              <a:t> function: {s}")</a:t>
            </a:r>
          </a:p>
          <a:p>
            <a:pPr lvl="1"/>
            <a:r>
              <a:rPr lang="en-US" dirty="0" err="1"/>
              <a:t>my_str</a:t>
            </a:r>
            <a:r>
              <a:rPr lang="en-US" dirty="0"/>
              <a:t> = "Hello"</a:t>
            </a:r>
          </a:p>
          <a:p>
            <a:pPr lvl="1"/>
            <a:r>
              <a:rPr lang="en-US" dirty="0" err="1"/>
              <a:t>modify_string</a:t>
            </a:r>
            <a:r>
              <a:rPr lang="en-US" dirty="0"/>
              <a:t>(</a:t>
            </a:r>
            <a:r>
              <a:rPr lang="en-US" dirty="0" err="1"/>
              <a:t>my_str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print(</a:t>
            </a:r>
            <a:r>
              <a:rPr lang="en-US" dirty="0" err="1"/>
              <a:t>f"Outside</a:t>
            </a:r>
            <a:r>
              <a:rPr lang="en-US" dirty="0"/>
              <a:t> function: {</a:t>
            </a:r>
            <a:r>
              <a:rPr lang="en-US" dirty="0" err="1"/>
              <a:t>my_str</a:t>
            </a:r>
            <a:r>
              <a:rPr lang="en-US" dirty="0"/>
              <a:t>}")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958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err="1"/>
              <a:t>Example:Mutable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modify_dict</a:t>
            </a:r>
            <a:r>
              <a:rPr lang="en-US" dirty="0"/>
              <a:t>(d):</a:t>
            </a:r>
          </a:p>
          <a:p>
            <a:r>
              <a:rPr lang="en-US" dirty="0"/>
              <a:t>    d["</a:t>
            </a:r>
            <a:r>
              <a:rPr lang="en-US" dirty="0" err="1"/>
              <a:t>new_key</a:t>
            </a:r>
            <a:r>
              <a:rPr lang="en-US" dirty="0"/>
              <a:t>"] = "</a:t>
            </a:r>
            <a:r>
              <a:rPr lang="en-US" dirty="0" err="1"/>
              <a:t>new_value</a:t>
            </a:r>
            <a:r>
              <a:rPr lang="en-US" dirty="0"/>
              <a:t>"</a:t>
            </a:r>
          </a:p>
          <a:p>
            <a:r>
              <a:rPr lang="en-US" dirty="0"/>
              <a:t>    print(</a:t>
            </a:r>
            <a:r>
              <a:rPr lang="en-US" dirty="0" err="1"/>
              <a:t>f"Inside</a:t>
            </a:r>
            <a:r>
              <a:rPr lang="en-US" dirty="0"/>
              <a:t> function: {d}")</a:t>
            </a:r>
          </a:p>
          <a:p>
            <a:endParaRPr lang="en-US" dirty="0"/>
          </a:p>
          <a:p>
            <a:r>
              <a:rPr lang="en-US" dirty="0" err="1"/>
              <a:t>my_dict</a:t>
            </a:r>
            <a:r>
              <a:rPr lang="en-US" dirty="0"/>
              <a:t> = {"key": "value"}</a:t>
            </a:r>
          </a:p>
          <a:p>
            <a:r>
              <a:rPr lang="en-US" dirty="0" err="1"/>
              <a:t>modify_dict</a:t>
            </a:r>
            <a:r>
              <a:rPr lang="en-US" dirty="0"/>
              <a:t>(</a:t>
            </a:r>
            <a:r>
              <a:rPr lang="en-US" dirty="0" err="1"/>
              <a:t>my_dict</a:t>
            </a:r>
            <a:r>
              <a:rPr lang="en-US" dirty="0"/>
              <a:t>)</a:t>
            </a:r>
          </a:p>
          <a:p>
            <a:r>
              <a:rPr lang="en-US" dirty="0"/>
              <a:t>print(</a:t>
            </a:r>
            <a:r>
              <a:rPr lang="en-US" dirty="0" err="1"/>
              <a:t>f"Outside</a:t>
            </a:r>
            <a:r>
              <a:rPr lang="en-US" dirty="0"/>
              <a:t> function: {</a:t>
            </a:r>
            <a:r>
              <a:rPr lang="en-US" dirty="0" err="1"/>
              <a:t>my_dict</a:t>
            </a:r>
            <a:r>
              <a:rPr lang="en-US" dirty="0"/>
              <a:t>}")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884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Explanation: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229600" cy="5791200"/>
          </a:xfrm>
        </p:spPr>
        <p:txBody>
          <a:bodyPr/>
          <a:lstStyle/>
          <a:p>
            <a:pPr algn="just"/>
            <a:r>
              <a:rPr lang="en-US" dirty="0"/>
              <a:t>The string example shows that the original </a:t>
            </a:r>
            <a:r>
              <a:rPr lang="en-US" dirty="0" err="1"/>
              <a:t>my_str</a:t>
            </a:r>
            <a:r>
              <a:rPr lang="en-US" dirty="0"/>
              <a:t> remains unchanged.</a:t>
            </a:r>
          </a:p>
          <a:p>
            <a:pPr algn="just"/>
            <a:r>
              <a:rPr lang="en-US" dirty="0"/>
              <a:t>The dictionary example shows that the original </a:t>
            </a:r>
            <a:r>
              <a:rPr lang="en-US" dirty="0" err="1"/>
              <a:t>my_dict</a:t>
            </a:r>
            <a:r>
              <a:rPr lang="en-US" dirty="0"/>
              <a:t> is modified.</a:t>
            </a:r>
          </a:p>
          <a:p>
            <a:pPr algn="just"/>
            <a:r>
              <a:rPr lang="en-IN" dirty="0"/>
              <a:t>Summary of Key Points</a:t>
            </a:r>
          </a:p>
          <a:p>
            <a:pPr lvl="1" algn="just"/>
            <a:r>
              <a:rPr lang="en-US" sz="2400" dirty="0"/>
              <a:t>Call by Value: The function gets a copy of the variable's value (applies to immutable types in Python).</a:t>
            </a:r>
          </a:p>
          <a:p>
            <a:pPr lvl="1" algn="just"/>
            <a:r>
              <a:rPr lang="en-US" sz="2400" dirty="0"/>
              <a:t>Call by Reference: The function gets a reference to the variable's memory location (applies to mutable types in Python).</a:t>
            </a:r>
          </a:p>
          <a:p>
            <a:pPr lvl="1" algn="just"/>
            <a:r>
              <a:rPr lang="en-US" sz="2400" dirty="0"/>
              <a:t>Python uses Call by Object Reference where the behavior is determined by the type of the object (mutable vs immutable).</a:t>
            </a:r>
            <a:endParaRPr lang="en-IN" sz="2400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1737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Recursive Functions and Lambda Expressions in Python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Recursive Functions: Functions that call themselves to solve smaller instances of the problem.</a:t>
            </a:r>
          </a:p>
          <a:p>
            <a:pPr algn="just"/>
            <a:r>
              <a:rPr lang="en-US" dirty="0"/>
              <a:t>Lambda Expressions: Anonymous functions created with the lambda keyword, often used for short, throwaway functions.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1723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Understanding Recursive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pPr algn="just"/>
            <a:r>
              <a:rPr lang="en-US" dirty="0"/>
              <a:t>A recursive function is a function that calls itself within its own definition.</a:t>
            </a:r>
          </a:p>
          <a:p>
            <a:pPr algn="just"/>
            <a:r>
              <a:rPr lang="en-US" dirty="0"/>
              <a:t>Used for solving problems that can be broken down into smaller, similar sub-problems.</a:t>
            </a:r>
          </a:p>
          <a:p>
            <a:pPr algn="just"/>
            <a:r>
              <a:rPr lang="en-US" dirty="0"/>
              <a:t>Key Components:</a:t>
            </a:r>
          </a:p>
          <a:p>
            <a:pPr lvl="1" algn="just"/>
            <a:r>
              <a:rPr lang="en-US" dirty="0"/>
              <a:t>Base Case: The condition under which the recursion ends.</a:t>
            </a:r>
          </a:p>
          <a:p>
            <a:pPr lvl="1" algn="just"/>
            <a:r>
              <a:rPr lang="en-US" dirty="0"/>
              <a:t>Recursive Case: The part where the function calls itself to continue the process.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250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 of a Recursive Function: Factorial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Title: Factorial Using Recursion</a:t>
            </a:r>
          </a:p>
          <a:p>
            <a:r>
              <a:rPr lang="en-US" dirty="0"/>
              <a:t>Content:</a:t>
            </a:r>
          </a:p>
          <a:p>
            <a:pPr lvl="1"/>
            <a:r>
              <a:rPr lang="en-US" dirty="0"/>
              <a:t>Factorial of a number n (denoted as n!) is the product of all positive integers less than or equal to n.</a:t>
            </a:r>
          </a:p>
          <a:p>
            <a:r>
              <a:rPr lang="en-US" dirty="0"/>
              <a:t>Recursive Definition:</a:t>
            </a:r>
          </a:p>
          <a:p>
            <a:pPr lvl="1"/>
            <a:r>
              <a:rPr lang="en-US" dirty="0"/>
              <a:t>n! = n * (n-1)! for n &gt; 1</a:t>
            </a:r>
          </a:p>
          <a:p>
            <a:pPr lvl="1"/>
            <a:r>
              <a:rPr lang="en-US" dirty="0"/>
              <a:t>1! =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738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Python Code: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def</a:t>
            </a:r>
            <a:r>
              <a:rPr lang="en-IN" dirty="0"/>
              <a:t> factorial(n):</a:t>
            </a:r>
          </a:p>
          <a:p>
            <a:r>
              <a:rPr lang="en-IN" dirty="0"/>
              <a:t>    if n == 1:</a:t>
            </a:r>
          </a:p>
          <a:p>
            <a:r>
              <a:rPr lang="en-IN" dirty="0"/>
              <a:t>        return 1</a:t>
            </a:r>
          </a:p>
          <a:p>
            <a:r>
              <a:rPr lang="en-IN" dirty="0"/>
              <a:t>    else:</a:t>
            </a:r>
          </a:p>
          <a:p>
            <a:r>
              <a:rPr lang="en-IN" dirty="0"/>
              <a:t>        return n * factorial(n-1)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206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How Recursion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5059363"/>
          </a:xfrm>
        </p:spPr>
        <p:txBody>
          <a:bodyPr/>
          <a:lstStyle/>
          <a:p>
            <a:r>
              <a:rPr lang="en-US" sz="2800" dirty="0"/>
              <a:t>Stack: Each function call is placed on a stack (a Last In, First Out structure).</a:t>
            </a:r>
          </a:p>
          <a:p>
            <a:r>
              <a:rPr lang="en-US" sz="2800" dirty="0"/>
              <a:t>Base Case: When reached, the stack begins to unwind.</a:t>
            </a:r>
          </a:p>
          <a:p>
            <a:r>
              <a:rPr lang="en-US" sz="2800" dirty="0"/>
              <a:t>Example: Calculation of factorial(4):</a:t>
            </a:r>
          </a:p>
          <a:p>
            <a:pPr lvl="1"/>
            <a:r>
              <a:rPr lang="en-US" dirty="0"/>
              <a:t>factorial(4) calls factorial(3)</a:t>
            </a:r>
          </a:p>
          <a:p>
            <a:pPr lvl="1"/>
            <a:r>
              <a:rPr lang="en-US" dirty="0"/>
              <a:t>factorial(3) calls factorial(2)</a:t>
            </a:r>
          </a:p>
          <a:p>
            <a:pPr lvl="1"/>
            <a:r>
              <a:rPr lang="en-US" dirty="0"/>
              <a:t>factorial(2) calls factorial(1)</a:t>
            </a:r>
          </a:p>
          <a:p>
            <a:pPr lvl="1"/>
            <a:r>
              <a:rPr lang="en-US" dirty="0"/>
              <a:t>factorial(1) returns 1, and the stack unwinds, calculating 4 * 3 * 2 * 1 = 24.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5343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How Recursion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5059363"/>
          </a:xfrm>
        </p:spPr>
        <p:txBody>
          <a:bodyPr/>
          <a:lstStyle/>
          <a:p>
            <a:r>
              <a:rPr lang="en-US" sz="2800" dirty="0"/>
              <a:t>Stack: Each function call is placed on a stack (a Last In, First Out structure).</a:t>
            </a:r>
          </a:p>
          <a:p>
            <a:r>
              <a:rPr lang="en-US" sz="2800" dirty="0"/>
              <a:t>Base Case: When reached, the stack begins to unwind.</a:t>
            </a:r>
          </a:p>
          <a:p>
            <a:r>
              <a:rPr lang="en-US" sz="2800" dirty="0"/>
              <a:t>Example: Calculation of factorial(4):</a:t>
            </a:r>
          </a:p>
          <a:p>
            <a:pPr lvl="1"/>
            <a:r>
              <a:rPr lang="en-US" dirty="0"/>
              <a:t>factorial(4) calls factorial(3)</a:t>
            </a:r>
          </a:p>
          <a:p>
            <a:pPr lvl="1"/>
            <a:r>
              <a:rPr lang="en-US" dirty="0"/>
              <a:t>factorial(3) calls factorial(2)</a:t>
            </a:r>
          </a:p>
          <a:p>
            <a:pPr lvl="1"/>
            <a:r>
              <a:rPr lang="en-US" dirty="0"/>
              <a:t>factorial(2) calls factorial(1)</a:t>
            </a:r>
          </a:p>
          <a:p>
            <a:pPr lvl="1"/>
            <a:r>
              <a:rPr lang="en-US" dirty="0"/>
              <a:t>factorial(1) returns 1, and the stack unwinds, calculating 4 * 3 * 2 * 1 = 24.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6908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Common Recursive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Fibonacci Sequence: Each number is the sum of the two preceding ones.</a:t>
            </a:r>
          </a:p>
          <a:p>
            <a:pPr algn="just"/>
            <a:r>
              <a:rPr lang="en-US" dirty="0"/>
              <a:t>Tree Traversal: Navigating tree data structures.</a:t>
            </a:r>
          </a:p>
          <a:p>
            <a:pPr algn="just"/>
            <a:r>
              <a:rPr lang="en-US" dirty="0"/>
              <a:t>Sorting Algorithms: Such as quicksort and </a:t>
            </a:r>
            <a:r>
              <a:rPr lang="en-US" dirty="0" err="1"/>
              <a:t>mergesort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Backtracking: For problems like maze solving or the N-Queens problem.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220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Pros and Cons of Recursion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Advantages:</a:t>
            </a:r>
          </a:p>
          <a:p>
            <a:pPr lvl="1"/>
            <a:r>
              <a:rPr lang="en-US" sz="2400" dirty="0"/>
              <a:t>Simplifies the code for problems with repetitive sub-problems.</a:t>
            </a:r>
          </a:p>
          <a:p>
            <a:pPr lvl="1"/>
            <a:r>
              <a:rPr lang="en-US" sz="2400" dirty="0"/>
              <a:t>Intuitive approach for problems like tree traversal.</a:t>
            </a:r>
          </a:p>
          <a:p>
            <a:r>
              <a:rPr lang="en-US" sz="2800" dirty="0"/>
              <a:t>Disadvantages:</a:t>
            </a:r>
          </a:p>
          <a:p>
            <a:pPr lvl="1"/>
            <a:r>
              <a:rPr lang="en-US" sz="2400" dirty="0"/>
              <a:t>Higher memory usage due to stack space.</a:t>
            </a:r>
          </a:p>
          <a:p>
            <a:pPr lvl="1"/>
            <a:r>
              <a:rPr lang="en-US" sz="2400" dirty="0"/>
              <a:t>Slower performance compared to iterative solutions for large inputs.</a:t>
            </a:r>
          </a:p>
          <a:p>
            <a:pPr lvl="1"/>
            <a:r>
              <a:rPr lang="en-US" sz="2400" dirty="0"/>
              <a:t>Risk of stack overflow if base case is not properly defined.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7779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Lambda Expressions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Lambda Expressions are small anonymous functions defined using the ‘lambda’ keyword.</a:t>
            </a:r>
          </a:p>
          <a:p>
            <a:pPr algn="just"/>
            <a:r>
              <a:rPr lang="en-US" dirty="0"/>
              <a:t>They can have any number of arguments but only one expression.</a:t>
            </a:r>
          </a:p>
          <a:p>
            <a:pPr algn="just"/>
            <a:r>
              <a:rPr lang="en-US" dirty="0"/>
              <a:t>Commonly used for short operations, especially when a function is only needed temporarily.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98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Syntax of Lambda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Syntax: lambda arguments: expression</a:t>
            </a:r>
          </a:p>
          <a:p>
            <a:r>
              <a:rPr lang="en-IN" dirty="0"/>
              <a:t>Python Code </a:t>
            </a:r>
          </a:p>
          <a:p>
            <a:pPr lvl="1"/>
            <a:r>
              <a:rPr lang="en-IN" dirty="0"/>
              <a:t>add = lambda x, y: x + y</a:t>
            </a:r>
          </a:p>
          <a:p>
            <a:pPr lvl="1"/>
            <a:r>
              <a:rPr lang="en-IN" dirty="0"/>
              <a:t>print(add(5, 3))  # Outputs: 8</a:t>
            </a:r>
          </a:p>
          <a:p>
            <a:r>
              <a:rPr lang="en-US" dirty="0"/>
              <a:t>Explanation: This creates a function add that takes two arguments and returns their sum.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472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Common Uses of Lambda Expressions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5867400"/>
          </a:xfrm>
        </p:spPr>
        <p:txBody>
          <a:bodyPr/>
          <a:lstStyle/>
          <a:p>
            <a:r>
              <a:rPr lang="en-US" dirty="0"/>
              <a:t>Sorting with ‘sorted() ‘or ‘sort()’:</a:t>
            </a:r>
          </a:p>
          <a:p>
            <a:pPr lvl="2"/>
            <a:r>
              <a:rPr lang="en-US" dirty="0"/>
              <a:t>python code</a:t>
            </a:r>
          </a:p>
          <a:p>
            <a:pPr lvl="1"/>
            <a:r>
              <a:rPr lang="en-US" dirty="0" err="1"/>
              <a:t>my_list</a:t>
            </a:r>
            <a:r>
              <a:rPr lang="en-US" dirty="0"/>
              <a:t> = [(1, 'apple'), (2, 'orange'), (3, 'banana')]</a:t>
            </a:r>
          </a:p>
          <a:p>
            <a:pPr lvl="1"/>
            <a:r>
              <a:rPr lang="en-US" dirty="0" err="1"/>
              <a:t>sorted_list</a:t>
            </a:r>
            <a:r>
              <a:rPr lang="en-US" dirty="0"/>
              <a:t> = sorted(</a:t>
            </a:r>
            <a:r>
              <a:rPr lang="en-US" dirty="0" err="1"/>
              <a:t>my_list</a:t>
            </a:r>
            <a:r>
              <a:rPr lang="en-US" dirty="0"/>
              <a:t>, key=lambda x: x[1])</a:t>
            </a:r>
          </a:p>
          <a:p>
            <a:r>
              <a:rPr lang="en-IN" dirty="0"/>
              <a:t>Filtering with ‘filter()’:</a:t>
            </a:r>
          </a:p>
          <a:p>
            <a:pPr lvl="2"/>
            <a:r>
              <a:rPr lang="en-IN" dirty="0"/>
              <a:t>python code</a:t>
            </a:r>
          </a:p>
          <a:p>
            <a:pPr lvl="1"/>
            <a:r>
              <a:rPr lang="en-IN" dirty="0" err="1"/>
              <a:t>nums</a:t>
            </a:r>
            <a:r>
              <a:rPr lang="en-IN" dirty="0"/>
              <a:t> = [1, 2, 3, 4, 5]</a:t>
            </a:r>
          </a:p>
          <a:p>
            <a:pPr lvl="1"/>
            <a:r>
              <a:rPr lang="en-IN" dirty="0" err="1"/>
              <a:t>even_nums</a:t>
            </a:r>
            <a:r>
              <a:rPr lang="en-IN" dirty="0"/>
              <a:t> = list(filter(lambda x: x % 2 == 0, </a:t>
            </a:r>
            <a:r>
              <a:rPr lang="en-IN" dirty="0" err="1"/>
              <a:t>nums</a:t>
            </a:r>
            <a:r>
              <a:rPr lang="en-IN" dirty="0"/>
              <a:t>))</a:t>
            </a:r>
          </a:p>
          <a:p>
            <a:r>
              <a:rPr lang="en-US" dirty="0"/>
              <a:t>Mapping with ‘map()’:</a:t>
            </a:r>
          </a:p>
          <a:p>
            <a:pPr lvl="2"/>
            <a:r>
              <a:rPr lang="en-US" dirty="0"/>
              <a:t>python code</a:t>
            </a:r>
          </a:p>
          <a:p>
            <a:pPr lvl="1"/>
            <a:r>
              <a:rPr lang="en-US" dirty="0"/>
              <a:t>squared = list(map(lambda x: x**2, </a:t>
            </a:r>
            <a:r>
              <a:rPr lang="en-US" dirty="0" err="1"/>
              <a:t>nums</a:t>
            </a:r>
            <a:r>
              <a:rPr lang="en-US" dirty="0"/>
              <a:t>))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922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Lambda Expressions vs Regular Functions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68680"/>
            <a:ext cx="8229600" cy="4525963"/>
          </a:xfrm>
        </p:spPr>
        <p:txBody>
          <a:bodyPr/>
          <a:lstStyle/>
          <a:p>
            <a:pPr algn="just"/>
            <a:r>
              <a:rPr lang="en-US" dirty="0"/>
              <a:t>Lambda Functions:</a:t>
            </a:r>
          </a:p>
          <a:p>
            <a:pPr lvl="1" algn="just"/>
            <a:r>
              <a:rPr lang="en-US" dirty="0"/>
              <a:t>Short and concise.</a:t>
            </a:r>
          </a:p>
          <a:p>
            <a:pPr lvl="1" algn="just"/>
            <a:r>
              <a:rPr lang="en-US" dirty="0"/>
              <a:t>Typically used for single-use functions.</a:t>
            </a:r>
          </a:p>
          <a:p>
            <a:pPr lvl="1" algn="just"/>
            <a:r>
              <a:rPr lang="en-US" dirty="0"/>
              <a:t>Cannot have statements or annotations.</a:t>
            </a:r>
          </a:p>
          <a:p>
            <a:pPr algn="just"/>
            <a:r>
              <a:rPr lang="en-US" dirty="0"/>
              <a:t>Regular Functions:</a:t>
            </a:r>
          </a:p>
          <a:p>
            <a:pPr lvl="1" algn="just"/>
            <a:r>
              <a:rPr lang="en-US" dirty="0"/>
              <a:t>More versatile and readable for complex logic.</a:t>
            </a:r>
          </a:p>
          <a:p>
            <a:pPr lvl="1" algn="just"/>
            <a:r>
              <a:rPr lang="en-US" dirty="0"/>
              <a:t>Can have multiple expressions, statements, and annotations.</a:t>
            </a:r>
          </a:p>
          <a:p>
            <a:pPr lvl="1" algn="just"/>
            <a:r>
              <a:rPr lang="en-US" dirty="0"/>
              <a:t>Preferred for reusable or complex functions.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2531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Can We Combine Recursion and Lambda?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991600" cy="5638800"/>
          </a:xfrm>
        </p:spPr>
        <p:txBody>
          <a:bodyPr/>
          <a:lstStyle/>
          <a:p>
            <a:pPr algn="just"/>
            <a:r>
              <a:rPr lang="en-US" dirty="0"/>
              <a:t>While it is possible, it's not common to use lambda expressions for recursion due to the lack of readability.</a:t>
            </a:r>
          </a:p>
          <a:p>
            <a:pPr algn="just"/>
            <a:r>
              <a:rPr lang="en-US" dirty="0"/>
              <a:t>Example (not recommended for production):</a:t>
            </a:r>
          </a:p>
          <a:p>
            <a:pPr lvl="2" algn="just"/>
            <a:r>
              <a:rPr lang="en-US" dirty="0"/>
              <a:t>Python code</a:t>
            </a:r>
          </a:p>
          <a:p>
            <a:pPr lvl="1" algn="just"/>
            <a:r>
              <a:rPr lang="en-US" dirty="0"/>
              <a:t>factorial = lambda n: 1 if n == 1 else n * factorial(n-1)</a:t>
            </a:r>
          </a:p>
          <a:p>
            <a:pPr lvl="1" algn="just"/>
            <a:r>
              <a:rPr lang="en-US" dirty="0"/>
              <a:t>print(factorial(5))  # Outputs: 120</a:t>
            </a:r>
          </a:p>
          <a:p>
            <a:pPr algn="just"/>
            <a:r>
              <a:rPr lang="en-US" dirty="0"/>
              <a:t>Explanation: Although possible, using named functions is generally preferred for recursion due to clarity.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470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610600" cy="4267200"/>
          </a:xfrm>
        </p:spPr>
        <p:txBody>
          <a:bodyPr/>
          <a:lstStyle/>
          <a:p>
            <a:pPr algn="just"/>
            <a:r>
              <a:rPr lang="en-US" dirty="0"/>
              <a:t>Recursive Functions:</a:t>
            </a:r>
          </a:p>
          <a:p>
            <a:pPr lvl="1" algn="just"/>
            <a:r>
              <a:rPr lang="en-US" dirty="0"/>
              <a:t>Useful for problems with repetitive sub-problems.</a:t>
            </a:r>
          </a:p>
          <a:p>
            <a:pPr lvl="1" algn="just"/>
            <a:r>
              <a:rPr lang="en-US" dirty="0"/>
              <a:t>Base case and recursive case are crucial for proper function execution.</a:t>
            </a:r>
          </a:p>
          <a:p>
            <a:pPr algn="just"/>
            <a:r>
              <a:rPr lang="en-US" dirty="0"/>
              <a:t>Lambda Expressions:</a:t>
            </a:r>
          </a:p>
          <a:p>
            <a:pPr lvl="1" algn="just"/>
            <a:r>
              <a:rPr lang="en-US" dirty="0"/>
              <a:t>Ideal for short, simple functions.</a:t>
            </a:r>
          </a:p>
          <a:p>
            <a:pPr lvl="1" algn="just"/>
            <a:r>
              <a:rPr lang="en-US" dirty="0"/>
              <a:t>Commonly used in conjunction with functions like map(), filter(), and sorted().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4016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</TotalTime>
  <Words>1590</Words>
  <Application>Microsoft Office PowerPoint</Application>
  <PresentationFormat>On-screen Show (4:3)</PresentationFormat>
  <Paragraphs>172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MS PGothic</vt:lpstr>
      <vt:lpstr>Arial</vt:lpstr>
      <vt:lpstr>Calibri</vt:lpstr>
      <vt:lpstr>Office Theme</vt:lpstr>
      <vt:lpstr>PowerPoint Presentation</vt:lpstr>
      <vt:lpstr>Introduction to Argument Passing</vt:lpstr>
      <vt:lpstr>Call by Value Example</vt:lpstr>
      <vt:lpstr>Explanation:</vt:lpstr>
      <vt:lpstr>Call by Value</vt:lpstr>
      <vt:lpstr>Call by Reference</vt:lpstr>
      <vt:lpstr> Call by Reference Example</vt:lpstr>
      <vt:lpstr>Explanation:</vt:lpstr>
      <vt:lpstr>Python's Approach: Call by Object Reference</vt:lpstr>
      <vt:lpstr>Mutable vs Immutable Types</vt:lpstr>
      <vt:lpstr>Examples: Immutable </vt:lpstr>
      <vt:lpstr>Example:Mutable</vt:lpstr>
      <vt:lpstr>Explanation:</vt:lpstr>
      <vt:lpstr>Recursive Functions and Lambda Expressions in Python</vt:lpstr>
      <vt:lpstr>Understanding Recursive Functions</vt:lpstr>
      <vt:lpstr>Example of a Recursive Function: Factorial</vt:lpstr>
      <vt:lpstr>Python Code:</vt:lpstr>
      <vt:lpstr>How Recursion Works</vt:lpstr>
      <vt:lpstr>How Recursion Works</vt:lpstr>
      <vt:lpstr>Common Recursive Algorithms</vt:lpstr>
      <vt:lpstr>Pros and Cons of Recursion</vt:lpstr>
      <vt:lpstr>Lambda Expressions</vt:lpstr>
      <vt:lpstr>Syntax of Lambda Expressions</vt:lpstr>
      <vt:lpstr>Common Uses of Lambda Expressions</vt:lpstr>
      <vt:lpstr>Lambda Expressions vs Regular Functions</vt:lpstr>
      <vt:lpstr>Can We Combine Recursion and Lambda?</vt:lpstr>
      <vt:lpstr>Summary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Vibhu Sharma</cp:lastModifiedBy>
  <cp:revision>1250</cp:revision>
  <dcterms:created xsi:type="dcterms:W3CDTF">2010-04-09T07:36:00Z</dcterms:created>
  <dcterms:modified xsi:type="dcterms:W3CDTF">2025-09-15T04:04:13Z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77C75C994B4C446DB33EAD35C783E0D7_12</vt:lpwstr>
  </property>
  <property fmtid="{D5CDD505-2E9C-101B-9397-08002B2CF9AE}" pid="3" name="KSOProductBuildVer">
    <vt:lpwstr>1033-12.2.0.17153</vt:lpwstr>
  </property>
</Properties>
</file>