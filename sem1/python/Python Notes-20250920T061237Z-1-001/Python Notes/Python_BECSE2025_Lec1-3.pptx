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97" r:id="rId33"/>
    <p:sldId id="296" r:id="rId34"/>
    <p:sldId id="295" r:id="rId35"/>
    <p:sldId id="294" r:id="rId36"/>
    <p:sldId id="293" r:id="rId37"/>
    <p:sldId id="292" r:id="rId38"/>
    <p:sldId id="291" r:id="rId39"/>
    <p:sldId id="290" r:id="rId40"/>
    <p:sldId id="287" r:id="rId41"/>
    <p:sldId id="288" r:id="rId42"/>
    <p:sldId id="289" r:id="rId4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gm702ue+vrj29XwHfREh21CNITQ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5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 name="Google Shape;5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 name="Google Shape;6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 name="Google Shape;6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 name="Google Shape;7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 name="Google Shape;8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 name="Google Shape;8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 name="Google Shape;9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5" name="Google Shape;10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 name="Google Shape;11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3" name="Google Shape;12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7" name="Google Shape;14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3" name="Google Shape;15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 name="Google Shape;16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1" name="Google Shape;201;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7" name="Google Shape;20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3" name="Google Shape;21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9" name="Google Shape;21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5" name="Google Shape;22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1" name="Google Shape;23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7" name="Google Shape;23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3" name="Google Shape;243;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6"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6"/>
          <p:cNvGrpSpPr/>
          <p:nvPr/>
        </p:nvGrpSpPr>
        <p:grpSpPr>
          <a:xfrm>
            <a:off x="6146800" y="0"/>
            <a:ext cx="2997200" cy="876300"/>
            <a:chOff x="6096000" y="3924300"/>
            <a:chExt cx="2997200" cy="876300"/>
          </a:xfrm>
        </p:grpSpPr>
        <p:sp>
          <p:nvSpPr>
            <p:cNvPr id="27" name="Google Shape;2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36"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36"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
        <p:nvSpPr>
          <p:cNvPr id="32" name="Google Shape;32;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33" name="Google Shape;33;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
        <p:nvSpPr>
          <p:cNvPr id="38" name="Google Shape;38;p3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9" name="Google Shape;3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5"/>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35"/>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35"/>
          <p:cNvGrpSpPr/>
          <p:nvPr/>
        </p:nvGrpSpPr>
        <p:grpSpPr>
          <a:xfrm>
            <a:off x="6146800" y="0"/>
            <a:ext cx="2997200" cy="876300"/>
            <a:chOff x="6096000" y="3924300"/>
            <a:chExt cx="2997200" cy="876300"/>
          </a:xfrm>
        </p:grpSpPr>
        <p:sp>
          <p:nvSpPr>
            <p:cNvPr id="20" name="Google Shape;20;p3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35"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3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35"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p:nvPr/>
        </p:nvSpPr>
        <p:spPr>
          <a:xfrm>
            <a:off x="1220969" y="2142309"/>
            <a:ext cx="6702062" cy="1981200"/>
          </a:xfrm>
          <a:prstGeom prst="rect">
            <a:avLst/>
          </a:prstGeom>
          <a:noFill/>
          <a:ln>
            <a:noFill/>
          </a:ln>
        </p:spPr>
        <p:txBody>
          <a:bodyPr spcFirstLastPara="1" wrap="square" lIns="91425" tIns="33100" rIns="91425" bIns="45700" anchor="ctr" anchorCtr="0">
            <a:noAutofit/>
          </a:bodyPr>
          <a:lstStyle/>
          <a:p>
            <a:pPr lvl="0" algn="ctr"/>
            <a:r>
              <a:rPr lang="en-US" sz="1800" b="1" dirty="0">
                <a:latin typeface="Times New Roman" panose="02020603050405020304" pitchFamily="18" charset="0"/>
                <a:cs typeface="Times New Roman" panose="02020603050405020304" pitchFamily="18" charset="0"/>
              </a:rPr>
              <a:t>Problem Solving using Python Programming ( 24CSE0101 )</a:t>
            </a:r>
            <a:endParaRPr sz="4000" b="1" dirty="0">
              <a:solidFill>
                <a:srgbClr val="002060"/>
              </a:solidFill>
              <a:latin typeface="Times New Roman" panose="02020603050405020304" pitchFamily="18" charset="0"/>
              <a:ea typeface="Calibri"/>
              <a:cs typeface="Times New Roman" panose="02020603050405020304" pitchFamily="18" charset="0"/>
              <a:sym typeface="Calibri"/>
            </a:endParaRPr>
          </a:p>
        </p:txBody>
      </p:sp>
      <p:sp>
        <p:nvSpPr>
          <p:cNvPr id="48" name="Google Shape;48;p1"/>
          <p:cNvSpPr txBox="1"/>
          <p:nvPr/>
        </p:nvSpPr>
        <p:spPr>
          <a:xfrm>
            <a:off x="1770017" y="5760720"/>
            <a:ext cx="6151245" cy="6451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rgbClr val="FF0000"/>
                </a:solidFill>
                <a:latin typeface="Arial"/>
                <a:ea typeface="Arial"/>
                <a:cs typeface="Arial"/>
                <a:sym typeface="Arial"/>
              </a:rPr>
              <a:t>Chitkara University Institute of Engineering and Technology,</a:t>
            </a:r>
            <a:endParaRPr sz="1800" dirty="0">
              <a:solidFill>
                <a:srgbClr val="FF0000"/>
              </a:solidFill>
              <a:latin typeface="Arial"/>
              <a:ea typeface="Arial"/>
              <a:cs typeface="Arial"/>
              <a:sym typeface="Arial"/>
            </a:endParaRPr>
          </a:p>
          <a:p>
            <a:pPr marL="0" marR="0" lvl="0" indent="0" algn="ctr" rtl="0">
              <a:spcBef>
                <a:spcPts val="0"/>
              </a:spcBef>
              <a:spcAft>
                <a:spcPts val="0"/>
              </a:spcAft>
              <a:buNone/>
            </a:pPr>
            <a:r>
              <a:rPr lang="en-US" sz="1800" dirty="0">
                <a:solidFill>
                  <a:srgbClr val="FF0000"/>
                </a:solidFill>
                <a:latin typeface="Arial"/>
                <a:ea typeface="Arial"/>
                <a:cs typeface="Arial"/>
                <a:sym typeface="Arial"/>
              </a:rPr>
              <a:t>Chitkara University, Punjab</a:t>
            </a:r>
            <a:endParaRPr sz="1800" dirty="0">
              <a:solidFill>
                <a:srgbClr val="FF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Topics Covered</a:t>
            </a:r>
            <a:endParaRPr>
              <a:latin typeface="Times New Roman"/>
              <a:ea typeface="Times New Roman"/>
              <a:cs typeface="Times New Roman"/>
              <a:sym typeface="Times New Roman"/>
            </a:endParaRPr>
          </a:p>
        </p:txBody>
      </p:sp>
      <p:sp>
        <p:nvSpPr>
          <p:cNvPr id="54" name="Google Shape;54;p2"/>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a:latin typeface="Times New Roman"/>
                <a:ea typeface="Times New Roman"/>
                <a:cs typeface="Times New Roman"/>
                <a:sym typeface="Times New Roman"/>
              </a:rPr>
              <a:t>Introduction to Python programming</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 Python environment setup, </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identifiers, reserved words ,lines and indentation, multiline statements, comments, quotation, input/output, output formatting(Integers and string). </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Fundamentals: Variables(simple, assigning multiple values, output variables, global/local variables)</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Introduction to Python programming</a:t>
            </a:r>
            <a:endParaRPr sz="3200">
              <a:latin typeface="Times New Roman"/>
              <a:ea typeface="Times New Roman"/>
              <a:cs typeface="Times New Roman"/>
              <a:sym typeface="Times New Roman"/>
            </a:endParaRPr>
          </a:p>
        </p:txBody>
      </p:sp>
      <p:sp>
        <p:nvSpPr>
          <p:cNvPr id="60" name="Google Shape;60;p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400"/>
              <a:buNone/>
            </a:pPr>
            <a:r>
              <a:rPr lang="en-US" sz="2400" b="1">
                <a:latin typeface="Times New Roman"/>
                <a:ea typeface="Times New Roman"/>
                <a:cs typeface="Times New Roman"/>
                <a:sym typeface="Times New Roman"/>
              </a:rPr>
              <a:t>What is Python?</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High-Level Language:</a:t>
            </a:r>
            <a:r>
              <a:rPr lang="en-US" sz="2400">
                <a:latin typeface="Times New Roman"/>
                <a:ea typeface="Times New Roman"/>
                <a:cs typeface="Times New Roman"/>
                <a:sym typeface="Times New Roman"/>
              </a:rPr>
              <a:t> Python is a high-level, interpreted programming language. It is designed to be easy to read and write, making it an excellent choice for beginners and professionals alike.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Versatile:</a:t>
            </a:r>
            <a:r>
              <a:rPr lang="en-US" sz="2400">
                <a:latin typeface="Times New Roman"/>
                <a:ea typeface="Times New Roman"/>
                <a:cs typeface="Times New Roman"/>
                <a:sym typeface="Times New Roman"/>
              </a:rPr>
              <a:t> Python is used in a wide range of applications, including web development, data analysis, artificial intelligence, scientific computing, automation, and more.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Interpreted Language: </a:t>
            </a:r>
            <a:r>
              <a:rPr lang="en-US" sz="2400">
                <a:latin typeface="Times New Roman"/>
                <a:ea typeface="Times New Roman"/>
                <a:cs typeface="Times New Roman"/>
                <a:sym typeface="Times New Roman"/>
              </a:rPr>
              <a:t>Unlike compiled languages like C or Java, Python is an interpreted language. This means that Python code is executed line-by-line, making it easier to debug and test.</a:t>
            </a:r>
            <a:endParaRPr sz="2400">
              <a:latin typeface="Times New Roman"/>
              <a:ea typeface="Times New Roman"/>
              <a:cs typeface="Times New Roman"/>
              <a:sym typeface="Times New Roman"/>
            </a:endParaRPr>
          </a:p>
          <a:p>
            <a:pPr marL="342900" lvl="0" indent="-190500" algn="just" rtl="0">
              <a:spcBef>
                <a:spcPts val="480"/>
              </a:spcBef>
              <a:spcAft>
                <a:spcPts val="0"/>
              </a:spcAft>
              <a:buClr>
                <a:schemeClr val="dk1"/>
              </a:buClr>
              <a:buSzPts val="2400"/>
              <a:buNone/>
            </a:pPr>
            <a:endParaRPr sz="2400">
              <a:latin typeface="Times New Roman"/>
              <a:ea typeface="Times New Roman"/>
              <a:cs typeface="Times New Roman"/>
              <a:sym typeface="Times New Roman"/>
            </a:endParaRPr>
          </a:p>
          <a:p>
            <a:pPr marL="342900" lvl="0" indent="-190500" algn="just" rtl="0">
              <a:spcBef>
                <a:spcPts val="480"/>
              </a:spcBef>
              <a:spcAft>
                <a:spcPts val="0"/>
              </a:spcAft>
              <a:buClr>
                <a:schemeClr val="dk1"/>
              </a:buClr>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latin typeface="Times New Roman"/>
                <a:ea typeface="Times New Roman"/>
                <a:cs typeface="Times New Roman"/>
                <a:sym typeface="Times New Roman"/>
              </a:rPr>
              <a:t>History:</a:t>
            </a:r>
            <a:endParaRPr sz="3200">
              <a:latin typeface="Times New Roman"/>
              <a:ea typeface="Times New Roman"/>
              <a:cs typeface="Times New Roman"/>
              <a:sym typeface="Times New Roman"/>
            </a:endParaRPr>
          </a:p>
        </p:txBody>
      </p:sp>
      <p:sp>
        <p:nvSpPr>
          <p:cNvPr id="66" name="Google Shape;66;p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Char char="•"/>
            </a:pPr>
            <a:r>
              <a:rPr lang="en-US" sz="2800">
                <a:latin typeface="Times New Roman"/>
                <a:ea typeface="Times New Roman"/>
                <a:cs typeface="Times New Roman"/>
                <a:sym typeface="Times New Roman"/>
              </a:rPr>
              <a:t>Created by Guido van Rossum: Python was created in the late 1980s and first released in 1991. It was designed to emphasize code readability and simplicity.</a:t>
            </a:r>
            <a:endParaRPr sz="2800">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Growth and Popularity: Over the years, Python has become one of the most popular programming languages in the world. Its simplicity and the vast range of libraries and frameworks available have contributed to its widespread adoption.</a:t>
            </a:r>
            <a:endParaRPr sz="2800">
              <a:latin typeface="Times New Roman"/>
              <a:ea typeface="Times New Roman"/>
              <a:cs typeface="Times New Roman"/>
              <a:sym typeface="Times New Roman"/>
            </a:endParaRPr>
          </a:p>
          <a:p>
            <a:pPr marL="342900" lvl="0" indent="-165100" algn="just" rtl="0">
              <a:spcBef>
                <a:spcPts val="560"/>
              </a:spcBef>
              <a:spcAft>
                <a:spcPts val="0"/>
              </a:spcAft>
              <a:buClr>
                <a:schemeClr val="dk1"/>
              </a:buClr>
              <a:buSzPts val="2800"/>
              <a:buNone/>
            </a:pPr>
            <a:endParaRPr sz="2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latin typeface="Times New Roman"/>
                <a:ea typeface="Times New Roman"/>
                <a:cs typeface="Times New Roman"/>
                <a:sym typeface="Times New Roman"/>
              </a:rPr>
              <a:t>Key Features of Python</a:t>
            </a:r>
            <a:endParaRPr sz="3200" b="1">
              <a:latin typeface="Times New Roman"/>
              <a:ea typeface="Times New Roman"/>
              <a:cs typeface="Times New Roman"/>
              <a:sym typeface="Times New Roman"/>
            </a:endParaRPr>
          </a:p>
        </p:txBody>
      </p:sp>
      <p:sp>
        <p:nvSpPr>
          <p:cNvPr id="72" name="Google Shape;72;p5"/>
          <p:cNvSpPr txBox="1">
            <a:spLocks noGrp="1"/>
          </p:cNvSpPr>
          <p:nvPr>
            <p:ph type="body" idx="1"/>
          </p:nvPr>
        </p:nvSpPr>
        <p:spPr>
          <a:xfrm>
            <a:off x="457190" y="838210"/>
            <a:ext cx="8229600" cy="56730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Easy to Learn and Use:</a:t>
            </a:r>
            <a:r>
              <a:rPr lang="en-US" sz="2000">
                <a:latin typeface="Times New Roman"/>
                <a:ea typeface="Times New Roman"/>
                <a:cs typeface="Times New Roman"/>
                <a:sym typeface="Times New Roman"/>
              </a:rPr>
              <a:t> Python's syntax is straightforward, making it an ideal language for beginners. Its code is often described as being close to pseudocode, which means it’s easy to understand and write.</a:t>
            </a: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Extensive Libraries and Frameworks: </a:t>
            </a:r>
            <a:r>
              <a:rPr lang="en-US" sz="2000">
                <a:latin typeface="Times New Roman"/>
                <a:ea typeface="Times New Roman"/>
                <a:cs typeface="Times New Roman"/>
                <a:sym typeface="Times New Roman"/>
              </a:rPr>
              <a:t>Python comes with a rich set of libraries and frameworks that can be used to perform various tasks, from data analysis (Pandas, NumPy) to web development (Django, Flask) and machine learning (TensorFlow, Scikit-learn).</a:t>
            </a: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Cross-Platform:</a:t>
            </a:r>
            <a:r>
              <a:rPr lang="en-US" sz="2000">
                <a:latin typeface="Times New Roman"/>
                <a:ea typeface="Times New Roman"/>
                <a:cs typeface="Times New Roman"/>
                <a:sym typeface="Times New Roman"/>
              </a:rPr>
              <a:t> Python is cross-platform, meaning it can run on different operating systems like Windows, macOS, and Linux without modification.</a:t>
            </a: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78" name="Google Shape;78;p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Open Source: </a:t>
            </a:r>
            <a:r>
              <a:rPr lang="en-US" sz="2000">
                <a:latin typeface="Times New Roman"/>
                <a:ea typeface="Times New Roman"/>
                <a:cs typeface="Times New Roman"/>
                <a:sym typeface="Times New Roman"/>
              </a:rPr>
              <a:t>Python is open-source software, which means it’s free to use, and its source code is available for anyone to inspect, modify, and enhance.</a:t>
            </a: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Dynamic Typing:</a:t>
            </a:r>
            <a:r>
              <a:rPr lang="en-US" sz="2000">
                <a:latin typeface="Times New Roman"/>
                <a:ea typeface="Times New Roman"/>
                <a:cs typeface="Times New Roman"/>
                <a:sym typeface="Times New Roman"/>
              </a:rPr>
              <a:t> Python is dynamically typed, meaning you don’t need to declare the type of a variable. The type is inferred at runtime, which makes coding faster and more flexible.</a:t>
            </a:r>
            <a:endParaRPr sz="2000">
              <a:latin typeface="Times New Roman"/>
              <a:ea typeface="Times New Roman"/>
              <a:cs typeface="Times New Roman"/>
              <a:sym typeface="Times New Roman"/>
            </a:endParaRPr>
          </a:p>
          <a:p>
            <a:pPr marL="342900" lvl="0" indent="-215900" algn="l" rtl="0">
              <a:spcBef>
                <a:spcPts val="400"/>
              </a:spcBef>
              <a:spcAft>
                <a:spcPts val="0"/>
              </a:spcAft>
              <a:buClr>
                <a:schemeClr val="dk1"/>
              </a:buClr>
              <a:buSzPts val="2000"/>
              <a:buNone/>
            </a:pP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Identifiers in Python</a:t>
            </a:r>
            <a:endParaRPr sz="3600" b="1"/>
          </a:p>
        </p:txBody>
      </p:sp>
      <p:sp>
        <p:nvSpPr>
          <p:cNvPr id="84" name="Google Shape;84;p7"/>
          <p:cNvSpPr txBox="1">
            <a:spLocks noGrp="1"/>
          </p:cNvSpPr>
          <p:nvPr>
            <p:ph type="body" idx="1"/>
          </p:nvPr>
        </p:nvSpPr>
        <p:spPr>
          <a:xfrm>
            <a:off x="457200" y="1105535"/>
            <a:ext cx="8229600" cy="479234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400"/>
              <a:buNone/>
            </a:pPr>
            <a:r>
              <a:rPr lang="en-US" sz="2400" b="1">
                <a:latin typeface="Times New Roman"/>
                <a:ea typeface="Times New Roman"/>
                <a:cs typeface="Times New Roman"/>
                <a:sym typeface="Times New Roman"/>
              </a:rPr>
              <a:t> What are Identifiers?</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Definition:</a:t>
            </a:r>
            <a:r>
              <a:rPr lang="en-US" sz="2400">
                <a:latin typeface="Times New Roman"/>
                <a:ea typeface="Times New Roman"/>
                <a:cs typeface="Times New Roman"/>
                <a:sym typeface="Times New Roman"/>
              </a:rPr>
              <a:t> Identifiers are the names given to various programming elements in Python, such as variables, functions, classes, and modules. Essentially, identifiers are the labels you use to refer to different pieces of data and functions within your program.</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0" lvl="0" indent="45720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Imagine you’re in a classroom and need to call on a student. Each student has a name, which you use to identify them. Similarly, in Python, identifiers are the names we give to variables and functions to identify them.</a:t>
            </a: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Identifiers......</a:t>
            </a:r>
            <a:endParaRPr sz="3600" b="1">
              <a:latin typeface="Times New Roman"/>
              <a:ea typeface="Times New Roman"/>
              <a:cs typeface="Times New Roman"/>
              <a:sym typeface="Times New Roman"/>
            </a:endParaRPr>
          </a:p>
        </p:txBody>
      </p:sp>
      <p:sp>
        <p:nvSpPr>
          <p:cNvPr id="90" name="Google Shape;90;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400"/>
              <a:buNone/>
            </a:pPr>
            <a:r>
              <a:rPr lang="en-US" sz="2400" b="1">
                <a:latin typeface="Times New Roman"/>
                <a:ea typeface="Times New Roman"/>
                <a:cs typeface="Times New Roman"/>
                <a:sym typeface="Times New Roman"/>
              </a:rPr>
              <a:t>2. Rules for Naming Identifiers:</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Start with a Letter or Underscore (_):</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Identifiers must begin with a letter (a-z, A-Z) or an underscore (_). They cannot start with a digit.</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 myVariable, _temp, student1.</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Contain Letters, Digits, and Underscores: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After the first character, identifiers can include letters, digits (0-9), and underscores.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 total_amount, counter123.</a:t>
            </a:r>
            <a:endParaRPr sz="2400">
              <a:latin typeface="Times New Roman"/>
              <a:ea typeface="Times New Roman"/>
              <a:cs typeface="Times New Roman"/>
              <a:sym typeface="Times New Roman"/>
            </a:endParaRPr>
          </a:p>
          <a:p>
            <a:pPr marL="342900" lvl="0" indent="-190500" algn="just" rtl="0">
              <a:spcBef>
                <a:spcPts val="480"/>
              </a:spcBef>
              <a:spcAft>
                <a:spcPts val="0"/>
              </a:spcAft>
              <a:buClr>
                <a:schemeClr val="dk1"/>
              </a:buClr>
              <a:buSzPts val="2400"/>
              <a:buNone/>
            </a:pP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Identifiers......</a:t>
            </a:r>
            <a:endParaRPr sz="3600" b="1"/>
          </a:p>
        </p:txBody>
      </p:sp>
      <p:sp>
        <p:nvSpPr>
          <p:cNvPr id="96" name="Google Shape;96;p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sz="2800" b="1">
                <a:latin typeface="Times New Roman"/>
                <a:ea typeface="Times New Roman"/>
                <a:cs typeface="Times New Roman"/>
                <a:sym typeface="Times New Roman"/>
              </a:rPr>
              <a:t>Case Sensitivity:</a:t>
            </a:r>
            <a:endParaRPr sz="2800" b="1">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Python identifiers are case-sensitive, which means Variable and variable would be considered two different identifiers.</a:t>
            </a: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Example: Score, score, and SCORE are all distinct in Python.</a:t>
            </a: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No Spaces or Special Characters:</a:t>
            </a:r>
            <a:endParaRPr sz="2800" b="1">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Identifiers cannot include spaces or special characters like @, #, $, etc.</a:t>
            </a: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Example: userName is correct, but user Name or user@Name would result in errors.</a:t>
            </a:r>
            <a:endParaRPr sz="2800">
              <a:latin typeface="Times New Roman"/>
              <a:ea typeface="Times New Roman"/>
              <a:cs typeface="Times New Roman"/>
              <a:sym typeface="Times New Roman"/>
            </a:endParaRPr>
          </a:p>
          <a:p>
            <a:pPr marL="342900" lvl="0" indent="-165100" algn="l" rtl="0">
              <a:spcBef>
                <a:spcPts val="560"/>
              </a:spcBef>
              <a:spcAft>
                <a:spcPts val="0"/>
              </a:spcAft>
              <a:buClr>
                <a:schemeClr val="dk1"/>
              </a:buClr>
              <a:buSzPts val="2800"/>
              <a:buNone/>
            </a:pPr>
            <a:endParaRPr sz="2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Identifiers......</a:t>
            </a:r>
            <a:endParaRPr sz="3600"/>
          </a:p>
        </p:txBody>
      </p:sp>
      <p:sp>
        <p:nvSpPr>
          <p:cNvPr id="102" name="Google Shape;102;p1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US" b="1">
                <a:latin typeface="Times New Roman"/>
                <a:ea typeface="Times New Roman"/>
                <a:cs typeface="Times New Roman"/>
                <a:sym typeface="Times New Roman"/>
              </a:rPr>
              <a:t>No Use of Reserved Words:</a:t>
            </a:r>
            <a:endParaRPr b="1">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Python’s reserved words (keywords) cannot be used as identifiers. These words have special meanings in Python.</a:t>
            </a:r>
            <a:endParaRPr>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 if, for, while, etc., cannot be used as variable names.</a:t>
            </a: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Reserved Words in Python(Keywords)</a:t>
            </a:r>
            <a:endParaRPr b="1"/>
          </a:p>
        </p:txBody>
      </p:sp>
      <p:sp>
        <p:nvSpPr>
          <p:cNvPr id="108" name="Google Shape;108;p11"/>
          <p:cNvSpPr txBox="1">
            <a:spLocks noGrp="1"/>
          </p:cNvSpPr>
          <p:nvPr>
            <p:ph type="body" idx="1"/>
          </p:nvPr>
        </p:nvSpPr>
        <p:spPr>
          <a:xfrm>
            <a:off x="457200" y="983615"/>
            <a:ext cx="8229600" cy="491426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None/>
            </a:pPr>
            <a:r>
              <a:rPr lang="en-US" sz="2800" b="1">
                <a:latin typeface="Times New Roman"/>
                <a:ea typeface="Times New Roman"/>
                <a:cs typeface="Times New Roman"/>
                <a:sym typeface="Times New Roman"/>
              </a:rPr>
              <a:t>What are Reserved Words?</a:t>
            </a:r>
            <a:endParaRPr sz="2800" b="1">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Definition: Reserved words, also known as keywords, are special words that Python has reserved for specific functions and commands. These words are part of the language syntax and hold particular significance.</a:t>
            </a: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Example:</a:t>
            </a:r>
            <a:endParaRPr sz="2800" b="1">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Think of reserved words as the traffic signs in programming. Just as traffic signs have specific meanings that you must follow, reserved words in Python have predefined meanings and are used to control the flow of the program.</a:t>
            </a:r>
            <a:endParaRPr sz="2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Keywords.....</a:t>
            </a:r>
            <a:endParaRPr sz="3600" b="1">
              <a:latin typeface="Times New Roman"/>
              <a:ea typeface="Times New Roman"/>
              <a:cs typeface="Times New Roman"/>
              <a:sym typeface="Times New Roman"/>
            </a:endParaRPr>
          </a:p>
        </p:txBody>
      </p:sp>
      <p:sp>
        <p:nvSpPr>
          <p:cNvPr id="114" name="Google Shape;114;p12"/>
          <p:cNvSpPr txBox="1">
            <a:spLocks noGrp="1"/>
          </p:cNvSpPr>
          <p:nvPr>
            <p:ph type="body" idx="1"/>
          </p:nvPr>
        </p:nvSpPr>
        <p:spPr>
          <a:xfrm>
            <a:off x="457200" y="1371600"/>
            <a:ext cx="8229600" cy="52641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2. Common Reserved Words: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Control Flow:</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if, else, elif - Used for conditional statements.</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for, while - Used for loops.</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break, continue, pass - Used to control loop execution.</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Data Types:</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True, False, None - Special constants representing boolean values and a null value.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Keywords.....</a:t>
            </a:r>
            <a:endParaRPr/>
          </a:p>
        </p:txBody>
      </p:sp>
      <p:sp>
        <p:nvSpPr>
          <p:cNvPr id="120" name="Google Shape;120;p13"/>
          <p:cNvSpPr txBox="1">
            <a:spLocks noGrp="1"/>
          </p:cNvSpPr>
          <p:nvPr>
            <p:ph type="body" idx="1"/>
          </p:nvPr>
        </p:nvSpPr>
        <p:spPr>
          <a:xfrm>
            <a:off x="457200" y="932815"/>
            <a:ext cx="8229600" cy="496506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latin typeface="Times New Roman"/>
                <a:ea typeface="Times New Roman"/>
                <a:cs typeface="Times New Roman"/>
                <a:sym typeface="Times New Roman"/>
              </a:rPr>
              <a:t>Function Definition:</a:t>
            </a:r>
            <a:endParaRPr b="1">
              <a:latin typeface="Times New Roman"/>
              <a:ea typeface="Times New Roman"/>
              <a:cs typeface="Times New Roman"/>
              <a:sym typeface="Times New Roman"/>
            </a:endParaRPr>
          </a:p>
          <a:p>
            <a:pPr marL="0" lvl="0" indent="457200" algn="just" rtl="0">
              <a:spcBef>
                <a:spcPts val="640"/>
              </a:spcBef>
              <a:spcAft>
                <a:spcPts val="0"/>
              </a:spcAft>
              <a:buClr>
                <a:schemeClr val="dk1"/>
              </a:buClr>
              <a:buSzPts val="3200"/>
              <a:buNone/>
            </a:pPr>
            <a:r>
              <a:rPr lang="en-US">
                <a:latin typeface="Times New Roman"/>
                <a:ea typeface="Times New Roman"/>
                <a:cs typeface="Times New Roman"/>
                <a:sym typeface="Times New Roman"/>
              </a:rPr>
              <a:t>def, return - Used to define functions and return values from them.</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Class and Module Definition:</a:t>
            </a:r>
            <a:endParaRPr b="1">
              <a:latin typeface="Times New Roman"/>
              <a:ea typeface="Times New Roman"/>
              <a:cs typeface="Times New Roman"/>
              <a:sym typeface="Times New Roman"/>
            </a:endParaRPr>
          </a:p>
          <a:p>
            <a:pPr marL="0" lvl="0" indent="457200" algn="just" rtl="0">
              <a:spcBef>
                <a:spcPts val="640"/>
              </a:spcBef>
              <a:spcAft>
                <a:spcPts val="0"/>
              </a:spcAft>
              <a:buClr>
                <a:schemeClr val="dk1"/>
              </a:buClr>
              <a:buSzPts val="3200"/>
              <a:buNone/>
            </a:pPr>
            <a:r>
              <a:rPr lang="en-US">
                <a:latin typeface="Times New Roman"/>
                <a:ea typeface="Times New Roman"/>
                <a:cs typeface="Times New Roman"/>
                <a:sym typeface="Times New Roman"/>
              </a:rPr>
              <a:t>class, import, from - Used for object-oriented programming and importing modules.</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Example:</a:t>
            </a:r>
            <a:endParaRPr b="1">
              <a:latin typeface="Times New Roman"/>
              <a:ea typeface="Times New Roman"/>
              <a:cs typeface="Times New Roman"/>
              <a:sym typeface="Times New Roman"/>
            </a:endParaRPr>
          </a:p>
          <a:p>
            <a:pPr marL="0" lvl="0" indent="457200" algn="just" rtl="0">
              <a:spcBef>
                <a:spcPts val="640"/>
              </a:spcBef>
              <a:spcAft>
                <a:spcPts val="0"/>
              </a:spcAft>
              <a:buClr>
                <a:schemeClr val="dk1"/>
              </a:buClr>
              <a:buSzPts val="3200"/>
              <a:buNone/>
            </a:pPr>
            <a:r>
              <a:rPr lang="en-US">
                <a:latin typeface="Times New Roman"/>
                <a:ea typeface="Times New Roman"/>
                <a:cs typeface="Times New Roman"/>
                <a:sym typeface="Times New Roman"/>
              </a:rPr>
              <a:t>if, for, True, None, return, and import are all reserved words and cannot be used as identifiers.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Keywords.....</a:t>
            </a:r>
            <a:endParaRPr sz="3600"/>
          </a:p>
        </p:txBody>
      </p:sp>
      <p:sp>
        <p:nvSpPr>
          <p:cNvPr id="126" name="Google Shape;126;p1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How to View Reserved Words: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In Python:</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You can view all reserved words by importing the keyword module and using print(keyword.kwlist). This will list all the keywords that are reserved in Python.</a:t>
            </a: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latin typeface="Times New Roman"/>
                <a:ea typeface="Times New Roman"/>
                <a:cs typeface="Times New Roman"/>
                <a:sym typeface="Times New Roman"/>
              </a:rPr>
              <a:t>Lines and Indentation in Python</a:t>
            </a:r>
            <a:endParaRPr sz="3600">
              <a:latin typeface="Times New Roman"/>
              <a:ea typeface="Times New Roman"/>
              <a:cs typeface="Times New Roman"/>
              <a:sym typeface="Times New Roman"/>
            </a:endParaRPr>
          </a:p>
        </p:txBody>
      </p:sp>
      <p:sp>
        <p:nvSpPr>
          <p:cNvPr id="132" name="Google Shape;132;p15"/>
          <p:cNvSpPr txBox="1">
            <a:spLocks noGrp="1"/>
          </p:cNvSpPr>
          <p:nvPr>
            <p:ph type="body" idx="1"/>
          </p:nvPr>
        </p:nvSpPr>
        <p:spPr>
          <a:xfrm>
            <a:off x="304800" y="907415"/>
            <a:ext cx="8587105" cy="499046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800"/>
              <a:buNone/>
            </a:pPr>
            <a:r>
              <a:rPr lang="en-US" sz="2800" b="1">
                <a:latin typeface="Times New Roman"/>
                <a:ea typeface="Times New Roman"/>
                <a:cs typeface="Times New Roman"/>
                <a:sym typeface="Times New Roman"/>
              </a:rPr>
              <a:t>1. Importance of Indentation:</a:t>
            </a:r>
            <a:endParaRPr sz="2800" b="1">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Role in Python:</a:t>
            </a:r>
            <a:endParaRPr sz="2800">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In many programming languages, blocks of code (like those within if statements or loops) are defined using braces {}. However, Python uses indentation to define these blocks. Indentation refers to the spaces at the beginning of a line that signal the start of a new block of code.</a:t>
            </a:r>
            <a:endParaRPr sz="2800">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Example:</a:t>
            </a:r>
            <a:endParaRPr sz="2800" b="1">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If you imagine each block of code as a paragraph in a book, the indentation is like the space at the beginning of each paragraph that helps you see where one thought ends and another begins.</a:t>
            </a:r>
            <a:endParaRPr sz="2800"/>
          </a:p>
          <a:p>
            <a:pPr marL="342900" lvl="0" indent="-165100" algn="just" rtl="0">
              <a:spcBef>
                <a:spcPts val="560"/>
              </a:spcBef>
              <a:spcAft>
                <a:spcPts val="0"/>
              </a:spcAft>
              <a:buClr>
                <a:schemeClr val="dk1"/>
              </a:buClr>
              <a:buSzPts val="2800"/>
              <a:buNone/>
            </a:pPr>
            <a:endParaRPr sz="2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Lines and Indentation in Python...</a:t>
            </a:r>
            <a:endParaRPr sz="3200"/>
          </a:p>
        </p:txBody>
      </p:sp>
      <p:sp>
        <p:nvSpPr>
          <p:cNvPr id="138" name="Google Shape;138;p16"/>
          <p:cNvSpPr txBox="1">
            <a:spLocks noGrp="1"/>
          </p:cNvSpPr>
          <p:nvPr>
            <p:ph type="body" idx="1"/>
          </p:nvPr>
        </p:nvSpPr>
        <p:spPr>
          <a:xfrm>
            <a:off x="457200" y="1021080"/>
            <a:ext cx="8229600" cy="48768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800"/>
              <a:buNone/>
            </a:pPr>
            <a:r>
              <a:rPr lang="en-US" sz="2800" b="1">
                <a:latin typeface="Times New Roman"/>
                <a:ea typeface="Times New Roman"/>
                <a:cs typeface="Times New Roman"/>
                <a:sym typeface="Times New Roman"/>
              </a:rPr>
              <a:t>2. Rules for Indentation:</a:t>
            </a:r>
            <a:endParaRPr sz="2800" b="1">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Consistency is Key:</a:t>
            </a:r>
            <a:endParaRPr sz="2800" b="1">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Python requires that all the lines within a block of code have the same level of indentation. Typically, an indentation of 4 spaces is recommended, though some people prefer using a single tab.</a:t>
            </a:r>
            <a:endParaRPr sz="2800">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Indentation Error:</a:t>
            </a:r>
            <a:endParaRPr sz="2800" b="1">
              <a:latin typeface="Times New Roman"/>
              <a:ea typeface="Times New Roman"/>
              <a:cs typeface="Times New Roman"/>
              <a:sym typeface="Times New Roman"/>
            </a:endParaRPr>
          </a:p>
          <a:p>
            <a:pPr marL="342900" lvl="0" indent="-342900" algn="just" rtl="0">
              <a:spcBef>
                <a:spcPts val="560"/>
              </a:spcBef>
              <a:spcAft>
                <a:spcPts val="0"/>
              </a:spcAft>
              <a:buClr>
                <a:schemeClr val="dk1"/>
              </a:buClr>
              <a:buSzPts val="2800"/>
              <a:buChar char="•"/>
            </a:pPr>
            <a:r>
              <a:rPr lang="en-US" sz="2800">
                <a:latin typeface="Times New Roman"/>
                <a:ea typeface="Times New Roman"/>
                <a:cs typeface="Times New Roman"/>
                <a:sym typeface="Times New Roman"/>
              </a:rPr>
              <a:t>If the indentation is inconsistent, Python will raise an IndentationError. This is like writing a paragraph with some lines starting in the middle of the page—it's confusing and doesn't follow the structure.</a:t>
            </a:r>
            <a:endParaRPr sz="2800">
              <a:latin typeface="Times New Roman"/>
              <a:ea typeface="Times New Roman"/>
              <a:cs typeface="Times New Roman"/>
              <a:sym typeface="Times New Roman"/>
            </a:endParaRPr>
          </a:p>
          <a:p>
            <a:pPr marL="342900" lvl="0" indent="-165100" algn="just" rtl="0">
              <a:spcBef>
                <a:spcPts val="560"/>
              </a:spcBef>
              <a:spcAft>
                <a:spcPts val="0"/>
              </a:spcAft>
              <a:buClr>
                <a:schemeClr val="dk1"/>
              </a:buClr>
              <a:buSzPts val="2800"/>
              <a:buNone/>
            </a:pP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Lines and Indentation in Python...</a:t>
            </a:r>
            <a:endParaRPr sz="3200"/>
          </a:p>
        </p:txBody>
      </p:sp>
      <p:sp>
        <p:nvSpPr>
          <p:cNvPr id="144" name="Google Shape;144;p17"/>
          <p:cNvSpPr txBox="1">
            <a:spLocks noGrp="1"/>
          </p:cNvSpPr>
          <p:nvPr>
            <p:ph type="body" idx="1"/>
          </p:nvPr>
        </p:nvSpPr>
        <p:spPr>
          <a:xfrm>
            <a:off x="457200" y="969645"/>
            <a:ext cx="8229600" cy="492823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Char char="•"/>
            </a:pPr>
            <a:r>
              <a:rPr lang="en-US" sz="2800" b="1">
                <a:latin typeface="Times New Roman"/>
                <a:ea typeface="Times New Roman"/>
                <a:cs typeface="Times New Roman"/>
                <a:sym typeface="Times New Roman"/>
              </a:rPr>
              <a:t>Nested Blocks:</a:t>
            </a:r>
            <a:endParaRPr sz="2800" b="1">
              <a:latin typeface="Times New Roman"/>
              <a:ea typeface="Times New Roman"/>
              <a:cs typeface="Times New Roman"/>
              <a:sym typeface="Times New Roman"/>
            </a:endParaRPr>
          </a:p>
          <a:p>
            <a:pPr marL="0" lvl="0" indent="0" algn="just" rtl="0">
              <a:spcBef>
                <a:spcPts val="560"/>
              </a:spcBef>
              <a:spcAft>
                <a:spcPts val="0"/>
              </a:spcAft>
              <a:buClr>
                <a:schemeClr val="dk1"/>
              </a:buClr>
              <a:buSzPts val="2800"/>
              <a:buNone/>
            </a:pPr>
            <a:r>
              <a:rPr lang="en-US" sz="2800">
                <a:latin typeface="Times New Roman"/>
                <a:ea typeface="Times New Roman"/>
                <a:cs typeface="Times New Roman"/>
                <a:sym typeface="Times New Roman"/>
              </a:rPr>
              <a:t>When you have blocks within blocks (like a loop inside an if statement), each level must be indented further.</a:t>
            </a:r>
            <a:endParaRPr sz="2800">
              <a:latin typeface="Times New Roman"/>
              <a:ea typeface="Times New Roman"/>
              <a:cs typeface="Times New Roman"/>
              <a:sym typeface="Times New Roman"/>
            </a:endParaRPr>
          </a:p>
          <a:p>
            <a:pPr marL="342900" lvl="0" indent="-342900" algn="l" rtl="0">
              <a:spcBef>
                <a:spcPts val="560"/>
              </a:spcBef>
              <a:spcAft>
                <a:spcPts val="0"/>
              </a:spcAft>
              <a:buClr>
                <a:schemeClr val="dk1"/>
              </a:buClr>
              <a:buSzPts val="2800"/>
              <a:buChar char="•"/>
            </a:pPr>
            <a:r>
              <a:rPr lang="en-US" sz="2800" b="1">
                <a:latin typeface="Times New Roman"/>
                <a:ea typeface="Times New Roman"/>
                <a:cs typeface="Times New Roman"/>
                <a:sym typeface="Times New Roman"/>
              </a:rPr>
              <a:t>Example:</a:t>
            </a:r>
            <a:endParaRPr sz="2800" b="1">
              <a:latin typeface="Times New Roman"/>
              <a:ea typeface="Times New Roman"/>
              <a:cs typeface="Times New Roman"/>
              <a:sym typeface="Times New Roman"/>
            </a:endParaRPr>
          </a:p>
          <a:p>
            <a:pPr marL="0" lvl="0" indent="0" algn="l" rtl="0">
              <a:spcBef>
                <a:spcPts val="560"/>
              </a:spcBef>
              <a:spcAft>
                <a:spcPts val="0"/>
              </a:spcAft>
              <a:buClr>
                <a:schemeClr val="dk1"/>
              </a:buClr>
              <a:buSzPts val="2800"/>
              <a:buNone/>
            </a:pPr>
            <a:r>
              <a:rPr lang="en-US" sz="2800">
                <a:latin typeface="Times New Roman"/>
                <a:ea typeface="Times New Roman"/>
                <a:cs typeface="Times New Roman"/>
                <a:sym typeface="Times New Roman"/>
              </a:rPr>
              <a:t>if True:</a:t>
            </a:r>
            <a:endParaRPr sz="2800">
              <a:latin typeface="Times New Roman"/>
              <a:ea typeface="Times New Roman"/>
              <a:cs typeface="Times New Roman"/>
              <a:sym typeface="Times New Roman"/>
            </a:endParaRPr>
          </a:p>
          <a:p>
            <a:pPr marL="0" lvl="0" indent="0" algn="l" rtl="0">
              <a:spcBef>
                <a:spcPts val="560"/>
              </a:spcBef>
              <a:spcAft>
                <a:spcPts val="0"/>
              </a:spcAft>
              <a:buClr>
                <a:schemeClr val="dk1"/>
              </a:buClr>
              <a:buSzPts val="2800"/>
              <a:buNone/>
            </a:pPr>
            <a:r>
              <a:rPr lang="en-US" sz="2800">
                <a:latin typeface="Times New Roman"/>
                <a:ea typeface="Times New Roman"/>
                <a:cs typeface="Times New Roman"/>
                <a:sym typeface="Times New Roman"/>
              </a:rPr>
              <a:t>    print("This is inside the if block")</a:t>
            </a:r>
            <a:endParaRPr sz="2800">
              <a:latin typeface="Times New Roman"/>
              <a:ea typeface="Times New Roman"/>
              <a:cs typeface="Times New Roman"/>
              <a:sym typeface="Times New Roman"/>
            </a:endParaRPr>
          </a:p>
          <a:p>
            <a:pPr marL="0" lvl="0" indent="0" algn="l" rtl="0">
              <a:spcBef>
                <a:spcPts val="560"/>
              </a:spcBef>
              <a:spcAft>
                <a:spcPts val="0"/>
              </a:spcAft>
              <a:buClr>
                <a:schemeClr val="dk1"/>
              </a:buClr>
              <a:buSzPts val="2800"/>
              <a:buNone/>
            </a:pPr>
            <a:r>
              <a:rPr lang="en-US" sz="2800">
                <a:latin typeface="Times New Roman"/>
                <a:ea typeface="Times New Roman"/>
                <a:cs typeface="Times New Roman"/>
                <a:sym typeface="Times New Roman"/>
              </a:rPr>
              <a:t>    if 5 &gt; 3:</a:t>
            </a:r>
            <a:endParaRPr sz="2800">
              <a:latin typeface="Times New Roman"/>
              <a:ea typeface="Times New Roman"/>
              <a:cs typeface="Times New Roman"/>
              <a:sym typeface="Times New Roman"/>
            </a:endParaRPr>
          </a:p>
          <a:p>
            <a:pPr marL="0" lvl="0" indent="0" algn="l" rtl="0">
              <a:spcBef>
                <a:spcPts val="560"/>
              </a:spcBef>
              <a:spcAft>
                <a:spcPts val="0"/>
              </a:spcAft>
              <a:buClr>
                <a:schemeClr val="dk1"/>
              </a:buClr>
              <a:buSzPts val="2800"/>
              <a:buNone/>
            </a:pPr>
            <a:r>
              <a:rPr lang="en-US" sz="2800">
                <a:latin typeface="Times New Roman"/>
                <a:ea typeface="Times New Roman"/>
                <a:cs typeface="Times New Roman"/>
                <a:sym typeface="Times New Roman"/>
              </a:rPr>
              <a:t>        print("This is inside the nested if block")</a:t>
            </a:r>
            <a:endParaRPr sz="2800">
              <a:latin typeface="Times New Roman"/>
              <a:ea typeface="Times New Roman"/>
              <a:cs typeface="Times New Roman"/>
              <a:sym typeface="Times New Roman"/>
            </a:endParaRPr>
          </a:p>
          <a:p>
            <a:pPr marL="342900" lvl="0" indent="-165100" algn="l" rtl="0">
              <a:spcBef>
                <a:spcPts val="560"/>
              </a:spcBef>
              <a:spcAft>
                <a:spcPts val="0"/>
              </a:spcAft>
              <a:buClr>
                <a:schemeClr val="dk1"/>
              </a:buClr>
              <a:buSzPts val="2800"/>
              <a:buNone/>
            </a:pPr>
            <a:endParaRPr sz="2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Multiline Statements in Python</a:t>
            </a:r>
            <a:endParaRPr sz="3200"/>
          </a:p>
        </p:txBody>
      </p:sp>
      <p:sp>
        <p:nvSpPr>
          <p:cNvPr id="150" name="Google Shape;150;p18"/>
          <p:cNvSpPr txBox="1">
            <a:spLocks noGrp="1"/>
          </p:cNvSpPr>
          <p:nvPr>
            <p:ph type="body" idx="1"/>
          </p:nvPr>
        </p:nvSpPr>
        <p:spPr>
          <a:xfrm>
            <a:off x="457200" y="933450"/>
            <a:ext cx="8229600" cy="573595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400"/>
              <a:buNone/>
            </a:pPr>
            <a:r>
              <a:rPr lang="en-US" sz="2400" b="1">
                <a:latin typeface="Times New Roman"/>
                <a:ea typeface="Times New Roman"/>
                <a:cs typeface="Times New Roman"/>
                <a:sym typeface="Times New Roman"/>
              </a:rPr>
              <a:t>1. What are Multiline Statements?</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Definition: </a:t>
            </a:r>
            <a:r>
              <a:rPr lang="en-US" sz="2400">
                <a:latin typeface="Times New Roman"/>
                <a:ea typeface="Times New Roman"/>
                <a:cs typeface="Times New Roman"/>
                <a:sym typeface="Times New Roman"/>
              </a:rPr>
              <a:t>In Python, most statements typically end at the end of the line. However, sometimes you may need to write a statement that spans multiple lines for better readability or because it's too long to fit on one line.</a:t>
            </a:r>
            <a:endParaRPr sz="240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None/>
            </a:pPr>
            <a:r>
              <a:rPr lang="en-US" sz="2400" b="1">
                <a:latin typeface="Times New Roman"/>
                <a:ea typeface="Times New Roman"/>
                <a:cs typeface="Times New Roman"/>
                <a:sym typeface="Times New Roman"/>
              </a:rPr>
              <a:t>2. Using Backslash (\) for Continuation:</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Backslash Method:</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You can use a backslash (\) at the end of a line to indicate that the statement continues on the next line.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total = item_one + item_two + \</a:t>
            </a:r>
            <a:endParaRPr sz="240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             item_three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This is especially useful when dealing with long arithmetic calculations or complex function calls.</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Multiline Statements in Python</a:t>
            </a:r>
            <a:endParaRPr sz="3200"/>
          </a:p>
        </p:txBody>
      </p:sp>
      <p:sp>
        <p:nvSpPr>
          <p:cNvPr id="156" name="Google Shape;156;p19"/>
          <p:cNvSpPr txBox="1">
            <a:spLocks noGrp="1"/>
          </p:cNvSpPr>
          <p:nvPr>
            <p:ph type="body" idx="1"/>
          </p:nvPr>
        </p:nvSpPr>
        <p:spPr>
          <a:xfrm>
            <a:off x="457200" y="953135"/>
            <a:ext cx="8229600" cy="494474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3. Using Parentheses (), Brackets [], and Braces {}:</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Automatic Continuation:</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When you use parentheses (), square brackets [], or curly braces {}, Python automatically understands that the statement continues until the closing symbol.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Multiline Statements in Python</a:t>
            </a:r>
            <a:endParaRPr sz="3200"/>
          </a:p>
        </p:txBody>
      </p:sp>
      <p:sp>
        <p:nvSpPr>
          <p:cNvPr id="162" name="Google Shape;162;p20"/>
          <p:cNvSpPr txBox="1">
            <a:spLocks noGrp="1"/>
          </p:cNvSpPr>
          <p:nvPr>
            <p:ph type="body" idx="1"/>
          </p:nvPr>
        </p:nvSpPr>
        <p:spPr>
          <a:xfrm>
            <a:off x="457200" y="1152525"/>
            <a:ext cx="8229600" cy="535559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latin typeface="Times New Roman"/>
                <a:ea typeface="Times New Roman"/>
                <a:cs typeface="Times New Roman"/>
                <a:sym typeface="Times New Roman"/>
              </a:rPr>
              <a:t>Example with parentheses:</a:t>
            </a:r>
            <a:endParaRPr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result = (first_value + second_value + third_value)</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Example with brackets (lists):</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fruits = ['apple', 'banana', 'cherry','date', 'fig']</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Why Use Multiline Statements?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Improves code readability and maintainability.</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Makes complex statements easier to understand and debug.</a:t>
            </a: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p>
          <a:p>
            <a:pPr marL="342900" lvl="0" indent="-139700" algn="just" rtl="0">
              <a:spcBef>
                <a:spcPts val="640"/>
              </a:spcBef>
              <a:spcAft>
                <a:spcPts val="0"/>
              </a:spcAft>
              <a:buClr>
                <a:schemeClr val="dk1"/>
              </a:buClr>
              <a:buSzPts val="32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Comments in Python</a:t>
            </a:r>
            <a:endParaRPr sz="3200">
              <a:latin typeface="Times New Roman"/>
              <a:ea typeface="Times New Roman"/>
              <a:cs typeface="Times New Roman"/>
              <a:sym typeface="Times New Roman"/>
            </a:endParaRPr>
          </a:p>
        </p:txBody>
      </p:sp>
      <p:sp>
        <p:nvSpPr>
          <p:cNvPr id="168" name="Google Shape;168;p21"/>
          <p:cNvSpPr txBox="1">
            <a:spLocks noGrp="1"/>
          </p:cNvSpPr>
          <p:nvPr>
            <p:ph type="body" idx="1"/>
          </p:nvPr>
        </p:nvSpPr>
        <p:spPr>
          <a:xfrm>
            <a:off x="457200" y="1062990"/>
            <a:ext cx="8229600" cy="483489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 What are Comments?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Definition: </a:t>
            </a:r>
            <a:r>
              <a:rPr lang="en-US">
                <a:latin typeface="Times New Roman"/>
                <a:ea typeface="Times New Roman"/>
                <a:cs typeface="Times New Roman"/>
                <a:sym typeface="Times New Roman"/>
              </a:rPr>
              <a:t>Comments are text within your code that is ignored by the Python interpreter. They are used to explain what your code does, making it easier for you and others to understand the code.</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 Think of comments as notes you leave for yourself or others to remember why you wrote the code a certain way or to clarify complex logic.</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Comments in Python...</a:t>
            </a:r>
            <a:endParaRPr sz="3200"/>
          </a:p>
        </p:txBody>
      </p:sp>
      <p:sp>
        <p:nvSpPr>
          <p:cNvPr id="174" name="Google Shape;174;p22"/>
          <p:cNvSpPr txBox="1">
            <a:spLocks noGrp="1"/>
          </p:cNvSpPr>
          <p:nvPr>
            <p:ph type="body" idx="1"/>
          </p:nvPr>
        </p:nvSpPr>
        <p:spPr>
          <a:xfrm>
            <a:off x="457200" y="990600"/>
            <a:ext cx="8229600" cy="490728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Types of Comments: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Single-line Comments:</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Use a hash (#) symbol to create a comment that occupies a single line.</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 This is a single-line comment</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print("Hello, World!")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Comments in Python...</a:t>
            </a:r>
            <a:endParaRPr sz="3200"/>
          </a:p>
        </p:txBody>
      </p:sp>
      <p:sp>
        <p:nvSpPr>
          <p:cNvPr id="180" name="Google Shape;180;p23"/>
          <p:cNvSpPr txBox="1">
            <a:spLocks noGrp="1"/>
          </p:cNvSpPr>
          <p:nvPr>
            <p:ph type="body" idx="1"/>
          </p:nvPr>
        </p:nvSpPr>
        <p:spPr>
          <a:xfrm>
            <a:off x="457200" y="1111885"/>
            <a:ext cx="8229600" cy="478599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Multi-line Comments:</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For longer comments that span multiple lines, you can either use multiple single-line comments or enclose the text in triple quotes (''' or """).</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 using multiple single-line comments:</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 This is a comment</a:t>
            </a:r>
            <a:endParaRPr>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US">
                <a:latin typeface="Times New Roman"/>
                <a:ea typeface="Times New Roman"/>
                <a:cs typeface="Times New Roman"/>
                <a:sym typeface="Times New Roman"/>
              </a:rPr>
              <a:t># that spans multiple lines</a:t>
            </a: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latin typeface="Times New Roman"/>
                <a:ea typeface="Times New Roman"/>
                <a:cs typeface="Times New Roman"/>
                <a:sym typeface="Times New Roman"/>
              </a:rPr>
              <a:t>Quotations in Python</a:t>
            </a:r>
            <a:endParaRPr sz="3200" b="1"/>
          </a:p>
        </p:txBody>
      </p:sp>
      <p:sp>
        <p:nvSpPr>
          <p:cNvPr id="186" name="Google Shape;186;p24"/>
          <p:cNvSpPr txBox="1">
            <a:spLocks noGrp="1"/>
          </p:cNvSpPr>
          <p:nvPr>
            <p:ph type="body" idx="1"/>
          </p:nvPr>
        </p:nvSpPr>
        <p:spPr>
          <a:xfrm>
            <a:off x="457200" y="931545"/>
            <a:ext cx="8229600" cy="496633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000"/>
              <a:buNone/>
            </a:pPr>
            <a:r>
              <a:rPr lang="en-US" sz="2000" b="1">
                <a:latin typeface="Times New Roman"/>
                <a:ea typeface="Times New Roman"/>
                <a:cs typeface="Times New Roman"/>
                <a:sym typeface="Times New Roman"/>
              </a:rPr>
              <a:t>What are Quotations?</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Definition: </a:t>
            </a:r>
            <a:r>
              <a:rPr lang="en-US" sz="2000">
                <a:latin typeface="Times New Roman"/>
                <a:ea typeface="Times New Roman"/>
                <a:cs typeface="Times New Roman"/>
                <a:sym typeface="Times New Roman"/>
              </a:rPr>
              <a:t>Quotations are used in Python to define string literals. Strings are sequences of characters, such as words or sentences, and are one of the most commonly used data types in Python.</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Types of Quotations:</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Single quotes (')</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Double quotes (")</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Triple quotes (''' or """)</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When to Use Each Type:</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Single and Double Quotes:</a:t>
            </a:r>
            <a:endParaRPr sz="2000" b="1">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Single and double quotes can be used interchangeably for defining short strings.</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Example:</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name = 'John'</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greeting = "Hello"</a:t>
            </a:r>
            <a:endParaRPr sz="20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Quotations in Python....</a:t>
            </a:r>
            <a:endParaRPr/>
          </a:p>
        </p:txBody>
      </p:sp>
      <p:sp>
        <p:nvSpPr>
          <p:cNvPr id="192" name="Google Shape;192;p25"/>
          <p:cNvSpPr txBox="1">
            <a:spLocks noGrp="1"/>
          </p:cNvSpPr>
          <p:nvPr>
            <p:ph type="body" idx="1"/>
          </p:nvPr>
        </p:nvSpPr>
        <p:spPr>
          <a:xfrm>
            <a:off x="457200" y="1204595"/>
            <a:ext cx="8229600" cy="469328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400"/>
              <a:buChar char="•"/>
            </a:pPr>
            <a:r>
              <a:rPr lang="en-US" sz="2400" b="1">
                <a:latin typeface="Times New Roman"/>
                <a:ea typeface="Times New Roman"/>
                <a:cs typeface="Times New Roman"/>
                <a:sym typeface="Times New Roman"/>
              </a:rPr>
              <a:t>Choose one based on convenience, especially when the string contains quotes:</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sentence = "It's a beautiful day!"</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quote = 'He said, "Python is amazing!"'</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Triple Quotes:</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Triple quotes are useful for defining multi-line strings, as well as for docstrings (comments that describe what a function or class does).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message = """This is a multi-line string.</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It can span multiple lines.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It's very useful for long text."""</a:t>
            </a:r>
            <a:endParaRPr sz="2400">
              <a:latin typeface="Times New Roman"/>
              <a:ea typeface="Times New Roman"/>
              <a:cs typeface="Times New Roman"/>
              <a:sym typeface="Times New Roman"/>
            </a:endParaRPr>
          </a:p>
          <a:p>
            <a:pPr marL="342900" lvl="0" indent="-190500" algn="just" rtl="0">
              <a:spcBef>
                <a:spcPts val="480"/>
              </a:spcBef>
              <a:spcAft>
                <a:spcPts val="0"/>
              </a:spcAft>
              <a:buClr>
                <a:schemeClr val="dk1"/>
              </a:buClr>
              <a:buSzPts val="2400"/>
              <a:buNone/>
            </a:pP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Special Characters in Strings</a:t>
            </a:r>
            <a:endParaRPr/>
          </a:p>
        </p:txBody>
      </p:sp>
      <p:sp>
        <p:nvSpPr>
          <p:cNvPr id="198" name="Google Shape;198;p2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US" b="1">
                <a:latin typeface="Times New Roman"/>
                <a:ea typeface="Times New Roman"/>
                <a:cs typeface="Times New Roman"/>
                <a:sym typeface="Times New Roman"/>
              </a:rPr>
              <a:t>Escape Sequences:</a:t>
            </a:r>
            <a:endParaRPr b="1">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Backslashes (\) are used to escape special characters within strings.</a:t>
            </a:r>
            <a:endParaRPr>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new_line = "This is a string\nwith a newline character."</a:t>
            </a:r>
            <a:endParaRPr>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a:latin typeface="Times New Roman"/>
                <a:ea typeface="Times New Roman"/>
                <a:cs typeface="Times New Roman"/>
                <a:sym typeface="Times New Roman"/>
              </a:rPr>
              <a:t>tab_space = "This is a string\twith a tab."</a:t>
            </a: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latin typeface="Times New Roman"/>
                <a:ea typeface="Times New Roman"/>
                <a:cs typeface="Times New Roman"/>
                <a:sym typeface="Times New Roman"/>
              </a:rPr>
              <a:t>Input/Output in Python</a:t>
            </a:r>
            <a:endParaRPr sz="3200" b="1">
              <a:latin typeface="Times New Roman"/>
              <a:ea typeface="Times New Roman"/>
              <a:cs typeface="Times New Roman"/>
              <a:sym typeface="Times New Roman"/>
            </a:endParaRPr>
          </a:p>
        </p:txBody>
      </p:sp>
      <p:sp>
        <p:nvSpPr>
          <p:cNvPr id="204" name="Google Shape;204;p27"/>
          <p:cNvSpPr txBox="1">
            <a:spLocks noGrp="1"/>
          </p:cNvSpPr>
          <p:nvPr>
            <p:ph type="body" idx="1"/>
          </p:nvPr>
        </p:nvSpPr>
        <p:spPr>
          <a:xfrm>
            <a:off x="457200" y="839470"/>
            <a:ext cx="8229600" cy="505841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None/>
            </a:pPr>
            <a:r>
              <a:rPr lang="en-US" b="1"/>
              <a:t> Input in Python:</a:t>
            </a:r>
            <a:endParaRPr b="1"/>
          </a:p>
          <a:p>
            <a:pPr marL="342900" lvl="0" indent="-342900" algn="l" rtl="0">
              <a:spcBef>
                <a:spcPts val="640"/>
              </a:spcBef>
              <a:spcAft>
                <a:spcPts val="0"/>
              </a:spcAft>
              <a:buClr>
                <a:schemeClr val="dk1"/>
              </a:buClr>
              <a:buSzPts val="3200"/>
              <a:buChar char="•"/>
            </a:pPr>
            <a:r>
              <a:rPr lang="en-US" b="1"/>
              <a:t>Taking Input:</a:t>
            </a:r>
            <a:endParaRPr/>
          </a:p>
          <a:p>
            <a:pPr marL="342900" lvl="0" indent="-342900" algn="l" rtl="0">
              <a:spcBef>
                <a:spcPts val="640"/>
              </a:spcBef>
              <a:spcAft>
                <a:spcPts val="0"/>
              </a:spcAft>
              <a:buClr>
                <a:schemeClr val="dk1"/>
              </a:buClr>
              <a:buSzPts val="3200"/>
              <a:buChar char="•"/>
            </a:pPr>
            <a:r>
              <a:rPr lang="en-US"/>
              <a:t>The input() function is used to take input from the user. It reads the input as a string.</a:t>
            </a:r>
            <a:endParaRPr/>
          </a:p>
          <a:p>
            <a:pPr marL="342900" lvl="0" indent="-342900" algn="l" rtl="0">
              <a:spcBef>
                <a:spcPts val="640"/>
              </a:spcBef>
              <a:spcAft>
                <a:spcPts val="0"/>
              </a:spcAft>
              <a:buClr>
                <a:schemeClr val="dk1"/>
              </a:buClr>
              <a:buSzPts val="3200"/>
              <a:buChar char="•"/>
            </a:pPr>
            <a:r>
              <a:rPr lang="en-US" b="1"/>
              <a:t>Example:</a:t>
            </a:r>
            <a:endParaRPr b="1"/>
          </a:p>
          <a:p>
            <a:pPr marL="342900" lvl="0" indent="-342900" algn="l" rtl="0">
              <a:spcBef>
                <a:spcPts val="640"/>
              </a:spcBef>
              <a:spcAft>
                <a:spcPts val="0"/>
              </a:spcAft>
              <a:buClr>
                <a:schemeClr val="dk1"/>
              </a:buClr>
              <a:buSzPts val="3200"/>
              <a:buChar char="•"/>
            </a:pPr>
            <a:r>
              <a:rPr lang="en-US"/>
              <a:t>name = input("Enter your name: ")</a:t>
            </a:r>
            <a:endParaRPr/>
          </a:p>
          <a:p>
            <a:pPr marL="342900" lvl="0" indent="-342900" algn="l" rtl="0">
              <a:spcBef>
                <a:spcPts val="640"/>
              </a:spcBef>
              <a:spcAft>
                <a:spcPts val="0"/>
              </a:spcAft>
              <a:buClr>
                <a:schemeClr val="dk1"/>
              </a:buClr>
              <a:buSzPts val="3200"/>
              <a:buChar char="•"/>
            </a:pPr>
            <a:r>
              <a:rPr lang="en-US"/>
              <a:t>print("Hello, " + name)</a:t>
            </a:r>
            <a:endParaRPr/>
          </a:p>
          <a:p>
            <a:pPr marL="342900" lvl="0" indent="-342900" algn="l" rtl="0">
              <a:spcBef>
                <a:spcPts val="640"/>
              </a:spcBef>
              <a:spcAft>
                <a:spcPts val="0"/>
              </a:spcAft>
              <a:buClr>
                <a:schemeClr val="dk1"/>
              </a:buClr>
              <a:buSzPts val="3200"/>
              <a:buChar char="•"/>
            </a:pPr>
            <a:r>
              <a:rPr lang="en-US"/>
              <a:t>This code will prompt the user to enter their name and then greet them.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10" name="Google Shape;210;p2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3200"/>
              <a:buNone/>
            </a:pPr>
            <a:r>
              <a:rPr lang="en-US" b="1">
                <a:latin typeface="Times New Roman"/>
                <a:ea typeface="Times New Roman"/>
                <a:cs typeface="Times New Roman"/>
                <a:sym typeface="Times New Roman"/>
              </a:rPr>
              <a:t>Output in Python:</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b="1">
                <a:latin typeface="Times New Roman"/>
                <a:ea typeface="Times New Roman"/>
                <a:cs typeface="Times New Roman"/>
                <a:sym typeface="Times New Roman"/>
              </a:rPr>
              <a:t>Displaying Output:</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The print() function is used to display output to the console.</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print("Welcome to Python programming!")</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You can print multiple items by separating them with commas:</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16" name="Google Shape;216;p2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400"/>
              <a:buNone/>
            </a:pPr>
            <a:r>
              <a:rPr lang="en-US" sz="2400" b="1">
                <a:latin typeface="Times New Roman"/>
                <a:ea typeface="Times New Roman"/>
                <a:cs typeface="Times New Roman"/>
                <a:sym typeface="Times New Roman"/>
              </a:rPr>
              <a:t> Formatting Output:</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b="1">
                <a:latin typeface="Times New Roman"/>
                <a:ea typeface="Times New Roman"/>
                <a:cs typeface="Times New Roman"/>
                <a:sym typeface="Times New Roman"/>
              </a:rPr>
              <a:t>Concatenation:</a:t>
            </a:r>
            <a:endParaRPr sz="2400" b="1">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Use the + operator to concatenate strings.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print("Hello, " + name)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Formatted String Literals (f-strings):</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An f-string allows embedding expressions inside string literals using {}.</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Example:</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age = 25</a:t>
            </a:r>
            <a:endParaRPr sz="2400">
              <a:latin typeface="Times New Roman"/>
              <a:ea typeface="Times New Roman"/>
              <a:cs typeface="Times New Roman"/>
              <a:sym typeface="Times New Roman"/>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print(f"{name} is {age} years old.")</a:t>
            </a:r>
            <a:endParaRPr sz="240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22" name="Google Shape;222;p3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latin typeface="Times New Roman"/>
                <a:ea typeface="Times New Roman"/>
                <a:cs typeface="Times New Roman"/>
                <a:sym typeface="Times New Roman"/>
              </a:rPr>
              <a:t>Using format() Method:</a:t>
            </a:r>
            <a:endParaRPr b="1">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The format() method is another way to insert variables into a string.</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a:p>
            <a:pPr marL="342900" lvl="0" indent="-342900" algn="just" rtl="0">
              <a:spcBef>
                <a:spcPts val="640"/>
              </a:spcBef>
              <a:spcAft>
                <a:spcPts val="0"/>
              </a:spcAft>
              <a:buClr>
                <a:schemeClr val="dk1"/>
              </a:buClr>
              <a:buSzPts val="3200"/>
              <a:buChar char="•"/>
            </a:pPr>
            <a:r>
              <a:rPr lang="en-US">
                <a:latin typeface="Times New Roman"/>
                <a:ea typeface="Times New Roman"/>
                <a:cs typeface="Times New Roman"/>
                <a:sym typeface="Times New Roman"/>
              </a:rPr>
              <a:t>print("Hello, {}. You are {} years old.".format(name, age))</a:t>
            </a: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latin typeface="Times New Roman"/>
              <a:ea typeface="Times New Roman"/>
              <a:cs typeface="Times New Roman"/>
              <a:sym typeface="Times New Roman"/>
            </a:endParaRPr>
          </a:p>
          <a:p>
            <a:pPr marL="342900" lvl="0" indent="-139700" algn="just" rtl="0">
              <a:spcBef>
                <a:spcPts val="640"/>
              </a:spcBef>
              <a:spcAft>
                <a:spcPts val="0"/>
              </a:spcAft>
              <a:buClr>
                <a:schemeClr val="dk1"/>
              </a:buClr>
              <a:buSzPts val="32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latin typeface="Times New Roman"/>
                <a:ea typeface="Times New Roman"/>
                <a:cs typeface="Times New Roman"/>
                <a:sym typeface="Times New Roman"/>
              </a:rPr>
              <a:t>Output Formatting (Integers and Strings)</a:t>
            </a:r>
            <a:endParaRPr dirty="0"/>
          </a:p>
        </p:txBody>
      </p:sp>
      <p:sp>
        <p:nvSpPr>
          <p:cNvPr id="228" name="Google Shape;228;p31"/>
          <p:cNvSpPr txBox="1">
            <a:spLocks noGrp="1"/>
          </p:cNvSpPr>
          <p:nvPr>
            <p:ph type="body" idx="1"/>
          </p:nvPr>
        </p:nvSpPr>
        <p:spPr>
          <a:xfrm>
            <a:off x="457200" y="1099185"/>
            <a:ext cx="8229600" cy="479869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dirty="0">
                <a:latin typeface="Times New Roman"/>
                <a:ea typeface="Times New Roman"/>
                <a:cs typeface="Times New Roman"/>
                <a:sym typeface="Times New Roman"/>
              </a:rPr>
              <a:t> Formatting Integers:</a:t>
            </a:r>
            <a:endParaRPr sz="2400" b="1"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b="1" dirty="0">
                <a:latin typeface="Times New Roman"/>
                <a:ea typeface="Times New Roman"/>
                <a:cs typeface="Times New Roman"/>
                <a:sym typeface="Times New Roman"/>
              </a:rPr>
              <a:t>Default Formatting:</a:t>
            </a:r>
            <a:endParaRPr sz="2400" b="1"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When you print integers directly, they appear in their natural form.</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Example:</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number = 42</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print("The number is:", number)</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b="1" dirty="0">
                <a:latin typeface="Times New Roman"/>
                <a:ea typeface="Times New Roman"/>
                <a:cs typeface="Times New Roman"/>
                <a:sym typeface="Times New Roman"/>
              </a:rPr>
              <a:t>Using format() Method for Integers:</a:t>
            </a:r>
            <a:endParaRPr sz="2400" b="1"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You can use the format() method to specify how an integer should be displayed.</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Example:</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number = 42</a:t>
            </a:r>
            <a:endParaRPr sz="2400" dirty="0">
              <a:latin typeface="Times New Roman"/>
              <a:ea typeface="Times New Roman"/>
              <a:cs typeface="Times New Roman"/>
              <a:sym typeface="Times New Roman"/>
            </a:endParaRPr>
          </a:p>
          <a:p>
            <a:pPr marL="342900" lvl="0" indent="-342900" algn="l" rtl="0">
              <a:spcBef>
                <a:spcPts val="480"/>
              </a:spcBef>
              <a:spcAft>
                <a:spcPts val="0"/>
              </a:spcAft>
              <a:buClr>
                <a:schemeClr val="dk1"/>
              </a:buClr>
              <a:buSzPts val="2400"/>
              <a:buChar char="•"/>
            </a:pPr>
            <a:r>
              <a:rPr lang="en-US" sz="2400" dirty="0">
                <a:latin typeface="Times New Roman"/>
                <a:ea typeface="Times New Roman"/>
                <a:cs typeface="Times New Roman"/>
                <a:sym typeface="Times New Roman"/>
              </a:rPr>
              <a:t>print("The number is: {0:d}".format(number))  # d for decimal</a:t>
            </a:r>
            <a:endParaRPr sz="2400" dirty="0">
              <a:latin typeface="Times New Roman"/>
              <a:ea typeface="Times New Roman"/>
              <a:cs typeface="Times New Roman"/>
              <a:sym typeface="Times New Roman"/>
            </a:endParaRPr>
          </a:p>
          <a:p>
            <a:pPr marL="342900" lvl="0" indent="-190500" algn="l" rtl="0">
              <a:spcBef>
                <a:spcPts val="480"/>
              </a:spcBef>
              <a:spcAft>
                <a:spcPts val="0"/>
              </a:spcAft>
              <a:buClr>
                <a:schemeClr val="dk1"/>
              </a:buClr>
              <a:buSzPts val="2400"/>
              <a:buNone/>
            </a:pPr>
            <a:endParaRPr sz="2400" dirty="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6354" y="78378"/>
            <a:ext cx="5486400" cy="914400"/>
          </a:xfrm>
        </p:spPr>
        <p:txBody>
          <a:bodyPr/>
          <a:lstStyle/>
          <a:p>
            <a:r>
              <a:rPr dirty="0">
                <a:latin typeface="Times New Roman" panose="02020603050405020304" pitchFamily="18" charset="0"/>
                <a:cs typeface="Times New Roman" panose="02020603050405020304" pitchFamily="18" charset="0"/>
              </a:rPr>
              <a:t>Python Variables</a:t>
            </a:r>
          </a:p>
        </p:txBody>
      </p:sp>
      <p:sp>
        <p:nvSpPr>
          <p:cNvPr id="3" name="Subtitle 2"/>
          <p:cNvSpPr>
            <a:spLocks noGrp="1"/>
          </p:cNvSpPr>
          <p:nvPr>
            <p:ph type="subTitle" idx="1"/>
          </p:nvPr>
        </p:nvSpPr>
        <p:spPr/>
        <p:txBody>
          <a:bodyPr/>
          <a:lstStyle/>
          <a:p>
            <a:pPr algn="l">
              <a:defRPr sz="1800"/>
            </a:pPr>
            <a:r>
              <a:rPr sz="2400" dirty="0">
                <a:solidFill>
                  <a:schemeClr val="tx1"/>
                </a:solidFill>
                <a:latin typeface="Times New Roman" panose="02020603050405020304" pitchFamily="18" charset="0"/>
                <a:cs typeface="Times New Roman" panose="02020603050405020304" pitchFamily="18" charset="0"/>
              </a:rPr>
              <a:t>Variables are containers for storing values.</a:t>
            </a:r>
          </a:p>
          <a:p>
            <a:pPr algn="l">
              <a:defRPr sz="1800"/>
            </a:pPr>
            <a:r>
              <a:rPr sz="2400" dirty="0">
                <a:solidFill>
                  <a:schemeClr val="tx1"/>
                </a:solidFill>
                <a:latin typeface="Times New Roman" panose="02020603050405020304" pitchFamily="18" charset="0"/>
                <a:cs typeface="Times New Roman" panose="02020603050405020304" pitchFamily="18" charset="0"/>
              </a:rPr>
              <a:t>Dynamically typed: type is inferred at runtime.</a:t>
            </a:r>
          </a:p>
          <a:p>
            <a:pPr algn="l">
              <a:defRPr sz="1800"/>
            </a:pPr>
            <a:r>
              <a:rPr sz="2400" u="sng" dirty="0">
                <a:solidFill>
                  <a:schemeClr val="tx1"/>
                </a:solidFill>
                <a:latin typeface="Times New Roman" panose="02020603050405020304" pitchFamily="18" charset="0"/>
                <a:cs typeface="Times New Roman" panose="02020603050405020304" pitchFamily="18" charset="0"/>
              </a:rPr>
              <a:t>Real-life</a:t>
            </a:r>
            <a:r>
              <a:rPr lang="en-IN" sz="2400" u="sng" dirty="0">
                <a:solidFill>
                  <a:schemeClr val="tx1"/>
                </a:solidFill>
                <a:latin typeface="Times New Roman" panose="02020603050405020304" pitchFamily="18" charset="0"/>
                <a:cs typeface="Times New Roman" panose="02020603050405020304" pitchFamily="18" charset="0"/>
              </a:rPr>
              <a:t> example</a:t>
            </a:r>
            <a:r>
              <a:rPr sz="2400" u="sng" dirty="0">
                <a:solidFill>
                  <a:schemeClr val="tx1"/>
                </a:solidFill>
                <a:latin typeface="Times New Roman" panose="02020603050405020304" pitchFamily="18" charset="0"/>
                <a:cs typeface="Times New Roman" panose="02020603050405020304" pitchFamily="18" charset="0"/>
              </a:rPr>
              <a:t>: </a:t>
            </a:r>
            <a:r>
              <a:rPr sz="2400" dirty="0">
                <a:solidFill>
                  <a:schemeClr val="tx1"/>
                </a:solidFill>
                <a:latin typeface="Times New Roman" panose="02020603050405020304" pitchFamily="18" charset="0"/>
                <a:cs typeface="Times New Roman" panose="02020603050405020304" pitchFamily="18" charset="0"/>
              </a:rPr>
              <a:t>A labeled box—you can replace its contents anytime.</a:t>
            </a:r>
          </a:p>
          <a:p>
            <a:pPr algn="l">
              <a:defRPr sz="1800"/>
            </a:pPr>
            <a:r>
              <a:rPr sz="2400" dirty="0">
                <a:solidFill>
                  <a:schemeClr val="tx1"/>
                </a:solidFill>
                <a:latin typeface="Times New Roman" panose="02020603050405020304" pitchFamily="18" charset="0"/>
                <a:cs typeface="Times New Roman" panose="02020603050405020304" pitchFamily="18" charset="0"/>
              </a:rPr>
              <a:t>Example: x = 10 ; x = 'hello'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latin typeface="Times New Roman" panose="02020603050405020304" pitchFamily="18" charset="0"/>
                <a:cs typeface="Times New Roman" panose="02020603050405020304" pitchFamily="18" charset="0"/>
              </a:rPr>
              <a:t>Rules for Python Variables</a:t>
            </a:r>
          </a:p>
        </p:txBody>
      </p:sp>
      <p:sp>
        <p:nvSpPr>
          <p:cNvPr id="3" name="Subtitle 2"/>
          <p:cNvSpPr>
            <a:spLocks noGrp="1"/>
          </p:cNvSpPr>
          <p:nvPr>
            <p:ph type="subTitle" idx="1"/>
          </p:nvPr>
        </p:nvSpPr>
        <p:spPr/>
        <p:txBody>
          <a:bodyPr/>
          <a:lstStyle/>
          <a:p>
            <a:pPr algn="l">
              <a:defRPr sz="1800"/>
            </a:pPr>
            <a:r>
              <a:rPr sz="2400" dirty="0">
                <a:solidFill>
                  <a:schemeClr val="tx1"/>
                </a:solidFill>
                <a:latin typeface="Times New Roman" panose="02020603050405020304" pitchFamily="18" charset="0"/>
                <a:cs typeface="Times New Roman" panose="02020603050405020304" pitchFamily="18" charset="0"/>
              </a:rPr>
              <a:t>Must start with a letter or underscore; cannot start with digit.</a:t>
            </a:r>
          </a:p>
          <a:p>
            <a:pPr algn="l">
              <a:defRPr sz="1800"/>
            </a:pPr>
            <a:r>
              <a:rPr sz="2400" dirty="0">
                <a:solidFill>
                  <a:schemeClr val="tx1"/>
                </a:solidFill>
                <a:latin typeface="Times New Roman" panose="02020603050405020304" pitchFamily="18" charset="0"/>
                <a:cs typeface="Times New Roman" panose="02020603050405020304" pitchFamily="18" charset="0"/>
              </a:rPr>
              <a:t>Only letters, digits, underscores allowed; case-sensitive.</a:t>
            </a:r>
          </a:p>
          <a:p>
            <a:pPr algn="l">
              <a:defRPr sz="1800"/>
            </a:pPr>
            <a:r>
              <a:rPr sz="2400" dirty="0">
                <a:solidFill>
                  <a:schemeClr val="tx1"/>
                </a:solidFill>
                <a:latin typeface="Times New Roman" panose="02020603050405020304" pitchFamily="18" charset="0"/>
                <a:cs typeface="Times New Roman" panose="02020603050405020304" pitchFamily="18" charset="0"/>
              </a:rPr>
              <a:t>Cannot use reserved words as names.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7017" y="17417"/>
            <a:ext cx="5486400" cy="914400"/>
          </a:xfrm>
        </p:spPr>
        <p:txBody>
          <a:bodyPr/>
          <a:lstStyle/>
          <a:p>
            <a:r>
              <a:rPr dirty="0">
                <a:latin typeface="Times New Roman" panose="02020603050405020304" pitchFamily="18" charset="0"/>
                <a:cs typeface="Times New Roman" panose="02020603050405020304" pitchFamily="18" charset="0"/>
              </a:rPr>
              <a:t>Variable Assignment</a:t>
            </a:r>
          </a:p>
        </p:txBody>
      </p:sp>
      <p:sp>
        <p:nvSpPr>
          <p:cNvPr id="3" name="Subtitle 2"/>
          <p:cNvSpPr>
            <a:spLocks noGrp="1"/>
          </p:cNvSpPr>
          <p:nvPr>
            <p:ph type="subTitle" idx="1"/>
          </p:nvPr>
        </p:nvSpPr>
        <p:spPr/>
        <p:txBody>
          <a:bodyPr/>
          <a:lstStyle/>
          <a:p>
            <a:pPr algn="l">
              <a:defRPr sz="1800"/>
            </a:pPr>
            <a:r>
              <a:rPr dirty="0">
                <a:solidFill>
                  <a:schemeClr val="tx1"/>
                </a:solidFill>
                <a:latin typeface="Times New Roman" panose="02020603050405020304" pitchFamily="18" charset="0"/>
                <a:cs typeface="Times New Roman" panose="02020603050405020304" pitchFamily="18" charset="0"/>
              </a:rPr>
              <a:t>Single value: a = 10</a:t>
            </a:r>
          </a:p>
          <a:p>
            <a:pPr algn="l">
              <a:defRPr sz="1800"/>
            </a:pPr>
            <a:r>
              <a:rPr dirty="0">
                <a:solidFill>
                  <a:schemeClr val="tx1"/>
                </a:solidFill>
                <a:latin typeface="Times New Roman" panose="02020603050405020304" pitchFamily="18" charset="0"/>
                <a:cs typeface="Times New Roman" panose="02020603050405020304" pitchFamily="18" charset="0"/>
              </a:rPr>
              <a:t>Same value to many: a = b = c = 0</a:t>
            </a:r>
          </a:p>
          <a:p>
            <a:pPr algn="l">
              <a:defRPr sz="1800"/>
            </a:pPr>
            <a:r>
              <a:rPr dirty="0">
                <a:solidFill>
                  <a:schemeClr val="tx1"/>
                </a:solidFill>
                <a:latin typeface="Times New Roman" panose="02020603050405020304" pitchFamily="18" charset="0"/>
                <a:cs typeface="Times New Roman" panose="02020603050405020304" pitchFamily="18" charset="0"/>
              </a:rPr>
              <a:t>Different values: a, b, c = 1, 2, 'Hi'</a:t>
            </a:r>
          </a:p>
          <a:p>
            <a:pPr algn="l">
              <a:defRPr sz="1800"/>
            </a:pPr>
            <a:r>
              <a:rPr dirty="0">
                <a:solidFill>
                  <a:schemeClr val="tx1"/>
                </a:solidFill>
                <a:latin typeface="Times New Roman" panose="02020603050405020304" pitchFamily="18" charset="0"/>
                <a:cs typeface="Times New Roman" panose="02020603050405020304" pitchFamily="18" charset="0"/>
              </a:rPr>
              <a:t>Real-life: Giving 3 different gifts to 3 people in one go.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latin typeface="Times New Roman" panose="02020603050405020304" pitchFamily="18" charset="0"/>
                <a:cs typeface="Times New Roman" panose="02020603050405020304" pitchFamily="18" charset="0"/>
              </a:rPr>
              <a:t>Assigning / Output Variables</a:t>
            </a:r>
          </a:p>
        </p:txBody>
      </p:sp>
      <p:sp>
        <p:nvSpPr>
          <p:cNvPr id="3" name="Subtitle 2"/>
          <p:cNvSpPr>
            <a:spLocks noGrp="1"/>
          </p:cNvSpPr>
          <p:nvPr>
            <p:ph type="subTitle" idx="1"/>
          </p:nvPr>
        </p:nvSpPr>
        <p:spPr/>
        <p:txBody>
          <a:bodyPr/>
          <a:lstStyle/>
          <a:p>
            <a:pPr algn="l">
              <a:defRPr sz="1800"/>
            </a:pPr>
            <a:r>
              <a:rPr dirty="0">
                <a:solidFill>
                  <a:schemeClr val="tx1"/>
                </a:solidFill>
                <a:latin typeface="Times New Roman" panose="02020603050405020304" pitchFamily="18" charset="0"/>
                <a:cs typeface="Times New Roman" panose="02020603050405020304" pitchFamily="18" charset="0"/>
              </a:rPr>
              <a:t>Output variables with labels: print('Total =', total)</a:t>
            </a:r>
          </a:p>
          <a:p>
            <a:pPr algn="l">
              <a:defRPr sz="1800"/>
            </a:pPr>
            <a:r>
              <a:rPr dirty="0">
                <a:solidFill>
                  <a:schemeClr val="tx1"/>
                </a:solidFill>
                <a:latin typeface="Times New Roman" panose="02020603050405020304" pitchFamily="18" charset="0"/>
                <a:cs typeface="Times New Roman" panose="02020603050405020304" pitchFamily="18" charset="0"/>
              </a:rPr>
              <a:t>f-strings: print(</a:t>
            </a:r>
            <a:r>
              <a:rPr dirty="0" err="1">
                <a:solidFill>
                  <a:schemeClr val="tx1"/>
                </a:solidFill>
                <a:latin typeface="Times New Roman" panose="02020603050405020304" pitchFamily="18" charset="0"/>
                <a:cs typeface="Times New Roman" panose="02020603050405020304" pitchFamily="18" charset="0"/>
              </a:rPr>
              <a:t>f'Total</a:t>
            </a:r>
            <a:r>
              <a:rPr dirty="0">
                <a:solidFill>
                  <a:schemeClr val="tx1"/>
                </a:solidFill>
                <a:latin typeface="Times New Roman" panose="02020603050405020304" pitchFamily="18" charset="0"/>
                <a:cs typeface="Times New Roman" panose="02020603050405020304" pitchFamily="18" charset="0"/>
              </a:rPr>
              <a:t> = {total}')</a:t>
            </a:r>
          </a:p>
          <a:p>
            <a:pPr algn="l">
              <a:defRPr sz="1800"/>
            </a:pPr>
            <a:r>
              <a:rPr dirty="0">
                <a:solidFill>
                  <a:schemeClr val="tx1"/>
                </a:solidFill>
                <a:latin typeface="Times New Roman" panose="02020603050405020304" pitchFamily="18" charset="0"/>
                <a:cs typeface="Times New Roman" panose="02020603050405020304" pitchFamily="18" charset="0"/>
              </a:rPr>
              <a:t>Update: count +=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latin typeface="Times New Roman" panose="02020603050405020304" pitchFamily="18" charset="0"/>
                <a:cs typeface="Times New Roman" panose="02020603050405020304" pitchFamily="18" charset="0"/>
              </a:rPr>
              <a:t>+ Operator with Variables</a:t>
            </a:r>
          </a:p>
        </p:txBody>
      </p:sp>
      <p:sp>
        <p:nvSpPr>
          <p:cNvPr id="3" name="Subtitle 2"/>
          <p:cNvSpPr>
            <a:spLocks noGrp="1"/>
          </p:cNvSpPr>
          <p:nvPr>
            <p:ph type="subTitle" idx="1"/>
          </p:nvPr>
        </p:nvSpPr>
        <p:spPr/>
        <p:txBody>
          <a:bodyPr/>
          <a:lstStyle/>
          <a:p>
            <a:pPr algn="l">
              <a:defRPr sz="1800"/>
            </a:pPr>
            <a:r>
              <a:rPr sz="2400" dirty="0">
                <a:solidFill>
                  <a:schemeClr val="tx1"/>
                </a:solidFill>
                <a:latin typeface="Times New Roman" panose="02020603050405020304" pitchFamily="18" charset="0"/>
                <a:cs typeface="Times New Roman" panose="02020603050405020304" pitchFamily="18" charset="0"/>
              </a:rPr>
              <a:t>Numbers: 10 + 20 → 30</a:t>
            </a:r>
          </a:p>
          <a:p>
            <a:pPr algn="l">
              <a:defRPr sz="1800"/>
            </a:pPr>
            <a:r>
              <a:rPr sz="2400" dirty="0">
                <a:solidFill>
                  <a:schemeClr val="tx1"/>
                </a:solidFill>
                <a:latin typeface="Times New Roman" panose="02020603050405020304" pitchFamily="18" charset="0"/>
                <a:cs typeface="Times New Roman" panose="02020603050405020304" pitchFamily="18" charset="0"/>
              </a:rPr>
              <a:t>Strings: 'Hello' + 'World' → 'HelloWorld'</a:t>
            </a:r>
          </a:p>
          <a:p>
            <a:pPr algn="l">
              <a:defRPr sz="1800"/>
            </a:pPr>
            <a:r>
              <a:rPr sz="2400" dirty="0">
                <a:solidFill>
                  <a:schemeClr val="tx1"/>
                </a:solidFill>
                <a:latin typeface="Times New Roman" panose="02020603050405020304" pitchFamily="18" charset="0"/>
                <a:cs typeface="Times New Roman" panose="02020603050405020304" pitchFamily="18" charset="0"/>
              </a:rPr>
              <a:t>Mixed types need conversion: 'Age = ' + str(age)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Local vs Global Variables</a:t>
            </a:r>
          </a:p>
        </p:txBody>
      </p:sp>
      <p:sp>
        <p:nvSpPr>
          <p:cNvPr id="3" name="Subtitle 2"/>
          <p:cNvSpPr>
            <a:spLocks noGrp="1"/>
          </p:cNvSpPr>
          <p:nvPr>
            <p:ph type="subTitle" idx="1"/>
          </p:nvPr>
        </p:nvSpPr>
        <p:spPr/>
        <p:txBody>
          <a:bodyPr/>
          <a:lstStyle/>
          <a:p>
            <a:pPr algn="l">
              <a:defRPr sz="1800"/>
            </a:pPr>
            <a:r>
              <a:rPr dirty="0">
                <a:solidFill>
                  <a:schemeClr val="tx1"/>
                </a:solidFill>
              </a:rPr>
              <a:t>Local: defined inside a function; accessible only there.</a:t>
            </a:r>
          </a:p>
          <a:p>
            <a:pPr algn="l">
              <a:defRPr sz="1800"/>
            </a:pPr>
            <a:r>
              <a:rPr dirty="0">
                <a:solidFill>
                  <a:schemeClr val="tx1"/>
                </a:solidFill>
              </a:rPr>
              <a:t>Global: defined outside all functions; accessible everywhere.</a:t>
            </a:r>
          </a:p>
          <a:p>
            <a:pPr algn="l">
              <a:defRPr sz="1800"/>
            </a:pPr>
            <a:r>
              <a:rPr dirty="0">
                <a:solidFill>
                  <a:schemeClr val="tx1"/>
                </a:solidFill>
              </a:rPr>
              <a:t>Real-life: Global = family Wi‑Fi; Local = personal hotspot.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global Keyword in Python</a:t>
            </a:r>
          </a:p>
        </p:txBody>
      </p:sp>
      <p:sp>
        <p:nvSpPr>
          <p:cNvPr id="3" name="Subtitle 2"/>
          <p:cNvSpPr>
            <a:spLocks noGrp="1"/>
          </p:cNvSpPr>
          <p:nvPr>
            <p:ph type="subTitle" idx="1"/>
          </p:nvPr>
        </p:nvSpPr>
        <p:spPr/>
        <p:txBody>
          <a:bodyPr/>
          <a:lstStyle/>
          <a:p>
            <a:pPr algn="l">
              <a:defRPr sz="1800"/>
            </a:pPr>
            <a:r>
              <a:rPr dirty="0">
                <a:solidFill>
                  <a:schemeClr val="tx1"/>
                </a:solidFill>
              </a:rPr>
              <a:t>Use inside a function to modify a global variable.</a:t>
            </a:r>
          </a:p>
          <a:p>
            <a:pPr algn="l">
              <a:defRPr sz="1800"/>
            </a:pPr>
            <a:r>
              <a:rPr dirty="0">
                <a:solidFill>
                  <a:schemeClr val="tx1"/>
                </a:solidFill>
              </a:rPr>
              <a:t>Example:</a:t>
            </a:r>
            <a:br>
              <a:rPr dirty="0">
                <a:solidFill>
                  <a:schemeClr val="tx1"/>
                </a:solidFill>
              </a:rPr>
            </a:br>
            <a:r>
              <a:rPr dirty="0">
                <a:solidFill>
                  <a:schemeClr val="tx1"/>
                </a:solidFill>
              </a:rPr>
              <a:t>	x = 5</a:t>
            </a:r>
            <a:br>
              <a:rPr dirty="0">
                <a:solidFill>
                  <a:schemeClr val="tx1"/>
                </a:solidFill>
              </a:rPr>
            </a:br>
            <a:r>
              <a:rPr dirty="0">
                <a:solidFill>
                  <a:schemeClr val="tx1"/>
                </a:solidFill>
              </a:rPr>
              <a:t>	def </a:t>
            </a:r>
            <a:r>
              <a:rPr dirty="0" err="1">
                <a:solidFill>
                  <a:schemeClr val="tx1"/>
                </a:solidFill>
              </a:rPr>
              <a:t>inc</a:t>
            </a:r>
            <a:r>
              <a:rPr dirty="0">
                <a:solidFill>
                  <a:schemeClr val="tx1"/>
                </a:solidFill>
              </a:rPr>
              <a:t>():</a:t>
            </a:r>
            <a:br>
              <a:rPr dirty="0">
                <a:solidFill>
                  <a:schemeClr val="tx1"/>
                </a:solidFill>
              </a:rPr>
            </a:br>
            <a:r>
              <a:rPr dirty="0">
                <a:solidFill>
                  <a:schemeClr val="tx1"/>
                </a:solidFill>
              </a:rPr>
              <a:t>		global x; x += 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Variable Types (Built-in)</a:t>
            </a:r>
          </a:p>
        </p:txBody>
      </p:sp>
      <p:sp>
        <p:nvSpPr>
          <p:cNvPr id="3" name="Subtitle 2"/>
          <p:cNvSpPr>
            <a:spLocks noGrp="1"/>
          </p:cNvSpPr>
          <p:nvPr>
            <p:ph type="subTitle" idx="1"/>
          </p:nvPr>
        </p:nvSpPr>
        <p:spPr/>
        <p:txBody>
          <a:bodyPr/>
          <a:lstStyle/>
          <a:p>
            <a:pPr algn="l">
              <a:defRPr sz="1800"/>
            </a:pPr>
            <a:r>
              <a:rPr dirty="0">
                <a:solidFill>
                  <a:schemeClr val="tx1"/>
                </a:solidFill>
              </a:rPr>
              <a:t>Numeric (int, float, complex)</a:t>
            </a:r>
          </a:p>
          <a:p>
            <a:pPr algn="l">
              <a:defRPr sz="1800"/>
            </a:pPr>
            <a:r>
              <a:rPr dirty="0">
                <a:solidFill>
                  <a:schemeClr val="tx1"/>
                </a:solidFill>
              </a:rPr>
              <a:t>Text (str)</a:t>
            </a:r>
          </a:p>
          <a:p>
            <a:pPr algn="l">
              <a:defRPr sz="1800"/>
            </a:pPr>
            <a:r>
              <a:rPr dirty="0">
                <a:solidFill>
                  <a:schemeClr val="tx1"/>
                </a:solidFill>
              </a:rPr>
              <a:t>Sequence (list, tuple, range)</a:t>
            </a:r>
          </a:p>
          <a:p>
            <a:pPr algn="l">
              <a:defRPr sz="1800"/>
            </a:pPr>
            <a:r>
              <a:rPr dirty="0">
                <a:solidFill>
                  <a:schemeClr val="tx1"/>
                </a:solidFill>
              </a:rPr>
              <a:t>Boolean (True/False), Set, </a:t>
            </a:r>
            <a:r>
              <a:rPr dirty="0" err="1">
                <a:solidFill>
                  <a:schemeClr val="tx1"/>
                </a:solidFill>
              </a:rPr>
              <a:t>Dict</a:t>
            </a:r>
            <a:endParaRPr dirty="0">
              <a:solidFill>
                <a:schemeClr val="tx1"/>
              </a:solidFill>
            </a:endParaRPr>
          </a:p>
          <a:p>
            <a:pPr algn="l">
              <a:defRPr sz="1800"/>
            </a:pPr>
            <a:r>
              <a:rPr dirty="0">
                <a:solidFill>
                  <a:schemeClr val="tx1"/>
                </a:solidFill>
              </a:rPr>
              <a:t>Everything in Python is an object.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2"/>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Padding and Alignment:</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You can specify padding (width) and alignment for integers.</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Example:</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print("The number is: {:5d}".format(number))  # Padded to width of 5</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print("The number is: {:05d}".format(number))  # Padded with zeros</a:t>
            </a:r>
            <a:endParaRPr sz="2000">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r>
              <a:rPr lang="en-US" sz="2000" b="1">
                <a:latin typeface="Times New Roman"/>
                <a:ea typeface="Times New Roman"/>
                <a:cs typeface="Times New Roman"/>
                <a:sym typeface="Times New Roman"/>
              </a:rPr>
              <a:t>Formatting Strings:</a:t>
            </a:r>
            <a:endParaRPr sz="2000" b="1">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Default String Output:</a:t>
            </a:r>
            <a:endParaRPr sz="2000" b="1">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Strings are displayed as they are.</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Example:</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text = "Python"</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print("Language:", text)</a:t>
            </a:r>
            <a:endParaRPr sz="2000">
              <a:latin typeface="Times New Roman"/>
              <a:ea typeface="Times New Roman"/>
              <a:cs typeface="Times New Roman"/>
              <a:sym typeface="Times New Roman"/>
            </a:endParaRPr>
          </a:p>
          <a:p>
            <a:pPr marL="342900" lvl="0" indent="-215900" algn="l" rtl="0">
              <a:spcBef>
                <a:spcPts val="400"/>
              </a:spcBef>
              <a:spcAft>
                <a:spcPts val="0"/>
              </a:spcAft>
              <a:buClr>
                <a:schemeClr val="dk1"/>
              </a:buClr>
              <a:buSzPts val="2000"/>
              <a:buNone/>
            </a:pP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p3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Using format() Method for Strings:</a:t>
            </a:r>
            <a:endParaRPr sz="2000" b="1">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Just like integers, strings can be formatted using the format() method.</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Example:</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text = "Python"</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print("Language: {0:s}".format(text))  # s for string</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Padding and Alignment for Strings:</a:t>
            </a:r>
            <a:endParaRPr sz="2000" b="1">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Example:</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text = "Python"</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print("Language: {:10s}".format(text))  # Padded to width of 10</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print("Language: {:&gt;10s}".format(text))  # Right-aligned</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print("Language: {:^10s}".format(text))  # Center-aligned</a:t>
            </a:r>
            <a:endParaRPr sz="2000">
              <a:latin typeface="Times New Roman"/>
              <a:ea typeface="Times New Roman"/>
              <a:cs typeface="Times New Roman"/>
              <a:sym typeface="Times New Roman"/>
            </a:endParaRPr>
          </a:p>
          <a:p>
            <a:pPr marL="342900" lvl="0" indent="-215900" algn="l"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3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US" sz="2400" b="1" dirty="0">
                <a:latin typeface="Times New Roman"/>
                <a:ea typeface="Times New Roman"/>
                <a:cs typeface="Times New Roman"/>
                <a:sym typeface="Times New Roman"/>
              </a:rPr>
              <a:t>f-strings for Formatting:</a:t>
            </a:r>
            <a:endParaRPr sz="2400" b="1" dirty="0">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sz="2400" dirty="0">
                <a:latin typeface="Times New Roman"/>
                <a:ea typeface="Times New Roman"/>
                <a:cs typeface="Times New Roman"/>
                <a:sym typeface="Times New Roman"/>
              </a:rPr>
              <a:t>f-strings provide a concise way to format both integers and strings.</a:t>
            </a:r>
            <a:endParaRPr sz="2400" dirty="0">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sz="2400" dirty="0">
                <a:latin typeface="Times New Roman"/>
                <a:ea typeface="Times New Roman"/>
                <a:cs typeface="Times New Roman"/>
                <a:sym typeface="Times New Roman"/>
              </a:rPr>
              <a:t>Example:</a:t>
            </a:r>
            <a:endParaRPr sz="2400" dirty="0">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sz="2400" dirty="0">
                <a:latin typeface="Times New Roman"/>
                <a:ea typeface="Times New Roman"/>
                <a:cs typeface="Times New Roman"/>
                <a:sym typeface="Times New Roman"/>
              </a:rPr>
              <a:t>print(</a:t>
            </a:r>
            <a:r>
              <a:rPr lang="en-US" sz="2400" dirty="0" err="1">
                <a:latin typeface="Times New Roman"/>
                <a:ea typeface="Times New Roman"/>
                <a:cs typeface="Times New Roman"/>
                <a:sym typeface="Times New Roman"/>
              </a:rPr>
              <a:t>f"The</a:t>
            </a:r>
            <a:r>
              <a:rPr lang="en-US" sz="2400" dirty="0">
                <a:latin typeface="Times New Roman"/>
                <a:ea typeface="Times New Roman"/>
                <a:cs typeface="Times New Roman"/>
                <a:sym typeface="Times New Roman"/>
              </a:rPr>
              <a:t> number is: {number}")</a:t>
            </a:r>
            <a:endParaRPr sz="2400" dirty="0">
              <a:latin typeface="Times New Roman"/>
              <a:ea typeface="Times New Roman"/>
              <a:cs typeface="Times New Roman"/>
              <a:sym typeface="Times New Roman"/>
            </a:endParaRPr>
          </a:p>
          <a:p>
            <a:pPr marL="342900" lvl="0" indent="-342900" algn="l" rtl="0">
              <a:spcBef>
                <a:spcPts val="640"/>
              </a:spcBef>
              <a:spcAft>
                <a:spcPts val="0"/>
              </a:spcAft>
              <a:buClr>
                <a:schemeClr val="dk1"/>
              </a:buClr>
              <a:buSzPts val="3200"/>
              <a:buChar char="•"/>
            </a:pPr>
            <a:r>
              <a:rPr lang="en-US" sz="2400" dirty="0">
                <a:latin typeface="Times New Roman"/>
                <a:ea typeface="Times New Roman"/>
                <a:cs typeface="Times New Roman"/>
                <a:sym typeface="Times New Roman"/>
              </a:rPr>
              <a:t>print(</a:t>
            </a:r>
            <a:r>
              <a:rPr lang="en-US" sz="2400" dirty="0" err="1">
                <a:latin typeface="Times New Roman"/>
                <a:ea typeface="Times New Roman"/>
                <a:cs typeface="Times New Roman"/>
                <a:sym typeface="Times New Roman"/>
              </a:rPr>
              <a:t>f"Language</a:t>
            </a:r>
            <a:r>
              <a:rPr lang="en-US" sz="2400" dirty="0">
                <a:latin typeface="Times New Roman"/>
                <a:ea typeface="Times New Roman"/>
                <a:cs typeface="Times New Roman"/>
                <a:sym typeface="Times New Roman"/>
              </a:rPr>
              <a:t>: {text:&gt;10}")</a:t>
            </a:r>
            <a:endParaRPr sz="24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2687</Words>
  <Application>Microsoft Office PowerPoint</Application>
  <PresentationFormat>On-screen Show (4:3)</PresentationFormat>
  <Paragraphs>268</Paragraphs>
  <Slides>42</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Times New Roman</vt:lpstr>
      <vt:lpstr>Office Theme</vt:lpstr>
      <vt:lpstr>PowerPoint Presentation</vt:lpstr>
      <vt:lpstr>Topics Covered</vt:lpstr>
      <vt:lpstr>Introduction to Python programming</vt:lpstr>
      <vt:lpstr>History:</vt:lpstr>
      <vt:lpstr>Key Features of Python</vt:lpstr>
      <vt:lpstr>PowerPoint Presentation</vt:lpstr>
      <vt:lpstr>Identifiers in Python</vt:lpstr>
      <vt:lpstr>Identifiers......</vt:lpstr>
      <vt:lpstr>Identifiers......</vt:lpstr>
      <vt:lpstr>Identifiers......</vt:lpstr>
      <vt:lpstr>Reserved Words in Python(Keywords)</vt:lpstr>
      <vt:lpstr>Keywords.....</vt:lpstr>
      <vt:lpstr>Keywords.....</vt:lpstr>
      <vt:lpstr>Keywords.....</vt:lpstr>
      <vt:lpstr>Lines and Indentation in Python</vt:lpstr>
      <vt:lpstr>Lines and Indentation in Python...</vt:lpstr>
      <vt:lpstr>Lines and Indentation in Python...</vt:lpstr>
      <vt:lpstr>Multiline Statements in Python</vt:lpstr>
      <vt:lpstr>Multiline Statements in Python</vt:lpstr>
      <vt:lpstr>Multiline Statements in Python</vt:lpstr>
      <vt:lpstr>Comments in Python</vt:lpstr>
      <vt:lpstr>Comments in Python...</vt:lpstr>
      <vt:lpstr>Comments in Python...</vt:lpstr>
      <vt:lpstr>Quotations in Python</vt:lpstr>
      <vt:lpstr>Quotations in Python....</vt:lpstr>
      <vt:lpstr>Special Characters in Strings</vt:lpstr>
      <vt:lpstr>Input/Output in Python</vt:lpstr>
      <vt:lpstr>PowerPoint Presentation</vt:lpstr>
      <vt:lpstr>PowerPoint Presentation</vt:lpstr>
      <vt:lpstr>PowerPoint Presentation</vt:lpstr>
      <vt:lpstr>Output Formatting (Integers and Strings)</vt:lpstr>
      <vt:lpstr>Python Variables</vt:lpstr>
      <vt:lpstr>Rules for Python Variables</vt:lpstr>
      <vt:lpstr>Variable Assignment</vt:lpstr>
      <vt:lpstr>Assigning / Output Variables</vt:lpstr>
      <vt:lpstr>+ Operator with Variables</vt:lpstr>
      <vt:lpstr>Local vs Global Variables</vt:lpstr>
      <vt:lpstr>global Keyword in Python</vt:lpstr>
      <vt:lpstr>Variable Types (Built-in)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Vibhu</dc:creator>
  <cp:lastModifiedBy>Vibhu Sharma</cp:lastModifiedBy>
  <cp:revision>1</cp:revision>
  <dcterms:created xsi:type="dcterms:W3CDTF">2010-04-09T07:36:00Z</dcterms:created>
  <dcterms:modified xsi:type="dcterms:W3CDTF">2025-08-14T06:41:44Z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77C75C994B4C446DB33EAD35C783E0D7_12</vt:lpwstr>
  </property>
  <property fmtid="{D5CDD505-2E9C-101B-9397-08002B2CF9AE}" pid="3" name="KSOProductBuildVer">
    <vt:lpwstr>1033-12.2.0.17562</vt:lpwstr>
  </property>
</Properties>
</file>