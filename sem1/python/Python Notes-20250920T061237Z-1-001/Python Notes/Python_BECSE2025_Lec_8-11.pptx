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0691813" cy="75612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656950" y="1489836"/>
            <a:ext cx="7473315" cy="1901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4800" b="1" kern="0" spc="-4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Problem So</a:t>
            </a:r>
            <a:r>
              <a:rPr sz="4800" b="1" kern="0" spc="-5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lving</a:t>
            </a:r>
            <a:r>
              <a:rPr sz="4800" b="1" kern="0" spc="27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4800" b="1" kern="0" spc="-5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using</a:t>
            </a:r>
            <a:r>
              <a:rPr sz="4800" b="1" kern="0" spc="28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4800" b="1" kern="0" spc="-5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endParaRPr sz="4800" dirty="0">
              <a:latin typeface="Calibri"/>
              <a:ea typeface="Calibri"/>
              <a:cs typeface="Calibri"/>
            </a:endParaRPr>
          </a:p>
          <a:p>
            <a:pPr marL="2050414" algn="l" rtl="0" eaLnBrk="0">
              <a:lnSpc>
                <a:spcPct val="71000"/>
              </a:lnSpc>
              <a:spcBef>
                <a:spcPts val="1704"/>
              </a:spcBef>
              <a:tabLst/>
            </a:pPr>
            <a:r>
              <a:rPr sz="4800" b="1" kern="0" spc="-50" dirty="0">
                <a:solidFill>
                  <a:srgbClr val="392FF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Programming</a:t>
            </a:r>
            <a:endParaRPr sz="48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40939" algn="l" rtl="0" eaLnBrk="0">
              <a:lnSpc>
                <a:spcPct val="75000"/>
              </a:lnSpc>
              <a:tabLst/>
            </a:pPr>
            <a:r>
              <a:rPr sz="3900" b="1" kern="0" spc="10" dirty="0">
                <a:solidFill>
                  <a:srgbClr val="C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(24</a:t>
            </a:r>
            <a:r>
              <a:rPr sz="3900" b="1" kern="0" spc="0" dirty="0">
                <a:solidFill>
                  <a:srgbClr val="C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CSE</a:t>
            </a:r>
            <a:r>
              <a:rPr sz="3900" b="1" kern="0" spc="10" dirty="0">
                <a:solidFill>
                  <a:srgbClr val="C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0101)</a:t>
            </a:r>
            <a:endParaRPr sz="39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790389" y="5486453"/>
            <a:ext cx="7367269" cy="155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5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spcBef>
                <a:spcPts val="819"/>
              </a:spcBef>
              <a:tabLst/>
            </a:pP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Department of Computer Science and</a:t>
            </a:r>
            <a:r>
              <a:rPr sz="2700" b="1" kern="0" spc="2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Engineering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199514" algn="l" rtl="0" eaLnBrk="0">
              <a:lnSpc>
                <a:spcPct val="75000"/>
              </a:lnSpc>
              <a:spcBef>
                <a:spcPts val="1"/>
              </a:spcBef>
              <a:tabLst/>
            </a:pP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CUIET,</a:t>
            </a:r>
            <a:r>
              <a:rPr sz="2700" b="1" kern="0" spc="1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Chitkara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Unive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rsity,</a:t>
            </a:r>
            <a:r>
              <a:rPr sz="2700" b="1" kern="0" spc="2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Punjab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2667" y="350519"/>
            <a:ext cx="9144000" cy="87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753867" y="3703319"/>
            <a:ext cx="5433060" cy="1219200"/>
          </a:xfrm>
          <a:prstGeom prst="rect">
            <a:avLst/>
          </a:prstGeom>
        </p:spPr>
      </p:pic>
      <p:sp>
        <p:nvSpPr>
          <p:cNvPr id="10" name="rect 1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/>
          <p:cNvSpPr/>
          <p:nvPr/>
        </p:nvSpPr>
        <p:spPr>
          <a:xfrm>
            <a:off x="1333817" y="1768470"/>
            <a:ext cx="7967980" cy="413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6090" indent="-453390" algn="l" rtl="0" eaLnBrk="0">
              <a:lnSpc>
                <a:spcPct val="104000"/>
              </a:lnSpc>
              <a:spcBef>
                <a:spcPts val="1"/>
              </a:spcBef>
              <a:tabLst/>
            </a:pP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7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fundamental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concept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handle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tasks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  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require    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repetition     within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repetition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54659" indent="-442594" algn="l" rtl="0" eaLnBrk="0">
              <a:lnSpc>
                <a:spcPct val="107000"/>
              </a:lnSpc>
              <a:spcBef>
                <a:spcPts val="1588"/>
              </a:spcBef>
              <a:tabLst/>
            </a:pP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3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exists</a:t>
            </a:r>
            <a:r>
              <a:rPr sz="2700" b="1" kern="0" spc="3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inside</a:t>
            </a:r>
            <a:r>
              <a:rPr sz="2700" b="1" kern="0" spc="1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3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body</a:t>
            </a:r>
            <a:r>
              <a:rPr sz="2700" b="1" kern="0" spc="2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kern="0" spc="2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another</a:t>
            </a:r>
            <a:r>
              <a:rPr sz="2700" b="1" kern="0" spc="3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kern="0" spc="3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700" b="1" kern="0" spc="3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called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700" b="1" kern="0" spc="2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</a:t>
            </a:r>
            <a:r>
              <a:rPr sz="27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ts val="3411"/>
              </a:lnSpc>
              <a:spcBef>
                <a:spcPts val="1580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ref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erred to as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outer</a:t>
            </a:r>
            <a:r>
              <a:rPr sz="2700" b="1" kern="0" spc="2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1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inner</a:t>
            </a:r>
            <a:r>
              <a:rPr sz="2700" b="1" kern="0" spc="2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5134" indent="-433069" algn="l" rtl="0" eaLnBrk="0">
              <a:lnSpc>
                <a:spcPct val="107000"/>
              </a:lnSpc>
              <a:tabLst/>
            </a:pP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4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outer</a:t>
            </a:r>
            <a:r>
              <a:rPr sz="2700" b="1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controls</a:t>
            </a:r>
            <a:r>
              <a:rPr sz="2700" b="1" kern="0" spc="1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3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kern="0" spc="2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execution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inner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loop/s.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14" name="rect 14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79907" y="249104"/>
              <a:ext cx="3707129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0" name="rect 2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/>
          <p:nvPr/>
        </p:nvSpPr>
        <p:spPr>
          <a:xfrm>
            <a:off x="1338498" y="1463659"/>
            <a:ext cx="7967344" cy="533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6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5930" indent="-443230" algn="l" rtl="0" eaLnBrk="0">
              <a:lnSpc>
                <a:spcPct val="105000"/>
              </a:lnSpc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4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  inner  or  outer  loop  can  be  any  type,  such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while</a:t>
            </a:r>
            <a:r>
              <a:rPr sz="2700" b="1" kern="0" spc="30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2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66090" indent="-453390" algn="l" rtl="0" eaLnBrk="0">
              <a:lnSpc>
                <a:spcPct val="107000"/>
              </a:lnSpc>
              <a:spcBef>
                <a:spcPts val="988"/>
              </a:spcBef>
              <a:tabLst/>
            </a:pP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5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outer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contain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</a:t>
            </a:r>
            <a:r>
              <a:rPr sz="2700" b="1" kern="0" spc="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than</a:t>
            </a:r>
            <a:r>
              <a:rPr sz="2700" b="1" kern="0" spc="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one</a:t>
            </a:r>
            <a:r>
              <a:rPr sz="2700" b="1" kern="0" spc="10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inner </a:t>
            </a:r>
            <a:r>
              <a:rPr sz="27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ts val="3411"/>
              </a:lnSpc>
              <a:spcBef>
                <a:spcPts val="979"/>
              </a:spcBef>
              <a:tabLst/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4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There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2700" b="1" kern="0" spc="2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limitation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chaining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55930" indent="-443230" algn="l" rtl="0" eaLnBrk="0">
              <a:lnSpc>
                <a:spcPct val="114000"/>
              </a:lnSpc>
              <a:spcBef>
                <a:spcPts val="1151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2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each   iteration   of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outer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   inner   loop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execute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2700" b="1" kern="0" spc="2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its</a:t>
            </a:r>
            <a:r>
              <a:rPr sz="2700" b="1" kern="0" spc="2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iteration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54025" indent="-441325" algn="l" rtl="0" eaLnBrk="0">
              <a:lnSpc>
                <a:spcPct val="104000"/>
              </a:lnSpc>
              <a:spcBef>
                <a:spcPts val="711"/>
              </a:spcBef>
              <a:tabLst/>
            </a:pP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6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typically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working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multidimensional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data    structures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such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    2-D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arrays,    ite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rating    a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sequence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such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list,</a:t>
            </a:r>
            <a:r>
              <a:rPr sz="2700" b="1" kern="0" spc="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string, tupl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700" b="1" kern="0" spc="1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4" name="rect 24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8" name="textbox 28"/>
            <p:cNvSpPr/>
            <p:nvPr/>
          </p:nvSpPr>
          <p:spPr>
            <a:xfrm>
              <a:off x="179907" y="249104"/>
              <a:ext cx="3707129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0" name="rect 3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72867" y="1840992"/>
            <a:ext cx="5888735" cy="272338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39952" y="5230367"/>
            <a:ext cx="8045195" cy="172212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6" name="rect 3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8" name="picture 3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0" name="textbox 40"/>
            <p:cNvSpPr/>
            <p:nvPr/>
          </p:nvSpPr>
          <p:spPr>
            <a:xfrm>
              <a:off x="179907" y="249104"/>
              <a:ext cx="3707129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2" name="textbox 42"/>
          <p:cNvSpPr/>
          <p:nvPr/>
        </p:nvSpPr>
        <p:spPr>
          <a:xfrm>
            <a:off x="1246455" y="1368912"/>
            <a:ext cx="549211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Syntax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using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4" name="rect 4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1405823" y="4645503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1328927" y="4399787"/>
          <a:ext cx="3268980" cy="2576829"/>
        </p:xfrm>
        <a:graphic>
          <a:graphicData uri="http://schemas.openxmlformats.org/drawingml/2006/table">
            <a:tbl>
              <a:tblPr/>
              <a:tblGrid>
                <a:gridCol w="3268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768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algn="l" rtl="0" eaLnBrk="0">
                        <a:lnSpc>
                          <a:spcPts val="2422"/>
                        </a:lnSpc>
                        <a:tabLst/>
                      </a:pPr>
                      <a:r>
                        <a:rPr sz="1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19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1900" b="1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9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176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while(i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&lt;=</a:t>
                      </a: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5):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499109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0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510540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while(j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&gt;</a:t>
                      </a:r>
                      <a:r>
                        <a:rPr sz="20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i-1):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03822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print(j,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d='</a:t>
                      </a:r>
                      <a:r>
                        <a:rPr sz="2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')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014094" algn="l" rtl="0" eaLnBrk="0">
                        <a:lnSpc>
                          <a:spcPct val="100000"/>
                        </a:lnSpc>
                        <a:spcBef>
                          <a:spcPts val="23"/>
                        </a:spcBef>
                        <a:tabLst/>
                      </a:pP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 j</a:t>
                      </a:r>
                      <a:r>
                        <a:rPr sz="20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r>
                        <a:rPr sz="20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0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520700" algn="l" rtl="0" eaLnBrk="0">
                        <a:lnSpc>
                          <a:spcPts val="2354"/>
                        </a:lnSpc>
                        <a:spcBef>
                          <a:spcPts val="23"/>
                        </a:spcBef>
                        <a:tabLst/>
                      </a:pP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19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19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1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sz="1900" b="1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9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523240" algn="l" rtl="0" eaLnBrk="0">
                        <a:lnSpc>
                          <a:spcPts val="2548"/>
                        </a:lnSpc>
                        <a:tabLst/>
                      </a:pPr>
                      <a:r>
                        <a:rPr sz="20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print()</a:t>
                      </a:r>
                      <a:endParaRPr sz="20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group 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50" name="rect 5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52" name="picture 5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54" name="textbox 54"/>
            <p:cNvSpPr/>
            <p:nvPr/>
          </p:nvSpPr>
          <p:spPr>
            <a:xfrm>
              <a:off x="179907" y="249104"/>
              <a:ext cx="3707129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56" name="picture 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30467" y="4846319"/>
            <a:ext cx="3561588" cy="1978151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92067" y="1837944"/>
            <a:ext cx="3352799" cy="1973579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1246455" y="1368912"/>
            <a:ext cx="486410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Syntax of nested while</a:t>
            </a:r>
            <a:r>
              <a:rPr sz="2300" b="1" u="sng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00" b="1" u="sng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62" name="rect 62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1405823" y="3959706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041890" y="4431840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58667" y="1886711"/>
            <a:ext cx="4617719" cy="1946147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25667" y="4774691"/>
            <a:ext cx="3953255" cy="2129027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72" name="rect 72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179907" y="249104"/>
              <a:ext cx="3707129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1444752" y="4616195"/>
            <a:ext cx="3268980" cy="1353311"/>
            <a:chOff x="0" y="0"/>
            <a:chExt cx="3268980" cy="1353311"/>
          </a:xfrm>
        </p:grpSpPr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268980" cy="135331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-12700" y="-12700"/>
              <a:ext cx="3295015" cy="13950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1920" algn="l" rtl="0" eaLnBrk="0">
                <a:lnSpc>
                  <a:spcPts val="2422"/>
                </a:lnSpc>
                <a:spcBef>
                  <a:spcPts val="4"/>
                </a:spcBef>
                <a:tabLst/>
              </a:pP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000" b="1" kern="0" spc="1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000" b="1" kern="0" spc="1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000" b="1" kern="0" spc="1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</a:t>
              </a:r>
              <a:r>
                <a:rPr sz="20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e(1,</a:t>
              </a:r>
              <a:r>
                <a:rPr sz="20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6):</a:t>
              </a:r>
              <a:endParaRPr sz="2000" dirty="0">
                <a:latin typeface="Calibri"/>
                <a:ea typeface="Calibri"/>
                <a:cs typeface="Calibri"/>
              </a:endParaRPr>
            </a:p>
            <a:p>
              <a:pPr marL="350520" algn="l" rtl="0" eaLnBrk="0">
                <a:lnSpc>
                  <a:spcPct val="100000"/>
                </a:lnSpc>
                <a:spcBef>
                  <a:spcPts val="23"/>
                </a:spcBef>
                <a:tabLst/>
              </a:pP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 j</a:t>
              </a:r>
              <a:r>
                <a:rPr sz="20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000" b="1" kern="0" spc="1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range(i):</a:t>
              </a:r>
              <a:endParaRPr sz="2000" dirty="0">
                <a:latin typeface="Calibri"/>
                <a:ea typeface="Calibri"/>
                <a:cs typeface="Calibri"/>
              </a:endParaRPr>
            </a:p>
            <a:p>
              <a:pPr marL="593725" algn="l" rtl="0" eaLnBrk="0">
                <a:lnSpc>
                  <a:spcPct val="98000"/>
                </a:lnSpc>
                <a:spcBef>
                  <a:spcPts val="26"/>
                </a:spcBef>
                <a:tabLst/>
              </a:pP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print(i,</a:t>
              </a:r>
              <a:r>
                <a:rPr sz="2000" b="1" kern="0" spc="1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end='</a:t>
              </a:r>
              <a:r>
                <a:rPr sz="2000" b="1" kern="0" spc="1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')</a:t>
              </a:r>
              <a:endParaRPr sz="2000" dirty="0">
                <a:latin typeface="Calibri"/>
                <a:ea typeface="Calibri"/>
                <a:cs typeface="Calibri"/>
              </a:endParaRPr>
            </a:p>
            <a:p>
              <a:pPr marL="365125" algn="l" rtl="0" eaLnBrk="0">
                <a:lnSpc>
                  <a:spcPts val="2548"/>
                </a:lnSpc>
                <a:tabLst/>
              </a:pPr>
              <a:r>
                <a:rPr sz="20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print()</a:t>
              </a:r>
              <a:endParaRPr sz="20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82" name="textbox 82"/>
          <p:cNvSpPr/>
          <p:nvPr/>
        </p:nvSpPr>
        <p:spPr>
          <a:xfrm>
            <a:off x="1246455" y="1368912"/>
            <a:ext cx="453517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Syntax of nested for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300" b="1" u="sng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84" name="rect 8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6" name="textbox 86"/>
          <p:cNvSpPr/>
          <p:nvPr/>
        </p:nvSpPr>
        <p:spPr>
          <a:xfrm>
            <a:off x="1405823" y="3959706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6041890" y="4431840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90"/>
          <p:cNvSpPr/>
          <p:nvPr/>
        </p:nvSpPr>
        <p:spPr>
          <a:xfrm>
            <a:off x="1262208" y="1368368"/>
            <a:ext cx="8118475" cy="1496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6090" indent="-453390" algn="l" rtl="0" eaLnBrk="0">
              <a:lnSpc>
                <a:spcPct val="107000"/>
              </a:lnSpc>
              <a:tabLst/>
            </a:pP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4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5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two</a:t>
            </a:r>
            <a:r>
              <a:rPr sz="2700" b="1" kern="0" spc="5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60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700" b="1" kern="0" spc="5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while</a:t>
            </a:r>
            <a:r>
              <a:rPr sz="2700" b="1" kern="0" spc="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constructs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also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mixed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7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construct.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537209" algn="l" rtl="0" eaLnBrk="0">
              <a:lnSpc>
                <a:spcPct val="111000"/>
              </a:lnSpc>
              <a:spcBef>
                <a:spcPts val="4"/>
              </a:spcBef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3654552" y="2855976"/>
            <a:ext cx="3534156" cy="2336291"/>
            <a:chOff x="0" y="0"/>
            <a:chExt cx="3534156" cy="2336291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34156" cy="2336291"/>
            </a:xfrm>
            <a:prstGeom prst="rect">
              <a:avLst/>
            </a:prstGeom>
          </p:spPr>
        </p:pic>
        <p:sp>
          <p:nvSpPr>
            <p:cNvPr id="94" name="textbox 94"/>
            <p:cNvSpPr/>
            <p:nvPr/>
          </p:nvSpPr>
          <p:spPr>
            <a:xfrm>
              <a:off x="-12700" y="-12700"/>
              <a:ext cx="3559809" cy="2362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37160" algn="l" rtl="0" eaLnBrk="0">
                <a:lnSpc>
                  <a:spcPts val="2904"/>
                </a:lnSpc>
                <a:spcBef>
                  <a:spcPts val="4"/>
                </a:spcBef>
                <a:tabLst/>
              </a:pPr>
              <a:r>
                <a:rPr sz="2300" b="1" kern="0" spc="-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1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=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0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123189" algn="l" rtl="0" eaLnBrk="0">
                <a:lnSpc>
                  <a:spcPts val="2879"/>
                </a:lnSpc>
                <a:tabLst/>
              </a:pP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300" b="1" kern="0" spc="2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</a:t>
              </a:r>
              <a:r>
                <a:rPr sz="23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2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range(1,15):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98145" algn="l" rtl="0" eaLnBrk="0">
                <a:lnSpc>
                  <a:spcPts val="2879"/>
                </a:lnSpc>
                <a:tabLst/>
              </a:pP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while</a:t>
              </a:r>
              <a:r>
                <a:rPr sz="23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1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&lt;=</a:t>
              </a:r>
              <a:r>
                <a:rPr sz="23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1054735" algn="l" rtl="0" eaLnBrk="0">
                <a:lnSpc>
                  <a:spcPts val="2879"/>
                </a:lnSpc>
                <a:tabLst/>
              </a:pP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</a:t>
              </a:r>
              <a:r>
                <a:rPr sz="23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(i,</a:t>
              </a:r>
              <a:r>
                <a:rPr sz="2300" b="1" kern="0" spc="1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end</a:t>
              </a:r>
              <a:r>
                <a:rPr sz="2300" b="1" kern="0" spc="1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=</a:t>
              </a:r>
              <a:r>
                <a:rPr sz="23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</a:t>
              </a:r>
              <a:r>
                <a:rPr sz="23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</a:t>
              </a:r>
              <a:r>
                <a:rPr sz="23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)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1051560" algn="l" rtl="0" eaLnBrk="0">
                <a:lnSpc>
                  <a:spcPts val="2915"/>
                </a:lnSpc>
                <a:tabLst/>
              </a:pPr>
              <a:r>
                <a:rPr sz="22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200" b="1" kern="0" spc="2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2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=</a:t>
              </a:r>
              <a:r>
                <a:rPr sz="22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2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200" b="1" kern="0" spc="1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2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+</a:t>
              </a:r>
              <a:r>
                <a:rPr sz="22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200" b="1" kern="0" spc="-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</a:t>
              </a:r>
              <a:endParaRPr sz="2200" dirty="0">
                <a:latin typeface="Calibri"/>
                <a:ea typeface="Calibri"/>
                <a:cs typeface="Calibri"/>
              </a:endParaRPr>
            </a:p>
            <a:p>
              <a:pPr marL="140335" algn="l" rtl="0" eaLnBrk="0">
                <a:lnSpc>
                  <a:spcPts val="2844"/>
                </a:lnSpc>
                <a:spcBef>
                  <a:spcPts val="24"/>
                </a:spcBef>
                <a:tabLst/>
              </a:pP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print()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96" name="rect 9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98" name="picture 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00" name="textbox 100"/>
            <p:cNvSpPr/>
            <p:nvPr/>
          </p:nvSpPr>
          <p:spPr>
            <a:xfrm>
              <a:off x="179907" y="249104"/>
              <a:ext cx="3707129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058667" y="5608319"/>
            <a:ext cx="5169408" cy="1295400"/>
          </a:xfrm>
          <a:prstGeom prst="rect">
            <a:avLst/>
          </a:prstGeom>
        </p:spPr>
      </p:pic>
      <p:sp>
        <p:nvSpPr>
          <p:cNvPr id="104" name="rect 10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6" name="textbox 106"/>
          <p:cNvSpPr/>
          <p:nvPr/>
        </p:nvSpPr>
        <p:spPr>
          <a:xfrm>
            <a:off x="1757884" y="5574836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8"/>
          <p:cNvSpPr/>
          <p:nvPr/>
        </p:nvSpPr>
        <p:spPr>
          <a:xfrm>
            <a:off x="1298793" y="1409460"/>
            <a:ext cx="8194675" cy="2339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5134" indent="-433069" algn="l" rtl="0" eaLnBrk="0">
              <a:lnSpc>
                <a:spcPct val="106000"/>
              </a:lnSpc>
              <a:tabLst/>
            </a:pP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6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essential</a:t>
            </a:r>
            <a:r>
              <a:rPr sz="2700" b="1" kern="0" spc="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programming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extent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   they    allow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efficie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nt</a:t>
            </a:r>
            <a:r>
              <a:rPr sz="2700" b="1" kern="0" spc="1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flexible</a:t>
            </a:r>
            <a:r>
              <a:rPr sz="2700" b="1" kern="0" spc="1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-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code</a:t>
            </a:r>
            <a:r>
              <a:rPr sz="2700" b="1" kern="0" spc="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repetition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54025" indent="-441325" algn="l" rtl="0" eaLnBrk="0">
              <a:lnSpc>
                <a:spcPct val="105000"/>
              </a:lnSpc>
              <a:spcBef>
                <a:spcPts val="3"/>
              </a:spcBef>
              <a:tabLst/>
            </a:pP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Python,  the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  loop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  for   iterating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over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sequence types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such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list, tupl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e, set,</a:t>
            </a:r>
            <a:r>
              <a:rPr sz="2700" b="1" kern="0" spc="2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etc.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110" name="rect 11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179907" y="249104"/>
              <a:ext cx="3060064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1176527" y="5594603"/>
            <a:ext cx="4087367" cy="1382268"/>
            <a:chOff x="0" y="0"/>
            <a:chExt cx="4087367" cy="1382268"/>
          </a:xfrm>
        </p:grpSpPr>
        <p:pic>
          <p:nvPicPr>
            <p:cNvPr id="116" name="picture 1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087367" cy="1382268"/>
            </a:xfrm>
            <a:prstGeom prst="rect">
              <a:avLst/>
            </a:prstGeom>
          </p:spPr>
        </p:pic>
        <p:sp>
          <p:nvSpPr>
            <p:cNvPr id="118" name="textbox 118"/>
            <p:cNvSpPr/>
            <p:nvPr/>
          </p:nvSpPr>
          <p:spPr>
            <a:xfrm>
              <a:off x="-12700" y="-12700"/>
              <a:ext cx="4112895" cy="14077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0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8904" algn="l" rtl="0" eaLnBrk="0">
                <a:lnSpc>
                  <a:spcPct val="74000"/>
                </a:lnSpc>
                <a:tabLst/>
              </a:pP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colors</a:t>
              </a:r>
              <a:r>
                <a:rPr sz="2300" b="1" kern="0" spc="1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= ['Red',</a:t>
              </a:r>
              <a:r>
                <a:rPr sz="2300" b="1" kern="0" spc="2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</a:t>
              </a:r>
              <a:r>
                <a:rPr sz="23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Green',</a:t>
              </a:r>
              <a:r>
                <a:rPr sz="2300" b="1" kern="0" spc="3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'Blue']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88900" algn="l" rtl="0" eaLnBrk="0">
                <a:lnSpc>
                  <a:spcPts val="3751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300" b="1" kern="0" spc="-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x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colors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89254" algn="l" rtl="0" eaLnBrk="0">
                <a:lnSpc>
                  <a:spcPts val="2927"/>
                </a:lnSpc>
                <a:spcBef>
                  <a:spcPts val="564"/>
                </a:spcBef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(x)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20" name="picture 1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18687" y="3742944"/>
            <a:ext cx="4648200" cy="1112520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59067" y="5590032"/>
            <a:ext cx="3429000" cy="1405127"/>
          </a:xfrm>
          <a:prstGeom prst="rect">
            <a:avLst/>
          </a:prstGeom>
        </p:spPr>
      </p:pic>
      <p:sp>
        <p:nvSpPr>
          <p:cNvPr id="124" name="rect 12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6" name="textbox 126"/>
          <p:cNvSpPr/>
          <p:nvPr/>
        </p:nvSpPr>
        <p:spPr>
          <a:xfrm>
            <a:off x="1253424" y="5026502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6349666" y="5154249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9132" y="1341120"/>
            <a:ext cx="6477000" cy="5562600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132" name="rect 132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34" name="picture 1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36" name="textbox 136"/>
            <p:cNvSpPr/>
            <p:nvPr/>
          </p:nvSpPr>
          <p:spPr>
            <a:xfrm>
              <a:off x="179907" y="249104"/>
              <a:ext cx="3060064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8" name="rect 13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40"/>
          <p:cNvSpPr/>
          <p:nvPr/>
        </p:nvSpPr>
        <p:spPr>
          <a:xfrm>
            <a:off x="1262208" y="1387542"/>
            <a:ext cx="8192134" cy="1469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4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9900" indent="-457200" algn="l" rtl="0" eaLnBrk="0">
              <a:lnSpc>
                <a:spcPct val="98000"/>
              </a:lnSpc>
              <a:tabLst/>
            </a:pP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5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You</a:t>
            </a:r>
            <a:r>
              <a:rPr sz="2700" b="1" kern="0" spc="4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2700" b="1" kern="0" spc="4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iterate</a:t>
            </a:r>
            <a:r>
              <a:rPr sz="2700" b="1" kern="0" spc="3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through</a:t>
            </a:r>
            <a:r>
              <a:rPr sz="2700" b="1" kern="0" spc="4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each</a:t>
            </a:r>
            <a:r>
              <a:rPr sz="2700" b="1" kern="0" spc="4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character</a:t>
            </a:r>
            <a:r>
              <a:rPr sz="2700" b="1" kern="0" spc="4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4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4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string</a:t>
            </a:r>
            <a:r>
              <a:rPr sz="2700" b="1" kern="0" spc="4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700" b="1" kern="0" spc="3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by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using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 for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500" dirty="0">
              <a:latin typeface="Arial"/>
              <a:ea typeface="Arial"/>
              <a:cs typeface="Arial"/>
            </a:endParaRPr>
          </a:p>
          <a:p>
            <a:pPr marL="461009" algn="l" rtl="0" eaLnBrk="0">
              <a:lnSpc>
                <a:spcPct val="111000"/>
              </a:lnSpc>
              <a:spcBef>
                <a:spcPts val="1"/>
              </a:spcBef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42" name="table 142"/>
          <p:cNvGraphicFramePr>
            <a:graphicFrameLocks noGrp="1"/>
          </p:cNvGraphicFramePr>
          <p:nvPr/>
        </p:nvGraphicFramePr>
        <p:xfrm>
          <a:off x="2740151" y="2927603"/>
          <a:ext cx="6353175" cy="1590675"/>
        </p:xfrm>
        <a:graphic>
          <a:graphicData uri="http://schemas.openxmlformats.org/drawingml/2006/table">
            <a:tbl>
              <a:tblPr/>
              <a:tblGrid>
                <a:gridCol w="635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0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ts val="2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language</a:t>
                      </a:r>
                      <a:r>
                        <a:rPr sz="2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=</a:t>
                      </a:r>
                      <a:r>
                        <a:rPr sz="2300" b="1" kern="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  <a:r>
                        <a:rPr sz="2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08585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Iterate</a:t>
                      </a:r>
                      <a:r>
                        <a:rPr sz="2300" b="1" kern="0" spc="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over</a:t>
                      </a:r>
                      <a:r>
                        <a:rPr sz="2300" b="1" kern="0" spc="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each</a:t>
                      </a:r>
                      <a:r>
                        <a:rPr sz="2300" b="1" kern="0" spc="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character</a:t>
                      </a:r>
                      <a:r>
                        <a:rPr sz="2300" b="1" kern="0" spc="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15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  <a:r>
                        <a:rPr sz="2300" b="1" kern="0" spc="2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string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62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 character i</a:t>
                      </a: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 language: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6554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character</a:t>
                      </a:r>
                      <a:r>
                        <a:rPr sz="23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4" name="rect 144"/>
          <p:cNvSpPr/>
          <p:nvPr/>
        </p:nvSpPr>
        <p:spPr>
          <a:xfrm>
            <a:off x="3459480" y="4741164"/>
            <a:ext cx="3729227" cy="2260091"/>
          </a:xfrm>
          <a:prstGeom prst="rect">
            <a:avLst/>
          </a:prstGeom>
          <a:solidFill>
            <a:srgbClr val="1A202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rect 146"/>
          <p:cNvSpPr/>
          <p:nvPr/>
        </p:nvSpPr>
        <p:spPr>
          <a:xfrm>
            <a:off x="772667" y="350519"/>
            <a:ext cx="9144000" cy="838200"/>
          </a:xfrm>
          <a:prstGeom prst="rect">
            <a:avLst/>
          </a:prstGeom>
          <a:solidFill>
            <a:srgbClr val="FF33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rect 148"/>
          <p:cNvSpPr/>
          <p:nvPr/>
        </p:nvSpPr>
        <p:spPr>
          <a:xfrm>
            <a:off x="6918960" y="350519"/>
            <a:ext cx="2997706" cy="838200"/>
          </a:xfrm>
          <a:prstGeom prst="rect">
            <a:avLst/>
          </a:prstGeom>
          <a:solidFill>
            <a:srgbClr val="FF33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0" name="textbox 150"/>
          <p:cNvSpPr/>
          <p:nvPr/>
        </p:nvSpPr>
        <p:spPr>
          <a:xfrm>
            <a:off x="815482" y="493014"/>
            <a:ext cx="9114155" cy="746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908"/>
              </a:lnSpc>
              <a:tabLst/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Looping through Strings with</a:t>
            </a:r>
            <a:r>
              <a:rPr sz="32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32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                           </a:t>
            </a:r>
            <a:r>
              <a:rPr sz="32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endParaRPr sz="3200" dirty="0">
              <a:latin typeface="Calibri"/>
              <a:ea typeface="Calibri"/>
              <a:cs typeface="Calibri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89334" y="541019"/>
            <a:ext cx="2083306" cy="685800"/>
          </a:xfrm>
          <a:prstGeom prst="rect">
            <a:avLst/>
          </a:prstGeom>
        </p:spPr>
      </p:pic>
      <p:sp>
        <p:nvSpPr>
          <p:cNvPr id="154" name="rect 15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textbox 156"/>
          <p:cNvSpPr/>
          <p:nvPr/>
        </p:nvSpPr>
        <p:spPr>
          <a:xfrm>
            <a:off x="2024583" y="5043075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8"/>
          <p:cNvSpPr/>
          <p:nvPr/>
        </p:nvSpPr>
        <p:spPr>
          <a:xfrm>
            <a:off x="1414614" y="1901701"/>
            <a:ext cx="7894319" cy="44081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4025" indent="-441325" algn="l" rtl="0" eaLnBrk="0">
              <a:lnSpc>
                <a:spcPct val="107000"/>
              </a:lnSpc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5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When  a  for  loop  is  used,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 sequence</a:t>
            </a:r>
            <a:r>
              <a:rPr sz="2700" b="1" kern="0" spc="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specified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only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once</a:t>
            </a:r>
            <a:r>
              <a:rPr sz="27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66090" indent="-453390" algn="l" rtl="0" eaLnBrk="0">
              <a:lnSpc>
                <a:spcPct val="114000"/>
              </a:lnSpc>
              <a:spcBef>
                <a:spcPts val="981"/>
              </a:spcBef>
              <a:tabLst/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has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built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method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called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()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that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returns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numbers.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62915" indent="-450215" algn="l" rtl="0" eaLnBrk="0">
              <a:lnSpc>
                <a:spcPct val="105000"/>
              </a:lnSpc>
              <a:spcBef>
                <a:spcPts val="670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6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Developers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frequently   use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it</a:t>
            </a:r>
            <a:r>
              <a:rPr sz="2700" b="1" kern="0" spc="2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  loops   to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iterate over a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list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numbers</a:t>
            </a:r>
            <a:r>
              <a:rPr sz="27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repeatedly.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62915" indent="-450215" algn="l" rtl="0" eaLnBrk="0">
              <a:lnSpc>
                <a:spcPct val="109000"/>
              </a:lnSpc>
              <a:tabLst/>
            </a:pP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5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()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function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returns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sequence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numbers;</a:t>
            </a:r>
            <a:r>
              <a:rPr sz="2700" b="1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starting     point,     endi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ng     point     and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increment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er.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160" name="rect 16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62" name="picture 1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64" name="textbox 164"/>
            <p:cNvSpPr/>
            <p:nvPr/>
          </p:nvSpPr>
          <p:spPr>
            <a:xfrm>
              <a:off x="179907" y="142495"/>
              <a:ext cx="5224779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08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 with</a:t>
              </a:r>
              <a:r>
                <a:rPr sz="32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 ()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function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6" name="rect 166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table 168"/>
          <p:cNvGraphicFramePr>
            <a:graphicFrameLocks noGrp="1"/>
          </p:cNvGraphicFramePr>
          <p:nvPr/>
        </p:nvGraphicFramePr>
        <p:xfrm>
          <a:off x="1071372" y="3011423"/>
          <a:ext cx="8623934" cy="3366135"/>
        </p:xfrm>
        <a:graphic>
          <a:graphicData uri="http://schemas.openxmlformats.org/drawingml/2006/table">
            <a:tbl>
              <a:tblPr/>
              <a:tblGrid>
                <a:gridCol w="2367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0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920" algn="l" rtl="0" eaLnBrk="0">
                        <a:lnSpc>
                          <a:spcPct val="67000"/>
                        </a:lnSpc>
                        <a:tabLst/>
                      </a:pPr>
                      <a:r>
                        <a:rPr sz="2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Parameter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7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700" b="1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Description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6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Start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20650" algn="l" rtl="0" eaLnBrk="0">
                        <a:lnSpc>
                          <a:spcPts val="3411"/>
                        </a:lnSpc>
                        <a:spcBef>
                          <a:spcPts val="307"/>
                        </a:spcBef>
                        <a:tabLst/>
                      </a:pPr>
                      <a:r>
                        <a:rPr sz="2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(optional)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1285" indent="-23495" algn="l" rtl="0" eaLnBrk="0">
                        <a:lnSpc>
                          <a:spcPct val="10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</a:t>
                      </a:r>
                      <a:r>
                        <a:rPr sz="27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r>
                        <a:rPr sz="27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no. specifying</a:t>
                      </a:r>
                      <a:r>
                        <a:rPr sz="27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position to</a:t>
                      </a:r>
                      <a:r>
                        <a:rPr sz="27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start.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By</a:t>
                      </a: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default</a:t>
                      </a: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</a:t>
                      </a:r>
                      <a:r>
                        <a:rPr sz="27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is</a:t>
                      </a:r>
                      <a:r>
                        <a:rPr sz="27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0.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ct val="71000"/>
                        </a:lnSpc>
                        <a:tabLst/>
                      </a:pPr>
                      <a:r>
                        <a:rPr sz="2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Stop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20650" algn="l" rtl="0" eaLnBrk="0">
                        <a:lnSpc>
                          <a:spcPts val="3411"/>
                        </a:lnSpc>
                        <a:spcBef>
                          <a:spcPts val="203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(required)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ts val="3411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</a:t>
                      </a:r>
                      <a:r>
                        <a:rPr sz="27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r>
                        <a:rPr sz="27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no. specifying</a:t>
                      </a:r>
                      <a:r>
                        <a:rPr sz="27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position to</a:t>
                      </a:r>
                      <a:r>
                        <a:rPr sz="27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stop.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4" algn="l" rtl="0" eaLnBrk="0">
                        <a:lnSpc>
                          <a:spcPts val="3411"/>
                        </a:lnSpc>
                        <a:tabLst/>
                      </a:pPr>
                      <a:r>
                        <a:rPr sz="2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Step</a:t>
                      </a:r>
                      <a:r>
                        <a:rPr sz="27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(optional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indent="-24129" algn="l" rtl="0" eaLnBrk="0">
                        <a:lnSpc>
                          <a:spcPct val="10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An</a:t>
                      </a:r>
                      <a:r>
                        <a:rPr sz="27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integer</a:t>
                      </a:r>
                      <a:r>
                        <a:rPr sz="27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no.</a:t>
                      </a:r>
                      <a:r>
                        <a:rPr sz="27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specifying the</a:t>
                      </a:r>
                      <a:r>
                        <a:rPr sz="27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increment.</a:t>
                      </a:r>
                      <a:r>
                        <a:rPr sz="27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By</a:t>
                      </a:r>
                      <a:r>
                        <a:rPr sz="27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default</a:t>
                      </a:r>
                      <a:r>
                        <a:rPr sz="2700" b="1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</a:t>
                      </a:r>
                      <a:r>
                        <a:rPr sz="27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is</a:t>
                      </a:r>
                      <a:r>
                        <a:rPr sz="2700" b="1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7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1.</a:t>
                      </a:r>
                      <a:endParaRPr sz="27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6" name="group 2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170" name="rect 17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72" name="picture 1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74" name="textbox 174"/>
            <p:cNvSpPr/>
            <p:nvPr/>
          </p:nvSpPr>
          <p:spPr>
            <a:xfrm>
              <a:off x="179907" y="142495"/>
              <a:ext cx="5224779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08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 with</a:t>
              </a:r>
              <a:r>
                <a:rPr sz="32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 ()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function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6" name="textbox 176"/>
          <p:cNvSpPr/>
          <p:nvPr/>
        </p:nvSpPr>
        <p:spPr>
          <a:xfrm>
            <a:off x="2337624" y="2130397"/>
            <a:ext cx="6040120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27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Syntax</a:t>
            </a:r>
            <a:r>
              <a:rPr sz="2700" b="1" u="sng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 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start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stop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sp>
        <p:nvSpPr>
          <p:cNvPr id="178" name="rect 17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table 180"/>
          <p:cNvGraphicFramePr>
            <a:graphicFrameLocks noGrp="1"/>
          </p:cNvGraphicFramePr>
          <p:nvPr/>
        </p:nvGraphicFramePr>
        <p:xfrm>
          <a:off x="3197351" y="2622803"/>
          <a:ext cx="6237604" cy="1591945"/>
        </p:xfrm>
        <a:graphic>
          <a:graphicData uri="http://schemas.openxmlformats.org/drawingml/2006/table">
            <a:tbl>
              <a:tblPr/>
              <a:tblGrid>
                <a:gridCol w="6237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1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ts val="2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Iterate</a:t>
                      </a:r>
                      <a:r>
                        <a:rPr sz="2300" b="1" kern="0" spc="15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through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sequence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300" b="1" kern="0" spc="-1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numbers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62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(5):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81634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each</a:t>
                      </a:r>
                      <a:r>
                        <a:rPr sz="2300" b="1" kern="0" spc="11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6554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(i)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63467" y="4617720"/>
            <a:ext cx="4221479" cy="2240279"/>
          </a:xfrm>
          <a:prstGeom prst="rect">
            <a:avLst/>
          </a:prstGeom>
        </p:spPr>
      </p:pic>
      <p:grpSp>
        <p:nvGrpSpPr>
          <p:cNvPr id="28" name="group 2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184" name="rect 184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86" name="picture 18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188" name="textbox 188"/>
            <p:cNvSpPr/>
            <p:nvPr/>
          </p:nvSpPr>
          <p:spPr>
            <a:xfrm>
              <a:off x="179907" y="142495"/>
              <a:ext cx="5224779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08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 with</a:t>
              </a:r>
              <a:r>
                <a:rPr sz="32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 ()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function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90" name="textbox 190"/>
          <p:cNvSpPr/>
          <p:nvPr/>
        </p:nvSpPr>
        <p:spPr>
          <a:xfrm>
            <a:off x="1177224" y="2342841"/>
            <a:ext cx="1640204" cy="3510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0354" algn="l" rtl="0" eaLnBrk="0">
              <a:lnSpc>
                <a:spcPct val="72000"/>
              </a:lnSpc>
              <a:spcBef>
                <a:spcPts val="1"/>
              </a:spcBef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064944" y="1406512"/>
            <a:ext cx="3007360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700" b="1" u="sng" kern="0" spc="23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u="sng" kern="0" spc="20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2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stop</a:t>
            </a:r>
            <a:r>
              <a:rPr sz="2700" b="1" u="sng" kern="0" spc="2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):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sp>
        <p:nvSpPr>
          <p:cNvPr id="194" name="rect 19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63467" y="4541520"/>
            <a:ext cx="5036819" cy="2438399"/>
          </a:xfrm>
          <a:prstGeom prst="rect">
            <a:avLst/>
          </a:prstGeom>
        </p:spPr>
      </p:pic>
      <p:graphicFrame>
        <p:nvGraphicFramePr>
          <p:cNvPr id="198" name="table 198"/>
          <p:cNvGraphicFramePr>
            <a:graphicFrameLocks noGrp="1"/>
          </p:cNvGraphicFramePr>
          <p:nvPr/>
        </p:nvGraphicFramePr>
        <p:xfrm>
          <a:off x="3197351" y="2622803"/>
          <a:ext cx="6237604" cy="1591945"/>
        </p:xfrm>
        <a:graphic>
          <a:graphicData uri="http://schemas.openxmlformats.org/drawingml/2006/table">
            <a:tbl>
              <a:tblPr/>
              <a:tblGrid>
                <a:gridCol w="6237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1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ts val="2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Iterate</a:t>
                      </a:r>
                      <a:r>
                        <a:rPr sz="2300" b="1" kern="0" spc="15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through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sequence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300" b="1" kern="0" spc="-1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numbers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62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(1,5):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81634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each</a:t>
                      </a:r>
                      <a:r>
                        <a:rPr sz="2300" b="1" kern="0" spc="11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6554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(i)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0" name="group 3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00" name="rect 20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02" name="picture 2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04" name="textbox 204"/>
            <p:cNvSpPr/>
            <p:nvPr/>
          </p:nvSpPr>
          <p:spPr>
            <a:xfrm>
              <a:off x="179907" y="142495"/>
              <a:ext cx="5224779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08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 with</a:t>
              </a:r>
              <a:r>
                <a:rPr sz="32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 ()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function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06" name="textbox 206"/>
          <p:cNvSpPr/>
          <p:nvPr/>
        </p:nvSpPr>
        <p:spPr>
          <a:xfrm>
            <a:off x="1402846" y="2251312"/>
            <a:ext cx="1640204" cy="3309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26390" algn="l" rtl="0" eaLnBrk="0">
              <a:lnSpc>
                <a:spcPct val="72000"/>
              </a:lnSpc>
              <a:spcBef>
                <a:spcPts val="2"/>
              </a:spcBef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151810" y="1508463"/>
            <a:ext cx="3866515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700" b="1" u="sng" kern="0" spc="21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u="sng" kern="0" spc="20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3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start</a:t>
            </a:r>
            <a:r>
              <a:rPr sz="2700" b="1" u="sng" kern="0" spc="3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u="sng" kern="0" spc="16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stop</a:t>
            </a:r>
            <a:r>
              <a:rPr sz="2700" b="1" u="sng" kern="0" spc="3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):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sp>
        <p:nvSpPr>
          <p:cNvPr id="210" name="rect 21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picture 2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68267" y="4639055"/>
            <a:ext cx="4291583" cy="2406395"/>
          </a:xfrm>
          <a:prstGeom prst="rect">
            <a:avLst/>
          </a:prstGeom>
        </p:spPr>
      </p:pic>
      <p:graphicFrame>
        <p:nvGraphicFramePr>
          <p:cNvPr id="214" name="table 214"/>
          <p:cNvGraphicFramePr>
            <a:graphicFrameLocks noGrp="1"/>
          </p:cNvGraphicFramePr>
          <p:nvPr/>
        </p:nvGraphicFramePr>
        <p:xfrm>
          <a:off x="2587751" y="2711195"/>
          <a:ext cx="6237604" cy="1591945"/>
        </p:xfrm>
        <a:graphic>
          <a:graphicData uri="http://schemas.openxmlformats.org/drawingml/2006/table">
            <a:tbl>
              <a:tblPr/>
              <a:tblGrid>
                <a:gridCol w="6237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1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ts val="2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Iterate</a:t>
                      </a:r>
                      <a:r>
                        <a:rPr sz="2300" b="1" kern="0" spc="15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through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sequence</a:t>
                      </a:r>
                      <a:r>
                        <a:rPr sz="2300" b="1" kern="0" spc="8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300" b="1" kern="0" spc="-1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numbers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62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(1,10,2):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81634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4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each</a:t>
                      </a:r>
                      <a:r>
                        <a:rPr sz="2300" b="1" kern="0" spc="11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6554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(i)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2" name="group 32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16" name="rect 21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18" name="picture 2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20" name="textbox 220"/>
            <p:cNvSpPr/>
            <p:nvPr/>
          </p:nvSpPr>
          <p:spPr>
            <a:xfrm>
              <a:off x="179907" y="142495"/>
              <a:ext cx="5224779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08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 with</a:t>
              </a:r>
              <a:r>
                <a:rPr sz="32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 ()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function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22" name="textbox 222"/>
          <p:cNvSpPr/>
          <p:nvPr/>
        </p:nvSpPr>
        <p:spPr>
          <a:xfrm>
            <a:off x="1104476" y="1383626"/>
            <a:ext cx="4661534" cy="11760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</a:t>
            </a:r>
            <a:r>
              <a:rPr sz="2700" b="1" u="sng" kern="0" spc="22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</a:t>
            </a:r>
            <a:r>
              <a:rPr sz="2700" b="1" u="sng" kern="0" spc="19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4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start</a:t>
            </a:r>
            <a:r>
              <a:rPr sz="2700" b="1" u="sng" kern="0" spc="4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u="sng" kern="0" spc="17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stop</a:t>
            </a:r>
            <a:r>
              <a:rPr sz="2700" b="1" u="sng" kern="0" spc="4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 </a:t>
            </a:r>
            <a:r>
              <a:rPr sz="2700" b="1" u="sng" kern="0" spc="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step</a:t>
            </a:r>
            <a:r>
              <a:rPr sz="2700" b="1" u="sng" kern="0" spc="40" dirty="0">
                <a:solidFill>
                  <a:srgbClr val="273239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):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42290" algn="l" rtl="0" eaLnBrk="0">
              <a:lnSpc>
                <a:spcPct val="111000"/>
              </a:lnSpc>
              <a:spcBef>
                <a:spcPts val="5"/>
              </a:spcBef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224" name="rect 22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" name="textbox 226"/>
          <p:cNvSpPr/>
          <p:nvPr/>
        </p:nvSpPr>
        <p:spPr>
          <a:xfrm>
            <a:off x="1948383" y="5498637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table 228"/>
          <p:cNvGraphicFramePr>
            <a:graphicFrameLocks noGrp="1"/>
          </p:cNvGraphicFramePr>
          <p:nvPr/>
        </p:nvGraphicFramePr>
        <p:xfrm>
          <a:off x="1444752" y="2029968"/>
          <a:ext cx="8181975" cy="3068954"/>
        </p:xfrm>
        <a:graphic>
          <a:graphicData uri="http://schemas.openxmlformats.org/drawingml/2006/table">
            <a:tbl>
              <a:tblPr/>
              <a:tblGrid>
                <a:gridCol w="818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89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585" algn="l" rtl="0" eaLnBrk="0">
                        <a:lnSpc>
                          <a:spcPts val="2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Write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program</a:t>
                      </a:r>
                      <a:r>
                        <a:rPr sz="2300" b="1" kern="0" spc="21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using</a:t>
                      </a:r>
                      <a:r>
                        <a:rPr sz="2300" b="1" kern="0" spc="-21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loop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to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calculate</a:t>
                      </a:r>
                      <a:r>
                        <a:rPr sz="2300" b="1" kern="0" spc="-19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factorial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300" b="1" kern="0" spc="-11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</a:t>
                      </a:r>
                      <a:r>
                        <a:rPr sz="2300" b="1" kern="0" spc="16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43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 = int(input("Enter </a:t>
                      </a:r>
                      <a:r>
                        <a:rPr sz="2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number:</a:t>
                      </a:r>
                      <a:r>
                        <a:rPr sz="2300" b="1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143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if(num</a:t>
                      </a:r>
                      <a:r>
                        <a:rPr sz="23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== 0):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4925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</a:t>
                      </a:r>
                      <a:r>
                        <a:rPr sz="23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=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620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</a:t>
                      </a:r>
                      <a:r>
                        <a:rPr sz="23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=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6200" algn="l" rtl="0" eaLnBrk="0">
                        <a:lnSpc>
                          <a:spcPts val="2880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(1,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+1):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4925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</a:t>
                      </a:r>
                      <a:r>
                        <a:rPr sz="23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=</a:t>
                      </a:r>
                      <a:r>
                        <a:rPr sz="23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</a:t>
                      </a:r>
                      <a:r>
                        <a:rPr sz="2300" b="1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*i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04139" algn="l" rtl="0" eaLnBrk="0">
                        <a:lnSpc>
                          <a:spcPts val="2903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("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Factorial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",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sz="2300" b="1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is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",</a:t>
                      </a:r>
                      <a:r>
                        <a:rPr sz="23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fact</a:t>
                      </a:r>
                      <a:r>
                        <a:rPr sz="23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" name="group 3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30" name="rect 23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32" name="picture 2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34" name="textbox 234"/>
            <p:cNvSpPr/>
            <p:nvPr/>
          </p:nvSpPr>
          <p:spPr>
            <a:xfrm>
              <a:off x="179907" y="142495"/>
              <a:ext cx="5224779" cy="5219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3908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 with</a:t>
              </a:r>
              <a:r>
                <a:rPr sz="3200" b="1" kern="0" spc="1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 ()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function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236" name="picture 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15867" y="5379719"/>
            <a:ext cx="4622292" cy="1528571"/>
          </a:xfrm>
          <a:prstGeom prst="rect">
            <a:avLst/>
          </a:prstGeom>
        </p:spPr>
      </p:pic>
      <p:sp>
        <p:nvSpPr>
          <p:cNvPr id="238" name="rect 23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" name="textbox 240"/>
          <p:cNvSpPr/>
          <p:nvPr/>
        </p:nvSpPr>
        <p:spPr>
          <a:xfrm>
            <a:off x="1238243" y="1552503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1872184" y="5651036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picture 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11067" y="4666488"/>
            <a:ext cx="4419599" cy="2394204"/>
          </a:xfrm>
          <a:prstGeom prst="rect">
            <a:avLst/>
          </a:prstGeom>
        </p:spPr>
      </p:pic>
      <p:grpSp>
        <p:nvGrpSpPr>
          <p:cNvPr id="36" name="group 3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46" name="rect 24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48" name="picture 2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50" name="textbox 250"/>
            <p:cNvSpPr/>
            <p:nvPr/>
          </p:nvSpPr>
          <p:spPr>
            <a:xfrm>
              <a:off x="179907" y="249918"/>
              <a:ext cx="2759075" cy="3771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44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Nested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3200" b="1" kern="0" spc="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Loop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52" name="textbox 252"/>
          <p:cNvSpPr/>
          <p:nvPr/>
        </p:nvSpPr>
        <p:spPr>
          <a:xfrm>
            <a:off x="1050331" y="1417089"/>
            <a:ext cx="8498205" cy="907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6090" indent="-453390" algn="l" rtl="0" eaLnBrk="0">
              <a:lnSpc>
                <a:spcPct val="107000"/>
              </a:lnSpc>
              <a:tabLst/>
            </a:pP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4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4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3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</a:t>
            </a:r>
            <a:r>
              <a:rPr sz="2700" b="1" kern="0" spc="3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one</a:t>
            </a:r>
            <a:r>
              <a:rPr sz="2700" b="1" kern="0" spc="3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2700" b="1" kern="0" spc="4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more</a:t>
            </a:r>
            <a:r>
              <a:rPr sz="2700" b="1" kern="0" spc="4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inner</a:t>
            </a:r>
            <a:r>
              <a:rPr sz="2700" b="1" kern="0" spc="29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4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39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3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call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ed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 for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54" name="table 254"/>
          <p:cNvGraphicFramePr>
            <a:graphicFrameLocks noGrp="1"/>
          </p:cNvGraphicFramePr>
          <p:nvPr/>
        </p:nvGraphicFramePr>
        <p:xfrm>
          <a:off x="3197351" y="2546603"/>
          <a:ext cx="3686175" cy="1591945"/>
        </p:xfrm>
        <a:graphic>
          <a:graphicData uri="http://schemas.openxmlformats.org/drawingml/2006/table">
            <a:tbl>
              <a:tblPr/>
              <a:tblGrid>
                <a:gridCol w="368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91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ts val="290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(1,</a:t>
                      </a:r>
                      <a:r>
                        <a:rPr sz="23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49250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(i):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49605" algn="l" rtl="0" eaLnBrk="0">
                        <a:lnSpc>
                          <a:spcPts val="2831"/>
                        </a:lnSpc>
                        <a:spcBef>
                          <a:spcPts val="24"/>
                        </a:spcBef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print(i, end='')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6554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print('')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6" name="rect 256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8" name="textbox 258"/>
          <p:cNvSpPr/>
          <p:nvPr/>
        </p:nvSpPr>
        <p:spPr>
          <a:xfrm>
            <a:off x="1235118" y="2537805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1872184" y="48128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49239" y="2380488"/>
            <a:ext cx="4475987" cy="4579619"/>
          </a:xfrm>
          <a:prstGeom prst="rect">
            <a:avLst/>
          </a:prstGeom>
        </p:spPr>
      </p:pic>
      <p:pic>
        <p:nvPicPr>
          <p:cNvPr id="264" name="picture 2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73836" y="3066287"/>
            <a:ext cx="4171188" cy="2766059"/>
          </a:xfrm>
          <a:prstGeom prst="rect">
            <a:avLst/>
          </a:prstGeom>
        </p:spPr>
      </p:pic>
      <p:grpSp>
        <p:nvGrpSpPr>
          <p:cNvPr id="38" name="group 3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66" name="rect 26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68" name="picture 2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70" name="textbox 270"/>
            <p:cNvSpPr/>
            <p:nvPr/>
          </p:nvSpPr>
          <p:spPr>
            <a:xfrm>
              <a:off x="179907" y="249104"/>
              <a:ext cx="43986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Break statement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72" name="textbox 272"/>
          <p:cNvSpPr/>
          <p:nvPr/>
        </p:nvSpPr>
        <p:spPr>
          <a:xfrm>
            <a:off x="1702834" y="1764904"/>
            <a:ext cx="7676515" cy="739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90000"/>
              </a:lnSpc>
              <a:tabLst/>
            </a:pP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current    loop</a:t>
            </a:r>
            <a:r>
              <a:rPr sz="2600" b="1" kern="0" spc="1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  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</a:t>
            </a:r>
            <a:r>
              <a:rPr sz="2600" b="1" kern="0" spc="-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mes</a:t>
            </a:r>
            <a:r>
              <a:rPr sz="2600" b="1" kern="0" spc="1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600" b="1" kern="0" spc="-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execution</a:t>
            </a:r>
            <a:r>
              <a:rPr sz="2600" b="1" kern="0" spc="1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   the    next</a:t>
            </a: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statement.</a:t>
            </a:r>
            <a:endParaRPr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1260240" y="1368636"/>
            <a:ext cx="8119109" cy="429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76"/>
              </a:lnSpc>
              <a:tabLst/>
            </a:pP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Break      statement       is      used     </a:t>
            </a:r>
            <a:r>
              <a:rPr sz="26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to      </a:t>
            </a:r>
            <a:r>
              <a:rPr sz="2600" b="1" kern="0" spc="-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terminate      the</a:t>
            </a:r>
            <a:endParaRPr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276" name="rect 276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87267" y="4922519"/>
            <a:ext cx="4809743" cy="1827275"/>
          </a:xfrm>
          <a:prstGeom prst="rect">
            <a:avLst/>
          </a:prstGeom>
        </p:spPr>
      </p:pic>
      <p:grpSp>
        <p:nvGrpSpPr>
          <p:cNvPr id="40" name="group 4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80" name="rect 28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82" name="picture 2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284" name="textbox 284"/>
            <p:cNvSpPr/>
            <p:nvPr/>
          </p:nvSpPr>
          <p:spPr>
            <a:xfrm>
              <a:off x="179907" y="249104"/>
              <a:ext cx="43986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Break statement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21600000">
            <a:off x="3316223" y="2546603"/>
            <a:ext cx="3796283" cy="1598675"/>
            <a:chOff x="0" y="0"/>
            <a:chExt cx="3796283" cy="1598675"/>
          </a:xfrm>
        </p:grpSpPr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796283" cy="1598675"/>
            </a:xfrm>
            <a:prstGeom prst="rect">
              <a:avLst/>
            </a:prstGeom>
          </p:spPr>
        </p:pic>
        <p:sp>
          <p:nvSpPr>
            <p:cNvPr id="288" name="textbox 288"/>
            <p:cNvSpPr/>
            <p:nvPr/>
          </p:nvSpPr>
          <p:spPr>
            <a:xfrm>
              <a:off x="-12700" y="-12700"/>
              <a:ext cx="3822065" cy="16427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88900" algn="l" rtl="0" eaLnBrk="0">
                <a:lnSpc>
                  <a:spcPts val="2904"/>
                </a:lnSpc>
                <a:spcBef>
                  <a:spcPts val="4"/>
                </a:spcBef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(5):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400050" algn="l" rtl="0" eaLnBrk="0">
                <a:lnSpc>
                  <a:spcPts val="2879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if</a:t>
              </a:r>
              <a:r>
                <a:rPr sz="2300" b="1" kern="0" spc="-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==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3: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89254" indent="282575" algn="l" rtl="0" eaLnBrk="0">
                <a:lnSpc>
                  <a:spcPct val="107000"/>
                </a:lnSpc>
                <a:spcBef>
                  <a:spcPts val="23"/>
                </a:spcBef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break                                    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(i)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90" name="rect 29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2" name="textbox 292"/>
          <p:cNvSpPr/>
          <p:nvPr/>
        </p:nvSpPr>
        <p:spPr>
          <a:xfrm>
            <a:off x="1235118" y="1821647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1872184" y="48128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picture 2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0036" y="2380488"/>
            <a:ext cx="8737091" cy="4628387"/>
          </a:xfrm>
          <a:prstGeom prst="rect">
            <a:avLst/>
          </a:prstGeom>
        </p:spPr>
      </p:pic>
      <p:grpSp>
        <p:nvGrpSpPr>
          <p:cNvPr id="44" name="group 4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298" name="rect 298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00" name="picture 3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02" name="textbox 302"/>
            <p:cNvSpPr/>
            <p:nvPr/>
          </p:nvSpPr>
          <p:spPr>
            <a:xfrm>
              <a:off x="179907" y="249104"/>
              <a:ext cx="4959984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 Continue statement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04" name="textbox 304"/>
          <p:cNvSpPr/>
          <p:nvPr/>
        </p:nvSpPr>
        <p:spPr>
          <a:xfrm>
            <a:off x="1184022" y="1368636"/>
            <a:ext cx="8347075" cy="845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6565" indent="-443865" algn="l" rtl="0" eaLnBrk="0">
              <a:lnSpc>
                <a:spcPct val="103000"/>
              </a:lnSpc>
              <a:tabLst/>
            </a:pP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Continue</a:t>
            </a:r>
            <a:r>
              <a:rPr sz="2600" b="1" kern="0" spc="3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</a:t>
            </a:r>
            <a:r>
              <a:rPr sz="26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skips</a:t>
            </a:r>
            <a:r>
              <a:rPr sz="2600" b="1" kern="0" spc="20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600" b="1" kern="0" spc="29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current</a:t>
            </a:r>
            <a:r>
              <a:rPr sz="2600" b="1" kern="0" spc="3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iteration</a:t>
            </a:r>
            <a:r>
              <a:rPr sz="2600" b="1" kern="0" spc="2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6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600" b="1" kern="0" spc="3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control flow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goes to</a:t>
            </a:r>
            <a:r>
              <a:rPr sz="26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6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next</a:t>
            </a:r>
            <a:r>
              <a:rPr sz="2600" b="1" kern="0" spc="1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kern="0" spc="-4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itera</a:t>
            </a:r>
            <a:r>
              <a:rPr sz="2600" b="1" kern="0" spc="-5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tion</a:t>
            </a:r>
            <a:r>
              <a:rPr sz="2600" b="1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306" name="rect 306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picture 3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11067" y="4693919"/>
            <a:ext cx="4794503" cy="2154935"/>
          </a:xfrm>
          <a:prstGeom prst="rect">
            <a:avLst/>
          </a:prstGeom>
        </p:spPr>
      </p:pic>
      <p:grpSp>
        <p:nvGrpSpPr>
          <p:cNvPr id="46" name="group 4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10" name="rect 31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12" name="picture 3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14" name="textbox 314"/>
            <p:cNvSpPr/>
            <p:nvPr/>
          </p:nvSpPr>
          <p:spPr>
            <a:xfrm>
              <a:off x="179907" y="249104"/>
              <a:ext cx="4959984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 Continue statement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21600000">
            <a:off x="3328416" y="2470403"/>
            <a:ext cx="3707892" cy="1598675"/>
            <a:chOff x="0" y="0"/>
            <a:chExt cx="3707892" cy="1598675"/>
          </a:xfrm>
        </p:grpSpPr>
        <p:pic>
          <p:nvPicPr>
            <p:cNvPr id="316" name="picture 3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707892" cy="1598675"/>
            </a:xfrm>
            <a:prstGeom prst="rect">
              <a:avLst/>
            </a:prstGeom>
          </p:spPr>
        </p:pic>
        <p:sp>
          <p:nvSpPr>
            <p:cNvPr id="318" name="textbox 318"/>
            <p:cNvSpPr/>
            <p:nvPr/>
          </p:nvSpPr>
          <p:spPr>
            <a:xfrm>
              <a:off x="-12700" y="-12700"/>
              <a:ext cx="3733800" cy="16427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88900" algn="l" rtl="0" eaLnBrk="0">
                <a:lnSpc>
                  <a:spcPts val="2904"/>
                </a:lnSpc>
                <a:spcBef>
                  <a:spcPts val="4"/>
                </a:spcBef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(5):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400050" algn="l" rtl="0" eaLnBrk="0">
                <a:lnSpc>
                  <a:spcPts val="2879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if</a:t>
              </a:r>
              <a:r>
                <a:rPr sz="2300" b="1" kern="0" spc="-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==</a:t>
              </a:r>
              <a:r>
                <a:rPr sz="2300" b="1" kern="0" spc="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3: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89254" indent="284479" algn="l" rtl="0" eaLnBrk="0">
                <a:lnSpc>
                  <a:spcPct val="107000"/>
                </a:lnSpc>
                <a:spcBef>
                  <a:spcPts val="23"/>
                </a:spcBef>
                <a:tabLst/>
              </a:pPr>
              <a:r>
                <a:rPr sz="23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continue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                          print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(i)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20" name="rect 32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" name="textbox 322"/>
          <p:cNvSpPr/>
          <p:nvPr/>
        </p:nvSpPr>
        <p:spPr>
          <a:xfrm>
            <a:off x="1235118" y="1821647"/>
            <a:ext cx="1640204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1872184" y="48128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326"/>
          <p:cNvSpPr/>
          <p:nvPr/>
        </p:nvSpPr>
        <p:spPr>
          <a:xfrm>
            <a:off x="1109802" y="1673179"/>
            <a:ext cx="8572500" cy="2656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411"/>
              </a:lnSpc>
              <a:tabLst/>
            </a:pP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6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</a:t>
            </a:r>
            <a:r>
              <a:rPr sz="27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</a:t>
            </a:r>
            <a:r>
              <a:rPr sz="2700" b="1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7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placeholder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future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code</a:t>
            </a:r>
            <a:r>
              <a:rPr sz="27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143000"/>
              </a:lnSpc>
              <a:spcBef>
                <a:spcPts val="24"/>
              </a:spcBef>
              <a:tabLst/>
            </a:pP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5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When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</a:t>
            </a:r>
            <a:r>
              <a:rPr sz="27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executed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nothing</a:t>
            </a:r>
            <a:r>
              <a:rPr sz="2700" b="1" kern="0" spc="27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happens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3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It</a:t>
            </a:r>
            <a:r>
              <a:rPr sz="27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results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</a:t>
            </a:r>
            <a:r>
              <a:rPr sz="2700" b="1" kern="0" spc="16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opera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tion</a:t>
            </a:r>
            <a:r>
              <a:rPr sz="2700" b="1" kern="0" spc="22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(NOP)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456565" indent="-443865" algn="l" rtl="0" eaLnBrk="0">
              <a:lnSpc>
                <a:spcPct val="109000"/>
              </a:lnSpc>
              <a:spcBef>
                <a:spcPts val="2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6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Because,</a:t>
            </a:r>
            <a:r>
              <a:rPr sz="2700" b="1" kern="0" spc="5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empty</a:t>
            </a:r>
            <a:r>
              <a:rPr sz="2700" b="1" kern="0" spc="5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code</a:t>
            </a:r>
            <a:r>
              <a:rPr sz="2700" b="1" kern="0" spc="59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60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not</a:t>
            </a:r>
            <a:r>
              <a:rPr sz="2700" b="1" kern="0" spc="53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all</a:t>
            </a:r>
            <a:r>
              <a:rPr sz="2700" b="1" kern="0" spc="-1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owed</a:t>
            </a:r>
            <a:r>
              <a:rPr sz="2700" b="1" kern="0" spc="580" dirty="0">
                <a:solidFill>
                  <a:srgbClr val="FF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 loops,</a:t>
            </a:r>
            <a:r>
              <a:rPr sz="2700" b="1" kern="0" spc="4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function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definitions,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class</a:t>
            </a:r>
            <a:r>
              <a:rPr sz="27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definitions,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 statements.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28" name="rect 328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30" name="picture 3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32" name="textbox 332"/>
            <p:cNvSpPr/>
            <p:nvPr/>
          </p:nvSpPr>
          <p:spPr>
            <a:xfrm>
              <a:off x="179907" y="249104"/>
              <a:ext cx="4166870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Pass statem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ent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1292351" y="5594603"/>
            <a:ext cx="8106155" cy="768095"/>
            <a:chOff x="0" y="0"/>
            <a:chExt cx="8106155" cy="768095"/>
          </a:xfrm>
        </p:grpSpPr>
        <p:pic>
          <p:nvPicPr>
            <p:cNvPr id="334" name="picture 3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8106155" cy="768095"/>
            </a:xfrm>
            <a:prstGeom prst="rect">
              <a:avLst/>
            </a:prstGeom>
          </p:spPr>
        </p:pic>
        <p:sp>
          <p:nvSpPr>
            <p:cNvPr id="336" name="textbox 336"/>
            <p:cNvSpPr/>
            <p:nvPr/>
          </p:nvSpPr>
          <p:spPr>
            <a:xfrm>
              <a:off x="-12700" y="-12700"/>
              <a:ext cx="8131809" cy="8121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9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4450" indent="14604" algn="l" rtl="0" eaLnBrk="0">
                <a:lnSpc>
                  <a:spcPct val="108000"/>
                </a:lnSpc>
                <a:spcBef>
                  <a:spcPts val="1"/>
                </a:spcBef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The  difference  between 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Commen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</a:t>
              </a:r>
              <a:r>
                <a:rPr sz="2300" b="1" kern="0" spc="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and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Pass</a:t>
              </a:r>
              <a:r>
                <a:rPr sz="2300" b="1" kern="0" spc="3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stateme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nt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is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that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interpreter</a:t>
              </a:r>
              <a:r>
                <a:rPr sz="2300" b="1" kern="0" spc="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ignores</a:t>
              </a:r>
              <a:r>
                <a:rPr sz="2300" b="1" kern="0" spc="1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2300" b="1" kern="0" spc="1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comment</a:t>
              </a:r>
              <a:r>
                <a:rPr sz="2300" b="1" kern="0" spc="1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entirely</a:t>
              </a:r>
              <a:r>
                <a:rPr sz="2300" b="1" kern="0" spc="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,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but</a:t>
              </a:r>
              <a:r>
                <a:rPr sz="2300" b="1" kern="0" spc="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pass</a:t>
              </a:r>
              <a:r>
                <a:rPr sz="2300" b="1" kern="0" spc="1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is</a:t>
              </a:r>
              <a:r>
                <a:rPr sz="2300" b="1" kern="0" spc="9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not</a:t>
              </a:r>
              <a:r>
                <a:rPr sz="2300" b="1" kern="0" spc="4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FF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ignored</a:t>
              </a:r>
              <a:r>
                <a:rPr sz="2300" b="1" kern="0" spc="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.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38" name="rect 33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picture 3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439667" y="4160519"/>
            <a:ext cx="4038599" cy="2723388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21151" y="1676400"/>
            <a:ext cx="5439155" cy="1967483"/>
          </a:xfrm>
          <a:prstGeom prst="rect">
            <a:avLst/>
          </a:prstGeom>
        </p:spPr>
      </p:pic>
      <p:sp>
        <p:nvSpPr>
          <p:cNvPr id="344" name="textbox 344"/>
          <p:cNvSpPr/>
          <p:nvPr/>
        </p:nvSpPr>
        <p:spPr>
          <a:xfrm>
            <a:off x="1235118" y="1717914"/>
            <a:ext cx="5857875" cy="186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8000"/>
              </a:lnSpc>
              <a:tabLst/>
            </a:pPr>
            <a:r>
              <a:rPr sz="3600" b="1" u="sng" kern="0" spc="-10" baseline="-14468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u="sng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u="sng" kern="0" spc="-10" baseline="-14468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example;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3600" b="1" kern="0" spc="-10" baseline="7234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kern="0" spc="-10" baseline="7234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letter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kern="0" spc="-10" baseline="7234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300" b="1" kern="0" spc="3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kern="0" spc="-10" baseline="7234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'Pyt</a:t>
            </a:r>
            <a:r>
              <a:rPr sz="3600" b="1" kern="0" spc="-20" baseline="7234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hon':</a:t>
            </a:r>
            <a:endParaRPr sz="3600" baseline="7234" dirty="0">
              <a:latin typeface="Calibri"/>
              <a:ea typeface="Calibri"/>
              <a:cs typeface="Calibri"/>
            </a:endParaRPr>
          </a:p>
          <a:p>
            <a:pPr marL="2204720" algn="l" rtl="0" eaLnBrk="0">
              <a:lnSpc>
                <a:spcPct val="90000"/>
              </a:lnSpc>
              <a:spcBef>
                <a:spcPts val="12"/>
              </a:spcBef>
              <a:tabLst/>
            </a:pP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</a:t>
            </a:r>
            <a:r>
              <a:rPr sz="2300" b="1" kern="0" spc="-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letter =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300" b="1" kern="0" spc="3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'h':</a:t>
            </a:r>
            <a:endParaRPr sz="2300" dirty="0">
              <a:latin typeface="Calibri"/>
              <a:ea typeface="Calibri"/>
              <a:cs typeface="Calibri"/>
            </a:endParaRPr>
          </a:p>
          <a:p>
            <a:pPr marL="2399664" algn="l" rtl="0" eaLnBrk="0">
              <a:lnSpc>
                <a:spcPts val="1750"/>
              </a:lnSpc>
              <a:spcBef>
                <a:spcPts val="1082"/>
              </a:spcBef>
              <a:tabLst/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pass</a:t>
            </a:r>
            <a:endParaRPr sz="2300" dirty="0">
              <a:latin typeface="Calibri"/>
              <a:ea typeface="Calibri"/>
              <a:cs typeface="Calibri"/>
            </a:endParaRPr>
          </a:p>
          <a:p>
            <a:pPr marL="2399664" algn="l" rtl="0" eaLnBrk="0">
              <a:lnSpc>
                <a:spcPts val="2904"/>
              </a:lnSpc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 ('This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 pass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block')</a:t>
            </a:r>
            <a:endParaRPr sz="23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ts val="2904"/>
              </a:lnSpc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 ('Current Lette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 :',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letter)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4" name="group 5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46" name="rect 34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48" name="picture 3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50" name="textbox 350"/>
            <p:cNvSpPr/>
            <p:nvPr/>
          </p:nvSpPr>
          <p:spPr>
            <a:xfrm>
              <a:off x="179907" y="249104"/>
              <a:ext cx="4166870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1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Pass statem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ent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52" name="rect 352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4" name="textbox 354"/>
          <p:cNvSpPr/>
          <p:nvPr/>
        </p:nvSpPr>
        <p:spPr>
          <a:xfrm>
            <a:off x="1872184" y="48128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356"/>
          <p:cNvSpPr/>
          <p:nvPr/>
        </p:nvSpPr>
        <p:spPr>
          <a:xfrm>
            <a:off x="1338498" y="1463659"/>
            <a:ext cx="8044180" cy="4663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4659" indent="-442594" algn="l" rtl="0" eaLnBrk="0">
              <a:lnSpc>
                <a:spcPct val="104000"/>
              </a:lnSpc>
              <a:spcBef>
                <a:spcPts val="1"/>
              </a:spcBef>
              <a:tabLst/>
            </a:pP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     printing      in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     is      a 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common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programming</a:t>
            </a:r>
            <a:r>
              <a:rPr sz="27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exercise t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hat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helps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develop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logical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coding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skil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ls.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marL="466090" indent="-453390" algn="l" rtl="0" eaLnBrk="0">
              <a:lnSpc>
                <a:spcPct val="104000"/>
              </a:lnSpc>
              <a:spcBef>
                <a:spcPts val="1173"/>
              </a:spcBef>
              <a:tabLst/>
            </a:pP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4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These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patterns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often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aesthetic purposes  and</a:t>
            </a:r>
            <a:r>
              <a:rPr sz="2700" b="1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  educational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contexts</a:t>
            </a:r>
            <a:r>
              <a:rPr sz="27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7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nhance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programming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skills.</a:t>
            </a:r>
            <a:endParaRPr sz="27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45134" indent="-433069" algn="l" rtl="0" eaLnBrk="0">
              <a:lnSpc>
                <a:spcPct val="108000"/>
              </a:lnSpc>
              <a:spcBef>
                <a:spcPts val="4"/>
              </a:spcBef>
              <a:tabLst/>
            </a:pP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700" b="1" kern="0" spc="5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multiple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are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patterns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where</a:t>
            </a:r>
            <a:r>
              <a:rPr sz="2700" b="1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first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outer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2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ed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   print</a:t>
            </a:r>
            <a:r>
              <a:rPr sz="27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700" b="1" kern="0" spc="2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kern="0" spc="3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rows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700" b="1" kern="0" spc="3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700" b="1" kern="0" spc="3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inner</a:t>
            </a:r>
            <a:r>
              <a:rPr sz="2700" b="1" kern="0" spc="4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</a:t>
            </a:r>
            <a:r>
              <a:rPr sz="2700" b="1" kern="0" spc="3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is</a:t>
            </a:r>
            <a:r>
              <a:rPr sz="2700" b="1" kern="0" spc="4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7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700" b="1" kern="0" spc="4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the</a:t>
            </a:r>
            <a:r>
              <a:rPr sz="2700" b="1" kern="0" spc="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7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7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columns</a:t>
            </a:r>
            <a:r>
              <a:rPr sz="27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7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58" name="rect 358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62" name="textbox 362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64" name="rect 36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box 366"/>
          <p:cNvSpPr/>
          <p:nvPr/>
        </p:nvSpPr>
        <p:spPr>
          <a:xfrm>
            <a:off x="1320583" y="1531499"/>
            <a:ext cx="8062594" cy="5145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600" b="1" u="sng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GeneraI Steps to</a:t>
            </a:r>
            <a:r>
              <a:rPr sz="2600" b="1" u="sng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u="sng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26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u="sng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Patterns</a:t>
            </a:r>
            <a:r>
              <a:rPr sz="26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u="sng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</a:t>
            </a:r>
            <a:r>
              <a:rPr sz="26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600" b="1" u="sng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Python:</a:t>
            </a:r>
            <a:endParaRPr sz="2600" dirty="0">
              <a:latin typeface="Calibri"/>
              <a:ea typeface="Calibri"/>
              <a:cs typeface="Calibri"/>
            </a:endParaRPr>
          </a:p>
          <a:p>
            <a:pPr marL="26034" algn="l" rtl="0" eaLnBrk="0">
              <a:lnSpc>
                <a:spcPct val="96000"/>
              </a:lnSpc>
              <a:spcBef>
                <a:spcPts val="1524"/>
              </a:spcBef>
              <a:tabLst/>
            </a:pP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Determine</a:t>
            </a:r>
            <a:r>
              <a:rPr sz="23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attern:</a:t>
            </a:r>
            <a:r>
              <a:rPr sz="2300" b="1" kern="0" spc="3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Decide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type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of</a:t>
            </a:r>
            <a:r>
              <a:rPr sz="2300" b="1" kern="0" spc="3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you</a:t>
            </a:r>
            <a:r>
              <a:rPr sz="23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want</a:t>
            </a:r>
            <a:endParaRPr sz="2300" dirty="0">
              <a:latin typeface="Calibri"/>
              <a:ea typeface="Calibri"/>
              <a:cs typeface="Calibri"/>
            </a:endParaRPr>
          </a:p>
          <a:p>
            <a:pPr marL="462280" algn="l" rtl="0" eaLnBrk="0">
              <a:lnSpc>
                <a:spcPts val="2927"/>
              </a:lnSpc>
              <a:spcBef>
                <a:spcPts val="90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print, such as</a:t>
            </a:r>
            <a:r>
              <a:rPr sz="2300" b="1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ds, stars,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numbers,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letters.</a:t>
            </a:r>
            <a:endParaRPr sz="2300" dirty="0">
              <a:latin typeface="Calibri"/>
              <a:ea typeface="Calibri"/>
              <a:cs typeface="Calibri"/>
            </a:endParaRPr>
          </a:p>
          <a:p>
            <a:pPr marL="26034" algn="l" rtl="0" eaLnBrk="0">
              <a:lnSpc>
                <a:spcPct val="96000"/>
              </a:lnSpc>
              <a:spcBef>
                <a:spcPts val="1292"/>
              </a:spcBef>
              <a:tabLst/>
            </a:pP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ldentify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3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kern="0" spc="3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RuIes: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Analyse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2300" b="1" kern="0" spc="3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pattern,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includes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endParaRPr sz="2300" dirty="0">
              <a:latin typeface="Calibri"/>
              <a:ea typeface="Calibri"/>
              <a:cs typeface="Calibri"/>
            </a:endParaRPr>
          </a:p>
          <a:p>
            <a:pPr algn="r" rtl="0" eaLnBrk="0">
              <a:lnSpc>
                <a:spcPts val="2927"/>
              </a:lnSpc>
              <a:spcBef>
                <a:spcPts val="90"/>
              </a:spcBef>
              <a:tabLst/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 of</a:t>
            </a:r>
            <a:r>
              <a:rPr sz="23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rows/characters to</a:t>
            </a:r>
            <a:r>
              <a:rPr sz="23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printed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,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 their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positions.</a:t>
            </a:r>
            <a:endParaRPr sz="2300" dirty="0">
              <a:latin typeface="Calibri"/>
              <a:ea typeface="Calibri"/>
              <a:cs typeface="Calibri"/>
            </a:endParaRPr>
          </a:p>
          <a:p>
            <a:pPr marL="465455" indent="-439419" algn="l" rtl="0" eaLnBrk="0">
              <a:lnSpc>
                <a:spcPct val="108000"/>
              </a:lnSpc>
              <a:spcBef>
                <a:spcPts val="1142"/>
              </a:spcBef>
              <a:tabLst/>
            </a:pP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</a:t>
            </a:r>
            <a:r>
              <a:rPr sz="2300" b="1" kern="0" spc="3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300" b="1" kern="0" spc="3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300" b="1" kern="0" spc="3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control</a:t>
            </a:r>
            <a:r>
              <a:rPr sz="23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4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</a:t>
            </a:r>
            <a:r>
              <a:rPr sz="2300" b="1" kern="0" spc="3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and</a:t>
            </a:r>
            <a:r>
              <a:rPr sz="2300" b="1" kern="0" spc="3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column</a:t>
            </a:r>
            <a:r>
              <a:rPr sz="2300" b="1" kern="0" spc="4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positions within the</a:t>
            </a:r>
            <a:r>
              <a:rPr sz="2300" b="1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progra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ms.</a:t>
            </a:r>
            <a:endParaRPr sz="2300" dirty="0">
              <a:latin typeface="Calibri"/>
              <a:ea typeface="Calibri"/>
              <a:cs typeface="Calibri"/>
            </a:endParaRPr>
          </a:p>
          <a:p>
            <a:pPr marL="471805" indent="-445769" algn="l" rtl="0" eaLnBrk="0">
              <a:lnSpc>
                <a:spcPct val="107000"/>
              </a:lnSpc>
              <a:spcBef>
                <a:spcPts val="983"/>
              </a:spcBef>
              <a:tabLst/>
            </a:pP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AppIy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ConditionaI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Statements:</a:t>
            </a:r>
            <a:r>
              <a:rPr sz="2300" b="1" kern="0" spc="3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if</a:t>
            </a:r>
            <a:r>
              <a:rPr sz="2300" b="1" kern="0" spc="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statements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can</a:t>
            </a:r>
            <a:r>
              <a:rPr sz="2300" b="1" kern="0" spc="3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be</a:t>
            </a:r>
            <a:r>
              <a:rPr sz="2300" b="1" kern="0" spc="3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used</a:t>
            </a:r>
            <a:r>
              <a:rPr sz="2300" b="1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decide</a:t>
            </a:r>
            <a:r>
              <a:rPr sz="23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whether</a:t>
            </a:r>
            <a:r>
              <a:rPr sz="23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3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2300" b="1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character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</a:t>
            </a:r>
            <a:r>
              <a:rPr sz="2300" b="1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whitespace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at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 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particular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position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300" dirty="0">
              <a:latin typeface="Calibri"/>
              <a:ea typeface="Calibri"/>
              <a:cs typeface="Calibr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3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0534" indent="-444500" algn="l" rtl="0" eaLnBrk="0">
              <a:lnSpc>
                <a:spcPct val="106000"/>
              </a:lnSpc>
              <a:tabLst/>
            </a:pP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≈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Use</a:t>
            </a:r>
            <a:r>
              <a:rPr sz="2300" b="1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function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to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display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characters or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spaces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within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the</a:t>
            </a:r>
            <a:r>
              <a:rPr sz="2300" b="1" kern="0" spc="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nested</a:t>
            </a:r>
            <a:r>
              <a:rPr sz="2300" b="1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loops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.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58" name="group 5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68" name="rect 368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70" name="picture 37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72" name="textbox 372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</a:t>
              </a:r>
              <a:r>
                <a:rPr sz="3200" b="1" kern="0" spc="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-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74" name="rect 37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431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6" name="table 376"/>
          <p:cNvGraphicFramePr>
            <a:graphicFrameLocks noGrp="1"/>
          </p:cNvGraphicFramePr>
          <p:nvPr/>
        </p:nvGraphicFramePr>
        <p:xfrm>
          <a:off x="3121151" y="2194560"/>
          <a:ext cx="5895975" cy="1967229"/>
        </p:xfrm>
        <a:graphic>
          <a:graphicData uri="http://schemas.openxmlformats.org/drawingml/2006/table">
            <a:tbl>
              <a:tblPr/>
              <a:tblGrid>
                <a:gridCol w="5895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608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indent="38100" algn="l" rtl="0" eaLnBrk="0">
                        <a:lnSpc>
                          <a:spcPct val="10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 = int(input("Enter the</a:t>
                      </a:r>
                      <a:r>
                        <a:rPr sz="23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 of</a:t>
                      </a:r>
                      <a:r>
                        <a:rPr sz="23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</a:t>
                      </a:r>
                      <a:r>
                        <a:rPr sz="2300" b="1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"))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  for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49250" algn="l" rtl="0" eaLnBrk="0">
                        <a:lnSpc>
                          <a:spcPts val="2880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 i+1):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49605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print("*</a:t>
                      </a:r>
                      <a:r>
                        <a:rPr sz="23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",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end="")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6554" algn="l" rtl="0" eaLnBrk="0">
                        <a:lnSpc>
                          <a:spcPts val="2903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78" name="picture 3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87267" y="4693919"/>
            <a:ext cx="3886199" cy="2359151"/>
          </a:xfrm>
          <a:prstGeom prst="rect">
            <a:avLst/>
          </a:prstGeom>
        </p:spPr>
      </p:pic>
      <p:grpSp>
        <p:nvGrpSpPr>
          <p:cNvPr id="60" name="group 6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80" name="rect 380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82" name="picture 3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384" name="textbox 384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386" name="textbox 386"/>
          <p:cNvSpPr/>
          <p:nvPr/>
        </p:nvSpPr>
        <p:spPr>
          <a:xfrm>
            <a:off x="1329623" y="1445112"/>
            <a:ext cx="504761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</a:t>
            </a:r>
            <a:r>
              <a:rPr sz="2300" b="1" u="sng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1:</a:t>
            </a:r>
            <a:r>
              <a:rPr sz="23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Right</a:t>
            </a:r>
            <a:r>
              <a:rPr sz="2300" b="1" u="sng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angle</a:t>
            </a:r>
            <a:r>
              <a:rPr sz="2300" b="1" u="sng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triangle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pyramid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388" name="rect 38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0" name="textbox 390"/>
          <p:cNvSpPr/>
          <p:nvPr/>
        </p:nvSpPr>
        <p:spPr>
          <a:xfrm>
            <a:off x="1463717" y="2315989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1620665" y="5193837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4" name="table 394"/>
          <p:cNvGraphicFramePr>
            <a:graphicFrameLocks noGrp="1"/>
          </p:cNvGraphicFramePr>
          <p:nvPr/>
        </p:nvGraphicFramePr>
        <p:xfrm>
          <a:off x="3044951" y="1876044"/>
          <a:ext cx="6581775" cy="3161664"/>
        </p:xfrm>
        <a:graphic>
          <a:graphicData uri="http://schemas.openxmlformats.org/drawingml/2006/table">
            <a:tbl>
              <a:tblPr/>
              <a:tblGrid>
                <a:gridCol w="658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6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029" algn="l" rtl="0" eaLnBrk="0">
                        <a:lnSpc>
                          <a:spcPct val="10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 = int(input("Enter</a:t>
                      </a:r>
                      <a:r>
                        <a:rPr sz="21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 number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1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rows:"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))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 k =</a:t>
                      </a:r>
                      <a:r>
                        <a:rPr sz="21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2*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rows-2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8739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</a:t>
                      </a:r>
                      <a:r>
                        <a:rPr sz="21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337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 k):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print(end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="</a:t>
                      </a:r>
                      <a:r>
                        <a:rPr sz="21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6766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  <a:r>
                        <a:rPr sz="21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337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sz="21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1)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print("*</a:t>
                      </a:r>
                      <a:r>
                        <a:rPr sz="2100" b="1" kern="0" spc="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",</a:t>
                      </a:r>
                      <a:r>
                        <a:rPr sz="21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end="")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58140" algn="l" rtl="0" eaLnBrk="0">
                        <a:lnSpc>
                          <a:spcPts val="265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print('')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2" name="group 62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396" name="rect 39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398" name="picture 39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00" name="textbox 400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402" name="picture 4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58667" y="5151119"/>
            <a:ext cx="3200399" cy="1937003"/>
          </a:xfrm>
          <a:prstGeom prst="rect">
            <a:avLst/>
          </a:prstGeom>
        </p:spPr>
      </p:pic>
      <p:sp>
        <p:nvSpPr>
          <p:cNvPr id="404" name="textbox 404"/>
          <p:cNvSpPr/>
          <p:nvPr/>
        </p:nvSpPr>
        <p:spPr>
          <a:xfrm>
            <a:off x="1177224" y="1391832"/>
            <a:ext cx="604774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- 2:</a:t>
            </a:r>
            <a:r>
              <a:rPr sz="2300" b="1" u="sng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Reverse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right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angle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triangle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pyramid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06" name="rect 406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textbox 408"/>
          <p:cNvSpPr/>
          <p:nvPr/>
        </p:nvSpPr>
        <p:spPr>
          <a:xfrm>
            <a:off x="1463717" y="2315989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10" name="textbox 410"/>
          <p:cNvSpPr/>
          <p:nvPr/>
        </p:nvSpPr>
        <p:spPr>
          <a:xfrm>
            <a:off x="1620665" y="5193837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2" name="table 412"/>
          <p:cNvGraphicFramePr>
            <a:graphicFrameLocks noGrp="1"/>
          </p:cNvGraphicFramePr>
          <p:nvPr/>
        </p:nvGraphicFramePr>
        <p:xfrm>
          <a:off x="3044951" y="1876044"/>
          <a:ext cx="6581775" cy="3161664"/>
        </p:xfrm>
        <a:graphic>
          <a:graphicData uri="http://schemas.openxmlformats.org/drawingml/2006/table">
            <a:tbl>
              <a:tblPr/>
              <a:tblGrid>
                <a:gridCol w="658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6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029" algn="l" rtl="0" eaLnBrk="0">
                        <a:lnSpc>
                          <a:spcPct val="10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 = int(in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put("Enter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 number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1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</a:t>
                      </a:r>
                      <a:r>
                        <a:rPr sz="21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"))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 =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r>
                        <a:rPr sz="21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*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rows-2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8739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</a:t>
                      </a:r>
                      <a:r>
                        <a:rPr sz="21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337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 k):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print(end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="</a:t>
                      </a:r>
                      <a:r>
                        <a:rPr sz="21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6766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  <a:r>
                        <a:rPr sz="21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k-2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337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i+1):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print("*</a:t>
                      </a:r>
                      <a:r>
                        <a:rPr sz="21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",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end="</a:t>
                      </a:r>
                      <a:r>
                        <a:rPr sz="21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58140" algn="l" rtl="0" eaLnBrk="0">
                        <a:lnSpc>
                          <a:spcPts val="265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4" name="group 6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414" name="rect 414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416" name="picture 4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18" name="textbox 418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420" name="picture 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58667" y="5151119"/>
            <a:ext cx="2845307" cy="1898903"/>
          </a:xfrm>
          <a:prstGeom prst="rect">
            <a:avLst/>
          </a:prstGeom>
        </p:spPr>
      </p:pic>
      <p:sp>
        <p:nvSpPr>
          <p:cNvPr id="422" name="textbox 422"/>
          <p:cNvSpPr/>
          <p:nvPr/>
        </p:nvSpPr>
        <p:spPr>
          <a:xfrm>
            <a:off x="1177224" y="1391832"/>
            <a:ext cx="4493259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- 3: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Simple</a:t>
            </a:r>
            <a:r>
              <a:rPr sz="2300" b="1" u="sng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triangle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pyramid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24" name="rect 42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6" name="textbox 426"/>
          <p:cNvSpPr/>
          <p:nvPr/>
        </p:nvSpPr>
        <p:spPr>
          <a:xfrm>
            <a:off x="1463717" y="2315989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1620665" y="5193837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table 430"/>
          <p:cNvGraphicFramePr>
            <a:graphicFrameLocks noGrp="1"/>
          </p:cNvGraphicFramePr>
          <p:nvPr/>
        </p:nvGraphicFramePr>
        <p:xfrm>
          <a:off x="3044951" y="1876044"/>
          <a:ext cx="6581775" cy="3161664"/>
        </p:xfrm>
        <a:graphic>
          <a:graphicData uri="http://schemas.openxmlformats.org/drawingml/2006/table">
            <a:tbl>
              <a:tblPr/>
              <a:tblGrid>
                <a:gridCol w="658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16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029" algn="l" rtl="0" eaLnBrk="0">
                        <a:lnSpc>
                          <a:spcPct val="10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 = int(in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put("Enter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 number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1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</a:t>
                      </a:r>
                      <a:r>
                        <a:rPr sz="21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"))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 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 =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r>
                        <a:rPr sz="21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*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rows-2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78739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,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-1,</a:t>
                      </a:r>
                      <a:r>
                        <a:rPr sz="21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-1):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337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(k,</a:t>
                      </a:r>
                      <a:r>
                        <a:rPr sz="21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0,</a:t>
                      </a:r>
                      <a:r>
                        <a:rPr sz="21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-1):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print(end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="</a:t>
                      </a:r>
                      <a:r>
                        <a:rPr sz="21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6766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</a:t>
                      </a:r>
                      <a:r>
                        <a:rPr sz="21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k+1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337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1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(0,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i+1):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print("*</a:t>
                      </a:r>
                      <a:r>
                        <a:rPr sz="2100" b="1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",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end="</a:t>
                      </a:r>
                      <a:r>
                        <a:rPr sz="21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58140" algn="l" rtl="0" eaLnBrk="0">
                        <a:lnSpc>
                          <a:spcPts val="2659"/>
                        </a:lnSpc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66" name="group 66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432" name="rect 432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434" name="picture 4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36" name="textbox 436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438" name="picture 4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58667" y="5151119"/>
            <a:ext cx="3080003" cy="1906523"/>
          </a:xfrm>
          <a:prstGeom prst="rect">
            <a:avLst/>
          </a:prstGeom>
        </p:spPr>
      </p:pic>
      <p:sp>
        <p:nvSpPr>
          <p:cNvPr id="440" name="textbox 440"/>
          <p:cNvSpPr/>
          <p:nvPr/>
        </p:nvSpPr>
        <p:spPr>
          <a:xfrm>
            <a:off x="1177224" y="1391832"/>
            <a:ext cx="549592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- 3: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Simple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reverse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triangle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pyramid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42" name="rect 442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4" name="textbox 444"/>
          <p:cNvSpPr/>
          <p:nvPr/>
        </p:nvSpPr>
        <p:spPr>
          <a:xfrm>
            <a:off x="1463717" y="2315989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1620665" y="5193837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picture 4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044951" y="1722120"/>
            <a:ext cx="6582155" cy="5352287"/>
          </a:xfrm>
          <a:prstGeom prst="rect">
            <a:avLst/>
          </a:prstGeom>
        </p:spPr>
      </p:pic>
      <p:sp>
        <p:nvSpPr>
          <p:cNvPr id="450" name="textbox 450"/>
          <p:cNvSpPr/>
          <p:nvPr/>
        </p:nvSpPr>
        <p:spPr>
          <a:xfrm>
            <a:off x="3113535" y="1764296"/>
            <a:ext cx="4842509" cy="522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100000"/>
              </a:lnSpc>
              <a:tabLst/>
            </a:pP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rows = int(input("Enter the number of</a:t>
            </a: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rows:</a:t>
            </a:r>
            <a:r>
              <a:rPr sz="20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"))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 2</a:t>
            </a:r>
            <a:r>
              <a:rPr sz="2000" b="1" kern="0" spc="2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*</a:t>
            </a: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rows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i in</a:t>
            </a:r>
            <a:r>
              <a:rPr sz="2000" b="1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range(0, rows):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665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000" b="1" kern="0" spc="-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 in range(0,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k):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492759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print(end="</a:t>
            </a:r>
            <a:r>
              <a:rPr sz="20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72415" algn="l" rtl="0" eaLnBrk="0">
              <a:lnSpc>
                <a:spcPct val="100000"/>
              </a:lnSpc>
              <a:tabLst/>
            </a:pP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000" b="1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665" algn="l" rtl="0" eaLnBrk="0">
              <a:lnSpc>
                <a:spcPct val="100000"/>
              </a:lnSpc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 in range(0,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20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1):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492759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print("*</a:t>
            </a:r>
            <a:r>
              <a:rPr sz="20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",</a:t>
            </a:r>
            <a:r>
              <a:rPr sz="2000" b="1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end="")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64159" algn="l" rtl="0" eaLnBrk="0">
              <a:lnSpc>
                <a:spcPct val="100000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print()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43815" algn="l" rtl="0" eaLnBrk="0">
              <a:lnSpc>
                <a:spcPct val="100000"/>
              </a:lnSpc>
              <a:tabLst/>
            </a:pP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r>
              <a:rPr sz="2000" b="1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rows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2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1270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 i in range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(rows,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-1,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-1):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665" algn="l" rtl="0" eaLnBrk="0">
              <a:lnSpc>
                <a:spcPct val="100000"/>
              </a:lnSpc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000" b="1" kern="0" spc="-2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 in range(k,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0,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-1):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492759" algn="l" rtl="0" eaLnBrk="0">
              <a:lnSpc>
                <a:spcPct val="100000"/>
              </a:lnSpc>
              <a:tabLst/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print(end="</a:t>
            </a:r>
            <a:r>
              <a:rPr sz="20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72415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r>
              <a:rPr sz="2000" b="1" kern="0" spc="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=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k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2000" b="1" kern="0" spc="1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40665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for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j in range(0,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+</a:t>
            </a:r>
            <a:r>
              <a:rPr sz="2000" b="1" kern="0" spc="1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1):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492759" algn="l" rtl="0" eaLnBrk="0">
              <a:lnSpc>
                <a:spcPct val="100000"/>
              </a:lnSpc>
              <a:tabLst/>
            </a:pP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print("*</a:t>
            </a:r>
            <a:r>
              <a:rPr sz="2000" b="1" kern="0" spc="2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",</a:t>
            </a:r>
            <a:r>
              <a:rPr sz="2000" b="1" kern="0" spc="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end="")</a:t>
            </a:r>
            <a:endParaRPr sz="2000" dirty="0">
              <a:latin typeface="Calibri"/>
              <a:ea typeface="Calibri"/>
              <a:cs typeface="Calibri"/>
            </a:endParaRPr>
          </a:p>
          <a:p>
            <a:pPr marL="264159" algn="l" rtl="0" eaLnBrk="0">
              <a:lnSpc>
                <a:spcPts val="2547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print()</a:t>
            </a:r>
            <a:endParaRPr sz="2000" dirty="0">
              <a:latin typeface="Calibri"/>
              <a:ea typeface="Calibri"/>
              <a:cs typeface="Calibri"/>
            </a:endParaRPr>
          </a:p>
        </p:txBody>
      </p:sp>
      <p:grpSp>
        <p:nvGrpSpPr>
          <p:cNvPr id="68" name="group 6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452" name="rect 452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454" name="picture 4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56" name="textbox 456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58" name="textbox 458"/>
          <p:cNvSpPr/>
          <p:nvPr/>
        </p:nvSpPr>
        <p:spPr>
          <a:xfrm>
            <a:off x="1177224" y="1277532"/>
            <a:ext cx="47307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- 4: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Diamond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shaped</a:t>
            </a:r>
            <a:r>
              <a:rPr sz="2300" b="1" u="sng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pyramid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60" name="rect 46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2" name="textbox 462"/>
          <p:cNvSpPr/>
          <p:nvPr/>
        </p:nvSpPr>
        <p:spPr>
          <a:xfrm>
            <a:off x="1558223" y="2286968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4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96867" y="1950720"/>
            <a:ext cx="3962399" cy="5050535"/>
          </a:xfrm>
          <a:prstGeom prst="rect">
            <a:avLst/>
          </a:prstGeom>
        </p:spPr>
      </p:pic>
      <p:grpSp>
        <p:nvGrpSpPr>
          <p:cNvPr id="70" name="group 7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466" name="rect 466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468" name="picture 46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70" name="textbox 470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72" name="textbox 472"/>
          <p:cNvSpPr/>
          <p:nvPr/>
        </p:nvSpPr>
        <p:spPr>
          <a:xfrm>
            <a:off x="1177224" y="1402548"/>
            <a:ext cx="47307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- 4: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Diamond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shaped</a:t>
            </a:r>
            <a:r>
              <a:rPr sz="2300" b="1" u="sng" kern="0" spc="19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pyramid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74" name="rect 474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76" name="textbox 476"/>
          <p:cNvSpPr/>
          <p:nvPr/>
        </p:nvSpPr>
        <p:spPr>
          <a:xfrm>
            <a:off x="1930078" y="2322653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 rot="21600000">
            <a:off x="3044951" y="1967484"/>
            <a:ext cx="5667755" cy="1967483"/>
            <a:chOff x="0" y="0"/>
            <a:chExt cx="5667755" cy="1967483"/>
          </a:xfrm>
        </p:grpSpPr>
        <p:pic>
          <p:nvPicPr>
            <p:cNvPr id="478" name="picture 4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667755" cy="1967483"/>
            </a:xfrm>
            <a:prstGeom prst="rect">
              <a:avLst/>
            </a:prstGeom>
          </p:spPr>
        </p:pic>
        <p:sp>
          <p:nvSpPr>
            <p:cNvPr id="480" name="textbox 480"/>
            <p:cNvSpPr/>
            <p:nvPr/>
          </p:nvSpPr>
          <p:spPr>
            <a:xfrm>
              <a:off x="-12700" y="-12700"/>
              <a:ext cx="5693409" cy="1993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88900" indent="38100" algn="l" rtl="0" eaLnBrk="0">
                <a:lnSpc>
                  <a:spcPct val="105000"/>
                </a:lnSpc>
                <a:spcBef>
                  <a:spcPts val="2"/>
                </a:spcBef>
                <a:tabLst/>
              </a:pP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 = int(input("Enter the</a:t>
              </a:r>
              <a:r>
                <a:rPr sz="23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number of</a:t>
              </a:r>
              <a:r>
                <a:rPr sz="2300" b="1" kern="0" spc="-1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rows:</a:t>
              </a:r>
              <a:r>
                <a:rPr sz="2300" b="1" kern="0" spc="3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"))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for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(n):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61950" algn="l" rtl="0" eaLnBrk="0">
                <a:lnSpc>
                  <a:spcPts val="2879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300" b="1" kern="0" spc="-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j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(i+1):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662305" algn="l" rtl="0" eaLnBrk="0">
                <a:lnSpc>
                  <a:spcPts val="2879"/>
                </a:lnSpc>
                <a:tabLst/>
              </a:pP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print(j+1, end="</a:t>
              </a:r>
              <a:r>
                <a:rPr sz="2300" b="1" kern="0" spc="3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")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89254" algn="l" rtl="0" eaLnBrk="0">
                <a:lnSpc>
                  <a:spcPts val="2903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</a:t>
              </a:r>
              <a:r>
                <a:rPr sz="2300" b="1" kern="0" spc="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()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482" name="picture 4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87267" y="4325111"/>
            <a:ext cx="4239767" cy="2578607"/>
          </a:xfrm>
          <a:prstGeom prst="rect">
            <a:avLst/>
          </a:prstGeom>
        </p:spPr>
      </p:pic>
      <p:grpSp>
        <p:nvGrpSpPr>
          <p:cNvPr id="74" name="group 74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484" name="rect 484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486" name="picture 4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488" name="textbox 488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90" name="textbox 490"/>
          <p:cNvSpPr/>
          <p:nvPr/>
        </p:nvSpPr>
        <p:spPr>
          <a:xfrm>
            <a:off x="1177224" y="1277532"/>
            <a:ext cx="3514725" cy="476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</a:t>
            </a:r>
            <a:r>
              <a:rPr sz="23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1:</a:t>
            </a:r>
            <a:r>
              <a:rPr sz="23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92" name="rect 492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4" name="textbox 494"/>
          <p:cNvSpPr/>
          <p:nvPr/>
        </p:nvSpPr>
        <p:spPr>
          <a:xfrm>
            <a:off x="1558223" y="2286968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1960587" y="50414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picture 4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87267" y="4389119"/>
            <a:ext cx="4267199" cy="2653283"/>
          </a:xfrm>
          <a:prstGeom prst="rect">
            <a:avLst/>
          </a:prstGeom>
        </p:spPr>
      </p:pic>
      <p:grpSp>
        <p:nvGrpSpPr>
          <p:cNvPr id="76" name="group 76"/>
          <p:cNvGrpSpPr/>
          <p:nvPr/>
        </p:nvGrpSpPr>
        <p:grpSpPr>
          <a:xfrm rot="21600000">
            <a:off x="3044951" y="1967484"/>
            <a:ext cx="5667755" cy="1967483"/>
            <a:chOff x="0" y="0"/>
            <a:chExt cx="5667755" cy="1967483"/>
          </a:xfrm>
        </p:grpSpPr>
        <p:pic>
          <p:nvPicPr>
            <p:cNvPr id="500" name="picture 5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667755" cy="1967483"/>
            </a:xfrm>
            <a:prstGeom prst="rect">
              <a:avLst/>
            </a:prstGeom>
          </p:spPr>
        </p:pic>
        <p:sp>
          <p:nvSpPr>
            <p:cNvPr id="502" name="textbox 502"/>
            <p:cNvSpPr/>
            <p:nvPr/>
          </p:nvSpPr>
          <p:spPr>
            <a:xfrm>
              <a:off x="-12700" y="-12700"/>
              <a:ext cx="5693409" cy="19932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88900" indent="38100" algn="l" rtl="0" eaLnBrk="0">
                <a:lnSpc>
                  <a:spcPct val="105000"/>
                </a:lnSpc>
                <a:spcBef>
                  <a:spcPts val="2"/>
                </a:spcBef>
                <a:tabLst/>
              </a:pP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 = int(input("Enter the</a:t>
              </a:r>
              <a:r>
                <a:rPr sz="2300" b="1" kern="0" spc="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number of</a:t>
              </a:r>
              <a:r>
                <a:rPr sz="2300" b="1" kern="0" spc="-1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rows:</a:t>
              </a:r>
              <a:r>
                <a:rPr sz="2300" b="1" kern="0" spc="3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"))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    for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10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</a:t>
              </a:r>
              <a:r>
                <a:rPr sz="2300" b="1" kern="0" spc="6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(n):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61950" algn="l" rtl="0" eaLnBrk="0">
                <a:lnSpc>
                  <a:spcPts val="2879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for</a:t>
              </a:r>
              <a:r>
                <a:rPr sz="2300" b="1" kern="0" spc="-2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j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in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range</a:t>
              </a:r>
              <a:r>
                <a:rPr sz="2300" b="1" kern="0" spc="9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(n-i):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662305" algn="l" rtl="0" eaLnBrk="0">
                <a:lnSpc>
                  <a:spcPts val="2879"/>
                </a:lnSpc>
                <a:tabLst/>
              </a:pP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print(j+1, end="</a:t>
              </a:r>
              <a:r>
                <a:rPr sz="2300" b="1" kern="0" spc="3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2300" b="1" kern="0" spc="-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")</a:t>
              </a:r>
              <a:endParaRPr sz="2300" dirty="0">
                <a:latin typeface="Calibri"/>
                <a:ea typeface="Calibri"/>
                <a:cs typeface="Calibri"/>
              </a:endParaRPr>
            </a:p>
            <a:p>
              <a:pPr marL="389254" algn="l" rtl="0" eaLnBrk="0">
                <a:lnSpc>
                  <a:spcPts val="2903"/>
                </a:lnSpc>
                <a:tabLst/>
              </a:pP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print</a:t>
              </a:r>
              <a:r>
                <a:rPr sz="2300" b="1" kern="0" spc="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()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504" name="rect 504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506" name="picture 50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508" name="textbox 508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510" name="textbox 510"/>
          <p:cNvSpPr/>
          <p:nvPr/>
        </p:nvSpPr>
        <p:spPr>
          <a:xfrm>
            <a:off x="1177224" y="1277532"/>
            <a:ext cx="4645659" cy="476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- 2:</a:t>
            </a:r>
            <a:r>
              <a:rPr sz="2300" b="1" u="sng" kern="0" spc="20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Inverted</a:t>
            </a:r>
            <a:r>
              <a:rPr sz="2300" b="1" u="sng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3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512" name="rect 512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8039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4" name="textbox 514"/>
          <p:cNvSpPr/>
          <p:nvPr/>
        </p:nvSpPr>
        <p:spPr>
          <a:xfrm>
            <a:off x="1558223" y="2286968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1960587" y="50414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" name="table 518"/>
          <p:cNvGraphicFramePr>
            <a:graphicFrameLocks noGrp="1"/>
          </p:cNvGraphicFramePr>
          <p:nvPr/>
        </p:nvGraphicFramePr>
        <p:xfrm>
          <a:off x="3044951" y="1967484"/>
          <a:ext cx="5667375" cy="2329815"/>
        </p:xfrm>
        <a:graphic>
          <a:graphicData uri="http://schemas.openxmlformats.org/drawingml/2006/table">
            <a:tbl>
              <a:tblPr/>
              <a:tblGrid>
                <a:gridCol w="566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298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indent="38100" algn="l" rtl="0" eaLnBrk="0">
                        <a:lnSpc>
                          <a:spcPct val="10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 = int(input("Enter the</a:t>
                      </a:r>
                      <a:r>
                        <a:rPr sz="23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number of</a:t>
                      </a:r>
                      <a:r>
                        <a:rPr sz="23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</a:t>
                      </a:r>
                      <a:r>
                        <a:rPr sz="2300" b="1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"))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for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(1,n+1</a:t>
                      </a:r>
                      <a:r>
                        <a:rPr sz="23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1877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m</a:t>
                      </a:r>
                      <a:r>
                        <a:rPr sz="23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3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280670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for</a:t>
                      </a:r>
                      <a:r>
                        <a:rPr sz="23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in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range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(1,</a:t>
                      </a:r>
                      <a:r>
                        <a:rPr sz="23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i+1):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582294" algn="l" rtl="0" eaLnBrk="0">
                        <a:lnSpc>
                          <a:spcPts val="2879"/>
                        </a:lnSpc>
                        <a:tabLst/>
                      </a:pPr>
                      <a:r>
                        <a:rPr sz="2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print(m, end="</a:t>
                      </a:r>
                      <a:r>
                        <a:rPr sz="2300" b="1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07975" algn="l" rtl="0" eaLnBrk="0">
                        <a:lnSpc>
                          <a:spcPts val="2904"/>
                        </a:lnSpc>
                        <a:tabLst/>
                      </a:pPr>
                      <a:r>
                        <a:rPr sz="23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3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()</a:t>
                      </a:r>
                      <a:endParaRPr sz="23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20" name="picture 5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11067" y="4617719"/>
            <a:ext cx="4038599" cy="2417063"/>
          </a:xfrm>
          <a:prstGeom prst="rect">
            <a:avLst/>
          </a:prstGeom>
        </p:spPr>
      </p:pic>
      <p:grpSp>
        <p:nvGrpSpPr>
          <p:cNvPr id="80" name="group 80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522" name="rect 522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524" name="picture 5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526" name="textbox 526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528" name="textbox 528"/>
          <p:cNvSpPr/>
          <p:nvPr/>
        </p:nvSpPr>
        <p:spPr>
          <a:xfrm>
            <a:off x="1177224" y="1277532"/>
            <a:ext cx="580072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- 3:</a:t>
            </a:r>
            <a:r>
              <a:rPr sz="2300" b="1" u="sng" kern="0" spc="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Descending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order</a:t>
            </a:r>
            <a:r>
              <a:rPr sz="2300" b="1" u="sng" kern="0" spc="1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300" b="1" u="sng" kern="0" spc="1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530" name="rect 530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47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32" name="textbox 532"/>
          <p:cNvSpPr/>
          <p:nvPr/>
        </p:nvSpPr>
        <p:spPr>
          <a:xfrm>
            <a:off x="1558223" y="2286968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1960587" y="50414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6" name="table 536"/>
          <p:cNvGraphicFramePr>
            <a:graphicFrameLocks noGrp="1"/>
          </p:cNvGraphicFramePr>
          <p:nvPr/>
        </p:nvGraphicFramePr>
        <p:xfrm>
          <a:off x="3044951" y="1735836"/>
          <a:ext cx="6429375" cy="3160395"/>
        </p:xfrm>
        <a:graphic>
          <a:graphicData uri="http://schemas.openxmlformats.org/drawingml/2006/table">
            <a:tbl>
              <a:tblPr/>
              <a:tblGrid>
                <a:gridCol w="642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0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664" algn="l" rtl="0" eaLnBrk="0">
                        <a:lnSpc>
                          <a:spcPct val="10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 = int(in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put("Enter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the number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of</a:t>
                      </a:r>
                      <a:r>
                        <a:rPr sz="21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</a:t>
                      </a:r>
                      <a:r>
                        <a:rPr sz="2100" b="1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"))</a:t>
                      </a: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                 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124460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while i</a:t>
                      </a:r>
                      <a:r>
                        <a:rPr sz="21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&lt;=</a:t>
                      </a:r>
                      <a:r>
                        <a:rPr sz="2100" b="1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rows: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32740" algn="l" rtl="0" eaLnBrk="0">
                        <a:lnSpc>
                          <a:spcPts val="2640"/>
                        </a:lnSpc>
                        <a:tabLst/>
                      </a:pP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79095" algn="l" rtl="0" eaLnBrk="0">
                        <a:lnSpc>
                          <a:spcPts val="2640"/>
                        </a:lnSpc>
                        <a:tabLst/>
                      </a:pP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while</a:t>
                      </a:r>
                      <a:r>
                        <a:rPr sz="21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&lt;=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i: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6115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print((i</a:t>
                      </a:r>
                      <a:r>
                        <a:rPr sz="2100" b="1" kern="0" spc="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* 2</a:t>
                      </a:r>
                      <a:r>
                        <a:rPr sz="21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  <a:r>
                        <a:rPr sz="21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1),</a:t>
                      </a:r>
                      <a:r>
                        <a:rPr sz="21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end="</a:t>
                      </a:r>
                      <a:r>
                        <a:rPr sz="2100" b="1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")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586105" algn="l" rtl="0" eaLnBrk="0">
                        <a:lnSpc>
                          <a:spcPts val="2639"/>
                        </a:lnSpc>
                        <a:tabLst/>
                      </a:pP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</a:t>
                      </a:r>
                      <a:r>
                        <a:rPr sz="21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j +</a:t>
                      </a:r>
                      <a:r>
                        <a:rPr sz="21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67665" algn="l" rtl="0" eaLnBrk="0">
                        <a:lnSpc>
                          <a:spcPts val="2669"/>
                        </a:lnSpc>
                        <a:tabLst/>
                      </a:pP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=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  <a:r>
                        <a:rPr sz="21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+</a:t>
                      </a:r>
                      <a:r>
                        <a:rPr sz="2100" b="1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sz="21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358140" algn="l" rtl="0" eaLnBrk="0">
                        <a:lnSpc>
                          <a:spcPts val="2610"/>
                        </a:lnSpc>
                        <a:spcBef>
                          <a:spcPts val="20"/>
                        </a:spcBef>
                        <a:tabLst/>
                      </a:pPr>
                      <a:r>
                        <a:rPr sz="2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print</a:t>
                      </a:r>
                      <a:r>
                        <a:rPr sz="21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()</a:t>
                      </a:r>
                      <a:endParaRPr sz="21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2" name="group 82"/>
          <p:cNvGrpSpPr/>
          <p:nvPr/>
        </p:nvGrpSpPr>
        <p:grpSpPr>
          <a:xfrm rot="21600000">
            <a:off x="772667" y="350519"/>
            <a:ext cx="9144000" cy="876300"/>
            <a:chOff x="0" y="0"/>
            <a:chExt cx="9144000" cy="876300"/>
          </a:xfrm>
        </p:grpSpPr>
        <p:sp>
          <p:nvSpPr>
            <p:cNvPr id="538" name="rect 538"/>
            <p:cNvSpPr/>
            <p:nvPr/>
          </p:nvSpPr>
          <p:spPr>
            <a:xfrm>
              <a:off x="0" y="0"/>
              <a:ext cx="9144000" cy="838200"/>
            </a:xfrm>
            <a:prstGeom prst="rect">
              <a:avLst/>
            </a:prstGeom>
            <a:solidFill>
              <a:srgbClr val="FF33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540" name="picture 5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6146292" y="0"/>
              <a:ext cx="2997706" cy="876300"/>
            </a:xfrm>
            <a:prstGeom prst="rect">
              <a:avLst/>
            </a:prstGeom>
          </p:spPr>
        </p:pic>
        <p:sp>
          <p:nvSpPr>
            <p:cNvPr id="542" name="textbox 542"/>
            <p:cNvSpPr/>
            <p:nvPr/>
          </p:nvSpPr>
          <p:spPr>
            <a:xfrm>
              <a:off x="179907" y="249104"/>
              <a:ext cx="4081145" cy="378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58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2000"/>
                </a:lnSpc>
                <a:tabLst/>
              </a:pP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Python –</a:t>
              </a:r>
              <a:r>
                <a:rPr sz="3200" b="1" kern="0" spc="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Pattern</a:t>
              </a:r>
              <a:r>
                <a:rPr sz="3200" b="1" kern="0" spc="18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3200" b="1" kern="0" spc="-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Desi</a:t>
              </a:r>
              <a:r>
                <a:rPr sz="3200" b="1" kern="0" spc="-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gn</a:t>
              </a:r>
              <a:endParaRPr sz="32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544" name="picture 5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58667" y="4977383"/>
            <a:ext cx="3505199" cy="2103119"/>
          </a:xfrm>
          <a:prstGeom prst="rect">
            <a:avLst/>
          </a:prstGeom>
        </p:spPr>
      </p:pic>
      <p:sp>
        <p:nvSpPr>
          <p:cNvPr id="546" name="textbox 546"/>
          <p:cNvSpPr/>
          <p:nvPr/>
        </p:nvSpPr>
        <p:spPr>
          <a:xfrm>
            <a:off x="1177224" y="1277532"/>
            <a:ext cx="564197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9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- 4: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Ascending</a:t>
            </a:r>
            <a:r>
              <a:rPr sz="2300" b="1" u="sng" kern="0" spc="1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order</a:t>
            </a:r>
            <a:r>
              <a:rPr sz="2300" b="1" u="sng" kern="0" spc="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Number</a:t>
            </a:r>
            <a:r>
              <a:rPr sz="2300" b="1" u="sng" kern="0" spc="18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Pattern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548" name="rect 54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960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50" name="textbox 550"/>
          <p:cNvSpPr/>
          <p:nvPr/>
        </p:nvSpPr>
        <p:spPr>
          <a:xfrm>
            <a:off x="1558223" y="2286968"/>
            <a:ext cx="1164589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Example</a:t>
            </a:r>
            <a:r>
              <a:rPr sz="2300" b="1" u="sng" kern="0" spc="1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;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  <p:sp>
        <p:nvSpPr>
          <p:cNvPr id="552" name="textbox 552"/>
          <p:cNvSpPr/>
          <p:nvPr/>
        </p:nvSpPr>
        <p:spPr>
          <a:xfrm>
            <a:off x="1549079" y="5422438"/>
            <a:ext cx="1002664" cy="290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b="1" u="sng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Output</a:t>
            </a:r>
            <a:r>
              <a:rPr sz="2300" b="1" u="sng" kern="0" spc="17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:</a:t>
            </a:r>
            <a:endParaRPr sz="23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picture 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87067" y="1341120"/>
            <a:ext cx="7543800" cy="5410200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2667" y="350519"/>
            <a:ext cx="9144000" cy="876300"/>
          </a:xfrm>
          <a:prstGeom prst="rect">
            <a:avLst/>
          </a:prstGeom>
        </p:spPr>
      </p:pic>
      <p:sp>
        <p:nvSpPr>
          <p:cNvPr id="558" name="rect 558"/>
          <p:cNvSpPr/>
          <p:nvPr/>
        </p:nvSpPr>
        <p:spPr>
          <a:xfrm>
            <a:off x="772667" y="7109460"/>
            <a:ext cx="8997695" cy="100583"/>
          </a:xfrm>
          <a:prstGeom prst="rect">
            <a:avLst/>
          </a:prstGeom>
          <a:solidFill>
            <a:srgbClr val="FD0404">
              <a:alpha val="9686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1968</Words>
  <Application>Microsoft Office PowerPoint</Application>
  <PresentationFormat>Custom</PresentationFormat>
  <Paragraphs>462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Lect_11-16</dc:title>
  <dc:creator>NA</dc:creator>
  <cp:lastModifiedBy>Vibhu Sharma</cp:lastModifiedBy>
  <cp:revision>1</cp:revision>
  <dcterms:created xsi:type="dcterms:W3CDTF">2024-08-26T14:43:50Z</dcterms:created>
  <dcterms:modified xsi:type="dcterms:W3CDTF">2025-08-20T04:18:07Z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2025-08-20T09:43:51Z</vt:filetime>
  </property>
</Properties>
</file>