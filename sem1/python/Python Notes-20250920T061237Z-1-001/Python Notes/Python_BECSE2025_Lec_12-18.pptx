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sldSz cx="9144000" cy="6858000" type="screen4x3"/>
  <p:notesSz cx="6858000" cy="9144000"/>
  <p:embeddedFontLst>
    <p:embeddedFont>
      <p:font typeface="Helvetica Neue" panose="020B0604020202020204" charset="0"/>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8" roundtripDataSignature="AMtx7mh35b3PUG55X27zwJha+OO5opaN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156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4.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3.fntdata"/><Relationship Id="rId78" Type="http://customschemas.google.com/relationships/presentationmetadata" Target="meta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1.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 name="Google Shape;53;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61" name="Google Shape;61;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9" name="Google Shape;69;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7" name="Google Shape;7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5" name="Google Shape;8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5" name="Google Shape;10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3" name="Google Shape;11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1" name="Google Shape;12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8" name="Google Shape;14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7" name="Google Shape;15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5" name="Google Shape;16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3" name="Google Shape;17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4" name="Google Shape;18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0" name="Google Shape;20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4" name="Google Shape;21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4" name="Google Shape;224;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6" name="Google Shape;24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4" name="Google Shape;254;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4" name="Google Shape;26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4" name="Google Shape;274;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3" name="Google Shape;29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1" name="Google Shape;301;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9" name="Google Shape;309;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7" name="Google Shape;317;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5" name="Google Shape;32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3" name="Google Shape;333;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1" name="Google Shape;341;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0" name="Google Shape;350;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9" name="Google Shape;359;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2" name="Google Shape;372;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0" name="Google Shape;380;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8" name="Google Shape;388;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6" name="Google Shape;396;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4" name="Google Shape;404;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4" name="Google Shape;424;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8" name="Google Shape;438;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0" name="Google Shape;450;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8" name="Google Shape;458;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66" name="Google Shape;466;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9" name="Google Shape;479;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93" name="Google Shape;493;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6" name="Google Shape;506;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22" name="Google Shape;522;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5" name="Google Shape;535;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49" name="Google Shape;549;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63" name="Google Shape;563;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8" name="Google Shape;578;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86" name="Google Shape;586;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96" name="Google Shape;596;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04" name="Google Shape;604;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19" name="Google Shape;619;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27" name="Google Shape;627;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39" name="Google Shape;639;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51" name="Google Shape;651;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63" name="Google Shape;663;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71" name="Google Shape;671;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83" name="Google Shape;683;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95" name="Google Shape;695;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07" name="Google Shape;707;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15" name="Google Shape;715;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27" name="Google Shape;727;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35" name="Google Shape;735;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43" name="Google Shape;743;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55" name="Google Shape;755;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68" name="Google Shape;768;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98" name="Google Shape;798;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09" name="Google Shape;809;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17" name="Google Shape;817;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70"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70"/>
          <p:cNvGrpSpPr/>
          <p:nvPr/>
        </p:nvGrpSpPr>
        <p:grpSpPr>
          <a:xfrm>
            <a:off x="6146800" y="0"/>
            <a:ext cx="2997200" cy="876300"/>
            <a:chOff x="6096000" y="3924300"/>
            <a:chExt cx="2997200" cy="876300"/>
          </a:xfrm>
        </p:grpSpPr>
        <p:sp>
          <p:nvSpPr>
            <p:cNvPr id="27" name="Google Shape;27;p70"/>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8" name="Google Shape;28;p70"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70"/>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0" name="Google Shape;30;p70"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7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2" name="Google Shape;32;p70"/>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 name="Google Shape;33;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7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71"/>
          <p:cNvSpPr txBox="1">
            <a:spLocks noGrp="1"/>
          </p:cNvSpPr>
          <p:nvPr>
            <p:ph type="title"/>
          </p:nvPr>
        </p:nvSpPr>
        <p:spPr>
          <a:xfrm>
            <a:off x="0" y="0"/>
            <a:ext cx="6477000" cy="838200"/>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sz="2800" b="0" i="0">
                <a:solidFill>
                  <a:srgbClr val="775F54"/>
                </a:solidFill>
                <a:latin typeface="Helvetica Neue"/>
                <a:ea typeface="Helvetica Neue"/>
                <a:cs typeface="Helvetica Neue"/>
                <a:sym typeface="Helvetica Neu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8" name="Google Shape;38;p71"/>
          <p:cNvSpPr txBox="1">
            <a:spLocks noGrp="1"/>
          </p:cNvSpPr>
          <p:nvPr>
            <p:ph type="ftr" idx="11"/>
          </p:nvPr>
        </p:nvSpPr>
        <p:spPr>
          <a:xfrm>
            <a:off x="3124200" y="6356350"/>
            <a:ext cx="2895600" cy="365125"/>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sz="1400" b="0" i="0">
                <a:solidFill>
                  <a:srgbClr val="775F54"/>
                </a:solidFill>
                <a:latin typeface="Helvetica Neue"/>
                <a:ea typeface="Helvetica Neue"/>
                <a:cs typeface="Helvetica Neue"/>
                <a:sym typeface="Helvetica Neu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1"/>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71"/>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lvl1pPr marL="0" lvl="0" indent="0" algn="r">
              <a:spcBef>
                <a:spcPts val="0"/>
              </a:spcBef>
              <a:spcAft>
                <a:spcPts val="0"/>
              </a:spcAft>
              <a:buNone/>
              <a:defRPr>
                <a:solidFill>
                  <a:srgbClr val="888888"/>
                </a:solidFill>
              </a:defRPr>
            </a:lvl1pPr>
            <a:lvl2pPr marL="0" lvl="1" indent="0" algn="r">
              <a:spcBef>
                <a:spcPts val="0"/>
              </a:spcBef>
              <a:spcAft>
                <a:spcPts val="0"/>
              </a:spcAft>
              <a:buNone/>
              <a:defRPr>
                <a:solidFill>
                  <a:srgbClr val="888888"/>
                </a:solidFill>
              </a:defRPr>
            </a:lvl2pPr>
            <a:lvl3pPr marL="0" lvl="2" indent="0" algn="r">
              <a:spcBef>
                <a:spcPts val="0"/>
              </a:spcBef>
              <a:spcAft>
                <a:spcPts val="0"/>
              </a:spcAft>
              <a:buNone/>
              <a:defRPr>
                <a:solidFill>
                  <a:srgbClr val="888888"/>
                </a:solidFill>
              </a:defRPr>
            </a:lvl3pPr>
            <a:lvl4pPr marL="0" lvl="3" indent="0" algn="r">
              <a:spcBef>
                <a:spcPts val="0"/>
              </a:spcBef>
              <a:spcAft>
                <a:spcPts val="0"/>
              </a:spcAft>
              <a:buNone/>
              <a:defRPr>
                <a:solidFill>
                  <a:srgbClr val="888888"/>
                </a:solidFill>
              </a:defRPr>
            </a:lvl4pPr>
            <a:lvl5pPr marL="0" lvl="4" indent="0" algn="r">
              <a:spcBef>
                <a:spcPts val="0"/>
              </a:spcBef>
              <a:spcAft>
                <a:spcPts val="0"/>
              </a:spcAft>
              <a:buNone/>
              <a:defRPr>
                <a:solidFill>
                  <a:srgbClr val="888888"/>
                </a:solidFill>
              </a:defRPr>
            </a:lvl5pPr>
            <a:lvl6pPr marL="0" lvl="5" indent="0" algn="r">
              <a:spcBef>
                <a:spcPts val="0"/>
              </a:spcBef>
              <a:spcAft>
                <a:spcPts val="0"/>
              </a:spcAft>
              <a:buNone/>
              <a:defRPr>
                <a:solidFill>
                  <a:srgbClr val="888888"/>
                </a:solidFill>
              </a:defRPr>
            </a:lvl6pPr>
            <a:lvl7pPr marL="0" lvl="6" indent="0" algn="r">
              <a:spcBef>
                <a:spcPts val="0"/>
              </a:spcBef>
              <a:spcAft>
                <a:spcPts val="0"/>
              </a:spcAft>
              <a:buNone/>
              <a:defRPr>
                <a:solidFill>
                  <a:srgbClr val="888888"/>
                </a:solidFill>
              </a:defRPr>
            </a:lvl7pPr>
            <a:lvl8pPr marL="0" lvl="7" indent="0" algn="r">
              <a:spcBef>
                <a:spcPts val="0"/>
              </a:spcBef>
              <a:spcAft>
                <a:spcPts val="0"/>
              </a:spcAft>
              <a:buNone/>
              <a:defRPr>
                <a:solidFill>
                  <a:srgbClr val="888888"/>
                </a:solidFill>
              </a:defRPr>
            </a:lvl8pPr>
            <a:lvl9pPr marL="0" lvl="8" indent="0" algn="r">
              <a:spcBef>
                <a:spcPts val="0"/>
              </a:spcBef>
              <a:spcAft>
                <a:spcPts val="0"/>
              </a:spcAft>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200">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41"/>
        <p:cNvGrpSpPr/>
        <p:nvPr/>
      </p:nvGrpSpPr>
      <p:grpSpPr>
        <a:xfrm>
          <a:off x="0" y="0"/>
          <a:ext cx="0" cy="0"/>
          <a:chOff x="0" y="0"/>
          <a:chExt cx="0" cy="0"/>
        </a:xfrm>
      </p:grpSpPr>
      <p:sp>
        <p:nvSpPr>
          <p:cNvPr id="42" name="Google Shape;42;p72"/>
          <p:cNvSpPr txBox="1">
            <a:spLocks noGrp="1"/>
          </p:cNvSpPr>
          <p:nvPr>
            <p:ph type="ftr" idx="11"/>
          </p:nvPr>
        </p:nvSpPr>
        <p:spPr>
          <a:xfrm>
            <a:off x="3124200" y="6356350"/>
            <a:ext cx="2895600" cy="365125"/>
          </a:xfrm>
          <a:prstGeom prst="rect">
            <a:avLst/>
          </a:prstGeom>
          <a:noFill/>
          <a:ln>
            <a:noFill/>
          </a:ln>
        </p:spPr>
        <p:txBody>
          <a:bodyPr spcFirstLastPara="1" wrap="square" lIns="0" tIns="0" rIns="0" bIns="0" anchor="ctr" anchorCtr="0">
            <a:noAutofit/>
          </a:bodyPr>
          <a:lstStyle>
            <a:lvl1pPr lvl="0" algn="ctr">
              <a:spcBef>
                <a:spcPts val="0"/>
              </a:spcBef>
              <a:spcAft>
                <a:spcPts val="0"/>
              </a:spcAft>
              <a:buSzPts val="1400"/>
              <a:buNone/>
              <a:defRPr sz="1400" b="0" i="0">
                <a:solidFill>
                  <a:srgbClr val="775F54"/>
                </a:solidFill>
                <a:latin typeface="Helvetica Neue"/>
                <a:ea typeface="Helvetica Neue"/>
                <a:cs typeface="Helvetica Neue"/>
                <a:sym typeface="Helvetica Neu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2"/>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2"/>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lvl1pPr marL="0" lvl="0" indent="0" algn="r">
              <a:spcBef>
                <a:spcPts val="0"/>
              </a:spcBef>
              <a:spcAft>
                <a:spcPts val="0"/>
              </a:spcAft>
              <a:buNone/>
              <a:defRPr>
                <a:solidFill>
                  <a:srgbClr val="888888"/>
                </a:solidFill>
              </a:defRPr>
            </a:lvl1pPr>
            <a:lvl2pPr marL="0" lvl="1" indent="0" algn="r">
              <a:spcBef>
                <a:spcPts val="0"/>
              </a:spcBef>
              <a:spcAft>
                <a:spcPts val="0"/>
              </a:spcAft>
              <a:buNone/>
              <a:defRPr>
                <a:solidFill>
                  <a:srgbClr val="888888"/>
                </a:solidFill>
              </a:defRPr>
            </a:lvl2pPr>
            <a:lvl3pPr marL="0" lvl="2" indent="0" algn="r">
              <a:spcBef>
                <a:spcPts val="0"/>
              </a:spcBef>
              <a:spcAft>
                <a:spcPts val="0"/>
              </a:spcAft>
              <a:buNone/>
              <a:defRPr>
                <a:solidFill>
                  <a:srgbClr val="888888"/>
                </a:solidFill>
              </a:defRPr>
            </a:lvl3pPr>
            <a:lvl4pPr marL="0" lvl="3" indent="0" algn="r">
              <a:spcBef>
                <a:spcPts val="0"/>
              </a:spcBef>
              <a:spcAft>
                <a:spcPts val="0"/>
              </a:spcAft>
              <a:buNone/>
              <a:defRPr>
                <a:solidFill>
                  <a:srgbClr val="888888"/>
                </a:solidFill>
              </a:defRPr>
            </a:lvl4pPr>
            <a:lvl5pPr marL="0" lvl="4" indent="0" algn="r">
              <a:spcBef>
                <a:spcPts val="0"/>
              </a:spcBef>
              <a:spcAft>
                <a:spcPts val="0"/>
              </a:spcAft>
              <a:buNone/>
              <a:defRPr>
                <a:solidFill>
                  <a:srgbClr val="888888"/>
                </a:solidFill>
              </a:defRPr>
            </a:lvl5pPr>
            <a:lvl6pPr marL="0" lvl="5" indent="0" algn="r">
              <a:spcBef>
                <a:spcPts val="0"/>
              </a:spcBef>
              <a:spcAft>
                <a:spcPts val="0"/>
              </a:spcAft>
              <a:buNone/>
              <a:defRPr>
                <a:solidFill>
                  <a:srgbClr val="888888"/>
                </a:solidFill>
              </a:defRPr>
            </a:lvl6pPr>
            <a:lvl7pPr marL="0" lvl="6" indent="0" algn="r">
              <a:spcBef>
                <a:spcPts val="0"/>
              </a:spcBef>
              <a:spcAft>
                <a:spcPts val="0"/>
              </a:spcAft>
              <a:buNone/>
              <a:defRPr>
                <a:solidFill>
                  <a:srgbClr val="888888"/>
                </a:solidFill>
              </a:defRPr>
            </a:lvl7pPr>
            <a:lvl8pPr marL="0" lvl="7" indent="0" algn="r">
              <a:spcBef>
                <a:spcPts val="0"/>
              </a:spcBef>
              <a:spcAft>
                <a:spcPts val="0"/>
              </a:spcAft>
              <a:buNone/>
              <a:defRPr>
                <a:solidFill>
                  <a:srgbClr val="888888"/>
                </a:solidFill>
              </a:defRPr>
            </a:lvl8pPr>
            <a:lvl9pPr marL="0" lvl="8" indent="0" algn="r">
              <a:spcBef>
                <a:spcPts val="0"/>
              </a:spcBef>
              <a:spcAft>
                <a:spcPts val="0"/>
              </a:spcAft>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2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5"/>
        <p:cNvGrpSpPr/>
        <p:nvPr/>
      </p:nvGrpSpPr>
      <p:grpSpPr>
        <a:xfrm>
          <a:off x="0" y="0"/>
          <a:ext cx="0" cy="0"/>
          <a:chOff x="0" y="0"/>
          <a:chExt cx="0" cy="0"/>
        </a:xfrm>
      </p:grpSpPr>
      <p:sp>
        <p:nvSpPr>
          <p:cNvPr id="46" name="Google Shape;46;p73"/>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7" name="Google Shape;47;p73"/>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48" name="Google Shape;48;p7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69"/>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69"/>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69"/>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7" name="Google Shape;17;p69" descr="LOGO.gif"/>
          <p:cNvPicPr preferRelativeResize="0"/>
          <p:nvPr/>
        </p:nvPicPr>
        <p:blipFill rotWithShape="1">
          <a:blip r:embed="rId6">
            <a:alphaModFix/>
          </a:blip>
          <a:srcRect b="10713"/>
          <a:stretch/>
        </p:blipFill>
        <p:spPr>
          <a:xfrm>
            <a:off x="6553200" y="228600"/>
            <a:ext cx="2057400" cy="635000"/>
          </a:xfrm>
          <a:prstGeom prst="rect">
            <a:avLst/>
          </a:prstGeom>
          <a:noFill/>
          <a:ln>
            <a:noFill/>
          </a:ln>
        </p:spPr>
      </p:pic>
      <p:pic>
        <p:nvPicPr>
          <p:cNvPr id="18" name="Google Shape;18;p69" descr="LOGO.gif"/>
          <p:cNvPicPr preferRelativeResize="0"/>
          <p:nvPr/>
        </p:nvPicPr>
        <p:blipFill rotWithShape="1">
          <a:blip r:embed="rId6">
            <a:alphaModFix/>
          </a:blip>
          <a:srcRect b="10713"/>
          <a:stretch/>
        </p:blipFill>
        <p:spPr>
          <a:xfrm>
            <a:off x="6553200" y="228600"/>
            <a:ext cx="2057400" cy="635000"/>
          </a:xfrm>
          <a:prstGeom prst="rect">
            <a:avLst/>
          </a:prstGeom>
          <a:noFill/>
          <a:ln>
            <a:noFill/>
          </a:ln>
        </p:spPr>
      </p:pic>
      <p:grpSp>
        <p:nvGrpSpPr>
          <p:cNvPr id="19" name="Google Shape;19;p69"/>
          <p:cNvGrpSpPr/>
          <p:nvPr/>
        </p:nvGrpSpPr>
        <p:grpSpPr>
          <a:xfrm>
            <a:off x="6146800" y="0"/>
            <a:ext cx="2997200" cy="876300"/>
            <a:chOff x="6096000" y="3924300"/>
            <a:chExt cx="2997200" cy="876300"/>
          </a:xfrm>
        </p:grpSpPr>
        <p:sp>
          <p:nvSpPr>
            <p:cNvPr id="20" name="Google Shape;20;p69"/>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1" name="Google Shape;21;p69" descr="LOGO.gif"/>
            <p:cNvPicPr preferRelativeResize="0"/>
            <p:nvPr/>
          </p:nvPicPr>
          <p:blipFill rotWithShape="1">
            <a:blip r:embed="rId6">
              <a:alphaModFix/>
            </a:blip>
            <a:srcRect b="10713"/>
            <a:stretch/>
          </p:blipFill>
          <p:spPr>
            <a:xfrm>
              <a:off x="6502400" y="4152900"/>
              <a:ext cx="2057400" cy="635000"/>
            </a:xfrm>
            <a:prstGeom prst="rect">
              <a:avLst/>
            </a:prstGeom>
            <a:noFill/>
            <a:ln>
              <a:noFill/>
            </a:ln>
          </p:spPr>
        </p:pic>
        <p:sp>
          <p:nvSpPr>
            <p:cNvPr id="22" name="Google Shape;22;p69"/>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23" name="Google Shape;23;p69" descr="logo.jpg"/>
          <p:cNvPicPr preferRelativeResize="0"/>
          <p:nvPr/>
        </p:nvPicPr>
        <p:blipFill rotWithShape="1">
          <a:blip r:embed="rId7">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4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2.xml"/><Relationship Id="rId1" Type="http://schemas.openxmlformats.org/officeDocument/2006/relationships/slideLayout" Target="../slideLayouts/slideLayout4.xml"/><Relationship Id="rId5" Type="http://schemas.openxmlformats.org/officeDocument/2006/relationships/image" Target="../media/image59.png"/><Relationship Id="rId4" Type="http://schemas.openxmlformats.org/officeDocument/2006/relationships/image" Target="../media/image58.png"/></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62.png"/><Relationship Id="rId4" Type="http://schemas.openxmlformats.org/officeDocument/2006/relationships/image" Target="../media/image61.png"/></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64.png"/><Relationship Id="rId4" Type="http://schemas.openxmlformats.org/officeDocument/2006/relationships/image" Target="../media/image63.png"/></Relationships>
</file>

<file path=ppt/slides/_rels/slide4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3.png"/></Relationships>
</file>

<file path=ppt/slides/_rels/slide4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5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5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5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5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5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110.png"/><Relationship Id="rId5" Type="http://schemas.openxmlformats.org/officeDocument/2006/relationships/image" Target="../media/image10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s>
</file>

<file path=ppt/slides/_rels/slide6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117.jpg"/><Relationship Id="rId4" Type="http://schemas.openxmlformats.org/officeDocument/2006/relationships/image" Target="../media/image116.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
          <p:cNvSpPr txBox="1"/>
          <p:nvPr/>
        </p:nvSpPr>
        <p:spPr>
          <a:xfrm>
            <a:off x="1219200" y="914400"/>
            <a:ext cx="6553200" cy="1981200"/>
          </a:xfrm>
          <a:prstGeom prst="rect">
            <a:avLst/>
          </a:prstGeom>
          <a:noFill/>
          <a:ln>
            <a:noFill/>
          </a:ln>
        </p:spPr>
        <p:txBody>
          <a:bodyPr spcFirstLastPara="1" wrap="square" lIns="91425" tIns="33100" rIns="91425" bIns="45700" anchor="ctr" anchorCtr="0">
            <a:noAutofit/>
          </a:bodyPr>
          <a:lstStyle/>
          <a:p>
            <a:pPr marL="0" marR="0" lvl="0" indent="0" algn="ctr" rtl="0">
              <a:spcBef>
                <a:spcPts val="0"/>
              </a:spcBef>
              <a:spcAft>
                <a:spcPts val="0"/>
              </a:spcAft>
              <a:buNone/>
            </a:pPr>
            <a:r>
              <a:rPr lang="en-US" sz="3200" b="1">
                <a:solidFill>
                  <a:srgbClr val="3A30FA"/>
                </a:solidFill>
                <a:latin typeface="Calibri"/>
                <a:ea typeface="Calibri"/>
                <a:cs typeface="Calibri"/>
                <a:sym typeface="Calibri"/>
              </a:rPr>
              <a:t>Functions in Python</a:t>
            </a:r>
            <a:endParaRPr sz="3200" b="1">
              <a:solidFill>
                <a:srgbClr val="3A30FA"/>
              </a:solidFill>
              <a:latin typeface="Calibri"/>
              <a:ea typeface="Calibri"/>
              <a:cs typeface="Calibri"/>
              <a:sym typeface="Calibri"/>
            </a:endParaRPr>
          </a:p>
        </p:txBody>
      </p:sp>
      <p:sp>
        <p:nvSpPr>
          <p:cNvPr id="57" name="Google Shape;57;p1"/>
          <p:cNvSpPr txBox="1"/>
          <p:nvPr/>
        </p:nvSpPr>
        <p:spPr>
          <a:xfrm>
            <a:off x="1752600" y="5943600"/>
            <a:ext cx="6151245" cy="6451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FF0000"/>
                </a:solidFill>
                <a:latin typeface="Arial"/>
                <a:ea typeface="Arial"/>
                <a:cs typeface="Arial"/>
                <a:sym typeface="Arial"/>
              </a:rPr>
              <a:t>Chitkara University Institute of Engineering and Technology,</a:t>
            </a:r>
            <a:endParaRPr/>
          </a:p>
          <a:p>
            <a:pPr marL="0" marR="0" lvl="0" indent="0" algn="ctr" rtl="0">
              <a:spcBef>
                <a:spcPts val="0"/>
              </a:spcBef>
              <a:spcAft>
                <a:spcPts val="0"/>
              </a:spcAft>
              <a:buNone/>
            </a:pPr>
            <a:r>
              <a:rPr lang="en-US" sz="1800">
                <a:solidFill>
                  <a:srgbClr val="FF0000"/>
                </a:solidFill>
                <a:latin typeface="Arial"/>
                <a:ea typeface="Arial"/>
                <a:cs typeface="Arial"/>
                <a:sym typeface="Arial"/>
              </a:rPr>
              <a:t>Chitkara University, Punjab</a:t>
            </a:r>
            <a:endParaRPr sz="1800">
              <a:solidFill>
                <a:srgbClr val="FF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2"/>
          <p:cNvSpPr txBox="1">
            <a:spLocks noGrp="1"/>
          </p:cNvSpPr>
          <p:nvPr>
            <p:ph type="title"/>
          </p:nvPr>
        </p:nvSpPr>
        <p:spPr>
          <a:xfrm>
            <a:off x="691894" y="76200"/>
            <a:ext cx="2567305"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Introduction</a:t>
            </a:r>
            <a:endParaRPr sz="4400"/>
          </a:p>
        </p:txBody>
      </p:sp>
      <p:sp>
        <p:nvSpPr>
          <p:cNvPr id="64" name="Google Shape;64;p2"/>
          <p:cNvSpPr txBox="1"/>
          <p:nvPr/>
        </p:nvSpPr>
        <p:spPr>
          <a:xfrm>
            <a:off x="691387" y="1572514"/>
            <a:ext cx="7998459" cy="4690110"/>
          </a:xfrm>
          <a:prstGeom prst="rect">
            <a:avLst/>
          </a:prstGeom>
          <a:noFill/>
          <a:ln>
            <a:noFill/>
          </a:ln>
        </p:spPr>
        <p:txBody>
          <a:bodyPr spcFirstLastPara="1" wrap="square" lIns="0" tIns="53975" rIns="0" bIns="0" anchor="t" anchorCtr="0">
            <a:spAutoFit/>
          </a:bodyPr>
          <a:lstStyle/>
          <a:p>
            <a:pPr marL="332740" marR="5715" lvl="0" indent="-320675" algn="just" rtl="0">
              <a:lnSpc>
                <a:spcPct val="90000"/>
              </a:lnSpc>
              <a:spcBef>
                <a:spcPts val="0"/>
              </a:spcBef>
              <a:spcAft>
                <a:spcPts val="0"/>
              </a:spcAft>
              <a:buClr>
                <a:srgbClr val="DD8046"/>
              </a:buClr>
              <a:buSzPts val="1600"/>
              <a:buFont typeface="Noto Sans Symbols"/>
              <a:buChar char="◻"/>
            </a:pPr>
            <a:r>
              <a:rPr lang="en-US" sz="2700">
                <a:solidFill>
                  <a:schemeClr val="dk1"/>
                </a:solidFill>
                <a:latin typeface="Helvetica Neue"/>
                <a:ea typeface="Helvetica Neue"/>
                <a:cs typeface="Helvetica Neue"/>
                <a:sym typeface="Helvetica Neue"/>
              </a:rPr>
              <a:t>Large programs are often difficult to manage, thus  large programs are divided into smaller units known as  </a:t>
            </a:r>
            <a:r>
              <a:rPr lang="en-US" sz="2700" b="1">
                <a:solidFill>
                  <a:srgbClr val="FF0000"/>
                </a:solidFill>
                <a:latin typeface="Arial"/>
                <a:ea typeface="Arial"/>
                <a:cs typeface="Arial"/>
                <a:sym typeface="Arial"/>
              </a:rPr>
              <a:t>functions.</a:t>
            </a:r>
            <a:endParaRPr sz="2700">
              <a:solidFill>
                <a:schemeClr val="dk1"/>
              </a:solidFill>
              <a:latin typeface="Arial"/>
              <a:ea typeface="Arial"/>
              <a:cs typeface="Arial"/>
              <a:sym typeface="Arial"/>
            </a:endParaRPr>
          </a:p>
          <a:p>
            <a:pPr marL="332740" marR="5080" lvl="0" indent="-320675" algn="just" rtl="0">
              <a:lnSpc>
                <a:spcPct val="108148"/>
              </a:lnSpc>
              <a:spcBef>
                <a:spcPts val="745"/>
              </a:spcBef>
              <a:spcAft>
                <a:spcPts val="0"/>
              </a:spcAft>
              <a:buClr>
                <a:srgbClr val="DD8046"/>
              </a:buClr>
              <a:buSzPts val="1600"/>
              <a:buFont typeface="Noto Sans Symbols"/>
              <a:buChar char="◻"/>
            </a:pPr>
            <a:r>
              <a:rPr lang="en-US" sz="2700">
                <a:solidFill>
                  <a:schemeClr val="dk1"/>
                </a:solidFill>
                <a:latin typeface="Helvetica Neue"/>
                <a:ea typeface="Helvetica Neue"/>
                <a:cs typeface="Helvetica Neue"/>
                <a:sym typeface="Helvetica Neue"/>
              </a:rPr>
              <a:t>It is simply a group of statements under any name i.e.  function name and can be invoked (call) from other part  of program.</a:t>
            </a:r>
            <a:endParaRPr sz="2700">
              <a:solidFill>
                <a:schemeClr val="dk1"/>
              </a:solidFill>
              <a:latin typeface="Helvetica Neue"/>
              <a:ea typeface="Helvetica Neue"/>
              <a:cs typeface="Helvetica Neue"/>
              <a:sym typeface="Helvetica Neue"/>
            </a:endParaRPr>
          </a:p>
          <a:p>
            <a:pPr marL="332740" marR="5715" lvl="0" indent="-320675" algn="just" rtl="0">
              <a:lnSpc>
                <a:spcPct val="90000"/>
              </a:lnSpc>
              <a:spcBef>
                <a:spcPts val="645"/>
              </a:spcBef>
              <a:spcAft>
                <a:spcPts val="0"/>
              </a:spcAft>
              <a:buClr>
                <a:srgbClr val="DD8046"/>
              </a:buClr>
              <a:buSzPts val="1600"/>
              <a:buFont typeface="Noto Sans Symbols"/>
              <a:buChar char="◻"/>
            </a:pPr>
            <a:r>
              <a:rPr lang="en-US" sz="2700">
                <a:solidFill>
                  <a:schemeClr val="dk1"/>
                </a:solidFill>
                <a:latin typeface="Helvetica Neue"/>
                <a:ea typeface="Helvetica Neue"/>
                <a:cs typeface="Helvetica Neue"/>
                <a:sym typeface="Helvetica Neue"/>
              </a:rPr>
              <a:t>Take an example of School Management Software, now  this software will contain various tasks like Registering  student, Fee collection, Library book issue, TC  generation, Result Declaration etc. In this case we have  to create different functions for each task to manage  the software development.</a:t>
            </a:r>
            <a:endParaRPr sz="2700">
              <a:solidFill>
                <a:schemeClr val="dk1"/>
              </a:solidFill>
              <a:latin typeface="Helvetica Neue"/>
              <a:ea typeface="Helvetica Neue"/>
              <a:cs typeface="Helvetica Neue"/>
              <a:sym typeface="Helvetica Neue"/>
            </a:endParaRPr>
          </a:p>
        </p:txBody>
      </p:sp>
      <p:sp>
        <p:nvSpPr>
          <p:cNvPr id="65" name="Google Shape;65;p2"/>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66" name="Google Shape;66;p2"/>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3"/>
          <p:cNvSpPr txBox="1">
            <a:spLocks noGrp="1"/>
          </p:cNvSpPr>
          <p:nvPr>
            <p:ph type="title"/>
          </p:nvPr>
        </p:nvSpPr>
        <p:spPr>
          <a:xfrm>
            <a:off x="696467" y="152400"/>
            <a:ext cx="2971800" cy="690574"/>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Introduction</a:t>
            </a:r>
            <a:endParaRPr sz="4400"/>
          </a:p>
        </p:txBody>
      </p:sp>
      <p:sp>
        <p:nvSpPr>
          <p:cNvPr id="72" name="Google Shape;72;p3"/>
          <p:cNvSpPr txBox="1"/>
          <p:nvPr/>
        </p:nvSpPr>
        <p:spPr>
          <a:xfrm>
            <a:off x="691387" y="1612138"/>
            <a:ext cx="7998459" cy="4687570"/>
          </a:xfrm>
          <a:prstGeom prst="rect">
            <a:avLst/>
          </a:prstGeom>
          <a:noFill/>
          <a:ln>
            <a:noFill/>
          </a:ln>
        </p:spPr>
        <p:txBody>
          <a:bodyPr spcFirstLastPara="1" wrap="square" lIns="0" tIns="13325" rIns="0" bIns="0" anchor="t" anchorCtr="0">
            <a:spAutoFit/>
          </a:bodyPr>
          <a:lstStyle/>
          <a:p>
            <a:pPr marL="332740" marR="6350" lvl="0" indent="-320675" algn="just"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Set of functions is stored in a file called MODULE.  And this approach is known as MODULARIZATION,  makes program easier to understand, test and  maintain.</a:t>
            </a:r>
            <a:endParaRPr sz="2900">
              <a:solidFill>
                <a:schemeClr val="dk1"/>
              </a:solidFill>
              <a:latin typeface="Helvetica Neue"/>
              <a:ea typeface="Helvetica Neue"/>
              <a:cs typeface="Helvetica Neue"/>
              <a:sym typeface="Helvetica Neue"/>
            </a:endParaRPr>
          </a:p>
          <a:p>
            <a:pPr marL="332740" marR="5080" lvl="0" indent="-320675" algn="just" rtl="0">
              <a:lnSpc>
                <a:spcPct val="100000"/>
              </a:lnSpc>
              <a:spcBef>
                <a:spcPts val="70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Commonly used modules that contain source code  for generic need are called LIBRARIES.</a:t>
            </a:r>
            <a:endParaRPr sz="2900">
              <a:solidFill>
                <a:schemeClr val="dk1"/>
              </a:solidFill>
              <a:latin typeface="Helvetica Neue"/>
              <a:ea typeface="Helvetica Neue"/>
              <a:cs typeface="Helvetica Neue"/>
              <a:sym typeface="Helvetica Neue"/>
            </a:endParaRPr>
          </a:p>
          <a:p>
            <a:pPr marL="332740" marR="16510" lvl="0" indent="-320675" algn="just" rtl="0">
              <a:lnSpc>
                <a:spcPct val="100000"/>
              </a:lnSpc>
              <a:spcBef>
                <a:spcPts val="70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Modules contains set of functions. Functions is of  mainly two types:</a:t>
            </a:r>
            <a:endParaRPr sz="2900">
              <a:solidFill>
                <a:schemeClr val="dk1"/>
              </a:solidFill>
              <a:latin typeface="Helvetica Neue"/>
              <a:ea typeface="Helvetica Neue"/>
              <a:cs typeface="Helvetica Neue"/>
              <a:sym typeface="Helvetica Neue"/>
            </a:endParaRPr>
          </a:p>
          <a:p>
            <a:pPr marL="378460" marR="0" lvl="0" indent="0" algn="just" rtl="0">
              <a:lnSpc>
                <a:spcPct val="100000"/>
              </a:lnSpc>
              <a:spcBef>
                <a:spcPts val="615"/>
              </a:spcBef>
              <a:spcAft>
                <a:spcPts val="0"/>
              </a:spcAft>
              <a:buNone/>
            </a:pPr>
            <a:r>
              <a:rPr lang="en-US" sz="1800">
                <a:solidFill>
                  <a:srgbClr val="93B6D2"/>
                </a:solidFill>
                <a:latin typeface="Helvetica Neue"/>
                <a:ea typeface="Helvetica Neue"/>
                <a:cs typeface="Helvetica Neue"/>
                <a:sym typeface="Helvetica Neue"/>
              </a:rPr>
              <a:t>🞑 </a:t>
            </a:r>
            <a:r>
              <a:rPr lang="en-US" sz="2600">
                <a:solidFill>
                  <a:schemeClr val="dk1"/>
                </a:solidFill>
                <a:latin typeface="Helvetica Neue"/>
                <a:ea typeface="Helvetica Neue"/>
                <a:cs typeface="Helvetica Neue"/>
                <a:sym typeface="Helvetica Neue"/>
              </a:rPr>
              <a:t>Built-in Functions</a:t>
            </a:r>
            <a:endParaRPr sz="2600">
              <a:solidFill>
                <a:schemeClr val="dk1"/>
              </a:solidFill>
              <a:latin typeface="Helvetica Neue"/>
              <a:ea typeface="Helvetica Neue"/>
              <a:cs typeface="Helvetica Neue"/>
              <a:sym typeface="Helvetica Neue"/>
            </a:endParaRPr>
          </a:p>
          <a:p>
            <a:pPr marL="378460" marR="0" lvl="0" indent="0" algn="just" rtl="0">
              <a:lnSpc>
                <a:spcPct val="100000"/>
              </a:lnSpc>
              <a:spcBef>
                <a:spcPts val="600"/>
              </a:spcBef>
              <a:spcAft>
                <a:spcPts val="0"/>
              </a:spcAft>
              <a:buNone/>
            </a:pPr>
            <a:r>
              <a:rPr lang="en-US" sz="1800">
                <a:solidFill>
                  <a:srgbClr val="93B6D2"/>
                </a:solidFill>
                <a:latin typeface="Helvetica Neue"/>
                <a:ea typeface="Helvetica Neue"/>
                <a:cs typeface="Helvetica Neue"/>
                <a:sym typeface="Helvetica Neue"/>
              </a:rPr>
              <a:t>🞑 </a:t>
            </a:r>
            <a:r>
              <a:rPr lang="en-US" sz="2600">
                <a:solidFill>
                  <a:schemeClr val="dk1"/>
                </a:solidFill>
                <a:latin typeface="Helvetica Neue"/>
                <a:ea typeface="Helvetica Neue"/>
                <a:cs typeface="Helvetica Neue"/>
                <a:sym typeface="Helvetica Neue"/>
              </a:rPr>
              <a:t>User-Defined Functions</a:t>
            </a:r>
            <a:endParaRPr sz="2600">
              <a:solidFill>
                <a:schemeClr val="dk1"/>
              </a:solidFill>
              <a:latin typeface="Helvetica Neue"/>
              <a:ea typeface="Helvetica Neue"/>
              <a:cs typeface="Helvetica Neue"/>
              <a:sym typeface="Helvetica Neue"/>
            </a:endParaRPr>
          </a:p>
        </p:txBody>
      </p:sp>
      <p:sp>
        <p:nvSpPr>
          <p:cNvPr id="73" name="Google Shape;73;p3"/>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74" name="Google Shape;74;p3"/>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4"/>
          <p:cNvSpPr txBox="1">
            <a:spLocks noGrp="1"/>
          </p:cNvSpPr>
          <p:nvPr>
            <p:ph type="title"/>
          </p:nvPr>
        </p:nvSpPr>
        <p:spPr>
          <a:xfrm>
            <a:off x="691387" y="25400"/>
            <a:ext cx="522097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Advantages of Function</a:t>
            </a:r>
            <a:endParaRPr sz="4400"/>
          </a:p>
        </p:txBody>
      </p:sp>
      <p:sp>
        <p:nvSpPr>
          <p:cNvPr id="80" name="Google Shape;80;p4"/>
          <p:cNvSpPr txBox="1"/>
          <p:nvPr/>
        </p:nvSpPr>
        <p:spPr>
          <a:xfrm>
            <a:off x="691387" y="1537461"/>
            <a:ext cx="7997825" cy="3930948"/>
          </a:xfrm>
          <a:prstGeom prst="rect">
            <a:avLst/>
          </a:prstGeom>
          <a:noFill/>
          <a:ln>
            <a:noFill/>
          </a:ln>
        </p:spPr>
        <p:txBody>
          <a:bodyPr spcFirstLastPara="1" wrap="square" lIns="0" tIns="92075" rIns="0" bIns="0" anchor="t" anchorCtr="0">
            <a:spAutoFit/>
          </a:bodyPr>
          <a:lstStyle/>
          <a:p>
            <a:pPr marL="332740" marR="7620" lvl="0" indent="-320675" algn="just" rtl="0">
              <a:lnSpc>
                <a:spcPct val="95925"/>
              </a:lnSpc>
              <a:spcBef>
                <a:spcPts val="0"/>
              </a:spcBef>
              <a:spcAft>
                <a:spcPts val="0"/>
              </a:spcAft>
              <a:buClr>
                <a:srgbClr val="DD8046"/>
              </a:buClr>
              <a:buSzPts val="1600"/>
              <a:buFont typeface="Noto Sans Symbols"/>
              <a:buChar char="◻"/>
            </a:pPr>
            <a:r>
              <a:rPr lang="en-US" sz="2700">
                <a:solidFill>
                  <a:schemeClr val="dk1"/>
                </a:solidFill>
                <a:latin typeface="Times New Roman"/>
                <a:ea typeface="Times New Roman"/>
                <a:cs typeface="Times New Roman"/>
                <a:sym typeface="Times New Roman"/>
              </a:rPr>
              <a:t>PROGRAM HANDLING EASIER : only small part of the  program is dealt with at a time.</a:t>
            </a:r>
            <a:endParaRPr sz="2700">
              <a:solidFill>
                <a:schemeClr val="dk1"/>
              </a:solidFill>
              <a:latin typeface="Times New Roman"/>
              <a:ea typeface="Times New Roman"/>
              <a:cs typeface="Times New Roman"/>
              <a:sym typeface="Times New Roman"/>
            </a:endParaRPr>
          </a:p>
          <a:p>
            <a:pPr marL="332740" marR="5715" lvl="0" indent="-320675" algn="just" rtl="0">
              <a:lnSpc>
                <a:spcPct val="80000"/>
              </a:lnSpc>
              <a:spcBef>
                <a:spcPts val="725"/>
              </a:spcBef>
              <a:spcAft>
                <a:spcPts val="0"/>
              </a:spcAft>
              <a:buClr>
                <a:srgbClr val="DD8046"/>
              </a:buClr>
              <a:buSzPts val="1600"/>
              <a:buFont typeface="Noto Sans Symbols"/>
              <a:buChar char="◻"/>
            </a:pPr>
            <a:r>
              <a:rPr lang="en-US" sz="2700">
                <a:solidFill>
                  <a:schemeClr val="dk1"/>
                </a:solidFill>
                <a:latin typeface="Times New Roman"/>
                <a:ea typeface="Times New Roman"/>
                <a:cs typeface="Times New Roman"/>
                <a:sym typeface="Times New Roman"/>
              </a:rPr>
              <a:t>REDUCED LoC: as with function the common set of code  is written only once and can be called from any part of  program, so it reduces Line of Code</a:t>
            </a:r>
            <a:endParaRPr sz="2700">
              <a:solidFill>
                <a:schemeClr val="dk1"/>
              </a:solidFill>
              <a:latin typeface="Times New Roman"/>
              <a:ea typeface="Times New Roman"/>
              <a:cs typeface="Times New Roman"/>
              <a:sym typeface="Times New Roman"/>
            </a:endParaRPr>
          </a:p>
          <a:p>
            <a:pPr marL="332740" marR="5080" lvl="0" indent="-320675" algn="just" rtl="0">
              <a:lnSpc>
                <a:spcPct val="80000"/>
              </a:lnSpc>
              <a:spcBef>
                <a:spcPts val="710"/>
              </a:spcBef>
              <a:spcAft>
                <a:spcPts val="0"/>
              </a:spcAft>
              <a:buClr>
                <a:srgbClr val="DD8046"/>
              </a:buClr>
              <a:buSzPts val="1600"/>
              <a:buFont typeface="Noto Sans Symbols"/>
              <a:buChar char="◻"/>
            </a:pPr>
            <a:r>
              <a:rPr lang="en-US" sz="2700">
                <a:solidFill>
                  <a:schemeClr val="dk1"/>
                </a:solidFill>
                <a:latin typeface="Times New Roman"/>
                <a:ea typeface="Times New Roman"/>
                <a:cs typeface="Times New Roman"/>
                <a:sym typeface="Times New Roman"/>
              </a:rPr>
              <a:t>EASY UPDATING : if function is not used then set of  code is to be repeated everywhere it is required.  Hence if we want to change in any formula/expression  then we have to make changes to every place, if  forgotten then output will be not the desired output.  With function we have to make changes to only one  location.</a:t>
            </a:r>
            <a:endParaRPr sz="2700">
              <a:solidFill>
                <a:schemeClr val="dk1"/>
              </a:solidFill>
              <a:latin typeface="Times New Roman"/>
              <a:ea typeface="Times New Roman"/>
              <a:cs typeface="Times New Roman"/>
              <a:sym typeface="Times New Roman"/>
            </a:endParaRPr>
          </a:p>
        </p:txBody>
      </p:sp>
      <p:sp>
        <p:nvSpPr>
          <p:cNvPr id="81" name="Google Shape;81;p4"/>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82" name="Google Shape;82;p4"/>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5"/>
          <p:cNvSpPr txBox="1">
            <a:spLocks noGrp="1"/>
          </p:cNvSpPr>
          <p:nvPr>
            <p:ph type="title"/>
          </p:nvPr>
        </p:nvSpPr>
        <p:spPr>
          <a:xfrm>
            <a:off x="533400" y="76200"/>
            <a:ext cx="501777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User Defined Functions</a:t>
            </a:r>
            <a:endParaRPr sz="4400"/>
          </a:p>
        </p:txBody>
      </p:sp>
      <p:sp>
        <p:nvSpPr>
          <p:cNvPr id="88" name="Google Shape;88;p5"/>
          <p:cNvSpPr txBox="1"/>
          <p:nvPr/>
        </p:nvSpPr>
        <p:spPr>
          <a:xfrm>
            <a:off x="691387" y="1613661"/>
            <a:ext cx="7998459" cy="4178300"/>
          </a:xfrm>
          <a:prstGeom prst="rect">
            <a:avLst/>
          </a:prstGeom>
          <a:noFill/>
          <a:ln>
            <a:noFill/>
          </a:ln>
        </p:spPr>
        <p:txBody>
          <a:bodyPr spcFirstLastPara="1" wrap="square" lIns="0" tIns="12700" rIns="0" bIns="0" anchor="t" anchorCtr="0">
            <a:spAutoFit/>
          </a:bodyPr>
          <a:lstStyle/>
          <a:p>
            <a:pPr marL="332740" marR="5080" lvl="0" indent="-320675" algn="just" rtl="0">
              <a:lnSpc>
                <a:spcPct val="100000"/>
              </a:lnSpc>
              <a:spcBef>
                <a:spcPts val="0"/>
              </a:spcBef>
              <a:spcAft>
                <a:spcPts val="0"/>
              </a:spcAft>
              <a:buClr>
                <a:srgbClr val="DD8046"/>
              </a:buClr>
              <a:buSzPts val="1600"/>
              <a:buFont typeface="Noto Sans Symbols"/>
              <a:buChar char="◻"/>
            </a:pPr>
            <a:r>
              <a:rPr lang="en-US" sz="2700">
                <a:solidFill>
                  <a:schemeClr val="dk1"/>
                </a:solidFill>
                <a:latin typeface="Helvetica Neue"/>
                <a:ea typeface="Helvetica Neue"/>
                <a:cs typeface="Helvetica Neue"/>
                <a:sym typeface="Helvetica Neue"/>
              </a:rPr>
              <a:t>A function is a set of statements that performs a specific  task; a common structuring elements that allows you to  use a piece of code repeatedly in different part of  program. Functions are also known as sub-routine,  methods, procedure or subprogram.</a:t>
            </a:r>
            <a:endParaRPr sz="2700">
              <a:solidFill>
                <a:schemeClr val="dk1"/>
              </a:solidFill>
              <a:latin typeface="Helvetica Neue"/>
              <a:ea typeface="Helvetica Neue"/>
              <a:cs typeface="Helvetica Neue"/>
              <a:sym typeface="Helvetica Neue"/>
            </a:endParaRPr>
          </a:p>
          <a:p>
            <a:pPr marL="332740" marR="0" lvl="0" indent="-320675" algn="l" rtl="0">
              <a:lnSpc>
                <a:spcPct val="100000"/>
              </a:lnSpc>
              <a:spcBef>
                <a:spcPts val="710"/>
              </a:spcBef>
              <a:spcAft>
                <a:spcPts val="0"/>
              </a:spcAft>
              <a:buClr>
                <a:srgbClr val="DD8046"/>
              </a:buClr>
              <a:buSzPts val="1600"/>
              <a:buFont typeface="Noto Sans Symbols"/>
              <a:buChar char="◻"/>
            </a:pPr>
            <a:r>
              <a:rPr lang="en-US" sz="2700">
                <a:solidFill>
                  <a:schemeClr val="dk1"/>
                </a:solidFill>
                <a:latin typeface="Helvetica Neue"/>
                <a:ea typeface="Helvetica Neue"/>
                <a:cs typeface="Helvetica Neue"/>
                <a:sym typeface="Helvetica Neue"/>
              </a:rPr>
              <a:t>Syntax to create USER DEFINED FUNCTION</a:t>
            </a:r>
            <a:endParaRPr sz="2700">
              <a:solidFill>
                <a:schemeClr val="dk1"/>
              </a:solidFill>
              <a:latin typeface="Helvetica Neue"/>
              <a:ea typeface="Helvetica Neue"/>
              <a:cs typeface="Helvetica Neue"/>
              <a:sym typeface="Helvetica Neue"/>
            </a:endParaRPr>
          </a:p>
          <a:p>
            <a:pPr marL="12700" marR="0" lvl="0" indent="0" algn="l" rtl="0">
              <a:lnSpc>
                <a:spcPct val="100000"/>
              </a:lnSpc>
              <a:spcBef>
                <a:spcPts val="660"/>
              </a:spcBef>
              <a:spcAft>
                <a:spcPts val="0"/>
              </a:spcAft>
              <a:buNone/>
            </a:pPr>
            <a:r>
              <a:rPr lang="en-US" sz="2700">
                <a:solidFill>
                  <a:srgbClr val="FF0000"/>
                </a:solidFill>
                <a:latin typeface="Helvetica Neue"/>
                <a:ea typeface="Helvetica Neue"/>
                <a:cs typeface="Helvetica Neue"/>
                <a:sym typeface="Helvetica Neue"/>
              </a:rPr>
              <a:t>def </a:t>
            </a:r>
            <a:r>
              <a:rPr lang="en-US" sz="2700">
                <a:solidFill>
                  <a:schemeClr val="dk1"/>
                </a:solidFill>
                <a:latin typeface="Helvetica Neue"/>
                <a:ea typeface="Helvetica Neue"/>
                <a:cs typeface="Helvetica Neue"/>
                <a:sym typeface="Helvetica Neue"/>
              </a:rPr>
              <a:t>function_name([</a:t>
            </a:r>
            <a:r>
              <a:rPr lang="en-US" sz="2200" b="1">
                <a:solidFill>
                  <a:srgbClr val="FF0000"/>
                </a:solidFill>
                <a:latin typeface="Arial"/>
                <a:ea typeface="Arial"/>
                <a:cs typeface="Arial"/>
                <a:sym typeface="Arial"/>
              </a:rPr>
              <a:t>comma separated list of parameters</a:t>
            </a:r>
            <a:r>
              <a:rPr lang="en-US" sz="2700">
                <a:solidFill>
                  <a:schemeClr val="dk1"/>
                </a:solidFill>
                <a:latin typeface="Helvetica Neue"/>
                <a:ea typeface="Helvetica Neue"/>
                <a:cs typeface="Helvetica Neue"/>
                <a:sym typeface="Helvetica Neue"/>
              </a:rPr>
              <a:t>])</a:t>
            </a:r>
            <a:r>
              <a:rPr lang="en-US" sz="3300" b="1">
                <a:solidFill>
                  <a:srgbClr val="FF0000"/>
                </a:solidFill>
                <a:latin typeface="Arial"/>
                <a:ea typeface="Arial"/>
                <a:cs typeface="Arial"/>
                <a:sym typeface="Arial"/>
              </a:rPr>
              <a:t>:</a:t>
            </a:r>
            <a:endParaRPr sz="3300">
              <a:solidFill>
                <a:schemeClr val="dk1"/>
              </a:solidFill>
              <a:latin typeface="Arial"/>
              <a:ea typeface="Arial"/>
              <a:cs typeface="Arial"/>
              <a:sym typeface="Arial"/>
            </a:endParaRPr>
          </a:p>
          <a:p>
            <a:pPr marL="927100" marR="5224145" lvl="0" indent="0" algn="l" rtl="0">
              <a:lnSpc>
                <a:spcPct val="121800"/>
              </a:lnSpc>
              <a:spcBef>
                <a:spcPts val="30"/>
              </a:spcBef>
              <a:spcAft>
                <a:spcPts val="0"/>
              </a:spcAft>
              <a:buNone/>
            </a:pPr>
            <a:r>
              <a:rPr lang="en-US" sz="2700">
                <a:solidFill>
                  <a:schemeClr val="dk1"/>
                </a:solidFill>
                <a:latin typeface="Helvetica Neue"/>
                <a:ea typeface="Helvetica Neue"/>
                <a:cs typeface="Helvetica Neue"/>
                <a:sym typeface="Helvetica Neue"/>
              </a:rPr>
              <a:t>statements….  statements….</a:t>
            </a:r>
            <a:endParaRPr sz="2700">
              <a:solidFill>
                <a:schemeClr val="dk1"/>
              </a:solidFill>
              <a:latin typeface="Helvetica Neue"/>
              <a:ea typeface="Helvetica Neue"/>
              <a:cs typeface="Helvetica Neue"/>
              <a:sym typeface="Helvetica Neue"/>
            </a:endParaRPr>
          </a:p>
        </p:txBody>
      </p:sp>
      <p:grpSp>
        <p:nvGrpSpPr>
          <p:cNvPr id="89" name="Google Shape;89;p5"/>
          <p:cNvGrpSpPr/>
          <p:nvPr/>
        </p:nvGrpSpPr>
        <p:grpSpPr>
          <a:xfrm>
            <a:off x="306324" y="4724400"/>
            <a:ext cx="1423415" cy="1671827"/>
            <a:chOff x="306324" y="4724400"/>
            <a:chExt cx="1423415" cy="1671827"/>
          </a:xfrm>
        </p:grpSpPr>
        <p:sp>
          <p:nvSpPr>
            <p:cNvPr id="90" name="Google Shape;90;p5"/>
            <p:cNvSpPr/>
            <p:nvPr/>
          </p:nvSpPr>
          <p:spPr>
            <a:xfrm>
              <a:off x="895388" y="4724400"/>
              <a:ext cx="144780" cy="1144270"/>
            </a:xfrm>
            <a:custGeom>
              <a:avLst/>
              <a:gdLst/>
              <a:ahLst/>
              <a:cxnLst/>
              <a:rect l="l" t="t" r="r" b="b"/>
              <a:pathLst>
                <a:path w="144780" h="1144270" extrusionOk="0">
                  <a:moveTo>
                    <a:pt x="68592" y="112775"/>
                  </a:moveTo>
                  <a:lnTo>
                    <a:pt x="0" y="1141730"/>
                  </a:lnTo>
                  <a:lnTo>
                    <a:pt x="38023" y="1144270"/>
                  </a:lnTo>
                  <a:lnTo>
                    <a:pt x="106616" y="115316"/>
                  </a:lnTo>
                  <a:lnTo>
                    <a:pt x="68592" y="112775"/>
                  </a:lnTo>
                  <a:close/>
                </a:path>
                <a:path w="144780" h="1144270" extrusionOk="0">
                  <a:moveTo>
                    <a:pt x="134510" y="93725"/>
                  </a:moveTo>
                  <a:lnTo>
                    <a:pt x="69862" y="93725"/>
                  </a:lnTo>
                  <a:lnTo>
                    <a:pt x="107886" y="96265"/>
                  </a:lnTo>
                  <a:lnTo>
                    <a:pt x="106616" y="115316"/>
                  </a:lnTo>
                  <a:lnTo>
                    <a:pt x="144627" y="117856"/>
                  </a:lnTo>
                  <a:lnTo>
                    <a:pt x="134510" y="93725"/>
                  </a:lnTo>
                  <a:close/>
                </a:path>
                <a:path w="144780" h="1144270" extrusionOk="0">
                  <a:moveTo>
                    <a:pt x="69862" y="93725"/>
                  </a:moveTo>
                  <a:lnTo>
                    <a:pt x="68592" y="112775"/>
                  </a:lnTo>
                  <a:lnTo>
                    <a:pt x="106616" y="115316"/>
                  </a:lnTo>
                  <a:lnTo>
                    <a:pt x="107886" y="96265"/>
                  </a:lnTo>
                  <a:lnTo>
                    <a:pt x="69862" y="93725"/>
                  </a:lnTo>
                  <a:close/>
                </a:path>
                <a:path w="144780" h="1144270" extrusionOk="0">
                  <a:moveTo>
                    <a:pt x="95211" y="0"/>
                  </a:moveTo>
                  <a:lnTo>
                    <a:pt x="30581" y="110235"/>
                  </a:lnTo>
                  <a:lnTo>
                    <a:pt x="68592" y="112775"/>
                  </a:lnTo>
                  <a:lnTo>
                    <a:pt x="69862" y="93725"/>
                  </a:lnTo>
                  <a:lnTo>
                    <a:pt x="134510" y="93725"/>
                  </a:lnTo>
                  <a:lnTo>
                    <a:pt x="95211" y="0"/>
                  </a:lnTo>
                  <a:close/>
                </a:path>
              </a:pathLst>
            </a:custGeom>
            <a:solidFill>
              <a:srgbClr val="00AFE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91" name="Google Shape;91;p5"/>
            <p:cNvPicPr preferRelativeResize="0"/>
            <p:nvPr/>
          </p:nvPicPr>
          <p:blipFill rotWithShape="1">
            <a:blip r:embed="rId3">
              <a:alphaModFix/>
            </a:blip>
            <a:srcRect/>
            <a:stretch/>
          </p:blipFill>
          <p:spPr>
            <a:xfrm>
              <a:off x="347472" y="5852160"/>
              <a:ext cx="1286255" cy="458723"/>
            </a:xfrm>
            <a:prstGeom prst="rect">
              <a:avLst/>
            </a:prstGeom>
            <a:noFill/>
            <a:ln>
              <a:noFill/>
            </a:ln>
          </p:spPr>
        </p:pic>
        <p:pic>
          <p:nvPicPr>
            <p:cNvPr id="92" name="Google Shape;92;p5"/>
            <p:cNvPicPr preferRelativeResize="0"/>
            <p:nvPr/>
          </p:nvPicPr>
          <p:blipFill rotWithShape="1">
            <a:blip r:embed="rId4">
              <a:alphaModFix/>
            </a:blip>
            <a:srcRect/>
            <a:stretch/>
          </p:blipFill>
          <p:spPr>
            <a:xfrm>
              <a:off x="306324" y="5836919"/>
              <a:ext cx="1423415" cy="559308"/>
            </a:xfrm>
            <a:prstGeom prst="rect">
              <a:avLst/>
            </a:prstGeom>
            <a:noFill/>
            <a:ln>
              <a:noFill/>
            </a:ln>
          </p:spPr>
        </p:pic>
      </p:grpSp>
      <p:sp>
        <p:nvSpPr>
          <p:cNvPr id="93" name="Google Shape;93;p5"/>
          <p:cNvSpPr txBox="1"/>
          <p:nvPr/>
        </p:nvSpPr>
        <p:spPr>
          <a:xfrm>
            <a:off x="391617" y="5867400"/>
            <a:ext cx="1198245" cy="369570"/>
          </a:xfrm>
          <a:prstGeom prst="rect">
            <a:avLst/>
          </a:prstGeom>
          <a:solidFill>
            <a:srgbClr val="BBBBBB"/>
          </a:solidFill>
          <a:ln w="9975" cap="flat" cmpd="sng">
            <a:solidFill>
              <a:srgbClr val="000000"/>
            </a:solidFill>
            <a:prstDash val="solid"/>
            <a:round/>
            <a:headEnd type="none" w="sm" len="sm"/>
            <a:tailEnd type="none" w="sm" len="sm"/>
          </a:ln>
        </p:spPr>
        <p:txBody>
          <a:bodyPr spcFirstLastPara="1" wrap="square" lIns="0" tIns="34275" rIns="0" bIns="0" anchor="t" anchorCtr="0">
            <a:spAutoFit/>
          </a:bodyPr>
          <a:lstStyle/>
          <a:p>
            <a:pPr marL="91440" marR="0" lvl="0" indent="0" algn="l" rtl="0">
              <a:lnSpc>
                <a:spcPct val="100000"/>
              </a:lnSpc>
              <a:spcBef>
                <a:spcPts val="0"/>
              </a:spcBef>
              <a:spcAft>
                <a:spcPts val="0"/>
              </a:spcAft>
              <a:buNone/>
            </a:pPr>
            <a:r>
              <a:rPr lang="en-US" sz="1800">
                <a:solidFill>
                  <a:schemeClr val="dk1"/>
                </a:solidFill>
                <a:latin typeface="Helvetica Neue"/>
                <a:ea typeface="Helvetica Neue"/>
                <a:cs typeface="Helvetica Neue"/>
                <a:sym typeface="Helvetica Neue"/>
              </a:rPr>
              <a:t>KEYWORD</a:t>
            </a:r>
            <a:endParaRPr sz="1800">
              <a:solidFill>
                <a:schemeClr val="dk1"/>
              </a:solidFill>
              <a:latin typeface="Helvetica Neue"/>
              <a:ea typeface="Helvetica Neue"/>
              <a:cs typeface="Helvetica Neue"/>
              <a:sym typeface="Helvetica Neue"/>
            </a:endParaRPr>
          </a:p>
        </p:txBody>
      </p:sp>
      <p:grpSp>
        <p:nvGrpSpPr>
          <p:cNvPr id="94" name="Google Shape;94;p5"/>
          <p:cNvGrpSpPr/>
          <p:nvPr/>
        </p:nvGrpSpPr>
        <p:grpSpPr>
          <a:xfrm>
            <a:off x="6565392" y="4267200"/>
            <a:ext cx="2560320" cy="2183892"/>
            <a:chOff x="6565392" y="4267200"/>
            <a:chExt cx="2560320" cy="2183892"/>
          </a:xfrm>
        </p:grpSpPr>
        <p:sp>
          <p:nvSpPr>
            <p:cNvPr id="95" name="Google Shape;95;p5"/>
            <p:cNvSpPr/>
            <p:nvPr/>
          </p:nvSpPr>
          <p:spPr>
            <a:xfrm>
              <a:off x="7848600" y="4267200"/>
              <a:ext cx="457200" cy="1600200"/>
            </a:xfrm>
            <a:custGeom>
              <a:avLst/>
              <a:gdLst/>
              <a:ahLst/>
              <a:cxnLst/>
              <a:rect l="l" t="t" r="r" b="b"/>
              <a:pathLst>
                <a:path w="457200" h="1600200" extrusionOk="0">
                  <a:moveTo>
                    <a:pt x="0" y="0"/>
                  </a:moveTo>
                  <a:lnTo>
                    <a:pt x="72249" y="1938"/>
                  </a:lnTo>
                  <a:lnTo>
                    <a:pt x="135002" y="7339"/>
                  </a:lnTo>
                  <a:lnTo>
                    <a:pt x="184489" y="15581"/>
                  </a:lnTo>
                  <a:lnTo>
                    <a:pt x="228600" y="38100"/>
                  </a:lnTo>
                  <a:lnTo>
                    <a:pt x="228600" y="762000"/>
                  </a:lnTo>
                  <a:lnTo>
                    <a:pt x="240255" y="774057"/>
                  </a:lnTo>
                  <a:lnTo>
                    <a:pt x="272710" y="784518"/>
                  </a:lnTo>
                  <a:lnTo>
                    <a:pt x="322197" y="792760"/>
                  </a:lnTo>
                  <a:lnTo>
                    <a:pt x="384950" y="798161"/>
                  </a:lnTo>
                  <a:lnTo>
                    <a:pt x="457200" y="800100"/>
                  </a:lnTo>
                  <a:lnTo>
                    <a:pt x="384950" y="802038"/>
                  </a:lnTo>
                  <a:lnTo>
                    <a:pt x="322197" y="807439"/>
                  </a:lnTo>
                  <a:lnTo>
                    <a:pt x="272710" y="815681"/>
                  </a:lnTo>
                  <a:lnTo>
                    <a:pt x="240255" y="826142"/>
                  </a:lnTo>
                  <a:lnTo>
                    <a:pt x="228600" y="838200"/>
                  </a:lnTo>
                  <a:lnTo>
                    <a:pt x="228600" y="1562100"/>
                  </a:lnTo>
                  <a:lnTo>
                    <a:pt x="216944" y="1574143"/>
                  </a:lnTo>
                  <a:lnTo>
                    <a:pt x="184489" y="1584602"/>
                  </a:lnTo>
                  <a:lnTo>
                    <a:pt x="135002" y="1592849"/>
                  </a:lnTo>
                  <a:lnTo>
                    <a:pt x="72249" y="1598257"/>
                  </a:lnTo>
                  <a:lnTo>
                    <a:pt x="0" y="1600200"/>
                  </a:lnTo>
                </a:path>
              </a:pathLst>
            </a:custGeom>
            <a:noFill/>
            <a:ln w="9975" cap="flat" cmpd="sng">
              <a:solidFill>
                <a:srgbClr val="93B6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96" name="Google Shape;96;p5"/>
            <p:cNvPicPr preferRelativeResize="0"/>
            <p:nvPr/>
          </p:nvPicPr>
          <p:blipFill rotWithShape="1">
            <a:blip r:embed="rId5">
              <a:alphaModFix/>
            </a:blip>
            <a:srcRect/>
            <a:stretch/>
          </p:blipFill>
          <p:spPr>
            <a:xfrm>
              <a:off x="6611112" y="5917722"/>
              <a:ext cx="2496311" cy="444962"/>
            </a:xfrm>
            <a:prstGeom prst="rect">
              <a:avLst/>
            </a:prstGeom>
            <a:noFill/>
            <a:ln>
              <a:noFill/>
            </a:ln>
          </p:spPr>
        </p:pic>
        <p:pic>
          <p:nvPicPr>
            <p:cNvPr id="97" name="Google Shape;97;p5"/>
            <p:cNvPicPr preferRelativeResize="0"/>
            <p:nvPr/>
          </p:nvPicPr>
          <p:blipFill rotWithShape="1">
            <a:blip r:embed="rId6">
              <a:alphaModFix/>
            </a:blip>
            <a:srcRect/>
            <a:stretch/>
          </p:blipFill>
          <p:spPr>
            <a:xfrm>
              <a:off x="6565392" y="5891784"/>
              <a:ext cx="2560320" cy="559308"/>
            </a:xfrm>
            <a:prstGeom prst="rect">
              <a:avLst/>
            </a:prstGeom>
            <a:noFill/>
            <a:ln>
              <a:noFill/>
            </a:ln>
          </p:spPr>
        </p:pic>
        <p:sp>
          <p:nvSpPr>
            <p:cNvPr id="98" name="Google Shape;98;p5"/>
            <p:cNvSpPr/>
            <p:nvPr/>
          </p:nvSpPr>
          <p:spPr>
            <a:xfrm>
              <a:off x="6650609" y="5923000"/>
              <a:ext cx="2417445" cy="369570"/>
            </a:xfrm>
            <a:custGeom>
              <a:avLst/>
              <a:gdLst/>
              <a:ahLst/>
              <a:cxnLst/>
              <a:rect l="l" t="t" r="r" b="b"/>
              <a:pathLst>
                <a:path w="2417445" h="369570" extrusionOk="0">
                  <a:moveTo>
                    <a:pt x="2417191" y="0"/>
                  </a:moveTo>
                  <a:lnTo>
                    <a:pt x="0" y="0"/>
                  </a:lnTo>
                  <a:lnTo>
                    <a:pt x="0" y="369328"/>
                  </a:lnTo>
                  <a:lnTo>
                    <a:pt x="2417191" y="369328"/>
                  </a:lnTo>
                  <a:lnTo>
                    <a:pt x="2417191" y="0"/>
                  </a:lnTo>
                  <a:close/>
                </a:path>
              </a:pathLst>
            </a:custGeom>
            <a:solidFill>
              <a:srgbClr val="BBBBB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 name="Google Shape;99;p5"/>
            <p:cNvSpPr/>
            <p:nvPr/>
          </p:nvSpPr>
          <p:spPr>
            <a:xfrm>
              <a:off x="6650609" y="5923000"/>
              <a:ext cx="2417445" cy="369570"/>
            </a:xfrm>
            <a:custGeom>
              <a:avLst/>
              <a:gdLst/>
              <a:ahLst/>
              <a:cxnLst/>
              <a:rect l="l" t="t" r="r" b="b"/>
              <a:pathLst>
                <a:path w="2417445" h="369570" extrusionOk="0">
                  <a:moveTo>
                    <a:pt x="0" y="369328"/>
                  </a:moveTo>
                  <a:lnTo>
                    <a:pt x="2417191" y="369328"/>
                  </a:lnTo>
                  <a:lnTo>
                    <a:pt x="2417191" y="0"/>
                  </a:lnTo>
                  <a:lnTo>
                    <a:pt x="0" y="0"/>
                  </a:lnTo>
                  <a:lnTo>
                    <a:pt x="0" y="369328"/>
                  </a:lnTo>
                  <a:close/>
                </a:path>
              </a:pathLst>
            </a:custGeom>
            <a:noFill/>
            <a:ln w="99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00" name="Google Shape;100;p5"/>
          <p:cNvSpPr txBox="1"/>
          <p:nvPr/>
        </p:nvSpPr>
        <p:spPr>
          <a:xfrm>
            <a:off x="6730365" y="5944920"/>
            <a:ext cx="216852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Helvetica Neue"/>
                <a:ea typeface="Helvetica Neue"/>
                <a:cs typeface="Helvetica Neue"/>
                <a:sym typeface="Helvetica Neue"/>
              </a:rPr>
              <a:t>FUNCTION DEFINITION</a:t>
            </a:r>
            <a:endParaRPr sz="1800">
              <a:solidFill>
                <a:schemeClr val="dk1"/>
              </a:solidFill>
              <a:latin typeface="Helvetica Neue"/>
              <a:ea typeface="Helvetica Neue"/>
              <a:cs typeface="Helvetica Neue"/>
              <a:sym typeface="Helvetica Neue"/>
            </a:endParaRPr>
          </a:p>
        </p:txBody>
      </p:sp>
      <p:sp>
        <p:nvSpPr>
          <p:cNvPr id="101" name="Google Shape;101;p5"/>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102" name="Google Shape;102;p5"/>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6"/>
          <p:cNvSpPr txBox="1">
            <a:spLocks noGrp="1"/>
          </p:cNvSpPr>
          <p:nvPr>
            <p:ph type="title"/>
          </p:nvPr>
        </p:nvSpPr>
        <p:spPr>
          <a:xfrm>
            <a:off x="686307" y="76200"/>
            <a:ext cx="4827905"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Points to remember…</a:t>
            </a:r>
            <a:endParaRPr sz="4400"/>
          </a:p>
        </p:txBody>
      </p:sp>
      <p:sp>
        <p:nvSpPr>
          <p:cNvPr id="108" name="Google Shape;108;p6"/>
          <p:cNvSpPr txBox="1"/>
          <p:nvPr/>
        </p:nvSpPr>
        <p:spPr>
          <a:xfrm>
            <a:off x="691387" y="1523713"/>
            <a:ext cx="7868920" cy="4353560"/>
          </a:xfrm>
          <a:prstGeom prst="rect">
            <a:avLst/>
          </a:prstGeom>
          <a:noFill/>
          <a:ln>
            <a:noFill/>
          </a:ln>
        </p:spPr>
        <p:txBody>
          <a:bodyPr spcFirstLastPara="1" wrap="square" lIns="0" tIns="61575" rIns="0" bIns="0" anchor="t" anchorCtr="0">
            <a:spAutoFit/>
          </a:bodyPr>
          <a:lstStyle/>
          <a:p>
            <a:pPr marL="332740" marR="0" lvl="0" indent="-320675" algn="l" rtl="0">
              <a:lnSpc>
                <a:spcPct val="100000"/>
              </a:lnSpc>
              <a:spcBef>
                <a:spcPts val="0"/>
              </a:spcBef>
              <a:spcAft>
                <a:spcPts val="0"/>
              </a:spcAft>
              <a:buClr>
                <a:srgbClr val="DD8046"/>
              </a:buClr>
              <a:buSzPts val="1600"/>
              <a:buFont typeface="Noto Sans Symbols"/>
              <a:buChar char="◻"/>
            </a:pPr>
            <a:r>
              <a:rPr lang="en-US" sz="2700">
                <a:solidFill>
                  <a:schemeClr val="dk1"/>
                </a:solidFill>
                <a:latin typeface="Helvetica Neue"/>
                <a:ea typeface="Helvetica Neue"/>
                <a:cs typeface="Helvetica Neue"/>
                <a:sym typeface="Helvetica Neue"/>
              </a:rPr>
              <a:t>Keyword </a:t>
            </a:r>
            <a:r>
              <a:rPr lang="en-US" sz="2700" b="1">
                <a:solidFill>
                  <a:srgbClr val="FF0000"/>
                </a:solidFill>
                <a:latin typeface="Arial"/>
                <a:ea typeface="Arial"/>
                <a:cs typeface="Arial"/>
                <a:sym typeface="Arial"/>
              </a:rPr>
              <a:t>def </a:t>
            </a:r>
            <a:r>
              <a:rPr lang="en-US" sz="2700">
                <a:solidFill>
                  <a:schemeClr val="dk1"/>
                </a:solidFill>
                <a:latin typeface="Helvetica Neue"/>
                <a:ea typeface="Helvetica Neue"/>
                <a:cs typeface="Helvetica Neue"/>
                <a:sym typeface="Helvetica Neue"/>
              </a:rPr>
              <a:t>marks the start of function header</a:t>
            </a:r>
            <a:endParaRPr sz="2700">
              <a:solidFill>
                <a:schemeClr val="dk1"/>
              </a:solidFill>
              <a:latin typeface="Helvetica Neue"/>
              <a:ea typeface="Helvetica Neue"/>
              <a:cs typeface="Helvetica Neue"/>
              <a:sym typeface="Helvetica Neue"/>
            </a:endParaRPr>
          </a:p>
          <a:p>
            <a:pPr marL="332740" marR="34290" lvl="0" indent="-320675" algn="l" rtl="0">
              <a:lnSpc>
                <a:spcPct val="108148"/>
              </a:lnSpc>
              <a:spcBef>
                <a:spcPts val="750"/>
              </a:spcBef>
              <a:spcAft>
                <a:spcPts val="0"/>
              </a:spcAft>
              <a:buClr>
                <a:srgbClr val="DD8046"/>
              </a:buClr>
              <a:buSzPts val="1600"/>
              <a:buFont typeface="Noto Sans Symbols"/>
              <a:buChar char="◻"/>
            </a:pPr>
            <a:r>
              <a:rPr lang="en-US" sz="2700">
                <a:solidFill>
                  <a:schemeClr val="dk1"/>
                </a:solidFill>
                <a:latin typeface="Helvetica Neue"/>
                <a:ea typeface="Helvetica Neue"/>
                <a:cs typeface="Helvetica Neue"/>
                <a:sym typeface="Helvetica Neue"/>
              </a:rPr>
              <a:t>Function name must be unique and follows naming rules  same as for identifiers</a:t>
            </a:r>
            <a:endParaRPr sz="2700">
              <a:solidFill>
                <a:schemeClr val="dk1"/>
              </a:solidFill>
              <a:latin typeface="Helvetica Neue"/>
              <a:ea typeface="Helvetica Neue"/>
              <a:cs typeface="Helvetica Neue"/>
              <a:sym typeface="Helvetica Neue"/>
            </a:endParaRPr>
          </a:p>
          <a:p>
            <a:pPr marL="332740" marR="0" lvl="0" indent="-320675" algn="l" rtl="0">
              <a:lnSpc>
                <a:spcPct val="100000"/>
              </a:lnSpc>
              <a:spcBef>
                <a:spcPts val="325"/>
              </a:spcBef>
              <a:spcAft>
                <a:spcPts val="0"/>
              </a:spcAft>
              <a:buClr>
                <a:srgbClr val="DD8046"/>
              </a:buClr>
              <a:buSzPts val="1600"/>
              <a:buFont typeface="Noto Sans Symbols"/>
              <a:buChar char="◻"/>
            </a:pPr>
            <a:r>
              <a:rPr lang="en-US" sz="2700">
                <a:solidFill>
                  <a:schemeClr val="dk1"/>
                </a:solidFill>
                <a:latin typeface="Helvetica Neue"/>
                <a:ea typeface="Helvetica Neue"/>
                <a:cs typeface="Helvetica Neue"/>
                <a:sym typeface="Helvetica Neue"/>
              </a:rPr>
              <a:t>Function can take arguments. It is optional</a:t>
            </a:r>
            <a:endParaRPr sz="2700">
              <a:solidFill>
                <a:schemeClr val="dk1"/>
              </a:solidFill>
              <a:latin typeface="Helvetica Neue"/>
              <a:ea typeface="Helvetica Neue"/>
              <a:cs typeface="Helvetica Neue"/>
              <a:sym typeface="Helvetica Neue"/>
            </a:endParaRPr>
          </a:p>
          <a:p>
            <a:pPr marL="332740" marR="0" lvl="0" indent="-320675" algn="l" rtl="0">
              <a:lnSpc>
                <a:spcPct val="100000"/>
              </a:lnSpc>
              <a:spcBef>
                <a:spcPts val="370"/>
              </a:spcBef>
              <a:spcAft>
                <a:spcPts val="0"/>
              </a:spcAft>
              <a:buClr>
                <a:srgbClr val="DD8046"/>
              </a:buClr>
              <a:buSzPts val="1600"/>
              <a:buFont typeface="Noto Sans Symbols"/>
              <a:buChar char="◻"/>
            </a:pPr>
            <a:r>
              <a:rPr lang="en-US" sz="2700">
                <a:solidFill>
                  <a:schemeClr val="dk1"/>
                </a:solidFill>
                <a:latin typeface="Helvetica Neue"/>
                <a:ea typeface="Helvetica Neue"/>
                <a:cs typeface="Helvetica Neue"/>
                <a:sym typeface="Helvetica Neue"/>
              </a:rPr>
              <a:t>A colon(:) to mark the end of function header</a:t>
            </a:r>
            <a:endParaRPr sz="2700">
              <a:solidFill>
                <a:schemeClr val="dk1"/>
              </a:solidFill>
              <a:latin typeface="Helvetica Neue"/>
              <a:ea typeface="Helvetica Neue"/>
              <a:cs typeface="Helvetica Neue"/>
              <a:sym typeface="Helvetica Neue"/>
            </a:endParaRPr>
          </a:p>
          <a:p>
            <a:pPr marL="332740" marR="5080" lvl="0" indent="-320675" algn="l" rtl="0">
              <a:lnSpc>
                <a:spcPct val="108148"/>
              </a:lnSpc>
              <a:spcBef>
                <a:spcPts val="750"/>
              </a:spcBef>
              <a:spcAft>
                <a:spcPts val="0"/>
              </a:spcAft>
              <a:buClr>
                <a:srgbClr val="DD8046"/>
              </a:buClr>
              <a:buSzPts val="1600"/>
              <a:buFont typeface="Noto Sans Symbols"/>
              <a:buChar char="◻"/>
            </a:pPr>
            <a:r>
              <a:rPr lang="en-US" sz="2700">
                <a:solidFill>
                  <a:schemeClr val="dk1"/>
                </a:solidFill>
                <a:latin typeface="Helvetica Neue"/>
                <a:ea typeface="Helvetica Neue"/>
                <a:cs typeface="Helvetica Neue"/>
                <a:sym typeface="Helvetica Neue"/>
              </a:rPr>
              <a:t>Function can contains one or more statement to perform  specific task</a:t>
            </a:r>
            <a:endParaRPr sz="2700">
              <a:solidFill>
                <a:schemeClr val="dk1"/>
              </a:solidFill>
              <a:latin typeface="Helvetica Neue"/>
              <a:ea typeface="Helvetica Neue"/>
              <a:cs typeface="Helvetica Neue"/>
              <a:sym typeface="Helvetica Neue"/>
            </a:endParaRPr>
          </a:p>
          <a:p>
            <a:pPr marL="332740" marR="27305" lvl="0" indent="-320675" algn="l" rtl="0">
              <a:lnSpc>
                <a:spcPct val="108148"/>
              </a:lnSpc>
              <a:spcBef>
                <a:spcPts val="690"/>
              </a:spcBef>
              <a:spcAft>
                <a:spcPts val="0"/>
              </a:spcAft>
              <a:buClr>
                <a:srgbClr val="DD8046"/>
              </a:buClr>
              <a:buSzPts val="1600"/>
              <a:buFont typeface="Noto Sans Symbols"/>
              <a:buChar char="◻"/>
            </a:pPr>
            <a:r>
              <a:rPr lang="en-US" sz="2700">
                <a:solidFill>
                  <a:schemeClr val="dk1"/>
                </a:solidFill>
                <a:latin typeface="Helvetica Neue"/>
                <a:ea typeface="Helvetica Neue"/>
                <a:cs typeface="Helvetica Neue"/>
                <a:sym typeface="Helvetica Neue"/>
              </a:rPr>
              <a:t>An optional </a:t>
            </a:r>
            <a:r>
              <a:rPr lang="en-US" sz="2700" b="1">
                <a:solidFill>
                  <a:srgbClr val="FF0000"/>
                </a:solidFill>
                <a:latin typeface="Arial"/>
                <a:ea typeface="Arial"/>
                <a:cs typeface="Arial"/>
                <a:sym typeface="Arial"/>
              </a:rPr>
              <a:t>return </a:t>
            </a:r>
            <a:r>
              <a:rPr lang="en-US" sz="2700">
                <a:solidFill>
                  <a:schemeClr val="dk1"/>
                </a:solidFill>
                <a:latin typeface="Helvetica Neue"/>
                <a:ea typeface="Helvetica Neue"/>
                <a:cs typeface="Helvetica Neue"/>
                <a:sym typeface="Helvetica Neue"/>
              </a:rPr>
              <a:t>statement to return a value from the  function.</a:t>
            </a:r>
            <a:endParaRPr sz="2700">
              <a:solidFill>
                <a:schemeClr val="dk1"/>
              </a:solidFill>
              <a:latin typeface="Helvetica Neue"/>
              <a:ea typeface="Helvetica Neue"/>
              <a:cs typeface="Helvetica Neue"/>
              <a:sym typeface="Helvetica Neue"/>
            </a:endParaRPr>
          </a:p>
          <a:p>
            <a:pPr marL="332740" marR="0" lvl="0" indent="-320675" algn="l" rtl="0">
              <a:lnSpc>
                <a:spcPct val="100000"/>
              </a:lnSpc>
              <a:spcBef>
                <a:spcPts val="325"/>
              </a:spcBef>
              <a:spcAft>
                <a:spcPts val="0"/>
              </a:spcAft>
              <a:buClr>
                <a:srgbClr val="DD8046"/>
              </a:buClr>
              <a:buSzPts val="1600"/>
              <a:buFont typeface="Noto Sans Symbols"/>
              <a:buChar char="◻"/>
            </a:pPr>
            <a:r>
              <a:rPr lang="en-US" sz="2700">
                <a:solidFill>
                  <a:schemeClr val="dk1"/>
                </a:solidFill>
                <a:latin typeface="Helvetica Neue"/>
                <a:ea typeface="Helvetica Neue"/>
                <a:cs typeface="Helvetica Neue"/>
                <a:sym typeface="Helvetica Neue"/>
              </a:rPr>
              <a:t>Function must be </a:t>
            </a:r>
            <a:r>
              <a:rPr lang="en-US" sz="2700" b="1">
                <a:solidFill>
                  <a:srgbClr val="FF0000"/>
                </a:solidFill>
                <a:latin typeface="Arial"/>
                <a:ea typeface="Arial"/>
                <a:cs typeface="Arial"/>
                <a:sym typeface="Arial"/>
              </a:rPr>
              <a:t>called/invoked </a:t>
            </a:r>
            <a:r>
              <a:rPr lang="en-US" sz="2700">
                <a:solidFill>
                  <a:schemeClr val="dk1"/>
                </a:solidFill>
                <a:latin typeface="Helvetica Neue"/>
                <a:ea typeface="Helvetica Neue"/>
                <a:cs typeface="Helvetica Neue"/>
                <a:sym typeface="Helvetica Neue"/>
              </a:rPr>
              <a:t>to execute its code</a:t>
            </a:r>
            <a:endParaRPr sz="2700">
              <a:solidFill>
                <a:schemeClr val="dk1"/>
              </a:solidFill>
              <a:latin typeface="Helvetica Neue"/>
              <a:ea typeface="Helvetica Neue"/>
              <a:cs typeface="Helvetica Neue"/>
              <a:sym typeface="Helvetica Neue"/>
            </a:endParaRPr>
          </a:p>
        </p:txBody>
      </p:sp>
      <p:sp>
        <p:nvSpPr>
          <p:cNvPr id="109" name="Google Shape;109;p6"/>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110" name="Google Shape;110;p6"/>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7"/>
          <p:cNvSpPr txBox="1">
            <a:spLocks noGrp="1"/>
          </p:cNvSpPr>
          <p:nvPr>
            <p:ph type="title"/>
          </p:nvPr>
        </p:nvSpPr>
        <p:spPr>
          <a:xfrm>
            <a:off x="0" y="0"/>
            <a:ext cx="7115175"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User Defined function can be….</a:t>
            </a:r>
            <a:endParaRPr sz="4400"/>
          </a:p>
        </p:txBody>
      </p:sp>
      <p:sp>
        <p:nvSpPr>
          <p:cNvPr id="116" name="Google Shape;116;p7"/>
          <p:cNvSpPr txBox="1"/>
          <p:nvPr/>
        </p:nvSpPr>
        <p:spPr>
          <a:xfrm>
            <a:off x="691387" y="1524352"/>
            <a:ext cx="7012940" cy="3653154"/>
          </a:xfrm>
          <a:prstGeom prst="rect">
            <a:avLst/>
          </a:prstGeom>
          <a:noFill/>
          <a:ln>
            <a:noFill/>
          </a:ln>
        </p:spPr>
        <p:txBody>
          <a:bodyPr spcFirstLastPara="1" wrap="square" lIns="0" tIns="100950" rIns="0" bIns="0" anchor="t" anchorCtr="0">
            <a:spAutoFit/>
          </a:bodyPr>
          <a:lstStyle/>
          <a:p>
            <a:pPr marL="527685" marR="0" lvl="0" indent="-515619" algn="l" rtl="0">
              <a:lnSpc>
                <a:spcPct val="100000"/>
              </a:lnSpc>
              <a:spcBef>
                <a:spcPts val="0"/>
              </a:spcBef>
              <a:spcAft>
                <a:spcPts val="0"/>
              </a:spcAft>
              <a:buClr>
                <a:srgbClr val="DD8046"/>
              </a:buClr>
              <a:buSzPts val="1750"/>
              <a:buFont typeface="Helvetica Neue"/>
              <a:buAutoNum type="arabicPeriod"/>
            </a:pPr>
            <a:r>
              <a:rPr lang="en-US" sz="2900">
                <a:solidFill>
                  <a:schemeClr val="dk1"/>
                </a:solidFill>
                <a:latin typeface="Helvetica Neue"/>
                <a:ea typeface="Helvetica Neue"/>
                <a:cs typeface="Helvetica Neue"/>
                <a:sym typeface="Helvetica Neue"/>
              </a:rPr>
              <a:t>Function with no arguments and no return</a:t>
            </a:r>
            <a:endParaRPr sz="2900">
              <a:solidFill>
                <a:schemeClr val="dk1"/>
              </a:solidFill>
              <a:latin typeface="Helvetica Neue"/>
              <a:ea typeface="Helvetica Neue"/>
              <a:cs typeface="Helvetica Neue"/>
              <a:sym typeface="Helvetica Neue"/>
            </a:endParaRPr>
          </a:p>
          <a:p>
            <a:pPr marL="527685" marR="0" lvl="0" indent="-515619" algn="l" rtl="0">
              <a:lnSpc>
                <a:spcPct val="100000"/>
              </a:lnSpc>
              <a:spcBef>
                <a:spcPts val="700"/>
              </a:spcBef>
              <a:spcAft>
                <a:spcPts val="0"/>
              </a:spcAft>
              <a:buClr>
                <a:srgbClr val="DD8046"/>
              </a:buClr>
              <a:buSzPts val="1750"/>
              <a:buFont typeface="Helvetica Neue"/>
              <a:buAutoNum type="arabicPeriod"/>
            </a:pPr>
            <a:r>
              <a:rPr lang="en-US" sz="2900">
                <a:solidFill>
                  <a:schemeClr val="dk1"/>
                </a:solidFill>
                <a:latin typeface="Helvetica Neue"/>
                <a:ea typeface="Helvetica Neue"/>
                <a:cs typeface="Helvetica Neue"/>
                <a:sym typeface="Helvetica Neue"/>
              </a:rPr>
              <a:t>Function with arguments but no return value</a:t>
            </a:r>
            <a:endParaRPr sz="2900">
              <a:solidFill>
                <a:schemeClr val="dk1"/>
              </a:solidFill>
              <a:latin typeface="Helvetica Neue"/>
              <a:ea typeface="Helvetica Neue"/>
              <a:cs typeface="Helvetica Neue"/>
              <a:sym typeface="Helvetica Neue"/>
            </a:endParaRPr>
          </a:p>
          <a:p>
            <a:pPr marL="527685" marR="0" lvl="0" indent="-515619" algn="l" rtl="0">
              <a:lnSpc>
                <a:spcPct val="100000"/>
              </a:lnSpc>
              <a:spcBef>
                <a:spcPts val="705"/>
              </a:spcBef>
              <a:spcAft>
                <a:spcPts val="0"/>
              </a:spcAft>
              <a:buClr>
                <a:srgbClr val="DD8046"/>
              </a:buClr>
              <a:buSzPts val="1750"/>
              <a:buFont typeface="Helvetica Neue"/>
              <a:buAutoNum type="arabicPeriod"/>
            </a:pPr>
            <a:r>
              <a:rPr lang="en-US" sz="2900">
                <a:solidFill>
                  <a:schemeClr val="dk1"/>
                </a:solidFill>
                <a:latin typeface="Helvetica Neue"/>
                <a:ea typeface="Helvetica Neue"/>
                <a:cs typeface="Helvetica Neue"/>
                <a:sym typeface="Helvetica Neue"/>
              </a:rPr>
              <a:t>Function with arguments and return value</a:t>
            </a:r>
            <a:endParaRPr sz="2900">
              <a:solidFill>
                <a:schemeClr val="dk1"/>
              </a:solidFill>
              <a:latin typeface="Helvetica Neue"/>
              <a:ea typeface="Helvetica Neue"/>
              <a:cs typeface="Helvetica Neue"/>
              <a:sym typeface="Helvetica Neue"/>
            </a:endParaRPr>
          </a:p>
          <a:p>
            <a:pPr marL="527685" marR="0" lvl="0" indent="-515619" algn="l" rtl="0">
              <a:lnSpc>
                <a:spcPct val="100000"/>
              </a:lnSpc>
              <a:spcBef>
                <a:spcPts val="695"/>
              </a:spcBef>
              <a:spcAft>
                <a:spcPts val="0"/>
              </a:spcAft>
              <a:buClr>
                <a:srgbClr val="DD8046"/>
              </a:buClr>
              <a:buSzPts val="1750"/>
              <a:buFont typeface="Helvetica Neue"/>
              <a:buAutoNum type="arabicPeriod"/>
            </a:pPr>
            <a:r>
              <a:rPr lang="en-US" sz="2900">
                <a:solidFill>
                  <a:schemeClr val="dk1"/>
                </a:solidFill>
                <a:latin typeface="Helvetica Neue"/>
                <a:ea typeface="Helvetica Neue"/>
                <a:cs typeface="Helvetica Neue"/>
                <a:sym typeface="Helvetica Neue"/>
              </a:rPr>
              <a:t>Function with no argument but return value</a:t>
            </a:r>
            <a:endParaRPr sz="2900">
              <a:solidFill>
                <a:schemeClr val="dk1"/>
              </a:solidFill>
              <a:latin typeface="Helvetica Neue"/>
              <a:ea typeface="Helvetica Neue"/>
              <a:cs typeface="Helvetica Neue"/>
              <a:sym typeface="Helvetica Neue"/>
            </a:endParaRPr>
          </a:p>
          <a:p>
            <a:pPr marL="0" marR="0" lvl="0" indent="0" algn="l" rtl="0">
              <a:lnSpc>
                <a:spcPct val="100000"/>
              </a:lnSpc>
              <a:spcBef>
                <a:spcPts val="20"/>
              </a:spcBef>
              <a:spcAft>
                <a:spcPts val="0"/>
              </a:spcAft>
              <a:buNone/>
            </a:pPr>
            <a:endParaRPr sz="4300">
              <a:solidFill>
                <a:schemeClr val="dk1"/>
              </a:solidFill>
              <a:latin typeface="Helvetica Neue"/>
              <a:ea typeface="Helvetica Neue"/>
              <a:cs typeface="Helvetica Neue"/>
              <a:sym typeface="Helvetica Neue"/>
            </a:endParaRPr>
          </a:p>
          <a:p>
            <a:pPr marL="12700" marR="5080" lvl="0" indent="0" algn="l" rtl="0">
              <a:lnSpc>
                <a:spcPct val="100000"/>
              </a:lnSpc>
              <a:spcBef>
                <a:spcPts val="0"/>
              </a:spcBef>
              <a:spcAft>
                <a:spcPts val="0"/>
              </a:spcAft>
              <a:buNone/>
            </a:pPr>
            <a:r>
              <a:rPr lang="en-US" sz="2900">
                <a:solidFill>
                  <a:schemeClr val="dk1"/>
                </a:solidFill>
                <a:latin typeface="Helvetica Neue"/>
                <a:ea typeface="Helvetica Neue"/>
                <a:cs typeface="Helvetica Neue"/>
                <a:sym typeface="Helvetica Neue"/>
              </a:rPr>
              <a:t>Let us understand each of the function type with  example….</a:t>
            </a:r>
            <a:endParaRPr sz="2900">
              <a:solidFill>
                <a:schemeClr val="dk1"/>
              </a:solidFill>
              <a:latin typeface="Helvetica Neue"/>
              <a:ea typeface="Helvetica Neue"/>
              <a:cs typeface="Helvetica Neue"/>
              <a:sym typeface="Helvetica Neue"/>
            </a:endParaRPr>
          </a:p>
        </p:txBody>
      </p:sp>
      <p:sp>
        <p:nvSpPr>
          <p:cNvPr id="117" name="Google Shape;117;p7"/>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118" name="Google Shape;118;p7"/>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8"/>
          <p:cNvSpPr txBox="1">
            <a:spLocks noGrp="1"/>
          </p:cNvSpPr>
          <p:nvPr>
            <p:ph type="title"/>
          </p:nvPr>
        </p:nvSpPr>
        <p:spPr>
          <a:xfrm>
            <a:off x="190500" y="-120672"/>
            <a:ext cx="6210300" cy="1120820"/>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None/>
            </a:pPr>
            <a:r>
              <a:rPr lang="en-US" sz="3600" b="1">
                <a:latin typeface="Arial"/>
                <a:ea typeface="Arial"/>
                <a:cs typeface="Arial"/>
                <a:sym typeface="Arial"/>
              </a:rPr>
              <a:t>Function with no argument and no return</a:t>
            </a:r>
            <a:endParaRPr sz="3600">
              <a:latin typeface="Arial"/>
              <a:ea typeface="Arial"/>
              <a:cs typeface="Arial"/>
              <a:sym typeface="Arial"/>
            </a:endParaRPr>
          </a:p>
        </p:txBody>
      </p:sp>
      <p:sp>
        <p:nvSpPr>
          <p:cNvPr id="124" name="Google Shape;124;p8"/>
          <p:cNvSpPr txBox="1"/>
          <p:nvPr/>
        </p:nvSpPr>
        <p:spPr>
          <a:xfrm>
            <a:off x="691387" y="1612138"/>
            <a:ext cx="7703820" cy="467995"/>
          </a:xfrm>
          <a:prstGeom prst="rect">
            <a:avLst/>
          </a:prstGeom>
          <a:noFill/>
          <a:ln>
            <a:noFill/>
          </a:ln>
        </p:spPr>
        <p:txBody>
          <a:bodyPr spcFirstLastPara="1" wrap="square" lIns="0" tIns="13325" rIns="0" bIns="0" anchor="t" anchorCtr="0">
            <a:spAutoFit/>
          </a:bodyPr>
          <a:lstStyle/>
          <a:p>
            <a:pPr marL="332740" marR="0" lvl="0" indent="-320675" algn="l"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This type of function is also known as </a:t>
            </a:r>
            <a:r>
              <a:rPr lang="en-US" sz="2900" b="1">
                <a:solidFill>
                  <a:srgbClr val="FF0000"/>
                </a:solidFill>
                <a:latin typeface="Arial"/>
                <a:ea typeface="Arial"/>
                <a:cs typeface="Arial"/>
                <a:sym typeface="Arial"/>
              </a:rPr>
              <a:t>void </a:t>
            </a:r>
            <a:r>
              <a:rPr lang="en-US" sz="2900">
                <a:solidFill>
                  <a:schemeClr val="dk1"/>
                </a:solidFill>
                <a:latin typeface="Helvetica Neue"/>
                <a:ea typeface="Helvetica Neue"/>
                <a:cs typeface="Helvetica Neue"/>
                <a:sym typeface="Helvetica Neue"/>
              </a:rPr>
              <a:t>function</a:t>
            </a:r>
            <a:endParaRPr sz="2900">
              <a:solidFill>
                <a:schemeClr val="dk1"/>
              </a:solidFill>
              <a:latin typeface="Helvetica Neue"/>
              <a:ea typeface="Helvetica Neue"/>
              <a:cs typeface="Helvetica Neue"/>
              <a:sym typeface="Helvetica Neue"/>
            </a:endParaRPr>
          </a:p>
        </p:txBody>
      </p:sp>
      <p:grpSp>
        <p:nvGrpSpPr>
          <p:cNvPr id="125" name="Google Shape;125;p8"/>
          <p:cNvGrpSpPr/>
          <p:nvPr/>
        </p:nvGrpSpPr>
        <p:grpSpPr>
          <a:xfrm>
            <a:off x="762000" y="2255520"/>
            <a:ext cx="6718300" cy="3192780"/>
            <a:chOff x="762000" y="2255520"/>
            <a:chExt cx="6718300" cy="3192780"/>
          </a:xfrm>
        </p:grpSpPr>
        <p:pic>
          <p:nvPicPr>
            <p:cNvPr id="126" name="Google Shape;126;p8"/>
            <p:cNvPicPr preferRelativeResize="0"/>
            <p:nvPr/>
          </p:nvPicPr>
          <p:blipFill rotWithShape="1">
            <a:blip r:embed="rId3">
              <a:alphaModFix/>
            </a:blip>
            <a:srcRect/>
            <a:stretch/>
          </p:blipFill>
          <p:spPr>
            <a:xfrm>
              <a:off x="762000" y="2819400"/>
              <a:ext cx="6718300" cy="2628900"/>
            </a:xfrm>
            <a:prstGeom prst="rect">
              <a:avLst/>
            </a:prstGeom>
            <a:noFill/>
            <a:ln>
              <a:noFill/>
            </a:ln>
          </p:spPr>
        </p:pic>
        <p:sp>
          <p:nvSpPr>
            <p:cNvPr id="127" name="Google Shape;127;p8"/>
            <p:cNvSpPr/>
            <p:nvPr/>
          </p:nvSpPr>
          <p:spPr>
            <a:xfrm>
              <a:off x="2333878" y="2630551"/>
              <a:ext cx="240665" cy="1027430"/>
            </a:xfrm>
            <a:custGeom>
              <a:avLst/>
              <a:gdLst/>
              <a:ahLst/>
              <a:cxnLst/>
              <a:rect l="l" t="t" r="r" b="b"/>
              <a:pathLst>
                <a:path w="240664" h="1027429" extrusionOk="0">
                  <a:moveTo>
                    <a:pt x="127233" y="861643"/>
                  </a:moveTo>
                  <a:lnTo>
                    <a:pt x="70612" y="870077"/>
                  </a:lnTo>
                  <a:lnTo>
                    <a:pt x="180721" y="1027049"/>
                  </a:lnTo>
                  <a:lnTo>
                    <a:pt x="225548" y="889888"/>
                  </a:lnTo>
                  <a:lnTo>
                    <a:pt x="131445" y="889888"/>
                  </a:lnTo>
                  <a:lnTo>
                    <a:pt x="127233" y="861643"/>
                  </a:lnTo>
                  <a:close/>
                </a:path>
                <a:path w="240664" h="1027429" extrusionOk="0">
                  <a:moveTo>
                    <a:pt x="183746" y="853225"/>
                  </a:moveTo>
                  <a:lnTo>
                    <a:pt x="127233" y="861643"/>
                  </a:lnTo>
                  <a:lnTo>
                    <a:pt x="131445" y="889888"/>
                  </a:lnTo>
                  <a:lnTo>
                    <a:pt x="187960" y="881507"/>
                  </a:lnTo>
                  <a:lnTo>
                    <a:pt x="183746" y="853225"/>
                  </a:lnTo>
                  <a:close/>
                </a:path>
                <a:path w="240664" h="1027429" extrusionOk="0">
                  <a:moveTo>
                    <a:pt x="240284" y="844804"/>
                  </a:moveTo>
                  <a:lnTo>
                    <a:pt x="183746" y="853225"/>
                  </a:lnTo>
                  <a:lnTo>
                    <a:pt x="187960" y="881507"/>
                  </a:lnTo>
                  <a:lnTo>
                    <a:pt x="131445" y="889888"/>
                  </a:lnTo>
                  <a:lnTo>
                    <a:pt x="225548" y="889888"/>
                  </a:lnTo>
                  <a:lnTo>
                    <a:pt x="240284" y="844804"/>
                  </a:lnTo>
                  <a:close/>
                </a:path>
                <a:path w="240664" h="1027429" extrusionOk="0">
                  <a:moveTo>
                    <a:pt x="56642" y="0"/>
                  </a:moveTo>
                  <a:lnTo>
                    <a:pt x="0" y="8381"/>
                  </a:lnTo>
                  <a:lnTo>
                    <a:pt x="127233" y="861643"/>
                  </a:lnTo>
                  <a:lnTo>
                    <a:pt x="183746" y="853225"/>
                  </a:lnTo>
                  <a:lnTo>
                    <a:pt x="56642" y="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28" name="Google Shape;128;p8"/>
            <p:cNvPicPr preferRelativeResize="0"/>
            <p:nvPr/>
          </p:nvPicPr>
          <p:blipFill rotWithShape="1">
            <a:blip r:embed="rId4">
              <a:alphaModFix/>
            </a:blip>
            <a:srcRect/>
            <a:stretch/>
          </p:blipFill>
          <p:spPr>
            <a:xfrm>
              <a:off x="1007363" y="2272284"/>
              <a:ext cx="1927860" cy="458724"/>
            </a:xfrm>
            <a:prstGeom prst="rect">
              <a:avLst/>
            </a:prstGeom>
            <a:noFill/>
            <a:ln>
              <a:noFill/>
            </a:ln>
          </p:spPr>
        </p:pic>
        <p:pic>
          <p:nvPicPr>
            <p:cNvPr id="129" name="Google Shape;129;p8"/>
            <p:cNvPicPr preferRelativeResize="0"/>
            <p:nvPr/>
          </p:nvPicPr>
          <p:blipFill rotWithShape="1">
            <a:blip r:embed="rId5">
              <a:alphaModFix/>
            </a:blip>
            <a:srcRect/>
            <a:stretch/>
          </p:blipFill>
          <p:spPr>
            <a:xfrm>
              <a:off x="966215" y="2255520"/>
              <a:ext cx="2055876" cy="559308"/>
            </a:xfrm>
            <a:prstGeom prst="rect">
              <a:avLst/>
            </a:prstGeom>
            <a:noFill/>
            <a:ln>
              <a:noFill/>
            </a:ln>
          </p:spPr>
        </p:pic>
      </p:grpSp>
      <p:sp>
        <p:nvSpPr>
          <p:cNvPr id="130" name="Google Shape;130;p8"/>
          <p:cNvSpPr txBox="1"/>
          <p:nvPr/>
        </p:nvSpPr>
        <p:spPr>
          <a:xfrm>
            <a:off x="1051877" y="2287130"/>
            <a:ext cx="1838960" cy="369570"/>
          </a:xfrm>
          <a:prstGeom prst="rect">
            <a:avLst/>
          </a:prstGeom>
          <a:solidFill>
            <a:srgbClr val="BBBBBB"/>
          </a:solidFill>
          <a:ln w="9975" cap="flat" cmpd="sng">
            <a:solidFill>
              <a:srgbClr val="000000"/>
            </a:solidFill>
            <a:prstDash val="solid"/>
            <a:round/>
            <a:headEnd type="none" w="sm" len="sm"/>
            <a:tailEnd type="none" w="sm" len="sm"/>
          </a:ln>
        </p:spPr>
        <p:txBody>
          <a:bodyPr spcFirstLastPara="1" wrap="square" lIns="0" tIns="33650" rIns="0" bIns="0" anchor="t" anchorCtr="0">
            <a:spAutoFit/>
          </a:bodyPr>
          <a:lstStyle/>
          <a:p>
            <a:pPr marL="91440" marR="0" lvl="0" indent="0" algn="l" rtl="0">
              <a:lnSpc>
                <a:spcPct val="100000"/>
              </a:lnSpc>
              <a:spcBef>
                <a:spcPts val="0"/>
              </a:spcBef>
              <a:spcAft>
                <a:spcPts val="0"/>
              </a:spcAft>
              <a:buNone/>
            </a:pPr>
            <a:r>
              <a:rPr lang="en-US" sz="1800">
                <a:solidFill>
                  <a:schemeClr val="dk1"/>
                </a:solidFill>
                <a:latin typeface="Helvetica Neue"/>
                <a:ea typeface="Helvetica Neue"/>
                <a:cs typeface="Helvetica Neue"/>
                <a:sym typeface="Helvetica Neue"/>
              </a:rPr>
              <a:t>FUNCTION NAME</a:t>
            </a:r>
            <a:endParaRPr sz="1800">
              <a:solidFill>
                <a:schemeClr val="dk1"/>
              </a:solidFill>
              <a:latin typeface="Helvetica Neue"/>
              <a:ea typeface="Helvetica Neue"/>
              <a:cs typeface="Helvetica Neue"/>
              <a:sym typeface="Helvetica Neue"/>
            </a:endParaRPr>
          </a:p>
        </p:txBody>
      </p:sp>
      <p:grpSp>
        <p:nvGrpSpPr>
          <p:cNvPr id="131" name="Google Shape;131;p8"/>
          <p:cNvGrpSpPr/>
          <p:nvPr/>
        </p:nvGrpSpPr>
        <p:grpSpPr>
          <a:xfrm>
            <a:off x="2871723" y="2255520"/>
            <a:ext cx="4576063" cy="1487932"/>
            <a:chOff x="2871723" y="2255520"/>
            <a:chExt cx="4576063" cy="1487932"/>
          </a:xfrm>
        </p:grpSpPr>
        <p:sp>
          <p:nvSpPr>
            <p:cNvPr id="132" name="Google Shape;132;p8"/>
            <p:cNvSpPr/>
            <p:nvPr/>
          </p:nvSpPr>
          <p:spPr>
            <a:xfrm>
              <a:off x="2871723" y="2623312"/>
              <a:ext cx="1480820" cy="1120140"/>
            </a:xfrm>
            <a:custGeom>
              <a:avLst/>
              <a:gdLst/>
              <a:ahLst/>
              <a:cxnLst/>
              <a:rect l="l" t="t" r="r" b="b"/>
              <a:pathLst>
                <a:path w="1480820" h="1120139" extrusionOk="0">
                  <a:moveTo>
                    <a:pt x="42798" y="1034161"/>
                  </a:moveTo>
                  <a:lnTo>
                    <a:pt x="0" y="1120013"/>
                  </a:lnTo>
                  <a:lnTo>
                    <a:pt x="94360" y="1102614"/>
                  </a:lnTo>
                  <a:lnTo>
                    <a:pt x="83646" y="1088390"/>
                  </a:lnTo>
                  <a:lnTo>
                    <a:pt x="65658" y="1088390"/>
                  </a:lnTo>
                  <a:lnTo>
                    <a:pt x="48513" y="1065657"/>
                  </a:lnTo>
                  <a:lnTo>
                    <a:pt x="60003" y="1057001"/>
                  </a:lnTo>
                  <a:lnTo>
                    <a:pt x="42798" y="1034161"/>
                  </a:lnTo>
                  <a:close/>
                </a:path>
                <a:path w="1480820" h="1120139" extrusionOk="0">
                  <a:moveTo>
                    <a:pt x="60003" y="1057001"/>
                  </a:moveTo>
                  <a:lnTo>
                    <a:pt x="48513" y="1065657"/>
                  </a:lnTo>
                  <a:lnTo>
                    <a:pt x="65658" y="1088390"/>
                  </a:lnTo>
                  <a:lnTo>
                    <a:pt x="77135" y="1079745"/>
                  </a:lnTo>
                  <a:lnTo>
                    <a:pt x="60003" y="1057001"/>
                  </a:lnTo>
                  <a:close/>
                </a:path>
                <a:path w="1480820" h="1120139" extrusionOk="0">
                  <a:moveTo>
                    <a:pt x="77135" y="1079745"/>
                  </a:moveTo>
                  <a:lnTo>
                    <a:pt x="65658" y="1088390"/>
                  </a:lnTo>
                  <a:lnTo>
                    <a:pt x="83646" y="1088390"/>
                  </a:lnTo>
                  <a:lnTo>
                    <a:pt x="77135" y="1079745"/>
                  </a:lnTo>
                  <a:close/>
                </a:path>
                <a:path w="1480820" h="1120139" extrusionOk="0">
                  <a:moveTo>
                    <a:pt x="1463039" y="0"/>
                  </a:moveTo>
                  <a:lnTo>
                    <a:pt x="60003" y="1057001"/>
                  </a:lnTo>
                  <a:lnTo>
                    <a:pt x="77135" y="1079745"/>
                  </a:lnTo>
                  <a:lnTo>
                    <a:pt x="1480311" y="22859"/>
                  </a:lnTo>
                  <a:lnTo>
                    <a:pt x="1463039" y="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33" name="Google Shape;133;p8"/>
            <p:cNvPicPr preferRelativeResize="0"/>
            <p:nvPr/>
          </p:nvPicPr>
          <p:blipFill rotWithShape="1">
            <a:blip r:embed="rId6">
              <a:alphaModFix/>
            </a:blip>
            <a:srcRect/>
            <a:stretch/>
          </p:blipFill>
          <p:spPr>
            <a:xfrm>
              <a:off x="4299203" y="2272284"/>
              <a:ext cx="3072383" cy="736091"/>
            </a:xfrm>
            <a:prstGeom prst="rect">
              <a:avLst/>
            </a:prstGeom>
            <a:noFill/>
            <a:ln>
              <a:noFill/>
            </a:ln>
          </p:spPr>
        </p:pic>
        <p:pic>
          <p:nvPicPr>
            <p:cNvPr id="134" name="Google Shape;134;p8"/>
            <p:cNvPicPr preferRelativeResize="0"/>
            <p:nvPr/>
          </p:nvPicPr>
          <p:blipFill rotWithShape="1">
            <a:blip r:embed="rId7">
              <a:alphaModFix/>
            </a:blip>
            <a:srcRect/>
            <a:stretch/>
          </p:blipFill>
          <p:spPr>
            <a:xfrm>
              <a:off x="4258055" y="2255520"/>
              <a:ext cx="3189731" cy="833627"/>
            </a:xfrm>
            <a:prstGeom prst="rect">
              <a:avLst/>
            </a:prstGeom>
            <a:noFill/>
            <a:ln>
              <a:noFill/>
            </a:ln>
          </p:spPr>
        </p:pic>
      </p:grpSp>
      <p:sp>
        <p:nvSpPr>
          <p:cNvPr id="135" name="Google Shape;135;p8"/>
          <p:cNvSpPr txBox="1"/>
          <p:nvPr/>
        </p:nvSpPr>
        <p:spPr>
          <a:xfrm>
            <a:off x="4343400" y="2287117"/>
            <a:ext cx="2983865" cy="646430"/>
          </a:xfrm>
          <a:prstGeom prst="rect">
            <a:avLst/>
          </a:prstGeom>
          <a:solidFill>
            <a:srgbClr val="BBBBBB"/>
          </a:solidFill>
          <a:ln w="9975" cap="flat" cmpd="sng">
            <a:solidFill>
              <a:srgbClr val="000000"/>
            </a:solidFill>
            <a:prstDash val="solid"/>
            <a:round/>
            <a:headEnd type="none" w="sm" len="sm"/>
            <a:tailEnd type="none" w="sm" len="sm"/>
          </a:ln>
        </p:spPr>
        <p:txBody>
          <a:bodyPr spcFirstLastPara="1" wrap="square" lIns="0" tIns="33650" rIns="0" bIns="0" anchor="t" anchorCtr="0">
            <a:spAutoFit/>
          </a:bodyPr>
          <a:lstStyle/>
          <a:p>
            <a:pPr marL="92075" marR="0" lvl="0" indent="0" algn="l" rtl="0">
              <a:lnSpc>
                <a:spcPct val="100000"/>
              </a:lnSpc>
              <a:spcBef>
                <a:spcPts val="0"/>
              </a:spcBef>
              <a:spcAft>
                <a:spcPts val="0"/>
              </a:spcAft>
              <a:buNone/>
            </a:pPr>
            <a:r>
              <a:rPr lang="en-US" sz="1800">
                <a:solidFill>
                  <a:schemeClr val="dk1"/>
                </a:solidFill>
                <a:latin typeface="Helvetica Neue"/>
                <a:ea typeface="Helvetica Neue"/>
                <a:cs typeface="Helvetica Neue"/>
                <a:sym typeface="Helvetica Neue"/>
              </a:rPr>
              <a:t>NO PARAMETER, HENCE VOID</a:t>
            </a:r>
            <a:endParaRPr sz="1800">
              <a:solidFill>
                <a:schemeClr val="dk1"/>
              </a:solidFill>
              <a:latin typeface="Helvetica Neue"/>
              <a:ea typeface="Helvetica Neue"/>
              <a:cs typeface="Helvetica Neue"/>
              <a:sym typeface="Helvetica Neue"/>
            </a:endParaRPr>
          </a:p>
          <a:p>
            <a:pPr marL="92075" marR="0" lvl="0" indent="0" algn="l" rtl="0">
              <a:lnSpc>
                <a:spcPct val="100000"/>
              </a:lnSpc>
              <a:spcBef>
                <a:spcPts val="0"/>
              </a:spcBef>
              <a:spcAft>
                <a:spcPts val="0"/>
              </a:spcAft>
              <a:buNone/>
            </a:pPr>
            <a:r>
              <a:rPr lang="en-US" sz="1800">
                <a:solidFill>
                  <a:schemeClr val="dk1"/>
                </a:solidFill>
                <a:latin typeface="Helvetica Neue"/>
                <a:ea typeface="Helvetica Neue"/>
                <a:cs typeface="Helvetica Neue"/>
                <a:sym typeface="Helvetica Neue"/>
              </a:rPr>
              <a:t>Return keyword not used</a:t>
            </a:r>
            <a:endParaRPr sz="1800">
              <a:solidFill>
                <a:schemeClr val="dk1"/>
              </a:solidFill>
              <a:latin typeface="Helvetica Neue"/>
              <a:ea typeface="Helvetica Neue"/>
              <a:cs typeface="Helvetica Neue"/>
              <a:sym typeface="Helvetica Neue"/>
            </a:endParaRPr>
          </a:p>
        </p:txBody>
      </p:sp>
      <p:grpSp>
        <p:nvGrpSpPr>
          <p:cNvPr id="136" name="Google Shape;136;p8"/>
          <p:cNvGrpSpPr/>
          <p:nvPr/>
        </p:nvGrpSpPr>
        <p:grpSpPr>
          <a:xfrm>
            <a:off x="1042416" y="5090033"/>
            <a:ext cx="7360920" cy="1229995"/>
            <a:chOff x="1042416" y="5090033"/>
            <a:chExt cx="7360920" cy="1229995"/>
          </a:xfrm>
        </p:grpSpPr>
        <p:sp>
          <p:nvSpPr>
            <p:cNvPr id="137" name="Google Shape;137;p8"/>
            <p:cNvSpPr/>
            <p:nvPr/>
          </p:nvSpPr>
          <p:spPr>
            <a:xfrm>
              <a:off x="1971294" y="5090033"/>
              <a:ext cx="2298065" cy="688340"/>
            </a:xfrm>
            <a:custGeom>
              <a:avLst/>
              <a:gdLst/>
              <a:ahLst/>
              <a:cxnLst/>
              <a:rect l="l" t="t" r="r" b="b"/>
              <a:pathLst>
                <a:path w="2298065" h="688339" extrusionOk="0">
                  <a:moveTo>
                    <a:pt x="74992" y="30446"/>
                  </a:moveTo>
                  <a:lnTo>
                    <a:pt x="71456" y="42644"/>
                  </a:lnTo>
                  <a:lnTo>
                    <a:pt x="2294128" y="688212"/>
                  </a:lnTo>
                  <a:lnTo>
                    <a:pt x="2297684" y="676020"/>
                  </a:lnTo>
                  <a:lnTo>
                    <a:pt x="74992" y="30446"/>
                  </a:lnTo>
                  <a:close/>
                </a:path>
                <a:path w="2298065" h="688339" extrusionOk="0">
                  <a:moveTo>
                    <a:pt x="83819" y="0"/>
                  </a:moveTo>
                  <a:lnTo>
                    <a:pt x="0" y="15366"/>
                  </a:lnTo>
                  <a:lnTo>
                    <a:pt x="62610" y="73151"/>
                  </a:lnTo>
                  <a:lnTo>
                    <a:pt x="71456" y="42644"/>
                  </a:lnTo>
                  <a:lnTo>
                    <a:pt x="59308" y="39115"/>
                  </a:lnTo>
                  <a:lnTo>
                    <a:pt x="62864" y="26923"/>
                  </a:lnTo>
                  <a:lnTo>
                    <a:pt x="76013" y="26923"/>
                  </a:lnTo>
                  <a:lnTo>
                    <a:pt x="83819" y="0"/>
                  </a:lnTo>
                  <a:close/>
                </a:path>
                <a:path w="2298065" h="688339" extrusionOk="0">
                  <a:moveTo>
                    <a:pt x="62864" y="26923"/>
                  </a:moveTo>
                  <a:lnTo>
                    <a:pt x="59308" y="39115"/>
                  </a:lnTo>
                  <a:lnTo>
                    <a:pt x="71456" y="42644"/>
                  </a:lnTo>
                  <a:lnTo>
                    <a:pt x="74992" y="30446"/>
                  </a:lnTo>
                  <a:lnTo>
                    <a:pt x="62864" y="26923"/>
                  </a:lnTo>
                  <a:close/>
                </a:path>
                <a:path w="2298065" h="688339" extrusionOk="0">
                  <a:moveTo>
                    <a:pt x="76013" y="26923"/>
                  </a:moveTo>
                  <a:lnTo>
                    <a:pt x="62864" y="26923"/>
                  </a:lnTo>
                  <a:lnTo>
                    <a:pt x="74992" y="30446"/>
                  </a:lnTo>
                  <a:lnTo>
                    <a:pt x="76013" y="26923"/>
                  </a:lnTo>
                  <a:close/>
                </a:path>
              </a:pathLst>
            </a:custGeom>
            <a:solidFill>
              <a:srgbClr val="93B6D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38" name="Google Shape;138;p8"/>
            <p:cNvPicPr preferRelativeResize="0"/>
            <p:nvPr/>
          </p:nvPicPr>
          <p:blipFill rotWithShape="1">
            <a:blip r:embed="rId8">
              <a:alphaModFix/>
            </a:blip>
            <a:srcRect/>
            <a:stretch/>
          </p:blipFill>
          <p:spPr>
            <a:xfrm>
              <a:off x="1088136" y="5785134"/>
              <a:ext cx="7271001" cy="444962"/>
            </a:xfrm>
            <a:prstGeom prst="rect">
              <a:avLst/>
            </a:prstGeom>
            <a:noFill/>
            <a:ln>
              <a:noFill/>
            </a:ln>
          </p:spPr>
        </p:pic>
        <p:pic>
          <p:nvPicPr>
            <p:cNvPr id="139" name="Google Shape;139;p8"/>
            <p:cNvPicPr preferRelativeResize="0"/>
            <p:nvPr/>
          </p:nvPicPr>
          <p:blipFill rotWithShape="1">
            <a:blip r:embed="rId9">
              <a:alphaModFix/>
            </a:blip>
            <a:srcRect/>
            <a:stretch/>
          </p:blipFill>
          <p:spPr>
            <a:xfrm>
              <a:off x="1042416" y="5760720"/>
              <a:ext cx="7360920" cy="559308"/>
            </a:xfrm>
            <a:prstGeom prst="rect">
              <a:avLst/>
            </a:prstGeom>
            <a:noFill/>
            <a:ln>
              <a:noFill/>
            </a:ln>
          </p:spPr>
        </p:pic>
        <p:sp>
          <p:nvSpPr>
            <p:cNvPr id="140" name="Google Shape;140;p8"/>
            <p:cNvSpPr/>
            <p:nvPr/>
          </p:nvSpPr>
          <p:spPr>
            <a:xfrm>
              <a:off x="1127671" y="5791200"/>
              <a:ext cx="7195820" cy="369570"/>
            </a:xfrm>
            <a:custGeom>
              <a:avLst/>
              <a:gdLst/>
              <a:ahLst/>
              <a:cxnLst/>
              <a:rect l="l" t="t" r="r" b="b"/>
              <a:pathLst>
                <a:path w="7195820" h="369570" extrusionOk="0">
                  <a:moveTo>
                    <a:pt x="7195311" y="0"/>
                  </a:moveTo>
                  <a:lnTo>
                    <a:pt x="0" y="0"/>
                  </a:lnTo>
                  <a:lnTo>
                    <a:pt x="0" y="369328"/>
                  </a:lnTo>
                  <a:lnTo>
                    <a:pt x="7195311" y="369328"/>
                  </a:lnTo>
                  <a:lnTo>
                    <a:pt x="7195311" y="0"/>
                  </a:lnTo>
                  <a:close/>
                </a:path>
              </a:pathLst>
            </a:custGeom>
            <a:solidFill>
              <a:srgbClr val="D2DEE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1" name="Google Shape;141;p8"/>
            <p:cNvSpPr/>
            <p:nvPr/>
          </p:nvSpPr>
          <p:spPr>
            <a:xfrm>
              <a:off x="1127671" y="5791200"/>
              <a:ext cx="7195820" cy="369570"/>
            </a:xfrm>
            <a:custGeom>
              <a:avLst/>
              <a:gdLst/>
              <a:ahLst/>
              <a:cxnLst/>
              <a:rect l="l" t="t" r="r" b="b"/>
              <a:pathLst>
                <a:path w="7195820" h="369570" extrusionOk="0">
                  <a:moveTo>
                    <a:pt x="0" y="369328"/>
                  </a:moveTo>
                  <a:lnTo>
                    <a:pt x="7195311" y="369328"/>
                  </a:lnTo>
                  <a:lnTo>
                    <a:pt x="7195311" y="0"/>
                  </a:lnTo>
                  <a:lnTo>
                    <a:pt x="0" y="0"/>
                  </a:lnTo>
                  <a:lnTo>
                    <a:pt x="0" y="369328"/>
                  </a:lnTo>
                  <a:close/>
                </a:path>
              </a:pathLst>
            </a:custGeom>
            <a:noFill/>
            <a:ln w="9975" cap="flat" cmpd="sng">
              <a:solidFill>
                <a:srgbClr val="93B6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42" name="Google Shape;142;p8"/>
          <p:cNvSpPr txBox="1"/>
          <p:nvPr/>
        </p:nvSpPr>
        <p:spPr>
          <a:xfrm>
            <a:off x="1127671" y="5791200"/>
            <a:ext cx="7195820" cy="369570"/>
          </a:xfrm>
          <a:prstGeom prst="rect">
            <a:avLst/>
          </a:prstGeom>
          <a:noFill/>
          <a:ln>
            <a:noFill/>
          </a:ln>
        </p:spPr>
        <p:txBody>
          <a:bodyPr spcFirstLastPara="1" wrap="square" lIns="0" tIns="34275" rIns="0" bIns="0" anchor="t" anchorCtr="0">
            <a:spAutoFit/>
          </a:bodyPr>
          <a:lstStyle/>
          <a:p>
            <a:pPr marL="91440" marR="0" lvl="0" indent="0" algn="l" rtl="0">
              <a:lnSpc>
                <a:spcPct val="100000"/>
              </a:lnSpc>
              <a:spcBef>
                <a:spcPts val="0"/>
              </a:spcBef>
              <a:spcAft>
                <a:spcPts val="0"/>
              </a:spcAft>
              <a:buNone/>
            </a:pPr>
            <a:r>
              <a:rPr lang="en-US" sz="1800">
                <a:solidFill>
                  <a:schemeClr val="dk1"/>
                </a:solidFill>
                <a:latin typeface="Helvetica Neue"/>
                <a:ea typeface="Helvetica Neue"/>
                <a:cs typeface="Helvetica Neue"/>
                <a:sym typeface="Helvetica Neue"/>
              </a:rPr>
              <a:t>FUNCTION CALLING, IT WILL INVOKE </a:t>
            </a:r>
            <a:r>
              <a:rPr lang="en-US" sz="1800" b="1">
                <a:solidFill>
                  <a:srgbClr val="FF0000"/>
                </a:solidFill>
                <a:latin typeface="Arial"/>
                <a:ea typeface="Arial"/>
                <a:cs typeface="Arial"/>
                <a:sym typeface="Arial"/>
              </a:rPr>
              <a:t>welcome</a:t>
            </a:r>
            <a:r>
              <a:rPr lang="en-US" sz="1800">
                <a:solidFill>
                  <a:schemeClr val="dk1"/>
                </a:solidFill>
                <a:latin typeface="Helvetica Neue"/>
                <a:ea typeface="Helvetica Neue"/>
                <a:cs typeface="Helvetica Neue"/>
                <a:sym typeface="Helvetica Neue"/>
              </a:rPr>
              <a:t>() TO PERFORM ITS ACTION</a:t>
            </a:r>
            <a:endParaRPr sz="1800">
              <a:solidFill>
                <a:schemeClr val="dk1"/>
              </a:solidFill>
              <a:latin typeface="Helvetica Neue"/>
              <a:ea typeface="Helvetica Neue"/>
              <a:cs typeface="Helvetica Neue"/>
              <a:sym typeface="Helvetica Neue"/>
            </a:endParaRPr>
          </a:p>
        </p:txBody>
      </p:sp>
      <p:sp>
        <p:nvSpPr>
          <p:cNvPr id="143" name="Google Shape;143;p8"/>
          <p:cNvSpPr/>
          <p:nvPr/>
        </p:nvSpPr>
        <p:spPr>
          <a:xfrm>
            <a:off x="2314575" y="4648200"/>
            <a:ext cx="304800" cy="457200"/>
          </a:xfrm>
          <a:custGeom>
            <a:avLst/>
            <a:gdLst/>
            <a:ahLst/>
            <a:cxnLst/>
            <a:rect l="l" t="t" r="r" b="b"/>
            <a:pathLst>
              <a:path w="304800" h="457200" extrusionOk="0">
                <a:moveTo>
                  <a:pt x="0" y="457200"/>
                </a:moveTo>
                <a:lnTo>
                  <a:pt x="304800" y="457200"/>
                </a:lnTo>
                <a:lnTo>
                  <a:pt x="304800" y="0"/>
                </a:lnTo>
                <a:lnTo>
                  <a:pt x="0" y="0"/>
                </a:lnTo>
                <a:lnTo>
                  <a:pt x="0" y="457200"/>
                </a:lnTo>
                <a:close/>
              </a:path>
            </a:pathLst>
          </a:custGeom>
          <a:noFill/>
          <a:ln w="1905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4" name="Google Shape;144;p8"/>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145" name="Google Shape;145;p8"/>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9"/>
          <p:cNvSpPr txBox="1">
            <a:spLocks noGrp="1"/>
          </p:cNvSpPr>
          <p:nvPr>
            <p:ph type="title"/>
          </p:nvPr>
        </p:nvSpPr>
        <p:spPr>
          <a:xfrm>
            <a:off x="-152400" y="-13400"/>
            <a:ext cx="7658100" cy="99835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3200">
                <a:latin typeface="Arial"/>
                <a:ea typeface="Arial"/>
                <a:cs typeface="Arial"/>
                <a:sym typeface="Arial"/>
              </a:rPr>
              <a:t>Function with parameters but </a:t>
            </a:r>
            <a:br>
              <a:rPr lang="en-US" sz="3200">
                <a:latin typeface="Arial"/>
                <a:ea typeface="Arial"/>
                <a:cs typeface="Arial"/>
                <a:sym typeface="Arial"/>
              </a:rPr>
            </a:br>
            <a:r>
              <a:rPr lang="en-US" sz="3200">
                <a:latin typeface="Arial"/>
                <a:ea typeface="Arial"/>
                <a:cs typeface="Arial"/>
                <a:sym typeface="Arial"/>
              </a:rPr>
              <a:t>no return value</a:t>
            </a:r>
            <a:endParaRPr sz="3200">
              <a:latin typeface="Arial"/>
              <a:ea typeface="Arial"/>
              <a:cs typeface="Arial"/>
              <a:sym typeface="Arial"/>
            </a:endParaRPr>
          </a:p>
        </p:txBody>
      </p:sp>
      <p:sp>
        <p:nvSpPr>
          <p:cNvPr id="151" name="Google Shape;151;p9"/>
          <p:cNvSpPr txBox="1"/>
          <p:nvPr/>
        </p:nvSpPr>
        <p:spPr>
          <a:xfrm>
            <a:off x="691387" y="1612138"/>
            <a:ext cx="7856220" cy="1882775"/>
          </a:xfrm>
          <a:prstGeom prst="rect">
            <a:avLst/>
          </a:prstGeom>
          <a:noFill/>
          <a:ln>
            <a:noFill/>
          </a:ln>
        </p:spPr>
        <p:txBody>
          <a:bodyPr spcFirstLastPara="1" wrap="square" lIns="0" tIns="13325" rIns="0" bIns="0" anchor="t" anchorCtr="0">
            <a:spAutoFit/>
          </a:bodyPr>
          <a:lstStyle/>
          <a:p>
            <a:pPr marL="332740" marR="103504" lvl="0" indent="-320675" algn="l"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Parameters are given in the parenthesis separated  by comma.</a:t>
            </a:r>
            <a:endParaRPr sz="2900">
              <a:solidFill>
                <a:schemeClr val="dk1"/>
              </a:solidFill>
              <a:latin typeface="Helvetica Neue"/>
              <a:ea typeface="Helvetica Neue"/>
              <a:cs typeface="Helvetica Neue"/>
              <a:sym typeface="Helvetica Neue"/>
            </a:endParaRPr>
          </a:p>
          <a:p>
            <a:pPr marL="332740" marR="5080" lvl="0" indent="-320675" algn="l" rtl="0">
              <a:lnSpc>
                <a:spcPct val="100000"/>
              </a:lnSpc>
              <a:spcBef>
                <a:spcPts val="69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Values are passed for the parameter at the time of  function calling.</a:t>
            </a:r>
            <a:endParaRPr sz="2900">
              <a:solidFill>
                <a:schemeClr val="dk1"/>
              </a:solidFill>
              <a:latin typeface="Helvetica Neue"/>
              <a:ea typeface="Helvetica Neue"/>
              <a:cs typeface="Helvetica Neue"/>
              <a:sym typeface="Helvetica Neue"/>
            </a:endParaRPr>
          </a:p>
        </p:txBody>
      </p:sp>
      <p:pic>
        <p:nvPicPr>
          <p:cNvPr id="152" name="Google Shape;152;p9"/>
          <p:cNvPicPr preferRelativeResize="0"/>
          <p:nvPr/>
        </p:nvPicPr>
        <p:blipFill rotWithShape="1">
          <a:blip r:embed="rId3">
            <a:alphaModFix/>
          </a:blip>
          <a:srcRect/>
          <a:stretch/>
        </p:blipFill>
        <p:spPr>
          <a:xfrm>
            <a:off x="1066800" y="3581400"/>
            <a:ext cx="6907403" cy="3124200"/>
          </a:xfrm>
          <a:prstGeom prst="rect">
            <a:avLst/>
          </a:prstGeom>
          <a:noFill/>
          <a:ln>
            <a:noFill/>
          </a:ln>
        </p:spPr>
      </p:pic>
      <p:sp>
        <p:nvSpPr>
          <p:cNvPr id="153" name="Google Shape;153;p9"/>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154" name="Google Shape;154;p9"/>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0"/>
          <p:cNvSpPr txBox="1">
            <a:spLocks noGrp="1"/>
          </p:cNvSpPr>
          <p:nvPr>
            <p:ph type="title"/>
          </p:nvPr>
        </p:nvSpPr>
        <p:spPr>
          <a:xfrm>
            <a:off x="-533400" y="263599"/>
            <a:ext cx="8267700" cy="444352"/>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b="1">
                <a:latin typeface="Arial"/>
                <a:ea typeface="Arial"/>
                <a:cs typeface="Arial"/>
                <a:sym typeface="Arial"/>
              </a:rPr>
              <a:t>Function with parameters but no return value</a:t>
            </a:r>
            <a:endParaRPr>
              <a:latin typeface="Arial"/>
              <a:ea typeface="Arial"/>
              <a:cs typeface="Arial"/>
              <a:sym typeface="Arial"/>
            </a:endParaRPr>
          </a:p>
        </p:txBody>
      </p:sp>
      <p:pic>
        <p:nvPicPr>
          <p:cNvPr id="160" name="Google Shape;160;p10"/>
          <p:cNvPicPr preferRelativeResize="0"/>
          <p:nvPr/>
        </p:nvPicPr>
        <p:blipFill rotWithShape="1">
          <a:blip r:embed="rId3">
            <a:alphaModFix/>
          </a:blip>
          <a:srcRect/>
          <a:stretch/>
        </p:blipFill>
        <p:spPr>
          <a:xfrm>
            <a:off x="588835" y="1604899"/>
            <a:ext cx="8086217" cy="4491101"/>
          </a:xfrm>
          <a:prstGeom prst="rect">
            <a:avLst/>
          </a:prstGeom>
          <a:noFill/>
          <a:ln>
            <a:noFill/>
          </a:ln>
        </p:spPr>
      </p:pic>
      <p:sp>
        <p:nvSpPr>
          <p:cNvPr id="161" name="Google Shape;161;p10"/>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162" name="Google Shape;162;p10"/>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1"/>
          <p:cNvSpPr txBox="1">
            <a:spLocks noGrp="1"/>
          </p:cNvSpPr>
          <p:nvPr>
            <p:ph type="title"/>
          </p:nvPr>
        </p:nvSpPr>
        <p:spPr>
          <a:xfrm>
            <a:off x="0" y="248060"/>
            <a:ext cx="7823200" cy="505908"/>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3200"/>
              <a:t>Function with parameter and return</a:t>
            </a:r>
            <a:endParaRPr sz="3200"/>
          </a:p>
        </p:txBody>
      </p:sp>
      <p:sp>
        <p:nvSpPr>
          <p:cNvPr id="168" name="Google Shape;168;p11"/>
          <p:cNvSpPr txBox="1"/>
          <p:nvPr/>
        </p:nvSpPr>
        <p:spPr>
          <a:xfrm>
            <a:off x="691387" y="1612138"/>
            <a:ext cx="7623809" cy="3129915"/>
          </a:xfrm>
          <a:prstGeom prst="rect">
            <a:avLst/>
          </a:prstGeom>
          <a:noFill/>
          <a:ln>
            <a:noFill/>
          </a:ln>
        </p:spPr>
        <p:txBody>
          <a:bodyPr spcFirstLastPara="1" wrap="square" lIns="0" tIns="13325" rIns="0" bIns="0" anchor="t" anchorCtr="0">
            <a:spAutoFit/>
          </a:bodyPr>
          <a:lstStyle/>
          <a:p>
            <a:pPr marL="332740" marR="400050" lvl="0" indent="-320675" algn="l"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We can return values from function using return  keyword.</a:t>
            </a:r>
            <a:endParaRPr sz="2900">
              <a:solidFill>
                <a:schemeClr val="dk1"/>
              </a:solidFill>
              <a:latin typeface="Helvetica Neue"/>
              <a:ea typeface="Helvetica Neue"/>
              <a:cs typeface="Helvetica Neue"/>
              <a:sym typeface="Helvetica Neue"/>
            </a:endParaRPr>
          </a:p>
          <a:p>
            <a:pPr marL="332740" marR="5080" lvl="0" indent="-320675" algn="l" rtl="0">
              <a:lnSpc>
                <a:spcPct val="100000"/>
              </a:lnSpc>
              <a:spcBef>
                <a:spcPts val="69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The return value must be used at the calling place  by –</a:t>
            </a:r>
            <a:endParaRPr sz="2900">
              <a:solidFill>
                <a:schemeClr val="dk1"/>
              </a:solidFill>
              <a:latin typeface="Helvetica Neue"/>
              <a:ea typeface="Helvetica Neue"/>
              <a:cs typeface="Helvetica Neue"/>
              <a:sym typeface="Helvetica Neue"/>
            </a:endParaRPr>
          </a:p>
          <a:p>
            <a:pPr marL="927100" marR="0" lvl="1" indent="-229234" algn="l" rtl="0">
              <a:lnSpc>
                <a:spcPct val="100000"/>
              </a:lnSpc>
              <a:spcBef>
                <a:spcPts val="545"/>
              </a:spcBef>
              <a:spcAft>
                <a:spcPts val="0"/>
              </a:spcAft>
              <a:buClr>
                <a:srgbClr val="DD8046"/>
              </a:buClr>
              <a:buSzPts val="1700"/>
              <a:buFont typeface="Noto Sans Symbols"/>
              <a:buChar char="■"/>
            </a:pPr>
            <a:r>
              <a:rPr lang="en-US" sz="2300" b="0" i="0" u="none" strike="noStrike" cap="none">
                <a:solidFill>
                  <a:schemeClr val="dk1"/>
                </a:solidFill>
                <a:latin typeface="Helvetica Neue"/>
                <a:ea typeface="Helvetica Neue"/>
                <a:cs typeface="Helvetica Neue"/>
                <a:sym typeface="Helvetica Neue"/>
              </a:rPr>
              <a:t>Either store it any variable</a:t>
            </a:r>
            <a:endParaRPr sz="2300" b="0" i="0" u="none" strike="noStrike" cap="none">
              <a:solidFill>
                <a:schemeClr val="dk1"/>
              </a:solidFill>
              <a:latin typeface="Helvetica Neue"/>
              <a:ea typeface="Helvetica Neue"/>
              <a:cs typeface="Helvetica Neue"/>
              <a:sym typeface="Helvetica Neue"/>
            </a:endParaRPr>
          </a:p>
          <a:p>
            <a:pPr marL="927100" marR="0" lvl="1" indent="-229234" algn="l" rtl="0">
              <a:lnSpc>
                <a:spcPct val="100000"/>
              </a:lnSpc>
              <a:spcBef>
                <a:spcPts val="500"/>
              </a:spcBef>
              <a:spcAft>
                <a:spcPts val="0"/>
              </a:spcAft>
              <a:buClr>
                <a:srgbClr val="DD8046"/>
              </a:buClr>
              <a:buSzPts val="1700"/>
              <a:buFont typeface="Noto Sans Symbols"/>
              <a:buChar char="■"/>
            </a:pPr>
            <a:r>
              <a:rPr lang="en-US" sz="2300" b="0" i="0" u="none" strike="noStrike" cap="none">
                <a:solidFill>
                  <a:schemeClr val="dk1"/>
                </a:solidFill>
                <a:latin typeface="Helvetica Neue"/>
                <a:ea typeface="Helvetica Neue"/>
                <a:cs typeface="Helvetica Neue"/>
                <a:sym typeface="Helvetica Neue"/>
              </a:rPr>
              <a:t>Use with print()</a:t>
            </a:r>
            <a:endParaRPr sz="2300" b="0" i="0" u="none" strike="noStrike" cap="none">
              <a:solidFill>
                <a:schemeClr val="dk1"/>
              </a:solidFill>
              <a:latin typeface="Helvetica Neue"/>
              <a:ea typeface="Helvetica Neue"/>
              <a:cs typeface="Helvetica Neue"/>
              <a:sym typeface="Helvetica Neue"/>
            </a:endParaRPr>
          </a:p>
          <a:p>
            <a:pPr marL="927100" marR="0" lvl="1" indent="-229234" algn="l" rtl="0">
              <a:lnSpc>
                <a:spcPct val="100000"/>
              </a:lnSpc>
              <a:spcBef>
                <a:spcPts val="495"/>
              </a:spcBef>
              <a:spcAft>
                <a:spcPts val="0"/>
              </a:spcAft>
              <a:buClr>
                <a:srgbClr val="DD8046"/>
              </a:buClr>
              <a:buSzPts val="1700"/>
              <a:buFont typeface="Noto Sans Symbols"/>
              <a:buChar char="■"/>
            </a:pPr>
            <a:r>
              <a:rPr lang="en-US" sz="2300" b="0" i="0" u="none" strike="noStrike" cap="none">
                <a:solidFill>
                  <a:schemeClr val="dk1"/>
                </a:solidFill>
                <a:latin typeface="Helvetica Neue"/>
                <a:ea typeface="Helvetica Neue"/>
                <a:cs typeface="Helvetica Neue"/>
                <a:sym typeface="Helvetica Neue"/>
              </a:rPr>
              <a:t>Use in any expression</a:t>
            </a:r>
            <a:endParaRPr sz="2300" b="0" i="0" u="none" strike="noStrike" cap="none">
              <a:solidFill>
                <a:schemeClr val="dk1"/>
              </a:solidFill>
              <a:latin typeface="Helvetica Neue"/>
              <a:ea typeface="Helvetica Neue"/>
              <a:cs typeface="Helvetica Neue"/>
              <a:sym typeface="Helvetica Neue"/>
            </a:endParaRPr>
          </a:p>
        </p:txBody>
      </p:sp>
      <p:sp>
        <p:nvSpPr>
          <p:cNvPr id="169" name="Google Shape;169;p11"/>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170" name="Google Shape;170;p11"/>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2"/>
          <p:cNvSpPr txBox="1">
            <a:spLocks noGrp="1"/>
          </p:cNvSpPr>
          <p:nvPr>
            <p:ph type="title"/>
          </p:nvPr>
        </p:nvSpPr>
        <p:spPr>
          <a:xfrm>
            <a:off x="533400" y="30480"/>
            <a:ext cx="4275455"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Function with return</a:t>
            </a:r>
            <a:endParaRPr sz="4400"/>
          </a:p>
        </p:txBody>
      </p:sp>
      <p:pic>
        <p:nvPicPr>
          <p:cNvPr id="176" name="Google Shape;176;p12"/>
          <p:cNvPicPr preferRelativeResize="0"/>
          <p:nvPr/>
        </p:nvPicPr>
        <p:blipFill rotWithShape="1">
          <a:blip r:embed="rId3">
            <a:alphaModFix/>
          </a:blip>
          <a:srcRect/>
          <a:stretch/>
        </p:blipFill>
        <p:spPr>
          <a:xfrm>
            <a:off x="457200" y="1600200"/>
            <a:ext cx="3810000" cy="2286000"/>
          </a:xfrm>
          <a:prstGeom prst="rect">
            <a:avLst/>
          </a:prstGeom>
          <a:noFill/>
          <a:ln>
            <a:noFill/>
          </a:ln>
        </p:spPr>
      </p:pic>
      <p:pic>
        <p:nvPicPr>
          <p:cNvPr id="177" name="Google Shape;177;p12"/>
          <p:cNvPicPr preferRelativeResize="0"/>
          <p:nvPr/>
        </p:nvPicPr>
        <p:blipFill rotWithShape="1">
          <a:blip r:embed="rId4">
            <a:alphaModFix/>
          </a:blip>
          <a:srcRect/>
          <a:stretch/>
        </p:blipFill>
        <p:spPr>
          <a:xfrm>
            <a:off x="4665471" y="1614424"/>
            <a:ext cx="4300601" cy="2286000"/>
          </a:xfrm>
          <a:prstGeom prst="rect">
            <a:avLst/>
          </a:prstGeom>
          <a:noFill/>
          <a:ln>
            <a:noFill/>
          </a:ln>
        </p:spPr>
      </p:pic>
      <p:pic>
        <p:nvPicPr>
          <p:cNvPr id="178" name="Google Shape;178;p12"/>
          <p:cNvPicPr preferRelativeResize="0"/>
          <p:nvPr/>
        </p:nvPicPr>
        <p:blipFill rotWithShape="1">
          <a:blip r:embed="rId5">
            <a:alphaModFix/>
          </a:blip>
          <a:srcRect/>
          <a:stretch/>
        </p:blipFill>
        <p:spPr>
          <a:xfrm>
            <a:off x="457200" y="4267200"/>
            <a:ext cx="4038600" cy="2247900"/>
          </a:xfrm>
          <a:prstGeom prst="rect">
            <a:avLst/>
          </a:prstGeom>
          <a:noFill/>
          <a:ln>
            <a:noFill/>
          </a:ln>
        </p:spPr>
      </p:pic>
      <p:pic>
        <p:nvPicPr>
          <p:cNvPr id="179" name="Google Shape;179;p12"/>
          <p:cNvPicPr preferRelativeResize="0"/>
          <p:nvPr/>
        </p:nvPicPr>
        <p:blipFill rotWithShape="1">
          <a:blip r:embed="rId6">
            <a:alphaModFix/>
          </a:blip>
          <a:srcRect/>
          <a:stretch/>
        </p:blipFill>
        <p:spPr>
          <a:xfrm>
            <a:off x="4694046" y="4114800"/>
            <a:ext cx="4071874" cy="2514600"/>
          </a:xfrm>
          <a:prstGeom prst="rect">
            <a:avLst/>
          </a:prstGeom>
          <a:noFill/>
          <a:ln>
            <a:noFill/>
          </a:ln>
        </p:spPr>
      </p:pic>
      <p:sp>
        <p:nvSpPr>
          <p:cNvPr id="180" name="Google Shape;180;p12"/>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181" name="Google Shape;181;p12"/>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3"/>
          <p:cNvSpPr txBox="1">
            <a:spLocks noGrp="1"/>
          </p:cNvSpPr>
          <p:nvPr>
            <p:ph type="title"/>
          </p:nvPr>
        </p:nvSpPr>
        <p:spPr>
          <a:xfrm>
            <a:off x="489648" y="76200"/>
            <a:ext cx="4275455"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Function with return</a:t>
            </a:r>
            <a:endParaRPr sz="4400"/>
          </a:p>
        </p:txBody>
      </p:sp>
      <p:pic>
        <p:nvPicPr>
          <p:cNvPr id="187" name="Google Shape;187;p13"/>
          <p:cNvPicPr preferRelativeResize="0"/>
          <p:nvPr/>
        </p:nvPicPr>
        <p:blipFill rotWithShape="1">
          <a:blip r:embed="rId3">
            <a:alphaModFix/>
          </a:blip>
          <a:srcRect/>
          <a:stretch/>
        </p:blipFill>
        <p:spPr>
          <a:xfrm>
            <a:off x="152400" y="1658366"/>
            <a:ext cx="4949952" cy="2438399"/>
          </a:xfrm>
          <a:prstGeom prst="rect">
            <a:avLst/>
          </a:prstGeom>
          <a:noFill/>
          <a:ln>
            <a:noFill/>
          </a:ln>
        </p:spPr>
      </p:pic>
      <p:sp>
        <p:nvSpPr>
          <p:cNvPr id="188" name="Google Shape;188;p13"/>
          <p:cNvSpPr txBox="1"/>
          <p:nvPr/>
        </p:nvSpPr>
        <p:spPr>
          <a:xfrm>
            <a:off x="5718428" y="1926082"/>
            <a:ext cx="3199130" cy="1855470"/>
          </a:xfrm>
          <a:prstGeom prst="rect">
            <a:avLst/>
          </a:prstGeom>
          <a:noFill/>
          <a:ln>
            <a:noFill/>
          </a:ln>
        </p:spPr>
        <p:txBody>
          <a:bodyPr spcFirstLastPara="1" wrap="square" lIns="0" tIns="13325" rIns="0" bIns="0" anchor="t" anchorCtr="0">
            <a:spAutoFit/>
          </a:bodyPr>
          <a:lstStyle/>
          <a:p>
            <a:pPr marL="12700" marR="5080" lvl="0" indent="0" algn="just" rtl="0">
              <a:lnSpc>
                <a:spcPct val="100000"/>
              </a:lnSpc>
              <a:spcBef>
                <a:spcPts val="0"/>
              </a:spcBef>
              <a:spcAft>
                <a:spcPts val="0"/>
              </a:spcAft>
              <a:buNone/>
            </a:pPr>
            <a:r>
              <a:rPr lang="en-US" sz="2000" b="1" i="1">
                <a:solidFill>
                  <a:schemeClr val="dk1"/>
                </a:solidFill>
                <a:latin typeface="Arial"/>
                <a:ea typeface="Arial"/>
                <a:cs typeface="Arial"/>
                <a:sym typeface="Arial"/>
              </a:rPr>
              <a:t>NOTE: </a:t>
            </a:r>
            <a:r>
              <a:rPr lang="en-US" sz="2000" b="1" i="1">
                <a:solidFill>
                  <a:srgbClr val="FF0000"/>
                </a:solidFill>
                <a:latin typeface="Arial"/>
                <a:ea typeface="Arial"/>
                <a:cs typeface="Arial"/>
                <a:sym typeface="Arial"/>
              </a:rPr>
              <a:t>the return statement ends  a function execution even if  it is  in the middle of function.  Anything written below return  statement will become  unreachable code.</a:t>
            </a:r>
            <a:endParaRPr sz="2000">
              <a:solidFill>
                <a:schemeClr val="dk1"/>
              </a:solidFill>
              <a:latin typeface="Arial"/>
              <a:ea typeface="Arial"/>
              <a:cs typeface="Arial"/>
              <a:sym typeface="Arial"/>
            </a:endParaRPr>
          </a:p>
        </p:txBody>
      </p:sp>
      <p:grpSp>
        <p:nvGrpSpPr>
          <p:cNvPr id="189" name="Google Shape;189;p13"/>
          <p:cNvGrpSpPr/>
          <p:nvPr/>
        </p:nvGrpSpPr>
        <p:grpSpPr>
          <a:xfrm>
            <a:off x="4329684" y="4290058"/>
            <a:ext cx="4814316" cy="2548128"/>
            <a:chOff x="4329684" y="4290058"/>
            <a:chExt cx="4814316" cy="2548128"/>
          </a:xfrm>
        </p:grpSpPr>
        <p:pic>
          <p:nvPicPr>
            <p:cNvPr id="190" name="Google Shape;190;p13"/>
            <p:cNvPicPr preferRelativeResize="0"/>
            <p:nvPr/>
          </p:nvPicPr>
          <p:blipFill rotWithShape="1">
            <a:blip r:embed="rId4">
              <a:alphaModFix/>
            </a:blip>
            <a:srcRect/>
            <a:stretch/>
          </p:blipFill>
          <p:spPr>
            <a:xfrm>
              <a:off x="4405887" y="4319008"/>
              <a:ext cx="4738113" cy="2421644"/>
            </a:xfrm>
            <a:prstGeom prst="rect">
              <a:avLst/>
            </a:prstGeom>
            <a:noFill/>
            <a:ln>
              <a:noFill/>
            </a:ln>
          </p:spPr>
        </p:pic>
        <p:pic>
          <p:nvPicPr>
            <p:cNvPr id="191" name="Google Shape;191;p13"/>
            <p:cNvPicPr preferRelativeResize="0"/>
            <p:nvPr/>
          </p:nvPicPr>
          <p:blipFill rotWithShape="1">
            <a:blip r:embed="rId5">
              <a:alphaModFix/>
            </a:blip>
            <a:srcRect/>
            <a:stretch/>
          </p:blipFill>
          <p:spPr>
            <a:xfrm>
              <a:off x="4329684" y="4290058"/>
              <a:ext cx="4791456" cy="2548128"/>
            </a:xfrm>
            <a:prstGeom prst="rect">
              <a:avLst/>
            </a:prstGeom>
            <a:noFill/>
            <a:ln>
              <a:noFill/>
            </a:ln>
          </p:spPr>
        </p:pic>
        <p:sp>
          <p:nvSpPr>
            <p:cNvPr id="192" name="Google Shape;192;p13"/>
            <p:cNvSpPr/>
            <p:nvPr/>
          </p:nvSpPr>
          <p:spPr>
            <a:xfrm>
              <a:off x="4460875" y="4343374"/>
              <a:ext cx="4650105" cy="2308860"/>
            </a:xfrm>
            <a:custGeom>
              <a:avLst/>
              <a:gdLst/>
              <a:ahLst/>
              <a:cxnLst/>
              <a:rect l="l" t="t" r="r" b="b"/>
              <a:pathLst>
                <a:path w="4650105" h="2308859" extrusionOk="0">
                  <a:moveTo>
                    <a:pt x="4649724" y="0"/>
                  </a:moveTo>
                  <a:lnTo>
                    <a:pt x="0" y="0"/>
                  </a:lnTo>
                  <a:lnTo>
                    <a:pt x="0" y="2308351"/>
                  </a:lnTo>
                  <a:lnTo>
                    <a:pt x="4649724" y="2308351"/>
                  </a:lnTo>
                  <a:lnTo>
                    <a:pt x="4649724"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3" name="Google Shape;193;p13"/>
            <p:cNvSpPr/>
            <p:nvPr/>
          </p:nvSpPr>
          <p:spPr>
            <a:xfrm>
              <a:off x="4437126" y="4319523"/>
              <a:ext cx="4697730" cy="2356485"/>
            </a:xfrm>
            <a:custGeom>
              <a:avLst/>
              <a:gdLst/>
              <a:ahLst/>
              <a:cxnLst/>
              <a:rect l="l" t="t" r="r" b="b"/>
              <a:pathLst>
                <a:path w="4697730" h="2356484" extrusionOk="0">
                  <a:moveTo>
                    <a:pt x="4673473" y="0"/>
                  </a:moveTo>
                  <a:lnTo>
                    <a:pt x="23749" y="0"/>
                  </a:lnTo>
                  <a:lnTo>
                    <a:pt x="14519" y="1873"/>
                  </a:lnTo>
                  <a:lnTo>
                    <a:pt x="6969" y="6984"/>
                  </a:lnTo>
                  <a:lnTo>
                    <a:pt x="1871" y="14573"/>
                  </a:lnTo>
                  <a:lnTo>
                    <a:pt x="0" y="23875"/>
                  </a:lnTo>
                  <a:lnTo>
                    <a:pt x="0" y="2332202"/>
                  </a:lnTo>
                  <a:lnTo>
                    <a:pt x="1871" y="2341468"/>
                  </a:lnTo>
                  <a:lnTo>
                    <a:pt x="6969" y="2349038"/>
                  </a:lnTo>
                  <a:lnTo>
                    <a:pt x="14519" y="2354142"/>
                  </a:lnTo>
                  <a:lnTo>
                    <a:pt x="23749" y="2356015"/>
                  </a:lnTo>
                  <a:lnTo>
                    <a:pt x="4673473" y="2356015"/>
                  </a:lnTo>
                  <a:lnTo>
                    <a:pt x="4682775" y="2354142"/>
                  </a:lnTo>
                  <a:lnTo>
                    <a:pt x="4690364" y="2349038"/>
                  </a:lnTo>
                  <a:lnTo>
                    <a:pt x="4695475" y="2341468"/>
                  </a:lnTo>
                  <a:lnTo>
                    <a:pt x="4695744" y="2340140"/>
                  </a:lnTo>
                  <a:lnTo>
                    <a:pt x="19431" y="2340140"/>
                  </a:lnTo>
                  <a:lnTo>
                    <a:pt x="15875" y="2336584"/>
                  </a:lnTo>
                  <a:lnTo>
                    <a:pt x="15875" y="19430"/>
                  </a:lnTo>
                  <a:lnTo>
                    <a:pt x="19431" y="15874"/>
                  </a:lnTo>
                  <a:lnTo>
                    <a:pt x="4695737" y="15874"/>
                  </a:lnTo>
                  <a:lnTo>
                    <a:pt x="4695475" y="14573"/>
                  </a:lnTo>
                  <a:lnTo>
                    <a:pt x="4690364" y="6984"/>
                  </a:lnTo>
                  <a:lnTo>
                    <a:pt x="4682775" y="1873"/>
                  </a:lnTo>
                  <a:lnTo>
                    <a:pt x="4673473" y="0"/>
                  </a:lnTo>
                  <a:close/>
                </a:path>
                <a:path w="4697730" h="2356484" extrusionOk="0">
                  <a:moveTo>
                    <a:pt x="4695737" y="15874"/>
                  </a:moveTo>
                  <a:lnTo>
                    <a:pt x="4677918" y="15874"/>
                  </a:lnTo>
                  <a:lnTo>
                    <a:pt x="4681474" y="19431"/>
                  </a:lnTo>
                  <a:lnTo>
                    <a:pt x="4681474" y="2336584"/>
                  </a:lnTo>
                  <a:lnTo>
                    <a:pt x="4677918" y="2340140"/>
                  </a:lnTo>
                  <a:lnTo>
                    <a:pt x="4695744" y="2340140"/>
                  </a:lnTo>
                  <a:lnTo>
                    <a:pt x="4697349" y="2332202"/>
                  </a:lnTo>
                  <a:lnTo>
                    <a:pt x="4697349" y="23875"/>
                  </a:lnTo>
                  <a:lnTo>
                    <a:pt x="4695737" y="15874"/>
                  </a:lnTo>
                  <a:close/>
                </a:path>
                <a:path w="4697730" h="2356484" extrusionOk="0">
                  <a:moveTo>
                    <a:pt x="4665599" y="31749"/>
                  </a:moveTo>
                  <a:lnTo>
                    <a:pt x="31750" y="31750"/>
                  </a:lnTo>
                  <a:lnTo>
                    <a:pt x="31750" y="2324265"/>
                  </a:lnTo>
                  <a:lnTo>
                    <a:pt x="4665599" y="2324265"/>
                  </a:lnTo>
                  <a:lnTo>
                    <a:pt x="4665599" y="2308390"/>
                  </a:lnTo>
                  <a:lnTo>
                    <a:pt x="47625" y="2308390"/>
                  </a:lnTo>
                  <a:lnTo>
                    <a:pt x="47625" y="47624"/>
                  </a:lnTo>
                  <a:lnTo>
                    <a:pt x="4665599" y="47624"/>
                  </a:lnTo>
                  <a:lnTo>
                    <a:pt x="4665599" y="31749"/>
                  </a:lnTo>
                  <a:close/>
                </a:path>
                <a:path w="4697730" h="2356484" extrusionOk="0">
                  <a:moveTo>
                    <a:pt x="4665599" y="47624"/>
                  </a:moveTo>
                  <a:lnTo>
                    <a:pt x="4649724" y="47625"/>
                  </a:lnTo>
                  <a:lnTo>
                    <a:pt x="4649724" y="2308390"/>
                  </a:lnTo>
                  <a:lnTo>
                    <a:pt x="4665599" y="2308390"/>
                  </a:lnTo>
                  <a:lnTo>
                    <a:pt x="4665599" y="47624"/>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94" name="Google Shape;194;p13"/>
          <p:cNvSpPr txBox="1"/>
          <p:nvPr/>
        </p:nvSpPr>
        <p:spPr>
          <a:xfrm>
            <a:off x="4540377" y="4360545"/>
            <a:ext cx="2844800" cy="1854835"/>
          </a:xfrm>
          <a:prstGeom prst="rect">
            <a:avLst/>
          </a:prstGeom>
          <a:noFill/>
          <a:ln>
            <a:noFill/>
          </a:ln>
        </p:spPr>
        <p:txBody>
          <a:bodyPr spcFirstLastPara="1" wrap="square" lIns="0" tIns="12700" rIns="0" bIns="0" anchor="t" anchorCtr="0">
            <a:spAutoFit/>
          </a:bodyPr>
          <a:lstStyle/>
          <a:p>
            <a:pPr marL="0" marR="1079500" lvl="0" indent="0" algn="r" rtl="0">
              <a:lnSpc>
                <a:spcPct val="100000"/>
              </a:lnSpc>
              <a:spcBef>
                <a:spcPts val="0"/>
              </a:spcBef>
              <a:spcAft>
                <a:spcPts val="0"/>
              </a:spcAft>
              <a:buNone/>
            </a:pPr>
            <a:r>
              <a:rPr lang="en-US" sz="2400" b="1">
                <a:solidFill>
                  <a:srgbClr val="FFFFFF"/>
                </a:solidFill>
                <a:latin typeface="Arial"/>
                <a:ea typeface="Arial"/>
                <a:cs typeface="Arial"/>
                <a:sym typeface="Arial"/>
              </a:rPr>
              <a:t>def max(x,y):</a:t>
            </a:r>
            <a:endParaRPr sz="2400">
              <a:solidFill>
                <a:schemeClr val="dk1"/>
              </a:solidFill>
              <a:latin typeface="Arial"/>
              <a:ea typeface="Arial"/>
              <a:cs typeface="Arial"/>
              <a:sym typeface="Arial"/>
            </a:endParaRPr>
          </a:p>
          <a:p>
            <a:pPr marL="0" marR="1026794" lvl="0" indent="0" algn="r" rtl="0">
              <a:lnSpc>
                <a:spcPct val="100000"/>
              </a:lnSpc>
              <a:spcBef>
                <a:spcPts val="0"/>
              </a:spcBef>
              <a:spcAft>
                <a:spcPts val="0"/>
              </a:spcAft>
              <a:buNone/>
            </a:pPr>
            <a:r>
              <a:rPr lang="en-US" sz="2400" b="1">
                <a:solidFill>
                  <a:srgbClr val="FFFFFF"/>
                </a:solidFill>
                <a:latin typeface="Arial"/>
                <a:ea typeface="Arial"/>
                <a:cs typeface="Arial"/>
                <a:sym typeface="Arial"/>
              </a:rPr>
              <a:t>if x&gt;y:</a:t>
            </a:r>
            <a:endParaRPr sz="2400">
              <a:solidFill>
                <a:schemeClr val="dk1"/>
              </a:solidFill>
              <a:latin typeface="Arial"/>
              <a:ea typeface="Arial"/>
              <a:cs typeface="Arial"/>
              <a:sym typeface="Arial"/>
            </a:endParaRPr>
          </a:p>
          <a:p>
            <a:pPr marL="1841500" marR="0" lvl="0" indent="0" algn="l" rtl="0">
              <a:lnSpc>
                <a:spcPct val="100000"/>
              </a:lnSpc>
              <a:spcBef>
                <a:spcPts val="0"/>
              </a:spcBef>
              <a:spcAft>
                <a:spcPts val="0"/>
              </a:spcAft>
              <a:buNone/>
            </a:pPr>
            <a:r>
              <a:rPr lang="en-US" sz="2400" b="1">
                <a:solidFill>
                  <a:srgbClr val="FFFFFF"/>
                </a:solidFill>
                <a:latin typeface="Arial"/>
                <a:ea typeface="Arial"/>
                <a:cs typeface="Arial"/>
                <a:sym typeface="Arial"/>
              </a:rPr>
              <a:t>return x</a:t>
            </a:r>
            <a:endParaRPr sz="2400">
              <a:solidFill>
                <a:schemeClr val="dk1"/>
              </a:solidFill>
              <a:latin typeface="Arial"/>
              <a:ea typeface="Arial"/>
              <a:cs typeface="Arial"/>
              <a:sym typeface="Arial"/>
            </a:endParaRPr>
          </a:p>
          <a:p>
            <a:pPr marL="927100" marR="0" lvl="0" indent="0" algn="l" rtl="0">
              <a:lnSpc>
                <a:spcPct val="100000"/>
              </a:lnSpc>
              <a:spcBef>
                <a:spcPts val="0"/>
              </a:spcBef>
              <a:spcAft>
                <a:spcPts val="0"/>
              </a:spcAft>
              <a:buNone/>
            </a:pPr>
            <a:r>
              <a:rPr lang="en-US" sz="2400" b="1">
                <a:solidFill>
                  <a:srgbClr val="FFFFFF"/>
                </a:solidFill>
                <a:latin typeface="Arial"/>
                <a:ea typeface="Arial"/>
                <a:cs typeface="Arial"/>
                <a:sym typeface="Arial"/>
              </a:rPr>
              <a:t>else:</a:t>
            </a:r>
            <a:endParaRPr sz="2400">
              <a:solidFill>
                <a:schemeClr val="dk1"/>
              </a:solidFill>
              <a:latin typeface="Arial"/>
              <a:ea typeface="Arial"/>
              <a:cs typeface="Arial"/>
              <a:sym typeface="Arial"/>
            </a:endParaRPr>
          </a:p>
          <a:p>
            <a:pPr marL="1841500" marR="0" lvl="0" indent="0" algn="l" rtl="0">
              <a:lnSpc>
                <a:spcPct val="100000"/>
              </a:lnSpc>
              <a:spcBef>
                <a:spcPts val="0"/>
              </a:spcBef>
              <a:spcAft>
                <a:spcPts val="0"/>
              </a:spcAft>
              <a:buNone/>
            </a:pPr>
            <a:r>
              <a:rPr lang="en-US" sz="2400" b="1">
                <a:solidFill>
                  <a:srgbClr val="FFFFFF"/>
                </a:solidFill>
                <a:latin typeface="Arial"/>
                <a:ea typeface="Arial"/>
                <a:cs typeface="Arial"/>
                <a:sym typeface="Arial"/>
              </a:rPr>
              <a:t>return y</a:t>
            </a:r>
            <a:endParaRPr sz="2400">
              <a:solidFill>
                <a:schemeClr val="dk1"/>
              </a:solidFill>
              <a:latin typeface="Arial"/>
              <a:ea typeface="Arial"/>
              <a:cs typeface="Arial"/>
              <a:sym typeface="Arial"/>
            </a:endParaRPr>
          </a:p>
        </p:txBody>
      </p:sp>
      <p:sp>
        <p:nvSpPr>
          <p:cNvPr id="195" name="Google Shape;195;p13"/>
          <p:cNvSpPr txBox="1"/>
          <p:nvPr/>
        </p:nvSpPr>
        <p:spPr>
          <a:xfrm>
            <a:off x="5455158" y="6233579"/>
            <a:ext cx="3375025" cy="357505"/>
          </a:xfrm>
          <a:prstGeom prst="rect">
            <a:avLst/>
          </a:prstGeom>
          <a:noFill/>
          <a:ln>
            <a:noFill/>
          </a:ln>
        </p:spPr>
        <p:txBody>
          <a:bodyPr spcFirstLastPara="1" wrap="square" lIns="0" tIns="0" rIns="0" bIns="0" anchor="t" anchorCtr="0">
            <a:spAutoFit/>
          </a:bodyPr>
          <a:lstStyle/>
          <a:p>
            <a:pPr marL="12700" marR="0" lvl="0" indent="0" algn="l" rtl="0">
              <a:lnSpc>
                <a:spcPct val="109791"/>
              </a:lnSpc>
              <a:spcBef>
                <a:spcPts val="0"/>
              </a:spcBef>
              <a:spcAft>
                <a:spcPts val="0"/>
              </a:spcAft>
              <a:buNone/>
            </a:pPr>
            <a:r>
              <a:rPr lang="en-US" sz="2400" b="1">
                <a:solidFill>
                  <a:srgbClr val="FF0000"/>
                </a:solidFill>
                <a:latin typeface="Arial"/>
                <a:ea typeface="Arial"/>
                <a:cs typeface="Arial"/>
                <a:sym typeface="Arial"/>
              </a:rPr>
              <a:t>print(“Iam not reachable”)</a:t>
            </a:r>
            <a:endParaRPr sz="2400">
              <a:solidFill>
                <a:schemeClr val="dk1"/>
              </a:solidFill>
              <a:latin typeface="Arial"/>
              <a:ea typeface="Arial"/>
              <a:cs typeface="Arial"/>
              <a:sym typeface="Arial"/>
            </a:endParaRPr>
          </a:p>
        </p:txBody>
      </p:sp>
      <p:sp>
        <p:nvSpPr>
          <p:cNvPr id="196" name="Google Shape;196;p13"/>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197" name="Google Shape;197;p13"/>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4"/>
          <p:cNvSpPr txBox="1">
            <a:spLocks noGrp="1"/>
          </p:cNvSpPr>
          <p:nvPr>
            <p:ph type="title"/>
          </p:nvPr>
        </p:nvSpPr>
        <p:spPr>
          <a:xfrm>
            <a:off x="76200" y="76200"/>
            <a:ext cx="607949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Function not returning value</a:t>
            </a:r>
            <a:endParaRPr sz="4400"/>
          </a:p>
        </p:txBody>
      </p:sp>
      <p:sp>
        <p:nvSpPr>
          <p:cNvPr id="203" name="Google Shape;203;p14"/>
          <p:cNvSpPr txBox="1"/>
          <p:nvPr/>
        </p:nvSpPr>
        <p:spPr>
          <a:xfrm>
            <a:off x="691387" y="1616709"/>
            <a:ext cx="7877175" cy="1489075"/>
          </a:xfrm>
          <a:prstGeom prst="rect">
            <a:avLst/>
          </a:prstGeom>
          <a:noFill/>
          <a:ln>
            <a:noFill/>
          </a:ln>
        </p:spPr>
        <p:txBody>
          <a:bodyPr spcFirstLastPara="1" wrap="square" lIns="0" tIns="12700" rIns="0" bIns="0" anchor="t" anchorCtr="0">
            <a:spAutoFit/>
          </a:bodyPr>
          <a:lstStyle/>
          <a:p>
            <a:pPr marL="332740" marR="5080" lvl="0" indent="-320675" algn="l" rtl="0">
              <a:lnSpc>
                <a:spcPct val="100000"/>
              </a:lnSpc>
              <a:spcBef>
                <a:spcPts val="0"/>
              </a:spcBef>
              <a:spcAft>
                <a:spcPts val="0"/>
              </a:spcAft>
              <a:buClr>
                <a:srgbClr val="DD8046"/>
              </a:buClr>
              <a:buSzPts val="1450"/>
              <a:buFont typeface="Noto Sans Symbols"/>
              <a:buChar char="◻"/>
            </a:pPr>
            <a:r>
              <a:rPr lang="en-US" sz="2400">
                <a:solidFill>
                  <a:schemeClr val="dk1"/>
                </a:solidFill>
                <a:latin typeface="Helvetica Neue"/>
                <a:ea typeface="Helvetica Neue"/>
                <a:cs typeface="Helvetica Neue"/>
                <a:sym typeface="Helvetica Neue"/>
              </a:rPr>
              <a:t>Function may or may not return a value. Non returning function  is also known as VOID function. It may or may not contain  return. If it contain return statement then it will be in the form  of:</a:t>
            </a:r>
            <a:endParaRPr sz="2400">
              <a:solidFill>
                <a:schemeClr val="dk1"/>
              </a:solidFill>
              <a:latin typeface="Helvetica Neue"/>
              <a:ea typeface="Helvetica Neue"/>
              <a:cs typeface="Helvetica Neue"/>
              <a:sym typeface="Helvetica Neue"/>
            </a:endParaRPr>
          </a:p>
        </p:txBody>
      </p:sp>
      <p:sp>
        <p:nvSpPr>
          <p:cNvPr id="204" name="Google Shape;204;p14"/>
          <p:cNvSpPr txBox="1"/>
          <p:nvPr/>
        </p:nvSpPr>
        <p:spPr>
          <a:xfrm>
            <a:off x="1057452" y="3156330"/>
            <a:ext cx="1049020"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650">
                <a:solidFill>
                  <a:srgbClr val="93B6D2"/>
                </a:solidFill>
                <a:latin typeface="Helvetica Neue"/>
                <a:ea typeface="Helvetica Neue"/>
                <a:cs typeface="Helvetica Neue"/>
                <a:sym typeface="Helvetica Neue"/>
              </a:rPr>
              <a:t>🞑 </a:t>
            </a:r>
            <a:r>
              <a:rPr lang="en-US" sz="2400" b="1">
                <a:solidFill>
                  <a:srgbClr val="FF0000"/>
                </a:solidFill>
                <a:latin typeface="Arial"/>
                <a:ea typeface="Arial"/>
                <a:cs typeface="Arial"/>
                <a:sym typeface="Arial"/>
              </a:rPr>
              <a:t>return</a:t>
            </a:r>
            <a:endParaRPr sz="2400">
              <a:solidFill>
                <a:schemeClr val="dk1"/>
              </a:solidFill>
              <a:latin typeface="Arial"/>
              <a:ea typeface="Arial"/>
              <a:cs typeface="Arial"/>
              <a:sym typeface="Arial"/>
            </a:endParaRPr>
          </a:p>
        </p:txBody>
      </p:sp>
      <p:sp>
        <p:nvSpPr>
          <p:cNvPr id="205" name="Google Shape;205;p14"/>
          <p:cNvSpPr txBox="1"/>
          <p:nvPr/>
        </p:nvSpPr>
        <p:spPr>
          <a:xfrm>
            <a:off x="2520442" y="3206623"/>
            <a:ext cx="2247265" cy="33083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000">
                <a:solidFill>
                  <a:schemeClr val="dk1"/>
                </a:solidFill>
                <a:latin typeface="Helvetica Neue"/>
                <a:ea typeface="Helvetica Neue"/>
                <a:cs typeface="Helvetica Neue"/>
                <a:sym typeface="Helvetica Neue"/>
              </a:rPr>
              <a:t>[no value after return]</a:t>
            </a:r>
            <a:endParaRPr sz="2000">
              <a:solidFill>
                <a:schemeClr val="dk1"/>
              </a:solidFill>
              <a:latin typeface="Helvetica Neue"/>
              <a:ea typeface="Helvetica Neue"/>
              <a:cs typeface="Helvetica Neue"/>
              <a:sym typeface="Helvetica Neue"/>
            </a:endParaRPr>
          </a:p>
        </p:txBody>
      </p:sp>
      <p:pic>
        <p:nvPicPr>
          <p:cNvPr id="206" name="Google Shape;206;p14"/>
          <p:cNvPicPr preferRelativeResize="0"/>
          <p:nvPr/>
        </p:nvPicPr>
        <p:blipFill rotWithShape="1">
          <a:blip r:embed="rId3">
            <a:alphaModFix/>
          </a:blip>
          <a:srcRect/>
          <a:stretch/>
        </p:blipFill>
        <p:spPr>
          <a:xfrm>
            <a:off x="250697" y="3619500"/>
            <a:ext cx="4245102" cy="1638300"/>
          </a:xfrm>
          <a:prstGeom prst="rect">
            <a:avLst/>
          </a:prstGeom>
          <a:noFill/>
          <a:ln>
            <a:noFill/>
          </a:ln>
        </p:spPr>
      </p:pic>
      <p:pic>
        <p:nvPicPr>
          <p:cNvPr id="207" name="Google Shape;207;p14"/>
          <p:cNvPicPr preferRelativeResize="0"/>
          <p:nvPr/>
        </p:nvPicPr>
        <p:blipFill rotWithShape="1">
          <a:blip r:embed="rId4">
            <a:alphaModFix/>
          </a:blip>
          <a:srcRect/>
          <a:stretch/>
        </p:blipFill>
        <p:spPr>
          <a:xfrm>
            <a:off x="245503" y="5400675"/>
            <a:ext cx="2489027" cy="838200"/>
          </a:xfrm>
          <a:prstGeom prst="rect">
            <a:avLst/>
          </a:prstGeom>
          <a:noFill/>
          <a:ln>
            <a:noFill/>
          </a:ln>
        </p:spPr>
      </p:pic>
      <p:pic>
        <p:nvPicPr>
          <p:cNvPr id="208" name="Google Shape;208;p14"/>
          <p:cNvPicPr preferRelativeResize="0"/>
          <p:nvPr/>
        </p:nvPicPr>
        <p:blipFill rotWithShape="1">
          <a:blip r:embed="rId5">
            <a:alphaModFix/>
          </a:blip>
          <a:srcRect/>
          <a:stretch/>
        </p:blipFill>
        <p:spPr>
          <a:xfrm>
            <a:off x="4572000" y="3633851"/>
            <a:ext cx="4438650" cy="1623949"/>
          </a:xfrm>
          <a:prstGeom prst="rect">
            <a:avLst/>
          </a:prstGeom>
          <a:noFill/>
          <a:ln>
            <a:noFill/>
          </a:ln>
        </p:spPr>
      </p:pic>
      <p:pic>
        <p:nvPicPr>
          <p:cNvPr id="209" name="Google Shape;209;p14"/>
          <p:cNvPicPr preferRelativeResize="0"/>
          <p:nvPr/>
        </p:nvPicPr>
        <p:blipFill rotWithShape="1">
          <a:blip r:embed="rId6">
            <a:alphaModFix/>
          </a:blip>
          <a:srcRect/>
          <a:stretch/>
        </p:blipFill>
        <p:spPr>
          <a:xfrm>
            <a:off x="4523485" y="5383174"/>
            <a:ext cx="2438400" cy="855700"/>
          </a:xfrm>
          <a:prstGeom prst="rect">
            <a:avLst/>
          </a:prstGeom>
          <a:noFill/>
          <a:ln>
            <a:noFill/>
          </a:ln>
        </p:spPr>
      </p:pic>
      <p:sp>
        <p:nvSpPr>
          <p:cNvPr id="210" name="Google Shape;210;p14"/>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211" name="Google Shape;211;p14"/>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5"/>
          <p:cNvSpPr txBox="1">
            <a:spLocks noGrp="1"/>
          </p:cNvSpPr>
          <p:nvPr>
            <p:ph type="title"/>
          </p:nvPr>
        </p:nvSpPr>
        <p:spPr>
          <a:xfrm>
            <a:off x="-533400" y="217587"/>
            <a:ext cx="8217535" cy="504625"/>
          </a:xfrm>
          <a:prstGeom prst="rect">
            <a:avLst/>
          </a:prstGeom>
          <a:noFill/>
          <a:ln>
            <a:noFill/>
          </a:ln>
        </p:spPr>
        <p:txBody>
          <a:bodyPr spcFirstLastPara="1" wrap="square" lIns="0" tIns="12050" rIns="0" bIns="0" anchor="ctr" anchorCtr="0">
            <a:spAutoFit/>
          </a:bodyPr>
          <a:lstStyle/>
          <a:p>
            <a:pPr marL="12700" lvl="0" indent="0" algn="ctr" rtl="0">
              <a:lnSpc>
                <a:spcPct val="100000"/>
              </a:lnSpc>
              <a:spcBef>
                <a:spcPts val="0"/>
              </a:spcBef>
              <a:spcAft>
                <a:spcPts val="0"/>
              </a:spcAft>
              <a:buNone/>
            </a:pPr>
            <a:r>
              <a:rPr lang="en-US" sz="3200"/>
              <a:t>Parameters and Arguments in Function</a:t>
            </a:r>
            <a:endParaRPr sz="3200"/>
          </a:p>
        </p:txBody>
      </p:sp>
      <p:sp>
        <p:nvSpPr>
          <p:cNvPr id="217" name="Google Shape;217;p15"/>
          <p:cNvSpPr txBox="1">
            <a:spLocks noGrp="1"/>
          </p:cNvSpPr>
          <p:nvPr>
            <p:ph type="body" idx="1"/>
          </p:nvPr>
        </p:nvSpPr>
        <p:spPr>
          <a:xfrm>
            <a:off x="457200" y="1371600"/>
            <a:ext cx="8229600" cy="2455609"/>
          </a:xfrm>
          <a:prstGeom prst="rect">
            <a:avLst/>
          </a:prstGeom>
          <a:noFill/>
          <a:ln>
            <a:noFill/>
          </a:ln>
        </p:spPr>
        <p:txBody>
          <a:bodyPr spcFirstLastPara="1" wrap="square" lIns="0" tIns="88250" rIns="0" bIns="0" anchor="t" anchorCtr="0">
            <a:spAutoFit/>
          </a:bodyPr>
          <a:lstStyle/>
          <a:p>
            <a:pPr marL="332740" marR="8890" lvl="0" indent="-320675" algn="just" rtl="0">
              <a:lnSpc>
                <a:spcPct val="80000"/>
              </a:lnSpc>
              <a:spcBef>
                <a:spcPts val="0"/>
              </a:spcBef>
              <a:spcAft>
                <a:spcPts val="0"/>
              </a:spcAft>
              <a:buClr>
                <a:srgbClr val="DD8046"/>
              </a:buClr>
              <a:buSzPts val="1440"/>
              <a:buFont typeface="Noto Sans Symbols"/>
              <a:buChar char="◻"/>
            </a:pPr>
            <a:r>
              <a:rPr lang="en-US" sz="2400"/>
              <a:t>Parameters are the value(s) provided in the parenthesis  when we write function header. These are the values  required by function to work</a:t>
            </a:r>
            <a:endParaRPr/>
          </a:p>
          <a:p>
            <a:pPr marL="332740" marR="6985" lvl="0" indent="-320675" algn="just" rtl="0">
              <a:lnSpc>
                <a:spcPct val="100000"/>
              </a:lnSpc>
              <a:spcBef>
                <a:spcPts val="675"/>
              </a:spcBef>
              <a:spcAft>
                <a:spcPts val="0"/>
              </a:spcAft>
              <a:buClr>
                <a:srgbClr val="DD8046"/>
              </a:buClr>
              <a:buSzPts val="1440"/>
              <a:buFont typeface="Noto Sans Symbols"/>
              <a:buChar char="◻"/>
            </a:pPr>
            <a:r>
              <a:rPr lang="en-US" sz="2400"/>
              <a:t>If there are more than one parameter, it must be separated  by comma(,)</a:t>
            </a:r>
            <a:endParaRPr/>
          </a:p>
          <a:p>
            <a:pPr marL="332740" marR="5080" lvl="0" indent="-320675" algn="just" rtl="0">
              <a:lnSpc>
                <a:spcPct val="80000"/>
              </a:lnSpc>
              <a:spcBef>
                <a:spcPts val="730"/>
              </a:spcBef>
              <a:spcAft>
                <a:spcPts val="0"/>
              </a:spcAft>
              <a:buClr>
                <a:srgbClr val="DD8046"/>
              </a:buClr>
              <a:buSzPts val="1440"/>
              <a:buFont typeface="Noto Sans Symbols"/>
              <a:buChar char="◻"/>
            </a:pPr>
            <a:r>
              <a:rPr lang="en-US" sz="2400"/>
              <a:t>An Argument is a value that is passed to the function when it  is called. In other words arguments are the value(s) provided  in function call/invoke statement</a:t>
            </a:r>
            <a:endParaRPr/>
          </a:p>
          <a:p>
            <a:pPr marL="332740" marR="8255" lvl="0" indent="-320675" algn="just" rtl="0">
              <a:lnSpc>
                <a:spcPct val="100000"/>
              </a:lnSpc>
              <a:spcBef>
                <a:spcPts val="675"/>
              </a:spcBef>
              <a:spcAft>
                <a:spcPts val="0"/>
              </a:spcAft>
              <a:buClr>
                <a:srgbClr val="DD8046"/>
              </a:buClr>
              <a:buSzPts val="1440"/>
              <a:buFont typeface="Noto Sans Symbols"/>
              <a:buChar char="◻"/>
            </a:pPr>
            <a:r>
              <a:rPr lang="en-US" sz="2400"/>
              <a:t>Parameter is also known as FORMAL  ARGUMENTS/PARAMETERS</a:t>
            </a:r>
            <a:endParaRPr/>
          </a:p>
        </p:txBody>
      </p:sp>
      <p:sp>
        <p:nvSpPr>
          <p:cNvPr id="218" name="Google Shape;218;p15"/>
          <p:cNvSpPr txBox="1"/>
          <p:nvPr/>
        </p:nvSpPr>
        <p:spPr>
          <a:xfrm>
            <a:off x="7642097" y="4948885"/>
            <a:ext cx="1043305" cy="40640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500">
                <a:solidFill>
                  <a:schemeClr val="dk1"/>
                </a:solidFill>
                <a:latin typeface="Helvetica Neue"/>
                <a:ea typeface="Helvetica Neue"/>
                <a:cs typeface="Helvetica Neue"/>
                <a:sym typeface="Helvetica Neue"/>
              </a:rPr>
              <a:t>ACTUAL</a:t>
            </a:r>
            <a:endParaRPr sz="2500">
              <a:solidFill>
                <a:schemeClr val="dk1"/>
              </a:solidFill>
              <a:latin typeface="Helvetica Neue"/>
              <a:ea typeface="Helvetica Neue"/>
              <a:cs typeface="Helvetica Neue"/>
              <a:sym typeface="Helvetica Neue"/>
            </a:endParaRPr>
          </a:p>
        </p:txBody>
      </p:sp>
      <p:sp>
        <p:nvSpPr>
          <p:cNvPr id="219" name="Google Shape;219;p15"/>
          <p:cNvSpPr txBox="1"/>
          <p:nvPr/>
        </p:nvSpPr>
        <p:spPr>
          <a:xfrm>
            <a:off x="691387" y="4948885"/>
            <a:ext cx="6838950" cy="1106170"/>
          </a:xfrm>
          <a:prstGeom prst="rect">
            <a:avLst/>
          </a:prstGeom>
          <a:noFill/>
          <a:ln>
            <a:noFill/>
          </a:ln>
        </p:spPr>
        <p:txBody>
          <a:bodyPr spcFirstLastPara="1" wrap="square" lIns="0" tIns="85725" rIns="0" bIns="0" anchor="t" anchorCtr="0">
            <a:spAutoFit/>
          </a:bodyPr>
          <a:lstStyle/>
          <a:p>
            <a:pPr marL="332740" marR="581025" lvl="0" indent="-320675" algn="l" rtl="0">
              <a:lnSpc>
                <a:spcPct val="96000"/>
              </a:lnSpc>
              <a:spcBef>
                <a:spcPts val="0"/>
              </a:spcBef>
              <a:spcAft>
                <a:spcPts val="0"/>
              </a:spcAft>
              <a:buClr>
                <a:srgbClr val="DD8046"/>
              </a:buClr>
              <a:buSzPts val="1500"/>
              <a:buFont typeface="Noto Sans Symbols"/>
              <a:buChar char="◻"/>
            </a:pPr>
            <a:r>
              <a:rPr lang="en-US" sz="2500">
                <a:solidFill>
                  <a:schemeClr val="dk1"/>
                </a:solidFill>
                <a:latin typeface="Helvetica Neue"/>
                <a:ea typeface="Helvetica Neue"/>
                <a:cs typeface="Helvetica Neue"/>
                <a:sym typeface="Helvetica Neue"/>
              </a:rPr>
              <a:t>Arguments	is	also	known	as  ARGUMENTS/PARAMETER</a:t>
            </a:r>
            <a:endParaRPr sz="2500">
              <a:solidFill>
                <a:schemeClr val="dk1"/>
              </a:solidFill>
              <a:latin typeface="Helvetica Neue"/>
              <a:ea typeface="Helvetica Neue"/>
              <a:cs typeface="Helvetica Neue"/>
              <a:sym typeface="Helvetica Neue"/>
            </a:endParaRPr>
          </a:p>
          <a:p>
            <a:pPr marL="332740" marR="0" lvl="0" indent="-320675" algn="l" rtl="0">
              <a:lnSpc>
                <a:spcPct val="100000"/>
              </a:lnSpc>
              <a:spcBef>
                <a:spcPts val="130"/>
              </a:spcBef>
              <a:spcAft>
                <a:spcPts val="0"/>
              </a:spcAft>
              <a:buClr>
                <a:srgbClr val="DD8046"/>
              </a:buClr>
              <a:buSzPts val="1500"/>
              <a:buFont typeface="Noto Sans Symbols"/>
              <a:buChar char="◻"/>
            </a:pPr>
            <a:r>
              <a:rPr lang="en-US" sz="2500">
                <a:solidFill>
                  <a:schemeClr val="dk1"/>
                </a:solidFill>
                <a:latin typeface="Helvetica Neue"/>
                <a:ea typeface="Helvetica Neue"/>
                <a:cs typeface="Helvetica Neue"/>
                <a:sym typeface="Helvetica Neue"/>
              </a:rPr>
              <a:t>Note: Function can alter only MUTABLE TYPE values.</a:t>
            </a:r>
            <a:endParaRPr sz="2500">
              <a:solidFill>
                <a:schemeClr val="dk1"/>
              </a:solidFill>
              <a:latin typeface="Helvetica Neue"/>
              <a:ea typeface="Helvetica Neue"/>
              <a:cs typeface="Helvetica Neue"/>
              <a:sym typeface="Helvetica Neue"/>
            </a:endParaRPr>
          </a:p>
        </p:txBody>
      </p:sp>
      <p:sp>
        <p:nvSpPr>
          <p:cNvPr id="220" name="Google Shape;220;p15"/>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221" name="Google Shape;221;p15"/>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6"/>
          <p:cNvSpPr txBox="1">
            <a:spLocks noGrp="1"/>
          </p:cNvSpPr>
          <p:nvPr>
            <p:ph type="title"/>
          </p:nvPr>
        </p:nvSpPr>
        <p:spPr>
          <a:xfrm>
            <a:off x="-93979" y="-28634"/>
            <a:ext cx="7617459" cy="997068"/>
          </a:xfrm>
          <a:prstGeom prst="rect">
            <a:avLst/>
          </a:prstGeom>
          <a:noFill/>
          <a:ln>
            <a:noFill/>
          </a:ln>
        </p:spPr>
        <p:txBody>
          <a:bodyPr spcFirstLastPara="1" wrap="square" lIns="0" tIns="12050" rIns="0" bIns="0" anchor="ctr" anchorCtr="0">
            <a:spAutoFit/>
          </a:bodyPr>
          <a:lstStyle/>
          <a:p>
            <a:pPr marL="12700" lvl="0" indent="0" algn="ctr" rtl="0">
              <a:lnSpc>
                <a:spcPct val="100000"/>
              </a:lnSpc>
              <a:spcBef>
                <a:spcPts val="0"/>
              </a:spcBef>
              <a:spcAft>
                <a:spcPts val="0"/>
              </a:spcAft>
              <a:buNone/>
            </a:pPr>
            <a:r>
              <a:rPr lang="en-US" sz="3200"/>
              <a:t>Example of Formal/Actual </a:t>
            </a:r>
            <a:br>
              <a:rPr lang="en-US" sz="3200"/>
            </a:br>
            <a:r>
              <a:rPr lang="en-US" sz="3200"/>
              <a:t>Arguments</a:t>
            </a:r>
            <a:endParaRPr sz="3200"/>
          </a:p>
        </p:txBody>
      </p:sp>
      <p:grpSp>
        <p:nvGrpSpPr>
          <p:cNvPr id="227" name="Google Shape;227;p16"/>
          <p:cNvGrpSpPr/>
          <p:nvPr/>
        </p:nvGrpSpPr>
        <p:grpSpPr>
          <a:xfrm>
            <a:off x="914400" y="2438400"/>
            <a:ext cx="7786114" cy="3810000"/>
            <a:chOff x="914400" y="2438400"/>
            <a:chExt cx="7786114" cy="3810000"/>
          </a:xfrm>
        </p:grpSpPr>
        <p:pic>
          <p:nvPicPr>
            <p:cNvPr id="228" name="Google Shape;228;p16"/>
            <p:cNvPicPr preferRelativeResize="0"/>
            <p:nvPr/>
          </p:nvPicPr>
          <p:blipFill rotWithShape="1">
            <a:blip r:embed="rId3">
              <a:alphaModFix/>
            </a:blip>
            <a:srcRect/>
            <a:stretch/>
          </p:blipFill>
          <p:spPr>
            <a:xfrm>
              <a:off x="914400" y="2438400"/>
              <a:ext cx="6617334" cy="3810000"/>
            </a:xfrm>
            <a:prstGeom prst="rect">
              <a:avLst/>
            </a:prstGeom>
            <a:noFill/>
            <a:ln>
              <a:noFill/>
            </a:ln>
          </p:spPr>
        </p:pic>
        <p:sp>
          <p:nvSpPr>
            <p:cNvPr id="229" name="Google Shape;229;p16"/>
            <p:cNvSpPr/>
            <p:nvPr/>
          </p:nvSpPr>
          <p:spPr>
            <a:xfrm>
              <a:off x="3124200" y="5295900"/>
              <a:ext cx="3124200" cy="76200"/>
            </a:xfrm>
            <a:custGeom>
              <a:avLst/>
              <a:gdLst/>
              <a:ahLst/>
              <a:cxnLst/>
              <a:rect l="l" t="t" r="r" b="b"/>
              <a:pathLst>
                <a:path w="3124200" h="76200" extrusionOk="0">
                  <a:moveTo>
                    <a:pt x="76200" y="0"/>
                  </a:moveTo>
                  <a:lnTo>
                    <a:pt x="0" y="38100"/>
                  </a:lnTo>
                  <a:lnTo>
                    <a:pt x="76200" y="76200"/>
                  </a:lnTo>
                  <a:lnTo>
                    <a:pt x="76200" y="44450"/>
                  </a:lnTo>
                  <a:lnTo>
                    <a:pt x="63500" y="44450"/>
                  </a:lnTo>
                  <a:lnTo>
                    <a:pt x="63500" y="31750"/>
                  </a:lnTo>
                  <a:lnTo>
                    <a:pt x="76200" y="31750"/>
                  </a:lnTo>
                  <a:lnTo>
                    <a:pt x="76200" y="0"/>
                  </a:lnTo>
                  <a:close/>
                </a:path>
                <a:path w="3124200" h="76200" extrusionOk="0">
                  <a:moveTo>
                    <a:pt x="76200" y="31750"/>
                  </a:moveTo>
                  <a:lnTo>
                    <a:pt x="63500" y="31750"/>
                  </a:lnTo>
                  <a:lnTo>
                    <a:pt x="63500" y="44450"/>
                  </a:lnTo>
                  <a:lnTo>
                    <a:pt x="76200" y="44450"/>
                  </a:lnTo>
                  <a:lnTo>
                    <a:pt x="76200" y="31750"/>
                  </a:lnTo>
                  <a:close/>
                </a:path>
                <a:path w="3124200" h="76200" extrusionOk="0">
                  <a:moveTo>
                    <a:pt x="3124200" y="31750"/>
                  </a:moveTo>
                  <a:lnTo>
                    <a:pt x="76200" y="31750"/>
                  </a:lnTo>
                  <a:lnTo>
                    <a:pt x="76200" y="44450"/>
                  </a:lnTo>
                  <a:lnTo>
                    <a:pt x="3124200" y="44450"/>
                  </a:lnTo>
                  <a:lnTo>
                    <a:pt x="3124200" y="31750"/>
                  </a:lnTo>
                  <a:close/>
                </a:path>
              </a:pathLst>
            </a:custGeom>
            <a:solidFill>
              <a:srgbClr val="006FC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230" name="Google Shape;230;p16"/>
            <p:cNvPicPr preferRelativeResize="0"/>
            <p:nvPr/>
          </p:nvPicPr>
          <p:blipFill rotWithShape="1">
            <a:blip r:embed="rId4">
              <a:alphaModFix/>
            </a:blip>
            <a:srcRect/>
            <a:stretch/>
          </p:blipFill>
          <p:spPr>
            <a:xfrm>
              <a:off x="6412991" y="5148072"/>
              <a:ext cx="2220467" cy="496823"/>
            </a:xfrm>
            <a:prstGeom prst="rect">
              <a:avLst/>
            </a:prstGeom>
            <a:noFill/>
            <a:ln>
              <a:noFill/>
            </a:ln>
          </p:spPr>
        </p:pic>
        <p:pic>
          <p:nvPicPr>
            <p:cNvPr id="231" name="Google Shape;231;p16"/>
            <p:cNvPicPr preferRelativeResize="0"/>
            <p:nvPr/>
          </p:nvPicPr>
          <p:blipFill rotWithShape="1">
            <a:blip r:embed="rId5">
              <a:alphaModFix/>
            </a:blip>
            <a:srcRect/>
            <a:stretch/>
          </p:blipFill>
          <p:spPr>
            <a:xfrm>
              <a:off x="6391655" y="5151120"/>
              <a:ext cx="2308859" cy="559308"/>
            </a:xfrm>
            <a:prstGeom prst="rect">
              <a:avLst/>
            </a:prstGeom>
            <a:noFill/>
            <a:ln>
              <a:noFill/>
            </a:ln>
          </p:spPr>
        </p:pic>
        <p:sp>
          <p:nvSpPr>
            <p:cNvPr id="232" name="Google Shape;232;p16"/>
            <p:cNvSpPr/>
            <p:nvPr/>
          </p:nvSpPr>
          <p:spPr>
            <a:xfrm>
              <a:off x="6477000" y="5181587"/>
              <a:ext cx="2092960" cy="369570"/>
            </a:xfrm>
            <a:custGeom>
              <a:avLst/>
              <a:gdLst/>
              <a:ahLst/>
              <a:cxnLst/>
              <a:rect l="l" t="t" r="r" b="b"/>
              <a:pathLst>
                <a:path w="2092959" h="369570" extrusionOk="0">
                  <a:moveTo>
                    <a:pt x="2092578" y="0"/>
                  </a:moveTo>
                  <a:lnTo>
                    <a:pt x="0" y="0"/>
                  </a:lnTo>
                  <a:lnTo>
                    <a:pt x="0" y="369328"/>
                  </a:lnTo>
                  <a:lnTo>
                    <a:pt x="2092578" y="369328"/>
                  </a:lnTo>
                  <a:lnTo>
                    <a:pt x="2092578" y="0"/>
                  </a:lnTo>
                  <a:close/>
                </a:path>
              </a:pathLst>
            </a:custGeom>
            <a:solidFill>
              <a:srgbClr val="DD804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3" name="Google Shape;233;p16"/>
            <p:cNvSpPr/>
            <p:nvPr/>
          </p:nvSpPr>
          <p:spPr>
            <a:xfrm>
              <a:off x="6453123" y="5157723"/>
              <a:ext cx="2140585" cy="417195"/>
            </a:xfrm>
            <a:custGeom>
              <a:avLst/>
              <a:gdLst/>
              <a:ahLst/>
              <a:cxnLst/>
              <a:rect l="l" t="t" r="r" b="b"/>
              <a:pathLst>
                <a:path w="2140584" h="417195" extrusionOk="0">
                  <a:moveTo>
                    <a:pt x="2116455" y="0"/>
                  </a:moveTo>
                  <a:lnTo>
                    <a:pt x="23876" y="0"/>
                  </a:lnTo>
                  <a:lnTo>
                    <a:pt x="14573" y="1873"/>
                  </a:lnTo>
                  <a:lnTo>
                    <a:pt x="6984" y="6984"/>
                  </a:lnTo>
                  <a:lnTo>
                    <a:pt x="1873" y="14573"/>
                  </a:lnTo>
                  <a:lnTo>
                    <a:pt x="0" y="23875"/>
                  </a:lnTo>
                  <a:lnTo>
                    <a:pt x="0" y="393191"/>
                  </a:lnTo>
                  <a:lnTo>
                    <a:pt x="1873" y="402494"/>
                  </a:lnTo>
                  <a:lnTo>
                    <a:pt x="6984" y="410082"/>
                  </a:lnTo>
                  <a:lnTo>
                    <a:pt x="14573" y="415194"/>
                  </a:lnTo>
                  <a:lnTo>
                    <a:pt x="23876" y="417067"/>
                  </a:lnTo>
                  <a:lnTo>
                    <a:pt x="2116455" y="417067"/>
                  </a:lnTo>
                  <a:lnTo>
                    <a:pt x="2125757" y="415194"/>
                  </a:lnTo>
                  <a:lnTo>
                    <a:pt x="2133346" y="410082"/>
                  </a:lnTo>
                  <a:lnTo>
                    <a:pt x="2138457" y="402494"/>
                  </a:lnTo>
                  <a:lnTo>
                    <a:pt x="2138719" y="401192"/>
                  </a:lnTo>
                  <a:lnTo>
                    <a:pt x="19431" y="401192"/>
                  </a:lnTo>
                  <a:lnTo>
                    <a:pt x="15875" y="397636"/>
                  </a:lnTo>
                  <a:lnTo>
                    <a:pt x="15875" y="19430"/>
                  </a:lnTo>
                  <a:lnTo>
                    <a:pt x="19431" y="15874"/>
                  </a:lnTo>
                  <a:lnTo>
                    <a:pt x="2138719" y="15874"/>
                  </a:lnTo>
                  <a:lnTo>
                    <a:pt x="2138457" y="14573"/>
                  </a:lnTo>
                  <a:lnTo>
                    <a:pt x="2133346" y="6984"/>
                  </a:lnTo>
                  <a:lnTo>
                    <a:pt x="2125757" y="1873"/>
                  </a:lnTo>
                  <a:lnTo>
                    <a:pt x="2116455" y="0"/>
                  </a:lnTo>
                  <a:close/>
                </a:path>
                <a:path w="2140584" h="417195" extrusionOk="0">
                  <a:moveTo>
                    <a:pt x="2138719" y="15874"/>
                  </a:moveTo>
                  <a:lnTo>
                    <a:pt x="2120900" y="15874"/>
                  </a:lnTo>
                  <a:lnTo>
                    <a:pt x="2124456" y="19430"/>
                  </a:lnTo>
                  <a:lnTo>
                    <a:pt x="2124456" y="397636"/>
                  </a:lnTo>
                  <a:lnTo>
                    <a:pt x="2120900" y="401192"/>
                  </a:lnTo>
                  <a:lnTo>
                    <a:pt x="2138719" y="401192"/>
                  </a:lnTo>
                  <a:lnTo>
                    <a:pt x="2140331" y="393191"/>
                  </a:lnTo>
                  <a:lnTo>
                    <a:pt x="2140331" y="23875"/>
                  </a:lnTo>
                  <a:lnTo>
                    <a:pt x="2138719" y="15874"/>
                  </a:lnTo>
                  <a:close/>
                </a:path>
                <a:path w="2140584" h="417195" extrusionOk="0">
                  <a:moveTo>
                    <a:pt x="2108581" y="31749"/>
                  </a:moveTo>
                  <a:lnTo>
                    <a:pt x="31750" y="31749"/>
                  </a:lnTo>
                  <a:lnTo>
                    <a:pt x="31750" y="385317"/>
                  </a:lnTo>
                  <a:lnTo>
                    <a:pt x="2108581" y="385317"/>
                  </a:lnTo>
                  <a:lnTo>
                    <a:pt x="2108581" y="369442"/>
                  </a:lnTo>
                  <a:lnTo>
                    <a:pt x="47625" y="369442"/>
                  </a:lnTo>
                  <a:lnTo>
                    <a:pt x="47625" y="47624"/>
                  </a:lnTo>
                  <a:lnTo>
                    <a:pt x="2108581" y="47624"/>
                  </a:lnTo>
                  <a:lnTo>
                    <a:pt x="2108581" y="31749"/>
                  </a:lnTo>
                  <a:close/>
                </a:path>
                <a:path w="2140584" h="417195" extrusionOk="0">
                  <a:moveTo>
                    <a:pt x="2108581" y="47624"/>
                  </a:moveTo>
                  <a:lnTo>
                    <a:pt x="2092706" y="47624"/>
                  </a:lnTo>
                  <a:lnTo>
                    <a:pt x="2092706" y="369442"/>
                  </a:lnTo>
                  <a:lnTo>
                    <a:pt x="2108581" y="369442"/>
                  </a:lnTo>
                  <a:lnTo>
                    <a:pt x="2108581" y="47624"/>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234" name="Google Shape;234;p16"/>
          <p:cNvSpPr txBox="1"/>
          <p:nvPr/>
        </p:nvSpPr>
        <p:spPr>
          <a:xfrm>
            <a:off x="6477000" y="5181587"/>
            <a:ext cx="2092960" cy="369570"/>
          </a:xfrm>
          <a:prstGeom prst="rect">
            <a:avLst/>
          </a:prstGeom>
          <a:noFill/>
          <a:ln>
            <a:noFill/>
          </a:ln>
        </p:spPr>
        <p:txBody>
          <a:bodyPr spcFirstLastPara="1" wrap="square" lIns="0" tIns="34925" rIns="0" bIns="0" anchor="t" anchorCtr="0">
            <a:spAutoFit/>
          </a:bodyPr>
          <a:lstStyle/>
          <a:p>
            <a:pPr marL="92075" marR="0" lvl="0" indent="0" algn="l" rtl="0">
              <a:lnSpc>
                <a:spcPct val="100000"/>
              </a:lnSpc>
              <a:spcBef>
                <a:spcPts val="0"/>
              </a:spcBef>
              <a:spcAft>
                <a:spcPts val="0"/>
              </a:spcAft>
              <a:buNone/>
            </a:pPr>
            <a:r>
              <a:rPr lang="en-US" sz="1800">
                <a:solidFill>
                  <a:srgbClr val="FFFFFF"/>
                </a:solidFill>
                <a:latin typeface="Helvetica Neue"/>
                <a:ea typeface="Helvetica Neue"/>
                <a:cs typeface="Helvetica Neue"/>
                <a:sym typeface="Helvetica Neue"/>
              </a:rPr>
              <a:t>ACTUAL ARGUMENT</a:t>
            </a:r>
            <a:endParaRPr sz="1800">
              <a:solidFill>
                <a:schemeClr val="dk1"/>
              </a:solidFill>
              <a:latin typeface="Helvetica Neue"/>
              <a:ea typeface="Helvetica Neue"/>
              <a:cs typeface="Helvetica Neue"/>
              <a:sym typeface="Helvetica Neue"/>
            </a:endParaRPr>
          </a:p>
        </p:txBody>
      </p:sp>
      <p:grpSp>
        <p:nvGrpSpPr>
          <p:cNvPr id="235" name="Google Shape;235;p16"/>
          <p:cNvGrpSpPr/>
          <p:nvPr/>
        </p:nvGrpSpPr>
        <p:grpSpPr>
          <a:xfrm>
            <a:off x="2895600" y="3319271"/>
            <a:ext cx="5180075" cy="562356"/>
            <a:chOff x="2895600" y="3319271"/>
            <a:chExt cx="5180075" cy="562356"/>
          </a:xfrm>
        </p:grpSpPr>
        <p:sp>
          <p:nvSpPr>
            <p:cNvPr id="236" name="Google Shape;236;p16"/>
            <p:cNvSpPr/>
            <p:nvPr/>
          </p:nvSpPr>
          <p:spPr>
            <a:xfrm>
              <a:off x="2895600" y="3498849"/>
              <a:ext cx="2743835" cy="266700"/>
            </a:xfrm>
            <a:custGeom>
              <a:avLst/>
              <a:gdLst/>
              <a:ahLst/>
              <a:cxnLst/>
              <a:rect l="l" t="t" r="r" b="b"/>
              <a:pathLst>
                <a:path w="2743835" h="266700" extrusionOk="0">
                  <a:moveTo>
                    <a:pt x="72771" y="190627"/>
                  </a:moveTo>
                  <a:lnTo>
                    <a:pt x="0" y="234950"/>
                  </a:lnTo>
                  <a:lnTo>
                    <a:pt x="79121" y="266573"/>
                  </a:lnTo>
                  <a:lnTo>
                    <a:pt x="76561" y="235965"/>
                  </a:lnTo>
                  <a:lnTo>
                    <a:pt x="63754" y="235965"/>
                  </a:lnTo>
                  <a:lnTo>
                    <a:pt x="62737" y="223393"/>
                  </a:lnTo>
                  <a:lnTo>
                    <a:pt x="75422" y="222335"/>
                  </a:lnTo>
                  <a:lnTo>
                    <a:pt x="72771" y="190627"/>
                  </a:lnTo>
                  <a:close/>
                </a:path>
                <a:path w="2743835" h="266700" extrusionOk="0">
                  <a:moveTo>
                    <a:pt x="75422" y="222335"/>
                  </a:moveTo>
                  <a:lnTo>
                    <a:pt x="62737" y="223393"/>
                  </a:lnTo>
                  <a:lnTo>
                    <a:pt x="63754" y="235965"/>
                  </a:lnTo>
                  <a:lnTo>
                    <a:pt x="76473" y="234906"/>
                  </a:lnTo>
                  <a:lnTo>
                    <a:pt x="75422" y="222335"/>
                  </a:lnTo>
                  <a:close/>
                </a:path>
                <a:path w="2743835" h="266700" extrusionOk="0">
                  <a:moveTo>
                    <a:pt x="76473" y="234906"/>
                  </a:moveTo>
                  <a:lnTo>
                    <a:pt x="63754" y="235965"/>
                  </a:lnTo>
                  <a:lnTo>
                    <a:pt x="76561" y="235965"/>
                  </a:lnTo>
                  <a:lnTo>
                    <a:pt x="76473" y="234906"/>
                  </a:lnTo>
                  <a:close/>
                </a:path>
                <a:path w="2743835" h="266700" extrusionOk="0">
                  <a:moveTo>
                    <a:pt x="2742692" y="0"/>
                  </a:moveTo>
                  <a:lnTo>
                    <a:pt x="75422" y="222335"/>
                  </a:lnTo>
                  <a:lnTo>
                    <a:pt x="76473" y="234906"/>
                  </a:lnTo>
                  <a:lnTo>
                    <a:pt x="2743708" y="12700"/>
                  </a:lnTo>
                  <a:lnTo>
                    <a:pt x="2742692" y="0"/>
                  </a:lnTo>
                  <a:close/>
                </a:path>
              </a:pathLst>
            </a:custGeom>
            <a:solidFill>
              <a:srgbClr val="93B6D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237" name="Google Shape;237;p16"/>
            <p:cNvPicPr preferRelativeResize="0"/>
            <p:nvPr/>
          </p:nvPicPr>
          <p:blipFill rotWithShape="1">
            <a:blip r:embed="rId6">
              <a:alphaModFix/>
            </a:blip>
            <a:srcRect/>
            <a:stretch/>
          </p:blipFill>
          <p:spPr>
            <a:xfrm>
              <a:off x="5727192" y="3319271"/>
              <a:ext cx="2282952" cy="496823"/>
            </a:xfrm>
            <a:prstGeom prst="rect">
              <a:avLst/>
            </a:prstGeom>
            <a:noFill/>
            <a:ln>
              <a:noFill/>
            </a:ln>
          </p:spPr>
        </p:pic>
        <p:pic>
          <p:nvPicPr>
            <p:cNvPr id="238" name="Google Shape;238;p16"/>
            <p:cNvPicPr preferRelativeResize="0"/>
            <p:nvPr/>
          </p:nvPicPr>
          <p:blipFill rotWithShape="1">
            <a:blip r:embed="rId7">
              <a:alphaModFix/>
            </a:blip>
            <a:srcRect/>
            <a:stretch/>
          </p:blipFill>
          <p:spPr>
            <a:xfrm>
              <a:off x="5705855" y="3322319"/>
              <a:ext cx="2369820" cy="559308"/>
            </a:xfrm>
            <a:prstGeom prst="rect">
              <a:avLst/>
            </a:prstGeom>
            <a:noFill/>
            <a:ln>
              <a:noFill/>
            </a:ln>
          </p:spPr>
        </p:pic>
        <p:sp>
          <p:nvSpPr>
            <p:cNvPr id="239" name="Google Shape;239;p16"/>
            <p:cNvSpPr/>
            <p:nvPr/>
          </p:nvSpPr>
          <p:spPr>
            <a:xfrm>
              <a:off x="5791200" y="3352787"/>
              <a:ext cx="2155190" cy="369570"/>
            </a:xfrm>
            <a:custGeom>
              <a:avLst/>
              <a:gdLst/>
              <a:ahLst/>
              <a:cxnLst/>
              <a:rect l="l" t="t" r="r" b="b"/>
              <a:pathLst>
                <a:path w="2155190" h="369570" extrusionOk="0">
                  <a:moveTo>
                    <a:pt x="2154808" y="0"/>
                  </a:moveTo>
                  <a:lnTo>
                    <a:pt x="0" y="0"/>
                  </a:lnTo>
                  <a:lnTo>
                    <a:pt x="0" y="369328"/>
                  </a:lnTo>
                  <a:lnTo>
                    <a:pt x="2154808" y="369328"/>
                  </a:lnTo>
                  <a:lnTo>
                    <a:pt x="2154808" y="0"/>
                  </a:lnTo>
                  <a:close/>
                </a:path>
              </a:pathLst>
            </a:custGeom>
            <a:solidFill>
              <a:srgbClr val="DD804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0" name="Google Shape;240;p16"/>
            <p:cNvSpPr/>
            <p:nvPr/>
          </p:nvSpPr>
          <p:spPr>
            <a:xfrm>
              <a:off x="5767323" y="3328923"/>
              <a:ext cx="2202815" cy="417195"/>
            </a:xfrm>
            <a:custGeom>
              <a:avLst/>
              <a:gdLst/>
              <a:ahLst/>
              <a:cxnLst/>
              <a:rect l="l" t="t" r="r" b="b"/>
              <a:pathLst>
                <a:path w="2202815" h="417195" extrusionOk="0">
                  <a:moveTo>
                    <a:pt x="2178685" y="0"/>
                  </a:moveTo>
                  <a:lnTo>
                    <a:pt x="23876" y="0"/>
                  </a:lnTo>
                  <a:lnTo>
                    <a:pt x="14573" y="1873"/>
                  </a:lnTo>
                  <a:lnTo>
                    <a:pt x="6984" y="6984"/>
                  </a:lnTo>
                  <a:lnTo>
                    <a:pt x="1873" y="14573"/>
                  </a:lnTo>
                  <a:lnTo>
                    <a:pt x="0" y="23875"/>
                  </a:lnTo>
                  <a:lnTo>
                    <a:pt x="0" y="393191"/>
                  </a:lnTo>
                  <a:lnTo>
                    <a:pt x="1873" y="402494"/>
                  </a:lnTo>
                  <a:lnTo>
                    <a:pt x="6984" y="410082"/>
                  </a:lnTo>
                  <a:lnTo>
                    <a:pt x="14573" y="415194"/>
                  </a:lnTo>
                  <a:lnTo>
                    <a:pt x="23876" y="417067"/>
                  </a:lnTo>
                  <a:lnTo>
                    <a:pt x="2178685" y="417067"/>
                  </a:lnTo>
                  <a:lnTo>
                    <a:pt x="2187914" y="415194"/>
                  </a:lnTo>
                  <a:lnTo>
                    <a:pt x="2195464" y="410082"/>
                  </a:lnTo>
                  <a:lnTo>
                    <a:pt x="2200562" y="402494"/>
                  </a:lnTo>
                  <a:lnTo>
                    <a:pt x="2200824" y="401192"/>
                  </a:lnTo>
                  <a:lnTo>
                    <a:pt x="19431" y="401192"/>
                  </a:lnTo>
                  <a:lnTo>
                    <a:pt x="15875" y="397636"/>
                  </a:lnTo>
                  <a:lnTo>
                    <a:pt x="15875" y="19430"/>
                  </a:lnTo>
                  <a:lnTo>
                    <a:pt x="19431" y="15874"/>
                  </a:lnTo>
                  <a:lnTo>
                    <a:pt x="2200824" y="15874"/>
                  </a:lnTo>
                  <a:lnTo>
                    <a:pt x="2200562" y="14573"/>
                  </a:lnTo>
                  <a:lnTo>
                    <a:pt x="2195464" y="6984"/>
                  </a:lnTo>
                  <a:lnTo>
                    <a:pt x="2187914" y="1873"/>
                  </a:lnTo>
                  <a:lnTo>
                    <a:pt x="2178685" y="0"/>
                  </a:lnTo>
                  <a:close/>
                </a:path>
                <a:path w="2202815" h="417195" extrusionOk="0">
                  <a:moveTo>
                    <a:pt x="2200824" y="15874"/>
                  </a:moveTo>
                  <a:lnTo>
                    <a:pt x="2183003" y="15874"/>
                  </a:lnTo>
                  <a:lnTo>
                    <a:pt x="2186559" y="19430"/>
                  </a:lnTo>
                  <a:lnTo>
                    <a:pt x="2186559" y="397636"/>
                  </a:lnTo>
                  <a:lnTo>
                    <a:pt x="2183003" y="401192"/>
                  </a:lnTo>
                  <a:lnTo>
                    <a:pt x="2200824" y="401192"/>
                  </a:lnTo>
                  <a:lnTo>
                    <a:pt x="2202434" y="393191"/>
                  </a:lnTo>
                  <a:lnTo>
                    <a:pt x="2202434" y="23875"/>
                  </a:lnTo>
                  <a:lnTo>
                    <a:pt x="2200824" y="15874"/>
                  </a:lnTo>
                  <a:close/>
                </a:path>
                <a:path w="2202815" h="417195" extrusionOk="0">
                  <a:moveTo>
                    <a:pt x="2170684" y="31749"/>
                  </a:moveTo>
                  <a:lnTo>
                    <a:pt x="31750" y="31749"/>
                  </a:lnTo>
                  <a:lnTo>
                    <a:pt x="31750" y="385317"/>
                  </a:lnTo>
                  <a:lnTo>
                    <a:pt x="2170684" y="385317"/>
                  </a:lnTo>
                  <a:lnTo>
                    <a:pt x="2170684" y="369442"/>
                  </a:lnTo>
                  <a:lnTo>
                    <a:pt x="47625" y="369442"/>
                  </a:lnTo>
                  <a:lnTo>
                    <a:pt x="47625" y="47624"/>
                  </a:lnTo>
                  <a:lnTo>
                    <a:pt x="2170684" y="47624"/>
                  </a:lnTo>
                  <a:lnTo>
                    <a:pt x="2170684" y="31749"/>
                  </a:lnTo>
                  <a:close/>
                </a:path>
                <a:path w="2202815" h="417195" extrusionOk="0">
                  <a:moveTo>
                    <a:pt x="2170684" y="47624"/>
                  </a:moveTo>
                  <a:lnTo>
                    <a:pt x="2154809" y="47624"/>
                  </a:lnTo>
                  <a:lnTo>
                    <a:pt x="2154809" y="369442"/>
                  </a:lnTo>
                  <a:lnTo>
                    <a:pt x="2170684" y="369442"/>
                  </a:lnTo>
                  <a:lnTo>
                    <a:pt x="2170684" y="47624"/>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241" name="Google Shape;241;p16"/>
          <p:cNvSpPr txBox="1"/>
          <p:nvPr/>
        </p:nvSpPr>
        <p:spPr>
          <a:xfrm>
            <a:off x="5791200" y="3352787"/>
            <a:ext cx="2155190" cy="369570"/>
          </a:xfrm>
          <a:prstGeom prst="rect">
            <a:avLst/>
          </a:prstGeom>
          <a:noFill/>
          <a:ln>
            <a:noFill/>
          </a:ln>
        </p:spPr>
        <p:txBody>
          <a:bodyPr spcFirstLastPara="1" wrap="square" lIns="0" tIns="34275" rIns="0" bIns="0" anchor="t" anchorCtr="0">
            <a:spAutoFit/>
          </a:bodyPr>
          <a:lstStyle/>
          <a:p>
            <a:pPr marL="92075" marR="0" lvl="0" indent="0" algn="l" rtl="0">
              <a:lnSpc>
                <a:spcPct val="100000"/>
              </a:lnSpc>
              <a:spcBef>
                <a:spcPts val="0"/>
              </a:spcBef>
              <a:spcAft>
                <a:spcPts val="0"/>
              </a:spcAft>
              <a:buNone/>
            </a:pPr>
            <a:r>
              <a:rPr lang="en-US" sz="1800">
                <a:solidFill>
                  <a:srgbClr val="FFFFFF"/>
                </a:solidFill>
                <a:latin typeface="Helvetica Neue"/>
                <a:ea typeface="Helvetica Neue"/>
                <a:cs typeface="Helvetica Neue"/>
                <a:sym typeface="Helvetica Neue"/>
              </a:rPr>
              <a:t>FORMAL ARGUMENT</a:t>
            </a:r>
            <a:endParaRPr sz="1800">
              <a:solidFill>
                <a:schemeClr val="dk1"/>
              </a:solidFill>
              <a:latin typeface="Helvetica Neue"/>
              <a:ea typeface="Helvetica Neue"/>
              <a:cs typeface="Helvetica Neue"/>
              <a:sym typeface="Helvetica Neue"/>
            </a:endParaRPr>
          </a:p>
        </p:txBody>
      </p:sp>
      <p:sp>
        <p:nvSpPr>
          <p:cNvPr id="242" name="Google Shape;242;p16"/>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243" name="Google Shape;243;p16"/>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7"/>
          <p:cNvSpPr txBox="1">
            <a:spLocks noGrp="1"/>
          </p:cNvSpPr>
          <p:nvPr>
            <p:ph type="title"/>
          </p:nvPr>
        </p:nvSpPr>
        <p:spPr>
          <a:xfrm>
            <a:off x="691387" y="0"/>
            <a:ext cx="440690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Types of Arguments</a:t>
            </a:r>
            <a:endParaRPr sz="4400"/>
          </a:p>
        </p:txBody>
      </p:sp>
      <p:sp>
        <p:nvSpPr>
          <p:cNvPr id="249" name="Google Shape;249;p17"/>
          <p:cNvSpPr txBox="1"/>
          <p:nvPr/>
        </p:nvSpPr>
        <p:spPr>
          <a:xfrm>
            <a:off x="691387" y="1612138"/>
            <a:ext cx="7637145" cy="3034030"/>
          </a:xfrm>
          <a:prstGeom prst="rect">
            <a:avLst/>
          </a:prstGeom>
          <a:noFill/>
          <a:ln>
            <a:noFill/>
          </a:ln>
        </p:spPr>
        <p:txBody>
          <a:bodyPr spcFirstLastPara="1" wrap="square" lIns="0" tIns="13325" rIns="0" bIns="0" anchor="t" anchorCtr="0">
            <a:spAutoFit/>
          </a:bodyPr>
          <a:lstStyle/>
          <a:p>
            <a:pPr marL="332740" marR="5080" lvl="0" indent="-320675" algn="l"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There are 4 types of Actual Arguments allowed in  Python:</a:t>
            </a:r>
            <a:endParaRPr sz="2900">
              <a:solidFill>
                <a:schemeClr val="dk1"/>
              </a:solidFill>
              <a:latin typeface="Helvetica Neue"/>
              <a:ea typeface="Helvetica Neue"/>
              <a:cs typeface="Helvetica Neue"/>
              <a:sym typeface="Helvetica Neue"/>
            </a:endParaRPr>
          </a:p>
          <a:p>
            <a:pPr marL="527685" marR="0" lvl="0" indent="-515619" algn="l" rtl="0">
              <a:lnSpc>
                <a:spcPct val="100000"/>
              </a:lnSpc>
              <a:spcBef>
                <a:spcPts val="695"/>
              </a:spcBef>
              <a:spcAft>
                <a:spcPts val="0"/>
              </a:spcAft>
              <a:buClr>
                <a:srgbClr val="DD8046"/>
              </a:buClr>
              <a:buSzPts val="1750"/>
              <a:buFont typeface="Helvetica Neue"/>
              <a:buAutoNum type="arabicPeriod"/>
            </a:pPr>
            <a:r>
              <a:rPr lang="en-US" sz="2900">
                <a:solidFill>
                  <a:schemeClr val="dk1"/>
                </a:solidFill>
                <a:latin typeface="Helvetica Neue"/>
                <a:ea typeface="Helvetica Neue"/>
                <a:cs typeface="Helvetica Neue"/>
                <a:sym typeface="Helvetica Neue"/>
              </a:rPr>
              <a:t>Positional arguments</a:t>
            </a:r>
            <a:endParaRPr sz="2900">
              <a:solidFill>
                <a:schemeClr val="dk1"/>
              </a:solidFill>
              <a:latin typeface="Helvetica Neue"/>
              <a:ea typeface="Helvetica Neue"/>
              <a:cs typeface="Helvetica Neue"/>
              <a:sym typeface="Helvetica Neue"/>
            </a:endParaRPr>
          </a:p>
          <a:p>
            <a:pPr marL="527685" marR="0" lvl="0" indent="-515619" algn="l" rtl="0">
              <a:lnSpc>
                <a:spcPct val="100000"/>
              </a:lnSpc>
              <a:spcBef>
                <a:spcPts val="710"/>
              </a:spcBef>
              <a:spcAft>
                <a:spcPts val="0"/>
              </a:spcAft>
              <a:buClr>
                <a:srgbClr val="DD8046"/>
              </a:buClr>
              <a:buSzPts val="1750"/>
              <a:buFont typeface="Helvetica Neue"/>
              <a:buAutoNum type="arabicPeriod"/>
            </a:pPr>
            <a:r>
              <a:rPr lang="en-US" sz="2900">
                <a:solidFill>
                  <a:schemeClr val="dk1"/>
                </a:solidFill>
                <a:latin typeface="Helvetica Neue"/>
                <a:ea typeface="Helvetica Neue"/>
                <a:cs typeface="Helvetica Neue"/>
                <a:sym typeface="Helvetica Neue"/>
              </a:rPr>
              <a:t>Default arguments</a:t>
            </a:r>
            <a:endParaRPr sz="2900">
              <a:solidFill>
                <a:schemeClr val="dk1"/>
              </a:solidFill>
              <a:latin typeface="Helvetica Neue"/>
              <a:ea typeface="Helvetica Neue"/>
              <a:cs typeface="Helvetica Neue"/>
              <a:sym typeface="Helvetica Neue"/>
            </a:endParaRPr>
          </a:p>
          <a:p>
            <a:pPr marL="527685" marR="0" lvl="0" indent="-515619" algn="l" rtl="0">
              <a:lnSpc>
                <a:spcPct val="100000"/>
              </a:lnSpc>
              <a:spcBef>
                <a:spcPts val="695"/>
              </a:spcBef>
              <a:spcAft>
                <a:spcPts val="0"/>
              </a:spcAft>
              <a:buClr>
                <a:srgbClr val="DD8046"/>
              </a:buClr>
              <a:buSzPts val="1750"/>
              <a:buFont typeface="Helvetica Neue"/>
              <a:buAutoNum type="arabicPeriod"/>
            </a:pPr>
            <a:r>
              <a:rPr lang="en-US" sz="2900">
                <a:solidFill>
                  <a:schemeClr val="dk1"/>
                </a:solidFill>
                <a:latin typeface="Helvetica Neue"/>
                <a:ea typeface="Helvetica Neue"/>
                <a:cs typeface="Helvetica Neue"/>
                <a:sym typeface="Helvetica Neue"/>
              </a:rPr>
              <a:t>Keyword arguments</a:t>
            </a:r>
            <a:endParaRPr sz="2900">
              <a:solidFill>
                <a:schemeClr val="dk1"/>
              </a:solidFill>
              <a:latin typeface="Helvetica Neue"/>
              <a:ea typeface="Helvetica Neue"/>
              <a:cs typeface="Helvetica Neue"/>
              <a:sym typeface="Helvetica Neue"/>
            </a:endParaRPr>
          </a:p>
          <a:p>
            <a:pPr marL="527685" marR="0" lvl="0" indent="-515619" algn="l" rtl="0">
              <a:lnSpc>
                <a:spcPct val="100000"/>
              </a:lnSpc>
              <a:spcBef>
                <a:spcPts val="700"/>
              </a:spcBef>
              <a:spcAft>
                <a:spcPts val="0"/>
              </a:spcAft>
              <a:buClr>
                <a:srgbClr val="DD8046"/>
              </a:buClr>
              <a:buSzPts val="1750"/>
              <a:buFont typeface="Helvetica Neue"/>
              <a:buAutoNum type="arabicPeriod"/>
            </a:pPr>
            <a:r>
              <a:rPr lang="en-US" sz="2900">
                <a:solidFill>
                  <a:schemeClr val="dk1"/>
                </a:solidFill>
                <a:latin typeface="Helvetica Neue"/>
                <a:ea typeface="Helvetica Neue"/>
                <a:cs typeface="Helvetica Neue"/>
                <a:sym typeface="Helvetica Neue"/>
              </a:rPr>
              <a:t>Variable length arguments</a:t>
            </a:r>
            <a:endParaRPr sz="2900">
              <a:solidFill>
                <a:schemeClr val="dk1"/>
              </a:solidFill>
              <a:latin typeface="Helvetica Neue"/>
              <a:ea typeface="Helvetica Neue"/>
              <a:cs typeface="Helvetica Neue"/>
              <a:sym typeface="Helvetica Neue"/>
            </a:endParaRPr>
          </a:p>
        </p:txBody>
      </p:sp>
      <p:sp>
        <p:nvSpPr>
          <p:cNvPr id="250" name="Google Shape;250;p17"/>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251" name="Google Shape;251;p17"/>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8"/>
          <p:cNvSpPr txBox="1">
            <a:spLocks noGrp="1"/>
          </p:cNvSpPr>
          <p:nvPr>
            <p:ph type="title"/>
          </p:nvPr>
        </p:nvSpPr>
        <p:spPr>
          <a:xfrm>
            <a:off x="655827" y="30480"/>
            <a:ext cx="4533265"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Positional arguments</a:t>
            </a:r>
            <a:endParaRPr sz="4400"/>
          </a:p>
        </p:txBody>
      </p:sp>
      <p:sp>
        <p:nvSpPr>
          <p:cNvPr id="257" name="Google Shape;257;p18"/>
          <p:cNvSpPr txBox="1"/>
          <p:nvPr/>
        </p:nvSpPr>
        <p:spPr>
          <a:xfrm>
            <a:off x="691387" y="1612138"/>
            <a:ext cx="6972300" cy="910590"/>
          </a:xfrm>
          <a:prstGeom prst="rect">
            <a:avLst/>
          </a:prstGeom>
          <a:noFill/>
          <a:ln>
            <a:noFill/>
          </a:ln>
        </p:spPr>
        <p:txBody>
          <a:bodyPr spcFirstLastPara="1" wrap="square" lIns="0" tIns="13325" rIns="0" bIns="0" anchor="t" anchorCtr="0">
            <a:spAutoFit/>
          </a:bodyPr>
          <a:lstStyle/>
          <a:p>
            <a:pPr marL="332740" marR="5080" lvl="0" indent="-320675" algn="l"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Are arguments passed to a function in correct  positional order</a:t>
            </a:r>
            <a:endParaRPr sz="2900">
              <a:solidFill>
                <a:schemeClr val="dk1"/>
              </a:solidFill>
              <a:latin typeface="Helvetica Neue"/>
              <a:ea typeface="Helvetica Neue"/>
              <a:cs typeface="Helvetica Neue"/>
              <a:sym typeface="Helvetica Neue"/>
            </a:endParaRPr>
          </a:p>
        </p:txBody>
      </p:sp>
      <p:sp>
        <p:nvSpPr>
          <p:cNvPr id="258" name="Google Shape;258;p18"/>
          <p:cNvSpPr txBox="1"/>
          <p:nvPr/>
        </p:nvSpPr>
        <p:spPr>
          <a:xfrm>
            <a:off x="691387" y="5240223"/>
            <a:ext cx="7987030" cy="909955"/>
          </a:xfrm>
          <a:prstGeom prst="rect">
            <a:avLst/>
          </a:prstGeom>
          <a:noFill/>
          <a:ln>
            <a:noFill/>
          </a:ln>
        </p:spPr>
        <p:txBody>
          <a:bodyPr spcFirstLastPara="1" wrap="square" lIns="0" tIns="12700" rIns="0" bIns="0" anchor="t" anchorCtr="0">
            <a:spAutoFit/>
          </a:bodyPr>
          <a:lstStyle/>
          <a:p>
            <a:pPr marL="332740" marR="5080" lvl="0" indent="-320675" algn="l"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Here x is passed to a and y is passed to b i.e. in the  order of their position</a:t>
            </a:r>
            <a:endParaRPr sz="2900">
              <a:solidFill>
                <a:schemeClr val="dk1"/>
              </a:solidFill>
              <a:latin typeface="Helvetica Neue"/>
              <a:ea typeface="Helvetica Neue"/>
              <a:cs typeface="Helvetica Neue"/>
              <a:sym typeface="Helvetica Neue"/>
            </a:endParaRPr>
          </a:p>
        </p:txBody>
      </p:sp>
      <p:pic>
        <p:nvPicPr>
          <p:cNvPr id="259" name="Google Shape;259;p18"/>
          <p:cNvPicPr preferRelativeResize="0"/>
          <p:nvPr/>
        </p:nvPicPr>
        <p:blipFill rotWithShape="1">
          <a:blip r:embed="rId3">
            <a:alphaModFix/>
          </a:blip>
          <a:srcRect/>
          <a:stretch/>
        </p:blipFill>
        <p:spPr>
          <a:xfrm>
            <a:off x="838200" y="2590800"/>
            <a:ext cx="6781800" cy="2667000"/>
          </a:xfrm>
          <a:prstGeom prst="rect">
            <a:avLst/>
          </a:prstGeom>
          <a:noFill/>
          <a:ln>
            <a:noFill/>
          </a:ln>
        </p:spPr>
      </p:pic>
      <p:sp>
        <p:nvSpPr>
          <p:cNvPr id="260" name="Google Shape;260;p18"/>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261" name="Google Shape;261;p18"/>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6" name="Google Shape;266;p19"/>
          <p:cNvPicPr preferRelativeResize="0"/>
          <p:nvPr/>
        </p:nvPicPr>
        <p:blipFill rotWithShape="1">
          <a:blip r:embed="rId3">
            <a:alphaModFix/>
          </a:blip>
          <a:srcRect/>
          <a:stretch/>
        </p:blipFill>
        <p:spPr>
          <a:xfrm>
            <a:off x="457200" y="381000"/>
            <a:ext cx="5257800" cy="1676400"/>
          </a:xfrm>
          <a:prstGeom prst="rect">
            <a:avLst/>
          </a:prstGeom>
          <a:noFill/>
          <a:ln>
            <a:noFill/>
          </a:ln>
        </p:spPr>
      </p:pic>
      <p:pic>
        <p:nvPicPr>
          <p:cNvPr id="267" name="Google Shape;267;p19"/>
          <p:cNvPicPr preferRelativeResize="0"/>
          <p:nvPr/>
        </p:nvPicPr>
        <p:blipFill rotWithShape="1">
          <a:blip r:embed="rId4">
            <a:alphaModFix/>
          </a:blip>
          <a:srcRect/>
          <a:stretch/>
        </p:blipFill>
        <p:spPr>
          <a:xfrm>
            <a:off x="457200" y="2209800"/>
            <a:ext cx="6629400" cy="2198370"/>
          </a:xfrm>
          <a:prstGeom prst="rect">
            <a:avLst/>
          </a:prstGeom>
          <a:noFill/>
          <a:ln>
            <a:noFill/>
          </a:ln>
        </p:spPr>
      </p:pic>
      <p:pic>
        <p:nvPicPr>
          <p:cNvPr id="268" name="Google Shape;268;p19"/>
          <p:cNvPicPr preferRelativeResize="0"/>
          <p:nvPr/>
        </p:nvPicPr>
        <p:blipFill rotWithShape="1">
          <a:blip r:embed="rId5">
            <a:alphaModFix/>
          </a:blip>
          <a:srcRect/>
          <a:stretch/>
        </p:blipFill>
        <p:spPr>
          <a:xfrm>
            <a:off x="442912" y="4527206"/>
            <a:ext cx="7429500" cy="1447799"/>
          </a:xfrm>
          <a:prstGeom prst="rect">
            <a:avLst/>
          </a:prstGeom>
          <a:noFill/>
          <a:ln>
            <a:noFill/>
          </a:ln>
        </p:spPr>
      </p:pic>
      <p:sp>
        <p:nvSpPr>
          <p:cNvPr id="269" name="Google Shape;269;p19"/>
          <p:cNvSpPr txBox="1"/>
          <p:nvPr/>
        </p:nvSpPr>
        <p:spPr>
          <a:xfrm>
            <a:off x="1374394" y="5427675"/>
            <a:ext cx="7472045" cy="75692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2400" b="1" i="1">
                <a:solidFill>
                  <a:srgbClr val="FF0000"/>
                </a:solidFill>
                <a:latin typeface="Arial"/>
                <a:ea typeface="Arial"/>
                <a:cs typeface="Arial"/>
                <a:sym typeface="Arial"/>
              </a:rPr>
              <a:t>If the number of formal argument and actual differs then Python  will raise an error</a:t>
            </a:r>
            <a:endParaRPr sz="2400">
              <a:solidFill>
                <a:schemeClr val="dk1"/>
              </a:solidFill>
              <a:latin typeface="Arial"/>
              <a:ea typeface="Arial"/>
              <a:cs typeface="Arial"/>
              <a:sym typeface="Arial"/>
            </a:endParaRPr>
          </a:p>
        </p:txBody>
      </p:sp>
      <p:sp>
        <p:nvSpPr>
          <p:cNvPr id="270" name="Google Shape;270;p19"/>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271" name="Google Shape;271;p19"/>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0"/>
          <p:cNvSpPr txBox="1">
            <a:spLocks noGrp="1"/>
          </p:cNvSpPr>
          <p:nvPr>
            <p:ph type="title"/>
          </p:nvPr>
        </p:nvSpPr>
        <p:spPr>
          <a:xfrm>
            <a:off x="631063" y="10160"/>
            <a:ext cx="4094479"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Default arguments</a:t>
            </a:r>
            <a:endParaRPr sz="4400"/>
          </a:p>
        </p:txBody>
      </p:sp>
      <p:sp>
        <p:nvSpPr>
          <p:cNvPr id="277" name="Google Shape;277;p20"/>
          <p:cNvSpPr txBox="1"/>
          <p:nvPr/>
        </p:nvSpPr>
        <p:spPr>
          <a:xfrm>
            <a:off x="691387" y="1612138"/>
            <a:ext cx="7997190" cy="2767330"/>
          </a:xfrm>
          <a:prstGeom prst="rect">
            <a:avLst/>
          </a:prstGeom>
          <a:noFill/>
          <a:ln>
            <a:noFill/>
          </a:ln>
        </p:spPr>
        <p:txBody>
          <a:bodyPr spcFirstLastPara="1" wrap="square" lIns="0" tIns="13325" rIns="0" bIns="0" anchor="t" anchorCtr="0">
            <a:spAutoFit/>
          </a:bodyPr>
          <a:lstStyle/>
          <a:p>
            <a:pPr marL="332740" marR="5080" lvl="0" indent="-320675" algn="just"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Sometimes we can provide default values for our  positional arguments. In this case if we are not  passing any value then default values will be  considered.</a:t>
            </a:r>
            <a:endParaRPr sz="2900">
              <a:solidFill>
                <a:schemeClr val="dk1"/>
              </a:solidFill>
              <a:latin typeface="Helvetica Neue"/>
              <a:ea typeface="Helvetica Neue"/>
              <a:cs typeface="Helvetica Neue"/>
              <a:sym typeface="Helvetica Neue"/>
            </a:endParaRPr>
          </a:p>
          <a:p>
            <a:pPr marL="332740" marR="6350" lvl="0" indent="-320675" algn="just" rtl="0">
              <a:lnSpc>
                <a:spcPct val="100000"/>
              </a:lnSpc>
              <a:spcBef>
                <a:spcPts val="70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Default argument must not followed by non-default  arguments.</a:t>
            </a:r>
            <a:endParaRPr sz="2900">
              <a:solidFill>
                <a:schemeClr val="dk1"/>
              </a:solidFill>
              <a:latin typeface="Helvetica Neue"/>
              <a:ea typeface="Helvetica Neue"/>
              <a:cs typeface="Helvetica Neue"/>
              <a:sym typeface="Helvetica Neue"/>
            </a:endParaRPr>
          </a:p>
        </p:txBody>
      </p:sp>
      <p:sp>
        <p:nvSpPr>
          <p:cNvPr id="278" name="Google Shape;278;p20"/>
          <p:cNvSpPr txBox="1"/>
          <p:nvPr/>
        </p:nvSpPr>
        <p:spPr>
          <a:xfrm>
            <a:off x="993444" y="4586097"/>
            <a:ext cx="5975985" cy="130556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en-US" sz="2800" b="1">
                <a:solidFill>
                  <a:srgbClr val="00AF50"/>
                </a:solidFill>
                <a:latin typeface="Arial"/>
                <a:ea typeface="Arial"/>
                <a:cs typeface="Arial"/>
                <a:sym typeface="Arial"/>
              </a:rPr>
              <a:t>def interest(principal,rate,time=15):</a:t>
            </a:r>
            <a:endParaRPr sz="2800">
              <a:solidFill>
                <a:schemeClr val="dk1"/>
              </a:solidFill>
              <a:latin typeface="Arial"/>
              <a:ea typeface="Arial"/>
              <a:cs typeface="Arial"/>
              <a:sym typeface="Arial"/>
            </a:endParaRPr>
          </a:p>
          <a:p>
            <a:pPr marL="12700" marR="5080" lvl="0" indent="0" algn="l" rtl="0">
              <a:lnSpc>
                <a:spcPct val="100000"/>
              </a:lnSpc>
              <a:spcBef>
                <a:spcPts val="0"/>
              </a:spcBef>
              <a:spcAft>
                <a:spcPts val="0"/>
              </a:spcAft>
              <a:buNone/>
            </a:pPr>
            <a:r>
              <a:rPr lang="en-US" sz="2800" b="1">
                <a:solidFill>
                  <a:srgbClr val="00AF50"/>
                </a:solidFill>
                <a:latin typeface="Arial"/>
                <a:ea typeface="Arial"/>
                <a:cs typeface="Arial"/>
                <a:sym typeface="Arial"/>
              </a:rPr>
              <a:t>def interest(principal,rate=8.5,time=15</a:t>
            </a:r>
            <a:r>
              <a:rPr lang="en-US" sz="2800">
                <a:solidFill>
                  <a:schemeClr val="dk1"/>
                </a:solidFill>
                <a:latin typeface="Helvetica Neue"/>
                <a:ea typeface="Helvetica Neue"/>
                <a:cs typeface="Helvetica Neue"/>
                <a:sym typeface="Helvetica Neue"/>
              </a:rPr>
              <a:t>):  </a:t>
            </a:r>
            <a:r>
              <a:rPr lang="en-US" sz="2800" b="1">
                <a:solidFill>
                  <a:srgbClr val="FF0000"/>
                </a:solidFill>
                <a:latin typeface="Arial"/>
                <a:ea typeface="Arial"/>
                <a:cs typeface="Arial"/>
                <a:sym typeface="Arial"/>
              </a:rPr>
              <a:t>def interest(principal,rate=8.5,time):</a:t>
            </a:r>
            <a:endParaRPr sz="2800">
              <a:solidFill>
                <a:schemeClr val="dk1"/>
              </a:solidFill>
              <a:latin typeface="Arial"/>
              <a:ea typeface="Arial"/>
              <a:cs typeface="Arial"/>
              <a:sym typeface="Arial"/>
            </a:endParaRPr>
          </a:p>
        </p:txBody>
      </p:sp>
      <p:sp>
        <p:nvSpPr>
          <p:cNvPr id="279" name="Google Shape;279;p20"/>
          <p:cNvSpPr/>
          <p:nvPr/>
        </p:nvSpPr>
        <p:spPr>
          <a:xfrm>
            <a:off x="7103618" y="4495800"/>
            <a:ext cx="288290" cy="914400"/>
          </a:xfrm>
          <a:custGeom>
            <a:avLst/>
            <a:gdLst/>
            <a:ahLst/>
            <a:cxnLst/>
            <a:rect l="l" t="t" r="r" b="b"/>
            <a:pathLst>
              <a:path w="288290" h="914400" extrusionOk="0">
                <a:moveTo>
                  <a:pt x="0" y="0"/>
                </a:moveTo>
                <a:lnTo>
                  <a:pt x="56022" y="1893"/>
                </a:lnTo>
                <a:lnTo>
                  <a:pt x="101758" y="7048"/>
                </a:lnTo>
                <a:lnTo>
                  <a:pt x="132588" y="14680"/>
                </a:lnTo>
                <a:lnTo>
                  <a:pt x="143891" y="24003"/>
                </a:lnTo>
                <a:lnTo>
                  <a:pt x="143891" y="433197"/>
                </a:lnTo>
                <a:lnTo>
                  <a:pt x="155194" y="442519"/>
                </a:lnTo>
                <a:lnTo>
                  <a:pt x="186023" y="450151"/>
                </a:lnTo>
                <a:lnTo>
                  <a:pt x="231759" y="455306"/>
                </a:lnTo>
                <a:lnTo>
                  <a:pt x="287782" y="457200"/>
                </a:lnTo>
                <a:lnTo>
                  <a:pt x="231759" y="459093"/>
                </a:lnTo>
                <a:lnTo>
                  <a:pt x="186023" y="464248"/>
                </a:lnTo>
                <a:lnTo>
                  <a:pt x="155194" y="471880"/>
                </a:lnTo>
                <a:lnTo>
                  <a:pt x="143891" y="481203"/>
                </a:lnTo>
                <a:lnTo>
                  <a:pt x="143891" y="890397"/>
                </a:lnTo>
                <a:lnTo>
                  <a:pt x="132588" y="899719"/>
                </a:lnTo>
                <a:lnTo>
                  <a:pt x="101758" y="907351"/>
                </a:lnTo>
                <a:lnTo>
                  <a:pt x="56022" y="912506"/>
                </a:lnTo>
                <a:lnTo>
                  <a:pt x="0" y="914400"/>
                </a:lnTo>
              </a:path>
            </a:pathLst>
          </a:custGeom>
          <a:noFill/>
          <a:ln w="9975" cap="flat" cmpd="sng">
            <a:solidFill>
              <a:srgbClr val="93B6D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280" name="Google Shape;280;p20"/>
          <p:cNvGrpSpPr/>
          <p:nvPr/>
        </p:nvGrpSpPr>
        <p:grpSpPr>
          <a:xfrm>
            <a:off x="7458456" y="4693920"/>
            <a:ext cx="999744" cy="559308"/>
            <a:chOff x="7458456" y="4693920"/>
            <a:chExt cx="999744" cy="559308"/>
          </a:xfrm>
        </p:grpSpPr>
        <p:pic>
          <p:nvPicPr>
            <p:cNvPr id="281" name="Google Shape;281;p20"/>
            <p:cNvPicPr preferRelativeResize="0"/>
            <p:nvPr/>
          </p:nvPicPr>
          <p:blipFill rotWithShape="1">
            <a:blip r:embed="rId3">
              <a:alphaModFix/>
            </a:blip>
            <a:srcRect/>
            <a:stretch/>
          </p:blipFill>
          <p:spPr>
            <a:xfrm>
              <a:off x="7504168" y="4718334"/>
              <a:ext cx="853456" cy="444962"/>
            </a:xfrm>
            <a:prstGeom prst="rect">
              <a:avLst/>
            </a:prstGeom>
            <a:noFill/>
            <a:ln>
              <a:noFill/>
            </a:ln>
          </p:spPr>
        </p:pic>
        <p:pic>
          <p:nvPicPr>
            <p:cNvPr id="282" name="Google Shape;282;p20"/>
            <p:cNvPicPr preferRelativeResize="0"/>
            <p:nvPr/>
          </p:nvPicPr>
          <p:blipFill rotWithShape="1">
            <a:blip r:embed="rId4">
              <a:alphaModFix/>
            </a:blip>
            <a:srcRect/>
            <a:stretch/>
          </p:blipFill>
          <p:spPr>
            <a:xfrm>
              <a:off x="7458456" y="4693920"/>
              <a:ext cx="999744" cy="559308"/>
            </a:xfrm>
            <a:prstGeom prst="rect">
              <a:avLst/>
            </a:prstGeom>
            <a:noFill/>
            <a:ln>
              <a:noFill/>
            </a:ln>
          </p:spPr>
        </p:pic>
      </p:grpSp>
      <p:sp>
        <p:nvSpPr>
          <p:cNvPr id="283" name="Google Shape;283;p20"/>
          <p:cNvSpPr txBox="1"/>
          <p:nvPr/>
        </p:nvSpPr>
        <p:spPr>
          <a:xfrm>
            <a:off x="7543800" y="4724387"/>
            <a:ext cx="774065" cy="369570"/>
          </a:xfrm>
          <a:prstGeom prst="rect">
            <a:avLst/>
          </a:prstGeom>
          <a:solidFill>
            <a:srgbClr val="D2DEEA"/>
          </a:solidFill>
          <a:ln w="9975" cap="flat" cmpd="sng">
            <a:solidFill>
              <a:srgbClr val="93B6D2"/>
            </a:solidFill>
            <a:prstDash val="solid"/>
            <a:round/>
            <a:headEnd type="none" w="sm" len="sm"/>
            <a:tailEnd type="none" w="sm" len="sm"/>
          </a:ln>
        </p:spPr>
        <p:txBody>
          <a:bodyPr spcFirstLastPara="1" wrap="square" lIns="0" tIns="34275" rIns="0" bIns="0" anchor="t" anchorCtr="0">
            <a:spAutoFit/>
          </a:bodyPr>
          <a:lstStyle/>
          <a:p>
            <a:pPr marL="92075" marR="0" lvl="0" indent="0" algn="l" rtl="0">
              <a:lnSpc>
                <a:spcPct val="100000"/>
              </a:lnSpc>
              <a:spcBef>
                <a:spcPts val="0"/>
              </a:spcBef>
              <a:spcAft>
                <a:spcPts val="0"/>
              </a:spcAft>
              <a:buNone/>
            </a:pPr>
            <a:r>
              <a:rPr lang="en-US" sz="1800" b="1">
                <a:solidFill>
                  <a:schemeClr val="dk1"/>
                </a:solidFill>
                <a:latin typeface="Arial"/>
                <a:ea typeface="Arial"/>
                <a:cs typeface="Arial"/>
                <a:sym typeface="Arial"/>
              </a:rPr>
              <a:t>VALID</a:t>
            </a:r>
            <a:endParaRPr sz="1800">
              <a:solidFill>
                <a:schemeClr val="dk1"/>
              </a:solidFill>
              <a:latin typeface="Arial"/>
              <a:ea typeface="Arial"/>
              <a:cs typeface="Arial"/>
              <a:sym typeface="Arial"/>
            </a:endParaRPr>
          </a:p>
        </p:txBody>
      </p:sp>
      <p:grpSp>
        <p:nvGrpSpPr>
          <p:cNvPr id="284" name="Google Shape;284;p20"/>
          <p:cNvGrpSpPr/>
          <p:nvPr/>
        </p:nvGrpSpPr>
        <p:grpSpPr>
          <a:xfrm>
            <a:off x="7306056" y="5556503"/>
            <a:ext cx="1216152" cy="559307"/>
            <a:chOff x="7306056" y="5556503"/>
            <a:chExt cx="1216152" cy="559307"/>
          </a:xfrm>
        </p:grpSpPr>
        <p:pic>
          <p:nvPicPr>
            <p:cNvPr id="285" name="Google Shape;285;p20"/>
            <p:cNvPicPr preferRelativeResize="0"/>
            <p:nvPr/>
          </p:nvPicPr>
          <p:blipFill rotWithShape="1">
            <a:blip r:embed="rId5">
              <a:alphaModFix/>
            </a:blip>
            <a:srcRect/>
            <a:stretch/>
          </p:blipFill>
          <p:spPr>
            <a:xfrm>
              <a:off x="7351782" y="5582442"/>
              <a:ext cx="1071359" cy="444962"/>
            </a:xfrm>
            <a:prstGeom prst="rect">
              <a:avLst/>
            </a:prstGeom>
            <a:noFill/>
            <a:ln>
              <a:noFill/>
            </a:ln>
          </p:spPr>
        </p:pic>
        <p:pic>
          <p:nvPicPr>
            <p:cNvPr id="286" name="Google Shape;286;p20"/>
            <p:cNvPicPr preferRelativeResize="0"/>
            <p:nvPr/>
          </p:nvPicPr>
          <p:blipFill rotWithShape="1">
            <a:blip r:embed="rId6">
              <a:alphaModFix/>
            </a:blip>
            <a:srcRect/>
            <a:stretch/>
          </p:blipFill>
          <p:spPr>
            <a:xfrm>
              <a:off x="7306056" y="5556503"/>
              <a:ext cx="1216152" cy="559307"/>
            </a:xfrm>
            <a:prstGeom prst="rect">
              <a:avLst/>
            </a:prstGeom>
            <a:noFill/>
            <a:ln>
              <a:noFill/>
            </a:ln>
          </p:spPr>
        </p:pic>
      </p:grpSp>
      <p:sp>
        <p:nvSpPr>
          <p:cNvPr id="287" name="Google Shape;287;p20"/>
          <p:cNvSpPr txBox="1"/>
          <p:nvPr/>
        </p:nvSpPr>
        <p:spPr>
          <a:xfrm>
            <a:off x="7391400" y="5587669"/>
            <a:ext cx="991869" cy="369570"/>
          </a:xfrm>
          <a:prstGeom prst="rect">
            <a:avLst/>
          </a:prstGeom>
          <a:solidFill>
            <a:srgbClr val="D2DEEA"/>
          </a:solidFill>
          <a:ln w="9975" cap="flat" cmpd="sng">
            <a:solidFill>
              <a:srgbClr val="93B6D2"/>
            </a:solidFill>
            <a:prstDash val="solid"/>
            <a:round/>
            <a:headEnd type="none" w="sm" len="sm"/>
            <a:tailEnd type="none" w="sm" len="sm"/>
          </a:ln>
        </p:spPr>
        <p:txBody>
          <a:bodyPr spcFirstLastPara="1" wrap="square" lIns="0" tIns="34275" rIns="0" bIns="0" anchor="t" anchorCtr="0">
            <a:spAutoFit/>
          </a:bodyPr>
          <a:lstStyle/>
          <a:p>
            <a:pPr marL="92075" marR="0" lvl="0" indent="0" algn="l" rtl="0">
              <a:lnSpc>
                <a:spcPct val="100000"/>
              </a:lnSpc>
              <a:spcBef>
                <a:spcPts val="0"/>
              </a:spcBef>
              <a:spcAft>
                <a:spcPts val="0"/>
              </a:spcAft>
              <a:buNone/>
            </a:pPr>
            <a:r>
              <a:rPr lang="en-US" sz="1800" b="1">
                <a:solidFill>
                  <a:schemeClr val="dk1"/>
                </a:solidFill>
                <a:latin typeface="Arial"/>
                <a:ea typeface="Arial"/>
                <a:cs typeface="Arial"/>
                <a:sym typeface="Arial"/>
              </a:rPr>
              <a:t>INVALID</a:t>
            </a:r>
            <a:endParaRPr sz="1800">
              <a:solidFill>
                <a:schemeClr val="dk1"/>
              </a:solidFill>
              <a:latin typeface="Arial"/>
              <a:ea typeface="Arial"/>
              <a:cs typeface="Arial"/>
              <a:sym typeface="Arial"/>
            </a:endParaRPr>
          </a:p>
        </p:txBody>
      </p:sp>
      <p:sp>
        <p:nvSpPr>
          <p:cNvPr id="288" name="Google Shape;288;p20"/>
          <p:cNvSpPr/>
          <p:nvPr/>
        </p:nvSpPr>
        <p:spPr>
          <a:xfrm>
            <a:off x="6629400" y="5720626"/>
            <a:ext cx="762000" cy="103505"/>
          </a:xfrm>
          <a:custGeom>
            <a:avLst/>
            <a:gdLst/>
            <a:ahLst/>
            <a:cxnLst/>
            <a:rect l="l" t="t" r="r" b="b"/>
            <a:pathLst>
              <a:path w="762000" h="103504" extrusionOk="0">
                <a:moveTo>
                  <a:pt x="88645" y="0"/>
                </a:moveTo>
                <a:lnTo>
                  <a:pt x="0" y="51701"/>
                </a:lnTo>
                <a:lnTo>
                  <a:pt x="88645" y="103403"/>
                </a:lnTo>
                <a:lnTo>
                  <a:pt x="92456" y="102387"/>
                </a:lnTo>
                <a:lnTo>
                  <a:pt x="96012" y="96316"/>
                </a:lnTo>
                <a:lnTo>
                  <a:pt x="94995" y="92430"/>
                </a:lnTo>
                <a:lnTo>
                  <a:pt x="36044" y="58051"/>
                </a:lnTo>
                <a:lnTo>
                  <a:pt x="12573" y="58051"/>
                </a:lnTo>
                <a:lnTo>
                  <a:pt x="12573" y="45351"/>
                </a:lnTo>
                <a:lnTo>
                  <a:pt x="36044" y="45351"/>
                </a:lnTo>
                <a:lnTo>
                  <a:pt x="94995" y="10972"/>
                </a:lnTo>
                <a:lnTo>
                  <a:pt x="96012" y="7086"/>
                </a:lnTo>
                <a:lnTo>
                  <a:pt x="92456" y="1028"/>
                </a:lnTo>
                <a:lnTo>
                  <a:pt x="88645" y="0"/>
                </a:lnTo>
                <a:close/>
              </a:path>
              <a:path w="762000" h="103504" extrusionOk="0">
                <a:moveTo>
                  <a:pt x="36044" y="45351"/>
                </a:moveTo>
                <a:lnTo>
                  <a:pt x="12573" y="45351"/>
                </a:lnTo>
                <a:lnTo>
                  <a:pt x="12573" y="58051"/>
                </a:lnTo>
                <a:lnTo>
                  <a:pt x="36044" y="58051"/>
                </a:lnTo>
                <a:lnTo>
                  <a:pt x="34563" y="57188"/>
                </a:lnTo>
                <a:lnTo>
                  <a:pt x="15748" y="57188"/>
                </a:lnTo>
                <a:lnTo>
                  <a:pt x="15748" y="46215"/>
                </a:lnTo>
                <a:lnTo>
                  <a:pt x="34563" y="46215"/>
                </a:lnTo>
                <a:lnTo>
                  <a:pt x="36044" y="45351"/>
                </a:lnTo>
                <a:close/>
              </a:path>
              <a:path w="762000" h="103504" extrusionOk="0">
                <a:moveTo>
                  <a:pt x="762000" y="45351"/>
                </a:moveTo>
                <a:lnTo>
                  <a:pt x="36044" y="45351"/>
                </a:lnTo>
                <a:lnTo>
                  <a:pt x="25155" y="51701"/>
                </a:lnTo>
                <a:lnTo>
                  <a:pt x="36044" y="58051"/>
                </a:lnTo>
                <a:lnTo>
                  <a:pt x="762000" y="58051"/>
                </a:lnTo>
                <a:lnTo>
                  <a:pt x="762000" y="45351"/>
                </a:lnTo>
                <a:close/>
              </a:path>
              <a:path w="762000" h="103504" extrusionOk="0">
                <a:moveTo>
                  <a:pt x="15748" y="46215"/>
                </a:moveTo>
                <a:lnTo>
                  <a:pt x="15748" y="57188"/>
                </a:lnTo>
                <a:lnTo>
                  <a:pt x="25155" y="51701"/>
                </a:lnTo>
                <a:lnTo>
                  <a:pt x="15748" y="46215"/>
                </a:lnTo>
                <a:close/>
              </a:path>
              <a:path w="762000" h="103504" extrusionOk="0">
                <a:moveTo>
                  <a:pt x="25155" y="51701"/>
                </a:moveTo>
                <a:lnTo>
                  <a:pt x="15748" y="57188"/>
                </a:lnTo>
                <a:lnTo>
                  <a:pt x="34563" y="57188"/>
                </a:lnTo>
                <a:lnTo>
                  <a:pt x="25155" y="51701"/>
                </a:lnTo>
                <a:close/>
              </a:path>
              <a:path w="762000" h="103504" extrusionOk="0">
                <a:moveTo>
                  <a:pt x="34563" y="46215"/>
                </a:moveTo>
                <a:lnTo>
                  <a:pt x="15748" y="46215"/>
                </a:lnTo>
                <a:lnTo>
                  <a:pt x="25155" y="51701"/>
                </a:lnTo>
                <a:lnTo>
                  <a:pt x="34563" y="46215"/>
                </a:lnTo>
                <a:close/>
              </a:path>
            </a:pathLst>
          </a:custGeom>
          <a:solidFill>
            <a:srgbClr val="93B6D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9" name="Google Shape;289;p20"/>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290" name="Google Shape;290;p20"/>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1"/>
          <p:cNvSpPr txBox="1">
            <a:spLocks noGrp="1"/>
          </p:cNvSpPr>
          <p:nvPr>
            <p:ph type="title"/>
          </p:nvPr>
        </p:nvSpPr>
        <p:spPr>
          <a:xfrm>
            <a:off x="685800" y="152400"/>
            <a:ext cx="4094479"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Default arguments</a:t>
            </a:r>
            <a:endParaRPr sz="4400"/>
          </a:p>
        </p:txBody>
      </p:sp>
      <p:pic>
        <p:nvPicPr>
          <p:cNvPr id="296" name="Google Shape;296;p21"/>
          <p:cNvPicPr preferRelativeResize="0"/>
          <p:nvPr/>
        </p:nvPicPr>
        <p:blipFill rotWithShape="1">
          <a:blip r:embed="rId3">
            <a:alphaModFix/>
          </a:blip>
          <a:srcRect/>
          <a:stretch/>
        </p:blipFill>
        <p:spPr>
          <a:xfrm>
            <a:off x="533400" y="1828800"/>
            <a:ext cx="7772400" cy="4267200"/>
          </a:xfrm>
          <a:prstGeom prst="rect">
            <a:avLst/>
          </a:prstGeom>
          <a:noFill/>
          <a:ln>
            <a:noFill/>
          </a:ln>
        </p:spPr>
      </p:pic>
      <p:sp>
        <p:nvSpPr>
          <p:cNvPr id="297" name="Google Shape;297;p21"/>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298" name="Google Shape;298;p21"/>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2"/>
          <p:cNvSpPr txBox="1">
            <a:spLocks noGrp="1"/>
          </p:cNvSpPr>
          <p:nvPr>
            <p:ph type="title"/>
          </p:nvPr>
        </p:nvSpPr>
        <p:spPr>
          <a:xfrm>
            <a:off x="599440" y="152400"/>
            <a:ext cx="4094479"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Default arguments</a:t>
            </a:r>
            <a:endParaRPr sz="4400"/>
          </a:p>
        </p:txBody>
      </p:sp>
      <p:pic>
        <p:nvPicPr>
          <p:cNvPr id="304" name="Google Shape;304;p22"/>
          <p:cNvPicPr preferRelativeResize="0"/>
          <p:nvPr/>
        </p:nvPicPr>
        <p:blipFill rotWithShape="1">
          <a:blip r:embed="rId3">
            <a:alphaModFix/>
          </a:blip>
          <a:srcRect/>
          <a:stretch/>
        </p:blipFill>
        <p:spPr>
          <a:xfrm>
            <a:off x="609600" y="1676400"/>
            <a:ext cx="7620000" cy="4495800"/>
          </a:xfrm>
          <a:prstGeom prst="rect">
            <a:avLst/>
          </a:prstGeom>
          <a:noFill/>
          <a:ln>
            <a:noFill/>
          </a:ln>
        </p:spPr>
      </p:pic>
      <p:sp>
        <p:nvSpPr>
          <p:cNvPr id="305" name="Google Shape;305;p22"/>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306" name="Google Shape;306;p22"/>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23"/>
          <p:cNvSpPr txBox="1">
            <a:spLocks noGrp="1"/>
          </p:cNvSpPr>
          <p:nvPr>
            <p:ph type="title"/>
          </p:nvPr>
        </p:nvSpPr>
        <p:spPr>
          <a:xfrm>
            <a:off x="228600" y="152400"/>
            <a:ext cx="641477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Keyword(Named) Arguments</a:t>
            </a:r>
            <a:endParaRPr sz="4400"/>
          </a:p>
        </p:txBody>
      </p:sp>
      <p:sp>
        <p:nvSpPr>
          <p:cNvPr id="312" name="Google Shape;312;p23"/>
          <p:cNvSpPr txBox="1"/>
          <p:nvPr/>
        </p:nvSpPr>
        <p:spPr>
          <a:xfrm>
            <a:off x="691387" y="1567941"/>
            <a:ext cx="7996555" cy="4227195"/>
          </a:xfrm>
          <a:prstGeom prst="rect">
            <a:avLst/>
          </a:prstGeom>
          <a:noFill/>
          <a:ln>
            <a:noFill/>
          </a:ln>
        </p:spPr>
        <p:txBody>
          <a:bodyPr spcFirstLastPara="1" wrap="square" lIns="0" tIns="57150" rIns="0" bIns="0" anchor="t" anchorCtr="0">
            <a:spAutoFit/>
          </a:bodyPr>
          <a:lstStyle/>
          <a:p>
            <a:pPr marL="332740" marR="5080" lvl="0" indent="-320675" algn="just" rtl="0">
              <a:lnSpc>
                <a:spcPct val="9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The default keyword gives flexibility to specify  default value for a parameter so that it can be  skipped in the function call, if needed. However, still  we cannot change the order of arguments in  function call i.e. you have to remember the order of  the arguments and pass the value accordingly.</a:t>
            </a:r>
            <a:endParaRPr sz="2900">
              <a:solidFill>
                <a:schemeClr val="dk1"/>
              </a:solidFill>
              <a:latin typeface="Helvetica Neue"/>
              <a:ea typeface="Helvetica Neue"/>
              <a:cs typeface="Helvetica Neue"/>
              <a:sym typeface="Helvetica Neue"/>
            </a:endParaRPr>
          </a:p>
          <a:p>
            <a:pPr marL="332740" marR="6350" lvl="0" indent="-320675" algn="just" rtl="0">
              <a:lnSpc>
                <a:spcPct val="107931"/>
              </a:lnSpc>
              <a:spcBef>
                <a:spcPts val="74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To get control and flexibility over the values sent as  arguments, python offers KEYWORD ARGUMENTS.</a:t>
            </a:r>
            <a:endParaRPr sz="2900">
              <a:solidFill>
                <a:schemeClr val="dk1"/>
              </a:solidFill>
              <a:latin typeface="Helvetica Neue"/>
              <a:ea typeface="Helvetica Neue"/>
              <a:cs typeface="Helvetica Neue"/>
              <a:sym typeface="Helvetica Neue"/>
            </a:endParaRPr>
          </a:p>
          <a:p>
            <a:pPr marL="332740" marR="6350" lvl="0" indent="-320675" algn="just" rtl="0">
              <a:lnSpc>
                <a:spcPct val="107931"/>
              </a:lnSpc>
              <a:spcBef>
                <a:spcPts val="71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This allows to call function with arguments in any  order using name of the arguments.</a:t>
            </a:r>
            <a:endParaRPr sz="2900">
              <a:solidFill>
                <a:schemeClr val="dk1"/>
              </a:solidFill>
              <a:latin typeface="Helvetica Neue"/>
              <a:ea typeface="Helvetica Neue"/>
              <a:cs typeface="Helvetica Neue"/>
              <a:sym typeface="Helvetica Neue"/>
            </a:endParaRPr>
          </a:p>
        </p:txBody>
      </p:sp>
      <p:sp>
        <p:nvSpPr>
          <p:cNvPr id="313" name="Google Shape;313;p23"/>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314" name="Google Shape;314;p23"/>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4"/>
          <p:cNvSpPr txBox="1">
            <a:spLocks noGrp="1"/>
          </p:cNvSpPr>
          <p:nvPr>
            <p:ph type="title"/>
          </p:nvPr>
        </p:nvSpPr>
        <p:spPr>
          <a:xfrm>
            <a:off x="0" y="76200"/>
            <a:ext cx="6228715"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Keyword(Named) Argument</a:t>
            </a:r>
            <a:endParaRPr sz="4400"/>
          </a:p>
        </p:txBody>
      </p:sp>
      <p:pic>
        <p:nvPicPr>
          <p:cNvPr id="320" name="Google Shape;320;p24"/>
          <p:cNvPicPr preferRelativeResize="0"/>
          <p:nvPr/>
        </p:nvPicPr>
        <p:blipFill rotWithShape="1">
          <a:blip r:embed="rId3">
            <a:alphaModFix/>
          </a:blip>
          <a:srcRect/>
          <a:stretch/>
        </p:blipFill>
        <p:spPr>
          <a:xfrm>
            <a:off x="768248" y="1976373"/>
            <a:ext cx="7766177" cy="4500626"/>
          </a:xfrm>
          <a:prstGeom prst="rect">
            <a:avLst/>
          </a:prstGeom>
          <a:noFill/>
          <a:ln>
            <a:noFill/>
          </a:ln>
        </p:spPr>
      </p:pic>
      <p:sp>
        <p:nvSpPr>
          <p:cNvPr id="321" name="Google Shape;321;p24"/>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322" name="Google Shape;322;p24"/>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25"/>
          <p:cNvSpPr txBox="1">
            <a:spLocks noGrp="1"/>
          </p:cNvSpPr>
          <p:nvPr>
            <p:ph type="title"/>
          </p:nvPr>
        </p:nvSpPr>
        <p:spPr>
          <a:xfrm>
            <a:off x="-35560" y="-89600"/>
            <a:ext cx="8105140" cy="99835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3200" b="1">
                <a:latin typeface="Arial"/>
                <a:ea typeface="Arial"/>
                <a:cs typeface="Arial"/>
                <a:sym typeface="Arial"/>
              </a:rPr>
              <a:t>Rules for combining all three type </a:t>
            </a:r>
            <a:br>
              <a:rPr lang="en-US" sz="3200" b="1">
                <a:latin typeface="Arial"/>
                <a:ea typeface="Arial"/>
                <a:cs typeface="Arial"/>
                <a:sym typeface="Arial"/>
              </a:rPr>
            </a:br>
            <a:r>
              <a:rPr lang="en-US" sz="3200" b="1">
                <a:latin typeface="Arial"/>
                <a:ea typeface="Arial"/>
                <a:cs typeface="Arial"/>
                <a:sym typeface="Arial"/>
              </a:rPr>
              <a:t>of arguments</a:t>
            </a:r>
            <a:endParaRPr sz="3200">
              <a:latin typeface="Arial"/>
              <a:ea typeface="Arial"/>
              <a:cs typeface="Arial"/>
              <a:sym typeface="Arial"/>
            </a:endParaRPr>
          </a:p>
        </p:txBody>
      </p:sp>
      <p:sp>
        <p:nvSpPr>
          <p:cNvPr id="328" name="Google Shape;328;p25"/>
          <p:cNvSpPr txBox="1"/>
          <p:nvPr/>
        </p:nvSpPr>
        <p:spPr>
          <a:xfrm>
            <a:off x="691387" y="1612138"/>
            <a:ext cx="7567930" cy="2856865"/>
          </a:xfrm>
          <a:prstGeom prst="rect">
            <a:avLst/>
          </a:prstGeom>
          <a:noFill/>
          <a:ln>
            <a:noFill/>
          </a:ln>
        </p:spPr>
        <p:txBody>
          <a:bodyPr spcFirstLastPara="1" wrap="square" lIns="0" tIns="13325" rIns="0" bIns="0" anchor="t" anchorCtr="0">
            <a:spAutoFit/>
          </a:bodyPr>
          <a:lstStyle/>
          <a:p>
            <a:pPr marL="332740" marR="843914" lvl="0" indent="-320675" algn="l"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An argument list must first contain positional  arguments followed by keyword arguments</a:t>
            </a:r>
            <a:endParaRPr sz="2900">
              <a:solidFill>
                <a:schemeClr val="dk1"/>
              </a:solidFill>
              <a:latin typeface="Helvetica Neue"/>
              <a:ea typeface="Helvetica Neue"/>
              <a:cs typeface="Helvetica Neue"/>
              <a:sym typeface="Helvetica Neue"/>
            </a:endParaRPr>
          </a:p>
          <a:p>
            <a:pPr marL="332740" marR="591820" lvl="0" indent="-320675" algn="l" rtl="0">
              <a:lnSpc>
                <a:spcPct val="100000"/>
              </a:lnSpc>
              <a:spcBef>
                <a:spcPts val="69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Keyword arguments should be taken from the  required arguments</a:t>
            </a:r>
            <a:endParaRPr sz="2900">
              <a:solidFill>
                <a:schemeClr val="dk1"/>
              </a:solidFill>
              <a:latin typeface="Helvetica Neue"/>
              <a:ea typeface="Helvetica Neue"/>
              <a:cs typeface="Helvetica Neue"/>
              <a:sym typeface="Helvetica Neue"/>
            </a:endParaRPr>
          </a:p>
          <a:p>
            <a:pPr marL="332740" marR="5080" lvl="0" indent="-320675" algn="l" rtl="0">
              <a:lnSpc>
                <a:spcPct val="100000"/>
              </a:lnSpc>
              <a:spcBef>
                <a:spcPts val="71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You cannot specify a value for an argument more  than once</a:t>
            </a:r>
            <a:endParaRPr sz="2900">
              <a:solidFill>
                <a:schemeClr val="dk1"/>
              </a:solidFill>
              <a:latin typeface="Helvetica Neue"/>
              <a:ea typeface="Helvetica Neue"/>
              <a:cs typeface="Helvetica Neue"/>
              <a:sym typeface="Helvetica Neue"/>
            </a:endParaRPr>
          </a:p>
        </p:txBody>
      </p:sp>
      <p:sp>
        <p:nvSpPr>
          <p:cNvPr id="329" name="Google Shape;329;p25"/>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330" name="Google Shape;330;p25"/>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6"/>
          <p:cNvSpPr txBox="1">
            <a:spLocks noGrp="1"/>
          </p:cNvSpPr>
          <p:nvPr>
            <p:ph type="title"/>
          </p:nvPr>
        </p:nvSpPr>
        <p:spPr>
          <a:xfrm>
            <a:off x="228600" y="20320"/>
            <a:ext cx="554736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Returning Multiple values</a:t>
            </a:r>
            <a:endParaRPr sz="4400"/>
          </a:p>
        </p:txBody>
      </p:sp>
      <p:sp>
        <p:nvSpPr>
          <p:cNvPr id="336" name="Google Shape;336;p26"/>
          <p:cNvSpPr txBox="1"/>
          <p:nvPr/>
        </p:nvSpPr>
        <p:spPr>
          <a:xfrm>
            <a:off x="691387" y="1612138"/>
            <a:ext cx="7877175" cy="3298825"/>
          </a:xfrm>
          <a:prstGeom prst="rect">
            <a:avLst/>
          </a:prstGeom>
          <a:noFill/>
          <a:ln>
            <a:noFill/>
          </a:ln>
        </p:spPr>
        <p:txBody>
          <a:bodyPr spcFirstLastPara="1" wrap="square" lIns="0" tIns="13325" rIns="0" bIns="0" anchor="t" anchorCtr="0">
            <a:spAutoFit/>
          </a:bodyPr>
          <a:lstStyle/>
          <a:p>
            <a:pPr marL="332740" marR="367030" lvl="0" indent="-320675" algn="l"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Unlike other programming languages, python lets  you return more than one value from function.</a:t>
            </a:r>
            <a:endParaRPr sz="2900">
              <a:solidFill>
                <a:schemeClr val="dk1"/>
              </a:solidFill>
              <a:latin typeface="Helvetica Neue"/>
              <a:ea typeface="Helvetica Neue"/>
              <a:cs typeface="Helvetica Neue"/>
              <a:sym typeface="Helvetica Neue"/>
            </a:endParaRPr>
          </a:p>
          <a:p>
            <a:pPr marL="332740" marR="5080" lvl="0" indent="-320675" algn="l" rtl="0">
              <a:lnSpc>
                <a:spcPct val="100000"/>
              </a:lnSpc>
              <a:spcBef>
                <a:spcPts val="69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The multiple return value must be either stored in  TUPLE or we can UNPACK the received value by  specifying the same number of variables on the left  of assignment of function call.</a:t>
            </a:r>
            <a:endParaRPr sz="2900">
              <a:solidFill>
                <a:schemeClr val="dk1"/>
              </a:solidFill>
              <a:latin typeface="Helvetica Neue"/>
              <a:ea typeface="Helvetica Neue"/>
              <a:cs typeface="Helvetica Neue"/>
              <a:sym typeface="Helvetica Neue"/>
            </a:endParaRPr>
          </a:p>
          <a:p>
            <a:pPr marL="332740" marR="0" lvl="0" indent="-320675" algn="l" rtl="0">
              <a:lnSpc>
                <a:spcPct val="100000"/>
              </a:lnSpc>
              <a:spcBef>
                <a:spcPts val="71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Let us see an example of both :-</a:t>
            </a:r>
            <a:endParaRPr sz="2900">
              <a:solidFill>
                <a:schemeClr val="dk1"/>
              </a:solidFill>
              <a:latin typeface="Helvetica Neue"/>
              <a:ea typeface="Helvetica Neue"/>
              <a:cs typeface="Helvetica Neue"/>
              <a:sym typeface="Helvetica Neue"/>
            </a:endParaRPr>
          </a:p>
        </p:txBody>
      </p:sp>
      <p:sp>
        <p:nvSpPr>
          <p:cNvPr id="337" name="Google Shape;337;p26"/>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338" name="Google Shape;338;p26"/>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7"/>
          <p:cNvSpPr txBox="1">
            <a:spLocks noGrp="1"/>
          </p:cNvSpPr>
          <p:nvPr>
            <p:ph type="title"/>
          </p:nvPr>
        </p:nvSpPr>
        <p:spPr>
          <a:xfrm>
            <a:off x="25400" y="-90189"/>
            <a:ext cx="7414259" cy="1120178"/>
          </a:xfrm>
          <a:prstGeom prst="rect">
            <a:avLst/>
          </a:prstGeom>
          <a:noFill/>
          <a:ln>
            <a:noFill/>
          </a:ln>
        </p:spPr>
        <p:txBody>
          <a:bodyPr spcFirstLastPara="1" wrap="square" lIns="0" tIns="12050" rIns="0" bIns="0" anchor="ctr" anchorCtr="0">
            <a:spAutoFit/>
          </a:bodyPr>
          <a:lstStyle/>
          <a:p>
            <a:pPr marL="12700" lvl="0" indent="0" algn="ctr" rtl="0">
              <a:lnSpc>
                <a:spcPct val="100000"/>
              </a:lnSpc>
              <a:spcBef>
                <a:spcPts val="0"/>
              </a:spcBef>
              <a:spcAft>
                <a:spcPts val="0"/>
              </a:spcAft>
              <a:buNone/>
            </a:pPr>
            <a:r>
              <a:rPr lang="en-US" sz="3600"/>
              <a:t>Multiple return value stored in </a:t>
            </a:r>
            <a:br>
              <a:rPr lang="en-US" sz="3600"/>
            </a:br>
            <a:r>
              <a:rPr lang="en-US" sz="3600"/>
              <a:t>TUPLE</a:t>
            </a:r>
            <a:endParaRPr sz="3600"/>
          </a:p>
        </p:txBody>
      </p:sp>
      <p:pic>
        <p:nvPicPr>
          <p:cNvPr id="344" name="Google Shape;344;p27"/>
          <p:cNvPicPr preferRelativeResize="0"/>
          <p:nvPr/>
        </p:nvPicPr>
        <p:blipFill rotWithShape="1">
          <a:blip r:embed="rId3">
            <a:alphaModFix/>
          </a:blip>
          <a:srcRect/>
          <a:stretch/>
        </p:blipFill>
        <p:spPr>
          <a:xfrm>
            <a:off x="607885" y="1585975"/>
            <a:ext cx="7543800" cy="3519424"/>
          </a:xfrm>
          <a:prstGeom prst="rect">
            <a:avLst/>
          </a:prstGeom>
          <a:noFill/>
          <a:ln>
            <a:noFill/>
          </a:ln>
        </p:spPr>
      </p:pic>
      <p:pic>
        <p:nvPicPr>
          <p:cNvPr id="345" name="Google Shape;345;p27"/>
          <p:cNvPicPr preferRelativeResize="0"/>
          <p:nvPr/>
        </p:nvPicPr>
        <p:blipFill rotWithShape="1">
          <a:blip r:embed="rId4">
            <a:alphaModFix/>
          </a:blip>
          <a:srcRect/>
          <a:stretch/>
        </p:blipFill>
        <p:spPr>
          <a:xfrm>
            <a:off x="641223" y="5210175"/>
            <a:ext cx="3625977" cy="1495425"/>
          </a:xfrm>
          <a:prstGeom prst="rect">
            <a:avLst/>
          </a:prstGeom>
          <a:noFill/>
          <a:ln>
            <a:noFill/>
          </a:ln>
        </p:spPr>
      </p:pic>
      <p:sp>
        <p:nvSpPr>
          <p:cNvPr id="346" name="Google Shape;346;p27"/>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347" name="Google Shape;347;p27"/>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8"/>
          <p:cNvSpPr txBox="1">
            <a:spLocks noGrp="1"/>
          </p:cNvSpPr>
          <p:nvPr>
            <p:ph type="title"/>
          </p:nvPr>
        </p:nvSpPr>
        <p:spPr>
          <a:xfrm>
            <a:off x="691387" y="196409"/>
            <a:ext cx="6271260" cy="997068"/>
          </a:xfrm>
          <a:prstGeom prst="rect">
            <a:avLst/>
          </a:prstGeom>
          <a:noFill/>
          <a:ln>
            <a:noFill/>
          </a:ln>
        </p:spPr>
        <p:txBody>
          <a:bodyPr spcFirstLastPara="1" wrap="square" lIns="0" tIns="12050" rIns="0" bIns="0" anchor="ctr" anchorCtr="0">
            <a:spAutoFit/>
          </a:bodyPr>
          <a:lstStyle/>
          <a:p>
            <a:pPr marL="12700" marR="5080" lvl="0" indent="0" algn="ctr" rtl="0">
              <a:lnSpc>
                <a:spcPct val="100000"/>
              </a:lnSpc>
              <a:spcBef>
                <a:spcPts val="0"/>
              </a:spcBef>
              <a:spcAft>
                <a:spcPts val="0"/>
              </a:spcAft>
              <a:buNone/>
            </a:pPr>
            <a:r>
              <a:rPr lang="en-US" sz="3200"/>
              <a:t>Multiple return value stored by  unpacking in multiple variables</a:t>
            </a:r>
            <a:endParaRPr sz="3200"/>
          </a:p>
        </p:txBody>
      </p:sp>
      <p:pic>
        <p:nvPicPr>
          <p:cNvPr id="353" name="Google Shape;353;p28"/>
          <p:cNvPicPr preferRelativeResize="0"/>
          <p:nvPr/>
        </p:nvPicPr>
        <p:blipFill rotWithShape="1">
          <a:blip r:embed="rId3">
            <a:alphaModFix/>
          </a:blip>
          <a:srcRect/>
          <a:stretch/>
        </p:blipFill>
        <p:spPr>
          <a:xfrm>
            <a:off x="612648" y="1600200"/>
            <a:ext cx="6169152" cy="3429000"/>
          </a:xfrm>
          <a:prstGeom prst="rect">
            <a:avLst/>
          </a:prstGeom>
          <a:noFill/>
          <a:ln>
            <a:noFill/>
          </a:ln>
        </p:spPr>
      </p:pic>
      <p:pic>
        <p:nvPicPr>
          <p:cNvPr id="354" name="Google Shape;354;p28"/>
          <p:cNvPicPr preferRelativeResize="0"/>
          <p:nvPr/>
        </p:nvPicPr>
        <p:blipFill rotWithShape="1">
          <a:blip r:embed="rId4">
            <a:alphaModFix/>
          </a:blip>
          <a:srcRect/>
          <a:stretch/>
        </p:blipFill>
        <p:spPr>
          <a:xfrm>
            <a:off x="598360" y="5167286"/>
            <a:ext cx="2590800" cy="1541526"/>
          </a:xfrm>
          <a:prstGeom prst="rect">
            <a:avLst/>
          </a:prstGeom>
          <a:noFill/>
          <a:ln>
            <a:noFill/>
          </a:ln>
        </p:spPr>
      </p:pic>
      <p:sp>
        <p:nvSpPr>
          <p:cNvPr id="355" name="Google Shape;355;p28"/>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356" name="Google Shape;356;p28"/>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9"/>
          <p:cNvSpPr txBox="1">
            <a:spLocks noGrp="1"/>
          </p:cNvSpPr>
          <p:nvPr>
            <p:ph type="title"/>
          </p:nvPr>
        </p:nvSpPr>
        <p:spPr>
          <a:xfrm>
            <a:off x="691387" y="343865"/>
            <a:ext cx="271399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Composition</a:t>
            </a:r>
            <a:endParaRPr sz="4400"/>
          </a:p>
        </p:txBody>
      </p:sp>
      <p:sp>
        <p:nvSpPr>
          <p:cNvPr id="362" name="Google Shape;362;p29"/>
          <p:cNvSpPr txBox="1"/>
          <p:nvPr/>
        </p:nvSpPr>
        <p:spPr>
          <a:xfrm>
            <a:off x="691387" y="1612138"/>
            <a:ext cx="7995920" cy="467995"/>
          </a:xfrm>
          <a:prstGeom prst="rect">
            <a:avLst/>
          </a:prstGeom>
          <a:noFill/>
          <a:ln>
            <a:noFill/>
          </a:ln>
        </p:spPr>
        <p:txBody>
          <a:bodyPr spcFirstLastPara="1" wrap="square" lIns="0" tIns="13325" rIns="0" bIns="0" anchor="t" anchorCtr="0">
            <a:spAutoFit/>
          </a:bodyPr>
          <a:lstStyle/>
          <a:p>
            <a:pPr marL="332740" marR="0" lvl="0" indent="-320675" algn="l"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Refers	to	using	an	expression	as	a	part	of	large</a:t>
            </a:r>
            <a:endParaRPr sz="2900">
              <a:solidFill>
                <a:schemeClr val="dk1"/>
              </a:solidFill>
              <a:latin typeface="Helvetica Neue"/>
              <a:ea typeface="Helvetica Neue"/>
              <a:cs typeface="Helvetica Neue"/>
              <a:sym typeface="Helvetica Neue"/>
            </a:endParaRPr>
          </a:p>
        </p:txBody>
      </p:sp>
      <p:sp>
        <p:nvSpPr>
          <p:cNvPr id="363" name="Google Shape;363;p29"/>
          <p:cNvSpPr txBox="1"/>
          <p:nvPr/>
        </p:nvSpPr>
        <p:spPr>
          <a:xfrm>
            <a:off x="7876793" y="2054174"/>
            <a:ext cx="810260" cy="46863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900">
                <a:solidFill>
                  <a:schemeClr val="dk1"/>
                </a:solidFill>
                <a:latin typeface="Helvetica Neue"/>
                <a:ea typeface="Helvetica Neue"/>
                <a:cs typeface="Helvetica Neue"/>
                <a:sym typeface="Helvetica Neue"/>
              </a:rPr>
              <a:t>large</a:t>
            </a:r>
            <a:endParaRPr sz="2900">
              <a:solidFill>
                <a:schemeClr val="dk1"/>
              </a:solidFill>
              <a:latin typeface="Helvetica Neue"/>
              <a:ea typeface="Helvetica Neue"/>
              <a:cs typeface="Helvetica Neue"/>
              <a:sym typeface="Helvetica Neue"/>
            </a:endParaRPr>
          </a:p>
        </p:txBody>
      </p:sp>
      <p:sp>
        <p:nvSpPr>
          <p:cNvPr id="364" name="Google Shape;364;p29"/>
          <p:cNvSpPr txBox="1"/>
          <p:nvPr/>
        </p:nvSpPr>
        <p:spPr>
          <a:xfrm>
            <a:off x="691387" y="2054174"/>
            <a:ext cx="6969759" cy="1440815"/>
          </a:xfrm>
          <a:prstGeom prst="rect">
            <a:avLst/>
          </a:prstGeom>
          <a:noFill/>
          <a:ln>
            <a:noFill/>
          </a:ln>
        </p:spPr>
        <p:txBody>
          <a:bodyPr spcFirstLastPara="1" wrap="square" lIns="0" tIns="13325" rIns="0" bIns="0" anchor="t" anchorCtr="0">
            <a:spAutoFit/>
          </a:bodyPr>
          <a:lstStyle/>
          <a:p>
            <a:pPr marL="332740" marR="5080" lvl="0" indent="0" algn="l" rtl="0">
              <a:lnSpc>
                <a:spcPct val="100000"/>
              </a:lnSpc>
              <a:spcBef>
                <a:spcPts val="0"/>
              </a:spcBef>
              <a:spcAft>
                <a:spcPts val="0"/>
              </a:spcAft>
              <a:buNone/>
            </a:pPr>
            <a:r>
              <a:rPr lang="en-US" sz="2900">
                <a:solidFill>
                  <a:schemeClr val="dk1"/>
                </a:solidFill>
                <a:latin typeface="Helvetica Neue"/>
                <a:ea typeface="Helvetica Neue"/>
                <a:cs typeface="Helvetica Neue"/>
                <a:sym typeface="Helvetica Neue"/>
              </a:rPr>
              <a:t>expression,	or	a	statement	as	a	part	of  statement.</a:t>
            </a:r>
            <a:endParaRPr sz="2900">
              <a:solidFill>
                <a:schemeClr val="dk1"/>
              </a:solidFill>
              <a:latin typeface="Helvetica Neue"/>
              <a:ea typeface="Helvetica Neue"/>
              <a:cs typeface="Helvetica Neue"/>
              <a:sym typeface="Helvetica Neue"/>
            </a:endParaRPr>
          </a:p>
          <a:p>
            <a:pPr marL="332740" marR="0" lvl="0" indent="-320675" algn="l" rtl="0">
              <a:lnSpc>
                <a:spcPct val="100000"/>
              </a:lnSpc>
              <a:spcBef>
                <a:spcPts val="69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Examples</a:t>
            </a:r>
            <a:endParaRPr sz="2900">
              <a:solidFill>
                <a:schemeClr val="dk1"/>
              </a:solidFill>
              <a:latin typeface="Helvetica Neue"/>
              <a:ea typeface="Helvetica Neue"/>
              <a:cs typeface="Helvetica Neue"/>
              <a:sym typeface="Helvetica Neue"/>
            </a:endParaRPr>
          </a:p>
        </p:txBody>
      </p:sp>
      <p:sp>
        <p:nvSpPr>
          <p:cNvPr id="365" name="Google Shape;365;p29"/>
          <p:cNvSpPr txBox="1"/>
          <p:nvPr/>
        </p:nvSpPr>
        <p:spPr>
          <a:xfrm>
            <a:off x="4349476" y="3472348"/>
            <a:ext cx="1631950" cy="970915"/>
          </a:xfrm>
          <a:prstGeom prst="rect">
            <a:avLst/>
          </a:prstGeom>
          <a:noFill/>
          <a:ln>
            <a:noFill/>
          </a:ln>
        </p:spPr>
        <p:txBody>
          <a:bodyPr spcFirstLastPara="1" wrap="square" lIns="0" tIns="12700" rIns="0" bIns="0" anchor="t" anchorCtr="0">
            <a:spAutoFit/>
          </a:bodyPr>
          <a:lstStyle/>
          <a:p>
            <a:pPr marL="12700" marR="5080" lvl="0" indent="0" algn="l" rtl="0">
              <a:lnSpc>
                <a:spcPct val="119200"/>
              </a:lnSpc>
              <a:spcBef>
                <a:spcPts val="0"/>
              </a:spcBef>
              <a:spcAft>
                <a:spcPts val="0"/>
              </a:spcAft>
              <a:buNone/>
            </a:pPr>
            <a:r>
              <a:rPr lang="en-US" sz="2600">
                <a:solidFill>
                  <a:schemeClr val="dk1"/>
                </a:solidFill>
                <a:latin typeface="Helvetica Neue"/>
                <a:ea typeface="Helvetica Neue"/>
                <a:cs typeface="Helvetica Neue"/>
                <a:sym typeface="Helvetica Neue"/>
              </a:rPr>
              <a:t># Arithmetic  # Logical</a:t>
            </a:r>
            <a:endParaRPr sz="2600">
              <a:solidFill>
                <a:schemeClr val="dk1"/>
              </a:solidFill>
              <a:latin typeface="Helvetica Neue"/>
              <a:ea typeface="Helvetica Neue"/>
              <a:cs typeface="Helvetica Neue"/>
              <a:sym typeface="Helvetica Neue"/>
            </a:endParaRPr>
          </a:p>
        </p:txBody>
      </p:sp>
      <p:sp>
        <p:nvSpPr>
          <p:cNvPr id="366" name="Google Shape;366;p29"/>
          <p:cNvSpPr txBox="1"/>
          <p:nvPr/>
        </p:nvSpPr>
        <p:spPr>
          <a:xfrm>
            <a:off x="1057452" y="3472348"/>
            <a:ext cx="2903220" cy="1443355"/>
          </a:xfrm>
          <a:prstGeom prst="rect">
            <a:avLst/>
          </a:prstGeom>
          <a:noFill/>
          <a:ln>
            <a:noFill/>
          </a:ln>
        </p:spPr>
        <p:txBody>
          <a:bodyPr spcFirstLastPara="1" wrap="square" lIns="0" tIns="88900" rIns="0" bIns="0" anchor="t" anchorCtr="0">
            <a:spAutoFit/>
          </a:bodyPr>
          <a:lstStyle/>
          <a:p>
            <a:pPr marL="12700" marR="0" lvl="0" indent="0" algn="l" rtl="0">
              <a:lnSpc>
                <a:spcPct val="100000"/>
              </a:lnSpc>
              <a:spcBef>
                <a:spcPts val="0"/>
              </a:spcBef>
              <a:spcAft>
                <a:spcPts val="0"/>
              </a:spcAft>
              <a:buNone/>
            </a:pPr>
            <a:r>
              <a:rPr lang="en-US" sz="1800">
                <a:solidFill>
                  <a:srgbClr val="93B6D2"/>
                </a:solidFill>
                <a:latin typeface="Helvetica Neue"/>
                <a:ea typeface="Helvetica Neue"/>
                <a:cs typeface="Helvetica Neue"/>
                <a:sym typeface="Helvetica Neue"/>
              </a:rPr>
              <a:t>🞑 </a:t>
            </a:r>
            <a:r>
              <a:rPr lang="en-US" sz="2600">
                <a:solidFill>
                  <a:schemeClr val="dk1"/>
                </a:solidFill>
                <a:latin typeface="Helvetica Neue"/>
                <a:ea typeface="Helvetica Neue"/>
                <a:cs typeface="Helvetica Neue"/>
                <a:sym typeface="Helvetica Neue"/>
              </a:rPr>
              <a:t>Max((a+b),(c+a))</a:t>
            </a:r>
            <a:endParaRPr sz="2600">
              <a:solidFill>
                <a:schemeClr val="dk1"/>
              </a:solidFill>
              <a:latin typeface="Helvetica Neue"/>
              <a:ea typeface="Helvetica Neue"/>
              <a:cs typeface="Helvetica Neue"/>
              <a:sym typeface="Helvetica Neue"/>
            </a:endParaRPr>
          </a:p>
          <a:p>
            <a:pPr marL="12700" marR="0" lvl="0" indent="0" algn="l" rtl="0">
              <a:lnSpc>
                <a:spcPct val="100000"/>
              </a:lnSpc>
              <a:spcBef>
                <a:spcPts val="600"/>
              </a:spcBef>
              <a:spcAft>
                <a:spcPts val="0"/>
              </a:spcAft>
              <a:buNone/>
            </a:pPr>
            <a:r>
              <a:rPr lang="en-US" sz="1800">
                <a:solidFill>
                  <a:srgbClr val="93B6D2"/>
                </a:solidFill>
                <a:latin typeface="Helvetica Neue"/>
                <a:ea typeface="Helvetica Neue"/>
                <a:cs typeface="Helvetica Neue"/>
                <a:sym typeface="Helvetica Neue"/>
              </a:rPr>
              <a:t>🞑 </a:t>
            </a:r>
            <a:r>
              <a:rPr lang="en-US" sz="2600">
                <a:solidFill>
                  <a:schemeClr val="dk1"/>
                </a:solidFill>
                <a:latin typeface="Helvetica Neue"/>
                <a:ea typeface="Helvetica Neue"/>
                <a:cs typeface="Helvetica Neue"/>
                <a:sym typeface="Helvetica Neue"/>
              </a:rPr>
              <a:t>Prize(Card or Cash)</a:t>
            </a:r>
            <a:endParaRPr sz="2600">
              <a:solidFill>
                <a:schemeClr val="dk1"/>
              </a:solidFill>
              <a:latin typeface="Helvetica Neue"/>
              <a:ea typeface="Helvetica Neue"/>
              <a:cs typeface="Helvetica Neue"/>
              <a:sym typeface="Helvetica Neue"/>
            </a:endParaRPr>
          </a:p>
          <a:p>
            <a:pPr marL="12700" marR="0" lvl="0" indent="0" algn="l" rtl="0">
              <a:lnSpc>
                <a:spcPct val="100000"/>
              </a:lnSpc>
              <a:spcBef>
                <a:spcPts val="600"/>
              </a:spcBef>
              <a:spcAft>
                <a:spcPts val="0"/>
              </a:spcAft>
              <a:buNone/>
            </a:pPr>
            <a:r>
              <a:rPr lang="en-US" sz="1800">
                <a:solidFill>
                  <a:srgbClr val="93B6D2"/>
                </a:solidFill>
                <a:latin typeface="Helvetica Neue"/>
                <a:ea typeface="Helvetica Neue"/>
                <a:cs typeface="Helvetica Neue"/>
                <a:sym typeface="Helvetica Neue"/>
              </a:rPr>
              <a:t>🞑 </a:t>
            </a:r>
            <a:r>
              <a:rPr lang="en-US" sz="2600" b="1">
                <a:solidFill>
                  <a:srgbClr val="FF0000"/>
                </a:solidFill>
                <a:latin typeface="Arial"/>
                <a:ea typeface="Arial"/>
                <a:cs typeface="Arial"/>
                <a:sym typeface="Arial"/>
              </a:rPr>
              <a:t>name="Vikram“</a:t>
            </a:r>
            <a:endParaRPr sz="2600">
              <a:solidFill>
                <a:schemeClr val="dk1"/>
              </a:solidFill>
              <a:latin typeface="Arial"/>
              <a:ea typeface="Arial"/>
              <a:cs typeface="Arial"/>
              <a:sym typeface="Arial"/>
            </a:endParaRPr>
          </a:p>
        </p:txBody>
      </p:sp>
      <p:sp>
        <p:nvSpPr>
          <p:cNvPr id="367" name="Google Shape;367;p29"/>
          <p:cNvSpPr txBox="1"/>
          <p:nvPr/>
        </p:nvSpPr>
        <p:spPr>
          <a:xfrm>
            <a:off x="1057452" y="4965649"/>
            <a:ext cx="7010400" cy="422909"/>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800">
                <a:solidFill>
                  <a:srgbClr val="93B6D2"/>
                </a:solidFill>
                <a:latin typeface="Helvetica Neue"/>
                <a:ea typeface="Helvetica Neue"/>
                <a:cs typeface="Helvetica Neue"/>
                <a:sym typeface="Helvetica Neue"/>
              </a:rPr>
              <a:t>🞑 </a:t>
            </a:r>
            <a:r>
              <a:rPr lang="en-US" sz="2600" b="1">
                <a:solidFill>
                  <a:srgbClr val="FF0000"/>
                </a:solidFill>
                <a:latin typeface="Arial"/>
                <a:ea typeface="Arial"/>
                <a:cs typeface="Arial"/>
                <a:sym typeface="Arial"/>
              </a:rPr>
              <a:t>print(name.replace("m","nt").upper())	#function</a:t>
            </a:r>
            <a:endParaRPr sz="2600">
              <a:solidFill>
                <a:schemeClr val="dk1"/>
              </a:solidFill>
              <a:latin typeface="Arial"/>
              <a:ea typeface="Arial"/>
              <a:cs typeface="Arial"/>
              <a:sym typeface="Arial"/>
            </a:endParaRPr>
          </a:p>
        </p:txBody>
      </p:sp>
      <p:sp>
        <p:nvSpPr>
          <p:cNvPr id="368" name="Google Shape;368;p29"/>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369" name="Google Shape;369;p29"/>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30"/>
          <p:cNvSpPr txBox="1">
            <a:spLocks noGrp="1"/>
          </p:cNvSpPr>
          <p:nvPr>
            <p:ph type="title"/>
          </p:nvPr>
        </p:nvSpPr>
        <p:spPr>
          <a:xfrm>
            <a:off x="609600" y="-10160"/>
            <a:ext cx="429641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Scope of Variables</a:t>
            </a:r>
            <a:endParaRPr sz="4400"/>
          </a:p>
        </p:txBody>
      </p:sp>
      <p:sp>
        <p:nvSpPr>
          <p:cNvPr id="375" name="Google Shape;375;p30"/>
          <p:cNvSpPr txBox="1"/>
          <p:nvPr/>
        </p:nvSpPr>
        <p:spPr>
          <a:xfrm>
            <a:off x="691387" y="1612138"/>
            <a:ext cx="7441565" cy="2830830"/>
          </a:xfrm>
          <a:prstGeom prst="rect">
            <a:avLst/>
          </a:prstGeom>
          <a:noFill/>
          <a:ln>
            <a:noFill/>
          </a:ln>
        </p:spPr>
        <p:txBody>
          <a:bodyPr spcFirstLastPara="1" wrap="square" lIns="0" tIns="13325" rIns="0" bIns="0" anchor="t" anchorCtr="0">
            <a:spAutoFit/>
          </a:bodyPr>
          <a:lstStyle/>
          <a:p>
            <a:pPr marL="332740" marR="5080" lvl="0" indent="-320675" algn="just"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SCOPE means in which part(s) of the program, a  particular piece of code or data is accessible or  known.</a:t>
            </a:r>
            <a:endParaRPr sz="2900">
              <a:solidFill>
                <a:schemeClr val="dk1"/>
              </a:solidFill>
              <a:latin typeface="Helvetica Neue"/>
              <a:ea typeface="Helvetica Neue"/>
              <a:cs typeface="Helvetica Neue"/>
              <a:sym typeface="Helvetica Neue"/>
            </a:endParaRPr>
          </a:p>
          <a:p>
            <a:pPr marL="332740" marR="0" lvl="0" indent="-320675" algn="just" rtl="0">
              <a:lnSpc>
                <a:spcPct val="100000"/>
              </a:lnSpc>
              <a:spcBef>
                <a:spcPts val="69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In Python there are broadly 2 kinds of Scopes:</a:t>
            </a:r>
            <a:endParaRPr sz="2900">
              <a:solidFill>
                <a:schemeClr val="dk1"/>
              </a:solidFill>
              <a:latin typeface="Helvetica Neue"/>
              <a:ea typeface="Helvetica Neue"/>
              <a:cs typeface="Helvetica Neue"/>
              <a:sym typeface="Helvetica Neue"/>
            </a:endParaRPr>
          </a:p>
          <a:p>
            <a:pPr marL="378460" marR="0" lvl="0" indent="0" algn="just" rtl="0">
              <a:lnSpc>
                <a:spcPct val="100000"/>
              </a:lnSpc>
              <a:spcBef>
                <a:spcPts val="625"/>
              </a:spcBef>
              <a:spcAft>
                <a:spcPts val="0"/>
              </a:spcAft>
              <a:buNone/>
            </a:pPr>
            <a:r>
              <a:rPr lang="en-US" sz="1800">
                <a:solidFill>
                  <a:srgbClr val="93B6D2"/>
                </a:solidFill>
                <a:latin typeface="Helvetica Neue"/>
                <a:ea typeface="Helvetica Neue"/>
                <a:cs typeface="Helvetica Neue"/>
                <a:sym typeface="Helvetica Neue"/>
              </a:rPr>
              <a:t>🞑 </a:t>
            </a:r>
            <a:r>
              <a:rPr lang="en-US" sz="2600">
                <a:solidFill>
                  <a:schemeClr val="dk1"/>
                </a:solidFill>
                <a:latin typeface="Helvetica Neue"/>
                <a:ea typeface="Helvetica Neue"/>
                <a:cs typeface="Helvetica Neue"/>
                <a:sym typeface="Helvetica Neue"/>
              </a:rPr>
              <a:t>Global Scope</a:t>
            </a:r>
            <a:endParaRPr sz="2600">
              <a:solidFill>
                <a:schemeClr val="dk1"/>
              </a:solidFill>
              <a:latin typeface="Helvetica Neue"/>
              <a:ea typeface="Helvetica Neue"/>
              <a:cs typeface="Helvetica Neue"/>
              <a:sym typeface="Helvetica Neue"/>
            </a:endParaRPr>
          </a:p>
          <a:p>
            <a:pPr marL="378460" marR="0" lvl="0" indent="0" algn="just" rtl="0">
              <a:lnSpc>
                <a:spcPct val="100000"/>
              </a:lnSpc>
              <a:spcBef>
                <a:spcPts val="600"/>
              </a:spcBef>
              <a:spcAft>
                <a:spcPts val="0"/>
              </a:spcAft>
              <a:buNone/>
            </a:pPr>
            <a:r>
              <a:rPr lang="en-US" sz="1800">
                <a:solidFill>
                  <a:srgbClr val="93B6D2"/>
                </a:solidFill>
                <a:latin typeface="Helvetica Neue"/>
                <a:ea typeface="Helvetica Neue"/>
                <a:cs typeface="Helvetica Neue"/>
                <a:sym typeface="Helvetica Neue"/>
              </a:rPr>
              <a:t>🞑 </a:t>
            </a:r>
            <a:r>
              <a:rPr lang="en-US" sz="2600">
                <a:solidFill>
                  <a:schemeClr val="dk1"/>
                </a:solidFill>
                <a:latin typeface="Helvetica Neue"/>
                <a:ea typeface="Helvetica Neue"/>
                <a:cs typeface="Helvetica Neue"/>
                <a:sym typeface="Helvetica Neue"/>
              </a:rPr>
              <a:t>Local Scope</a:t>
            </a:r>
            <a:endParaRPr sz="2600">
              <a:solidFill>
                <a:schemeClr val="dk1"/>
              </a:solidFill>
              <a:latin typeface="Helvetica Neue"/>
              <a:ea typeface="Helvetica Neue"/>
              <a:cs typeface="Helvetica Neue"/>
              <a:sym typeface="Helvetica Neue"/>
            </a:endParaRPr>
          </a:p>
        </p:txBody>
      </p:sp>
      <p:sp>
        <p:nvSpPr>
          <p:cNvPr id="376" name="Google Shape;376;p30"/>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377" name="Google Shape;377;p30"/>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1"/>
          <p:cNvSpPr txBox="1">
            <a:spLocks noGrp="1"/>
          </p:cNvSpPr>
          <p:nvPr>
            <p:ph type="title"/>
          </p:nvPr>
        </p:nvSpPr>
        <p:spPr>
          <a:xfrm>
            <a:off x="691387" y="10160"/>
            <a:ext cx="311404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Global Scope</a:t>
            </a:r>
            <a:endParaRPr sz="4400"/>
          </a:p>
        </p:txBody>
      </p:sp>
      <p:sp>
        <p:nvSpPr>
          <p:cNvPr id="383" name="Google Shape;383;p31"/>
          <p:cNvSpPr txBox="1"/>
          <p:nvPr/>
        </p:nvSpPr>
        <p:spPr>
          <a:xfrm>
            <a:off x="691387" y="1612138"/>
            <a:ext cx="7946390" cy="2325370"/>
          </a:xfrm>
          <a:prstGeom prst="rect">
            <a:avLst/>
          </a:prstGeom>
          <a:noFill/>
          <a:ln>
            <a:noFill/>
          </a:ln>
        </p:spPr>
        <p:txBody>
          <a:bodyPr spcFirstLastPara="1" wrap="square" lIns="0" tIns="13325" rIns="0" bIns="0" anchor="t" anchorCtr="0">
            <a:spAutoFit/>
          </a:bodyPr>
          <a:lstStyle/>
          <a:p>
            <a:pPr marL="332740" marR="5080" lvl="0" indent="-320675" algn="just"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A name declared in top level segment(</a:t>
            </a:r>
            <a:r>
              <a:rPr lang="en-US" sz="2900" u="sng">
                <a:solidFill>
                  <a:schemeClr val="dk1"/>
                </a:solidFill>
                <a:latin typeface="Helvetica Neue"/>
                <a:ea typeface="Helvetica Neue"/>
                <a:cs typeface="Helvetica Neue"/>
                <a:sym typeface="Helvetica Neue"/>
              </a:rPr>
              <a:t>    </a:t>
            </a:r>
            <a:r>
              <a:rPr lang="en-US" sz="2900">
                <a:solidFill>
                  <a:schemeClr val="dk1"/>
                </a:solidFill>
                <a:latin typeface="Helvetica Neue"/>
                <a:ea typeface="Helvetica Neue"/>
                <a:cs typeface="Helvetica Neue"/>
                <a:sym typeface="Helvetica Neue"/>
              </a:rPr>
              <a:t>main</a:t>
            </a:r>
            <a:r>
              <a:rPr lang="en-US" sz="2900" u="sng">
                <a:solidFill>
                  <a:schemeClr val="dk1"/>
                </a:solidFill>
                <a:latin typeface="Helvetica Neue"/>
                <a:ea typeface="Helvetica Neue"/>
                <a:cs typeface="Helvetica Neue"/>
                <a:sym typeface="Helvetica Neue"/>
              </a:rPr>
              <a:t>    </a:t>
            </a:r>
            <a:r>
              <a:rPr lang="en-US" sz="2900">
                <a:solidFill>
                  <a:schemeClr val="dk1"/>
                </a:solidFill>
                <a:latin typeface="Helvetica Neue"/>
                <a:ea typeface="Helvetica Neue"/>
                <a:cs typeface="Helvetica Neue"/>
                <a:sym typeface="Helvetica Neue"/>
              </a:rPr>
              <a:t>) of  a program is said to have global scope and can be  used in entire program.</a:t>
            </a:r>
            <a:endParaRPr sz="2900">
              <a:solidFill>
                <a:schemeClr val="dk1"/>
              </a:solidFill>
              <a:latin typeface="Helvetica Neue"/>
              <a:ea typeface="Helvetica Neue"/>
              <a:cs typeface="Helvetica Neue"/>
              <a:sym typeface="Helvetica Neue"/>
            </a:endParaRPr>
          </a:p>
          <a:p>
            <a:pPr marL="332740" marR="479425" lvl="0" indent="-320675" algn="just" rtl="0">
              <a:lnSpc>
                <a:spcPct val="100000"/>
              </a:lnSpc>
              <a:spcBef>
                <a:spcPts val="69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Variable defined outside all functions are global  variables.</a:t>
            </a:r>
            <a:endParaRPr sz="2900">
              <a:solidFill>
                <a:schemeClr val="dk1"/>
              </a:solidFill>
              <a:latin typeface="Helvetica Neue"/>
              <a:ea typeface="Helvetica Neue"/>
              <a:cs typeface="Helvetica Neue"/>
              <a:sym typeface="Helvetica Neue"/>
            </a:endParaRPr>
          </a:p>
        </p:txBody>
      </p:sp>
      <p:sp>
        <p:nvSpPr>
          <p:cNvPr id="384" name="Google Shape;384;p31"/>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385" name="Google Shape;385;p31"/>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2"/>
          <p:cNvSpPr txBox="1">
            <a:spLocks noGrp="1"/>
          </p:cNvSpPr>
          <p:nvPr>
            <p:ph type="title"/>
          </p:nvPr>
        </p:nvSpPr>
        <p:spPr>
          <a:xfrm>
            <a:off x="655827" y="0"/>
            <a:ext cx="2682875"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Local Scope</a:t>
            </a:r>
            <a:endParaRPr sz="4400"/>
          </a:p>
        </p:txBody>
      </p:sp>
      <p:sp>
        <p:nvSpPr>
          <p:cNvPr id="391" name="Google Shape;391;p32"/>
          <p:cNvSpPr txBox="1"/>
          <p:nvPr/>
        </p:nvSpPr>
        <p:spPr>
          <a:xfrm>
            <a:off x="691387" y="1612138"/>
            <a:ext cx="7997190" cy="2414905"/>
          </a:xfrm>
          <a:prstGeom prst="rect">
            <a:avLst/>
          </a:prstGeom>
          <a:noFill/>
          <a:ln>
            <a:noFill/>
          </a:ln>
        </p:spPr>
        <p:txBody>
          <a:bodyPr spcFirstLastPara="1" wrap="square" lIns="0" tIns="13325" rIns="0" bIns="0" anchor="t" anchorCtr="0">
            <a:spAutoFit/>
          </a:bodyPr>
          <a:lstStyle/>
          <a:p>
            <a:pPr marL="332740" marR="5080" lvl="0" indent="-320675" algn="just"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A name declare in a function body is said to have  local scope i.e. it can be used only within this  function and the other block inside the function.</a:t>
            </a:r>
            <a:endParaRPr sz="2900">
              <a:solidFill>
                <a:schemeClr val="dk1"/>
              </a:solidFill>
              <a:latin typeface="Helvetica Neue"/>
              <a:ea typeface="Helvetica Neue"/>
              <a:cs typeface="Helvetica Neue"/>
              <a:sym typeface="Helvetica Neue"/>
            </a:endParaRPr>
          </a:p>
          <a:p>
            <a:pPr marL="332740" marR="0" lvl="0" indent="-320675" algn="just" rtl="0">
              <a:lnSpc>
                <a:spcPct val="100000"/>
              </a:lnSpc>
              <a:spcBef>
                <a:spcPts val="69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The formal parameters are also having local scope.</a:t>
            </a:r>
            <a:endParaRPr sz="2900">
              <a:solidFill>
                <a:schemeClr val="dk1"/>
              </a:solidFill>
              <a:latin typeface="Helvetica Neue"/>
              <a:ea typeface="Helvetica Neue"/>
              <a:cs typeface="Helvetica Neue"/>
              <a:sym typeface="Helvetica Neue"/>
            </a:endParaRPr>
          </a:p>
          <a:p>
            <a:pPr marL="332740" marR="0" lvl="0" indent="-320675" algn="just" rtl="0">
              <a:lnSpc>
                <a:spcPct val="100000"/>
              </a:lnSpc>
              <a:spcBef>
                <a:spcPts val="71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Let us understand with example….</a:t>
            </a:r>
            <a:endParaRPr sz="2900">
              <a:solidFill>
                <a:schemeClr val="dk1"/>
              </a:solidFill>
              <a:latin typeface="Helvetica Neue"/>
              <a:ea typeface="Helvetica Neue"/>
              <a:cs typeface="Helvetica Neue"/>
              <a:sym typeface="Helvetica Neue"/>
            </a:endParaRPr>
          </a:p>
        </p:txBody>
      </p:sp>
      <p:sp>
        <p:nvSpPr>
          <p:cNvPr id="392" name="Google Shape;392;p32"/>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393" name="Google Shape;393;p32"/>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33"/>
          <p:cNvSpPr txBox="1">
            <a:spLocks noGrp="1"/>
          </p:cNvSpPr>
          <p:nvPr>
            <p:ph type="title"/>
          </p:nvPr>
        </p:nvSpPr>
        <p:spPr>
          <a:xfrm>
            <a:off x="691387" y="343865"/>
            <a:ext cx="792607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Example – Local and Global Scope</a:t>
            </a:r>
            <a:endParaRPr sz="4400"/>
          </a:p>
        </p:txBody>
      </p:sp>
      <p:pic>
        <p:nvPicPr>
          <p:cNvPr id="399" name="Google Shape;399;p33"/>
          <p:cNvPicPr preferRelativeResize="0"/>
          <p:nvPr/>
        </p:nvPicPr>
        <p:blipFill rotWithShape="1">
          <a:blip r:embed="rId3">
            <a:alphaModFix/>
          </a:blip>
          <a:srcRect/>
          <a:stretch/>
        </p:blipFill>
        <p:spPr>
          <a:xfrm>
            <a:off x="585787" y="2052701"/>
            <a:ext cx="7972425" cy="4271899"/>
          </a:xfrm>
          <a:prstGeom prst="rect">
            <a:avLst/>
          </a:prstGeom>
          <a:noFill/>
          <a:ln>
            <a:noFill/>
          </a:ln>
        </p:spPr>
      </p:pic>
      <p:sp>
        <p:nvSpPr>
          <p:cNvPr id="400" name="Google Shape;400;p33"/>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401" name="Google Shape;401;p33"/>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34"/>
          <p:cNvSpPr txBox="1">
            <a:spLocks noGrp="1"/>
          </p:cNvSpPr>
          <p:nvPr>
            <p:ph type="title"/>
          </p:nvPr>
        </p:nvSpPr>
        <p:spPr>
          <a:xfrm>
            <a:off x="-228600" y="0"/>
            <a:ext cx="792607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Example – Local and Global Scope</a:t>
            </a:r>
            <a:endParaRPr sz="4400"/>
          </a:p>
        </p:txBody>
      </p:sp>
      <p:grpSp>
        <p:nvGrpSpPr>
          <p:cNvPr id="407" name="Google Shape;407;p34"/>
          <p:cNvGrpSpPr/>
          <p:nvPr/>
        </p:nvGrpSpPr>
        <p:grpSpPr>
          <a:xfrm>
            <a:off x="381000" y="1676400"/>
            <a:ext cx="8763000" cy="4742688"/>
            <a:chOff x="381000" y="1676400"/>
            <a:chExt cx="8763000" cy="4742688"/>
          </a:xfrm>
        </p:grpSpPr>
        <p:pic>
          <p:nvPicPr>
            <p:cNvPr id="408" name="Google Shape;408;p34"/>
            <p:cNvPicPr preferRelativeResize="0"/>
            <p:nvPr/>
          </p:nvPicPr>
          <p:blipFill rotWithShape="1">
            <a:blip r:embed="rId3">
              <a:alphaModFix/>
            </a:blip>
            <a:srcRect/>
            <a:stretch/>
          </p:blipFill>
          <p:spPr>
            <a:xfrm>
              <a:off x="381000" y="1676400"/>
              <a:ext cx="7972425" cy="2895600"/>
            </a:xfrm>
            <a:prstGeom prst="rect">
              <a:avLst/>
            </a:prstGeom>
            <a:noFill/>
            <a:ln>
              <a:noFill/>
            </a:ln>
          </p:spPr>
        </p:pic>
        <p:pic>
          <p:nvPicPr>
            <p:cNvPr id="409" name="Google Shape;409;p34"/>
            <p:cNvPicPr preferRelativeResize="0"/>
            <p:nvPr/>
          </p:nvPicPr>
          <p:blipFill rotWithShape="1">
            <a:blip r:embed="rId4">
              <a:alphaModFix/>
            </a:blip>
            <a:srcRect/>
            <a:stretch/>
          </p:blipFill>
          <p:spPr>
            <a:xfrm>
              <a:off x="4189476" y="4294632"/>
              <a:ext cx="3776472" cy="594359"/>
            </a:xfrm>
            <a:prstGeom prst="rect">
              <a:avLst/>
            </a:prstGeom>
            <a:noFill/>
            <a:ln>
              <a:noFill/>
            </a:ln>
          </p:spPr>
        </p:pic>
        <p:sp>
          <p:nvSpPr>
            <p:cNvPr id="410" name="Google Shape;410;p34"/>
            <p:cNvSpPr/>
            <p:nvPr/>
          </p:nvSpPr>
          <p:spPr>
            <a:xfrm>
              <a:off x="4343400" y="4374895"/>
              <a:ext cx="3583940" cy="445134"/>
            </a:xfrm>
            <a:custGeom>
              <a:avLst/>
              <a:gdLst/>
              <a:ahLst/>
              <a:cxnLst/>
              <a:rect l="l" t="t" r="r" b="b"/>
              <a:pathLst>
                <a:path w="3583940" h="445135" extrusionOk="0">
                  <a:moveTo>
                    <a:pt x="115703" y="37828"/>
                  </a:moveTo>
                  <a:lnTo>
                    <a:pt x="111643" y="75674"/>
                  </a:lnTo>
                  <a:lnTo>
                    <a:pt x="3579367" y="444626"/>
                  </a:lnTo>
                  <a:lnTo>
                    <a:pt x="3583431" y="406780"/>
                  </a:lnTo>
                  <a:lnTo>
                    <a:pt x="115703" y="37828"/>
                  </a:lnTo>
                  <a:close/>
                </a:path>
                <a:path w="3583940" h="445135" extrusionOk="0">
                  <a:moveTo>
                    <a:pt x="119760" y="0"/>
                  </a:moveTo>
                  <a:lnTo>
                    <a:pt x="0" y="44703"/>
                  </a:lnTo>
                  <a:lnTo>
                    <a:pt x="107568" y="113664"/>
                  </a:lnTo>
                  <a:lnTo>
                    <a:pt x="111643" y="75674"/>
                  </a:lnTo>
                  <a:lnTo>
                    <a:pt x="92709" y="73659"/>
                  </a:lnTo>
                  <a:lnTo>
                    <a:pt x="96773" y="35813"/>
                  </a:lnTo>
                  <a:lnTo>
                    <a:pt x="115919" y="35813"/>
                  </a:lnTo>
                  <a:lnTo>
                    <a:pt x="119760" y="0"/>
                  </a:lnTo>
                  <a:close/>
                </a:path>
                <a:path w="3583940" h="445135" extrusionOk="0">
                  <a:moveTo>
                    <a:pt x="96773" y="35813"/>
                  </a:moveTo>
                  <a:lnTo>
                    <a:pt x="92709" y="73659"/>
                  </a:lnTo>
                  <a:lnTo>
                    <a:pt x="111643" y="75674"/>
                  </a:lnTo>
                  <a:lnTo>
                    <a:pt x="115703" y="37828"/>
                  </a:lnTo>
                  <a:lnTo>
                    <a:pt x="96773" y="35813"/>
                  </a:lnTo>
                  <a:close/>
                </a:path>
                <a:path w="3583940" h="445135" extrusionOk="0">
                  <a:moveTo>
                    <a:pt x="115919" y="35813"/>
                  </a:moveTo>
                  <a:lnTo>
                    <a:pt x="96773" y="35813"/>
                  </a:lnTo>
                  <a:lnTo>
                    <a:pt x="115703" y="37828"/>
                  </a:lnTo>
                  <a:lnTo>
                    <a:pt x="115919" y="35813"/>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411" name="Google Shape;411;p34"/>
            <p:cNvPicPr preferRelativeResize="0"/>
            <p:nvPr/>
          </p:nvPicPr>
          <p:blipFill rotWithShape="1">
            <a:blip r:embed="rId5">
              <a:alphaModFix/>
            </a:blip>
            <a:srcRect/>
            <a:stretch/>
          </p:blipFill>
          <p:spPr>
            <a:xfrm>
              <a:off x="6661403" y="4785360"/>
              <a:ext cx="2482596" cy="1537715"/>
            </a:xfrm>
            <a:prstGeom prst="rect">
              <a:avLst/>
            </a:prstGeom>
            <a:noFill/>
            <a:ln>
              <a:noFill/>
            </a:ln>
          </p:spPr>
        </p:pic>
        <p:pic>
          <p:nvPicPr>
            <p:cNvPr id="412" name="Google Shape;412;p34"/>
            <p:cNvPicPr preferRelativeResize="0"/>
            <p:nvPr/>
          </p:nvPicPr>
          <p:blipFill rotWithShape="1">
            <a:blip r:embed="rId6">
              <a:alphaModFix/>
            </a:blip>
            <a:srcRect/>
            <a:stretch/>
          </p:blipFill>
          <p:spPr>
            <a:xfrm>
              <a:off x="6853428" y="4762500"/>
              <a:ext cx="2205228" cy="1656588"/>
            </a:xfrm>
            <a:prstGeom prst="rect">
              <a:avLst/>
            </a:prstGeom>
            <a:noFill/>
            <a:ln>
              <a:noFill/>
            </a:ln>
          </p:spPr>
        </p:pic>
        <p:sp>
          <p:nvSpPr>
            <p:cNvPr id="413" name="Google Shape;413;p34"/>
            <p:cNvSpPr/>
            <p:nvPr/>
          </p:nvSpPr>
          <p:spPr>
            <a:xfrm>
              <a:off x="6705600" y="4800600"/>
              <a:ext cx="2438400" cy="1447800"/>
            </a:xfrm>
            <a:custGeom>
              <a:avLst/>
              <a:gdLst/>
              <a:ahLst/>
              <a:cxnLst/>
              <a:rect l="l" t="t" r="r" b="b"/>
              <a:pathLst>
                <a:path w="2438400" h="1447800" extrusionOk="0">
                  <a:moveTo>
                    <a:pt x="2197100" y="0"/>
                  </a:moveTo>
                  <a:lnTo>
                    <a:pt x="241300" y="0"/>
                  </a:lnTo>
                  <a:lnTo>
                    <a:pt x="192682" y="4904"/>
                  </a:lnTo>
                  <a:lnTo>
                    <a:pt x="147393" y="18968"/>
                  </a:lnTo>
                  <a:lnTo>
                    <a:pt x="106405" y="41221"/>
                  </a:lnTo>
                  <a:lnTo>
                    <a:pt x="70691" y="70691"/>
                  </a:lnTo>
                  <a:lnTo>
                    <a:pt x="41221" y="106405"/>
                  </a:lnTo>
                  <a:lnTo>
                    <a:pt x="18968" y="147393"/>
                  </a:lnTo>
                  <a:lnTo>
                    <a:pt x="4904" y="192682"/>
                  </a:lnTo>
                  <a:lnTo>
                    <a:pt x="0" y="241300"/>
                  </a:lnTo>
                  <a:lnTo>
                    <a:pt x="0" y="1206500"/>
                  </a:lnTo>
                  <a:lnTo>
                    <a:pt x="4904" y="1255128"/>
                  </a:lnTo>
                  <a:lnTo>
                    <a:pt x="18968" y="1300422"/>
                  </a:lnTo>
                  <a:lnTo>
                    <a:pt x="41221" y="1341410"/>
                  </a:lnTo>
                  <a:lnTo>
                    <a:pt x="70691" y="1377122"/>
                  </a:lnTo>
                  <a:lnTo>
                    <a:pt x="106405" y="1406588"/>
                  </a:lnTo>
                  <a:lnTo>
                    <a:pt x="147393" y="1428836"/>
                  </a:lnTo>
                  <a:lnTo>
                    <a:pt x="192682" y="1442897"/>
                  </a:lnTo>
                  <a:lnTo>
                    <a:pt x="241300" y="1447800"/>
                  </a:lnTo>
                  <a:lnTo>
                    <a:pt x="2197100" y="1447800"/>
                  </a:lnTo>
                  <a:lnTo>
                    <a:pt x="2245717" y="1442897"/>
                  </a:lnTo>
                  <a:lnTo>
                    <a:pt x="2291006" y="1428836"/>
                  </a:lnTo>
                  <a:lnTo>
                    <a:pt x="2331994" y="1406588"/>
                  </a:lnTo>
                  <a:lnTo>
                    <a:pt x="2367708" y="1377122"/>
                  </a:lnTo>
                  <a:lnTo>
                    <a:pt x="2397178" y="1341410"/>
                  </a:lnTo>
                  <a:lnTo>
                    <a:pt x="2419431" y="1300422"/>
                  </a:lnTo>
                  <a:lnTo>
                    <a:pt x="2433495" y="1255128"/>
                  </a:lnTo>
                  <a:lnTo>
                    <a:pt x="2438400" y="1206500"/>
                  </a:lnTo>
                  <a:lnTo>
                    <a:pt x="2438400" y="241300"/>
                  </a:lnTo>
                  <a:lnTo>
                    <a:pt x="2433495" y="192682"/>
                  </a:lnTo>
                  <a:lnTo>
                    <a:pt x="2419431" y="147393"/>
                  </a:lnTo>
                  <a:lnTo>
                    <a:pt x="2397178" y="106405"/>
                  </a:lnTo>
                  <a:lnTo>
                    <a:pt x="2367708" y="70691"/>
                  </a:lnTo>
                  <a:lnTo>
                    <a:pt x="2331994" y="41221"/>
                  </a:lnTo>
                  <a:lnTo>
                    <a:pt x="2291006" y="18968"/>
                  </a:lnTo>
                  <a:lnTo>
                    <a:pt x="2245717" y="4904"/>
                  </a:lnTo>
                  <a:lnTo>
                    <a:pt x="2197100"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4" name="Google Shape;414;p34"/>
            <p:cNvSpPr/>
            <p:nvPr/>
          </p:nvSpPr>
          <p:spPr>
            <a:xfrm>
              <a:off x="6705600" y="4800600"/>
              <a:ext cx="2438400" cy="1447800"/>
            </a:xfrm>
            <a:custGeom>
              <a:avLst/>
              <a:gdLst/>
              <a:ahLst/>
              <a:cxnLst/>
              <a:rect l="l" t="t" r="r" b="b"/>
              <a:pathLst>
                <a:path w="2438400" h="1447800" extrusionOk="0">
                  <a:moveTo>
                    <a:pt x="0" y="241300"/>
                  </a:moveTo>
                  <a:lnTo>
                    <a:pt x="4904" y="192682"/>
                  </a:lnTo>
                  <a:lnTo>
                    <a:pt x="18968" y="147393"/>
                  </a:lnTo>
                  <a:lnTo>
                    <a:pt x="41221" y="106405"/>
                  </a:lnTo>
                  <a:lnTo>
                    <a:pt x="70691" y="70691"/>
                  </a:lnTo>
                  <a:lnTo>
                    <a:pt x="106405" y="41221"/>
                  </a:lnTo>
                  <a:lnTo>
                    <a:pt x="147393" y="18968"/>
                  </a:lnTo>
                  <a:lnTo>
                    <a:pt x="192682" y="4904"/>
                  </a:lnTo>
                  <a:lnTo>
                    <a:pt x="241300" y="0"/>
                  </a:lnTo>
                  <a:lnTo>
                    <a:pt x="2197100" y="0"/>
                  </a:lnTo>
                  <a:lnTo>
                    <a:pt x="2245717" y="4904"/>
                  </a:lnTo>
                  <a:lnTo>
                    <a:pt x="2291006" y="18968"/>
                  </a:lnTo>
                  <a:lnTo>
                    <a:pt x="2331994" y="41221"/>
                  </a:lnTo>
                  <a:lnTo>
                    <a:pt x="2367708" y="70691"/>
                  </a:lnTo>
                  <a:lnTo>
                    <a:pt x="2397178" y="106405"/>
                  </a:lnTo>
                  <a:lnTo>
                    <a:pt x="2419431" y="147393"/>
                  </a:lnTo>
                  <a:lnTo>
                    <a:pt x="2433495" y="192682"/>
                  </a:lnTo>
                  <a:lnTo>
                    <a:pt x="2438400" y="241300"/>
                  </a:lnTo>
                  <a:lnTo>
                    <a:pt x="2438400" y="1206500"/>
                  </a:lnTo>
                  <a:lnTo>
                    <a:pt x="2433495" y="1255128"/>
                  </a:lnTo>
                  <a:lnTo>
                    <a:pt x="2419431" y="1300422"/>
                  </a:lnTo>
                  <a:lnTo>
                    <a:pt x="2397178" y="1341410"/>
                  </a:lnTo>
                  <a:lnTo>
                    <a:pt x="2367708" y="1377122"/>
                  </a:lnTo>
                  <a:lnTo>
                    <a:pt x="2331994" y="1406588"/>
                  </a:lnTo>
                  <a:lnTo>
                    <a:pt x="2291006" y="1428836"/>
                  </a:lnTo>
                  <a:lnTo>
                    <a:pt x="2245717" y="1442897"/>
                  </a:lnTo>
                  <a:lnTo>
                    <a:pt x="2197100" y="1447800"/>
                  </a:lnTo>
                  <a:lnTo>
                    <a:pt x="241300" y="1447800"/>
                  </a:lnTo>
                  <a:lnTo>
                    <a:pt x="192682" y="1442897"/>
                  </a:lnTo>
                  <a:lnTo>
                    <a:pt x="147393" y="1428836"/>
                  </a:lnTo>
                  <a:lnTo>
                    <a:pt x="106405" y="1406588"/>
                  </a:lnTo>
                  <a:lnTo>
                    <a:pt x="70691" y="1377122"/>
                  </a:lnTo>
                  <a:lnTo>
                    <a:pt x="41221" y="1341410"/>
                  </a:lnTo>
                  <a:lnTo>
                    <a:pt x="18968" y="1300422"/>
                  </a:lnTo>
                  <a:lnTo>
                    <a:pt x="4904" y="1255128"/>
                  </a:lnTo>
                  <a:lnTo>
                    <a:pt x="0" y="1206500"/>
                  </a:lnTo>
                  <a:lnTo>
                    <a:pt x="0" y="241300"/>
                  </a:lnTo>
                  <a:close/>
                </a:path>
              </a:pathLst>
            </a:custGeom>
            <a:noFill/>
            <a:ln w="99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15" name="Google Shape;415;p34"/>
          <p:cNvSpPr txBox="1"/>
          <p:nvPr/>
        </p:nvSpPr>
        <p:spPr>
          <a:xfrm>
            <a:off x="7018146" y="4814696"/>
            <a:ext cx="1814830" cy="1397635"/>
          </a:xfrm>
          <a:prstGeom prst="rect">
            <a:avLst/>
          </a:prstGeom>
          <a:noFill/>
          <a:ln>
            <a:noFill/>
          </a:ln>
        </p:spPr>
        <p:txBody>
          <a:bodyPr spcFirstLastPara="1" wrap="square" lIns="0" tIns="12700" rIns="0" bIns="0" anchor="t" anchorCtr="0">
            <a:spAutoFit/>
          </a:bodyPr>
          <a:lstStyle/>
          <a:p>
            <a:pPr marL="12700" marR="5080" lvl="0" indent="0" algn="ctr" rtl="0">
              <a:lnSpc>
                <a:spcPct val="100000"/>
              </a:lnSpc>
              <a:spcBef>
                <a:spcPts val="0"/>
              </a:spcBef>
              <a:spcAft>
                <a:spcPts val="0"/>
              </a:spcAft>
              <a:buNone/>
            </a:pPr>
            <a:r>
              <a:rPr lang="en-US" sz="1800">
                <a:solidFill>
                  <a:srgbClr val="FFFFFF"/>
                </a:solidFill>
                <a:latin typeface="Helvetica Neue"/>
                <a:ea typeface="Helvetica Neue"/>
                <a:cs typeface="Helvetica Neue"/>
                <a:sym typeface="Helvetica Neue"/>
              </a:rPr>
              <a:t>„a‟ is not accessible  here because it is  declared in function  area(), so scope is  local to area()</a:t>
            </a:r>
            <a:endParaRPr sz="1800">
              <a:solidFill>
                <a:schemeClr val="dk1"/>
              </a:solidFill>
              <a:latin typeface="Helvetica Neue"/>
              <a:ea typeface="Helvetica Neue"/>
              <a:cs typeface="Helvetica Neue"/>
              <a:sym typeface="Helvetica Neue"/>
            </a:endParaRPr>
          </a:p>
        </p:txBody>
      </p:sp>
      <p:grpSp>
        <p:nvGrpSpPr>
          <p:cNvPr id="416" name="Google Shape;416;p34"/>
          <p:cNvGrpSpPr/>
          <p:nvPr/>
        </p:nvGrpSpPr>
        <p:grpSpPr>
          <a:xfrm>
            <a:off x="344424" y="4764022"/>
            <a:ext cx="5707380" cy="1981200"/>
            <a:chOff x="344424" y="4764022"/>
            <a:chExt cx="5707380" cy="1981200"/>
          </a:xfrm>
        </p:grpSpPr>
        <p:pic>
          <p:nvPicPr>
            <p:cNvPr id="417" name="Google Shape;417;p34"/>
            <p:cNvPicPr preferRelativeResize="0"/>
            <p:nvPr/>
          </p:nvPicPr>
          <p:blipFill rotWithShape="1">
            <a:blip r:embed="rId7">
              <a:alphaModFix/>
            </a:blip>
            <a:srcRect/>
            <a:stretch/>
          </p:blipFill>
          <p:spPr>
            <a:xfrm>
              <a:off x="344424" y="4764022"/>
              <a:ext cx="5707380" cy="1981200"/>
            </a:xfrm>
            <a:prstGeom prst="rect">
              <a:avLst/>
            </a:prstGeom>
            <a:noFill/>
            <a:ln>
              <a:noFill/>
            </a:ln>
          </p:spPr>
        </p:pic>
        <p:pic>
          <p:nvPicPr>
            <p:cNvPr id="418" name="Google Shape;418;p34"/>
            <p:cNvPicPr preferRelativeResize="0"/>
            <p:nvPr/>
          </p:nvPicPr>
          <p:blipFill rotWithShape="1">
            <a:blip r:embed="rId8">
              <a:alphaModFix/>
            </a:blip>
            <a:srcRect/>
            <a:stretch/>
          </p:blipFill>
          <p:spPr>
            <a:xfrm>
              <a:off x="381000" y="4800536"/>
              <a:ext cx="5562600" cy="1837182"/>
            </a:xfrm>
            <a:prstGeom prst="rect">
              <a:avLst/>
            </a:prstGeom>
            <a:noFill/>
            <a:ln>
              <a:noFill/>
            </a:ln>
          </p:spPr>
        </p:pic>
        <p:sp>
          <p:nvSpPr>
            <p:cNvPr id="419" name="Google Shape;419;p34"/>
            <p:cNvSpPr/>
            <p:nvPr/>
          </p:nvSpPr>
          <p:spPr>
            <a:xfrm>
              <a:off x="374650" y="4794186"/>
              <a:ext cx="5575300" cy="1850389"/>
            </a:xfrm>
            <a:custGeom>
              <a:avLst/>
              <a:gdLst/>
              <a:ahLst/>
              <a:cxnLst/>
              <a:rect l="l" t="t" r="r" b="b"/>
              <a:pathLst>
                <a:path w="5575300" h="1850390" extrusionOk="0">
                  <a:moveTo>
                    <a:pt x="0" y="1849882"/>
                  </a:moveTo>
                  <a:lnTo>
                    <a:pt x="5575300" y="1849882"/>
                  </a:lnTo>
                  <a:lnTo>
                    <a:pt x="5575300" y="0"/>
                  </a:lnTo>
                  <a:lnTo>
                    <a:pt x="0" y="0"/>
                  </a:lnTo>
                  <a:lnTo>
                    <a:pt x="0" y="1849882"/>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20" name="Google Shape;420;p34"/>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421" name="Google Shape;421;p34"/>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5"/>
          <p:cNvSpPr txBox="1">
            <a:spLocks noGrp="1"/>
          </p:cNvSpPr>
          <p:nvPr>
            <p:ph type="title"/>
          </p:nvPr>
        </p:nvSpPr>
        <p:spPr>
          <a:xfrm>
            <a:off x="-152400" y="152400"/>
            <a:ext cx="792607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Example – Local and Global Scope</a:t>
            </a:r>
            <a:endParaRPr sz="4400"/>
          </a:p>
        </p:txBody>
      </p:sp>
      <p:grpSp>
        <p:nvGrpSpPr>
          <p:cNvPr id="427" name="Google Shape;427;p35"/>
          <p:cNvGrpSpPr/>
          <p:nvPr/>
        </p:nvGrpSpPr>
        <p:grpSpPr>
          <a:xfrm>
            <a:off x="304800" y="1600200"/>
            <a:ext cx="7320915" cy="3585210"/>
            <a:chOff x="304800" y="1600200"/>
            <a:chExt cx="7320915" cy="3585210"/>
          </a:xfrm>
        </p:grpSpPr>
        <p:pic>
          <p:nvPicPr>
            <p:cNvPr id="428" name="Google Shape;428;p35"/>
            <p:cNvPicPr preferRelativeResize="0"/>
            <p:nvPr/>
          </p:nvPicPr>
          <p:blipFill rotWithShape="1">
            <a:blip r:embed="rId3">
              <a:alphaModFix/>
            </a:blip>
            <a:srcRect/>
            <a:stretch/>
          </p:blipFill>
          <p:spPr>
            <a:xfrm>
              <a:off x="304800" y="1600200"/>
              <a:ext cx="7315200" cy="3413760"/>
            </a:xfrm>
            <a:prstGeom prst="rect">
              <a:avLst/>
            </a:prstGeom>
            <a:noFill/>
            <a:ln>
              <a:noFill/>
            </a:ln>
          </p:spPr>
        </p:pic>
        <p:sp>
          <p:nvSpPr>
            <p:cNvPr id="429" name="Google Shape;429;p35"/>
            <p:cNvSpPr/>
            <p:nvPr/>
          </p:nvSpPr>
          <p:spPr>
            <a:xfrm>
              <a:off x="6477000" y="3505200"/>
              <a:ext cx="1148715" cy="1680210"/>
            </a:xfrm>
            <a:custGeom>
              <a:avLst/>
              <a:gdLst/>
              <a:ahLst/>
              <a:cxnLst/>
              <a:rect l="l" t="t" r="r" b="b"/>
              <a:pathLst>
                <a:path w="1148715" h="1680210" extrusionOk="0">
                  <a:moveTo>
                    <a:pt x="48187" y="59406"/>
                  </a:moveTo>
                  <a:lnTo>
                    <a:pt x="37680" y="66566"/>
                  </a:lnTo>
                  <a:lnTo>
                    <a:pt x="1137793" y="1679956"/>
                  </a:lnTo>
                  <a:lnTo>
                    <a:pt x="1148207" y="1672844"/>
                  </a:lnTo>
                  <a:lnTo>
                    <a:pt x="48187" y="59406"/>
                  </a:lnTo>
                  <a:close/>
                </a:path>
                <a:path w="1148715" h="1680210" extrusionOk="0">
                  <a:moveTo>
                    <a:pt x="0" y="0"/>
                  </a:moveTo>
                  <a:lnTo>
                    <a:pt x="11430" y="84455"/>
                  </a:lnTo>
                  <a:lnTo>
                    <a:pt x="37680" y="66566"/>
                  </a:lnTo>
                  <a:lnTo>
                    <a:pt x="30480" y="56006"/>
                  </a:lnTo>
                  <a:lnTo>
                    <a:pt x="41021" y="48894"/>
                  </a:lnTo>
                  <a:lnTo>
                    <a:pt x="63612" y="48894"/>
                  </a:lnTo>
                  <a:lnTo>
                    <a:pt x="74422" y="41529"/>
                  </a:lnTo>
                  <a:lnTo>
                    <a:pt x="0" y="0"/>
                  </a:lnTo>
                  <a:close/>
                </a:path>
                <a:path w="1148715" h="1680210" extrusionOk="0">
                  <a:moveTo>
                    <a:pt x="41021" y="48894"/>
                  </a:moveTo>
                  <a:lnTo>
                    <a:pt x="30480" y="56006"/>
                  </a:lnTo>
                  <a:lnTo>
                    <a:pt x="37680" y="66566"/>
                  </a:lnTo>
                  <a:lnTo>
                    <a:pt x="48187" y="59406"/>
                  </a:lnTo>
                  <a:lnTo>
                    <a:pt x="41021" y="48894"/>
                  </a:lnTo>
                  <a:close/>
                </a:path>
                <a:path w="1148715" h="1680210" extrusionOk="0">
                  <a:moveTo>
                    <a:pt x="63612" y="48894"/>
                  </a:moveTo>
                  <a:lnTo>
                    <a:pt x="41021" y="48894"/>
                  </a:lnTo>
                  <a:lnTo>
                    <a:pt x="48187" y="59406"/>
                  </a:lnTo>
                  <a:lnTo>
                    <a:pt x="63612" y="48894"/>
                  </a:lnTo>
                  <a:close/>
                </a:path>
              </a:pathLst>
            </a:custGeom>
            <a:solidFill>
              <a:srgbClr val="93B6D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430" name="Google Shape;430;p35"/>
          <p:cNvGrpSpPr/>
          <p:nvPr/>
        </p:nvGrpSpPr>
        <p:grpSpPr>
          <a:xfrm>
            <a:off x="6096000" y="5257800"/>
            <a:ext cx="2895600" cy="1219200"/>
            <a:chOff x="6096000" y="5257800"/>
            <a:chExt cx="2895600" cy="1219200"/>
          </a:xfrm>
        </p:grpSpPr>
        <p:sp>
          <p:nvSpPr>
            <p:cNvPr id="431" name="Google Shape;431;p35"/>
            <p:cNvSpPr/>
            <p:nvPr/>
          </p:nvSpPr>
          <p:spPr>
            <a:xfrm>
              <a:off x="6096000" y="5257800"/>
              <a:ext cx="2895600" cy="1219200"/>
            </a:xfrm>
            <a:custGeom>
              <a:avLst/>
              <a:gdLst/>
              <a:ahLst/>
              <a:cxnLst/>
              <a:rect l="l" t="t" r="r" b="b"/>
              <a:pathLst>
                <a:path w="2895600" h="1219200" extrusionOk="0">
                  <a:moveTo>
                    <a:pt x="2692400" y="0"/>
                  </a:moveTo>
                  <a:lnTo>
                    <a:pt x="203200" y="0"/>
                  </a:lnTo>
                  <a:lnTo>
                    <a:pt x="156594" y="5364"/>
                  </a:lnTo>
                  <a:lnTo>
                    <a:pt x="113818" y="20645"/>
                  </a:lnTo>
                  <a:lnTo>
                    <a:pt x="76090" y="44626"/>
                  </a:lnTo>
                  <a:lnTo>
                    <a:pt x="44626" y="76090"/>
                  </a:lnTo>
                  <a:lnTo>
                    <a:pt x="20645" y="113818"/>
                  </a:lnTo>
                  <a:lnTo>
                    <a:pt x="5364" y="156594"/>
                  </a:lnTo>
                  <a:lnTo>
                    <a:pt x="0" y="203200"/>
                  </a:lnTo>
                  <a:lnTo>
                    <a:pt x="0" y="1016000"/>
                  </a:lnTo>
                  <a:lnTo>
                    <a:pt x="5364" y="1062589"/>
                  </a:lnTo>
                  <a:lnTo>
                    <a:pt x="20645" y="1105359"/>
                  </a:lnTo>
                  <a:lnTo>
                    <a:pt x="44626" y="1143088"/>
                  </a:lnTo>
                  <a:lnTo>
                    <a:pt x="76090" y="1174557"/>
                  </a:lnTo>
                  <a:lnTo>
                    <a:pt x="113818" y="1198545"/>
                  </a:lnTo>
                  <a:lnTo>
                    <a:pt x="156594" y="1213832"/>
                  </a:lnTo>
                  <a:lnTo>
                    <a:pt x="203200" y="1219200"/>
                  </a:lnTo>
                  <a:lnTo>
                    <a:pt x="2692400" y="1219200"/>
                  </a:lnTo>
                  <a:lnTo>
                    <a:pt x="2739005" y="1213832"/>
                  </a:lnTo>
                  <a:lnTo>
                    <a:pt x="2781781" y="1198545"/>
                  </a:lnTo>
                  <a:lnTo>
                    <a:pt x="2819509" y="1174557"/>
                  </a:lnTo>
                  <a:lnTo>
                    <a:pt x="2850973" y="1143088"/>
                  </a:lnTo>
                  <a:lnTo>
                    <a:pt x="2874954" y="1105359"/>
                  </a:lnTo>
                  <a:lnTo>
                    <a:pt x="2890235" y="1062589"/>
                  </a:lnTo>
                  <a:lnTo>
                    <a:pt x="2895600" y="1016000"/>
                  </a:lnTo>
                  <a:lnTo>
                    <a:pt x="2895600" y="203200"/>
                  </a:lnTo>
                  <a:lnTo>
                    <a:pt x="2890235" y="156594"/>
                  </a:lnTo>
                  <a:lnTo>
                    <a:pt x="2874954" y="113818"/>
                  </a:lnTo>
                  <a:lnTo>
                    <a:pt x="2850973" y="76090"/>
                  </a:lnTo>
                  <a:lnTo>
                    <a:pt x="2819509" y="44626"/>
                  </a:lnTo>
                  <a:lnTo>
                    <a:pt x="2781781" y="20645"/>
                  </a:lnTo>
                  <a:lnTo>
                    <a:pt x="2739005" y="5364"/>
                  </a:lnTo>
                  <a:lnTo>
                    <a:pt x="2692400" y="0"/>
                  </a:lnTo>
                  <a:close/>
                </a:path>
              </a:pathLst>
            </a:custGeom>
            <a:solidFill>
              <a:srgbClr val="DD804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2" name="Google Shape;432;p35"/>
            <p:cNvSpPr/>
            <p:nvPr/>
          </p:nvSpPr>
          <p:spPr>
            <a:xfrm>
              <a:off x="6096000" y="5257800"/>
              <a:ext cx="2895600" cy="1219200"/>
            </a:xfrm>
            <a:custGeom>
              <a:avLst/>
              <a:gdLst/>
              <a:ahLst/>
              <a:cxnLst/>
              <a:rect l="l" t="t" r="r" b="b"/>
              <a:pathLst>
                <a:path w="2895600" h="1219200" extrusionOk="0">
                  <a:moveTo>
                    <a:pt x="0" y="203200"/>
                  </a:moveTo>
                  <a:lnTo>
                    <a:pt x="5364" y="156594"/>
                  </a:lnTo>
                  <a:lnTo>
                    <a:pt x="20645" y="113818"/>
                  </a:lnTo>
                  <a:lnTo>
                    <a:pt x="44626" y="76090"/>
                  </a:lnTo>
                  <a:lnTo>
                    <a:pt x="76090" y="44626"/>
                  </a:lnTo>
                  <a:lnTo>
                    <a:pt x="113818" y="20645"/>
                  </a:lnTo>
                  <a:lnTo>
                    <a:pt x="156594" y="5364"/>
                  </a:lnTo>
                  <a:lnTo>
                    <a:pt x="203200" y="0"/>
                  </a:lnTo>
                  <a:lnTo>
                    <a:pt x="2692400" y="0"/>
                  </a:lnTo>
                  <a:lnTo>
                    <a:pt x="2739005" y="5364"/>
                  </a:lnTo>
                  <a:lnTo>
                    <a:pt x="2781781" y="20645"/>
                  </a:lnTo>
                  <a:lnTo>
                    <a:pt x="2819509" y="44626"/>
                  </a:lnTo>
                  <a:lnTo>
                    <a:pt x="2850973" y="76090"/>
                  </a:lnTo>
                  <a:lnTo>
                    <a:pt x="2874954" y="113818"/>
                  </a:lnTo>
                  <a:lnTo>
                    <a:pt x="2890235" y="156594"/>
                  </a:lnTo>
                  <a:lnTo>
                    <a:pt x="2895600" y="203200"/>
                  </a:lnTo>
                  <a:lnTo>
                    <a:pt x="2895600" y="1016000"/>
                  </a:lnTo>
                  <a:lnTo>
                    <a:pt x="2890235" y="1062589"/>
                  </a:lnTo>
                  <a:lnTo>
                    <a:pt x="2874954" y="1105359"/>
                  </a:lnTo>
                  <a:lnTo>
                    <a:pt x="2850973" y="1143088"/>
                  </a:lnTo>
                  <a:lnTo>
                    <a:pt x="2819509" y="1174557"/>
                  </a:lnTo>
                  <a:lnTo>
                    <a:pt x="2781781" y="1198545"/>
                  </a:lnTo>
                  <a:lnTo>
                    <a:pt x="2739005" y="1213832"/>
                  </a:lnTo>
                  <a:lnTo>
                    <a:pt x="2692400" y="1219200"/>
                  </a:lnTo>
                  <a:lnTo>
                    <a:pt x="203200" y="1219200"/>
                  </a:lnTo>
                  <a:lnTo>
                    <a:pt x="156594" y="1213832"/>
                  </a:lnTo>
                  <a:lnTo>
                    <a:pt x="113818" y="1198545"/>
                  </a:lnTo>
                  <a:lnTo>
                    <a:pt x="76090" y="1174557"/>
                  </a:lnTo>
                  <a:lnTo>
                    <a:pt x="44626" y="1143088"/>
                  </a:lnTo>
                  <a:lnTo>
                    <a:pt x="20645" y="1105359"/>
                  </a:lnTo>
                  <a:lnTo>
                    <a:pt x="5364" y="1062589"/>
                  </a:lnTo>
                  <a:lnTo>
                    <a:pt x="0" y="1016000"/>
                  </a:lnTo>
                  <a:lnTo>
                    <a:pt x="0" y="203200"/>
                  </a:lnTo>
                  <a:close/>
                </a:path>
              </a:pathLst>
            </a:custGeom>
            <a:noFill/>
            <a:ln w="19050" cap="flat" cmpd="sng">
              <a:solidFill>
                <a:srgbClr val="A15C3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33" name="Google Shape;433;p35"/>
          <p:cNvSpPr txBox="1"/>
          <p:nvPr/>
        </p:nvSpPr>
        <p:spPr>
          <a:xfrm>
            <a:off x="6253988" y="5432247"/>
            <a:ext cx="2580640" cy="848360"/>
          </a:xfrm>
          <a:prstGeom prst="rect">
            <a:avLst/>
          </a:prstGeom>
          <a:noFill/>
          <a:ln>
            <a:noFill/>
          </a:ln>
        </p:spPr>
        <p:txBody>
          <a:bodyPr spcFirstLastPara="1" wrap="square" lIns="0" tIns="12700" rIns="0" bIns="0" anchor="t" anchorCtr="0">
            <a:spAutoFit/>
          </a:bodyPr>
          <a:lstStyle/>
          <a:p>
            <a:pPr marL="12700" marR="5080" lvl="0" indent="10159" algn="just" rtl="0">
              <a:lnSpc>
                <a:spcPct val="100000"/>
              </a:lnSpc>
              <a:spcBef>
                <a:spcPts val="0"/>
              </a:spcBef>
              <a:spcAft>
                <a:spcPts val="0"/>
              </a:spcAft>
              <a:buNone/>
            </a:pPr>
            <a:r>
              <a:rPr lang="en-US" sz="1800">
                <a:solidFill>
                  <a:srgbClr val="FFFFFF"/>
                </a:solidFill>
                <a:latin typeface="Helvetica Neue"/>
                <a:ea typeface="Helvetica Neue"/>
                <a:cs typeface="Helvetica Neue"/>
                <a:sym typeface="Helvetica Neue"/>
              </a:rPr>
              <a:t>Variable „ar‟ is accessible in  function showarea() because  it is having Global Scope</a:t>
            </a:r>
            <a:endParaRPr sz="1800">
              <a:solidFill>
                <a:schemeClr val="dk1"/>
              </a:solidFill>
              <a:latin typeface="Helvetica Neue"/>
              <a:ea typeface="Helvetica Neue"/>
              <a:cs typeface="Helvetica Neue"/>
              <a:sym typeface="Helvetica Neue"/>
            </a:endParaRPr>
          </a:p>
        </p:txBody>
      </p:sp>
      <p:sp>
        <p:nvSpPr>
          <p:cNvPr id="434" name="Google Shape;434;p35"/>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435" name="Google Shape;435;p35"/>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grpSp>
        <p:nvGrpSpPr>
          <p:cNvPr id="440" name="Google Shape;440;p36"/>
          <p:cNvGrpSpPr/>
          <p:nvPr/>
        </p:nvGrpSpPr>
        <p:grpSpPr>
          <a:xfrm>
            <a:off x="457200" y="76174"/>
            <a:ext cx="8534400" cy="6047105"/>
            <a:chOff x="457200" y="76174"/>
            <a:chExt cx="8534400" cy="6047105"/>
          </a:xfrm>
        </p:grpSpPr>
        <p:pic>
          <p:nvPicPr>
            <p:cNvPr id="441" name="Google Shape;441;p36"/>
            <p:cNvPicPr preferRelativeResize="0"/>
            <p:nvPr/>
          </p:nvPicPr>
          <p:blipFill rotWithShape="1">
            <a:blip r:embed="rId3">
              <a:alphaModFix/>
            </a:blip>
            <a:srcRect/>
            <a:stretch/>
          </p:blipFill>
          <p:spPr>
            <a:xfrm>
              <a:off x="457200" y="76174"/>
              <a:ext cx="7234501" cy="6047105"/>
            </a:xfrm>
            <a:prstGeom prst="rect">
              <a:avLst/>
            </a:prstGeom>
            <a:noFill/>
            <a:ln>
              <a:noFill/>
            </a:ln>
          </p:spPr>
        </p:pic>
        <p:sp>
          <p:nvSpPr>
            <p:cNvPr id="442" name="Google Shape;442;p36"/>
            <p:cNvSpPr/>
            <p:nvPr/>
          </p:nvSpPr>
          <p:spPr>
            <a:xfrm>
              <a:off x="2286000" y="593344"/>
              <a:ext cx="3282950" cy="1177290"/>
            </a:xfrm>
            <a:custGeom>
              <a:avLst/>
              <a:gdLst/>
              <a:ahLst/>
              <a:cxnLst/>
              <a:rect l="l" t="t" r="r" b="b"/>
              <a:pathLst>
                <a:path w="3282950" h="1177289" extrusionOk="0">
                  <a:moveTo>
                    <a:pt x="114242" y="35862"/>
                  </a:moveTo>
                  <a:lnTo>
                    <a:pt x="101668" y="71929"/>
                  </a:lnTo>
                  <a:lnTo>
                    <a:pt x="3270377" y="1177289"/>
                  </a:lnTo>
                  <a:lnTo>
                    <a:pt x="3282823" y="1141221"/>
                  </a:lnTo>
                  <a:lnTo>
                    <a:pt x="114242" y="35862"/>
                  </a:lnTo>
                  <a:close/>
                </a:path>
                <a:path w="3282950" h="1177289" extrusionOk="0">
                  <a:moveTo>
                    <a:pt x="126745" y="0"/>
                  </a:moveTo>
                  <a:lnTo>
                    <a:pt x="0" y="16255"/>
                  </a:lnTo>
                  <a:lnTo>
                    <a:pt x="89153" y="107822"/>
                  </a:lnTo>
                  <a:lnTo>
                    <a:pt x="101668" y="71929"/>
                  </a:lnTo>
                  <a:lnTo>
                    <a:pt x="83693" y="65658"/>
                  </a:lnTo>
                  <a:lnTo>
                    <a:pt x="96265" y="29590"/>
                  </a:lnTo>
                  <a:lnTo>
                    <a:pt x="116429" y="29590"/>
                  </a:lnTo>
                  <a:lnTo>
                    <a:pt x="126745" y="0"/>
                  </a:lnTo>
                  <a:close/>
                </a:path>
                <a:path w="3282950" h="1177289" extrusionOk="0">
                  <a:moveTo>
                    <a:pt x="96265" y="29590"/>
                  </a:moveTo>
                  <a:lnTo>
                    <a:pt x="83693" y="65658"/>
                  </a:lnTo>
                  <a:lnTo>
                    <a:pt x="101668" y="71929"/>
                  </a:lnTo>
                  <a:lnTo>
                    <a:pt x="114242" y="35862"/>
                  </a:lnTo>
                  <a:lnTo>
                    <a:pt x="96265" y="29590"/>
                  </a:lnTo>
                  <a:close/>
                </a:path>
                <a:path w="3282950" h="1177289" extrusionOk="0">
                  <a:moveTo>
                    <a:pt x="116429" y="29590"/>
                  </a:moveTo>
                  <a:lnTo>
                    <a:pt x="96265" y="29590"/>
                  </a:lnTo>
                  <a:lnTo>
                    <a:pt x="114242" y="35862"/>
                  </a:lnTo>
                  <a:lnTo>
                    <a:pt x="116429" y="29590"/>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3" name="Google Shape;443;p36"/>
            <p:cNvSpPr/>
            <p:nvPr/>
          </p:nvSpPr>
          <p:spPr>
            <a:xfrm>
              <a:off x="5410200" y="1142999"/>
              <a:ext cx="3581400" cy="2590800"/>
            </a:xfrm>
            <a:custGeom>
              <a:avLst/>
              <a:gdLst/>
              <a:ahLst/>
              <a:cxnLst/>
              <a:rect l="l" t="t" r="r" b="b"/>
              <a:pathLst>
                <a:path w="3581400" h="2590800" extrusionOk="0">
                  <a:moveTo>
                    <a:pt x="3149600" y="0"/>
                  </a:moveTo>
                  <a:lnTo>
                    <a:pt x="431800" y="0"/>
                  </a:lnTo>
                  <a:lnTo>
                    <a:pt x="384745" y="2533"/>
                  </a:lnTo>
                  <a:lnTo>
                    <a:pt x="339159" y="9958"/>
                  </a:lnTo>
                  <a:lnTo>
                    <a:pt x="295306" y="22010"/>
                  </a:lnTo>
                  <a:lnTo>
                    <a:pt x="253448" y="38427"/>
                  </a:lnTo>
                  <a:lnTo>
                    <a:pt x="213849" y="58946"/>
                  </a:lnTo>
                  <a:lnTo>
                    <a:pt x="176771" y="83303"/>
                  </a:lnTo>
                  <a:lnTo>
                    <a:pt x="142479" y="111235"/>
                  </a:lnTo>
                  <a:lnTo>
                    <a:pt x="111235" y="142479"/>
                  </a:lnTo>
                  <a:lnTo>
                    <a:pt x="83303" y="176771"/>
                  </a:lnTo>
                  <a:lnTo>
                    <a:pt x="58946" y="213849"/>
                  </a:lnTo>
                  <a:lnTo>
                    <a:pt x="38427" y="253448"/>
                  </a:lnTo>
                  <a:lnTo>
                    <a:pt x="22010" y="295306"/>
                  </a:lnTo>
                  <a:lnTo>
                    <a:pt x="9958" y="339159"/>
                  </a:lnTo>
                  <a:lnTo>
                    <a:pt x="2533" y="384745"/>
                  </a:lnTo>
                  <a:lnTo>
                    <a:pt x="0" y="431800"/>
                  </a:lnTo>
                  <a:lnTo>
                    <a:pt x="0" y="2159000"/>
                  </a:lnTo>
                  <a:lnTo>
                    <a:pt x="2533" y="2206054"/>
                  </a:lnTo>
                  <a:lnTo>
                    <a:pt x="9958" y="2251640"/>
                  </a:lnTo>
                  <a:lnTo>
                    <a:pt x="22010" y="2295493"/>
                  </a:lnTo>
                  <a:lnTo>
                    <a:pt x="38427" y="2337351"/>
                  </a:lnTo>
                  <a:lnTo>
                    <a:pt x="58946" y="2376950"/>
                  </a:lnTo>
                  <a:lnTo>
                    <a:pt x="83303" y="2414028"/>
                  </a:lnTo>
                  <a:lnTo>
                    <a:pt x="111235" y="2448320"/>
                  </a:lnTo>
                  <a:lnTo>
                    <a:pt x="142479" y="2479564"/>
                  </a:lnTo>
                  <a:lnTo>
                    <a:pt x="176771" y="2507496"/>
                  </a:lnTo>
                  <a:lnTo>
                    <a:pt x="213849" y="2531853"/>
                  </a:lnTo>
                  <a:lnTo>
                    <a:pt x="253448" y="2552372"/>
                  </a:lnTo>
                  <a:lnTo>
                    <a:pt x="295306" y="2568789"/>
                  </a:lnTo>
                  <a:lnTo>
                    <a:pt x="339159" y="2580841"/>
                  </a:lnTo>
                  <a:lnTo>
                    <a:pt x="384745" y="2588266"/>
                  </a:lnTo>
                  <a:lnTo>
                    <a:pt x="431800" y="2590800"/>
                  </a:lnTo>
                  <a:lnTo>
                    <a:pt x="3149600" y="2590800"/>
                  </a:lnTo>
                  <a:lnTo>
                    <a:pt x="3196654" y="2588266"/>
                  </a:lnTo>
                  <a:lnTo>
                    <a:pt x="3242240" y="2580841"/>
                  </a:lnTo>
                  <a:lnTo>
                    <a:pt x="3286093" y="2568789"/>
                  </a:lnTo>
                  <a:lnTo>
                    <a:pt x="3327951" y="2552372"/>
                  </a:lnTo>
                  <a:lnTo>
                    <a:pt x="3367550" y="2531853"/>
                  </a:lnTo>
                  <a:lnTo>
                    <a:pt x="3404628" y="2507496"/>
                  </a:lnTo>
                  <a:lnTo>
                    <a:pt x="3438920" y="2479564"/>
                  </a:lnTo>
                  <a:lnTo>
                    <a:pt x="3470164" y="2448320"/>
                  </a:lnTo>
                  <a:lnTo>
                    <a:pt x="3498096" y="2414028"/>
                  </a:lnTo>
                  <a:lnTo>
                    <a:pt x="3522453" y="2376950"/>
                  </a:lnTo>
                  <a:lnTo>
                    <a:pt x="3542972" y="2337351"/>
                  </a:lnTo>
                  <a:lnTo>
                    <a:pt x="3559389" y="2295493"/>
                  </a:lnTo>
                  <a:lnTo>
                    <a:pt x="3571441" y="2251640"/>
                  </a:lnTo>
                  <a:lnTo>
                    <a:pt x="3578866" y="2206054"/>
                  </a:lnTo>
                  <a:lnTo>
                    <a:pt x="3581400" y="2159000"/>
                  </a:lnTo>
                  <a:lnTo>
                    <a:pt x="3581400" y="431800"/>
                  </a:lnTo>
                  <a:lnTo>
                    <a:pt x="3578866" y="384745"/>
                  </a:lnTo>
                  <a:lnTo>
                    <a:pt x="3571441" y="339159"/>
                  </a:lnTo>
                  <a:lnTo>
                    <a:pt x="3559389" y="295306"/>
                  </a:lnTo>
                  <a:lnTo>
                    <a:pt x="3542972" y="253448"/>
                  </a:lnTo>
                  <a:lnTo>
                    <a:pt x="3522453" y="213849"/>
                  </a:lnTo>
                  <a:lnTo>
                    <a:pt x="3498096" y="176771"/>
                  </a:lnTo>
                  <a:lnTo>
                    <a:pt x="3470164" y="142479"/>
                  </a:lnTo>
                  <a:lnTo>
                    <a:pt x="3438920" y="111235"/>
                  </a:lnTo>
                  <a:lnTo>
                    <a:pt x="3404628" y="83303"/>
                  </a:lnTo>
                  <a:lnTo>
                    <a:pt x="3367550" y="58946"/>
                  </a:lnTo>
                  <a:lnTo>
                    <a:pt x="3327951" y="38427"/>
                  </a:lnTo>
                  <a:lnTo>
                    <a:pt x="3286093" y="22010"/>
                  </a:lnTo>
                  <a:lnTo>
                    <a:pt x="3242240" y="9958"/>
                  </a:lnTo>
                  <a:lnTo>
                    <a:pt x="3196654" y="2533"/>
                  </a:lnTo>
                  <a:lnTo>
                    <a:pt x="3149600"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4" name="Google Shape;444;p36"/>
            <p:cNvSpPr/>
            <p:nvPr/>
          </p:nvSpPr>
          <p:spPr>
            <a:xfrm>
              <a:off x="5410200" y="1142999"/>
              <a:ext cx="3581400" cy="2590800"/>
            </a:xfrm>
            <a:custGeom>
              <a:avLst/>
              <a:gdLst/>
              <a:ahLst/>
              <a:cxnLst/>
              <a:rect l="l" t="t" r="r" b="b"/>
              <a:pathLst>
                <a:path w="3581400" h="2590800" extrusionOk="0">
                  <a:moveTo>
                    <a:pt x="0" y="431800"/>
                  </a:moveTo>
                  <a:lnTo>
                    <a:pt x="2533" y="384745"/>
                  </a:lnTo>
                  <a:lnTo>
                    <a:pt x="9958" y="339159"/>
                  </a:lnTo>
                  <a:lnTo>
                    <a:pt x="22010" y="295306"/>
                  </a:lnTo>
                  <a:lnTo>
                    <a:pt x="38427" y="253448"/>
                  </a:lnTo>
                  <a:lnTo>
                    <a:pt x="58946" y="213849"/>
                  </a:lnTo>
                  <a:lnTo>
                    <a:pt x="83303" y="176771"/>
                  </a:lnTo>
                  <a:lnTo>
                    <a:pt x="111235" y="142479"/>
                  </a:lnTo>
                  <a:lnTo>
                    <a:pt x="142479" y="111235"/>
                  </a:lnTo>
                  <a:lnTo>
                    <a:pt x="176771" y="83303"/>
                  </a:lnTo>
                  <a:lnTo>
                    <a:pt x="213849" y="58946"/>
                  </a:lnTo>
                  <a:lnTo>
                    <a:pt x="253448" y="38427"/>
                  </a:lnTo>
                  <a:lnTo>
                    <a:pt x="295306" y="22010"/>
                  </a:lnTo>
                  <a:lnTo>
                    <a:pt x="339159" y="9958"/>
                  </a:lnTo>
                  <a:lnTo>
                    <a:pt x="384745" y="2533"/>
                  </a:lnTo>
                  <a:lnTo>
                    <a:pt x="431800" y="0"/>
                  </a:lnTo>
                  <a:lnTo>
                    <a:pt x="3149600" y="0"/>
                  </a:lnTo>
                  <a:lnTo>
                    <a:pt x="3196654" y="2533"/>
                  </a:lnTo>
                  <a:lnTo>
                    <a:pt x="3242240" y="9958"/>
                  </a:lnTo>
                  <a:lnTo>
                    <a:pt x="3286093" y="22010"/>
                  </a:lnTo>
                  <a:lnTo>
                    <a:pt x="3327951" y="38427"/>
                  </a:lnTo>
                  <a:lnTo>
                    <a:pt x="3367550" y="58946"/>
                  </a:lnTo>
                  <a:lnTo>
                    <a:pt x="3404628" y="83303"/>
                  </a:lnTo>
                  <a:lnTo>
                    <a:pt x="3438920" y="111235"/>
                  </a:lnTo>
                  <a:lnTo>
                    <a:pt x="3470164" y="142479"/>
                  </a:lnTo>
                  <a:lnTo>
                    <a:pt x="3498096" y="176771"/>
                  </a:lnTo>
                  <a:lnTo>
                    <a:pt x="3522453" y="213849"/>
                  </a:lnTo>
                  <a:lnTo>
                    <a:pt x="3542972" y="253448"/>
                  </a:lnTo>
                  <a:lnTo>
                    <a:pt x="3559389" y="295306"/>
                  </a:lnTo>
                  <a:lnTo>
                    <a:pt x="3571441" y="339159"/>
                  </a:lnTo>
                  <a:lnTo>
                    <a:pt x="3578866" y="384745"/>
                  </a:lnTo>
                  <a:lnTo>
                    <a:pt x="3581400" y="431800"/>
                  </a:lnTo>
                  <a:lnTo>
                    <a:pt x="3581400" y="2159000"/>
                  </a:lnTo>
                  <a:lnTo>
                    <a:pt x="3578866" y="2206054"/>
                  </a:lnTo>
                  <a:lnTo>
                    <a:pt x="3571441" y="2251640"/>
                  </a:lnTo>
                  <a:lnTo>
                    <a:pt x="3559389" y="2295493"/>
                  </a:lnTo>
                  <a:lnTo>
                    <a:pt x="3542972" y="2337351"/>
                  </a:lnTo>
                  <a:lnTo>
                    <a:pt x="3522453" y="2376950"/>
                  </a:lnTo>
                  <a:lnTo>
                    <a:pt x="3498096" y="2414028"/>
                  </a:lnTo>
                  <a:lnTo>
                    <a:pt x="3470164" y="2448320"/>
                  </a:lnTo>
                  <a:lnTo>
                    <a:pt x="3438920" y="2479564"/>
                  </a:lnTo>
                  <a:lnTo>
                    <a:pt x="3404628" y="2507496"/>
                  </a:lnTo>
                  <a:lnTo>
                    <a:pt x="3367550" y="2531853"/>
                  </a:lnTo>
                  <a:lnTo>
                    <a:pt x="3327951" y="2552372"/>
                  </a:lnTo>
                  <a:lnTo>
                    <a:pt x="3286093" y="2568789"/>
                  </a:lnTo>
                  <a:lnTo>
                    <a:pt x="3242240" y="2580841"/>
                  </a:lnTo>
                  <a:lnTo>
                    <a:pt x="3196654" y="2588266"/>
                  </a:lnTo>
                  <a:lnTo>
                    <a:pt x="3149600" y="2590800"/>
                  </a:lnTo>
                  <a:lnTo>
                    <a:pt x="431800" y="2590800"/>
                  </a:lnTo>
                  <a:lnTo>
                    <a:pt x="384745" y="2588266"/>
                  </a:lnTo>
                  <a:lnTo>
                    <a:pt x="339159" y="2580841"/>
                  </a:lnTo>
                  <a:lnTo>
                    <a:pt x="295306" y="2568789"/>
                  </a:lnTo>
                  <a:lnTo>
                    <a:pt x="253448" y="2552372"/>
                  </a:lnTo>
                  <a:lnTo>
                    <a:pt x="213849" y="2531853"/>
                  </a:lnTo>
                  <a:lnTo>
                    <a:pt x="176771" y="2507496"/>
                  </a:lnTo>
                  <a:lnTo>
                    <a:pt x="142479" y="2479564"/>
                  </a:lnTo>
                  <a:lnTo>
                    <a:pt x="111235" y="2448320"/>
                  </a:lnTo>
                  <a:lnTo>
                    <a:pt x="83303" y="2414028"/>
                  </a:lnTo>
                  <a:lnTo>
                    <a:pt x="58946" y="2376950"/>
                  </a:lnTo>
                  <a:lnTo>
                    <a:pt x="38427" y="2337351"/>
                  </a:lnTo>
                  <a:lnTo>
                    <a:pt x="22010" y="2295493"/>
                  </a:lnTo>
                  <a:lnTo>
                    <a:pt x="9958" y="2251640"/>
                  </a:lnTo>
                  <a:lnTo>
                    <a:pt x="2533" y="2206054"/>
                  </a:lnTo>
                  <a:lnTo>
                    <a:pt x="0" y="2159000"/>
                  </a:lnTo>
                  <a:lnTo>
                    <a:pt x="0" y="431800"/>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45" name="Google Shape;445;p36"/>
          <p:cNvSpPr txBox="1"/>
          <p:nvPr/>
        </p:nvSpPr>
        <p:spPr>
          <a:xfrm>
            <a:off x="5619750" y="1316482"/>
            <a:ext cx="3163570" cy="2220595"/>
          </a:xfrm>
          <a:prstGeom prst="rect">
            <a:avLst/>
          </a:prstGeom>
          <a:noFill/>
          <a:ln>
            <a:noFill/>
          </a:ln>
        </p:spPr>
        <p:txBody>
          <a:bodyPr spcFirstLastPara="1" wrap="square" lIns="0" tIns="12700" rIns="0" bIns="0" anchor="t" anchorCtr="0">
            <a:spAutoFit/>
          </a:bodyPr>
          <a:lstStyle/>
          <a:p>
            <a:pPr marL="12065" marR="5080" lvl="0" indent="0" algn="ctr" rtl="0">
              <a:lnSpc>
                <a:spcPct val="100000"/>
              </a:lnSpc>
              <a:spcBef>
                <a:spcPts val="0"/>
              </a:spcBef>
              <a:spcAft>
                <a:spcPts val="0"/>
              </a:spcAft>
              <a:buNone/>
            </a:pPr>
            <a:r>
              <a:rPr lang="en-US" sz="1800">
                <a:solidFill>
                  <a:srgbClr val="FFFFFF"/>
                </a:solidFill>
                <a:latin typeface="Helvetica Neue"/>
                <a:ea typeface="Helvetica Neue"/>
                <a:cs typeface="Helvetica Neue"/>
                <a:sym typeface="Helvetica Neue"/>
              </a:rPr>
              <a:t>This declaration “</a:t>
            </a:r>
            <a:r>
              <a:rPr lang="en-US" sz="1800" b="1">
                <a:solidFill>
                  <a:srgbClr val="FFFF00"/>
                </a:solidFill>
                <a:latin typeface="Arial"/>
                <a:ea typeface="Arial"/>
                <a:cs typeface="Arial"/>
                <a:sym typeface="Arial"/>
              </a:rPr>
              <a:t>global count</a:t>
            </a:r>
            <a:r>
              <a:rPr lang="en-US" sz="1800">
                <a:solidFill>
                  <a:srgbClr val="FFFFFF"/>
                </a:solidFill>
                <a:latin typeface="Helvetica Neue"/>
                <a:ea typeface="Helvetica Neue"/>
                <a:cs typeface="Helvetica Neue"/>
                <a:sym typeface="Helvetica Neue"/>
              </a:rPr>
              <a:t>” is  necessary for using global  variables in function, other wise an  error “</a:t>
            </a:r>
            <a:r>
              <a:rPr lang="en-US" sz="1800" b="1">
                <a:solidFill>
                  <a:srgbClr val="FF0000"/>
                </a:solidFill>
                <a:latin typeface="Arial"/>
                <a:ea typeface="Arial"/>
                <a:cs typeface="Arial"/>
                <a:sym typeface="Arial"/>
              </a:rPr>
              <a:t>local variable 'count'  referenced before assignment</a:t>
            </a:r>
            <a:r>
              <a:rPr lang="en-US" sz="1800">
                <a:solidFill>
                  <a:srgbClr val="FFFFFF"/>
                </a:solidFill>
                <a:latin typeface="Helvetica Neue"/>
                <a:ea typeface="Helvetica Neue"/>
                <a:cs typeface="Helvetica Neue"/>
                <a:sym typeface="Helvetica Neue"/>
              </a:rPr>
              <a:t>”  will appear because local scope  will create variable “count” and it  will be found unassigned</a:t>
            </a:r>
            <a:endParaRPr sz="1800">
              <a:solidFill>
                <a:schemeClr val="dk1"/>
              </a:solidFill>
              <a:latin typeface="Helvetica Neue"/>
              <a:ea typeface="Helvetica Neue"/>
              <a:cs typeface="Helvetica Neue"/>
              <a:sym typeface="Helvetica Neue"/>
            </a:endParaRPr>
          </a:p>
        </p:txBody>
      </p:sp>
      <p:sp>
        <p:nvSpPr>
          <p:cNvPr id="446" name="Google Shape;446;p3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447" name="Google Shape;447;p36"/>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7"/>
          <p:cNvSpPr txBox="1">
            <a:spLocks noGrp="1"/>
          </p:cNvSpPr>
          <p:nvPr>
            <p:ph type="title"/>
          </p:nvPr>
        </p:nvSpPr>
        <p:spPr>
          <a:xfrm>
            <a:off x="457200" y="35560"/>
            <a:ext cx="4478655"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Lifetime of Variable</a:t>
            </a:r>
            <a:endParaRPr sz="4400"/>
          </a:p>
        </p:txBody>
      </p:sp>
      <p:sp>
        <p:nvSpPr>
          <p:cNvPr id="453" name="Google Shape;453;p37"/>
          <p:cNvSpPr txBox="1"/>
          <p:nvPr/>
        </p:nvSpPr>
        <p:spPr>
          <a:xfrm>
            <a:off x="691387" y="1612138"/>
            <a:ext cx="7997825" cy="2237105"/>
          </a:xfrm>
          <a:prstGeom prst="rect">
            <a:avLst/>
          </a:prstGeom>
          <a:noFill/>
          <a:ln>
            <a:noFill/>
          </a:ln>
        </p:spPr>
        <p:txBody>
          <a:bodyPr spcFirstLastPara="1" wrap="square" lIns="0" tIns="13325" rIns="0" bIns="0" anchor="t" anchorCtr="0">
            <a:spAutoFit/>
          </a:bodyPr>
          <a:lstStyle/>
          <a:p>
            <a:pPr marL="332740" marR="5715" lvl="0" indent="-320675" algn="just"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Is the time for which a variable lives in memory. For  Global variables the lifetime is entire program run</a:t>
            </a:r>
            <a:endParaRPr sz="2900">
              <a:solidFill>
                <a:schemeClr val="dk1"/>
              </a:solidFill>
              <a:latin typeface="Helvetica Neue"/>
              <a:ea typeface="Helvetica Neue"/>
              <a:cs typeface="Helvetica Neue"/>
              <a:sym typeface="Helvetica Neue"/>
            </a:endParaRPr>
          </a:p>
          <a:p>
            <a:pPr marL="332740" marR="5080" lvl="0" indent="0" algn="just" rtl="0">
              <a:lnSpc>
                <a:spcPct val="100000"/>
              </a:lnSpc>
              <a:spcBef>
                <a:spcPts val="0"/>
              </a:spcBef>
              <a:spcAft>
                <a:spcPts val="0"/>
              </a:spcAft>
              <a:buNone/>
            </a:pPr>
            <a:r>
              <a:rPr lang="en-US" sz="2900">
                <a:solidFill>
                  <a:schemeClr val="dk1"/>
                </a:solidFill>
                <a:latin typeface="Helvetica Neue"/>
                <a:ea typeface="Helvetica Neue"/>
                <a:cs typeface="Helvetica Neue"/>
                <a:sym typeface="Helvetica Neue"/>
              </a:rPr>
              <a:t>i.e. as long as program is executing. For Local  variables lifetime is their function‟s run i.e. as long  as function is executing.</a:t>
            </a:r>
            <a:endParaRPr sz="2900">
              <a:solidFill>
                <a:schemeClr val="dk1"/>
              </a:solidFill>
              <a:latin typeface="Helvetica Neue"/>
              <a:ea typeface="Helvetica Neue"/>
              <a:cs typeface="Helvetica Neue"/>
              <a:sym typeface="Helvetica Neue"/>
            </a:endParaRPr>
          </a:p>
        </p:txBody>
      </p:sp>
      <p:sp>
        <p:nvSpPr>
          <p:cNvPr id="454" name="Google Shape;454;p37"/>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455" name="Google Shape;455;p37"/>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38"/>
          <p:cNvSpPr txBox="1">
            <a:spLocks noGrp="1"/>
          </p:cNvSpPr>
          <p:nvPr>
            <p:ph type="title"/>
          </p:nvPr>
        </p:nvSpPr>
        <p:spPr>
          <a:xfrm>
            <a:off x="0" y="25400"/>
            <a:ext cx="783590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Name Resolution (Scope Resolution)</a:t>
            </a:r>
            <a:endParaRPr sz="4400"/>
          </a:p>
        </p:txBody>
      </p:sp>
      <p:sp>
        <p:nvSpPr>
          <p:cNvPr id="461" name="Google Shape;461;p38"/>
          <p:cNvSpPr txBox="1"/>
          <p:nvPr/>
        </p:nvSpPr>
        <p:spPr>
          <a:xfrm>
            <a:off x="691387" y="1542033"/>
            <a:ext cx="7998459" cy="4495800"/>
          </a:xfrm>
          <a:prstGeom prst="rect">
            <a:avLst/>
          </a:prstGeom>
          <a:noFill/>
          <a:ln>
            <a:noFill/>
          </a:ln>
        </p:spPr>
        <p:txBody>
          <a:bodyPr spcFirstLastPara="1" wrap="square" lIns="0" tIns="14600" rIns="0" bIns="0" anchor="t" anchorCtr="0">
            <a:spAutoFit/>
          </a:bodyPr>
          <a:lstStyle/>
          <a:p>
            <a:pPr marL="332740" marR="277495" lvl="0" indent="-320675" algn="l" rtl="0">
              <a:lnSpc>
                <a:spcPct val="99400"/>
              </a:lnSpc>
              <a:spcBef>
                <a:spcPts val="0"/>
              </a:spcBef>
              <a:spcAft>
                <a:spcPts val="0"/>
              </a:spcAft>
              <a:buClr>
                <a:srgbClr val="DD8046"/>
              </a:buClr>
              <a:buSzPts val="1200"/>
              <a:buFont typeface="Noto Sans Symbols"/>
              <a:buChar char="◻"/>
            </a:pPr>
            <a:r>
              <a:rPr lang="en-US" sz="2000">
                <a:solidFill>
                  <a:schemeClr val="dk1"/>
                </a:solidFill>
                <a:latin typeface="Helvetica Neue"/>
                <a:ea typeface="Helvetica Neue"/>
                <a:cs typeface="Helvetica Neue"/>
                <a:sym typeface="Helvetica Neue"/>
              </a:rPr>
              <a:t>For every name used within program python follows name resolution rules  known as </a:t>
            </a:r>
            <a:r>
              <a:rPr lang="en-US" sz="2400" b="1">
                <a:solidFill>
                  <a:srgbClr val="FF0000"/>
                </a:solidFill>
                <a:latin typeface="Arial"/>
                <a:ea typeface="Arial"/>
                <a:cs typeface="Arial"/>
                <a:sym typeface="Arial"/>
              </a:rPr>
              <a:t>L</a:t>
            </a:r>
            <a:r>
              <a:rPr lang="en-US" sz="2400" b="1">
                <a:solidFill>
                  <a:srgbClr val="00AF50"/>
                </a:solidFill>
                <a:latin typeface="Arial"/>
                <a:ea typeface="Arial"/>
                <a:cs typeface="Arial"/>
                <a:sym typeface="Arial"/>
              </a:rPr>
              <a:t>E</a:t>
            </a:r>
            <a:r>
              <a:rPr lang="en-US" sz="2400" b="1">
                <a:solidFill>
                  <a:srgbClr val="006FC0"/>
                </a:solidFill>
                <a:latin typeface="Arial"/>
                <a:ea typeface="Arial"/>
                <a:cs typeface="Arial"/>
                <a:sym typeface="Arial"/>
              </a:rPr>
              <a:t>G</a:t>
            </a:r>
            <a:r>
              <a:rPr lang="en-US" sz="2400" b="1">
                <a:solidFill>
                  <a:srgbClr val="6F2F9F"/>
                </a:solidFill>
                <a:latin typeface="Arial"/>
                <a:ea typeface="Arial"/>
                <a:cs typeface="Arial"/>
                <a:sym typeface="Arial"/>
              </a:rPr>
              <a:t>B </a:t>
            </a:r>
            <a:r>
              <a:rPr lang="en-US" sz="2000">
                <a:solidFill>
                  <a:schemeClr val="dk1"/>
                </a:solidFill>
                <a:latin typeface="Helvetica Neue"/>
                <a:ea typeface="Helvetica Neue"/>
                <a:cs typeface="Helvetica Neue"/>
                <a:sym typeface="Helvetica Neue"/>
              </a:rPr>
              <a:t>rule.</a:t>
            </a:r>
            <a:endParaRPr sz="2000">
              <a:solidFill>
                <a:schemeClr val="dk1"/>
              </a:solidFill>
              <a:latin typeface="Helvetica Neue"/>
              <a:ea typeface="Helvetica Neue"/>
              <a:cs typeface="Helvetica Neue"/>
              <a:sym typeface="Helvetica Neue"/>
            </a:endParaRPr>
          </a:p>
          <a:p>
            <a:pPr marL="332740" marR="6985" lvl="0" indent="-320675" algn="just" rtl="0">
              <a:lnSpc>
                <a:spcPct val="100000"/>
              </a:lnSpc>
              <a:spcBef>
                <a:spcPts val="730"/>
              </a:spcBef>
              <a:spcAft>
                <a:spcPts val="0"/>
              </a:spcAft>
              <a:buClr>
                <a:srgbClr val="DD8046"/>
              </a:buClr>
              <a:buSzPts val="1200"/>
              <a:buFont typeface="Noto Sans Symbols"/>
              <a:buChar char="◻"/>
            </a:pPr>
            <a:r>
              <a:rPr lang="en-US" sz="2000" b="1">
                <a:solidFill>
                  <a:srgbClr val="FF0000"/>
                </a:solidFill>
                <a:latin typeface="Arial"/>
                <a:ea typeface="Arial"/>
                <a:cs typeface="Arial"/>
                <a:sym typeface="Arial"/>
              </a:rPr>
              <a:t>(i) </a:t>
            </a:r>
            <a:r>
              <a:rPr lang="en-US" sz="2000" b="1" u="sng">
                <a:solidFill>
                  <a:srgbClr val="FF0000"/>
                </a:solidFill>
                <a:latin typeface="Arial"/>
                <a:ea typeface="Arial"/>
                <a:cs typeface="Arial"/>
                <a:sym typeface="Arial"/>
              </a:rPr>
              <a:t>LOCAL :</a:t>
            </a:r>
            <a:r>
              <a:rPr lang="en-US" sz="2000" b="1">
                <a:solidFill>
                  <a:srgbClr val="FF0000"/>
                </a:solidFill>
                <a:latin typeface="Arial"/>
                <a:ea typeface="Arial"/>
                <a:cs typeface="Arial"/>
                <a:sym typeface="Arial"/>
              </a:rPr>
              <a:t> first check whether name is in local environment, if yes  Python uses its value otherwise moves to (ii)</a:t>
            </a:r>
            <a:endParaRPr sz="2000">
              <a:solidFill>
                <a:schemeClr val="dk1"/>
              </a:solidFill>
              <a:latin typeface="Arial"/>
              <a:ea typeface="Arial"/>
              <a:cs typeface="Arial"/>
              <a:sym typeface="Arial"/>
            </a:endParaRPr>
          </a:p>
          <a:p>
            <a:pPr marL="332740" marR="5715" lvl="0" indent="-320675" algn="just" rtl="0">
              <a:lnSpc>
                <a:spcPct val="100000"/>
              </a:lnSpc>
              <a:spcBef>
                <a:spcPts val="695"/>
              </a:spcBef>
              <a:spcAft>
                <a:spcPts val="0"/>
              </a:spcAft>
              <a:buClr>
                <a:srgbClr val="DD8046"/>
              </a:buClr>
              <a:buSzPts val="1200"/>
              <a:buFont typeface="Noto Sans Symbols"/>
              <a:buChar char="◻"/>
            </a:pPr>
            <a:r>
              <a:rPr lang="en-US" sz="2000" b="1">
                <a:solidFill>
                  <a:srgbClr val="00AF50"/>
                </a:solidFill>
                <a:latin typeface="Arial"/>
                <a:ea typeface="Arial"/>
                <a:cs typeface="Arial"/>
                <a:sym typeface="Arial"/>
              </a:rPr>
              <a:t>(ii) </a:t>
            </a:r>
            <a:r>
              <a:rPr lang="en-US" sz="2000" b="1" u="sng">
                <a:solidFill>
                  <a:srgbClr val="00AF50"/>
                </a:solidFill>
                <a:latin typeface="Arial"/>
                <a:ea typeface="Arial"/>
                <a:cs typeface="Arial"/>
                <a:sym typeface="Arial"/>
              </a:rPr>
              <a:t>ENCLOSING ENVIRONMENT:</a:t>
            </a:r>
            <a:r>
              <a:rPr lang="en-US" sz="2000" b="1">
                <a:solidFill>
                  <a:srgbClr val="00AF50"/>
                </a:solidFill>
                <a:latin typeface="Arial"/>
                <a:ea typeface="Arial"/>
                <a:cs typeface="Arial"/>
                <a:sym typeface="Arial"/>
              </a:rPr>
              <a:t> if not in local, Python checks whether  name is in Enclosing Environment, if yes Python uses its value  otherwise moves to (iii)</a:t>
            </a:r>
            <a:endParaRPr sz="2000">
              <a:solidFill>
                <a:schemeClr val="dk1"/>
              </a:solidFill>
              <a:latin typeface="Arial"/>
              <a:ea typeface="Arial"/>
              <a:cs typeface="Arial"/>
              <a:sym typeface="Arial"/>
            </a:endParaRPr>
          </a:p>
          <a:p>
            <a:pPr marL="332740" marR="7620" lvl="0" indent="-320675" algn="just" rtl="0">
              <a:lnSpc>
                <a:spcPct val="100000"/>
              </a:lnSpc>
              <a:spcBef>
                <a:spcPts val="700"/>
              </a:spcBef>
              <a:spcAft>
                <a:spcPts val="0"/>
              </a:spcAft>
              <a:buClr>
                <a:srgbClr val="DD8046"/>
              </a:buClr>
              <a:buSzPts val="1200"/>
              <a:buFont typeface="Noto Sans Symbols"/>
              <a:buChar char="◻"/>
            </a:pPr>
            <a:r>
              <a:rPr lang="en-US" sz="2000" b="1" u="sng">
                <a:solidFill>
                  <a:srgbClr val="006FC0"/>
                </a:solidFill>
                <a:latin typeface="Arial"/>
                <a:ea typeface="Arial"/>
                <a:cs typeface="Arial"/>
                <a:sym typeface="Arial"/>
              </a:rPr>
              <a:t>GLOBAL ENVIRONMENT</a:t>
            </a:r>
            <a:r>
              <a:rPr lang="en-US" sz="2000" b="1">
                <a:solidFill>
                  <a:srgbClr val="006FC0"/>
                </a:solidFill>
                <a:latin typeface="Arial"/>
                <a:ea typeface="Arial"/>
                <a:cs typeface="Arial"/>
                <a:sym typeface="Arial"/>
              </a:rPr>
              <a:t>: if not in above scope Python checks it in  Global environment, if yes Python uses it otherwise moves to (iv)</a:t>
            </a:r>
            <a:endParaRPr sz="2000">
              <a:solidFill>
                <a:schemeClr val="dk1"/>
              </a:solidFill>
              <a:latin typeface="Arial"/>
              <a:ea typeface="Arial"/>
              <a:cs typeface="Arial"/>
              <a:sym typeface="Arial"/>
            </a:endParaRPr>
          </a:p>
          <a:p>
            <a:pPr marL="332740" marR="5080" lvl="0" indent="-320675" algn="just" rtl="0">
              <a:lnSpc>
                <a:spcPct val="100000"/>
              </a:lnSpc>
              <a:spcBef>
                <a:spcPts val="705"/>
              </a:spcBef>
              <a:spcAft>
                <a:spcPts val="0"/>
              </a:spcAft>
              <a:buClr>
                <a:srgbClr val="DD8046"/>
              </a:buClr>
              <a:buSzPts val="1200"/>
              <a:buFont typeface="Noto Sans Symbols"/>
              <a:buChar char="◻"/>
            </a:pPr>
            <a:r>
              <a:rPr lang="en-US" sz="2000" b="1" u="sng">
                <a:solidFill>
                  <a:srgbClr val="6F2F9F"/>
                </a:solidFill>
                <a:latin typeface="Arial"/>
                <a:ea typeface="Arial"/>
                <a:cs typeface="Arial"/>
                <a:sym typeface="Arial"/>
              </a:rPr>
              <a:t>BUILT-IN ENVIRONMENT:</a:t>
            </a:r>
            <a:r>
              <a:rPr lang="en-US" sz="2000" b="1">
                <a:solidFill>
                  <a:srgbClr val="6F2F9F"/>
                </a:solidFill>
                <a:latin typeface="Arial"/>
                <a:ea typeface="Arial"/>
                <a:cs typeface="Arial"/>
                <a:sym typeface="Arial"/>
              </a:rPr>
              <a:t> if not in above scope, Python checks it in  built-in environment, if yes, Python uses its value otherwise Python  would report the error:</a:t>
            </a:r>
            <a:endParaRPr sz="2000">
              <a:solidFill>
                <a:schemeClr val="dk1"/>
              </a:solidFill>
              <a:latin typeface="Arial"/>
              <a:ea typeface="Arial"/>
              <a:cs typeface="Arial"/>
              <a:sym typeface="Arial"/>
            </a:endParaRPr>
          </a:p>
          <a:p>
            <a:pPr marL="332740" marR="0" lvl="0" indent="-320675" algn="l" rtl="0">
              <a:lnSpc>
                <a:spcPct val="100000"/>
              </a:lnSpc>
              <a:spcBef>
                <a:spcPts val="700"/>
              </a:spcBef>
              <a:spcAft>
                <a:spcPts val="0"/>
              </a:spcAft>
              <a:buClr>
                <a:srgbClr val="DD8046"/>
              </a:buClr>
              <a:buSzPts val="1200"/>
              <a:buFont typeface="Noto Sans Symbols"/>
              <a:buChar char="◻"/>
            </a:pPr>
            <a:r>
              <a:rPr lang="en-US" sz="2000">
                <a:solidFill>
                  <a:srgbClr val="FF0000"/>
                </a:solidFill>
                <a:latin typeface="Helvetica Neue"/>
                <a:ea typeface="Helvetica Neue"/>
                <a:cs typeface="Helvetica Neue"/>
                <a:sym typeface="Helvetica Neue"/>
              </a:rPr>
              <a:t>name &lt;variable&gt; not defined</a:t>
            </a:r>
            <a:endParaRPr sz="2000">
              <a:solidFill>
                <a:schemeClr val="dk1"/>
              </a:solidFill>
              <a:latin typeface="Helvetica Neue"/>
              <a:ea typeface="Helvetica Neue"/>
              <a:cs typeface="Helvetica Neue"/>
              <a:sym typeface="Helvetica Neue"/>
            </a:endParaRPr>
          </a:p>
        </p:txBody>
      </p:sp>
      <p:sp>
        <p:nvSpPr>
          <p:cNvPr id="462" name="Google Shape;462;p38"/>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463" name="Google Shape;463;p38"/>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39"/>
          <p:cNvSpPr txBox="1">
            <a:spLocks noGrp="1"/>
          </p:cNvSpPr>
          <p:nvPr>
            <p:ph type="title"/>
          </p:nvPr>
        </p:nvSpPr>
        <p:spPr>
          <a:xfrm>
            <a:off x="609600" y="0"/>
            <a:ext cx="3932554"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Predict the output</a:t>
            </a:r>
            <a:endParaRPr sz="4400"/>
          </a:p>
        </p:txBody>
      </p:sp>
      <p:pic>
        <p:nvPicPr>
          <p:cNvPr id="469" name="Google Shape;469;p39"/>
          <p:cNvPicPr preferRelativeResize="0"/>
          <p:nvPr/>
        </p:nvPicPr>
        <p:blipFill rotWithShape="1">
          <a:blip r:embed="rId3">
            <a:alphaModFix/>
          </a:blip>
          <a:srcRect/>
          <a:stretch/>
        </p:blipFill>
        <p:spPr>
          <a:xfrm>
            <a:off x="304800" y="1676400"/>
            <a:ext cx="5306568" cy="3962400"/>
          </a:xfrm>
          <a:prstGeom prst="rect">
            <a:avLst/>
          </a:prstGeom>
          <a:noFill/>
          <a:ln>
            <a:noFill/>
          </a:ln>
        </p:spPr>
      </p:pic>
      <p:grpSp>
        <p:nvGrpSpPr>
          <p:cNvPr id="470" name="Google Shape;470;p39"/>
          <p:cNvGrpSpPr/>
          <p:nvPr/>
        </p:nvGrpSpPr>
        <p:grpSpPr>
          <a:xfrm>
            <a:off x="6284978" y="2889504"/>
            <a:ext cx="2520690" cy="2286000"/>
            <a:chOff x="6284978" y="2889504"/>
            <a:chExt cx="2520690" cy="2286000"/>
          </a:xfrm>
        </p:grpSpPr>
        <p:pic>
          <p:nvPicPr>
            <p:cNvPr id="471" name="Google Shape;471;p39"/>
            <p:cNvPicPr preferRelativeResize="0"/>
            <p:nvPr/>
          </p:nvPicPr>
          <p:blipFill rotWithShape="1">
            <a:blip r:embed="rId4">
              <a:alphaModFix/>
            </a:blip>
            <a:srcRect/>
            <a:stretch/>
          </p:blipFill>
          <p:spPr>
            <a:xfrm>
              <a:off x="6284978" y="2889504"/>
              <a:ext cx="2520690" cy="2286000"/>
            </a:xfrm>
            <a:prstGeom prst="rect">
              <a:avLst/>
            </a:prstGeom>
            <a:noFill/>
            <a:ln>
              <a:noFill/>
            </a:ln>
          </p:spPr>
        </p:pic>
        <p:sp>
          <p:nvSpPr>
            <p:cNvPr id="472" name="Google Shape;472;p39"/>
            <p:cNvSpPr/>
            <p:nvPr/>
          </p:nvSpPr>
          <p:spPr>
            <a:xfrm>
              <a:off x="6324600" y="2895600"/>
              <a:ext cx="2441575" cy="2209800"/>
            </a:xfrm>
            <a:custGeom>
              <a:avLst/>
              <a:gdLst/>
              <a:ahLst/>
              <a:cxnLst/>
              <a:rect l="l" t="t" r="r" b="b"/>
              <a:pathLst>
                <a:path w="2441575" h="2209800" extrusionOk="0">
                  <a:moveTo>
                    <a:pt x="2073148" y="0"/>
                  </a:moveTo>
                  <a:lnTo>
                    <a:pt x="368300" y="0"/>
                  </a:lnTo>
                  <a:lnTo>
                    <a:pt x="322091" y="2868"/>
                  </a:lnTo>
                  <a:lnTo>
                    <a:pt x="277599" y="11245"/>
                  </a:lnTo>
                  <a:lnTo>
                    <a:pt x="235166" y="24784"/>
                  </a:lnTo>
                  <a:lnTo>
                    <a:pt x="195139" y="43142"/>
                  </a:lnTo>
                  <a:lnTo>
                    <a:pt x="157861" y="65974"/>
                  </a:lnTo>
                  <a:lnTo>
                    <a:pt x="123678" y="92934"/>
                  </a:lnTo>
                  <a:lnTo>
                    <a:pt x="92934" y="123678"/>
                  </a:lnTo>
                  <a:lnTo>
                    <a:pt x="65974" y="157861"/>
                  </a:lnTo>
                  <a:lnTo>
                    <a:pt x="43142" y="195139"/>
                  </a:lnTo>
                  <a:lnTo>
                    <a:pt x="24784" y="235166"/>
                  </a:lnTo>
                  <a:lnTo>
                    <a:pt x="11245" y="277599"/>
                  </a:lnTo>
                  <a:lnTo>
                    <a:pt x="2868" y="322091"/>
                  </a:lnTo>
                  <a:lnTo>
                    <a:pt x="0" y="368300"/>
                  </a:lnTo>
                  <a:lnTo>
                    <a:pt x="0" y="1841500"/>
                  </a:lnTo>
                  <a:lnTo>
                    <a:pt x="2868" y="1887708"/>
                  </a:lnTo>
                  <a:lnTo>
                    <a:pt x="11245" y="1932200"/>
                  </a:lnTo>
                  <a:lnTo>
                    <a:pt x="24784" y="1974633"/>
                  </a:lnTo>
                  <a:lnTo>
                    <a:pt x="43142" y="2014660"/>
                  </a:lnTo>
                  <a:lnTo>
                    <a:pt x="65974" y="2051938"/>
                  </a:lnTo>
                  <a:lnTo>
                    <a:pt x="92934" y="2086121"/>
                  </a:lnTo>
                  <a:lnTo>
                    <a:pt x="123678" y="2116865"/>
                  </a:lnTo>
                  <a:lnTo>
                    <a:pt x="157861" y="2143825"/>
                  </a:lnTo>
                  <a:lnTo>
                    <a:pt x="195139" y="2166657"/>
                  </a:lnTo>
                  <a:lnTo>
                    <a:pt x="235166" y="2185015"/>
                  </a:lnTo>
                  <a:lnTo>
                    <a:pt x="277599" y="2198554"/>
                  </a:lnTo>
                  <a:lnTo>
                    <a:pt x="322091" y="2206931"/>
                  </a:lnTo>
                  <a:lnTo>
                    <a:pt x="368300" y="2209800"/>
                  </a:lnTo>
                  <a:lnTo>
                    <a:pt x="2073148" y="2209800"/>
                  </a:lnTo>
                  <a:lnTo>
                    <a:pt x="2119356" y="2206931"/>
                  </a:lnTo>
                  <a:lnTo>
                    <a:pt x="2163848" y="2198554"/>
                  </a:lnTo>
                  <a:lnTo>
                    <a:pt x="2206281" y="2185015"/>
                  </a:lnTo>
                  <a:lnTo>
                    <a:pt x="2246308" y="2166657"/>
                  </a:lnTo>
                  <a:lnTo>
                    <a:pt x="2283586" y="2143825"/>
                  </a:lnTo>
                  <a:lnTo>
                    <a:pt x="2317769" y="2116865"/>
                  </a:lnTo>
                  <a:lnTo>
                    <a:pt x="2348513" y="2086121"/>
                  </a:lnTo>
                  <a:lnTo>
                    <a:pt x="2375473" y="2051938"/>
                  </a:lnTo>
                  <a:lnTo>
                    <a:pt x="2398305" y="2014660"/>
                  </a:lnTo>
                  <a:lnTo>
                    <a:pt x="2416663" y="1974633"/>
                  </a:lnTo>
                  <a:lnTo>
                    <a:pt x="2430202" y="1932200"/>
                  </a:lnTo>
                  <a:lnTo>
                    <a:pt x="2438579" y="1887708"/>
                  </a:lnTo>
                  <a:lnTo>
                    <a:pt x="2441448" y="1841500"/>
                  </a:lnTo>
                  <a:lnTo>
                    <a:pt x="2441448" y="368300"/>
                  </a:lnTo>
                  <a:lnTo>
                    <a:pt x="2438579" y="322091"/>
                  </a:lnTo>
                  <a:lnTo>
                    <a:pt x="2430202" y="277599"/>
                  </a:lnTo>
                  <a:lnTo>
                    <a:pt x="2416663" y="235166"/>
                  </a:lnTo>
                  <a:lnTo>
                    <a:pt x="2398305" y="195139"/>
                  </a:lnTo>
                  <a:lnTo>
                    <a:pt x="2375473" y="157861"/>
                  </a:lnTo>
                  <a:lnTo>
                    <a:pt x="2348513" y="123678"/>
                  </a:lnTo>
                  <a:lnTo>
                    <a:pt x="2317769" y="92934"/>
                  </a:lnTo>
                  <a:lnTo>
                    <a:pt x="2283586" y="65974"/>
                  </a:lnTo>
                  <a:lnTo>
                    <a:pt x="2246308" y="43142"/>
                  </a:lnTo>
                  <a:lnTo>
                    <a:pt x="2206281" y="24784"/>
                  </a:lnTo>
                  <a:lnTo>
                    <a:pt x="2163848" y="11245"/>
                  </a:lnTo>
                  <a:lnTo>
                    <a:pt x="2119356" y="2868"/>
                  </a:lnTo>
                  <a:lnTo>
                    <a:pt x="2073148" y="0"/>
                  </a:lnTo>
                  <a:close/>
                </a:path>
              </a:pathLst>
            </a:custGeom>
            <a:solidFill>
              <a:srgbClr val="BBBBB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3" name="Google Shape;473;p39"/>
            <p:cNvSpPr/>
            <p:nvPr/>
          </p:nvSpPr>
          <p:spPr>
            <a:xfrm>
              <a:off x="6324600" y="2895600"/>
              <a:ext cx="2441575" cy="2209800"/>
            </a:xfrm>
            <a:custGeom>
              <a:avLst/>
              <a:gdLst/>
              <a:ahLst/>
              <a:cxnLst/>
              <a:rect l="l" t="t" r="r" b="b"/>
              <a:pathLst>
                <a:path w="2441575" h="2209800" extrusionOk="0">
                  <a:moveTo>
                    <a:pt x="0" y="368300"/>
                  </a:moveTo>
                  <a:lnTo>
                    <a:pt x="2868" y="322091"/>
                  </a:lnTo>
                  <a:lnTo>
                    <a:pt x="11245" y="277599"/>
                  </a:lnTo>
                  <a:lnTo>
                    <a:pt x="24784" y="235166"/>
                  </a:lnTo>
                  <a:lnTo>
                    <a:pt x="43142" y="195139"/>
                  </a:lnTo>
                  <a:lnTo>
                    <a:pt x="65974" y="157861"/>
                  </a:lnTo>
                  <a:lnTo>
                    <a:pt x="92934" y="123678"/>
                  </a:lnTo>
                  <a:lnTo>
                    <a:pt x="123678" y="92934"/>
                  </a:lnTo>
                  <a:lnTo>
                    <a:pt x="157861" y="65974"/>
                  </a:lnTo>
                  <a:lnTo>
                    <a:pt x="195139" y="43142"/>
                  </a:lnTo>
                  <a:lnTo>
                    <a:pt x="235166" y="24784"/>
                  </a:lnTo>
                  <a:lnTo>
                    <a:pt x="277599" y="11245"/>
                  </a:lnTo>
                  <a:lnTo>
                    <a:pt x="322091" y="2868"/>
                  </a:lnTo>
                  <a:lnTo>
                    <a:pt x="368300" y="0"/>
                  </a:lnTo>
                  <a:lnTo>
                    <a:pt x="2073148" y="0"/>
                  </a:lnTo>
                  <a:lnTo>
                    <a:pt x="2119356" y="2868"/>
                  </a:lnTo>
                  <a:lnTo>
                    <a:pt x="2163848" y="11245"/>
                  </a:lnTo>
                  <a:lnTo>
                    <a:pt x="2206281" y="24784"/>
                  </a:lnTo>
                  <a:lnTo>
                    <a:pt x="2246308" y="43142"/>
                  </a:lnTo>
                  <a:lnTo>
                    <a:pt x="2283586" y="65974"/>
                  </a:lnTo>
                  <a:lnTo>
                    <a:pt x="2317769" y="92934"/>
                  </a:lnTo>
                  <a:lnTo>
                    <a:pt x="2348513" y="123678"/>
                  </a:lnTo>
                  <a:lnTo>
                    <a:pt x="2375473" y="157861"/>
                  </a:lnTo>
                  <a:lnTo>
                    <a:pt x="2398305" y="195139"/>
                  </a:lnTo>
                  <a:lnTo>
                    <a:pt x="2416663" y="235166"/>
                  </a:lnTo>
                  <a:lnTo>
                    <a:pt x="2430202" y="277599"/>
                  </a:lnTo>
                  <a:lnTo>
                    <a:pt x="2438579" y="322091"/>
                  </a:lnTo>
                  <a:lnTo>
                    <a:pt x="2441448" y="368300"/>
                  </a:lnTo>
                  <a:lnTo>
                    <a:pt x="2441448" y="1841500"/>
                  </a:lnTo>
                  <a:lnTo>
                    <a:pt x="2438579" y="1887708"/>
                  </a:lnTo>
                  <a:lnTo>
                    <a:pt x="2430202" y="1932200"/>
                  </a:lnTo>
                  <a:lnTo>
                    <a:pt x="2416663" y="1974633"/>
                  </a:lnTo>
                  <a:lnTo>
                    <a:pt x="2398305" y="2014660"/>
                  </a:lnTo>
                  <a:lnTo>
                    <a:pt x="2375473" y="2051938"/>
                  </a:lnTo>
                  <a:lnTo>
                    <a:pt x="2348513" y="2086121"/>
                  </a:lnTo>
                  <a:lnTo>
                    <a:pt x="2317769" y="2116865"/>
                  </a:lnTo>
                  <a:lnTo>
                    <a:pt x="2283586" y="2143825"/>
                  </a:lnTo>
                  <a:lnTo>
                    <a:pt x="2246308" y="2166657"/>
                  </a:lnTo>
                  <a:lnTo>
                    <a:pt x="2206281" y="2185015"/>
                  </a:lnTo>
                  <a:lnTo>
                    <a:pt x="2163848" y="2198554"/>
                  </a:lnTo>
                  <a:lnTo>
                    <a:pt x="2119356" y="2206931"/>
                  </a:lnTo>
                  <a:lnTo>
                    <a:pt x="2073148" y="2209800"/>
                  </a:lnTo>
                  <a:lnTo>
                    <a:pt x="368300" y="2209800"/>
                  </a:lnTo>
                  <a:lnTo>
                    <a:pt x="322091" y="2206931"/>
                  </a:lnTo>
                  <a:lnTo>
                    <a:pt x="277599" y="2198554"/>
                  </a:lnTo>
                  <a:lnTo>
                    <a:pt x="235166" y="2185015"/>
                  </a:lnTo>
                  <a:lnTo>
                    <a:pt x="195139" y="2166657"/>
                  </a:lnTo>
                  <a:lnTo>
                    <a:pt x="157861" y="2143825"/>
                  </a:lnTo>
                  <a:lnTo>
                    <a:pt x="123678" y="2116865"/>
                  </a:lnTo>
                  <a:lnTo>
                    <a:pt x="92934" y="2086121"/>
                  </a:lnTo>
                  <a:lnTo>
                    <a:pt x="65974" y="2051938"/>
                  </a:lnTo>
                  <a:lnTo>
                    <a:pt x="43142" y="2014660"/>
                  </a:lnTo>
                  <a:lnTo>
                    <a:pt x="24784" y="1974633"/>
                  </a:lnTo>
                  <a:lnTo>
                    <a:pt x="11245" y="1932200"/>
                  </a:lnTo>
                  <a:lnTo>
                    <a:pt x="2868" y="1887708"/>
                  </a:lnTo>
                  <a:lnTo>
                    <a:pt x="0" y="1841500"/>
                  </a:lnTo>
                  <a:lnTo>
                    <a:pt x="0" y="368300"/>
                  </a:lnTo>
                  <a:close/>
                </a:path>
              </a:pathLst>
            </a:custGeom>
            <a:noFill/>
            <a:ln w="99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74" name="Google Shape;474;p39"/>
          <p:cNvSpPr txBox="1"/>
          <p:nvPr/>
        </p:nvSpPr>
        <p:spPr>
          <a:xfrm>
            <a:off x="6587743" y="3363595"/>
            <a:ext cx="1917064" cy="1245870"/>
          </a:xfrm>
          <a:prstGeom prst="rect">
            <a:avLst/>
          </a:prstGeom>
          <a:noFill/>
          <a:ln>
            <a:noFill/>
          </a:ln>
        </p:spPr>
        <p:txBody>
          <a:bodyPr spcFirstLastPara="1" wrap="square" lIns="0" tIns="13325" rIns="0" bIns="0" anchor="t" anchorCtr="0">
            <a:spAutoFit/>
          </a:bodyPr>
          <a:lstStyle/>
          <a:p>
            <a:pPr marL="12700" marR="5080" lvl="0" indent="0" algn="ctr" rtl="0">
              <a:lnSpc>
                <a:spcPct val="100000"/>
              </a:lnSpc>
              <a:spcBef>
                <a:spcPts val="0"/>
              </a:spcBef>
              <a:spcAft>
                <a:spcPts val="0"/>
              </a:spcAft>
              <a:buNone/>
            </a:pPr>
            <a:r>
              <a:rPr lang="en-US" sz="2000">
                <a:solidFill>
                  <a:srgbClr val="FF0000"/>
                </a:solidFill>
                <a:latin typeface="Helvetica Neue"/>
                <a:ea typeface="Helvetica Neue"/>
                <a:cs typeface="Helvetica Neue"/>
                <a:sym typeface="Helvetica Neue"/>
              </a:rPr>
              <a:t>Program with  variable “value” in  both LOCAL and  GLOBAL SCOPE</a:t>
            </a:r>
            <a:endParaRPr sz="2000">
              <a:solidFill>
                <a:schemeClr val="dk1"/>
              </a:solidFill>
              <a:latin typeface="Helvetica Neue"/>
              <a:ea typeface="Helvetica Neue"/>
              <a:cs typeface="Helvetica Neue"/>
              <a:sym typeface="Helvetica Neue"/>
            </a:endParaRPr>
          </a:p>
        </p:txBody>
      </p:sp>
      <p:sp>
        <p:nvSpPr>
          <p:cNvPr id="475" name="Google Shape;475;p39"/>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476" name="Google Shape;476;p39"/>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40"/>
          <p:cNvSpPr txBox="1">
            <a:spLocks noGrp="1"/>
          </p:cNvSpPr>
          <p:nvPr>
            <p:ph type="title"/>
          </p:nvPr>
        </p:nvSpPr>
        <p:spPr>
          <a:xfrm>
            <a:off x="475806" y="228600"/>
            <a:ext cx="3932554"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Predict the output</a:t>
            </a:r>
            <a:endParaRPr sz="4400"/>
          </a:p>
        </p:txBody>
      </p:sp>
      <p:pic>
        <p:nvPicPr>
          <p:cNvPr id="482" name="Google Shape;482;p40"/>
          <p:cNvPicPr preferRelativeResize="0"/>
          <p:nvPr/>
        </p:nvPicPr>
        <p:blipFill rotWithShape="1">
          <a:blip r:embed="rId3">
            <a:alphaModFix/>
          </a:blip>
          <a:srcRect/>
          <a:stretch/>
        </p:blipFill>
        <p:spPr>
          <a:xfrm>
            <a:off x="304800" y="1676400"/>
            <a:ext cx="5306568" cy="3124200"/>
          </a:xfrm>
          <a:prstGeom prst="rect">
            <a:avLst/>
          </a:prstGeom>
          <a:noFill/>
          <a:ln>
            <a:noFill/>
          </a:ln>
        </p:spPr>
      </p:pic>
      <p:grpSp>
        <p:nvGrpSpPr>
          <p:cNvPr id="483" name="Google Shape;483;p40"/>
          <p:cNvGrpSpPr/>
          <p:nvPr/>
        </p:nvGrpSpPr>
        <p:grpSpPr>
          <a:xfrm>
            <a:off x="6284978" y="2889504"/>
            <a:ext cx="2520690" cy="2286000"/>
            <a:chOff x="6284978" y="2889504"/>
            <a:chExt cx="2520690" cy="2286000"/>
          </a:xfrm>
        </p:grpSpPr>
        <p:pic>
          <p:nvPicPr>
            <p:cNvPr id="484" name="Google Shape;484;p40"/>
            <p:cNvPicPr preferRelativeResize="0"/>
            <p:nvPr/>
          </p:nvPicPr>
          <p:blipFill rotWithShape="1">
            <a:blip r:embed="rId4">
              <a:alphaModFix/>
            </a:blip>
            <a:srcRect/>
            <a:stretch/>
          </p:blipFill>
          <p:spPr>
            <a:xfrm>
              <a:off x="6284978" y="2889504"/>
              <a:ext cx="2520690" cy="2286000"/>
            </a:xfrm>
            <a:prstGeom prst="rect">
              <a:avLst/>
            </a:prstGeom>
            <a:noFill/>
            <a:ln>
              <a:noFill/>
            </a:ln>
          </p:spPr>
        </p:pic>
        <p:sp>
          <p:nvSpPr>
            <p:cNvPr id="485" name="Google Shape;485;p40"/>
            <p:cNvSpPr/>
            <p:nvPr/>
          </p:nvSpPr>
          <p:spPr>
            <a:xfrm>
              <a:off x="6324600" y="2895600"/>
              <a:ext cx="2441575" cy="2209800"/>
            </a:xfrm>
            <a:custGeom>
              <a:avLst/>
              <a:gdLst/>
              <a:ahLst/>
              <a:cxnLst/>
              <a:rect l="l" t="t" r="r" b="b"/>
              <a:pathLst>
                <a:path w="2441575" h="2209800" extrusionOk="0">
                  <a:moveTo>
                    <a:pt x="2073148" y="0"/>
                  </a:moveTo>
                  <a:lnTo>
                    <a:pt x="368300" y="0"/>
                  </a:lnTo>
                  <a:lnTo>
                    <a:pt x="322091" y="2868"/>
                  </a:lnTo>
                  <a:lnTo>
                    <a:pt x="277599" y="11245"/>
                  </a:lnTo>
                  <a:lnTo>
                    <a:pt x="235166" y="24784"/>
                  </a:lnTo>
                  <a:lnTo>
                    <a:pt x="195139" y="43142"/>
                  </a:lnTo>
                  <a:lnTo>
                    <a:pt x="157861" y="65974"/>
                  </a:lnTo>
                  <a:lnTo>
                    <a:pt x="123678" y="92934"/>
                  </a:lnTo>
                  <a:lnTo>
                    <a:pt x="92934" y="123678"/>
                  </a:lnTo>
                  <a:lnTo>
                    <a:pt x="65974" y="157861"/>
                  </a:lnTo>
                  <a:lnTo>
                    <a:pt x="43142" y="195139"/>
                  </a:lnTo>
                  <a:lnTo>
                    <a:pt x="24784" y="235166"/>
                  </a:lnTo>
                  <a:lnTo>
                    <a:pt x="11245" y="277599"/>
                  </a:lnTo>
                  <a:lnTo>
                    <a:pt x="2868" y="322091"/>
                  </a:lnTo>
                  <a:lnTo>
                    <a:pt x="0" y="368300"/>
                  </a:lnTo>
                  <a:lnTo>
                    <a:pt x="0" y="1841500"/>
                  </a:lnTo>
                  <a:lnTo>
                    <a:pt x="2868" y="1887708"/>
                  </a:lnTo>
                  <a:lnTo>
                    <a:pt x="11245" y="1932200"/>
                  </a:lnTo>
                  <a:lnTo>
                    <a:pt x="24784" y="1974633"/>
                  </a:lnTo>
                  <a:lnTo>
                    <a:pt x="43142" y="2014660"/>
                  </a:lnTo>
                  <a:lnTo>
                    <a:pt x="65974" y="2051938"/>
                  </a:lnTo>
                  <a:lnTo>
                    <a:pt x="92934" y="2086121"/>
                  </a:lnTo>
                  <a:lnTo>
                    <a:pt x="123678" y="2116865"/>
                  </a:lnTo>
                  <a:lnTo>
                    <a:pt x="157861" y="2143825"/>
                  </a:lnTo>
                  <a:lnTo>
                    <a:pt x="195139" y="2166657"/>
                  </a:lnTo>
                  <a:lnTo>
                    <a:pt x="235166" y="2185015"/>
                  </a:lnTo>
                  <a:lnTo>
                    <a:pt x="277599" y="2198554"/>
                  </a:lnTo>
                  <a:lnTo>
                    <a:pt x="322091" y="2206931"/>
                  </a:lnTo>
                  <a:lnTo>
                    <a:pt x="368300" y="2209800"/>
                  </a:lnTo>
                  <a:lnTo>
                    <a:pt x="2073148" y="2209800"/>
                  </a:lnTo>
                  <a:lnTo>
                    <a:pt x="2119356" y="2206931"/>
                  </a:lnTo>
                  <a:lnTo>
                    <a:pt x="2163848" y="2198554"/>
                  </a:lnTo>
                  <a:lnTo>
                    <a:pt x="2206281" y="2185015"/>
                  </a:lnTo>
                  <a:lnTo>
                    <a:pt x="2246308" y="2166657"/>
                  </a:lnTo>
                  <a:lnTo>
                    <a:pt x="2283586" y="2143825"/>
                  </a:lnTo>
                  <a:lnTo>
                    <a:pt x="2317769" y="2116865"/>
                  </a:lnTo>
                  <a:lnTo>
                    <a:pt x="2348513" y="2086121"/>
                  </a:lnTo>
                  <a:lnTo>
                    <a:pt x="2375473" y="2051938"/>
                  </a:lnTo>
                  <a:lnTo>
                    <a:pt x="2398305" y="2014660"/>
                  </a:lnTo>
                  <a:lnTo>
                    <a:pt x="2416663" y="1974633"/>
                  </a:lnTo>
                  <a:lnTo>
                    <a:pt x="2430202" y="1932200"/>
                  </a:lnTo>
                  <a:lnTo>
                    <a:pt x="2438579" y="1887708"/>
                  </a:lnTo>
                  <a:lnTo>
                    <a:pt x="2441448" y="1841500"/>
                  </a:lnTo>
                  <a:lnTo>
                    <a:pt x="2441448" y="368300"/>
                  </a:lnTo>
                  <a:lnTo>
                    <a:pt x="2438579" y="322091"/>
                  </a:lnTo>
                  <a:lnTo>
                    <a:pt x="2430202" y="277599"/>
                  </a:lnTo>
                  <a:lnTo>
                    <a:pt x="2416663" y="235166"/>
                  </a:lnTo>
                  <a:lnTo>
                    <a:pt x="2398305" y="195139"/>
                  </a:lnTo>
                  <a:lnTo>
                    <a:pt x="2375473" y="157861"/>
                  </a:lnTo>
                  <a:lnTo>
                    <a:pt x="2348513" y="123678"/>
                  </a:lnTo>
                  <a:lnTo>
                    <a:pt x="2317769" y="92934"/>
                  </a:lnTo>
                  <a:lnTo>
                    <a:pt x="2283586" y="65974"/>
                  </a:lnTo>
                  <a:lnTo>
                    <a:pt x="2246308" y="43142"/>
                  </a:lnTo>
                  <a:lnTo>
                    <a:pt x="2206281" y="24784"/>
                  </a:lnTo>
                  <a:lnTo>
                    <a:pt x="2163848" y="11245"/>
                  </a:lnTo>
                  <a:lnTo>
                    <a:pt x="2119356" y="2868"/>
                  </a:lnTo>
                  <a:lnTo>
                    <a:pt x="2073148" y="0"/>
                  </a:lnTo>
                  <a:close/>
                </a:path>
              </a:pathLst>
            </a:custGeom>
            <a:solidFill>
              <a:srgbClr val="BBBBB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6" name="Google Shape;486;p40"/>
            <p:cNvSpPr/>
            <p:nvPr/>
          </p:nvSpPr>
          <p:spPr>
            <a:xfrm>
              <a:off x="6324600" y="2895600"/>
              <a:ext cx="2441575" cy="2209800"/>
            </a:xfrm>
            <a:custGeom>
              <a:avLst/>
              <a:gdLst/>
              <a:ahLst/>
              <a:cxnLst/>
              <a:rect l="l" t="t" r="r" b="b"/>
              <a:pathLst>
                <a:path w="2441575" h="2209800" extrusionOk="0">
                  <a:moveTo>
                    <a:pt x="0" y="368300"/>
                  </a:moveTo>
                  <a:lnTo>
                    <a:pt x="2868" y="322091"/>
                  </a:lnTo>
                  <a:lnTo>
                    <a:pt x="11245" y="277599"/>
                  </a:lnTo>
                  <a:lnTo>
                    <a:pt x="24784" y="235166"/>
                  </a:lnTo>
                  <a:lnTo>
                    <a:pt x="43142" y="195139"/>
                  </a:lnTo>
                  <a:lnTo>
                    <a:pt x="65974" y="157861"/>
                  </a:lnTo>
                  <a:lnTo>
                    <a:pt x="92934" y="123678"/>
                  </a:lnTo>
                  <a:lnTo>
                    <a:pt x="123678" y="92934"/>
                  </a:lnTo>
                  <a:lnTo>
                    <a:pt x="157861" y="65974"/>
                  </a:lnTo>
                  <a:lnTo>
                    <a:pt x="195139" y="43142"/>
                  </a:lnTo>
                  <a:lnTo>
                    <a:pt x="235166" y="24784"/>
                  </a:lnTo>
                  <a:lnTo>
                    <a:pt x="277599" y="11245"/>
                  </a:lnTo>
                  <a:lnTo>
                    <a:pt x="322091" y="2868"/>
                  </a:lnTo>
                  <a:lnTo>
                    <a:pt x="368300" y="0"/>
                  </a:lnTo>
                  <a:lnTo>
                    <a:pt x="2073148" y="0"/>
                  </a:lnTo>
                  <a:lnTo>
                    <a:pt x="2119356" y="2868"/>
                  </a:lnTo>
                  <a:lnTo>
                    <a:pt x="2163848" y="11245"/>
                  </a:lnTo>
                  <a:lnTo>
                    <a:pt x="2206281" y="24784"/>
                  </a:lnTo>
                  <a:lnTo>
                    <a:pt x="2246308" y="43142"/>
                  </a:lnTo>
                  <a:lnTo>
                    <a:pt x="2283586" y="65974"/>
                  </a:lnTo>
                  <a:lnTo>
                    <a:pt x="2317769" y="92934"/>
                  </a:lnTo>
                  <a:lnTo>
                    <a:pt x="2348513" y="123678"/>
                  </a:lnTo>
                  <a:lnTo>
                    <a:pt x="2375473" y="157861"/>
                  </a:lnTo>
                  <a:lnTo>
                    <a:pt x="2398305" y="195139"/>
                  </a:lnTo>
                  <a:lnTo>
                    <a:pt x="2416663" y="235166"/>
                  </a:lnTo>
                  <a:lnTo>
                    <a:pt x="2430202" y="277599"/>
                  </a:lnTo>
                  <a:lnTo>
                    <a:pt x="2438579" y="322091"/>
                  </a:lnTo>
                  <a:lnTo>
                    <a:pt x="2441448" y="368300"/>
                  </a:lnTo>
                  <a:lnTo>
                    <a:pt x="2441448" y="1841500"/>
                  </a:lnTo>
                  <a:lnTo>
                    <a:pt x="2438579" y="1887708"/>
                  </a:lnTo>
                  <a:lnTo>
                    <a:pt x="2430202" y="1932200"/>
                  </a:lnTo>
                  <a:lnTo>
                    <a:pt x="2416663" y="1974633"/>
                  </a:lnTo>
                  <a:lnTo>
                    <a:pt x="2398305" y="2014660"/>
                  </a:lnTo>
                  <a:lnTo>
                    <a:pt x="2375473" y="2051938"/>
                  </a:lnTo>
                  <a:lnTo>
                    <a:pt x="2348513" y="2086121"/>
                  </a:lnTo>
                  <a:lnTo>
                    <a:pt x="2317769" y="2116865"/>
                  </a:lnTo>
                  <a:lnTo>
                    <a:pt x="2283586" y="2143825"/>
                  </a:lnTo>
                  <a:lnTo>
                    <a:pt x="2246308" y="2166657"/>
                  </a:lnTo>
                  <a:lnTo>
                    <a:pt x="2206281" y="2185015"/>
                  </a:lnTo>
                  <a:lnTo>
                    <a:pt x="2163848" y="2198554"/>
                  </a:lnTo>
                  <a:lnTo>
                    <a:pt x="2119356" y="2206931"/>
                  </a:lnTo>
                  <a:lnTo>
                    <a:pt x="2073148" y="2209800"/>
                  </a:lnTo>
                  <a:lnTo>
                    <a:pt x="368300" y="2209800"/>
                  </a:lnTo>
                  <a:lnTo>
                    <a:pt x="322091" y="2206931"/>
                  </a:lnTo>
                  <a:lnTo>
                    <a:pt x="277599" y="2198554"/>
                  </a:lnTo>
                  <a:lnTo>
                    <a:pt x="235166" y="2185015"/>
                  </a:lnTo>
                  <a:lnTo>
                    <a:pt x="195139" y="2166657"/>
                  </a:lnTo>
                  <a:lnTo>
                    <a:pt x="157861" y="2143825"/>
                  </a:lnTo>
                  <a:lnTo>
                    <a:pt x="123678" y="2116865"/>
                  </a:lnTo>
                  <a:lnTo>
                    <a:pt x="92934" y="2086121"/>
                  </a:lnTo>
                  <a:lnTo>
                    <a:pt x="65974" y="2051938"/>
                  </a:lnTo>
                  <a:lnTo>
                    <a:pt x="43142" y="2014660"/>
                  </a:lnTo>
                  <a:lnTo>
                    <a:pt x="24784" y="1974633"/>
                  </a:lnTo>
                  <a:lnTo>
                    <a:pt x="11245" y="1932200"/>
                  </a:lnTo>
                  <a:lnTo>
                    <a:pt x="2868" y="1887708"/>
                  </a:lnTo>
                  <a:lnTo>
                    <a:pt x="0" y="1841500"/>
                  </a:lnTo>
                  <a:lnTo>
                    <a:pt x="0" y="368300"/>
                  </a:lnTo>
                  <a:close/>
                </a:path>
              </a:pathLst>
            </a:custGeom>
            <a:noFill/>
            <a:ln w="99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487" name="Google Shape;487;p40"/>
          <p:cNvSpPr txBox="1"/>
          <p:nvPr/>
        </p:nvSpPr>
        <p:spPr>
          <a:xfrm>
            <a:off x="6587743" y="3363595"/>
            <a:ext cx="1917064" cy="1245870"/>
          </a:xfrm>
          <a:prstGeom prst="rect">
            <a:avLst/>
          </a:prstGeom>
          <a:noFill/>
          <a:ln>
            <a:noFill/>
          </a:ln>
        </p:spPr>
        <p:txBody>
          <a:bodyPr spcFirstLastPara="1" wrap="square" lIns="0" tIns="13325" rIns="0" bIns="0" anchor="t" anchorCtr="0">
            <a:spAutoFit/>
          </a:bodyPr>
          <a:lstStyle/>
          <a:p>
            <a:pPr marL="12700" marR="5080" lvl="0" indent="0" algn="ctr" rtl="0">
              <a:lnSpc>
                <a:spcPct val="100000"/>
              </a:lnSpc>
              <a:spcBef>
                <a:spcPts val="0"/>
              </a:spcBef>
              <a:spcAft>
                <a:spcPts val="0"/>
              </a:spcAft>
              <a:buNone/>
            </a:pPr>
            <a:r>
              <a:rPr lang="en-US" sz="2000">
                <a:solidFill>
                  <a:srgbClr val="FF0000"/>
                </a:solidFill>
                <a:latin typeface="Helvetica Neue"/>
                <a:ea typeface="Helvetica Neue"/>
                <a:cs typeface="Helvetica Neue"/>
                <a:sym typeface="Helvetica Neue"/>
              </a:rPr>
              <a:t>Program with  variable “value” in  both LOCAL and  GLOBAL SCOPE</a:t>
            </a:r>
            <a:endParaRPr sz="2000">
              <a:solidFill>
                <a:schemeClr val="dk1"/>
              </a:solidFill>
              <a:latin typeface="Helvetica Neue"/>
              <a:ea typeface="Helvetica Neue"/>
              <a:cs typeface="Helvetica Neue"/>
              <a:sym typeface="Helvetica Neue"/>
            </a:endParaRPr>
          </a:p>
        </p:txBody>
      </p:sp>
      <p:pic>
        <p:nvPicPr>
          <p:cNvPr id="488" name="Google Shape;488;p40"/>
          <p:cNvPicPr preferRelativeResize="0"/>
          <p:nvPr/>
        </p:nvPicPr>
        <p:blipFill rotWithShape="1">
          <a:blip r:embed="rId5">
            <a:alphaModFix/>
          </a:blip>
          <a:srcRect/>
          <a:stretch/>
        </p:blipFill>
        <p:spPr>
          <a:xfrm>
            <a:off x="342900" y="4953000"/>
            <a:ext cx="4198366" cy="1752600"/>
          </a:xfrm>
          <a:prstGeom prst="rect">
            <a:avLst/>
          </a:prstGeom>
          <a:noFill/>
          <a:ln>
            <a:noFill/>
          </a:ln>
        </p:spPr>
      </p:pic>
      <p:sp>
        <p:nvSpPr>
          <p:cNvPr id="489" name="Google Shape;489;p40"/>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490" name="Google Shape;490;p40"/>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41"/>
          <p:cNvSpPr txBox="1">
            <a:spLocks noGrp="1"/>
          </p:cNvSpPr>
          <p:nvPr>
            <p:ph type="title"/>
          </p:nvPr>
        </p:nvSpPr>
        <p:spPr>
          <a:xfrm>
            <a:off x="533400" y="152400"/>
            <a:ext cx="3932554"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Predict the output</a:t>
            </a:r>
            <a:endParaRPr sz="4400"/>
          </a:p>
        </p:txBody>
      </p:sp>
      <p:grpSp>
        <p:nvGrpSpPr>
          <p:cNvPr id="496" name="Google Shape;496;p41"/>
          <p:cNvGrpSpPr/>
          <p:nvPr/>
        </p:nvGrpSpPr>
        <p:grpSpPr>
          <a:xfrm>
            <a:off x="6284978" y="2889504"/>
            <a:ext cx="2520690" cy="2286000"/>
            <a:chOff x="6284978" y="2889504"/>
            <a:chExt cx="2520690" cy="2286000"/>
          </a:xfrm>
        </p:grpSpPr>
        <p:pic>
          <p:nvPicPr>
            <p:cNvPr id="497" name="Google Shape;497;p41"/>
            <p:cNvPicPr preferRelativeResize="0"/>
            <p:nvPr/>
          </p:nvPicPr>
          <p:blipFill rotWithShape="1">
            <a:blip r:embed="rId3">
              <a:alphaModFix/>
            </a:blip>
            <a:srcRect/>
            <a:stretch/>
          </p:blipFill>
          <p:spPr>
            <a:xfrm>
              <a:off x="6284978" y="2889504"/>
              <a:ext cx="2520690" cy="2286000"/>
            </a:xfrm>
            <a:prstGeom prst="rect">
              <a:avLst/>
            </a:prstGeom>
            <a:noFill/>
            <a:ln>
              <a:noFill/>
            </a:ln>
          </p:spPr>
        </p:pic>
        <p:sp>
          <p:nvSpPr>
            <p:cNvPr id="498" name="Google Shape;498;p41"/>
            <p:cNvSpPr/>
            <p:nvPr/>
          </p:nvSpPr>
          <p:spPr>
            <a:xfrm>
              <a:off x="6324600" y="2895600"/>
              <a:ext cx="2441575" cy="2209800"/>
            </a:xfrm>
            <a:custGeom>
              <a:avLst/>
              <a:gdLst/>
              <a:ahLst/>
              <a:cxnLst/>
              <a:rect l="l" t="t" r="r" b="b"/>
              <a:pathLst>
                <a:path w="2441575" h="2209800" extrusionOk="0">
                  <a:moveTo>
                    <a:pt x="2073148" y="0"/>
                  </a:moveTo>
                  <a:lnTo>
                    <a:pt x="368300" y="0"/>
                  </a:lnTo>
                  <a:lnTo>
                    <a:pt x="322091" y="2868"/>
                  </a:lnTo>
                  <a:lnTo>
                    <a:pt x="277599" y="11245"/>
                  </a:lnTo>
                  <a:lnTo>
                    <a:pt x="235166" y="24784"/>
                  </a:lnTo>
                  <a:lnTo>
                    <a:pt x="195139" y="43142"/>
                  </a:lnTo>
                  <a:lnTo>
                    <a:pt x="157861" y="65974"/>
                  </a:lnTo>
                  <a:lnTo>
                    <a:pt x="123678" y="92934"/>
                  </a:lnTo>
                  <a:lnTo>
                    <a:pt x="92934" y="123678"/>
                  </a:lnTo>
                  <a:lnTo>
                    <a:pt x="65974" y="157861"/>
                  </a:lnTo>
                  <a:lnTo>
                    <a:pt x="43142" y="195139"/>
                  </a:lnTo>
                  <a:lnTo>
                    <a:pt x="24784" y="235166"/>
                  </a:lnTo>
                  <a:lnTo>
                    <a:pt x="11245" y="277599"/>
                  </a:lnTo>
                  <a:lnTo>
                    <a:pt x="2868" y="322091"/>
                  </a:lnTo>
                  <a:lnTo>
                    <a:pt x="0" y="368300"/>
                  </a:lnTo>
                  <a:lnTo>
                    <a:pt x="0" y="1841500"/>
                  </a:lnTo>
                  <a:lnTo>
                    <a:pt x="2868" y="1887708"/>
                  </a:lnTo>
                  <a:lnTo>
                    <a:pt x="11245" y="1932200"/>
                  </a:lnTo>
                  <a:lnTo>
                    <a:pt x="24784" y="1974633"/>
                  </a:lnTo>
                  <a:lnTo>
                    <a:pt x="43142" y="2014660"/>
                  </a:lnTo>
                  <a:lnTo>
                    <a:pt x="65974" y="2051938"/>
                  </a:lnTo>
                  <a:lnTo>
                    <a:pt x="92934" y="2086121"/>
                  </a:lnTo>
                  <a:lnTo>
                    <a:pt x="123678" y="2116865"/>
                  </a:lnTo>
                  <a:lnTo>
                    <a:pt x="157861" y="2143825"/>
                  </a:lnTo>
                  <a:lnTo>
                    <a:pt x="195139" y="2166657"/>
                  </a:lnTo>
                  <a:lnTo>
                    <a:pt x="235166" y="2185015"/>
                  </a:lnTo>
                  <a:lnTo>
                    <a:pt x="277599" y="2198554"/>
                  </a:lnTo>
                  <a:lnTo>
                    <a:pt x="322091" y="2206931"/>
                  </a:lnTo>
                  <a:lnTo>
                    <a:pt x="368300" y="2209800"/>
                  </a:lnTo>
                  <a:lnTo>
                    <a:pt x="2073148" y="2209800"/>
                  </a:lnTo>
                  <a:lnTo>
                    <a:pt x="2119356" y="2206931"/>
                  </a:lnTo>
                  <a:lnTo>
                    <a:pt x="2163848" y="2198554"/>
                  </a:lnTo>
                  <a:lnTo>
                    <a:pt x="2206281" y="2185015"/>
                  </a:lnTo>
                  <a:lnTo>
                    <a:pt x="2246308" y="2166657"/>
                  </a:lnTo>
                  <a:lnTo>
                    <a:pt x="2283586" y="2143825"/>
                  </a:lnTo>
                  <a:lnTo>
                    <a:pt x="2317769" y="2116865"/>
                  </a:lnTo>
                  <a:lnTo>
                    <a:pt x="2348513" y="2086121"/>
                  </a:lnTo>
                  <a:lnTo>
                    <a:pt x="2375473" y="2051938"/>
                  </a:lnTo>
                  <a:lnTo>
                    <a:pt x="2398305" y="2014660"/>
                  </a:lnTo>
                  <a:lnTo>
                    <a:pt x="2416663" y="1974633"/>
                  </a:lnTo>
                  <a:lnTo>
                    <a:pt x="2430202" y="1932200"/>
                  </a:lnTo>
                  <a:lnTo>
                    <a:pt x="2438579" y="1887708"/>
                  </a:lnTo>
                  <a:lnTo>
                    <a:pt x="2441448" y="1841500"/>
                  </a:lnTo>
                  <a:lnTo>
                    <a:pt x="2441448" y="368300"/>
                  </a:lnTo>
                  <a:lnTo>
                    <a:pt x="2438579" y="322091"/>
                  </a:lnTo>
                  <a:lnTo>
                    <a:pt x="2430202" y="277599"/>
                  </a:lnTo>
                  <a:lnTo>
                    <a:pt x="2416663" y="235166"/>
                  </a:lnTo>
                  <a:lnTo>
                    <a:pt x="2398305" y="195139"/>
                  </a:lnTo>
                  <a:lnTo>
                    <a:pt x="2375473" y="157861"/>
                  </a:lnTo>
                  <a:lnTo>
                    <a:pt x="2348513" y="123678"/>
                  </a:lnTo>
                  <a:lnTo>
                    <a:pt x="2317769" y="92934"/>
                  </a:lnTo>
                  <a:lnTo>
                    <a:pt x="2283586" y="65974"/>
                  </a:lnTo>
                  <a:lnTo>
                    <a:pt x="2246308" y="43142"/>
                  </a:lnTo>
                  <a:lnTo>
                    <a:pt x="2206281" y="24784"/>
                  </a:lnTo>
                  <a:lnTo>
                    <a:pt x="2163848" y="11245"/>
                  </a:lnTo>
                  <a:lnTo>
                    <a:pt x="2119356" y="2868"/>
                  </a:lnTo>
                  <a:lnTo>
                    <a:pt x="2073148" y="0"/>
                  </a:lnTo>
                  <a:close/>
                </a:path>
              </a:pathLst>
            </a:custGeom>
            <a:solidFill>
              <a:srgbClr val="BBBBB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9" name="Google Shape;499;p41"/>
            <p:cNvSpPr/>
            <p:nvPr/>
          </p:nvSpPr>
          <p:spPr>
            <a:xfrm>
              <a:off x="6324600" y="2895600"/>
              <a:ext cx="2441575" cy="2209800"/>
            </a:xfrm>
            <a:custGeom>
              <a:avLst/>
              <a:gdLst/>
              <a:ahLst/>
              <a:cxnLst/>
              <a:rect l="l" t="t" r="r" b="b"/>
              <a:pathLst>
                <a:path w="2441575" h="2209800" extrusionOk="0">
                  <a:moveTo>
                    <a:pt x="0" y="368300"/>
                  </a:moveTo>
                  <a:lnTo>
                    <a:pt x="2868" y="322091"/>
                  </a:lnTo>
                  <a:lnTo>
                    <a:pt x="11245" y="277599"/>
                  </a:lnTo>
                  <a:lnTo>
                    <a:pt x="24784" y="235166"/>
                  </a:lnTo>
                  <a:lnTo>
                    <a:pt x="43142" y="195139"/>
                  </a:lnTo>
                  <a:lnTo>
                    <a:pt x="65974" y="157861"/>
                  </a:lnTo>
                  <a:lnTo>
                    <a:pt x="92934" y="123678"/>
                  </a:lnTo>
                  <a:lnTo>
                    <a:pt x="123678" y="92934"/>
                  </a:lnTo>
                  <a:lnTo>
                    <a:pt x="157861" y="65974"/>
                  </a:lnTo>
                  <a:lnTo>
                    <a:pt x="195139" y="43142"/>
                  </a:lnTo>
                  <a:lnTo>
                    <a:pt x="235166" y="24784"/>
                  </a:lnTo>
                  <a:lnTo>
                    <a:pt x="277599" y="11245"/>
                  </a:lnTo>
                  <a:lnTo>
                    <a:pt x="322091" y="2868"/>
                  </a:lnTo>
                  <a:lnTo>
                    <a:pt x="368300" y="0"/>
                  </a:lnTo>
                  <a:lnTo>
                    <a:pt x="2073148" y="0"/>
                  </a:lnTo>
                  <a:lnTo>
                    <a:pt x="2119356" y="2868"/>
                  </a:lnTo>
                  <a:lnTo>
                    <a:pt x="2163848" y="11245"/>
                  </a:lnTo>
                  <a:lnTo>
                    <a:pt x="2206281" y="24784"/>
                  </a:lnTo>
                  <a:lnTo>
                    <a:pt x="2246308" y="43142"/>
                  </a:lnTo>
                  <a:lnTo>
                    <a:pt x="2283586" y="65974"/>
                  </a:lnTo>
                  <a:lnTo>
                    <a:pt x="2317769" y="92934"/>
                  </a:lnTo>
                  <a:lnTo>
                    <a:pt x="2348513" y="123678"/>
                  </a:lnTo>
                  <a:lnTo>
                    <a:pt x="2375473" y="157861"/>
                  </a:lnTo>
                  <a:lnTo>
                    <a:pt x="2398305" y="195139"/>
                  </a:lnTo>
                  <a:lnTo>
                    <a:pt x="2416663" y="235166"/>
                  </a:lnTo>
                  <a:lnTo>
                    <a:pt x="2430202" y="277599"/>
                  </a:lnTo>
                  <a:lnTo>
                    <a:pt x="2438579" y="322091"/>
                  </a:lnTo>
                  <a:lnTo>
                    <a:pt x="2441448" y="368300"/>
                  </a:lnTo>
                  <a:lnTo>
                    <a:pt x="2441448" y="1841500"/>
                  </a:lnTo>
                  <a:lnTo>
                    <a:pt x="2438579" y="1887708"/>
                  </a:lnTo>
                  <a:lnTo>
                    <a:pt x="2430202" y="1932200"/>
                  </a:lnTo>
                  <a:lnTo>
                    <a:pt x="2416663" y="1974633"/>
                  </a:lnTo>
                  <a:lnTo>
                    <a:pt x="2398305" y="2014660"/>
                  </a:lnTo>
                  <a:lnTo>
                    <a:pt x="2375473" y="2051938"/>
                  </a:lnTo>
                  <a:lnTo>
                    <a:pt x="2348513" y="2086121"/>
                  </a:lnTo>
                  <a:lnTo>
                    <a:pt x="2317769" y="2116865"/>
                  </a:lnTo>
                  <a:lnTo>
                    <a:pt x="2283586" y="2143825"/>
                  </a:lnTo>
                  <a:lnTo>
                    <a:pt x="2246308" y="2166657"/>
                  </a:lnTo>
                  <a:lnTo>
                    <a:pt x="2206281" y="2185015"/>
                  </a:lnTo>
                  <a:lnTo>
                    <a:pt x="2163848" y="2198554"/>
                  </a:lnTo>
                  <a:lnTo>
                    <a:pt x="2119356" y="2206931"/>
                  </a:lnTo>
                  <a:lnTo>
                    <a:pt x="2073148" y="2209800"/>
                  </a:lnTo>
                  <a:lnTo>
                    <a:pt x="368300" y="2209800"/>
                  </a:lnTo>
                  <a:lnTo>
                    <a:pt x="322091" y="2206931"/>
                  </a:lnTo>
                  <a:lnTo>
                    <a:pt x="277599" y="2198554"/>
                  </a:lnTo>
                  <a:lnTo>
                    <a:pt x="235166" y="2185015"/>
                  </a:lnTo>
                  <a:lnTo>
                    <a:pt x="195139" y="2166657"/>
                  </a:lnTo>
                  <a:lnTo>
                    <a:pt x="157861" y="2143825"/>
                  </a:lnTo>
                  <a:lnTo>
                    <a:pt x="123678" y="2116865"/>
                  </a:lnTo>
                  <a:lnTo>
                    <a:pt x="92934" y="2086121"/>
                  </a:lnTo>
                  <a:lnTo>
                    <a:pt x="65974" y="2051938"/>
                  </a:lnTo>
                  <a:lnTo>
                    <a:pt x="43142" y="2014660"/>
                  </a:lnTo>
                  <a:lnTo>
                    <a:pt x="24784" y="1974633"/>
                  </a:lnTo>
                  <a:lnTo>
                    <a:pt x="11245" y="1932200"/>
                  </a:lnTo>
                  <a:lnTo>
                    <a:pt x="2868" y="1887708"/>
                  </a:lnTo>
                  <a:lnTo>
                    <a:pt x="0" y="1841500"/>
                  </a:lnTo>
                  <a:lnTo>
                    <a:pt x="0" y="368300"/>
                  </a:lnTo>
                  <a:close/>
                </a:path>
              </a:pathLst>
            </a:custGeom>
            <a:noFill/>
            <a:ln w="99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00" name="Google Shape;500;p41"/>
          <p:cNvSpPr txBox="1"/>
          <p:nvPr/>
        </p:nvSpPr>
        <p:spPr>
          <a:xfrm>
            <a:off x="6587743" y="3515944"/>
            <a:ext cx="1917064" cy="941069"/>
          </a:xfrm>
          <a:prstGeom prst="rect">
            <a:avLst/>
          </a:prstGeom>
          <a:noFill/>
          <a:ln>
            <a:noFill/>
          </a:ln>
        </p:spPr>
        <p:txBody>
          <a:bodyPr spcFirstLastPara="1" wrap="square" lIns="0" tIns="13325" rIns="0" bIns="0" anchor="t" anchorCtr="0">
            <a:spAutoFit/>
          </a:bodyPr>
          <a:lstStyle/>
          <a:p>
            <a:pPr marL="12700" marR="5080" lvl="0" indent="0" algn="ctr" rtl="0">
              <a:lnSpc>
                <a:spcPct val="100000"/>
              </a:lnSpc>
              <a:spcBef>
                <a:spcPts val="0"/>
              </a:spcBef>
              <a:spcAft>
                <a:spcPts val="0"/>
              </a:spcAft>
              <a:buNone/>
            </a:pPr>
            <a:r>
              <a:rPr lang="en-US" sz="2000">
                <a:solidFill>
                  <a:srgbClr val="FF0000"/>
                </a:solidFill>
                <a:latin typeface="Helvetica Neue"/>
                <a:ea typeface="Helvetica Neue"/>
                <a:cs typeface="Helvetica Neue"/>
                <a:sym typeface="Helvetica Neue"/>
              </a:rPr>
              <a:t>Using GLOBAL  variable “value” in  local scope</a:t>
            </a:r>
            <a:endParaRPr sz="2000">
              <a:solidFill>
                <a:schemeClr val="dk1"/>
              </a:solidFill>
              <a:latin typeface="Helvetica Neue"/>
              <a:ea typeface="Helvetica Neue"/>
              <a:cs typeface="Helvetica Neue"/>
              <a:sym typeface="Helvetica Neue"/>
            </a:endParaRPr>
          </a:p>
        </p:txBody>
      </p:sp>
      <p:pic>
        <p:nvPicPr>
          <p:cNvPr id="501" name="Google Shape;501;p41"/>
          <p:cNvPicPr preferRelativeResize="0"/>
          <p:nvPr/>
        </p:nvPicPr>
        <p:blipFill rotWithShape="1">
          <a:blip r:embed="rId4">
            <a:alphaModFix/>
          </a:blip>
          <a:srcRect/>
          <a:stretch/>
        </p:blipFill>
        <p:spPr>
          <a:xfrm>
            <a:off x="304800" y="1676400"/>
            <a:ext cx="4648200" cy="3470782"/>
          </a:xfrm>
          <a:prstGeom prst="rect">
            <a:avLst/>
          </a:prstGeom>
          <a:noFill/>
          <a:ln>
            <a:noFill/>
          </a:ln>
        </p:spPr>
      </p:pic>
      <p:sp>
        <p:nvSpPr>
          <p:cNvPr id="502" name="Google Shape;502;p41"/>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503" name="Google Shape;503;p41"/>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2"/>
          <p:cNvSpPr txBox="1"/>
          <p:nvPr/>
        </p:nvSpPr>
        <p:spPr>
          <a:xfrm>
            <a:off x="533400" y="152400"/>
            <a:ext cx="3932554" cy="69723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4400">
                <a:solidFill>
                  <a:srgbClr val="775F54"/>
                </a:solidFill>
                <a:latin typeface="Helvetica Neue"/>
                <a:ea typeface="Helvetica Neue"/>
                <a:cs typeface="Helvetica Neue"/>
                <a:sym typeface="Helvetica Neue"/>
              </a:rPr>
              <a:t>Predict the output</a:t>
            </a:r>
            <a:endParaRPr sz="4400">
              <a:solidFill>
                <a:schemeClr val="dk1"/>
              </a:solidFill>
              <a:latin typeface="Helvetica Neue"/>
              <a:ea typeface="Helvetica Neue"/>
              <a:cs typeface="Helvetica Neue"/>
              <a:sym typeface="Helvetica Neue"/>
            </a:endParaRPr>
          </a:p>
        </p:txBody>
      </p:sp>
      <p:grpSp>
        <p:nvGrpSpPr>
          <p:cNvPr id="509" name="Google Shape;509;p42"/>
          <p:cNvGrpSpPr/>
          <p:nvPr/>
        </p:nvGrpSpPr>
        <p:grpSpPr>
          <a:xfrm>
            <a:off x="6132578" y="1784604"/>
            <a:ext cx="2520690" cy="2286000"/>
            <a:chOff x="6132578" y="1784604"/>
            <a:chExt cx="2520690" cy="2286000"/>
          </a:xfrm>
        </p:grpSpPr>
        <p:pic>
          <p:nvPicPr>
            <p:cNvPr id="510" name="Google Shape;510;p42"/>
            <p:cNvPicPr preferRelativeResize="0"/>
            <p:nvPr/>
          </p:nvPicPr>
          <p:blipFill rotWithShape="1">
            <a:blip r:embed="rId3">
              <a:alphaModFix/>
            </a:blip>
            <a:srcRect/>
            <a:stretch/>
          </p:blipFill>
          <p:spPr>
            <a:xfrm>
              <a:off x="6132578" y="1784604"/>
              <a:ext cx="2520690" cy="2286000"/>
            </a:xfrm>
            <a:prstGeom prst="rect">
              <a:avLst/>
            </a:prstGeom>
            <a:noFill/>
            <a:ln>
              <a:noFill/>
            </a:ln>
          </p:spPr>
        </p:pic>
        <p:sp>
          <p:nvSpPr>
            <p:cNvPr id="511" name="Google Shape;511;p42"/>
            <p:cNvSpPr/>
            <p:nvPr/>
          </p:nvSpPr>
          <p:spPr>
            <a:xfrm>
              <a:off x="6172200" y="1790700"/>
              <a:ext cx="2441575" cy="2209800"/>
            </a:xfrm>
            <a:custGeom>
              <a:avLst/>
              <a:gdLst/>
              <a:ahLst/>
              <a:cxnLst/>
              <a:rect l="l" t="t" r="r" b="b"/>
              <a:pathLst>
                <a:path w="2441575" h="2209800" extrusionOk="0">
                  <a:moveTo>
                    <a:pt x="2073148" y="0"/>
                  </a:moveTo>
                  <a:lnTo>
                    <a:pt x="368300" y="0"/>
                  </a:lnTo>
                  <a:lnTo>
                    <a:pt x="322091" y="2868"/>
                  </a:lnTo>
                  <a:lnTo>
                    <a:pt x="277599" y="11245"/>
                  </a:lnTo>
                  <a:lnTo>
                    <a:pt x="235166" y="24784"/>
                  </a:lnTo>
                  <a:lnTo>
                    <a:pt x="195139" y="43142"/>
                  </a:lnTo>
                  <a:lnTo>
                    <a:pt x="157861" y="65974"/>
                  </a:lnTo>
                  <a:lnTo>
                    <a:pt x="123678" y="92934"/>
                  </a:lnTo>
                  <a:lnTo>
                    <a:pt x="92934" y="123678"/>
                  </a:lnTo>
                  <a:lnTo>
                    <a:pt x="65974" y="157861"/>
                  </a:lnTo>
                  <a:lnTo>
                    <a:pt x="43142" y="195139"/>
                  </a:lnTo>
                  <a:lnTo>
                    <a:pt x="24784" y="235166"/>
                  </a:lnTo>
                  <a:lnTo>
                    <a:pt x="11245" y="277599"/>
                  </a:lnTo>
                  <a:lnTo>
                    <a:pt x="2868" y="322091"/>
                  </a:lnTo>
                  <a:lnTo>
                    <a:pt x="0" y="368300"/>
                  </a:lnTo>
                  <a:lnTo>
                    <a:pt x="0" y="1841500"/>
                  </a:lnTo>
                  <a:lnTo>
                    <a:pt x="2868" y="1887708"/>
                  </a:lnTo>
                  <a:lnTo>
                    <a:pt x="11245" y="1932200"/>
                  </a:lnTo>
                  <a:lnTo>
                    <a:pt x="24784" y="1974633"/>
                  </a:lnTo>
                  <a:lnTo>
                    <a:pt x="43142" y="2014660"/>
                  </a:lnTo>
                  <a:lnTo>
                    <a:pt x="65974" y="2051938"/>
                  </a:lnTo>
                  <a:lnTo>
                    <a:pt x="92934" y="2086121"/>
                  </a:lnTo>
                  <a:lnTo>
                    <a:pt x="123678" y="2116865"/>
                  </a:lnTo>
                  <a:lnTo>
                    <a:pt x="157861" y="2143825"/>
                  </a:lnTo>
                  <a:lnTo>
                    <a:pt x="195139" y="2166657"/>
                  </a:lnTo>
                  <a:lnTo>
                    <a:pt x="235166" y="2185015"/>
                  </a:lnTo>
                  <a:lnTo>
                    <a:pt x="277599" y="2198554"/>
                  </a:lnTo>
                  <a:lnTo>
                    <a:pt x="322091" y="2206931"/>
                  </a:lnTo>
                  <a:lnTo>
                    <a:pt x="368300" y="2209800"/>
                  </a:lnTo>
                  <a:lnTo>
                    <a:pt x="2073148" y="2209800"/>
                  </a:lnTo>
                  <a:lnTo>
                    <a:pt x="2119356" y="2206931"/>
                  </a:lnTo>
                  <a:lnTo>
                    <a:pt x="2163848" y="2198554"/>
                  </a:lnTo>
                  <a:lnTo>
                    <a:pt x="2206281" y="2185015"/>
                  </a:lnTo>
                  <a:lnTo>
                    <a:pt x="2246308" y="2166657"/>
                  </a:lnTo>
                  <a:lnTo>
                    <a:pt x="2283586" y="2143825"/>
                  </a:lnTo>
                  <a:lnTo>
                    <a:pt x="2317769" y="2116865"/>
                  </a:lnTo>
                  <a:lnTo>
                    <a:pt x="2348513" y="2086121"/>
                  </a:lnTo>
                  <a:lnTo>
                    <a:pt x="2375473" y="2051938"/>
                  </a:lnTo>
                  <a:lnTo>
                    <a:pt x="2398305" y="2014660"/>
                  </a:lnTo>
                  <a:lnTo>
                    <a:pt x="2416663" y="1974633"/>
                  </a:lnTo>
                  <a:lnTo>
                    <a:pt x="2430202" y="1932200"/>
                  </a:lnTo>
                  <a:lnTo>
                    <a:pt x="2438579" y="1887708"/>
                  </a:lnTo>
                  <a:lnTo>
                    <a:pt x="2441448" y="1841500"/>
                  </a:lnTo>
                  <a:lnTo>
                    <a:pt x="2441448" y="368300"/>
                  </a:lnTo>
                  <a:lnTo>
                    <a:pt x="2438579" y="322091"/>
                  </a:lnTo>
                  <a:lnTo>
                    <a:pt x="2430202" y="277599"/>
                  </a:lnTo>
                  <a:lnTo>
                    <a:pt x="2416663" y="235166"/>
                  </a:lnTo>
                  <a:lnTo>
                    <a:pt x="2398305" y="195139"/>
                  </a:lnTo>
                  <a:lnTo>
                    <a:pt x="2375473" y="157861"/>
                  </a:lnTo>
                  <a:lnTo>
                    <a:pt x="2348513" y="123678"/>
                  </a:lnTo>
                  <a:lnTo>
                    <a:pt x="2317769" y="92934"/>
                  </a:lnTo>
                  <a:lnTo>
                    <a:pt x="2283586" y="65974"/>
                  </a:lnTo>
                  <a:lnTo>
                    <a:pt x="2246308" y="43142"/>
                  </a:lnTo>
                  <a:lnTo>
                    <a:pt x="2206281" y="24784"/>
                  </a:lnTo>
                  <a:lnTo>
                    <a:pt x="2163848" y="11245"/>
                  </a:lnTo>
                  <a:lnTo>
                    <a:pt x="2119356" y="2868"/>
                  </a:lnTo>
                  <a:lnTo>
                    <a:pt x="2073148" y="0"/>
                  </a:lnTo>
                  <a:close/>
                </a:path>
              </a:pathLst>
            </a:custGeom>
            <a:solidFill>
              <a:srgbClr val="BBBBB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2" name="Google Shape;512;p42"/>
            <p:cNvSpPr/>
            <p:nvPr/>
          </p:nvSpPr>
          <p:spPr>
            <a:xfrm>
              <a:off x="6172200" y="1790700"/>
              <a:ext cx="2441575" cy="2209800"/>
            </a:xfrm>
            <a:custGeom>
              <a:avLst/>
              <a:gdLst/>
              <a:ahLst/>
              <a:cxnLst/>
              <a:rect l="l" t="t" r="r" b="b"/>
              <a:pathLst>
                <a:path w="2441575" h="2209800" extrusionOk="0">
                  <a:moveTo>
                    <a:pt x="0" y="368300"/>
                  </a:moveTo>
                  <a:lnTo>
                    <a:pt x="2868" y="322091"/>
                  </a:lnTo>
                  <a:lnTo>
                    <a:pt x="11245" y="277599"/>
                  </a:lnTo>
                  <a:lnTo>
                    <a:pt x="24784" y="235166"/>
                  </a:lnTo>
                  <a:lnTo>
                    <a:pt x="43142" y="195139"/>
                  </a:lnTo>
                  <a:lnTo>
                    <a:pt x="65974" y="157861"/>
                  </a:lnTo>
                  <a:lnTo>
                    <a:pt x="92934" y="123678"/>
                  </a:lnTo>
                  <a:lnTo>
                    <a:pt x="123678" y="92934"/>
                  </a:lnTo>
                  <a:lnTo>
                    <a:pt x="157861" y="65974"/>
                  </a:lnTo>
                  <a:lnTo>
                    <a:pt x="195139" y="43142"/>
                  </a:lnTo>
                  <a:lnTo>
                    <a:pt x="235166" y="24784"/>
                  </a:lnTo>
                  <a:lnTo>
                    <a:pt x="277599" y="11245"/>
                  </a:lnTo>
                  <a:lnTo>
                    <a:pt x="322091" y="2868"/>
                  </a:lnTo>
                  <a:lnTo>
                    <a:pt x="368300" y="0"/>
                  </a:lnTo>
                  <a:lnTo>
                    <a:pt x="2073148" y="0"/>
                  </a:lnTo>
                  <a:lnTo>
                    <a:pt x="2119356" y="2868"/>
                  </a:lnTo>
                  <a:lnTo>
                    <a:pt x="2163848" y="11245"/>
                  </a:lnTo>
                  <a:lnTo>
                    <a:pt x="2206281" y="24784"/>
                  </a:lnTo>
                  <a:lnTo>
                    <a:pt x="2246308" y="43142"/>
                  </a:lnTo>
                  <a:lnTo>
                    <a:pt x="2283586" y="65974"/>
                  </a:lnTo>
                  <a:lnTo>
                    <a:pt x="2317769" y="92934"/>
                  </a:lnTo>
                  <a:lnTo>
                    <a:pt x="2348513" y="123678"/>
                  </a:lnTo>
                  <a:lnTo>
                    <a:pt x="2375473" y="157861"/>
                  </a:lnTo>
                  <a:lnTo>
                    <a:pt x="2398305" y="195139"/>
                  </a:lnTo>
                  <a:lnTo>
                    <a:pt x="2416663" y="235166"/>
                  </a:lnTo>
                  <a:lnTo>
                    <a:pt x="2430202" y="277599"/>
                  </a:lnTo>
                  <a:lnTo>
                    <a:pt x="2438579" y="322091"/>
                  </a:lnTo>
                  <a:lnTo>
                    <a:pt x="2441448" y="368300"/>
                  </a:lnTo>
                  <a:lnTo>
                    <a:pt x="2441448" y="1841500"/>
                  </a:lnTo>
                  <a:lnTo>
                    <a:pt x="2438579" y="1887708"/>
                  </a:lnTo>
                  <a:lnTo>
                    <a:pt x="2430202" y="1932200"/>
                  </a:lnTo>
                  <a:lnTo>
                    <a:pt x="2416663" y="1974633"/>
                  </a:lnTo>
                  <a:lnTo>
                    <a:pt x="2398305" y="2014660"/>
                  </a:lnTo>
                  <a:lnTo>
                    <a:pt x="2375473" y="2051938"/>
                  </a:lnTo>
                  <a:lnTo>
                    <a:pt x="2348513" y="2086121"/>
                  </a:lnTo>
                  <a:lnTo>
                    <a:pt x="2317769" y="2116865"/>
                  </a:lnTo>
                  <a:lnTo>
                    <a:pt x="2283586" y="2143825"/>
                  </a:lnTo>
                  <a:lnTo>
                    <a:pt x="2246308" y="2166657"/>
                  </a:lnTo>
                  <a:lnTo>
                    <a:pt x="2206281" y="2185015"/>
                  </a:lnTo>
                  <a:lnTo>
                    <a:pt x="2163848" y="2198554"/>
                  </a:lnTo>
                  <a:lnTo>
                    <a:pt x="2119356" y="2206931"/>
                  </a:lnTo>
                  <a:lnTo>
                    <a:pt x="2073148" y="2209800"/>
                  </a:lnTo>
                  <a:lnTo>
                    <a:pt x="368300" y="2209800"/>
                  </a:lnTo>
                  <a:lnTo>
                    <a:pt x="322091" y="2206931"/>
                  </a:lnTo>
                  <a:lnTo>
                    <a:pt x="277599" y="2198554"/>
                  </a:lnTo>
                  <a:lnTo>
                    <a:pt x="235166" y="2185015"/>
                  </a:lnTo>
                  <a:lnTo>
                    <a:pt x="195139" y="2166657"/>
                  </a:lnTo>
                  <a:lnTo>
                    <a:pt x="157861" y="2143825"/>
                  </a:lnTo>
                  <a:lnTo>
                    <a:pt x="123678" y="2116865"/>
                  </a:lnTo>
                  <a:lnTo>
                    <a:pt x="92934" y="2086121"/>
                  </a:lnTo>
                  <a:lnTo>
                    <a:pt x="65974" y="2051938"/>
                  </a:lnTo>
                  <a:lnTo>
                    <a:pt x="43142" y="2014660"/>
                  </a:lnTo>
                  <a:lnTo>
                    <a:pt x="24784" y="1974633"/>
                  </a:lnTo>
                  <a:lnTo>
                    <a:pt x="11245" y="1932200"/>
                  </a:lnTo>
                  <a:lnTo>
                    <a:pt x="2868" y="1887708"/>
                  </a:lnTo>
                  <a:lnTo>
                    <a:pt x="0" y="1841500"/>
                  </a:lnTo>
                  <a:lnTo>
                    <a:pt x="0" y="368300"/>
                  </a:lnTo>
                  <a:close/>
                </a:path>
              </a:pathLst>
            </a:custGeom>
            <a:noFill/>
            <a:ln w="99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13" name="Google Shape;513;p42"/>
          <p:cNvSpPr txBox="1"/>
          <p:nvPr/>
        </p:nvSpPr>
        <p:spPr>
          <a:xfrm>
            <a:off x="6435344" y="2411095"/>
            <a:ext cx="1917064" cy="940435"/>
          </a:xfrm>
          <a:prstGeom prst="rect">
            <a:avLst/>
          </a:prstGeom>
          <a:noFill/>
          <a:ln>
            <a:noFill/>
          </a:ln>
        </p:spPr>
        <p:txBody>
          <a:bodyPr spcFirstLastPara="1" wrap="square" lIns="0" tIns="13325" rIns="0" bIns="0" anchor="t" anchorCtr="0">
            <a:spAutoFit/>
          </a:bodyPr>
          <a:lstStyle/>
          <a:p>
            <a:pPr marL="12065" marR="5080" lvl="0" indent="-635" algn="ctr" rtl="0">
              <a:lnSpc>
                <a:spcPct val="100000"/>
              </a:lnSpc>
              <a:spcBef>
                <a:spcPts val="0"/>
              </a:spcBef>
              <a:spcAft>
                <a:spcPts val="0"/>
              </a:spcAft>
              <a:buNone/>
            </a:pPr>
            <a:r>
              <a:rPr lang="en-US" sz="2000">
                <a:solidFill>
                  <a:srgbClr val="FF0000"/>
                </a:solidFill>
                <a:latin typeface="Helvetica Neue"/>
                <a:ea typeface="Helvetica Neue"/>
                <a:cs typeface="Helvetica Neue"/>
                <a:sym typeface="Helvetica Neue"/>
              </a:rPr>
              <a:t>Using GLOBAL  variable “value” in  local scope</a:t>
            </a:r>
            <a:endParaRPr sz="2000">
              <a:solidFill>
                <a:schemeClr val="dk1"/>
              </a:solidFill>
              <a:latin typeface="Helvetica Neue"/>
              <a:ea typeface="Helvetica Neue"/>
              <a:cs typeface="Helvetica Neue"/>
              <a:sym typeface="Helvetica Neue"/>
            </a:endParaRPr>
          </a:p>
        </p:txBody>
      </p:sp>
      <p:pic>
        <p:nvPicPr>
          <p:cNvPr id="514" name="Google Shape;514;p42"/>
          <p:cNvPicPr preferRelativeResize="0"/>
          <p:nvPr/>
        </p:nvPicPr>
        <p:blipFill rotWithShape="1">
          <a:blip r:embed="rId4">
            <a:alphaModFix/>
          </a:blip>
          <a:srcRect/>
          <a:stretch/>
        </p:blipFill>
        <p:spPr>
          <a:xfrm>
            <a:off x="304800" y="1676400"/>
            <a:ext cx="4648200" cy="2514600"/>
          </a:xfrm>
          <a:prstGeom prst="rect">
            <a:avLst/>
          </a:prstGeom>
          <a:noFill/>
          <a:ln>
            <a:noFill/>
          </a:ln>
        </p:spPr>
      </p:pic>
      <p:grpSp>
        <p:nvGrpSpPr>
          <p:cNvPr id="515" name="Google Shape;515;p42"/>
          <p:cNvGrpSpPr/>
          <p:nvPr/>
        </p:nvGrpSpPr>
        <p:grpSpPr>
          <a:xfrm>
            <a:off x="215900" y="4331461"/>
            <a:ext cx="3411854" cy="1651000"/>
            <a:chOff x="215900" y="4331461"/>
            <a:chExt cx="3411854" cy="1651000"/>
          </a:xfrm>
        </p:grpSpPr>
        <p:pic>
          <p:nvPicPr>
            <p:cNvPr id="516" name="Google Shape;516;p42"/>
            <p:cNvPicPr preferRelativeResize="0"/>
            <p:nvPr/>
          </p:nvPicPr>
          <p:blipFill rotWithShape="1">
            <a:blip r:embed="rId5">
              <a:alphaModFix/>
            </a:blip>
            <a:srcRect/>
            <a:stretch/>
          </p:blipFill>
          <p:spPr>
            <a:xfrm>
              <a:off x="303276" y="4419599"/>
              <a:ext cx="3236976" cy="1475232"/>
            </a:xfrm>
            <a:prstGeom prst="rect">
              <a:avLst/>
            </a:prstGeom>
            <a:noFill/>
            <a:ln>
              <a:noFill/>
            </a:ln>
          </p:spPr>
        </p:pic>
        <p:sp>
          <p:nvSpPr>
            <p:cNvPr id="517" name="Google Shape;517;p42"/>
            <p:cNvSpPr/>
            <p:nvPr/>
          </p:nvSpPr>
          <p:spPr>
            <a:xfrm>
              <a:off x="215900" y="4331461"/>
              <a:ext cx="3411854" cy="1651000"/>
            </a:xfrm>
            <a:custGeom>
              <a:avLst/>
              <a:gdLst/>
              <a:ahLst/>
              <a:cxnLst/>
              <a:rect l="l" t="t" r="r" b="b"/>
              <a:pathLst>
                <a:path w="3411854" h="1651000" extrusionOk="0">
                  <a:moveTo>
                    <a:pt x="3340354" y="71120"/>
                  </a:moveTo>
                  <a:lnTo>
                    <a:pt x="71120" y="71120"/>
                  </a:lnTo>
                  <a:lnTo>
                    <a:pt x="71120" y="88900"/>
                  </a:lnTo>
                  <a:lnTo>
                    <a:pt x="71120" y="1562100"/>
                  </a:lnTo>
                  <a:lnTo>
                    <a:pt x="71120" y="1579880"/>
                  </a:lnTo>
                  <a:lnTo>
                    <a:pt x="3340354" y="1579880"/>
                  </a:lnTo>
                  <a:lnTo>
                    <a:pt x="3340354" y="1562100"/>
                  </a:lnTo>
                  <a:lnTo>
                    <a:pt x="88900" y="1562100"/>
                  </a:lnTo>
                  <a:lnTo>
                    <a:pt x="88900" y="88900"/>
                  </a:lnTo>
                  <a:lnTo>
                    <a:pt x="3322574" y="88900"/>
                  </a:lnTo>
                  <a:lnTo>
                    <a:pt x="3322574" y="1561604"/>
                  </a:lnTo>
                  <a:lnTo>
                    <a:pt x="3340354" y="1561617"/>
                  </a:lnTo>
                  <a:lnTo>
                    <a:pt x="3340354" y="88900"/>
                  </a:lnTo>
                  <a:lnTo>
                    <a:pt x="3340354" y="71120"/>
                  </a:lnTo>
                  <a:close/>
                </a:path>
                <a:path w="3411854" h="1651000" extrusionOk="0">
                  <a:moveTo>
                    <a:pt x="3411474" y="0"/>
                  </a:moveTo>
                  <a:lnTo>
                    <a:pt x="0" y="0"/>
                  </a:lnTo>
                  <a:lnTo>
                    <a:pt x="0" y="53340"/>
                  </a:lnTo>
                  <a:lnTo>
                    <a:pt x="0" y="1597672"/>
                  </a:lnTo>
                  <a:lnTo>
                    <a:pt x="0" y="1651000"/>
                  </a:lnTo>
                  <a:lnTo>
                    <a:pt x="3411474" y="1651000"/>
                  </a:lnTo>
                  <a:lnTo>
                    <a:pt x="3411474" y="1597672"/>
                  </a:lnTo>
                  <a:lnTo>
                    <a:pt x="53340" y="1597672"/>
                  </a:lnTo>
                  <a:lnTo>
                    <a:pt x="53340" y="53340"/>
                  </a:lnTo>
                  <a:lnTo>
                    <a:pt x="3358134" y="53340"/>
                  </a:lnTo>
                  <a:lnTo>
                    <a:pt x="3358134" y="1597164"/>
                  </a:lnTo>
                  <a:lnTo>
                    <a:pt x="3411474" y="1597164"/>
                  </a:lnTo>
                  <a:lnTo>
                    <a:pt x="3411474" y="53340"/>
                  </a:lnTo>
                  <a:lnTo>
                    <a:pt x="3411474"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18" name="Google Shape;518;p42"/>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519" name="Google Shape;519;p42"/>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43"/>
          <p:cNvSpPr txBox="1">
            <a:spLocks noGrp="1"/>
          </p:cNvSpPr>
          <p:nvPr>
            <p:ph type="title"/>
          </p:nvPr>
        </p:nvSpPr>
        <p:spPr>
          <a:xfrm>
            <a:off x="533400" y="0"/>
            <a:ext cx="3932554"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Predict the output</a:t>
            </a:r>
            <a:endParaRPr sz="4400"/>
          </a:p>
        </p:txBody>
      </p:sp>
      <p:grpSp>
        <p:nvGrpSpPr>
          <p:cNvPr id="525" name="Google Shape;525;p43"/>
          <p:cNvGrpSpPr/>
          <p:nvPr/>
        </p:nvGrpSpPr>
        <p:grpSpPr>
          <a:xfrm>
            <a:off x="6284978" y="2889504"/>
            <a:ext cx="2520690" cy="2286000"/>
            <a:chOff x="6284978" y="2889504"/>
            <a:chExt cx="2520690" cy="2286000"/>
          </a:xfrm>
        </p:grpSpPr>
        <p:pic>
          <p:nvPicPr>
            <p:cNvPr id="526" name="Google Shape;526;p43"/>
            <p:cNvPicPr preferRelativeResize="0"/>
            <p:nvPr/>
          </p:nvPicPr>
          <p:blipFill rotWithShape="1">
            <a:blip r:embed="rId3">
              <a:alphaModFix/>
            </a:blip>
            <a:srcRect/>
            <a:stretch/>
          </p:blipFill>
          <p:spPr>
            <a:xfrm>
              <a:off x="6284978" y="2889504"/>
              <a:ext cx="2520690" cy="2286000"/>
            </a:xfrm>
            <a:prstGeom prst="rect">
              <a:avLst/>
            </a:prstGeom>
            <a:noFill/>
            <a:ln>
              <a:noFill/>
            </a:ln>
          </p:spPr>
        </p:pic>
        <p:sp>
          <p:nvSpPr>
            <p:cNvPr id="527" name="Google Shape;527;p43"/>
            <p:cNvSpPr/>
            <p:nvPr/>
          </p:nvSpPr>
          <p:spPr>
            <a:xfrm>
              <a:off x="6324600" y="2895600"/>
              <a:ext cx="2441575" cy="2209800"/>
            </a:xfrm>
            <a:custGeom>
              <a:avLst/>
              <a:gdLst/>
              <a:ahLst/>
              <a:cxnLst/>
              <a:rect l="l" t="t" r="r" b="b"/>
              <a:pathLst>
                <a:path w="2441575" h="2209800" extrusionOk="0">
                  <a:moveTo>
                    <a:pt x="2073148" y="0"/>
                  </a:moveTo>
                  <a:lnTo>
                    <a:pt x="368300" y="0"/>
                  </a:lnTo>
                  <a:lnTo>
                    <a:pt x="322091" y="2868"/>
                  </a:lnTo>
                  <a:lnTo>
                    <a:pt x="277599" y="11245"/>
                  </a:lnTo>
                  <a:lnTo>
                    <a:pt x="235166" y="24784"/>
                  </a:lnTo>
                  <a:lnTo>
                    <a:pt x="195139" y="43142"/>
                  </a:lnTo>
                  <a:lnTo>
                    <a:pt x="157861" y="65974"/>
                  </a:lnTo>
                  <a:lnTo>
                    <a:pt x="123678" y="92934"/>
                  </a:lnTo>
                  <a:lnTo>
                    <a:pt x="92934" y="123678"/>
                  </a:lnTo>
                  <a:lnTo>
                    <a:pt x="65974" y="157861"/>
                  </a:lnTo>
                  <a:lnTo>
                    <a:pt x="43142" y="195139"/>
                  </a:lnTo>
                  <a:lnTo>
                    <a:pt x="24784" y="235166"/>
                  </a:lnTo>
                  <a:lnTo>
                    <a:pt x="11245" y="277599"/>
                  </a:lnTo>
                  <a:lnTo>
                    <a:pt x="2868" y="322091"/>
                  </a:lnTo>
                  <a:lnTo>
                    <a:pt x="0" y="368300"/>
                  </a:lnTo>
                  <a:lnTo>
                    <a:pt x="0" y="1841500"/>
                  </a:lnTo>
                  <a:lnTo>
                    <a:pt x="2868" y="1887708"/>
                  </a:lnTo>
                  <a:lnTo>
                    <a:pt x="11245" y="1932200"/>
                  </a:lnTo>
                  <a:lnTo>
                    <a:pt x="24784" y="1974633"/>
                  </a:lnTo>
                  <a:lnTo>
                    <a:pt x="43142" y="2014660"/>
                  </a:lnTo>
                  <a:lnTo>
                    <a:pt x="65974" y="2051938"/>
                  </a:lnTo>
                  <a:lnTo>
                    <a:pt x="92934" y="2086121"/>
                  </a:lnTo>
                  <a:lnTo>
                    <a:pt x="123678" y="2116865"/>
                  </a:lnTo>
                  <a:lnTo>
                    <a:pt x="157861" y="2143825"/>
                  </a:lnTo>
                  <a:lnTo>
                    <a:pt x="195139" y="2166657"/>
                  </a:lnTo>
                  <a:lnTo>
                    <a:pt x="235166" y="2185015"/>
                  </a:lnTo>
                  <a:lnTo>
                    <a:pt x="277599" y="2198554"/>
                  </a:lnTo>
                  <a:lnTo>
                    <a:pt x="322091" y="2206931"/>
                  </a:lnTo>
                  <a:lnTo>
                    <a:pt x="368300" y="2209800"/>
                  </a:lnTo>
                  <a:lnTo>
                    <a:pt x="2073148" y="2209800"/>
                  </a:lnTo>
                  <a:lnTo>
                    <a:pt x="2119356" y="2206931"/>
                  </a:lnTo>
                  <a:lnTo>
                    <a:pt x="2163848" y="2198554"/>
                  </a:lnTo>
                  <a:lnTo>
                    <a:pt x="2206281" y="2185015"/>
                  </a:lnTo>
                  <a:lnTo>
                    <a:pt x="2246308" y="2166657"/>
                  </a:lnTo>
                  <a:lnTo>
                    <a:pt x="2283586" y="2143825"/>
                  </a:lnTo>
                  <a:lnTo>
                    <a:pt x="2317769" y="2116865"/>
                  </a:lnTo>
                  <a:lnTo>
                    <a:pt x="2348513" y="2086121"/>
                  </a:lnTo>
                  <a:lnTo>
                    <a:pt x="2375473" y="2051938"/>
                  </a:lnTo>
                  <a:lnTo>
                    <a:pt x="2398305" y="2014660"/>
                  </a:lnTo>
                  <a:lnTo>
                    <a:pt x="2416663" y="1974633"/>
                  </a:lnTo>
                  <a:lnTo>
                    <a:pt x="2430202" y="1932200"/>
                  </a:lnTo>
                  <a:lnTo>
                    <a:pt x="2438579" y="1887708"/>
                  </a:lnTo>
                  <a:lnTo>
                    <a:pt x="2441448" y="1841500"/>
                  </a:lnTo>
                  <a:lnTo>
                    <a:pt x="2441448" y="368300"/>
                  </a:lnTo>
                  <a:lnTo>
                    <a:pt x="2438579" y="322091"/>
                  </a:lnTo>
                  <a:lnTo>
                    <a:pt x="2430202" y="277599"/>
                  </a:lnTo>
                  <a:lnTo>
                    <a:pt x="2416663" y="235166"/>
                  </a:lnTo>
                  <a:lnTo>
                    <a:pt x="2398305" y="195139"/>
                  </a:lnTo>
                  <a:lnTo>
                    <a:pt x="2375473" y="157861"/>
                  </a:lnTo>
                  <a:lnTo>
                    <a:pt x="2348513" y="123678"/>
                  </a:lnTo>
                  <a:lnTo>
                    <a:pt x="2317769" y="92934"/>
                  </a:lnTo>
                  <a:lnTo>
                    <a:pt x="2283586" y="65974"/>
                  </a:lnTo>
                  <a:lnTo>
                    <a:pt x="2246308" y="43142"/>
                  </a:lnTo>
                  <a:lnTo>
                    <a:pt x="2206281" y="24784"/>
                  </a:lnTo>
                  <a:lnTo>
                    <a:pt x="2163848" y="11245"/>
                  </a:lnTo>
                  <a:lnTo>
                    <a:pt x="2119356" y="2868"/>
                  </a:lnTo>
                  <a:lnTo>
                    <a:pt x="2073148" y="0"/>
                  </a:lnTo>
                  <a:close/>
                </a:path>
              </a:pathLst>
            </a:custGeom>
            <a:solidFill>
              <a:srgbClr val="BBBBB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8" name="Google Shape;528;p43"/>
            <p:cNvSpPr/>
            <p:nvPr/>
          </p:nvSpPr>
          <p:spPr>
            <a:xfrm>
              <a:off x="6324600" y="2895600"/>
              <a:ext cx="2441575" cy="2209800"/>
            </a:xfrm>
            <a:custGeom>
              <a:avLst/>
              <a:gdLst/>
              <a:ahLst/>
              <a:cxnLst/>
              <a:rect l="l" t="t" r="r" b="b"/>
              <a:pathLst>
                <a:path w="2441575" h="2209800" extrusionOk="0">
                  <a:moveTo>
                    <a:pt x="0" y="368300"/>
                  </a:moveTo>
                  <a:lnTo>
                    <a:pt x="2868" y="322091"/>
                  </a:lnTo>
                  <a:lnTo>
                    <a:pt x="11245" y="277599"/>
                  </a:lnTo>
                  <a:lnTo>
                    <a:pt x="24784" y="235166"/>
                  </a:lnTo>
                  <a:lnTo>
                    <a:pt x="43142" y="195139"/>
                  </a:lnTo>
                  <a:lnTo>
                    <a:pt x="65974" y="157861"/>
                  </a:lnTo>
                  <a:lnTo>
                    <a:pt x="92934" y="123678"/>
                  </a:lnTo>
                  <a:lnTo>
                    <a:pt x="123678" y="92934"/>
                  </a:lnTo>
                  <a:lnTo>
                    <a:pt x="157861" y="65974"/>
                  </a:lnTo>
                  <a:lnTo>
                    <a:pt x="195139" y="43142"/>
                  </a:lnTo>
                  <a:lnTo>
                    <a:pt x="235166" y="24784"/>
                  </a:lnTo>
                  <a:lnTo>
                    <a:pt x="277599" y="11245"/>
                  </a:lnTo>
                  <a:lnTo>
                    <a:pt x="322091" y="2868"/>
                  </a:lnTo>
                  <a:lnTo>
                    <a:pt x="368300" y="0"/>
                  </a:lnTo>
                  <a:lnTo>
                    <a:pt x="2073148" y="0"/>
                  </a:lnTo>
                  <a:lnTo>
                    <a:pt x="2119356" y="2868"/>
                  </a:lnTo>
                  <a:lnTo>
                    <a:pt x="2163848" y="11245"/>
                  </a:lnTo>
                  <a:lnTo>
                    <a:pt x="2206281" y="24784"/>
                  </a:lnTo>
                  <a:lnTo>
                    <a:pt x="2246308" y="43142"/>
                  </a:lnTo>
                  <a:lnTo>
                    <a:pt x="2283586" y="65974"/>
                  </a:lnTo>
                  <a:lnTo>
                    <a:pt x="2317769" y="92934"/>
                  </a:lnTo>
                  <a:lnTo>
                    <a:pt x="2348513" y="123678"/>
                  </a:lnTo>
                  <a:lnTo>
                    <a:pt x="2375473" y="157861"/>
                  </a:lnTo>
                  <a:lnTo>
                    <a:pt x="2398305" y="195139"/>
                  </a:lnTo>
                  <a:lnTo>
                    <a:pt x="2416663" y="235166"/>
                  </a:lnTo>
                  <a:lnTo>
                    <a:pt x="2430202" y="277599"/>
                  </a:lnTo>
                  <a:lnTo>
                    <a:pt x="2438579" y="322091"/>
                  </a:lnTo>
                  <a:lnTo>
                    <a:pt x="2441448" y="368300"/>
                  </a:lnTo>
                  <a:lnTo>
                    <a:pt x="2441448" y="1841500"/>
                  </a:lnTo>
                  <a:lnTo>
                    <a:pt x="2438579" y="1887708"/>
                  </a:lnTo>
                  <a:lnTo>
                    <a:pt x="2430202" y="1932200"/>
                  </a:lnTo>
                  <a:lnTo>
                    <a:pt x="2416663" y="1974633"/>
                  </a:lnTo>
                  <a:lnTo>
                    <a:pt x="2398305" y="2014660"/>
                  </a:lnTo>
                  <a:lnTo>
                    <a:pt x="2375473" y="2051938"/>
                  </a:lnTo>
                  <a:lnTo>
                    <a:pt x="2348513" y="2086121"/>
                  </a:lnTo>
                  <a:lnTo>
                    <a:pt x="2317769" y="2116865"/>
                  </a:lnTo>
                  <a:lnTo>
                    <a:pt x="2283586" y="2143825"/>
                  </a:lnTo>
                  <a:lnTo>
                    <a:pt x="2246308" y="2166657"/>
                  </a:lnTo>
                  <a:lnTo>
                    <a:pt x="2206281" y="2185015"/>
                  </a:lnTo>
                  <a:lnTo>
                    <a:pt x="2163848" y="2198554"/>
                  </a:lnTo>
                  <a:lnTo>
                    <a:pt x="2119356" y="2206931"/>
                  </a:lnTo>
                  <a:lnTo>
                    <a:pt x="2073148" y="2209800"/>
                  </a:lnTo>
                  <a:lnTo>
                    <a:pt x="368300" y="2209800"/>
                  </a:lnTo>
                  <a:lnTo>
                    <a:pt x="322091" y="2206931"/>
                  </a:lnTo>
                  <a:lnTo>
                    <a:pt x="277599" y="2198554"/>
                  </a:lnTo>
                  <a:lnTo>
                    <a:pt x="235166" y="2185015"/>
                  </a:lnTo>
                  <a:lnTo>
                    <a:pt x="195139" y="2166657"/>
                  </a:lnTo>
                  <a:lnTo>
                    <a:pt x="157861" y="2143825"/>
                  </a:lnTo>
                  <a:lnTo>
                    <a:pt x="123678" y="2116865"/>
                  </a:lnTo>
                  <a:lnTo>
                    <a:pt x="92934" y="2086121"/>
                  </a:lnTo>
                  <a:lnTo>
                    <a:pt x="65974" y="2051938"/>
                  </a:lnTo>
                  <a:lnTo>
                    <a:pt x="43142" y="2014660"/>
                  </a:lnTo>
                  <a:lnTo>
                    <a:pt x="24784" y="1974633"/>
                  </a:lnTo>
                  <a:lnTo>
                    <a:pt x="11245" y="1932200"/>
                  </a:lnTo>
                  <a:lnTo>
                    <a:pt x="2868" y="1887708"/>
                  </a:lnTo>
                  <a:lnTo>
                    <a:pt x="0" y="1841500"/>
                  </a:lnTo>
                  <a:lnTo>
                    <a:pt x="0" y="368300"/>
                  </a:lnTo>
                  <a:close/>
                </a:path>
              </a:pathLst>
            </a:custGeom>
            <a:noFill/>
            <a:ln w="99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29" name="Google Shape;529;p43"/>
          <p:cNvSpPr txBox="1"/>
          <p:nvPr/>
        </p:nvSpPr>
        <p:spPr>
          <a:xfrm>
            <a:off x="6602983" y="3515944"/>
            <a:ext cx="1885314" cy="941069"/>
          </a:xfrm>
          <a:prstGeom prst="rect">
            <a:avLst/>
          </a:prstGeom>
          <a:noFill/>
          <a:ln>
            <a:noFill/>
          </a:ln>
        </p:spPr>
        <p:txBody>
          <a:bodyPr spcFirstLastPara="1" wrap="square" lIns="0" tIns="13325" rIns="0" bIns="0" anchor="t" anchorCtr="0">
            <a:spAutoFit/>
          </a:bodyPr>
          <a:lstStyle/>
          <a:p>
            <a:pPr marL="12065" marR="5080" lvl="0" indent="3175" algn="ctr" rtl="0">
              <a:lnSpc>
                <a:spcPct val="100000"/>
              </a:lnSpc>
              <a:spcBef>
                <a:spcPts val="0"/>
              </a:spcBef>
              <a:spcAft>
                <a:spcPts val="0"/>
              </a:spcAft>
              <a:buNone/>
            </a:pPr>
            <a:r>
              <a:rPr lang="en-US" sz="2000">
                <a:solidFill>
                  <a:srgbClr val="FF0000"/>
                </a:solidFill>
                <a:latin typeface="Helvetica Neue"/>
                <a:ea typeface="Helvetica Neue"/>
                <a:cs typeface="Helvetica Neue"/>
                <a:sym typeface="Helvetica Neue"/>
              </a:rPr>
              <a:t>Variable “value”  neither in local nor  global scope</a:t>
            </a:r>
            <a:endParaRPr sz="2000">
              <a:solidFill>
                <a:schemeClr val="dk1"/>
              </a:solidFill>
              <a:latin typeface="Helvetica Neue"/>
              <a:ea typeface="Helvetica Neue"/>
              <a:cs typeface="Helvetica Neue"/>
              <a:sym typeface="Helvetica Neue"/>
            </a:endParaRPr>
          </a:p>
        </p:txBody>
      </p:sp>
      <p:pic>
        <p:nvPicPr>
          <p:cNvPr id="530" name="Google Shape;530;p43"/>
          <p:cNvPicPr preferRelativeResize="0"/>
          <p:nvPr/>
        </p:nvPicPr>
        <p:blipFill rotWithShape="1">
          <a:blip r:embed="rId4">
            <a:alphaModFix/>
          </a:blip>
          <a:srcRect/>
          <a:stretch/>
        </p:blipFill>
        <p:spPr>
          <a:xfrm>
            <a:off x="304800" y="1676400"/>
            <a:ext cx="5372100" cy="3667125"/>
          </a:xfrm>
          <a:prstGeom prst="rect">
            <a:avLst/>
          </a:prstGeom>
          <a:noFill/>
          <a:ln>
            <a:noFill/>
          </a:ln>
        </p:spPr>
      </p:pic>
      <p:sp>
        <p:nvSpPr>
          <p:cNvPr id="531" name="Google Shape;531;p43"/>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532" name="Google Shape;532;p43"/>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4"/>
          <p:cNvSpPr txBox="1">
            <a:spLocks noGrp="1"/>
          </p:cNvSpPr>
          <p:nvPr>
            <p:ph type="title"/>
          </p:nvPr>
        </p:nvSpPr>
        <p:spPr>
          <a:xfrm>
            <a:off x="533400" y="-35560"/>
            <a:ext cx="3932554"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Predict the output</a:t>
            </a:r>
            <a:endParaRPr sz="4400"/>
          </a:p>
        </p:txBody>
      </p:sp>
      <p:grpSp>
        <p:nvGrpSpPr>
          <p:cNvPr id="538" name="Google Shape;538;p44"/>
          <p:cNvGrpSpPr/>
          <p:nvPr/>
        </p:nvGrpSpPr>
        <p:grpSpPr>
          <a:xfrm>
            <a:off x="6284978" y="2889504"/>
            <a:ext cx="2520690" cy="2286000"/>
            <a:chOff x="6284978" y="2889504"/>
            <a:chExt cx="2520690" cy="2286000"/>
          </a:xfrm>
        </p:grpSpPr>
        <p:pic>
          <p:nvPicPr>
            <p:cNvPr id="539" name="Google Shape;539;p44"/>
            <p:cNvPicPr preferRelativeResize="0"/>
            <p:nvPr/>
          </p:nvPicPr>
          <p:blipFill rotWithShape="1">
            <a:blip r:embed="rId3">
              <a:alphaModFix/>
            </a:blip>
            <a:srcRect/>
            <a:stretch/>
          </p:blipFill>
          <p:spPr>
            <a:xfrm>
              <a:off x="6284978" y="2889504"/>
              <a:ext cx="2520690" cy="2286000"/>
            </a:xfrm>
            <a:prstGeom prst="rect">
              <a:avLst/>
            </a:prstGeom>
            <a:noFill/>
            <a:ln>
              <a:noFill/>
            </a:ln>
          </p:spPr>
        </p:pic>
        <p:sp>
          <p:nvSpPr>
            <p:cNvPr id="540" name="Google Shape;540;p44"/>
            <p:cNvSpPr/>
            <p:nvPr/>
          </p:nvSpPr>
          <p:spPr>
            <a:xfrm>
              <a:off x="6324600" y="2895600"/>
              <a:ext cx="2441575" cy="2209800"/>
            </a:xfrm>
            <a:custGeom>
              <a:avLst/>
              <a:gdLst/>
              <a:ahLst/>
              <a:cxnLst/>
              <a:rect l="l" t="t" r="r" b="b"/>
              <a:pathLst>
                <a:path w="2441575" h="2209800" extrusionOk="0">
                  <a:moveTo>
                    <a:pt x="2073148" y="0"/>
                  </a:moveTo>
                  <a:lnTo>
                    <a:pt x="368300" y="0"/>
                  </a:lnTo>
                  <a:lnTo>
                    <a:pt x="322091" y="2868"/>
                  </a:lnTo>
                  <a:lnTo>
                    <a:pt x="277599" y="11245"/>
                  </a:lnTo>
                  <a:lnTo>
                    <a:pt x="235166" y="24784"/>
                  </a:lnTo>
                  <a:lnTo>
                    <a:pt x="195139" y="43142"/>
                  </a:lnTo>
                  <a:lnTo>
                    <a:pt x="157861" y="65974"/>
                  </a:lnTo>
                  <a:lnTo>
                    <a:pt x="123678" y="92934"/>
                  </a:lnTo>
                  <a:lnTo>
                    <a:pt x="92934" y="123678"/>
                  </a:lnTo>
                  <a:lnTo>
                    <a:pt x="65974" y="157861"/>
                  </a:lnTo>
                  <a:lnTo>
                    <a:pt x="43142" y="195139"/>
                  </a:lnTo>
                  <a:lnTo>
                    <a:pt x="24784" y="235166"/>
                  </a:lnTo>
                  <a:lnTo>
                    <a:pt x="11245" y="277599"/>
                  </a:lnTo>
                  <a:lnTo>
                    <a:pt x="2868" y="322091"/>
                  </a:lnTo>
                  <a:lnTo>
                    <a:pt x="0" y="368300"/>
                  </a:lnTo>
                  <a:lnTo>
                    <a:pt x="0" y="1841500"/>
                  </a:lnTo>
                  <a:lnTo>
                    <a:pt x="2868" y="1887708"/>
                  </a:lnTo>
                  <a:lnTo>
                    <a:pt x="11245" y="1932200"/>
                  </a:lnTo>
                  <a:lnTo>
                    <a:pt x="24784" y="1974633"/>
                  </a:lnTo>
                  <a:lnTo>
                    <a:pt x="43142" y="2014660"/>
                  </a:lnTo>
                  <a:lnTo>
                    <a:pt x="65974" y="2051938"/>
                  </a:lnTo>
                  <a:lnTo>
                    <a:pt x="92934" y="2086121"/>
                  </a:lnTo>
                  <a:lnTo>
                    <a:pt x="123678" y="2116865"/>
                  </a:lnTo>
                  <a:lnTo>
                    <a:pt x="157861" y="2143825"/>
                  </a:lnTo>
                  <a:lnTo>
                    <a:pt x="195139" y="2166657"/>
                  </a:lnTo>
                  <a:lnTo>
                    <a:pt x="235166" y="2185015"/>
                  </a:lnTo>
                  <a:lnTo>
                    <a:pt x="277599" y="2198554"/>
                  </a:lnTo>
                  <a:lnTo>
                    <a:pt x="322091" y="2206931"/>
                  </a:lnTo>
                  <a:lnTo>
                    <a:pt x="368300" y="2209800"/>
                  </a:lnTo>
                  <a:lnTo>
                    <a:pt x="2073148" y="2209800"/>
                  </a:lnTo>
                  <a:lnTo>
                    <a:pt x="2119356" y="2206931"/>
                  </a:lnTo>
                  <a:lnTo>
                    <a:pt x="2163848" y="2198554"/>
                  </a:lnTo>
                  <a:lnTo>
                    <a:pt x="2206281" y="2185015"/>
                  </a:lnTo>
                  <a:lnTo>
                    <a:pt x="2246308" y="2166657"/>
                  </a:lnTo>
                  <a:lnTo>
                    <a:pt x="2283586" y="2143825"/>
                  </a:lnTo>
                  <a:lnTo>
                    <a:pt x="2317769" y="2116865"/>
                  </a:lnTo>
                  <a:lnTo>
                    <a:pt x="2348513" y="2086121"/>
                  </a:lnTo>
                  <a:lnTo>
                    <a:pt x="2375473" y="2051938"/>
                  </a:lnTo>
                  <a:lnTo>
                    <a:pt x="2398305" y="2014660"/>
                  </a:lnTo>
                  <a:lnTo>
                    <a:pt x="2416663" y="1974633"/>
                  </a:lnTo>
                  <a:lnTo>
                    <a:pt x="2430202" y="1932200"/>
                  </a:lnTo>
                  <a:lnTo>
                    <a:pt x="2438579" y="1887708"/>
                  </a:lnTo>
                  <a:lnTo>
                    <a:pt x="2441448" y="1841500"/>
                  </a:lnTo>
                  <a:lnTo>
                    <a:pt x="2441448" y="368300"/>
                  </a:lnTo>
                  <a:lnTo>
                    <a:pt x="2438579" y="322091"/>
                  </a:lnTo>
                  <a:lnTo>
                    <a:pt x="2430202" y="277599"/>
                  </a:lnTo>
                  <a:lnTo>
                    <a:pt x="2416663" y="235166"/>
                  </a:lnTo>
                  <a:lnTo>
                    <a:pt x="2398305" y="195139"/>
                  </a:lnTo>
                  <a:lnTo>
                    <a:pt x="2375473" y="157861"/>
                  </a:lnTo>
                  <a:lnTo>
                    <a:pt x="2348513" y="123678"/>
                  </a:lnTo>
                  <a:lnTo>
                    <a:pt x="2317769" y="92934"/>
                  </a:lnTo>
                  <a:lnTo>
                    <a:pt x="2283586" y="65974"/>
                  </a:lnTo>
                  <a:lnTo>
                    <a:pt x="2246308" y="43142"/>
                  </a:lnTo>
                  <a:lnTo>
                    <a:pt x="2206281" y="24784"/>
                  </a:lnTo>
                  <a:lnTo>
                    <a:pt x="2163848" y="11245"/>
                  </a:lnTo>
                  <a:lnTo>
                    <a:pt x="2119356" y="2868"/>
                  </a:lnTo>
                  <a:lnTo>
                    <a:pt x="2073148" y="0"/>
                  </a:lnTo>
                  <a:close/>
                </a:path>
              </a:pathLst>
            </a:custGeom>
            <a:solidFill>
              <a:srgbClr val="BBBBB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41" name="Google Shape;541;p44"/>
            <p:cNvSpPr/>
            <p:nvPr/>
          </p:nvSpPr>
          <p:spPr>
            <a:xfrm>
              <a:off x="6324600" y="2895600"/>
              <a:ext cx="2441575" cy="2209800"/>
            </a:xfrm>
            <a:custGeom>
              <a:avLst/>
              <a:gdLst/>
              <a:ahLst/>
              <a:cxnLst/>
              <a:rect l="l" t="t" r="r" b="b"/>
              <a:pathLst>
                <a:path w="2441575" h="2209800" extrusionOk="0">
                  <a:moveTo>
                    <a:pt x="0" y="368300"/>
                  </a:moveTo>
                  <a:lnTo>
                    <a:pt x="2868" y="322091"/>
                  </a:lnTo>
                  <a:lnTo>
                    <a:pt x="11245" y="277599"/>
                  </a:lnTo>
                  <a:lnTo>
                    <a:pt x="24784" y="235166"/>
                  </a:lnTo>
                  <a:lnTo>
                    <a:pt x="43142" y="195139"/>
                  </a:lnTo>
                  <a:lnTo>
                    <a:pt x="65974" y="157861"/>
                  </a:lnTo>
                  <a:lnTo>
                    <a:pt x="92934" y="123678"/>
                  </a:lnTo>
                  <a:lnTo>
                    <a:pt x="123678" y="92934"/>
                  </a:lnTo>
                  <a:lnTo>
                    <a:pt x="157861" y="65974"/>
                  </a:lnTo>
                  <a:lnTo>
                    <a:pt x="195139" y="43142"/>
                  </a:lnTo>
                  <a:lnTo>
                    <a:pt x="235166" y="24784"/>
                  </a:lnTo>
                  <a:lnTo>
                    <a:pt x="277599" y="11245"/>
                  </a:lnTo>
                  <a:lnTo>
                    <a:pt x="322091" y="2868"/>
                  </a:lnTo>
                  <a:lnTo>
                    <a:pt x="368300" y="0"/>
                  </a:lnTo>
                  <a:lnTo>
                    <a:pt x="2073148" y="0"/>
                  </a:lnTo>
                  <a:lnTo>
                    <a:pt x="2119356" y="2868"/>
                  </a:lnTo>
                  <a:lnTo>
                    <a:pt x="2163848" y="11245"/>
                  </a:lnTo>
                  <a:lnTo>
                    <a:pt x="2206281" y="24784"/>
                  </a:lnTo>
                  <a:lnTo>
                    <a:pt x="2246308" y="43142"/>
                  </a:lnTo>
                  <a:lnTo>
                    <a:pt x="2283586" y="65974"/>
                  </a:lnTo>
                  <a:lnTo>
                    <a:pt x="2317769" y="92934"/>
                  </a:lnTo>
                  <a:lnTo>
                    <a:pt x="2348513" y="123678"/>
                  </a:lnTo>
                  <a:lnTo>
                    <a:pt x="2375473" y="157861"/>
                  </a:lnTo>
                  <a:lnTo>
                    <a:pt x="2398305" y="195139"/>
                  </a:lnTo>
                  <a:lnTo>
                    <a:pt x="2416663" y="235166"/>
                  </a:lnTo>
                  <a:lnTo>
                    <a:pt x="2430202" y="277599"/>
                  </a:lnTo>
                  <a:lnTo>
                    <a:pt x="2438579" y="322091"/>
                  </a:lnTo>
                  <a:lnTo>
                    <a:pt x="2441448" y="368300"/>
                  </a:lnTo>
                  <a:lnTo>
                    <a:pt x="2441448" y="1841500"/>
                  </a:lnTo>
                  <a:lnTo>
                    <a:pt x="2438579" y="1887708"/>
                  </a:lnTo>
                  <a:lnTo>
                    <a:pt x="2430202" y="1932200"/>
                  </a:lnTo>
                  <a:lnTo>
                    <a:pt x="2416663" y="1974633"/>
                  </a:lnTo>
                  <a:lnTo>
                    <a:pt x="2398305" y="2014660"/>
                  </a:lnTo>
                  <a:lnTo>
                    <a:pt x="2375473" y="2051938"/>
                  </a:lnTo>
                  <a:lnTo>
                    <a:pt x="2348513" y="2086121"/>
                  </a:lnTo>
                  <a:lnTo>
                    <a:pt x="2317769" y="2116865"/>
                  </a:lnTo>
                  <a:lnTo>
                    <a:pt x="2283586" y="2143825"/>
                  </a:lnTo>
                  <a:lnTo>
                    <a:pt x="2246308" y="2166657"/>
                  </a:lnTo>
                  <a:lnTo>
                    <a:pt x="2206281" y="2185015"/>
                  </a:lnTo>
                  <a:lnTo>
                    <a:pt x="2163848" y="2198554"/>
                  </a:lnTo>
                  <a:lnTo>
                    <a:pt x="2119356" y="2206931"/>
                  </a:lnTo>
                  <a:lnTo>
                    <a:pt x="2073148" y="2209800"/>
                  </a:lnTo>
                  <a:lnTo>
                    <a:pt x="368300" y="2209800"/>
                  </a:lnTo>
                  <a:lnTo>
                    <a:pt x="322091" y="2206931"/>
                  </a:lnTo>
                  <a:lnTo>
                    <a:pt x="277599" y="2198554"/>
                  </a:lnTo>
                  <a:lnTo>
                    <a:pt x="235166" y="2185015"/>
                  </a:lnTo>
                  <a:lnTo>
                    <a:pt x="195139" y="2166657"/>
                  </a:lnTo>
                  <a:lnTo>
                    <a:pt x="157861" y="2143825"/>
                  </a:lnTo>
                  <a:lnTo>
                    <a:pt x="123678" y="2116865"/>
                  </a:lnTo>
                  <a:lnTo>
                    <a:pt x="92934" y="2086121"/>
                  </a:lnTo>
                  <a:lnTo>
                    <a:pt x="65974" y="2051938"/>
                  </a:lnTo>
                  <a:lnTo>
                    <a:pt x="43142" y="2014660"/>
                  </a:lnTo>
                  <a:lnTo>
                    <a:pt x="24784" y="1974633"/>
                  </a:lnTo>
                  <a:lnTo>
                    <a:pt x="11245" y="1932200"/>
                  </a:lnTo>
                  <a:lnTo>
                    <a:pt x="2868" y="1887708"/>
                  </a:lnTo>
                  <a:lnTo>
                    <a:pt x="0" y="1841500"/>
                  </a:lnTo>
                  <a:lnTo>
                    <a:pt x="0" y="368300"/>
                  </a:lnTo>
                  <a:close/>
                </a:path>
              </a:pathLst>
            </a:custGeom>
            <a:noFill/>
            <a:ln w="99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42" name="Google Shape;542;p44"/>
          <p:cNvSpPr txBox="1"/>
          <p:nvPr/>
        </p:nvSpPr>
        <p:spPr>
          <a:xfrm>
            <a:off x="6602983" y="3515944"/>
            <a:ext cx="1885314" cy="941069"/>
          </a:xfrm>
          <a:prstGeom prst="rect">
            <a:avLst/>
          </a:prstGeom>
          <a:noFill/>
          <a:ln>
            <a:noFill/>
          </a:ln>
        </p:spPr>
        <p:txBody>
          <a:bodyPr spcFirstLastPara="1" wrap="square" lIns="0" tIns="13325" rIns="0" bIns="0" anchor="t" anchorCtr="0">
            <a:spAutoFit/>
          </a:bodyPr>
          <a:lstStyle/>
          <a:p>
            <a:pPr marL="12065" marR="5080" lvl="0" indent="3175" algn="ctr" rtl="0">
              <a:lnSpc>
                <a:spcPct val="100000"/>
              </a:lnSpc>
              <a:spcBef>
                <a:spcPts val="0"/>
              </a:spcBef>
              <a:spcAft>
                <a:spcPts val="0"/>
              </a:spcAft>
              <a:buNone/>
            </a:pPr>
            <a:r>
              <a:rPr lang="en-US" sz="2000">
                <a:solidFill>
                  <a:srgbClr val="FF0000"/>
                </a:solidFill>
                <a:latin typeface="Helvetica Neue"/>
                <a:ea typeface="Helvetica Neue"/>
                <a:cs typeface="Helvetica Neue"/>
                <a:sym typeface="Helvetica Neue"/>
              </a:rPr>
              <a:t>Variable “value”  neither in local nor  global scope</a:t>
            </a:r>
            <a:endParaRPr sz="2000">
              <a:solidFill>
                <a:schemeClr val="dk1"/>
              </a:solidFill>
              <a:latin typeface="Helvetica Neue"/>
              <a:ea typeface="Helvetica Neue"/>
              <a:cs typeface="Helvetica Neue"/>
              <a:sym typeface="Helvetica Neue"/>
            </a:endParaRPr>
          </a:p>
        </p:txBody>
      </p:sp>
      <p:pic>
        <p:nvPicPr>
          <p:cNvPr id="543" name="Google Shape;543;p44"/>
          <p:cNvPicPr preferRelativeResize="0"/>
          <p:nvPr/>
        </p:nvPicPr>
        <p:blipFill rotWithShape="1">
          <a:blip r:embed="rId4">
            <a:alphaModFix/>
          </a:blip>
          <a:srcRect/>
          <a:stretch/>
        </p:blipFill>
        <p:spPr>
          <a:xfrm>
            <a:off x="304800" y="1676400"/>
            <a:ext cx="5372100" cy="2286000"/>
          </a:xfrm>
          <a:prstGeom prst="rect">
            <a:avLst/>
          </a:prstGeom>
          <a:noFill/>
          <a:ln>
            <a:noFill/>
          </a:ln>
        </p:spPr>
      </p:pic>
      <p:pic>
        <p:nvPicPr>
          <p:cNvPr id="544" name="Google Shape;544;p44"/>
          <p:cNvPicPr preferRelativeResize="0"/>
          <p:nvPr/>
        </p:nvPicPr>
        <p:blipFill rotWithShape="1">
          <a:blip r:embed="rId5">
            <a:alphaModFix/>
          </a:blip>
          <a:srcRect/>
          <a:stretch/>
        </p:blipFill>
        <p:spPr>
          <a:xfrm>
            <a:off x="333375" y="4113784"/>
            <a:ext cx="5606161" cy="2515616"/>
          </a:xfrm>
          <a:prstGeom prst="rect">
            <a:avLst/>
          </a:prstGeom>
          <a:noFill/>
          <a:ln>
            <a:noFill/>
          </a:ln>
        </p:spPr>
      </p:pic>
      <p:sp>
        <p:nvSpPr>
          <p:cNvPr id="545" name="Google Shape;545;p44"/>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546" name="Google Shape;546;p44"/>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45"/>
          <p:cNvSpPr txBox="1">
            <a:spLocks noGrp="1"/>
          </p:cNvSpPr>
          <p:nvPr>
            <p:ph type="title"/>
          </p:nvPr>
        </p:nvSpPr>
        <p:spPr>
          <a:xfrm>
            <a:off x="609600" y="35560"/>
            <a:ext cx="3932554"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Predict the output</a:t>
            </a:r>
            <a:endParaRPr sz="4400"/>
          </a:p>
        </p:txBody>
      </p:sp>
      <p:grpSp>
        <p:nvGrpSpPr>
          <p:cNvPr id="552" name="Google Shape;552;p45"/>
          <p:cNvGrpSpPr/>
          <p:nvPr/>
        </p:nvGrpSpPr>
        <p:grpSpPr>
          <a:xfrm>
            <a:off x="6284978" y="2889504"/>
            <a:ext cx="2520690" cy="2286000"/>
            <a:chOff x="6284978" y="2889504"/>
            <a:chExt cx="2520690" cy="2286000"/>
          </a:xfrm>
        </p:grpSpPr>
        <p:pic>
          <p:nvPicPr>
            <p:cNvPr id="553" name="Google Shape;553;p45"/>
            <p:cNvPicPr preferRelativeResize="0"/>
            <p:nvPr/>
          </p:nvPicPr>
          <p:blipFill rotWithShape="1">
            <a:blip r:embed="rId3">
              <a:alphaModFix/>
            </a:blip>
            <a:srcRect/>
            <a:stretch/>
          </p:blipFill>
          <p:spPr>
            <a:xfrm>
              <a:off x="6284978" y="2889504"/>
              <a:ext cx="2520690" cy="2286000"/>
            </a:xfrm>
            <a:prstGeom prst="rect">
              <a:avLst/>
            </a:prstGeom>
            <a:noFill/>
            <a:ln>
              <a:noFill/>
            </a:ln>
          </p:spPr>
        </p:pic>
        <p:pic>
          <p:nvPicPr>
            <p:cNvPr id="554" name="Google Shape;554;p45"/>
            <p:cNvPicPr preferRelativeResize="0"/>
            <p:nvPr/>
          </p:nvPicPr>
          <p:blipFill rotWithShape="1">
            <a:blip r:embed="rId4">
              <a:alphaModFix/>
            </a:blip>
            <a:srcRect/>
            <a:stretch/>
          </p:blipFill>
          <p:spPr>
            <a:xfrm>
              <a:off x="6359652" y="3153156"/>
              <a:ext cx="2439924" cy="1831848"/>
            </a:xfrm>
            <a:prstGeom prst="rect">
              <a:avLst/>
            </a:prstGeom>
            <a:noFill/>
            <a:ln>
              <a:noFill/>
            </a:ln>
          </p:spPr>
        </p:pic>
        <p:sp>
          <p:nvSpPr>
            <p:cNvPr id="555" name="Google Shape;555;p45"/>
            <p:cNvSpPr/>
            <p:nvPr/>
          </p:nvSpPr>
          <p:spPr>
            <a:xfrm>
              <a:off x="6324600" y="2895600"/>
              <a:ext cx="2441575" cy="2209800"/>
            </a:xfrm>
            <a:custGeom>
              <a:avLst/>
              <a:gdLst/>
              <a:ahLst/>
              <a:cxnLst/>
              <a:rect l="l" t="t" r="r" b="b"/>
              <a:pathLst>
                <a:path w="2441575" h="2209800" extrusionOk="0">
                  <a:moveTo>
                    <a:pt x="2073148" y="0"/>
                  </a:moveTo>
                  <a:lnTo>
                    <a:pt x="368300" y="0"/>
                  </a:lnTo>
                  <a:lnTo>
                    <a:pt x="322091" y="2868"/>
                  </a:lnTo>
                  <a:lnTo>
                    <a:pt x="277599" y="11245"/>
                  </a:lnTo>
                  <a:lnTo>
                    <a:pt x="235166" y="24784"/>
                  </a:lnTo>
                  <a:lnTo>
                    <a:pt x="195139" y="43142"/>
                  </a:lnTo>
                  <a:lnTo>
                    <a:pt x="157861" y="65974"/>
                  </a:lnTo>
                  <a:lnTo>
                    <a:pt x="123678" y="92934"/>
                  </a:lnTo>
                  <a:lnTo>
                    <a:pt x="92934" y="123678"/>
                  </a:lnTo>
                  <a:lnTo>
                    <a:pt x="65974" y="157861"/>
                  </a:lnTo>
                  <a:lnTo>
                    <a:pt x="43142" y="195139"/>
                  </a:lnTo>
                  <a:lnTo>
                    <a:pt x="24784" y="235166"/>
                  </a:lnTo>
                  <a:lnTo>
                    <a:pt x="11245" y="277599"/>
                  </a:lnTo>
                  <a:lnTo>
                    <a:pt x="2868" y="322091"/>
                  </a:lnTo>
                  <a:lnTo>
                    <a:pt x="0" y="368300"/>
                  </a:lnTo>
                  <a:lnTo>
                    <a:pt x="0" y="1841500"/>
                  </a:lnTo>
                  <a:lnTo>
                    <a:pt x="2868" y="1887708"/>
                  </a:lnTo>
                  <a:lnTo>
                    <a:pt x="11245" y="1932200"/>
                  </a:lnTo>
                  <a:lnTo>
                    <a:pt x="24784" y="1974633"/>
                  </a:lnTo>
                  <a:lnTo>
                    <a:pt x="43142" y="2014660"/>
                  </a:lnTo>
                  <a:lnTo>
                    <a:pt x="65974" y="2051938"/>
                  </a:lnTo>
                  <a:lnTo>
                    <a:pt x="92934" y="2086121"/>
                  </a:lnTo>
                  <a:lnTo>
                    <a:pt x="123678" y="2116865"/>
                  </a:lnTo>
                  <a:lnTo>
                    <a:pt x="157861" y="2143825"/>
                  </a:lnTo>
                  <a:lnTo>
                    <a:pt x="195139" y="2166657"/>
                  </a:lnTo>
                  <a:lnTo>
                    <a:pt x="235166" y="2185015"/>
                  </a:lnTo>
                  <a:lnTo>
                    <a:pt x="277599" y="2198554"/>
                  </a:lnTo>
                  <a:lnTo>
                    <a:pt x="322091" y="2206931"/>
                  </a:lnTo>
                  <a:lnTo>
                    <a:pt x="368300" y="2209800"/>
                  </a:lnTo>
                  <a:lnTo>
                    <a:pt x="2073148" y="2209800"/>
                  </a:lnTo>
                  <a:lnTo>
                    <a:pt x="2119356" y="2206931"/>
                  </a:lnTo>
                  <a:lnTo>
                    <a:pt x="2163848" y="2198554"/>
                  </a:lnTo>
                  <a:lnTo>
                    <a:pt x="2206281" y="2185015"/>
                  </a:lnTo>
                  <a:lnTo>
                    <a:pt x="2246308" y="2166657"/>
                  </a:lnTo>
                  <a:lnTo>
                    <a:pt x="2283586" y="2143825"/>
                  </a:lnTo>
                  <a:lnTo>
                    <a:pt x="2317769" y="2116865"/>
                  </a:lnTo>
                  <a:lnTo>
                    <a:pt x="2348513" y="2086121"/>
                  </a:lnTo>
                  <a:lnTo>
                    <a:pt x="2375473" y="2051938"/>
                  </a:lnTo>
                  <a:lnTo>
                    <a:pt x="2398305" y="2014660"/>
                  </a:lnTo>
                  <a:lnTo>
                    <a:pt x="2416663" y="1974633"/>
                  </a:lnTo>
                  <a:lnTo>
                    <a:pt x="2430202" y="1932200"/>
                  </a:lnTo>
                  <a:lnTo>
                    <a:pt x="2438579" y="1887708"/>
                  </a:lnTo>
                  <a:lnTo>
                    <a:pt x="2441448" y="1841500"/>
                  </a:lnTo>
                  <a:lnTo>
                    <a:pt x="2441448" y="368300"/>
                  </a:lnTo>
                  <a:lnTo>
                    <a:pt x="2438579" y="322091"/>
                  </a:lnTo>
                  <a:lnTo>
                    <a:pt x="2430202" y="277599"/>
                  </a:lnTo>
                  <a:lnTo>
                    <a:pt x="2416663" y="235166"/>
                  </a:lnTo>
                  <a:lnTo>
                    <a:pt x="2398305" y="195139"/>
                  </a:lnTo>
                  <a:lnTo>
                    <a:pt x="2375473" y="157861"/>
                  </a:lnTo>
                  <a:lnTo>
                    <a:pt x="2348513" y="123678"/>
                  </a:lnTo>
                  <a:lnTo>
                    <a:pt x="2317769" y="92934"/>
                  </a:lnTo>
                  <a:lnTo>
                    <a:pt x="2283586" y="65974"/>
                  </a:lnTo>
                  <a:lnTo>
                    <a:pt x="2246308" y="43142"/>
                  </a:lnTo>
                  <a:lnTo>
                    <a:pt x="2206281" y="24784"/>
                  </a:lnTo>
                  <a:lnTo>
                    <a:pt x="2163848" y="11245"/>
                  </a:lnTo>
                  <a:lnTo>
                    <a:pt x="2119356" y="2868"/>
                  </a:lnTo>
                  <a:lnTo>
                    <a:pt x="2073148" y="0"/>
                  </a:lnTo>
                  <a:close/>
                </a:path>
              </a:pathLst>
            </a:custGeom>
            <a:solidFill>
              <a:srgbClr val="BBBBB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56" name="Google Shape;556;p45"/>
            <p:cNvSpPr/>
            <p:nvPr/>
          </p:nvSpPr>
          <p:spPr>
            <a:xfrm>
              <a:off x="6324600" y="2895600"/>
              <a:ext cx="2441575" cy="2209800"/>
            </a:xfrm>
            <a:custGeom>
              <a:avLst/>
              <a:gdLst/>
              <a:ahLst/>
              <a:cxnLst/>
              <a:rect l="l" t="t" r="r" b="b"/>
              <a:pathLst>
                <a:path w="2441575" h="2209800" extrusionOk="0">
                  <a:moveTo>
                    <a:pt x="0" y="368300"/>
                  </a:moveTo>
                  <a:lnTo>
                    <a:pt x="2868" y="322091"/>
                  </a:lnTo>
                  <a:lnTo>
                    <a:pt x="11245" y="277599"/>
                  </a:lnTo>
                  <a:lnTo>
                    <a:pt x="24784" y="235166"/>
                  </a:lnTo>
                  <a:lnTo>
                    <a:pt x="43142" y="195139"/>
                  </a:lnTo>
                  <a:lnTo>
                    <a:pt x="65974" y="157861"/>
                  </a:lnTo>
                  <a:lnTo>
                    <a:pt x="92934" y="123678"/>
                  </a:lnTo>
                  <a:lnTo>
                    <a:pt x="123678" y="92934"/>
                  </a:lnTo>
                  <a:lnTo>
                    <a:pt x="157861" y="65974"/>
                  </a:lnTo>
                  <a:lnTo>
                    <a:pt x="195139" y="43142"/>
                  </a:lnTo>
                  <a:lnTo>
                    <a:pt x="235166" y="24784"/>
                  </a:lnTo>
                  <a:lnTo>
                    <a:pt x="277599" y="11245"/>
                  </a:lnTo>
                  <a:lnTo>
                    <a:pt x="322091" y="2868"/>
                  </a:lnTo>
                  <a:lnTo>
                    <a:pt x="368300" y="0"/>
                  </a:lnTo>
                  <a:lnTo>
                    <a:pt x="2073148" y="0"/>
                  </a:lnTo>
                  <a:lnTo>
                    <a:pt x="2119356" y="2868"/>
                  </a:lnTo>
                  <a:lnTo>
                    <a:pt x="2163848" y="11245"/>
                  </a:lnTo>
                  <a:lnTo>
                    <a:pt x="2206281" y="24784"/>
                  </a:lnTo>
                  <a:lnTo>
                    <a:pt x="2246308" y="43142"/>
                  </a:lnTo>
                  <a:lnTo>
                    <a:pt x="2283586" y="65974"/>
                  </a:lnTo>
                  <a:lnTo>
                    <a:pt x="2317769" y="92934"/>
                  </a:lnTo>
                  <a:lnTo>
                    <a:pt x="2348513" y="123678"/>
                  </a:lnTo>
                  <a:lnTo>
                    <a:pt x="2375473" y="157861"/>
                  </a:lnTo>
                  <a:lnTo>
                    <a:pt x="2398305" y="195139"/>
                  </a:lnTo>
                  <a:lnTo>
                    <a:pt x="2416663" y="235166"/>
                  </a:lnTo>
                  <a:lnTo>
                    <a:pt x="2430202" y="277599"/>
                  </a:lnTo>
                  <a:lnTo>
                    <a:pt x="2438579" y="322091"/>
                  </a:lnTo>
                  <a:lnTo>
                    <a:pt x="2441448" y="368300"/>
                  </a:lnTo>
                  <a:lnTo>
                    <a:pt x="2441448" y="1841500"/>
                  </a:lnTo>
                  <a:lnTo>
                    <a:pt x="2438579" y="1887708"/>
                  </a:lnTo>
                  <a:lnTo>
                    <a:pt x="2430202" y="1932200"/>
                  </a:lnTo>
                  <a:lnTo>
                    <a:pt x="2416663" y="1974633"/>
                  </a:lnTo>
                  <a:lnTo>
                    <a:pt x="2398305" y="2014660"/>
                  </a:lnTo>
                  <a:lnTo>
                    <a:pt x="2375473" y="2051938"/>
                  </a:lnTo>
                  <a:lnTo>
                    <a:pt x="2348513" y="2086121"/>
                  </a:lnTo>
                  <a:lnTo>
                    <a:pt x="2317769" y="2116865"/>
                  </a:lnTo>
                  <a:lnTo>
                    <a:pt x="2283586" y="2143825"/>
                  </a:lnTo>
                  <a:lnTo>
                    <a:pt x="2246308" y="2166657"/>
                  </a:lnTo>
                  <a:lnTo>
                    <a:pt x="2206281" y="2185015"/>
                  </a:lnTo>
                  <a:lnTo>
                    <a:pt x="2163848" y="2198554"/>
                  </a:lnTo>
                  <a:lnTo>
                    <a:pt x="2119356" y="2206931"/>
                  </a:lnTo>
                  <a:lnTo>
                    <a:pt x="2073148" y="2209800"/>
                  </a:lnTo>
                  <a:lnTo>
                    <a:pt x="368300" y="2209800"/>
                  </a:lnTo>
                  <a:lnTo>
                    <a:pt x="322091" y="2206931"/>
                  </a:lnTo>
                  <a:lnTo>
                    <a:pt x="277599" y="2198554"/>
                  </a:lnTo>
                  <a:lnTo>
                    <a:pt x="235166" y="2185015"/>
                  </a:lnTo>
                  <a:lnTo>
                    <a:pt x="195139" y="2166657"/>
                  </a:lnTo>
                  <a:lnTo>
                    <a:pt x="157861" y="2143825"/>
                  </a:lnTo>
                  <a:lnTo>
                    <a:pt x="123678" y="2116865"/>
                  </a:lnTo>
                  <a:lnTo>
                    <a:pt x="92934" y="2086121"/>
                  </a:lnTo>
                  <a:lnTo>
                    <a:pt x="65974" y="2051938"/>
                  </a:lnTo>
                  <a:lnTo>
                    <a:pt x="43142" y="2014660"/>
                  </a:lnTo>
                  <a:lnTo>
                    <a:pt x="24784" y="1974633"/>
                  </a:lnTo>
                  <a:lnTo>
                    <a:pt x="11245" y="1932200"/>
                  </a:lnTo>
                  <a:lnTo>
                    <a:pt x="2868" y="1887708"/>
                  </a:lnTo>
                  <a:lnTo>
                    <a:pt x="0" y="1841500"/>
                  </a:lnTo>
                  <a:lnTo>
                    <a:pt x="0" y="368300"/>
                  </a:lnTo>
                  <a:close/>
                </a:path>
              </a:pathLst>
            </a:custGeom>
            <a:noFill/>
            <a:ln w="99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57" name="Google Shape;557;p45"/>
          <p:cNvSpPr txBox="1"/>
          <p:nvPr/>
        </p:nvSpPr>
        <p:spPr>
          <a:xfrm>
            <a:off x="6540500" y="3211195"/>
            <a:ext cx="2011680" cy="1245870"/>
          </a:xfrm>
          <a:prstGeom prst="rect">
            <a:avLst/>
          </a:prstGeom>
          <a:noFill/>
          <a:ln>
            <a:noFill/>
          </a:ln>
        </p:spPr>
        <p:txBody>
          <a:bodyPr spcFirstLastPara="1" wrap="square" lIns="0" tIns="13325" rIns="0" bIns="0" anchor="t" anchorCtr="0">
            <a:spAutoFit/>
          </a:bodyPr>
          <a:lstStyle/>
          <a:p>
            <a:pPr marL="0" marR="0" lvl="0" indent="0" algn="ctr" rtl="0">
              <a:lnSpc>
                <a:spcPct val="100000"/>
              </a:lnSpc>
              <a:spcBef>
                <a:spcPts val="0"/>
              </a:spcBef>
              <a:spcAft>
                <a:spcPts val="0"/>
              </a:spcAft>
              <a:buNone/>
            </a:pPr>
            <a:r>
              <a:rPr lang="en-US" sz="2000">
                <a:solidFill>
                  <a:srgbClr val="FF0000"/>
                </a:solidFill>
                <a:latin typeface="Helvetica Neue"/>
                <a:ea typeface="Helvetica Neue"/>
                <a:cs typeface="Helvetica Neue"/>
                <a:sym typeface="Helvetica Neue"/>
              </a:rPr>
              <a:t>Variable in Global</a:t>
            </a:r>
            <a:endParaRPr sz="2000">
              <a:solidFill>
                <a:schemeClr val="dk1"/>
              </a:solidFill>
              <a:latin typeface="Helvetica Neue"/>
              <a:ea typeface="Helvetica Neue"/>
              <a:cs typeface="Helvetica Neue"/>
              <a:sym typeface="Helvetica Neue"/>
            </a:endParaRPr>
          </a:p>
          <a:p>
            <a:pPr marL="0" marR="0" lvl="0" indent="0" algn="ctr" rtl="0">
              <a:lnSpc>
                <a:spcPct val="100000"/>
              </a:lnSpc>
              <a:spcBef>
                <a:spcPts val="0"/>
              </a:spcBef>
              <a:spcAft>
                <a:spcPts val="0"/>
              </a:spcAft>
              <a:buNone/>
            </a:pPr>
            <a:r>
              <a:rPr lang="en-US" sz="2000">
                <a:solidFill>
                  <a:srgbClr val="FF0000"/>
                </a:solidFill>
                <a:latin typeface="Helvetica Neue"/>
                <a:ea typeface="Helvetica Neue"/>
                <a:cs typeface="Helvetica Neue"/>
                <a:sym typeface="Helvetica Neue"/>
              </a:rPr>
              <a:t>not in Local</a:t>
            </a:r>
            <a:endParaRPr sz="2000">
              <a:solidFill>
                <a:schemeClr val="dk1"/>
              </a:solidFill>
              <a:latin typeface="Helvetica Neue"/>
              <a:ea typeface="Helvetica Neue"/>
              <a:cs typeface="Helvetica Neue"/>
              <a:sym typeface="Helvetica Neue"/>
            </a:endParaRPr>
          </a:p>
          <a:p>
            <a:pPr marL="12700" marR="5080" lvl="0" indent="0" algn="ctr" rtl="0">
              <a:lnSpc>
                <a:spcPct val="100000"/>
              </a:lnSpc>
              <a:spcBef>
                <a:spcPts val="0"/>
              </a:spcBef>
              <a:spcAft>
                <a:spcPts val="0"/>
              </a:spcAft>
              <a:buNone/>
            </a:pPr>
            <a:r>
              <a:rPr lang="en-US" sz="2000">
                <a:solidFill>
                  <a:srgbClr val="FF0000"/>
                </a:solidFill>
                <a:latin typeface="Helvetica Neue"/>
                <a:ea typeface="Helvetica Neue"/>
                <a:cs typeface="Helvetica Neue"/>
                <a:sym typeface="Helvetica Neue"/>
              </a:rPr>
              <a:t>(input in variable at  global scope)</a:t>
            </a:r>
            <a:endParaRPr sz="2000">
              <a:solidFill>
                <a:schemeClr val="dk1"/>
              </a:solidFill>
              <a:latin typeface="Helvetica Neue"/>
              <a:ea typeface="Helvetica Neue"/>
              <a:cs typeface="Helvetica Neue"/>
              <a:sym typeface="Helvetica Neue"/>
            </a:endParaRPr>
          </a:p>
        </p:txBody>
      </p:sp>
      <p:pic>
        <p:nvPicPr>
          <p:cNvPr id="558" name="Google Shape;558;p45"/>
          <p:cNvPicPr preferRelativeResize="0"/>
          <p:nvPr/>
        </p:nvPicPr>
        <p:blipFill rotWithShape="1">
          <a:blip r:embed="rId5">
            <a:alphaModFix/>
          </a:blip>
          <a:srcRect/>
          <a:stretch/>
        </p:blipFill>
        <p:spPr>
          <a:xfrm>
            <a:off x="304800" y="1676400"/>
            <a:ext cx="5372100" cy="3667125"/>
          </a:xfrm>
          <a:prstGeom prst="rect">
            <a:avLst/>
          </a:prstGeom>
          <a:noFill/>
          <a:ln>
            <a:noFill/>
          </a:ln>
        </p:spPr>
      </p:pic>
      <p:sp>
        <p:nvSpPr>
          <p:cNvPr id="559" name="Google Shape;559;p45"/>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560" name="Google Shape;560;p45"/>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46"/>
          <p:cNvSpPr txBox="1">
            <a:spLocks noGrp="1"/>
          </p:cNvSpPr>
          <p:nvPr>
            <p:ph type="title"/>
          </p:nvPr>
        </p:nvSpPr>
        <p:spPr>
          <a:xfrm>
            <a:off x="533400" y="76200"/>
            <a:ext cx="3932554"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Predict the output</a:t>
            </a:r>
            <a:endParaRPr sz="4400"/>
          </a:p>
        </p:txBody>
      </p:sp>
      <p:grpSp>
        <p:nvGrpSpPr>
          <p:cNvPr id="566" name="Google Shape;566;p46"/>
          <p:cNvGrpSpPr/>
          <p:nvPr/>
        </p:nvGrpSpPr>
        <p:grpSpPr>
          <a:xfrm>
            <a:off x="6284978" y="2889504"/>
            <a:ext cx="2520690" cy="2286000"/>
            <a:chOff x="6284978" y="2889504"/>
            <a:chExt cx="2520690" cy="2286000"/>
          </a:xfrm>
        </p:grpSpPr>
        <p:pic>
          <p:nvPicPr>
            <p:cNvPr id="567" name="Google Shape;567;p46"/>
            <p:cNvPicPr preferRelativeResize="0"/>
            <p:nvPr/>
          </p:nvPicPr>
          <p:blipFill rotWithShape="1">
            <a:blip r:embed="rId3">
              <a:alphaModFix/>
            </a:blip>
            <a:srcRect/>
            <a:stretch/>
          </p:blipFill>
          <p:spPr>
            <a:xfrm>
              <a:off x="6284978" y="2889504"/>
              <a:ext cx="2520690" cy="2286000"/>
            </a:xfrm>
            <a:prstGeom prst="rect">
              <a:avLst/>
            </a:prstGeom>
            <a:noFill/>
            <a:ln>
              <a:noFill/>
            </a:ln>
          </p:spPr>
        </p:pic>
        <p:pic>
          <p:nvPicPr>
            <p:cNvPr id="568" name="Google Shape;568;p46"/>
            <p:cNvPicPr preferRelativeResize="0"/>
            <p:nvPr/>
          </p:nvPicPr>
          <p:blipFill rotWithShape="1">
            <a:blip r:embed="rId4">
              <a:alphaModFix/>
            </a:blip>
            <a:srcRect/>
            <a:stretch/>
          </p:blipFill>
          <p:spPr>
            <a:xfrm>
              <a:off x="6359652" y="3153156"/>
              <a:ext cx="2439924" cy="1831848"/>
            </a:xfrm>
            <a:prstGeom prst="rect">
              <a:avLst/>
            </a:prstGeom>
            <a:noFill/>
            <a:ln>
              <a:noFill/>
            </a:ln>
          </p:spPr>
        </p:pic>
        <p:sp>
          <p:nvSpPr>
            <p:cNvPr id="569" name="Google Shape;569;p46"/>
            <p:cNvSpPr/>
            <p:nvPr/>
          </p:nvSpPr>
          <p:spPr>
            <a:xfrm>
              <a:off x="6324600" y="2895600"/>
              <a:ext cx="2441575" cy="2209800"/>
            </a:xfrm>
            <a:custGeom>
              <a:avLst/>
              <a:gdLst/>
              <a:ahLst/>
              <a:cxnLst/>
              <a:rect l="l" t="t" r="r" b="b"/>
              <a:pathLst>
                <a:path w="2441575" h="2209800" extrusionOk="0">
                  <a:moveTo>
                    <a:pt x="2073148" y="0"/>
                  </a:moveTo>
                  <a:lnTo>
                    <a:pt x="368300" y="0"/>
                  </a:lnTo>
                  <a:lnTo>
                    <a:pt x="322091" y="2868"/>
                  </a:lnTo>
                  <a:lnTo>
                    <a:pt x="277599" y="11245"/>
                  </a:lnTo>
                  <a:lnTo>
                    <a:pt x="235166" y="24784"/>
                  </a:lnTo>
                  <a:lnTo>
                    <a:pt x="195139" y="43142"/>
                  </a:lnTo>
                  <a:lnTo>
                    <a:pt x="157861" y="65974"/>
                  </a:lnTo>
                  <a:lnTo>
                    <a:pt x="123678" y="92934"/>
                  </a:lnTo>
                  <a:lnTo>
                    <a:pt x="92934" y="123678"/>
                  </a:lnTo>
                  <a:lnTo>
                    <a:pt x="65974" y="157861"/>
                  </a:lnTo>
                  <a:lnTo>
                    <a:pt x="43142" y="195139"/>
                  </a:lnTo>
                  <a:lnTo>
                    <a:pt x="24784" y="235166"/>
                  </a:lnTo>
                  <a:lnTo>
                    <a:pt x="11245" y="277599"/>
                  </a:lnTo>
                  <a:lnTo>
                    <a:pt x="2868" y="322091"/>
                  </a:lnTo>
                  <a:lnTo>
                    <a:pt x="0" y="368300"/>
                  </a:lnTo>
                  <a:lnTo>
                    <a:pt x="0" y="1841500"/>
                  </a:lnTo>
                  <a:lnTo>
                    <a:pt x="2868" y="1887708"/>
                  </a:lnTo>
                  <a:lnTo>
                    <a:pt x="11245" y="1932200"/>
                  </a:lnTo>
                  <a:lnTo>
                    <a:pt x="24784" y="1974633"/>
                  </a:lnTo>
                  <a:lnTo>
                    <a:pt x="43142" y="2014660"/>
                  </a:lnTo>
                  <a:lnTo>
                    <a:pt x="65974" y="2051938"/>
                  </a:lnTo>
                  <a:lnTo>
                    <a:pt x="92934" y="2086121"/>
                  </a:lnTo>
                  <a:lnTo>
                    <a:pt x="123678" y="2116865"/>
                  </a:lnTo>
                  <a:lnTo>
                    <a:pt x="157861" y="2143825"/>
                  </a:lnTo>
                  <a:lnTo>
                    <a:pt x="195139" y="2166657"/>
                  </a:lnTo>
                  <a:lnTo>
                    <a:pt x="235166" y="2185015"/>
                  </a:lnTo>
                  <a:lnTo>
                    <a:pt x="277599" y="2198554"/>
                  </a:lnTo>
                  <a:lnTo>
                    <a:pt x="322091" y="2206931"/>
                  </a:lnTo>
                  <a:lnTo>
                    <a:pt x="368300" y="2209800"/>
                  </a:lnTo>
                  <a:lnTo>
                    <a:pt x="2073148" y="2209800"/>
                  </a:lnTo>
                  <a:lnTo>
                    <a:pt x="2119356" y="2206931"/>
                  </a:lnTo>
                  <a:lnTo>
                    <a:pt x="2163848" y="2198554"/>
                  </a:lnTo>
                  <a:lnTo>
                    <a:pt x="2206281" y="2185015"/>
                  </a:lnTo>
                  <a:lnTo>
                    <a:pt x="2246308" y="2166657"/>
                  </a:lnTo>
                  <a:lnTo>
                    <a:pt x="2283586" y="2143825"/>
                  </a:lnTo>
                  <a:lnTo>
                    <a:pt x="2317769" y="2116865"/>
                  </a:lnTo>
                  <a:lnTo>
                    <a:pt x="2348513" y="2086121"/>
                  </a:lnTo>
                  <a:lnTo>
                    <a:pt x="2375473" y="2051938"/>
                  </a:lnTo>
                  <a:lnTo>
                    <a:pt x="2398305" y="2014660"/>
                  </a:lnTo>
                  <a:lnTo>
                    <a:pt x="2416663" y="1974633"/>
                  </a:lnTo>
                  <a:lnTo>
                    <a:pt x="2430202" y="1932200"/>
                  </a:lnTo>
                  <a:lnTo>
                    <a:pt x="2438579" y="1887708"/>
                  </a:lnTo>
                  <a:lnTo>
                    <a:pt x="2441448" y="1841500"/>
                  </a:lnTo>
                  <a:lnTo>
                    <a:pt x="2441448" y="368300"/>
                  </a:lnTo>
                  <a:lnTo>
                    <a:pt x="2438579" y="322091"/>
                  </a:lnTo>
                  <a:lnTo>
                    <a:pt x="2430202" y="277599"/>
                  </a:lnTo>
                  <a:lnTo>
                    <a:pt x="2416663" y="235166"/>
                  </a:lnTo>
                  <a:lnTo>
                    <a:pt x="2398305" y="195139"/>
                  </a:lnTo>
                  <a:lnTo>
                    <a:pt x="2375473" y="157861"/>
                  </a:lnTo>
                  <a:lnTo>
                    <a:pt x="2348513" y="123678"/>
                  </a:lnTo>
                  <a:lnTo>
                    <a:pt x="2317769" y="92934"/>
                  </a:lnTo>
                  <a:lnTo>
                    <a:pt x="2283586" y="65974"/>
                  </a:lnTo>
                  <a:lnTo>
                    <a:pt x="2246308" y="43142"/>
                  </a:lnTo>
                  <a:lnTo>
                    <a:pt x="2206281" y="24784"/>
                  </a:lnTo>
                  <a:lnTo>
                    <a:pt x="2163848" y="11245"/>
                  </a:lnTo>
                  <a:lnTo>
                    <a:pt x="2119356" y="2868"/>
                  </a:lnTo>
                  <a:lnTo>
                    <a:pt x="2073148" y="0"/>
                  </a:lnTo>
                  <a:close/>
                </a:path>
              </a:pathLst>
            </a:custGeom>
            <a:solidFill>
              <a:srgbClr val="BBBBB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70" name="Google Shape;570;p46"/>
            <p:cNvSpPr/>
            <p:nvPr/>
          </p:nvSpPr>
          <p:spPr>
            <a:xfrm>
              <a:off x="6324600" y="2895600"/>
              <a:ext cx="2441575" cy="2209800"/>
            </a:xfrm>
            <a:custGeom>
              <a:avLst/>
              <a:gdLst/>
              <a:ahLst/>
              <a:cxnLst/>
              <a:rect l="l" t="t" r="r" b="b"/>
              <a:pathLst>
                <a:path w="2441575" h="2209800" extrusionOk="0">
                  <a:moveTo>
                    <a:pt x="0" y="368300"/>
                  </a:moveTo>
                  <a:lnTo>
                    <a:pt x="2868" y="322091"/>
                  </a:lnTo>
                  <a:lnTo>
                    <a:pt x="11245" y="277599"/>
                  </a:lnTo>
                  <a:lnTo>
                    <a:pt x="24784" y="235166"/>
                  </a:lnTo>
                  <a:lnTo>
                    <a:pt x="43142" y="195139"/>
                  </a:lnTo>
                  <a:lnTo>
                    <a:pt x="65974" y="157861"/>
                  </a:lnTo>
                  <a:lnTo>
                    <a:pt x="92934" y="123678"/>
                  </a:lnTo>
                  <a:lnTo>
                    <a:pt x="123678" y="92934"/>
                  </a:lnTo>
                  <a:lnTo>
                    <a:pt x="157861" y="65974"/>
                  </a:lnTo>
                  <a:lnTo>
                    <a:pt x="195139" y="43142"/>
                  </a:lnTo>
                  <a:lnTo>
                    <a:pt x="235166" y="24784"/>
                  </a:lnTo>
                  <a:lnTo>
                    <a:pt x="277599" y="11245"/>
                  </a:lnTo>
                  <a:lnTo>
                    <a:pt x="322091" y="2868"/>
                  </a:lnTo>
                  <a:lnTo>
                    <a:pt x="368300" y="0"/>
                  </a:lnTo>
                  <a:lnTo>
                    <a:pt x="2073148" y="0"/>
                  </a:lnTo>
                  <a:lnTo>
                    <a:pt x="2119356" y="2868"/>
                  </a:lnTo>
                  <a:lnTo>
                    <a:pt x="2163848" y="11245"/>
                  </a:lnTo>
                  <a:lnTo>
                    <a:pt x="2206281" y="24784"/>
                  </a:lnTo>
                  <a:lnTo>
                    <a:pt x="2246308" y="43142"/>
                  </a:lnTo>
                  <a:lnTo>
                    <a:pt x="2283586" y="65974"/>
                  </a:lnTo>
                  <a:lnTo>
                    <a:pt x="2317769" y="92934"/>
                  </a:lnTo>
                  <a:lnTo>
                    <a:pt x="2348513" y="123678"/>
                  </a:lnTo>
                  <a:lnTo>
                    <a:pt x="2375473" y="157861"/>
                  </a:lnTo>
                  <a:lnTo>
                    <a:pt x="2398305" y="195139"/>
                  </a:lnTo>
                  <a:lnTo>
                    <a:pt x="2416663" y="235166"/>
                  </a:lnTo>
                  <a:lnTo>
                    <a:pt x="2430202" y="277599"/>
                  </a:lnTo>
                  <a:lnTo>
                    <a:pt x="2438579" y="322091"/>
                  </a:lnTo>
                  <a:lnTo>
                    <a:pt x="2441448" y="368300"/>
                  </a:lnTo>
                  <a:lnTo>
                    <a:pt x="2441448" y="1841500"/>
                  </a:lnTo>
                  <a:lnTo>
                    <a:pt x="2438579" y="1887708"/>
                  </a:lnTo>
                  <a:lnTo>
                    <a:pt x="2430202" y="1932200"/>
                  </a:lnTo>
                  <a:lnTo>
                    <a:pt x="2416663" y="1974633"/>
                  </a:lnTo>
                  <a:lnTo>
                    <a:pt x="2398305" y="2014660"/>
                  </a:lnTo>
                  <a:lnTo>
                    <a:pt x="2375473" y="2051938"/>
                  </a:lnTo>
                  <a:lnTo>
                    <a:pt x="2348513" y="2086121"/>
                  </a:lnTo>
                  <a:lnTo>
                    <a:pt x="2317769" y="2116865"/>
                  </a:lnTo>
                  <a:lnTo>
                    <a:pt x="2283586" y="2143825"/>
                  </a:lnTo>
                  <a:lnTo>
                    <a:pt x="2246308" y="2166657"/>
                  </a:lnTo>
                  <a:lnTo>
                    <a:pt x="2206281" y="2185015"/>
                  </a:lnTo>
                  <a:lnTo>
                    <a:pt x="2163848" y="2198554"/>
                  </a:lnTo>
                  <a:lnTo>
                    <a:pt x="2119356" y="2206931"/>
                  </a:lnTo>
                  <a:lnTo>
                    <a:pt x="2073148" y="2209800"/>
                  </a:lnTo>
                  <a:lnTo>
                    <a:pt x="368300" y="2209800"/>
                  </a:lnTo>
                  <a:lnTo>
                    <a:pt x="322091" y="2206931"/>
                  </a:lnTo>
                  <a:lnTo>
                    <a:pt x="277599" y="2198554"/>
                  </a:lnTo>
                  <a:lnTo>
                    <a:pt x="235166" y="2185015"/>
                  </a:lnTo>
                  <a:lnTo>
                    <a:pt x="195139" y="2166657"/>
                  </a:lnTo>
                  <a:lnTo>
                    <a:pt x="157861" y="2143825"/>
                  </a:lnTo>
                  <a:lnTo>
                    <a:pt x="123678" y="2116865"/>
                  </a:lnTo>
                  <a:lnTo>
                    <a:pt x="92934" y="2086121"/>
                  </a:lnTo>
                  <a:lnTo>
                    <a:pt x="65974" y="2051938"/>
                  </a:lnTo>
                  <a:lnTo>
                    <a:pt x="43142" y="2014660"/>
                  </a:lnTo>
                  <a:lnTo>
                    <a:pt x="24784" y="1974633"/>
                  </a:lnTo>
                  <a:lnTo>
                    <a:pt x="11245" y="1932200"/>
                  </a:lnTo>
                  <a:lnTo>
                    <a:pt x="2868" y="1887708"/>
                  </a:lnTo>
                  <a:lnTo>
                    <a:pt x="0" y="1841500"/>
                  </a:lnTo>
                  <a:lnTo>
                    <a:pt x="0" y="368300"/>
                  </a:lnTo>
                  <a:close/>
                </a:path>
              </a:pathLst>
            </a:custGeom>
            <a:noFill/>
            <a:ln w="99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71" name="Google Shape;571;p46"/>
          <p:cNvSpPr txBox="1"/>
          <p:nvPr/>
        </p:nvSpPr>
        <p:spPr>
          <a:xfrm>
            <a:off x="6540500" y="3211195"/>
            <a:ext cx="2011680" cy="1245870"/>
          </a:xfrm>
          <a:prstGeom prst="rect">
            <a:avLst/>
          </a:prstGeom>
          <a:noFill/>
          <a:ln>
            <a:noFill/>
          </a:ln>
        </p:spPr>
        <p:txBody>
          <a:bodyPr spcFirstLastPara="1" wrap="square" lIns="0" tIns="13325" rIns="0" bIns="0" anchor="t" anchorCtr="0">
            <a:spAutoFit/>
          </a:bodyPr>
          <a:lstStyle/>
          <a:p>
            <a:pPr marL="0" marR="0" lvl="0" indent="0" algn="ctr" rtl="0">
              <a:lnSpc>
                <a:spcPct val="100000"/>
              </a:lnSpc>
              <a:spcBef>
                <a:spcPts val="0"/>
              </a:spcBef>
              <a:spcAft>
                <a:spcPts val="0"/>
              </a:spcAft>
              <a:buNone/>
            </a:pPr>
            <a:r>
              <a:rPr lang="en-US" sz="2000">
                <a:solidFill>
                  <a:srgbClr val="FF0000"/>
                </a:solidFill>
                <a:latin typeface="Helvetica Neue"/>
                <a:ea typeface="Helvetica Neue"/>
                <a:cs typeface="Helvetica Neue"/>
                <a:sym typeface="Helvetica Neue"/>
              </a:rPr>
              <a:t>Variable in Global</a:t>
            </a:r>
            <a:endParaRPr sz="2000">
              <a:solidFill>
                <a:schemeClr val="dk1"/>
              </a:solidFill>
              <a:latin typeface="Helvetica Neue"/>
              <a:ea typeface="Helvetica Neue"/>
              <a:cs typeface="Helvetica Neue"/>
              <a:sym typeface="Helvetica Neue"/>
            </a:endParaRPr>
          </a:p>
          <a:p>
            <a:pPr marL="0" marR="0" lvl="0" indent="0" algn="ctr" rtl="0">
              <a:lnSpc>
                <a:spcPct val="100000"/>
              </a:lnSpc>
              <a:spcBef>
                <a:spcPts val="0"/>
              </a:spcBef>
              <a:spcAft>
                <a:spcPts val="0"/>
              </a:spcAft>
              <a:buNone/>
            </a:pPr>
            <a:r>
              <a:rPr lang="en-US" sz="2000">
                <a:solidFill>
                  <a:srgbClr val="FF0000"/>
                </a:solidFill>
                <a:latin typeface="Helvetica Neue"/>
                <a:ea typeface="Helvetica Neue"/>
                <a:cs typeface="Helvetica Neue"/>
                <a:sym typeface="Helvetica Neue"/>
              </a:rPr>
              <a:t>not in Local</a:t>
            </a:r>
            <a:endParaRPr sz="2000">
              <a:solidFill>
                <a:schemeClr val="dk1"/>
              </a:solidFill>
              <a:latin typeface="Helvetica Neue"/>
              <a:ea typeface="Helvetica Neue"/>
              <a:cs typeface="Helvetica Neue"/>
              <a:sym typeface="Helvetica Neue"/>
            </a:endParaRPr>
          </a:p>
          <a:p>
            <a:pPr marL="12700" marR="5080" lvl="0" indent="0" algn="ctr" rtl="0">
              <a:lnSpc>
                <a:spcPct val="100000"/>
              </a:lnSpc>
              <a:spcBef>
                <a:spcPts val="0"/>
              </a:spcBef>
              <a:spcAft>
                <a:spcPts val="0"/>
              </a:spcAft>
              <a:buNone/>
            </a:pPr>
            <a:r>
              <a:rPr lang="en-US" sz="2000">
                <a:solidFill>
                  <a:srgbClr val="FF0000"/>
                </a:solidFill>
                <a:latin typeface="Helvetica Neue"/>
                <a:ea typeface="Helvetica Neue"/>
                <a:cs typeface="Helvetica Neue"/>
                <a:sym typeface="Helvetica Neue"/>
              </a:rPr>
              <a:t>(input in variable at  global scope)</a:t>
            </a:r>
            <a:endParaRPr sz="2000">
              <a:solidFill>
                <a:schemeClr val="dk1"/>
              </a:solidFill>
              <a:latin typeface="Helvetica Neue"/>
              <a:ea typeface="Helvetica Neue"/>
              <a:cs typeface="Helvetica Neue"/>
              <a:sym typeface="Helvetica Neue"/>
            </a:endParaRPr>
          </a:p>
        </p:txBody>
      </p:sp>
      <p:pic>
        <p:nvPicPr>
          <p:cNvPr id="572" name="Google Shape;572;p46"/>
          <p:cNvPicPr preferRelativeResize="0"/>
          <p:nvPr/>
        </p:nvPicPr>
        <p:blipFill rotWithShape="1">
          <a:blip r:embed="rId5">
            <a:alphaModFix/>
          </a:blip>
          <a:srcRect/>
          <a:stretch/>
        </p:blipFill>
        <p:spPr>
          <a:xfrm>
            <a:off x="228600" y="1752600"/>
            <a:ext cx="5372100" cy="2667000"/>
          </a:xfrm>
          <a:prstGeom prst="rect">
            <a:avLst/>
          </a:prstGeom>
          <a:noFill/>
          <a:ln>
            <a:noFill/>
          </a:ln>
        </p:spPr>
      </p:pic>
      <p:pic>
        <p:nvPicPr>
          <p:cNvPr id="573" name="Google Shape;573;p46"/>
          <p:cNvPicPr preferRelativeResize="0"/>
          <p:nvPr/>
        </p:nvPicPr>
        <p:blipFill rotWithShape="1">
          <a:blip r:embed="rId6">
            <a:alphaModFix/>
          </a:blip>
          <a:srcRect/>
          <a:stretch/>
        </p:blipFill>
        <p:spPr>
          <a:xfrm>
            <a:off x="228600" y="4800650"/>
            <a:ext cx="4419600" cy="1795018"/>
          </a:xfrm>
          <a:prstGeom prst="rect">
            <a:avLst/>
          </a:prstGeom>
          <a:noFill/>
          <a:ln>
            <a:noFill/>
          </a:ln>
        </p:spPr>
      </p:pic>
      <p:sp>
        <p:nvSpPr>
          <p:cNvPr id="574" name="Google Shape;574;p46"/>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575" name="Google Shape;575;p46"/>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47"/>
          <p:cNvSpPr txBox="1">
            <a:spLocks noGrp="1"/>
          </p:cNvSpPr>
          <p:nvPr>
            <p:ph type="title"/>
          </p:nvPr>
        </p:nvSpPr>
        <p:spPr>
          <a:xfrm>
            <a:off x="691387" y="136652"/>
            <a:ext cx="7684770" cy="1123315"/>
          </a:xfrm>
          <a:prstGeom prst="rect">
            <a:avLst/>
          </a:prstGeom>
          <a:noFill/>
          <a:ln>
            <a:noFill/>
          </a:ln>
        </p:spPr>
        <p:txBody>
          <a:bodyPr spcFirstLastPara="1" wrap="square" lIns="0" tIns="12700" rIns="0" bIns="0" anchor="ctr" anchorCtr="0">
            <a:spAutoFit/>
          </a:bodyPr>
          <a:lstStyle/>
          <a:p>
            <a:pPr marL="12700" marR="5080" lvl="0" indent="0" algn="ctr" rtl="0">
              <a:lnSpc>
                <a:spcPct val="100000"/>
              </a:lnSpc>
              <a:spcBef>
                <a:spcPts val="0"/>
              </a:spcBef>
              <a:spcAft>
                <a:spcPts val="0"/>
              </a:spcAft>
              <a:buNone/>
            </a:pPr>
            <a:r>
              <a:rPr lang="en-US" sz="3600" b="1">
                <a:latin typeface="Arial"/>
                <a:ea typeface="Arial"/>
                <a:cs typeface="Arial"/>
                <a:sym typeface="Arial"/>
              </a:rPr>
              <a:t>Mutability/Immutability of  Arguments/Parameters and function call</a:t>
            </a:r>
            <a:endParaRPr sz="3600">
              <a:latin typeface="Arial"/>
              <a:ea typeface="Arial"/>
              <a:cs typeface="Arial"/>
              <a:sym typeface="Arial"/>
            </a:endParaRPr>
          </a:p>
        </p:txBody>
      </p:sp>
      <p:pic>
        <p:nvPicPr>
          <p:cNvPr id="581" name="Google Shape;581;p47"/>
          <p:cNvPicPr preferRelativeResize="0"/>
          <p:nvPr/>
        </p:nvPicPr>
        <p:blipFill rotWithShape="1">
          <a:blip r:embed="rId3">
            <a:alphaModFix/>
          </a:blip>
          <a:srcRect/>
          <a:stretch/>
        </p:blipFill>
        <p:spPr>
          <a:xfrm>
            <a:off x="381000" y="1828800"/>
            <a:ext cx="7725547" cy="4191000"/>
          </a:xfrm>
          <a:prstGeom prst="rect">
            <a:avLst/>
          </a:prstGeom>
          <a:noFill/>
          <a:ln>
            <a:noFill/>
          </a:ln>
        </p:spPr>
      </p:pic>
      <p:sp>
        <p:nvSpPr>
          <p:cNvPr id="582" name="Google Shape;582;p47"/>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583" name="Google Shape;583;p47"/>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grpSp>
        <p:nvGrpSpPr>
          <p:cNvPr id="588" name="Google Shape;588;p48"/>
          <p:cNvGrpSpPr/>
          <p:nvPr/>
        </p:nvGrpSpPr>
        <p:grpSpPr>
          <a:xfrm>
            <a:off x="381000" y="1524000"/>
            <a:ext cx="8534400" cy="4648200"/>
            <a:chOff x="381000" y="1524000"/>
            <a:chExt cx="8534400" cy="4648200"/>
          </a:xfrm>
        </p:grpSpPr>
        <p:pic>
          <p:nvPicPr>
            <p:cNvPr id="589" name="Google Shape;589;p48"/>
            <p:cNvPicPr preferRelativeResize="0"/>
            <p:nvPr/>
          </p:nvPicPr>
          <p:blipFill rotWithShape="1">
            <a:blip r:embed="rId3">
              <a:alphaModFix/>
            </a:blip>
            <a:srcRect/>
            <a:stretch/>
          </p:blipFill>
          <p:spPr>
            <a:xfrm>
              <a:off x="381000" y="1524000"/>
              <a:ext cx="4402927" cy="4648200"/>
            </a:xfrm>
            <a:prstGeom prst="rect">
              <a:avLst/>
            </a:prstGeom>
            <a:noFill/>
            <a:ln>
              <a:noFill/>
            </a:ln>
          </p:spPr>
        </p:pic>
        <p:pic>
          <p:nvPicPr>
            <p:cNvPr id="590" name="Google Shape;590;p48"/>
            <p:cNvPicPr preferRelativeResize="0"/>
            <p:nvPr/>
          </p:nvPicPr>
          <p:blipFill rotWithShape="1">
            <a:blip r:embed="rId4">
              <a:alphaModFix/>
            </a:blip>
            <a:srcRect/>
            <a:stretch/>
          </p:blipFill>
          <p:spPr>
            <a:xfrm>
              <a:off x="5334000" y="2209800"/>
              <a:ext cx="3581400" cy="3886200"/>
            </a:xfrm>
            <a:prstGeom prst="rect">
              <a:avLst/>
            </a:prstGeom>
            <a:noFill/>
            <a:ln>
              <a:noFill/>
            </a:ln>
          </p:spPr>
        </p:pic>
      </p:grpSp>
      <p:sp>
        <p:nvSpPr>
          <p:cNvPr id="591" name="Google Shape;591;p48"/>
          <p:cNvSpPr txBox="1">
            <a:spLocks noGrp="1"/>
          </p:cNvSpPr>
          <p:nvPr>
            <p:ph type="title"/>
          </p:nvPr>
        </p:nvSpPr>
        <p:spPr>
          <a:xfrm>
            <a:off x="691387" y="136652"/>
            <a:ext cx="7684770" cy="1123315"/>
          </a:xfrm>
          <a:prstGeom prst="rect">
            <a:avLst/>
          </a:prstGeom>
          <a:noFill/>
          <a:ln>
            <a:noFill/>
          </a:ln>
        </p:spPr>
        <p:txBody>
          <a:bodyPr spcFirstLastPara="1" wrap="square" lIns="0" tIns="12700" rIns="0" bIns="0" anchor="ctr" anchorCtr="0">
            <a:spAutoFit/>
          </a:bodyPr>
          <a:lstStyle/>
          <a:p>
            <a:pPr marL="12700" marR="5080" lvl="0" indent="0" algn="ctr" rtl="0">
              <a:lnSpc>
                <a:spcPct val="100000"/>
              </a:lnSpc>
              <a:spcBef>
                <a:spcPts val="0"/>
              </a:spcBef>
              <a:spcAft>
                <a:spcPts val="0"/>
              </a:spcAft>
              <a:buNone/>
            </a:pPr>
            <a:r>
              <a:rPr lang="en-US" sz="3600" b="1">
                <a:latin typeface="Arial"/>
                <a:ea typeface="Arial"/>
                <a:cs typeface="Arial"/>
                <a:sym typeface="Arial"/>
              </a:rPr>
              <a:t>Mutability/Immutability of  Arguments/Parameters and function call</a:t>
            </a:r>
            <a:endParaRPr sz="3600">
              <a:latin typeface="Arial"/>
              <a:ea typeface="Arial"/>
              <a:cs typeface="Arial"/>
              <a:sym typeface="Arial"/>
            </a:endParaRPr>
          </a:p>
        </p:txBody>
      </p:sp>
      <p:sp>
        <p:nvSpPr>
          <p:cNvPr id="592" name="Google Shape;592;p48"/>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593" name="Google Shape;593;p48"/>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9"/>
          <p:cNvSpPr txBox="1">
            <a:spLocks noGrp="1"/>
          </p:cNvSpPr>
          <p:nvPr>
            <p:ph type="title"/>
          </p:nvPr>
        </p:nvSpPr>
        <p:spPr>
          <a:xfrm>
            <a:off x="691387" y="136652"/>
            <a:ext cx="7684770" cy="1123315"/>
          </a:xfrm>
          <a:prstGeom prst="rect">
            <a:avLst/>
          </a:prstGeom>
          <a:noFill/>
          <a:ln>
            <a:noFill/>
          </a:ln>
        </p:spPr>
        <p:txBody>
          <a:bodyPr spcFirstLastPara="1" wrap="square" lIns="0" tIns="12700" rIns="0" bIns="0" anchor="ctr" anchorCtr="0">
            <a:spAutoFit/>
          </a:bodyPr>
          <a:lstStyle/>
          <a:p>
            <a:pPr marL="12700" marR="5080" lvl="0" indent="0" algn="ctr" rtl="0">
              <a:lnSpc>
                <a:spcPct val="100000"/>
              </a:lnSpc>
              <a:spcBef>
                <a:spcPts val="0"/>
              </a:spcBef>
              <a:spcAft>
                <a:spcPts val="0"/>
              </a:spcAft>
              <a:buNone/>
            </a:pPr>
            <a:r>
              <a:rPr lang="en-US" sz="3600" b="1">
                <a:latin typeface="Arial"/>
                <a:ea typeface="Arial"/>
                <a:cs typeface="Arial"/>
                <a:sym typeface="Arial"/>
              </a:rPr>
              <a:t>Mutability/Immutability of  Arguments/Parameters and function call</a:t>
            </a:r>
            <a:endParaRPr sz="3600">
              <a:latin typeface="Arial"/>
              <a:ea typeface="Arial"/>
              <a:cs typeface="Arial"/>
              <a:sym typeface="Arial"/>
            </a:endParaRPr>
          </a:p>
        </p:txBody>
      </p:sp>
      <p:sp>
        <p:nvSpPr>
          <p:cNvPr id="599" name="Google Shape;599;p49"/>
          <p:cNvSpPr txBox="1"/>
          <p:nvPr/>
        </p:nvSpPr>
        <p:spPr>
          <a:xfrm>
            <a:off x="691387" y="1567941"/>
            <a:ext cx="7998459" cy="4446905"/>
          </a:xfrm>
          <a:prstGeom prst="rect">
            <a:avLst/>
          </a:prstGeom>
          <a:noFill/>
          <a:ln>
            <a:noFill/>
          </a:ln>
        </p:spPr>
        <p:txBody>
          <a:bodyPr spcFirstLastPara="1" wrap="square" lIns="0" tIns="57150" rIns="0" bIns="0" anchor="t" anchorCtr="0">
            <a:spAutoFit/>
          </a:bodyPr>
          <a:lstStyle/>
          <a:p>
            <a:pPr marL="332740" marR="5080" lvl="0" indent="-320675" algn="just" rtl="0">
              <a:lnSpc>
                <a:spcPct val="9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From the previous example we can recall the  concept learned in class XI that </a:t>
            </a:r>
            <a:r>
              <a:rPr lang="en-US" sz="2900" b="1">
                <a:solidFill>
                  <a:srgbClr val="FF0000"/>
                </a:solidFill>
                <a:latin typeface="Arial"/>
                <a:ea typeface="Arial"/>
                <a:cs typeface="Arial"/>
                <a:sym typeface="Arial"/>
              </a:rPr>
              <a:t>Python variables  are not storage containers</a:t>
            </a:r>
            <a:r>
              <a:rPr lang="en-US" sz="2900">
                <a:solidFill>
                  <a:schemeClr val="dk1"/>
                </a:solidFill>
                <a:latin typeface="Helvetica Neue"/>
                <a:ea typeface="Helvetica Neue"/>
                <a:cs typeface="Helvetica Neue"/>
                <a:sym typeface="Helvetica Neue"/>
              </a:rPr>
              <a:t>, rather Python variables  are like memory references, they refer to memory  address where the value is stored, thus </a:t>
            </a:r>
            <a:r>
              <a:rPr lang="en-US" sz="2900" b="1">
                <a:solidFill>
                  <a:srgbClr val="FF0000"/>
                </a:solidFill>
                <a:latin typeface="Arial"/>
                <a:ea typeface="Arial"/>
                <a:cs typeface="Arial"/>
                <a:sym typeface="Arial"/>
              </a:rPr>
              <a:t>any change  in immutable type data will also change the  memory address</a:t>
            </a:r>
            <a:r>
              <a:rPr lang="en-US" sz="2900">
                <a:solidFill>
                  <a:schemeClr val="dk1"/>
                </a:solidFill>
                <a:latin typeface="Helvetica Neue"/>
                <a:ea typeface="Helvetica Neue"/>
                <a:cs typeface="Helvetica Neue"/>
                <a:sym typeface="Helvetica Neue"/>
              </a:rPr>
              <a:t>. </a:t>
            </a:r>
            <a:r>
              <a:rPr lang="en-US" sz="2900" b="1">
                <a:solidFill>
                  <a:srgbClr val="00AF50"/>
                </a:solidFill>
                <a:latin typeface="Arial"/>
                <a:ea typeface="Arial"/>
                <a:cs typeface="Arial"/>
                <a:sym typeface="Arial"/>
              </a:rPr>
              <a:t>So any change to formal  argument will not reflect back to its  corresponding actual argument </a:t>
            </a:r>
            <a:r>
              <a:rPr lang="en-US" sz="2900">
                <a:solidFill>
                  <a:schemeClr val="dk1"/>
                </a:solidFill>
                <a:latin typeface="Helvetica Neue"/>
                <a:ea typeface="Helvetica Neue"/>
                <a:cs typeface="Helvetica Neue"/>
                <a:sym typeface="Helvetica Neue"/>
              </a:rPr>
              <a:t>and in case of  mutable type, </a:t>
            </a:r>
            <a:r>
              <a:rPr lang="en-US" sz="2900" b="1">
                <a:solidFill>
                  <a:srgbClr val="FF0000"/>
                </a:solidFill>
                <a:latin typeface="Arial"/>
                <a:ea typeface="Arial"/>
                <a:cs typeface="Arial"/>
                <a:sym typeface="Arial"/>
              </a:rPr>
              <a:t>any change in mutable type will  not change the memory address of variable.</a:t>
            </a:r>
            <a:endParaRPr sz="2900">
              <a:solidFill>
                <a:schemeClr val="dk1"/>
              </a:solidFill>
              <a:latin typeface="Arial"/>
              <a:ea typeface="Arial"/>
              <a:cs typeface="Arial"/>
              <a:sym typeface="Arial"/>
            </a:endParaRPr>
          </a:p>
        </p:txBody>
      </p:sp>
      <p:sp>
        <p:nvSpPr>
          <p:cNvPr id="600" name="Google Shape;600;p49"/>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601" name="Google Shape;601;p49"/>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grpSp>
        <p:nvGrpSpPr>
          <p:cNvPr id="606" name="Google Shape;606;p50"/>
          <p:cNvGrpSpPr/>
          <p:nvPr/>
        </p:nvGrpSpPr>
        <p:grpSpPr>
          <a:xfrm>
            <a:off x="249936" y="1524000"/>
            <a:ext cx="8666479" cy="4794504"/>
            <a:chOff x="249936" y="1524000"/>
            <a:chExt cx="8666479" cy="4794504"/>
          </a:xfrm>
        </p:grpSpPr>
        <p:pic>
          <p:nvPicPr>
            <p:cNvPr id="607" name="Google Shape;607;p50"/>
            <p:cNvPicPr preferRelativeResize="0"/>
            <p:nvPr/>
          </p:nvPicPr>
          <p:blipFill rotWithShape="1">
            <a:blip r:embed="rId3">
              <a:alphaModFix/>
            </a:blip>
            <a:srcRect/>
            <a:stretch/>
          </p:blipFill>
          <p:spPr>
            <a:xfrm>
              <a:off x="381000" y="1524000"/>
              <a:ext cx="4128722" cy="2286000"/>
            </a:xfrm>
            <a:prstGeom prst="rect">
              <a:avLst/>
            </a:prstGeom>
            <a:noFill/>
            <a:ln>
              <a:noFill/>
            </a:ln>
          </p:spPr>
        </p:pic>
        <p:pic>
          <p:nvPicPr>
            <p:cNvPr id="608" name="Google Shape;608;p50"/>
            <p:cNvPicPr preferRelativeResize="0"/>
            <p:nvPr/>
          </p:nvPicPr>
          <p:blipFill rotWithShape="1">
            <a:blip r:embed="rId4">
              <a:alphaModFix/>
            </a:blip>
            <a:srcRect/>
            <a:stretch/>
          </p:blipFill>
          <p:spPr>
            <a:xfrm>
              <a:off x="4800600" y="1600200"/>
              <a:ext cx="4115815" cy="1908428"/>
            </a:xfrm>
            <a:prstGeom prst="rect">
              <a:avLst/>
            </a:prstGeom>
            <a:noFill/>
            <a:ln>
              <a:noFill/>
            </a:ln>
          </p:spPr>
        </p:pic>
        <p:pic>
          <p:nvPicPr>
            <p:cNvPr id="609" name="Google Shape;609;p50"/>
            <p:cNvPicPr preferRelativeResize="0"/>
            <p:nvPr/>
          </p:nvPicPr>
          <p:blipFill rotWithShape="1">
            <a:blip r:embed="rId5">
              <a:alphaModFix/>
            </a:blip>
            <a:srcRect/>
            <a:stretch/>
          </p:blipFill>
          <p:spPr>
            <a:xfrm>
              <a:off x="336804" y="3718560"/>
              <a:ext cx="8317992" cy="2520696"/>
            </a:xfrm>
            <a:prstGeom prst="rect">
              <a:avLst/>
            </a:prstGeom>
            <a:noFill/>
            <a:ln>
              <a:noFill/>
            </a:ln>
          </p:spPr>
        </p:pic>
        <p:pic>
          <p:nvPicPr>
            <p:cNvPr id="610" name="Google Shape;610;p50"/>
            <p:cNvPicPr preferRelativeResize="0"/>
            <p:nvPr/>
          </p:nvPicPr>
          <p:blipFill rotWithShape="1">
            <a:blip r:embed="rId6">
              <a:alphaModFix/>
            </a:blip>
            <a:srcRect/>
            <a:stretch/>
          </p:blipFill>
          <p:spPr>
            <a:xfrm>
              <a:off x="249936" y="3680460"/>
              <a:ext cx="8572500" cy="2638044"/>
            </a:xfrm>
            <a:prstGeom prst="rect">
              <a:avLst/>
            </a:prstGeom>
            <a:noFill/>
            <a:ln>
              <a:noFill/>
            </a:ln>
          </p:spPr>
        </p:pic>
        <p:sp>
          <p:nvSpPr>
            <p:cNvPr id="611" name="Google Shape;611;p50"/>
            <p:cNvSpPr/>
            <p:nvPr/>
          </p:nvSpPr>
          <p:spPr>
            <a:xfrm>
              <a:off x="381000" y="3733825"/>
              <a:ext cx="8229600" cy="2431415"/>
            </a:xfrm>
            <a:custGeom>
              <a:avLst/>
              <a:gdLst/>
              <a:ahLst/>
              <a:cxnLst/>
              <a:rect l="l" t="t" r="r" b="b"/>
              <a:pathLst>
                <a:path w="8229600" h="2431415" extrusionOk="0">
                  <a:moveTo>
                    <a:pt x="8229600" y="0"/>
                  </a:moveTo>
                  <a:lnTo>
                    <a:pt x="0" y="0"/>
                  </a:lnTo>
                  <a:lnTo>
                    <a:pt x="0" y="2431415"/>
                  </a:lnTo>
                  <a:lnTo>
                    <a:pt x="8229600" y="2431415"/>
                  </a:lnTo>
                  <a:lnTo>
                    <a:pt x="8229600" y="0"/>
                  </a:lnTo>
                  <a:close/>
                </a:path>
              </a:pathLst>
            </a:custGeom>
            <a:solidFill>
              <a:srgbClr val="EECDC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12" name="Google Shape;612;p50"/>
            <p:cNvSpPr/>
            <p:nvPr/>
          </p:nvSpPr>
          <p:spPr>
            <a:xfrm>
              <a:off x="381000" y="3733825"/>
              <a:ext cx="8229600" cy="2431415"/>
            </a:xfrm>
            <a:custGeom>
              <a:avLst/>
              <a:gdLst/>
              <a:ahLst/>
              <a:cxnLst/>
              <a:rect l="l" t="t" r="r" b="b"/>
              <a:pathLst>
                <a:path w="8229600" h="2431415" extrusionOk="0">
                  <a:moveTo>
                    <a:pt x="0" y="2431415"/>
                  </a:moveTo>
                  <a:lnTo>
                    <a:pt x="8229600" y="2431415"/>
                  </a:lnTo>
                  <a:lnTo>
                    <a:pt x="8229600" y="0"/>
                  </a:lnTo>
                  <a:lnTo>
                    <a:pt x="0" y="0"/>
                  </a:lnTo>
                  <a:lnTo>
                    <a:pt x="0" y="2431415"/>
                  </a:lnTo>
                  <a:close/>
                </a:path>
              </a:pathLst>
            </a:custGeom>
            <a:noFill/>
            <a:ln w="9975" cap="flat" cmpd="sng">
              <a:solidFill>
                <a:srgbClr val="DD8046"/>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613" name="Google Shape;613;p50"/>
          <p:cNvSpPr txBox="1">
            <a:spLocks noGrp="1"/>
          </p:cNvSpPr>
          <p:nvPr>
            <p:ph type="title"/>
          </p:nvPr>
        </p:nvSpPr>
        <p:spPr>
          <a:xfrm>
            <a:off x="691387" y="136652"/>
            <a:ext cx="7684770" cy="1123315"/>
          </a:xfrm>
          <a:prstGeom prst="rect">
            <a:avLst/>
          </a:prstGeom>
          <a:noFill/>
          <a:ln>
            <a:noFill/>
          </a:ln>
        </p:spPr>
        <p:txBody>
          <a:bodyPr spcFirstLastPara="1" wrap="square" lIns="0" tIns="12700" rIns="0" bIns="0" anchor="ctr" anchorCtr="0">
            <a:spAutoFit/>
          </a:bodyPr>
          <a:lstStyle/>
          <a:p>
            <a:pPr marL="12700" marR="5080" lvl="0" indent="0" algn="ctr" rtl="0">
              <a:lnSpc>
                <a:spcPct val="100000"/>
              </a:lnSpc>
              <a:spcBef>
                <a:spcPts val="0"/>
              </a:spcBef>
              <a:spcAft>
                <a:spcPts val="0"/>
              </a:spcAft>
              <a:buNone/>
            </a:pPr>
            <a:r>
              <a:rPr lang="en-US" sz="3600" b="1">
                <a:latin typeface="Arial"/>
                <a:ea typeface="Arial"/>
                <a:cs typeface="Arial"/>
                <a:sym typeface="Arial"/>
              </a:rPr>
              <a:t>Mutability/Immutability of  Arguments/Parameters and function call</a:t>
            </a:r>
            <a:endParaRPr sz="3600">
              <a:latin typeface="Arial"/>
              <a:ea typeface="Arial"/>
              <a:cs typeface="Arial"/>
              <a:sym typeface="Arial"/>
            </a:endParaRPr>
          </a:p>
        </p:txBody>
      </p:sp>
      <p:sp>
        <p:nvSpPr>
          <p:cNvPr id="614" name="Google Shape;614;p50"/>
          <p:cNvSpPr txBox="1"/>
          <p:nvPr/>
        </p:nvSpPr>
        <p:spPr>
          <a:xfrm>
            <a:off x="459740" y="3750945"/>
            <a:ext cx="8073390" cy="2344420"/>
          </a:xfrm>
          <a:prstGeom prst="rect">
            <a:avLst/>
          </a:prstGeom>
          <a:noFill/>
          <a:ln>
            <a:noFill/>
          </a:ln>
        </p:spPr>
        <p:txBody>
          <a:bodyPr spcFirstLastPara="1" wrap="square" lIns="0" tIns="12700" rIns="0" bIns="0" anchor="t" anchorCtr="0">
            <a:spAutoFit/>
          </a:bodyPr>
          <a:lstStyle/>
          <a:p>
            <a:pPr marL="12700" marR="5080" lvl="0" indent="0" algn="just" rtl="0">
              <a:lnSpc>
                <a:spcPct val="100000"/>
              </a:lnSpc>
              <a:spcBef>
                <a:spcPts val="0"/>
              </a:spcBef>
              <a:spcAft>
                <a:spcPts val="0"/>
              </a:spcAft>
              <a:buNone/>
            </a:pPr>
            <a:r>
              <a:rPr lang="en-US" sz="2400" b="1">
                <a:solidFill>
                  <a:schemeClr val="dk1"/>
                </a:solidFill>
                <a:latin typeface="Arial"/>
                <a:ea typeface="Arial"/>
                <a:cs typeface="Arial"/>
                <a:sym typeface="Arial"/>
              </a:rPr>
              <a:t>Because List if Mutable type, hence any change in formal  argument </a:t>
            </a:r>
            <a:r>
              <a:rPr lang="en-US" sz="2400" b="1">
                <a:solidFill>
                  <a:srgbClr val="FF0000"/>
                </a:solidFill>
                <a:latin typeface="Arial"/>
                <a:ea typeface="Arial"/>
                <a:cs typeface="Arial"/>
                <a:sym typeface="Arial"/>
              </a:rPr>
              <a:t>myList </a:t>
            </a:r>
            <a:r>
              <a:rPr lang="en-US" sz="2400" b="1">
                <a:solidFill>
                  <a:schemeClr val="dk1"/>
                </a:solidFill>
                <a:latin typeface="Arial"/>
                <a:ea typeface="Arial"/>
                <a:cs typeface="Arial"/>
                <a:sym typeface="Arial"/>
              </a:rPr>
              <a:t>will not change the memory address, So  changes done to </a:t>
            </a:r>
            <a:r>
              <a:rPr lang="en-US" sz="2400" b="1">
                <a:solidFill>
                  <a:srgbClr val="FF0000"/>
                </a:solidFill>
                <a:latin typeface="Arial"/>
                <a:ea typeface="Arial"/>
                <a:cs typeface="Arial"/>
                <a:sym typeface="Arial"/>
              </a:rPr>
              <a:t>myList </a:t>
            </a:r>
            <a:r>
              <a:rPr lang="en-US" sz="2400" b="1">
                <a:solidFill>
                  <a:schemeClr val="dk1"/>
                </a:solidFill>
                <a:latin typeface="Arial"/>
                <a:ea typeface="Arial"/>
                <a:cs typeface="Arial"/>
                <a:sym typeface="Arial"/>
              </a:rPr>
              <a:t>will be reflected back to </a:t>
            </a:r>
            <a:r>
              <a:rPr lang="en-US" sz="2400" b="1">
                <a:solidFill>
                  <a:srgbClr val="FF0000"/>
                </a:solidFill>
                <a:latin typeface="Arial"/>
                <a:ea typeface="Arial"/>
                <a:cs typeface="Arial"/>
                <a:sym typeface="Arial"/>
              </a:rPr>
              <a:t>List1.</a:t>
            </a:r>
            <a:endParaRPr sz="2400">
              <a:solidFill>
                <a:schemeClr val="dk1"/>
              </a:solidFill>
              <a:latin typeface="Arial"/>
              <a:ea typeface="Arial"/>
              <a:cs typeface="Arial"/>
              <a:sym typeface="Arial"/>
            </a:endParaRPr>
          </a:p>
          <a:p>
            <a:pPr marL="12700" marR="6985" lvl="0" indent="0" algn="just" rtl="0">
              <a:lnSpc>
                <a:spcPct val="100000"/>
              </a:lnSpc>
              <a:spcBef>
                <a:spcPts val="15"/>
              </a:spcBef>
              <a:spcAft>
                <a:spcPts val="0"/>
              </a:spcAft>
              <a:buNone/>
            </a:pPr>
            <a:r>
              <a:rPr lang="en-US" sz="2000" b="1" i="1">
                <a:solidFill>
                  <a:srgbClr val="006FC0"/>
                </a:solidFill>
                <a:latin typeface="Arial"/>
                <a:ea typeface="Arial"/>
                <a:cs typeface="Arial"/>
                <a:sym typeface="Arial"/>
              </a:rPr>
              <a:t>However if we formal argument is assigned to some other variable or data type  then link will break and changes will not reflect back to actual argument</a:t>
            </a:r>
            <a:endParaRPr sz="2000">
              <a:solidFill>
                <a:schemeClr val="dk1"/>
              </a:solidFill>
              <a:latin typeface="Arial"/>
              <a:ea typeface="Arial"/>
              <a:cs typeface="Arial"/>
              <a:sym typeface="Arial"/>
            </a:endParaRPr>
          </a:p>
          <a:p>
            <a:pPr marL="12700" marR="1076960" lvl="0" indent="0" algn="just" rtl="0">
              <a:lnSpc>
                <a:spcPct val="100000"/>
              </a:lnSpc>
              <a:spcBef>
                <a:spcPts val="0"/>
              </a:spcBef>
              <a:spcAft>
                <a:spcPts val="0"/>
              </a:spcAft>
              <a:buNone/>
            </a:pPr>
            <a:r>
              <a:rPr lang="en-US" sz="2000" b="1">
                <a:solidFill>
                  <a:srgbClr val="006FC0"/>
                </a:solidFill>
                <a:latin typeface="Arial"/>
                <a:ea typeface="Arial"/>
                <a:cs typeface="Arial"/>
                <a:sym typeface="Arial"/>
              </a:rPr>
              <a:t>For example (if inside function updateData() we assign myList as:  </a:t>
            </a:r>
            <a:r>
              <a:rPr lang="en-US" sz="2000" b="1">
                <a:solidFill>
                  <a:srgbClr val="FF0000"/>
                </a:solidFill>
                <a:latin typeface="Arial"/>
                <a:ea typeface="Arial"/>
                <a:cs typeface="Arial"/>
                <a:sym typeface="Arial"/>
              </a:rPr>
              <a:t>myList = 20        OR        myList = temp</a:t>
            </a:r>
            <a:endParaRPr sz="2000">
              <a:solidFill>
                <a:schemeClr val="dk1"/>
              </a:solidFill>
              <a:latin typeface="Arial"/>
              <a:ea typeface="Arial"/>
              <a:cs typeface="Arial"/>
              <a:sym typeface="Arial"/>
            </a:endParaRPr>
          </a:p>
        </p:txBody>
      </p:sp>
      <p:sp>
        <p:nvSpPr>
          <p:cNvPr id="615" name="Google Shape;615;p50"/>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616" name="Google Shape;616;p50"/>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51"/>
          <p:cNvSpPr txBox="1">
            <a:spLocks noGrp="1"/>
          </p:cNvSpPr>
          <p:nvPr>
            <p:ph type="title"/>
          </p:nvPr>
        </p:nvSpPr>
        <p:spPr>
          <a:xfrm>
            <a:off x="533400" y="76200"/>
            <a:ext cx="5502275"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Passing String to function</a:t>
            </a:r>
            <a:endParaRPr sz="4400"/>
          </a:p>
        </p:txBody>
      </p:sp>
      <p:sp>
        <p:nvSpPr>
          <p:cNvPr id="622" name="Google Shape;622;p51"/>
          <p:cNvSpPr txBox="1"/>
          <p:nvPr/>
        </p:nvSpPr>
        <p:spPr>
          <a:xfrm>
            <a:off x="691387" y="1524352"/>
            <a:ext cx="8000365" cy="4359275"/>
          </a:xfrm>
          <a:prstGeom prst="rect">
            <a:avLst/>
          </a:prstGeom>
          <a:noFill/>
          <a:ln>
            <a:noFill/>
          </a:ln>
        </p:spPr>
        <p:txBody>
          <a:bodyPr spcFirstLastPara="1" wrap="square" lIns="0" tIns="100950" rIns="0" bIns="0" anchor="t" anchorCtr="0">
            <a:spAutoFit/>
          </a:bodyPr>
          <a:lstStyle/>
          <a:p>
            <a:pPr marL="332740" marR="0" lvl="0" indent="-320675" algn="just"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Function can accept string as a parameter</a:t>
            </a:r>
            <a:endParaRPr sz="2900">
              <a:solidFill>
                <a:schemeClr val="dk1"/>
              </a:solidFill>
              <a:latin typeface="Helvetica Neue"/>
              <a:ea typeface="Helvetica Neue"/>
              <a:cs typeface="Helvetica Neue"/>
              <a:sym typeface="Helvetica Neue"/>
            </a:endParaRPr>
          </a:p>
          <a:p>
            <a:pPr marL="332740" marR="6985" lvl="0" indent="-320675" algn="just" rtl="0">
              <a:lnSpc>
                <a:spcPct val="100000"/>
              </a:lnSpc>
              <a:spcBef>
                <a:spcPts val="70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As per Python, string is immutable type, so function  can access the value of string but cannot alter the  string</a:t>
            </a:r>
            <a:endParaRPr sz="2900">
              <a:solidFill>
                <a:schemeClr val="dk1"/>
              </a:solidFill>
              <a:latin typeface="Helvetica Neue"/>
              <a:ea typeface="Helvetica Neue"/>
              <a:cs typeface="Helvetica Neue"/>
              <a:sym typeface="Helvetica Neue"/>
            </a:endParaRPr>
          </a:p>
          <a:p>
            <a:pPr marL="332740" marR="5080" lvl="0" indent="-320675" algn="just" rtl="0">
              <a:lnSpc>
                <a:spcPct val="100000"/>
              </a:lnSpc>
              <a:spcBef>
                <a:spcPts val="71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To modify string, the trick is to take another string  and concatenate the modified value of parameter  string in the newly created string.</a:t>
            </a:r>
            <a:endParaRPr sz="2900">
              <a:solidFill>
                <a:schemeClr val="dk1"/>
              </a:solidFill>
              <a:latin typeface="Helvetica Neue"/>
              <a:ea typeface="Helvetica Neue"/>
              <a:cs typeface="Helvetica Neue"/>
              <a:sym typeface="Helvetica Neue"/>
            </a:endParaRPr>
          </a:p>
          <a:p>
            <a:pPr marL="332740" marR="6350" lvl="0" indent="-320675" algn="just" rtl="0">
              <a:lnSpc>
                <a:spcPct val="100000"/>
              </a:lnSpc>
              <a:spcBef>
                <a:spcPts val="69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Let us see few examples of passing string to  function…</a:t>
            </a:r>
            <a:endParaRPr sz="2900">
              <a:solidFill>
                <a:schemeClr val="dk1"/>
              </a:solidFill>
              <a:latin typeface="Helvetica Neue"/>
              <a:ea typeface="Helvetica Neue"/>
              <a:cs typeface="Helvetica Neue"/>
              <a:sym typeface="Helvetica Neue"/>
            </a:endParaRPr>
          </a:p>
        </p:txBody>
      </p:sp>
      <p:sp>
        <p:nvSpPr>
          <p:cNvPr id="623" name="Google Shape;623;p51"/>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624" name="Google Shape;624;p51"/>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grpSp>
        <p:nvGrpSpPr>
          <p:cNvPr id="629" name="Google Shape;629;p52"/>
          <p:cNvGrpSpPr/>
          <p:nvPr/>
        </p:nvGrpSpPr>
        <p:grpSpPr>
          <a:xfrm>
            <a:off x="185928" y="1481328"/>
            <a:ext cx="7181088" cy="4779263"/>
            <a:chOff x="185928" y="1481328"/>
            <a:chExt cx="7181088" cy="4779263"/>
          </a:xfrm>
        </p:grpSpPr>
        <p:pic>
          <p:nvPicPr>
            <p:cNvPr id="630" name="Google Shape;630;p52"/>
            <p:cNvPicPr preferRelativeResize="0"/>
            <p:nvPr/>
          </p:nvPicPr>
          <p:blipFill rotWithShape="1">
            <a:blip r:embed="rId3">
              <a:alphaModFix/>
            </a:blip>
            <a:srcRect/>
            <a:stretch/>
          </p:blipFill>
          <p:spPr>
            <a:xfrm>
              <a:off x="185928" y="1481328"/>
              <a:ext cx="7065264" cy="4017264"/>
            </a:xfrm>
            <a:prstGeom prst="rect">
              <a:avLst/>
            </a:prstGeom>
            <a:noFill/>
            <a:ln>
              <a:noFill/>
            </a:ln>
          </p:spPr>
        </p:pic>
        <p:pic>
          <p:nvPicPr>
            <p:cNvPr id="631" name="Google Shape;631;p52"/>
            <p:cNvPicPr preferRelativeResize="0"/>
            <p:nvPr/>
          </p:nvPicPr>
          <p:blipFill rotWithShape="1">
            <a:blip r:embed="rId4">
              <a:alphaModFix/>
            </a:blip>
            <a:srcRect/>
            <a:stretch/>
          </p:blipFill>
          <p:spPr>
            <a:xfrm>
              <a:off x="381000" y="1676400"/>
              <a:ext cx="6477000" cy="3429000"/>
            </a:xfrm>
            <a:prstGeom prst="rect">
              <a:avLst/>
            </a:prstGeom>
            <a:noFill/>
            <a:ln>
              <a:noFill/>
            </a:ln>
          </p:spPr>
        </p:pic>
        <p:pic>
          <p:nvPicPr>
            <p:cNvPr id="632" name="Google Shape;632;p52"/>
            <p:cNvPicPr preferRelativeResize="0"/>
            <p:nvPr/>
          </p:nvPicPr>
          <p:blipFill rotWithShape="1">
            <a:blip r:embed="rId5">
              <a:alphaModFix/>
            </a:blip>
            <a:srcRect/>
            <a:stretch/>
          </p:blipFill>
          <p:spPr>
            <a:xfrm>
              <a:off x="185928" y="5138927"/>
              <a:ext cx="7181088" cy="1121664"/>
            </a:xfrm>
            <a:prstGeom prst="rect">
              <a:avLst/>
            </a:prstGeom>
            <a:noFill/>
            <a:ln>
              <a:noFill/>
            </a:ln>
          </p:spPr>
        </p:pic>
        <p:pic>
          <p:nvPicPr>
            <p:cNvPr id="633" name="Google Shape;633;p52"/>
            <p:cNvPicPr preferRelativeResize="0"/>
            <p:nvPr/>
          </p:nvPicPr>
          <p:blipFill rotWithShape="1">
            <a:blip r:embed="rId6">
              <a:alphaModFix/>
            </a:blip>
            <a:srcRect/>
            <a:stretch/>
          </p:blipFill>
          <p:spPr>
            <a:xfrm>
              <a:off x="381000" y="5334000"/>
              <a:ext cx="6593458" cy="533400"/>
            </a:xfrm>
            <a:prstGeom prst="rect">
              <a:avLst/>
            </a:prstGeom>
            <a:noFill/>
            <a:ln>
              <a:noFill/>
            </a:ln>
          </p:spPr>
        </p:pic>
      </p:grpSp>
      <p:sp>
        <p:nvSpPr>
          <p:cNvPr id="634" name="Google Shape;634;p52"/>
          <p:cNvSpPr txBox="1">
            <a:spLocks noGrp="1"/>
          </p:cNvSpPr>
          <p:nvPr>
            <p:ph type="title"/>
          </p:nvPr>
        </p:nvSpPr>
        <p:spPr>
          <a:xfrm>
            <a:off x="-528828" y="43934"/>
            <a:ext cx="7780020" cy="751488"/>
          </a:xfrm>
          <a:prstGeom prst="rect">
            <a:avLst/>
          </a:prstGeom>
          <a:noFill/>
          <a:ln>
            <a:noFill/>
          </a:ln>
        </p:spPr>
        <p:txBody>
          <a:bodyPr spcFirstLastPara="1" wrap="square" lIns="0" tIns="12700" rIns="0" bIns="0" anchor="ctr" anchorCtr="0">
            <a:spAutoFit/>
          </a:bodyPr>
          <a:lstStyle/>
          <a:p>
            <a:pPr marL="2181860" marR="5080" lvl="0" indent="-2169795" algn="ctr" rtl="0">
              <a:lnSpc>
                <a:spcPct val="100000"/>
              </a:lnSpc>
              <a:spcBef>
                <a:spcPts val="0"/>
              </a:spcBef>
              <a:spcAft>
                <a:spcPts val="0"/>
              </a:spcAft>
              <a:buNone/>
            </a:pPr>
            <a:r>
              <a:rPr lang="en-US" sz="2400" b="1">
                <a:latin typeface="Arial"/>
                <a:ea typeface="Arial"/>
                <a:cs typeface="Arial"/>
                <a:sym typeface="Arial"/>
              </a:rPr>
              <a:t>Passing string to function and </a:t>
            </a:r>
            <a:br>
              <a:rPr lang="en-US" sz="2400" b="1">
                <a:latin typeface="Arial"/>
                <a:ea typeface="Arial"/>
                <a:cs typeface="Arial"/>
                <a:sym typeface="Arial"/>
              </a:rPr>
            </a:br>
            <a:r>
              <a:rPr lang="en-US" sz="2400" b="1">
                <a:latin typeface="Arial"/>
                <a:ea typeface="Arial"/>
                <a:cs typeface="Arial"/>
                <a:sym typeface="Arial"/>
              </a:rPr>
              <a:t>count how  many vowels in it</a:t>
            </a:r>
            <a:endParaRPr sz="2400">
              <a:latin typeface="Arial"/>
              <a:ea typeface="Arial"/>
              <a:cs typeface="Arial"/>
              <a:sym typeface="Arial"/>
            </a:endParaRPr>
          </a:p>
        </p:txBody>
      </p:sp>
      <p:sp>
        <p:nvSpPr>
          <p:cNvPr id="635" name="Google Shape;635;p52"/>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636" name="Google Shape;636;p52"/>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53"/>
          <p:cNvSpPr txBox="1">
            <a:spLocks noGrp="1"/>
          </p:cNvSpPr>
          <p:nvPr>
            <p:ph type="title"/>
          </p:nvPr>
        </p:nvSpPr>
        <p:spPr>
          <a:xfrm>
            <a:off x="-685800" y="-76200"/>
            <a:ext cx="7654925" cy="997068"/>
          </a:xfrm>
          <a:prstGeom prst="rect">
            <a:avLst/>
          </a:prstGeom>
          <a:noFill/>
          <a:ln>
            <a:noFill/>
          </a:ln>
        </p:spPr>
        <p:txBody>
          <a:bodyPr spcFirstLastPara="1" wrap="square" lIns="0" tIns="12050" rIns="0" bIns="0" anchor="ctr" anchorCtr="0">
            <a:spAutoFit/>
          </a:bodyPr>
          <a:lstStyle/>
          <a:p>
            <a:pPr marL="12700" marR="5080" lvl="0" indent="0" algn="ctr" rtl="0">
              <a:lnSpc>
                <a:spcPct val="100000"/>
              </a:lnSpc>
              <a:spcBef>
                <a:spcPts val="0"/>
              </a:spcBef>
              <a:spcAft>
                <a:spcPts val="0"/>
              </a:spcAft>
              <a:buNone/>
            </a:pPr>
            <a:r>
              <a:rPr lang="en-US" sz="3200"/>
              <a:t>Program to count how many times </a:t>
            </a:r>
            <a:br>
              <a:rPr lang="en-US" sz="3200"/>
            </a:br>
            <a:r>
              <a:rPr lang="en-US" sz="3200"/>
              <a:t>any  character is present in string</a:t>
            </a:r>
            <a:endParaRPr sz="3200"/>
          </a:p>
        </p:txBody>
      </p:sp>
      <p:grpSp>
        <p:nvGrpSpPr>
          <p:cNvPr id="642" name="Google Shape;642;p53"/>
          <p:cNvGrpSpPr/>
          <p:nvPr/>
        </p:nvGrpSpPr>
        <p:grpSpPr>
          <a:xfrm>
            <a:off x="262127" y="1481327"/>
            <a:ext cx="7674864" cy="4855464"/>
            <a:chOff x="262127" y="1481327"/>
            <a:chExt cx="7674864" cy="4855464"/>
          </a:xfrm>
        </p:grpSpPr>
        <p:pic>
          <p:nvPicPr>
            <p:cNvPr id="643" name="Google Shape;643;p53"/>
            <p:cNvPicPr preferRelativeResize="0"/>
            <p:nvPr/>
          </p:nvPicPr>
          <p:blipFill rotWithShape="1">
            <a:blip r:embed="rId3">
              <a:alphaModFix/>
            </a:blip>
            <a:srcRect/>
            <a:stretch/>
          </p:blipFill>
          <p:spPr>
            <a:xfrm>
              <a:off x="262127" y="1481327"/>
              <a:ext cx="7674864" cy="3858767"/>
            </a:xfrm>
            <a:prstGeom prst="rect">
              <a:avLst/>
            </a:prstGeom>
            <a:noFill/>
            <a:ln>
              <a:noFill/>
            </a:ln>
          </p:spPr>
        </p:pic>
        <p:pic>
          <p:nvPicPr>
            <p:cNvPr id="644" name="Google Shape;644;p53"/>
            <p:cNvPicPr preferRelativeResize="0"/>
            <p:nvPr/>
          </p:nvPicPr>
          <p:blipFill rotWithShape="1">
            <a:blip r:embed="rId4">
              <a:alphaModFix/>
            </a:blip>
            <a:srcRect/>
            <a:stretch/>
          </p:blipFill>
          <p:spPr>
            <a:xfrm>
              <a:off x="457199" y="1676399"/>
              <a:ext cx="7086600" cy="3270504"/>
            </a:xfrm>
            <a:prstGeom prst="rect">
              <a:avLst/>
            </a:prstGeom>
            <a:noFill/>
            <a:ln>
              <a:noFill/>
            </a:ln>
          </p:spPr>
        </p:pic>
        <p:pic>
          <p:nvPicPr>
            <p:cNvPr id="645" name="Google Shape;645;p53"/>
            <p:cNvPicPr preferRelativeResize="0"/>
            <p:nvPr/>
          </p:nvPicPr>
          <p:blipFill rotWithShape="1">
            <a:blip r:embed="rId5">
              <a:alphaModFix/>
            </a:blip>
            <a:srcRect/>
            <a:stretch/>
          </p:blipFill>
          <p:spPr>
            <a:xfrm>
              <a:off x="291083" y="4986527"/>
              <a:ext cx="6874764" cy="1350264"/>
            </a:xfrm>
            <a:prstGeom prst="rect">
              <a:avLst/>
            </a:prstGeom>
            <a:noFill/>
            <a:ln>
              <a:noFill/>
            </a:ln>
          </p:spPr>
        </p:pic>
        <p:pic>
          <p:nvPicPr>
            <p:cNvPr id="646" name="Google Shape;646;p53"/>
            <p:cNvPicPr preferRelativeResize="0"/>
            <p:nvPr/>
          </p:nvPicPr>
          <p:blipFill rotWithShape="1">
            <a:blip r:embed="rId6">
              <a:alphaModFix/>
            </a:blip>
            <a:srcRect/>
            <a:stretch/>
          </p:blipFill>
          <p:spPr>
            <a:xfrm>
              <a:off x="485775" y="5181599"/>
              <a:ext cx="6286500" cy="762000"/>
            </a:xfrm>
            <a:prstGeom prst="rect">
              <a:avLst/>
            </a:prstGeom>
            <a:noFill/>
            <a:ln>
              <a:noFill/>
            </a:ln>
          </p:spPr>
        </p:pic>
      </p:grpSp>
      <p:sp>
        <p:nvSpPr>
          <p:cNvPr id="647" name="Google Shape;647;p53"/>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648" name="Google Shape;648;p53"/>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grpSp>
        <p:nvGrpSpPr>
          <p:cNvPr id="653" name="Google Shape;653;p54"/>
          <p:cNvGrpSpPr/>
          <p:nvPr/>
        </p:nvGrpSpPr>
        <p:grpSpPr>
          <a:xfrm>
            <a:off x="414527" y="1328928"/>
            <a:ext cx="8284464" cy="4855463"/>
            <a:chOff x="414527" y="1328928"/>
            <a:chExt cx="8284464" cy="4855463"/>
          </a:xfrm>
        </p:grpSpPr>
        <p:pic>
          <p:nvPicPr>
            <p:cNvPr id="654" name="Google Shape;654;p54"/>
            <p:cNvPicPr preferRelativeResize="0"/>
            <p:nvPr/>
          </p:nvPicPr>
          <p:blipFill rotWithShape="1">
            <a:blip r:embed="rId3">
              <a:alphaModFix/>
            </a:blip>
            <a:srcRect/>
            <a:stretch/>
          </p:blipFill>
          <p:spPr>
            <a:xfrm>
              <a:off x="414527" y="1328928"/>
              <a:ext cx="8284464" cy="4148328"/>
            </a:xfrm>
            <a:prstGeom prst="rect">
              <a:avLst/>
            </a:prstGeom>
            <a:noFill/>
            <a:ln>
              <a:noFill/>
            </a:ln>
          </p:spPr>
        </p:pic>
        <p:pic>
          <p:nvPicPr>
            <p:cNvPr id="655" name="Google Shape;655;p54"/>
            <p:cNvPicPr preferRelativeResize="0"/>
            <p:nvPr/>
          </p:nvPicPr>
          <p:blipFill rotWithShape="1">
            <a:blip r:embed="rId4">
              <a:alphaModFix/>
            </a:blip>
            <a:srcRect/>
            <a:stretch/>
          </p:blipFill>
          <p:spPr>
            <a:xfrm>
              <a:off x="609599" y="1524000"/>
              <a:ext cx="7696200" cy="3560699"/>
            </a:xfrm>
            <a:prstGeom prst="rect">
              <a:avLst/>
            </a:prstGeom>
            <a:noFill/>
            <a:ln>
              <a:noFill/>
            </a:ln>
          </p:spPr>
        </p:pic>
        <p:pic>
          <p:nvPicPr>
            <p:cNvPr id="656" name="Google Shape;656;p54"/>
            <p:cNvPicPr preferRelativeResize="0"/>
            <p:nvPr/>
          </p:nvPicPr>
          <p:blipFill rotWithShape="1">
            <a:blip r:embed="rId5">
              <a:alphaModFix/>
            </a:blip>
            <a:srcRect/>
            <a:stretch/>
          </p:blipFill>
          <p:spPr>
            <a:xfrm>
              <a:off x="490727" y="5062727"/>
              <a:ext cx="7065264" cy="1121664"/>
            </a:xfrm>
            <a:prstGeom prst="rect">
              <a:avLst/>
            </a:prstGeom>
            <a:noFill/>
            <a:ln>
              <a:noFill/>
            </a:ln>
          </p:spPr>
        </p:pic>
        <p:pic>
          <p:nvPicPr>
            <p:cNvPr id="657" name="Google Shape;657;p54"/>
            <p:cNvPicPr preferRelativeResize="0"/>
            <p:nvPr/>
          </p:nvPicPr>
          <p:blipFill rotWithShape="1">
            <a:blip r:embed="rId6">
              <a:alphaModFix/>
            </a:blip>
            <a:srcRect/>
            <a:stretch/>
          </p:blipFill>
          <p:spPr>
            <a:xfrm>
              <a:off x="685800" y="5257800"/>
              <a:ext cx="6477000" cy="533400"/>
            </a:xfrm>
            <a:prstGeom prst="rect">
              <a:avLst/>
            </a:prstGeom>
            <a:noFill/>
            <a:ln>
              <a:noFill/>
            </a:ln>
          </p:spPr>
        </p:pic>
      </p:grpSp>
      <p:sp>
        <p:nvSpPr>
          <p:cNvPr id="658" name="Google Shape;658;p54"/>
          <p:cNvSpPr txBox="1">
            <a:spLocks noGrp="1"/>
          </p:cNvSpPr>
          <p:nvPr>
            <p:ph type="title"/>
          </p:nvPr>
        </p:nvSpPr>
        <p:spPr>
          <a:xfrm>
            <a:off x="731621" y="200659"/>
            <a:ext cx="7925434" cy="1002030"/>
          </a:xfrm>
          <a:prstGeom prst="rect">
            <a:avLst/>
          </a:prstGeom>
          <a:noFill/>
          <a:ln>
            <a:noFill/>
          </a:ln>
        </p:spPr>
        <p:txBody>
          <a:bodyPr spcFirstLastPara="1" wrap="square" lIns="0" tIns="12700" rIns="0" bIns="0" anchor="ctr" anchorCtr="0">
            <a:spAutoFit/>
          </a:bodyPr>
          <a:lstStyle/>
          <a:p>
            <a:pPr marL="925830" marR="5080" lvl="0" indent="-913765" algn="ctr" rtl="0">
              <a:lnSpc>
                <a:spcPct val="100000"/>
              </a:lnSpc>
              <a:spcBef>
                <a:spcPts val="0"/>
              </a:spcBef>
              <a:spcAft>
                <a:spcPts val="0"/>
              </a:spcAft>
              <a:buNone/>
            </a:pPr>
            <a:r>
              <a:rPr lang="en-US" sz="3200" b="1">
                <a:latin typeface="Arial"/>
                <a:ea typeface="Arial"/>
                <a:cs typeface="Arial"/>
                <a:sym typeface="Arial"/>
              </a:rPr>
              <a:t>Program to Jumble the given string by passing  it to function using temporary string</a:t>
            </a:r>
            <a:endParaRPr sz="3200">
              <a:latin typeface="Arial"/>
              <a:ea typeface="Arial"/>
              <a:cs typeface="Arial"/>
              <a:sym typeface="Arial"/>
            </a:endParaRPr>
          </a:p>
        </p:txBody>
      </p:sp>
      <p:sp>
        <p:nvSpPr>
          <p:cNvPr id="659" name="Google Shape;659;p54"/>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660" name="Google Shape;660;p54"/>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55"/>
          <p:cNvSpPr txBox="1">
            <a:spLocks noGrp="1"/>
          </p:cNvSpPr>
          <p:nvPr>
            <p:ph type="title"/>
          </p:nvPr>
        </p:nvSpPr>
        <p:spPr>
          <a:xfrm>
            <a:off x="304800" y="-10160"/>
            <a:ext cx="4885055"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Passing List to function</a:t>
            </a:r>
            <a:endParaRPr sz="4400"/>
          </a:p>
        </p:txBody>
      </p:sp>
      <p:sp>
        <p:nvSpPr>
          <p:cNvPr id="666" name="Google Shape;666;p55"/>
          <p:cNvSpPr txBox="1"/>
          <p:nvPr/>
        </p:nvSpPr>
        <p:spPr>
          <a:xfrm>
            <a:off x="691387" y="1524352"/>
            <a:ext cx="7835265" cy="3475354"/>
          </a:xfrm>
          <a:prstGeom prst="rect">
            <a:avLst/>
          </a:prstGeom>
          <a:noFill/>
          <a:ln>
            <a:noFill/>
          </a:ln>
        </p:spPr>
        <p:txBody>
          <a:bodyPr spcFirstLastPara="1" wrap="square" lIns="0" tIns="100950" rIns="0" bIns="0" anchor="t" anchorCtr="0">
            <a:spAutoFit/>
          </a:bodyPr>
          <a:lstStyle/>
          <a:p>
            <a:pPr marL="332740" marR="0" lvl="0" indent="-320675" algn="l"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We can also pass List to any function as parameter</a:t>
            </a:r>
            <a:endParaRPr sz="2900">
              <a:solidFill>
                <a:schemeClr val="dk1"/>
              </a:solidFill>
              <a:latin typeface="Helvetica Neue"/>
              <a:ea typeface="Helvetica Neue"/>
              <a:cs typeface="Helvetica Neue"/>
              <a:sym typeface="Helvetica Neue"/>
            </a:endParaRPr>
          </a:p>
          <a:p>
            <a:pPr marL="332740" marR="5080" lvl="0" indent="-320675" algn="l" rtl="0">
              <a:lnSpc>
                <a:spcPct val="100000"/>
              </a:lnSpc>
              <a:spcBef>
                <a:spcPts val="70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Due to the mutable nature of List, function can alter  the list of values in place.</a:t>
            </a:r>
            <a:endParaRPr sz="2900">
              <a:solidFill>
                <a:schemeClr val="dk1"/>
              </a:solidFill>
              <a:latin typeface="Helvetica Neue"/>
              <a:ea typeface="Helvetica Neue"/>
              <a:cs typeface="Helvetica Neue"/>
              <a:sym typeface="Helvetica Neue"/>
            </a:endParaRPr>
          </a:p>
          <a:p>
            <a:pPr marL="332740" marR="58419" lvl="0" indent="-320675" algn="l" rtl="0">
              <a:lnSpc>
                <a:spcPct val="100000"/>
              </a:lnSpc>
              <a:spcBef>
                <a:spcPts val="70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It is mostly used in data structure like sorting, stack,  queue etc.</a:t>
            </a:r>
            <a:endParaRPr sz="2900">
              <a:solidFill>
                <a:schemeClr val="dk1"/>
              </a:solidFill>
              <a:latin typeface="Helvetica Neue"/>
              <a:ea typeface="Helvetica Neue"/>
              <a:cs typeface="Helvetica Neue"/>
              <a:sym typeface="Helvetica Neue"/>
            </a:endParaRPr>
          </a:p>
          <a:p>
            <a:pPr marL="332740" marR="1002030" lvl="0" indent="-320675" algn="l" rtl="0">
              <a:lnSpc>
                <a:spcPct val="100000"/>
              </a:lnSpc>
              <a:spcBef>
                <a:spcPts val="70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Let us see how to pass List to function by few  examples:</a:t>
            </a:r>
            <a:endParaRPr sz="2900">
              <a:solidFill>
                <a:schemeClr val="dk1"/>
              </a:solidFill>
              <a:latin typeface="Helvetica Neue"/>
              <a:ea typeface="Helvetica Neue"/>
              <a:cs typeface="Helvetica Neue"/>
              <a:sym typeface="Helvetica Neue"/>
            </a:endParaRPr>
          </a:p>
        </p:txBody>
      </p:sp>
      <p:sp>
        <p:nvSpPr>
          <p:cNvPr id="667" name="Google Shape;667;p55"/>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668" name="Google Shape;668;p55"/>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56"/>
          <p:cNvSpPr txBox="1">
            <a:spLocks noGrp="1"/>
          </p:cNvSpPr>
          <p:nvPr>
            <p:ph type="title"/>
          </p:nvPr>
        </p:nvSpPr>
        <p:spPr>
          <a:xfrm>
            <a:off x="-228600" y="15240"/>
            <a:ext cx="6727825" cy="997068"/>
          </a:xfrm>
          <a:prstGeom prst="rect">
            <a:avLst/>
          </a:prstGeom>
          <a:noFill/>
          <a:ln>
            <a:noFill/>
          </a:ln>
        </p:spPr>
        <p:txBody>
          <a:bodyPr spcFirstLastPara="1" wrap="square" lIns="0" tIns="12050" rIns="0" bIns="0" anchor="ctr" anchorCtr="0">
            <a:spAutoFit/>
          </a:bodyPr>
          <a:lstStyle/>
          <a:p>
            <a:pPr marL="1419225" marR="5080" lvl="0" indent="-1407160" algn="ctr" rtl="0">
              <a:lnSpc>
                <a:spcPct val="100000"/>
              </a:lnSpc>
              <a:spcBef>
                <a:spcPts val="0"/>
              </a:spcBef>
              <a:spcAft>
                <a:spcPts val="0"/>
              </a:spcAft>
              <a:buNone/>
            </a:pPr>
            <a:r>
              <a:rPr lang="en-US" sz="3200" b="1">
                <a:latin typeface="Arial"/>
                <a:ea typeface="Arial"/>
                <a:cs typeface="Arial"/>
                <a:sym typeface="Arial"/>
              </a:rPr>
              <a:t>Passing list to function, and just  double each value</a:t>
            </a:r>
            <a:endParaRPr sz="3200">
              <a:latin typeface="Arial"/>
              <a:ea typeface="Arial"/>
              <a:cs typeface="Arial"/>
              <a:sym typeface="Arial"/>
            </a:endParaRPr>
          </a:p>
        </p:txBody>
      </p:sp>
      <p:grpSp>
        <p:nvGrpSpPr>
          <p:cNvPr id="674" name="Google Shape;674;p56"/>
          <p:cNvGrpSpPr/>
          <p:nvPr/>
        </p:nvGrpSpPr>
        <p:grpSpPr>
          <a:xfrm>
            <a:off x="519683" y="1746486"/>
            <a:ext cx="8302752" cy="3828305"/>
            <a:chOff x="519683" y="1746486"/>
            <a:chExt cx="8302752" cy="3828305"/>
          </a:xfrm>
        </p:grpSpPr>
        <p:pic>
          <p:nvPicPr>
            <p:cNvPr id="675" name="Google Shape;675;p56"/>
            <p:cNvPicPr preferRelativeResize="0"/>
            <p:nvPr/>
          </p:nvPicPr>
          <p:blipFill rotWithShape="1">
            <a:blip r:embed="rId3">
              <a:alphaModFix/>
            </a:blip>
            <a:srcRect/>
            <a:stretch/>
          </p:blipFill>
          <p:spPr>
            <a:xfrm>
              <a:off x="693419" y="1746486"/>
              <a:ext cx="7868412" cy="3029747"/>
            </a:xfrm>
            <a:prstGeom prst="rect">
              <a:avLst/>
            </a:prstGeom>
            <a:noFill/>
            <a:ln>
              <a:noFill/>
            </a:ln>
          </p:spPr>
        </p:pic>
        <p:pic>
          <p:nvPicPr>
            <p:cNvPr id="676" name="Google Shape;676;p56"/>
            <p:cNvPicPr preferRelativeResize="0"/>
            <p:nvPr/>
          </p:nvPicPr>
          <p:blipFill rotWithShape="1">
            <a:blip r:embed="rId4">
              <a:alphaModFix/>
            </a:blip>
            <a:srcRect/>
            <a:stretch/>
          </p:blipFill>
          <p:spPr>
            <a:xfrm>
              <a:off x="838199" y="1904999"/>
              <a:ext cx="7353046" cy="2514600"/>
            </a:xfrm>
            <a:prstGeom prst="rect">
              <a:avLst/>
            </a:prstGeom>
            <a:noFill/>
            <a:ln>
              <a:noFill/>
            </a:ln>
          </p:spPr>
        </p:pic>
        <p:pic>
          <p:nvPicPr>
            <p:cNvPr id="677" name="Google Shape;677;p56"/>
            <p:cNvPicPr preferRelativeResize="0"/>
            <p:nvPr/>
          </p:nvPicPr>
          <p:blipFill rotWithShape="1">
            <a:blip r:embed="rId5">
              <a:alphaModFix/>
            </a:blip>
            <a:srcRect/>
            <a:stretch/>
          </p:blipFill>
          <p:spPr>
            <a:xfrm>
              <a:off x="519683" y="4681727"/>
              <a:ext cx="8302752" cy="893064"/>
            </a:xfrm>
            <a:prstGeom prst="rect">
              <a:avLst/>
            </a:prstGeom>
            <a:noFill/>
            <a:ln>
              <a:noFill/>
            </a:ln>
          </p:spPr>
        </p:pic>
        <p:pic>
          <p:nvPicPr>
            <p:cNvPr id="678" name="Google Shape;678;p56"/>
            <p:cNvPicPr preferRelativeResize="0"/>
            <p:nvPr/>
          </p:nvPicPr>
          <p:blipFill rotWithShape="1">
            <a:blip r:embed="rId6">
              <a:alphaModFix/>
            </a:blip>
            <a:srcRect/>
            <a:stretch/>
          </p:blipFill>
          <p:spPr>
            <a:xfrm>
              <a:off x="714374" y="4876800"/>
              <a:ext cx="7715250" cy="304800"/>
            </a:xfrm>
            <a:prstGeom prst="rect">
              <a:avLst/>
            </a:prstGeom>
            <a:noFill/>
            <a:ln>
              <a:noFill/>
            </a:ln>
          </p:spPr>
        </p:pic>
      </p:grpSp>
      <p:sp>
        <p:nvSpPr>
          <p:cNvPr id="679" name="Google Shape;679;p5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680" name="Google Shape;680;p56"/>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57"/>
          <p:cNvSpPr txBox="1">
            <a:spLocks noGrp="1"/>
          </p:cNvSpPr>
          <p:nvPr>
            <p:ph type="title"/>
          </p:nvPr>
        </p:nvSpPr>
        <p:spPr>
          <a:xfrm>
            <a:off x="-228600" y="61555"/>
            <a:ext cx="7317105" cy="873957"/>
          </a:xfrm>
          <a:prstGeom prst="rect">
            <a:avLst/>
          </a:prstGeom>
          <a:noFill/>
          <a:ln>
            <a:noFill/>
          </a:ln>
        </p:spPr>
        <p:txBody>
          <a:bodyPr spcFirstLastPara="1" wrap="square" lIns="0" tIns="12050" rIns="0" bIns="0" anchor="ctr" anchorCtr="0">
            <a:spAutoFit/>
          </a:bodyPr>
          <a:lstStyle/>
          <a:p>
            <a:pPr marL="12700" marR="5080" lvl="0" indent="65405" algn="ctr" rtl="0">
              <a:lnSpc>
                <a:spcPct val="100000"/>
              </a:lnSpc>
              <a:spcBef>
                <a:spcPts val="0"/>
              </a:spcBef>
              <a:spcAft>
                <a:spcPts val="0"/>
              </a:spcAft>
              <a:buNone/>
            </a:pPr>
            <a:r>
              <a:rPr lang="en-US"/>
              <a:t>Passing list to function to double the  odd values and half the even values</a:t>
            </a:r>
            <a:endParaRPr/>
          </a:p>
        </p:txBody>
      </p:sp>
      <p:grpSp>
        <p:nvGrpSpPr>
          <p:cNvPr id="686" name="Google Shape;686;p57"/>
          <p:cNvGrpSpPr/>
          <p:nvPr/>
        </p:nvGrpSpPr>
        <p:grpSpPr>
          <a:xfrm>
            <a:off x="414527" y="1481327"/>
            <a:ext cx="8132064" cy="4267200"/>
            <a:chOff x="414527" y="1481327"/>
            <a:chExt cx="8132064" cy="4267200"/>
          </a:xfrm>
        </p:grpSpPr>
        <p:pic>
          <p:nvPicPr>
            <p:cNvPr id="687" name="Google Shape;687;p57"/>
            <p:cNvPicPr preferRelativeResize="0"/>
            <p:nvPr/>
          </p:nvPicPr>
          <p:blipFill rotWithShape="1">
            <a:blip r:embed="rId3">
              <a:alphaModFix/>
            </a:blip>
            <a:srcRect/>
            <a:stretch/>
          </p:blipFill>
          <p:spPr>
            <a:xfrm>
              <a:off x="414527" y="1481327"/>
              <a:ext cx="7217664" cy="3700272"/>
            </a:xfrm>
            <a:prstGeom prst="rect">
              <a:avLst/>
            </a:prstGeom>
            <a:noFill/>
            <a:ln>
              <a:noFill/>
            </a:ln>
          </p:spPr>
        </p:pic>
        <p:pic>
          <p:nvPicPr>
            <p:cNvPr id="688" name="Google Shape;688;p57"/>
            <p:cNvPicPr preferRelativeResize="0"/>
            <p:nvPr/>
          </p:nvPicPr>
          <p:blipFill rotWithShape="1">
            <a:blip r:embed="rId4">
              <a:alphaModFix/>
            </a:blip>
            <a:srcRect/>
            <a:stretch/>
          </p:blipFill>
          <p:spPr>
            <a:xfrm>
              <a:off x="609599" y="1676399"/>
              <a:ext cx="6629400" cy="3111754"/>
            </a:xfrm>
            <a:prstGeom prst="rect">
              <a:avLst/>
            </a:prstGeom>
            <a:noFill/>
            <a:ln>
              <a:noFill/>
            </a:ln>
          </p:spPr>
        </p:pic>
        <p:pic>
          <p:nvPicPr>
            <p:cNvPr id="689" name="Google Shape;689;p57"/>
            <p:cNvPicPr preferRelativeResize="0"/>
            <p:nvPr/>
          </p:nvPicPr>
          <p:blipFill rotWithShape="1">
            <a:blip r:embed="rId5">
              <a:alphaModFix/>
            </a:blip>
            <a:srcRect/>
            <a:stretch/>
          </p:blipFill>
          <p:spPr>
            <a:xfrm>
              <a:off x="434339" y="4910327"/>
              <a:ext cx="8112252" cy="838200"/>
            </a:xfrm>
            <a:prstGeom prst="rect">
              <a:avLst/>
            </a:prstGeom>
            <a:noFill/>
            <a:ln>
              <a:noFill/>
            </a:ln>
          </p:spPr>
        </p:pic>
        <p:pic>
          <p:nvPicPr>
            <p:cNvPr id="690" name="Google Shape;690;p57"/>
            <p:cNvPicPr preferRelativeResize="0"/>
            <p:nvPr/>
          </p:nvPicPr>
          <p:blipFill rotWithShape="1">
            <a:blip r:embed="rId6">
              <a:alphaModFix/>
            </a:blip>
            <a:srcRect/>
            <a:stretch/>
          </p:blipFill>
          <p:spPr>
            <a:xfrm>
              <a:off x="630377" y="5105463"/>
              <a:ext cx="7522972" cy="250761"/>
            </a:xfrm>
            <a:prstGeom prst="rect">
              <a:avLst/>
            </a:prstGeom>
            <a:noFill/>
            <a:ln>
              <a:noFill/>
            </a:ln>
          </p:spPr>
        </p:pic>
      </p:grpSp>
      <p:sp>
        <p:nvSpPr>
          <p:cNvPr id="691" name="Google Shape;691;p57"/>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692" name="Google Shape;692;p57"/>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grpSp>
        <p:nvGrpSpPr>
          <p:cNvPr id="697" name="Google Shape;697;p58"/>
          <p:cNvGrpSpPr/>
          <p:nvPr/>
        </p:nvGrpSpPr>
        <p:grpSpPr>
          <a:xfrm>
            <a:off x="262127" y="1328928"/>
            <a:ext cx="8820912" cy="5300471"/>
            <a:chOff x="262127" y="1328928"/>
            <a:chExt cx="8820912" cy="5300471"/>
          </a:xfrm>
        </p:grpSpPr>
        <p:pic>
          <p:nvPicPr>
            <p:cNvPr id="698" name="Google Shape;698;p58"/>
            <p:cNvPicPr preferRelativeResize="0"/>
            <p:nvPr/>
          </p:nvPicPr>
          <p:blipFill rotWithShape="1">
            <a:blip r:embed="rId3">
              <a:alphaModFix/>
            </a:blip>
            <a:srcRect/>
            <a:stretch/>
          </p:blipFill>
          <p:spPr>
            <a:xfrm>
              <a:off x="262127" y="1328928"/>
              <a:ext cx="8820912" cy="4245864"/>
            </a:xfrm>
            <a:prstGeom prst="rect">
              <a:avLst/>
            </a:prstGeom>
            <a:noFill/>
            <a:ln>
              <a:noFill/>
            </a:ln>
          </p:spPr>
        </p:pic>
        <p:pic>
          <p:nvPicPr>
            <p:cNvPr id="699" name="Google Shape;699;p58"/>
            <p:cNvPicPr preferRelativeResize="0"/>
            <p:nvPr/>
          </p:nvPicPr>
          <p:blipFill rotWithShape="1">
            <a:blip r:embed="rId4">
              <a:alphaModFix/>
            </a:blip>
            <a:srcRect/>
            <a:stretch/>
          </p:blipFill>
          <p:spPr>
            <a:xfrm>
              <a:off x="457199" y="1524000"/>
              <a:ext cx="8233536" cy="3657600"/>
            </a:xfrm>
            <a:prstGeom prst="rect">
              <a:avLst/>
            </a:prstGeom>
            <a:noFill/>
            <a:ln>
              <a:noFill/>
            </a:ln>
          </p:spPr>
        </p:pic>
        <p:pic>
          <p:nvPicPr>
            <p:cNvPr id="700" name="Google Shape;700;p58"/>
            <p:cNvPicPr preferRelativeResize="0"/>
            <p:nvPr/>
          </p:nvPicPr>
          <p:blipFill rotWithShape="1">
            <a:blip r:embed="rId5">
              <a:alphaModFix/>
            </a:blip>
            <a:srcRect/>
            <a:stretch/>
          </p:blipFill>
          <p:spPr>
            <a:xfrm>
              <a:off x="5405627" y="5178551"/>
              <a:ext cx="3677412" cy="1450848"/>
            </a:xfrm>
            <a:prstGeom prst="rect">
              <a:avLst/>
            </a:prstGeom>
            <a:noFill/>
            <a:ln>
              <a:noFill/>
            </a:ln>
          </p:spPr>
        </p:pic>
        <p:pic>
          <p:nvPicPr>
            <p:cNvPr id="701" name="Google Shape;701;p58"/>
            <p:cNvPicPr preferRelativeResize="0"/>
            <p:nvPr/>
          </p:nvPicPr>
          <p:blipFill rotWithShape="1">
            <a:blip r:embed="rId6">
              <a:alphaModFix/>
            </a:blip>
            <a:srcRect/>
            <a:stretch/>
          </p:blipFill>
          <p:spPr>
            <a:xfrm>
              <a:off x="5600445" y="5374043"/>
              <a:ext cx="3090291" cy="862012"/>
            </a:xfrm>
            <a:prstGeom prst="rect">
              <a:avLst/>
            </a:prstGeom>
            <a:noFill/>
            <a:ln>
              <a:noFill/>
            </a:ln>
          </p:spPr>
        </p:pic>
      </p:grpSp>
      <p:sp>
        <p:nvSpPr>
          <p:cNvPr id="702" name="Google Shape;702;p58"/>
          <p:cNvSpPr txBox="1">
            <a:spLocks noGrp="1"/>
          </p:cNvSpPr>
          <p:nvPr>
            <p:ph type="title"/>
          </p:nvPr>
        </p:nvSpPr>
        <p:spPr>
          <a:xfrm>
            <a:off x="0" y="0"/>
            <a:ext cx="6477000" cy="838200"/>
          </a:xfrm>
          <a:prstGeom prst="rect">
            <a:avLst/>
          </a:prstGeom>
          <a:noFill/>
          <a:ln>
            <a:noFill/>
          </a:ln>
        </p:spPr>
        <p:txBody>
          <a:bodyPr spcFirstLastPara="1" wrap="square" lIns="0" tIns="12050" rIns="0" bIns="0" anchor="ctr" anchorCtr="0">
            <a:spAutoFit/>
          </a:bodyPr>
          <a:lstStyle/>
          <a:p>
            <a:pPr marL="247015" marR="5080" lvl="0" indent="0" algn="ctr" rtl="0">
              <a:lnSpc>
                <a:spcPct val="100000"/>
              </a:lnSpc>
              <a:spcBef>
                <a:spcPts val="0"/>
              </a:spcBef>
              <a:spcAft>
                <a:spcPts val="0"/>
              </a:spcAft>
              <a:buNone/>
            </a:pPr>
            <a:r>
              <a:rPr lang="en-US"/>
              <a:t>Passing nested list to function and print all those values  which are at diagonal position in the form of matrix</a:t>
            </a:r>
            <a:endParaRPr/>
          </a:p>
        </p:txBody>
      </p:sp>
      <p:sp>
        <p:nvSpPr>
          <p:cNvPr id="703" name="Google Shape;703;p58"/>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704" name="Google Shape;704;p58"/>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59"/>
          <p:cNvSpPr txBox="1">
            <a:spLocks noGrp="1"/>
          </p:cNvSpPr>
          <p:nvPr>
            <p:ph type="title"/>
          </p:nvPr>
        </p:nvSpPr>
        <p:spPr>
          <a:xfrm>
            <a:off x="0" y="0"/>
            <a:ext cx="6477000" cy="838200"/>
          </a:xfrm>
          <a:prstGeom prst="rect">
            <a:avLst/>
          </a:prstGeom>
          <a:noFill/>
          <a:ln>
            <a:noFill/>
          </a:ln>
        </p:spPr>
        <p:txBody>
          <a:bodyPr spcFirstLastPara="1" wrap="square" lIns="0" tIns="12050" rIns="0" bIns="0" anchor="ctr" anchorCtr="0">
            <a:spAutoFit/>
          </a:bodyPr>
          <a:lstStyle/>
          <a:p>
            <a:pPr marL="247015" marR="5080" lvl="0" indent="0" algn="ctr" rtl="0">
              <a:lnSpc>
                <a:spcPct val="100000"/>
              </a:lnSpc>
              <a:spcBef>
                <a:spcPts val="0"/>
              </a:spcBef>
              <a:spcAft>
                <a:spcPts val="0"/>
              </a:spcAft>
              <a:buNone/>
            </a:pPr>
            <a:r>
              <a:rPr lang="en-US"/>
              <a:t>Passing list to function to calculate sum and average of  all numbers and return it in the form of tuple</a:t>
            </a:r>
            <a:endParaRPr/>
          </a:p>
        </p:txBody>
      </p:sp>
      <p:pic>
        <p:nvPicPr>
          <p:cNvPr id="710" name="Google Shape;710;p59"/>
          <p:cNvPicPr preferRelativeResize="0"/>
          <p:nvPr/>
        </p:nvPicPr>
        <p:blipFill rotWithShape="1">
          <a:blip r:embed="rId3">
            <a:alphaModFix/>
          </a:blip>
          <a:srcRect/>
          <a:stretch/>
        </p:blipFill>
        <p:spPr>
          <a:xfrm>
            <a:off x="286808" y="1676400"/>
            <a:ext cx="8280125" cy="4132791"/>
          </a:xfrm>
          <a:prstGeom prst="rect">
            <a:avLst/>
          </a:prstGeom>
          <a:noFill/>
          <a:ln>
            <a:noFill/>
          </a:ln>
        </p:spPr>
      </p:pic>
      <p:sp>
        <p:nvSpPr>
          <p:cNvPr id="711" name="Google Shape;711;p59"/>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712" name="Google Shape;712;p59"/>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grpSp>
        <p:nvGrpSpPr>
          <p:cNvPr id="717" name="Google Shape;717;p60"/>
          <p:cNvGrpSpPr/>
          <p:nvPr/>
        </p:nvGrpSpPr>
        <p:grpSpPr>
          <a:xfrm>
            <a:off x="33528" y="1481328"/>
            <a:ext cx="8840722" cy="4550664"/>
            <a:chOff x="33528" y="1481328"/>
            <a:chExt cx="8840722" cy="4550664"/>
          </a:xfrm>
        </p:grpSpPr>
        <p:pic>
          <p:nvPicPr>
            <p:cNvPr id="718" name="Google Shape;718;p60"/>
            <p:cNvPicPr preferRelativeResize="0"/>
            <p:nvPr/>
          </p:nvPicPr>
          <p:blipFill rotWithShape="1">
            <a:blip r:embed="rId3">
              <a:alphaModFix/>
            </a:blip>
            <a:srcRect/>
            <a:stretch/>
          </p:blipFill>
          <p:spPr>
            <a:xfrm>
              <a:off x="33528" y="1481328"/>
              <a:ext cx="5236464" cy="4550664"/>
            </a:xfrm>
            <a:prstGeom prst="rect">
              <a:avLst/>
            </a:prstGeom>
            <a:noFill/>
            <a:ln>
              <a:noFill/>
            </a:ln>
          </p:spPr>
        </p:pic>
        <p:pic>
          <p:nvPicPr>
            <p:cNvPr id="719" name="Google Shape;719;p60"/>
            <p:cNvPicPr preferRelativeResize="0"/>
            <p:nvPr/>
          </p:nvPicPr>
          <p:blipFill rotWithShape="1">
            <a:blip r:embed="rId4">
              <a:alphaModFix/>
            </a:blip>
            <a:srcRect/>
            <a:stretch/>
          </p:blipFill>
          <p:spPr>
            <a:xfrm>
              <a:off x="228599" y="1676400"/>
              <a:ext cx="4648200" cy="3962400"/>
            </a:xfrm>
            <a:prstGeom prst="rect">
              <a:avLst/>
            </a:prstGeom>
            <a:noFill/>
            <a:ln>
              <a:noFill/>
            </a:ln>
          </p:spPr>
        </p:pic>
        <p:pic>
          <p:nvPicPr>
            <p:cNvPr id="720" name="Google Shape;720;p60"/>
            <p:cNvPicPr preferRelativeResize="0"/>
            <p:nvPr/>
          </p:nvPicPr>
          <p:blipFill rotWithShape="1">
            <a:blip r:embed="rId5">
              <a:alphaModFix/>
            </a:blip>
            <a:srcRect/>
            <a:stretch/>
          </p:blipFill>
          <p:spPr>
            <a:xfrm>
              <a:off x="5684519" y="1481328"/>
              <a:ext cx="3189731" cy="4398264"/>
            </a:xfrm>
            <a:prstGeom prst="rect">
              <a:avLst/>
            </a:prstGeom>
            <a:noFill/>
            <a:ln>
              <a:noFill/>
            </a:ln>
          </p:spPr>
        </p:pic>
        <p:pic>
          <p:nvPicPr>
            <p:cNvPr id="721" name="Google Shape;721;p60"/>
            <p:cNvPicPr preferRelativeResize="0"/>
            <p:nvPr/>
          </p:nvPicPr>
          <p:blipFill rotWithShape="1">
            <a:blip r:embed="rId6">
              <a:alphaModFix/>
            </a:blip>
            <a:srcRect/>
            <a:stretch/>
          </p:blipFill>
          <p:spPr>
            <a:xfrm>
              <a:off x="5880481" y="1676400"/>
              <a:ext cx="2600325" cy="3810000"/>
            </a:xfrm>
            <a:prstGeom prst="rect">
              <a:avLst/>
            </a:prstGeom>
            <a:noFill/>
            <a:ln>
              <a:noFill/>
            </a:ln>
          </p:spPr>
        </p:pic>
      </p:grpSp>
      <p:sp>
        <p:nvSpPr>
          <p:cNvPr id="722" name="Google Shape;722;p60"/>
          <p:cNvSpPr txBox="1">
            <a:spLocks noGrp="1"/>
          </p:cNvSpPr>
          <p:nvPr>
            <p:ph type="title"/>
          </p:nvPr>
        </p:nvSpPr>
        <p:spPr>
          <a:xfrm>
            <a:off x="0" y="0"/>
            <a:ext cx="6477000" cy="838200"/>
          </a:xfrm>
          <a:prstGeom prst="rect">
            <a:avLst/>
          </a:prstGeom>
          <a:noFill/>
          <a:ln>
            <a:noFill/>
          </a:ln>
        </p:spPr>
        <p:txBody>
          <a:bodyPr spcFirstLastPara="1" wrap="square" lIns="0" tIns="12050" rIns="0" bIns="0" anchor="ctr" anchorCtr="0">
            <a:spAutoFit/>
          </a:bodyPr>
          <a:lstStyle/>
          <a:p>
            <a:pPr marL="247015" marR="5080" lvl="0" indent="0" algn="ctr" rtl="0">
              <a:lnSpc>
                <a:spcPct val="100000"/>
              </a:lnSpc>
              <a:spcBef>
                <a:spcPts val="0"/>
              </a:spcBef>
              <a:spcAft>
                <a:spcPts val="0"/>
              </a:spcAft>
              <a:buNone/>
            </a:pPr>
            <a:r>
              <a:rPr lang="en-US"/>
              <a:t>Passing list to function to calculate sum and average of  all numbers and return it in the form of tuple</a:t>
            </a:r>
            <a:endParaRPr/>
          </a:p>
        </p:txBody>
      </p:sp>
      <p:sp>
        <p:nvSpPr>
          <p:cNvPr id="723" name="Google Shape;723;p60"/>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724" name="Google Shape;724;p60"/>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61"/>
          <p:cNvSpPr txBox="1">
            <a:spLocks noGrp="1"/>
          </p:cNvSpPr>
          <p:nvPr>
            <p:ph type="title"/>
          </p:nvPr>
        </p:nvSpPr>
        <p:spPr>
          <a:xfrm>
            <a:off x="381000" y="10160"/>
            <a:ext cx="5502275"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Passing tuples to function</a:t>
            </a:r>
            <a:endParaRPr sz="4400"/>
          </a:p>
        </p:txBody>
      </p:sp>
      <p:sp>
        <p:nvSpPr>
          <p:cNvPr id="730" name="Google Shape;730;p61"/>
          <p:cNvSpPr txBox="1"/>
          <p:nvPr/>
        </p:nvSpPr>
        <p:spPr>
          <a:xfrm>
            <a:off x="691387" y="1524352"/>
            <a:ext cx="7997190" cy="2503170"/>
          </a:xfrm>
          <a:prstGeom prst="rect">
            <a:avLst/>
          </a:prstGeom>
          <a:noFill/>
          <a:ln>
            <a:noFill/>
          </a:ln>
        </p:spPr>
        <p:txBody>
          <a:bodyPr spcFirstLastPara="1" wrap="square" lIns="0" tIns="100950" rIns="0" bIns="0" anchor="t" anchorCtr="0">
            <a:spAutoFit/>
          </a:bodyPr>
          <a:lstStyle/>
          <a:p>
            <a:pPr marL="332740" marR="0" lvl="0" indent="-320675" algn="l"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We can also pass tuples to function as parameter</a:t>
            </a:r>
            <a:endParaRPr sz="2900">
              <a:solidFill>
                <a:schemeClr val="dk1"/>
              </a:solidFill>
              <a:latin typeface="Helvetica Neue"/>
              <a:ea typeface="Helvetica Neue"/>
              <a:cs typeface="Helvetica Neue"/>
              <a:sym typeface="Helvetica Neue"/>
            </a:endParaRPr>
          </a:p>
          <a:p>
            <a:pPr marL="332740" marR="5080" lvl="0" indent="-320675" algn="l" rtl="0">
              <a:lnSpc>
                <a:spcPct val="100000"/>
              </a:lnSpc>
              <a:spcBef>
                <a:spcPts val="70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Due	to	its	immutability	nature,	function	can	only  access the values of tuples but cannot modify it.</a:t>
            </a:r>
            <a:endParaRPr sz="2900">
              <a:solidFill>
                <a:schemeClr val="dk1"/>
              </a:solidFill>
              <a:latin typeface="Helvetica Neue"/>
              <a:ea typeface="Helvetica Neue"/>
              <a:cs typeface="Helvetica Neue"/>
              <a:sym typeface="Helvetica Neue"/>
            </a:endParaRPr>
          </a:p>
          <a:p>
            <a:pPr marL="332740" marR="5080" lvl="0" indent="-320675" algn="l" rtl="0">
              <a:lnSpc>
                <a:spcPct val="100000"/>
              </a:lnSpc>
              <a:spcBef>
                <a:spcPts val="705"/>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Let	us	see	how	to	pass	tuples	in	function	by	few  example…</a:t>
            </a:r>
            <a:endParaRPr sz="2900">
              <a:solidFill>
                <a:schemeClr val="dk1"/>
              </a:solidFill>
              <a:latin typeface="Helvetica Neue"/>
              <a:ea typeface="Helvetica Neue"/>
              <a:cs typeface="Helvetica Neue"/>
              <a:sym typeface="Helvetica Neue"/>
            </a:endParaRPr>
          </a:p>
        </p:txBody>
      </p:sp>
      <p:sp>
        <p:nvSpPr>
          <p:cNvPr id="731" name="Google Shape;731;p61"/>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732" name="Google Shape;732;p61"/>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62"/>
          <p:cNvSpPr txBox="1">
            <a:spLocks noGrp="1"/>
          </p:cNvSpPr>
          <p:nvPr>
            <p:ph type="title"/>
          </p:nvPr>
        </p:nvSpPr>
        <p:spPr>
          <a:xfrm>
            <a:off x="0" y="0"/>
            <a:ext cx="6477000" cy="838200"/>
          </a:xfrm>
          <a:prstGeom prst="rect">
            <a:avLst/>
          </a:prstGeom>
          <a:noFill/>
          <a:ln>
            <a:noFill/>
          </a:ln>
        </p:spPr>
        <p:txBody>
          <a:bodyPr spcFirstLastPara="1" wrap="square" lIns="0" tIns="12050" rIns="0" bIns="0" anchor="ctr" anchorCtr="0">
            <a:spAutoFit/>
          </a:bodyPr>
          <a:lstStyle/>
          <a:p>
            <a:pPr marL="247015" marR="5080" lvl="0" indent="0" algn="ctr" rtl="0">
              <a:lnSpc>
                <a:spcPct val="100000"/>
              </a:lnSpc>
              <a:spcBef>
                <a:spcPts val="0"/>
              </a:spcBef>
              <a:spcAft>
                <a:spcPts val="0"/>
              </a:spcAft>
              <a:buNone/>
            </a:pPr>
            <a:r>
              <a:rPr lang="en-US"/>
              <a:t>Input	n	numbers	in	tuple	and	pass	it	function	to	count  how many even and odd numbers are entered.</a:t>
            </a:r>
            <a:endParaRPr/>
          </a:p>
        </p:txBody>
      </p:sp>
      <p:pic>
        <p:nvPicPr>
          <p:cNvPr id="738" name="Google Shape;738;p62"/>
          <p:cNvPicPr preferRelativeResize="0"/>
          <p:nvPr/>
        </p:nvPicPr>
        <p:blipFill rotWithShape="1">
          <a:blip r:embed="rId3">
            <a:alphaModFix/>
          </a:blip>
          <a:srcRect/>
          <a:stretch/>
        </p:blipFill>
        <p:spPr>
          <a:xfrm>
            <a:off x="557822" y="1704242"/>
            <a:ext cx="8254951" cy="4190267"/>
          </a:xfrm>
          <a:prstGeom prst="rect">
            <a:avLst/>
          </a:prstGeom>
          <a:noFill/>
          <a:ln>
            <a:noFill/>
          </a:ln>
        </p:spPr>
      </p:pic>
      <p:sp>
        <p:nvSpPr>
          <p:cNvPr id="739" name="Google Shape;739;p62"/>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740" name="Google Shape;740;p62"/>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grpSp>
        <p:nvGrpSpPr>
          <p:cNvPr id="745" name="Google Shape;745;p63"/>
          <p:cNvGrpSpPr/>
          <p:nvPr/>
        </p:nvGrpSpPr>
        <p:grpSpPr>
          <a:xfrm>
            <a:off x="33528" y="1481328"/>
            <a:ext cx="9110472" cy="5084064"/>
            <a:chOff x="33528" y="1481328"/>
            <a:chExt cx="9110472" cy="5084064"/>
          </a:xfrm>
        </p:grpSpPr>
        <p:pic>
          <p:nvPicPr>
            <p:cNvPr id="746" name="Google Shape;746;p63"/>
            <p:cNvPicPr preferRelativeResize="0"/>
            <p:nvPr/>
          </p:nvPicPr>
          <p:blipFill rotWithShape="1">
            <a:blip r:embed="rId3">
              <a:alphaModFix/>
            </a:blip>
            <a:srcRect/>
            <a:stretch/>
          </p:blipFill>
          <p:spPr>
            <a:xfrm>
              <a:off x="33528" y="1481328"/>
              <a:ext cx="5160264" cy="5084064"/>
            </a:xfrm>
            <a:prstGeom prst="rect">
              <a:avLst/>
            </a:prstGeom>
            <a:noFill/>
            <a:ln>
              <a:noFill/>
            </a:ln>
          </p:spPr>
        </p:pic>
        <p:pic>
          <p:nvPicPr>
            <p:cNvPr id="747" name="Google Shape;747;p63"/>
            <p:cNvPicPr preferRelativeResize="0"/>
            <p:nvPr/>
          </p:nvPicPr>
          <p:blipFill rotWithShape="1">
            <a:blip r:embed="rId4">
              <a:alphaModFix/>
            </a:blip>
            <a:srcRect/>
            <a:stretch/>
          </p:blipFill>
          <p:spPr>
            <a:xfrm>
              <a:off x="228599" y="1676400"/>
              <a:ext cx="4572000" cy="4495800"/>
            </a:xfrm>
            <a:prstGeom prst="rect">
              <a:avLst/>
            </a:prstGeom>
            <a:noFill/>
            <a:ln>
              <a:noFill/>
            </a:ln>
          </p:spPr>
        </p:pic>
        <p:pic>
          <p:nvPicPr>
            <p:cNvPr id="748" name="Google Shape;748;p63"/>
            <p:cNvPicPr preferRelativeResize="0"/>
            <p:nvPr/>
          </p:nvPicPr>
          <p:blipFill rotWithShape="1">
            <a:blip r:embed="rId5">
              <a:alphaModFix/>
            </a:blip>
            <a:srcRect/>
            <a:stretch/>
          </p:blipFill>
          <p:spPr>
            <a:xfrm>
              <a:off x="4910328" y="1481328"/>
              <a:ext cx="4233672" cy="3636264"/>
            </a:xfrm>
            <a:prstGeom prst="rect">
              <a:avLst/>
            </a:prstGeom>
            <a:noFill/>
            <a:ln>
              <a:noFill/>
            </a:ln>
          </p:spPr>
        </p:pic>
        <p:pic>
          <p:nvPicPr>
            <p:cNvPr id="749" name="Google Shape;749;p63"/>
            <p:cNvPicPr preferRelativeResize="0"/>
            <p:nvPr/>
          </p:nvPicPr>
          <p:blipFill rotWithShape="1">
            <a:blip r:embed="rId6">
              <a:alphaModFix/>
            </a:blip>
            <a:srcRect/>
            <a:stretch/>
          </p:blipFill>
          <p:spPr>
            <a:xfrm>
              <a:off x="5105399" y="1676400"/>
              <a:ext cx="3743325" cy="3048000"/>
            </a:xfrm>
            <a:prstGeom prst="rect">
              <a:avLst/>
            </a:prstGeom>
            <a:noFill/>
            <a:ln>
              <a:noFill/>
            </a:ln>
          </p:spPr>
        </p:pic>
      </p:grpSp>
      <p:sp>
        <p:nvSpPr>
          <p:cNvPr id="750" name="Google Shape;750;p63"/>
          <p:cNvSpPr txBox="1">
            <a:spLocks noGrp="1"/>
          </p:cNvSpPr>
          <p:nvPr>
            <p:ph type="title"/>
          </p:nvPr>
        </p:nvSpPr>
        <p:spPr>
          <a:xfrm>
            <a:off x="0" y="0"/>
            <a:ext cx="6477000" cy="838200"/>
          </a:xfrm>
          <a:prstGeom prst="rect">
            <a:avLst/>
          </a:prstGeom>
          <a:noFill/>
          <a:ln>
            <a:noFill/>
          </a:ln>
        </p:spPr>
        <p:txBody>
          <a:bodyPr spcFirstLastPara="1" wrap="square" lIns="0" tIns="12050" rIns="0" bIns="0" anchor="ctr" anchorCtr="0">
            <a:spAutoFit/>
          </a:bodyPr>
          <a:lstStyle/>
          <a:p>
            <a:pPr marL="247015" marR="5080" lvl="0" indent="0" algn="ctr" rtl="0">
              <a:lnSpc>
                <a:spcPct val="100000"/>
              </a:lnSpc>
              <a:spcBef>
                <a:spcPts val="0"/>
              </a:spcBef>
              <a:spcAft>
                <a:spcPts val="0"/>
              </a:spcAft>
              <a:buNone/>
            </a:pPr>
            <a:r>
              <a:rPr lang="en-US"/>
              <a:t>Input	n	numbers	in	tuple	and	pass	it	function	to	count  how many even and odd numbers are entered.</a:t>
            </a:r>
            <a:endParaRPr/>
          </a:p>
        </p:txBody>
      </p:sp>
      <p:sp>
        <p:nvSpPr>
          <p:cNvPr id="751" name="Google Shape;751;p63"/>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752" name="Google Shape;752;p63"/>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64"/>
          <p:cNvSpPr txBox="1">
            <a:spLocks noGrp="1"/>
          </p:cNvSpPr>
          <p:nvPr>
            <p:ph type="title"/>
          </p:nvPr>
        </p:nvSpPr>
        <p:spPr>
          <a:xfrm>
            <a:off x="691387" y="444449"/>
            <a:ext cx="7400290" cy="51435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3200" b="1">
                <a:latin typeface="Arial"/>
                <a:ea typeface="Arial"/>
                <a:cs typeface="Arial"/>
                <a:sym typeface="Arial"/>
              </a:rPr>
              <a:t>Understanding of main() function in Python</a:t>
            </a:r>
            <a:endParaRPr sz="3200">
              <a:latin typeface="Arial"/>
              <a:ea typeface="Arial"/>
              <a:cs typeface="Arial"/>
              <a:sym typeface="Arial"/>
            </a:endParaRPr>
          </a:p>
        </p:txBody>
      </p:sp>
      <p:sp>
        <p:nvSpPr>
          <p:cNvPr id="758" name="Google Shape;758;p64"/>
          <p:cNvSpPr txBox="1"/>
          <p:nvPr/>
        </p:nvSpPr>
        <p:spPr>
          <a:xfrm>
            <a:off x="691387" y="1612138"/>
            <a:ext cx="7995920" cy="1352550"/>
          </a:xfrm>
          <a:prstGeom prst="rect">
            <a:avLst/>
          </a:prstGeom>
          <a:noFill/>
          <a:ln>
            <a:noFill/>
          </a:ln>
        </p:spPr>
        <p:txBody>
          <a:bodyPr spcFirstLastPara="1" wrap="square" lIns="0" tIns="13325" rIns="0" bIns="0" anchor="t" anchorCtr="0">
            <a:spAutoFit/>
          </a:bodyPr>
          <a:lstStyle/>
          <a:p>
            <a:pPr marL="332740" marR="5080" lvl="0" indent="-320675" algn="just"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By default every program starts their execution  from main() function. In Python including a main()  function is not mandatory. It can structure our Python</a:t>
            </a:r>
            <a:endParaRPr sz="2900">
              <a:solidFill>
                <a:schemeClr val="dk1"/>
              </a:solidFill>
              <a:latin typeface="Helvetica Neue"/>
              <a:ea typeface="Helvetica Neue"/>
              <a:cs typeface="Helvetica Neue"/>
              <a:sym typeface="Helvetica Neue"/>
            </a:endParaRPr>
          </a:p>
        </p:txBody>
      </p:sp>
      <p:sp>
        <p:nvSpPr>
          <p:cNvPr id="759" name="Google Shape;759;p64"/>
          <p:cNvSpPr txBox="1"/>
          <p:nvPr/>
        </p:nvSpPr>
        <p:spPr>
          <a:xfrm>
            <a:off x="2654554" y="2938399"/>
            <a:ext cx="4445000" cy="46799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900">
                <a:solidFill>
                  <a:schemeClr val="dk1"/>
                </a:solidFill>
                <a:latin typeface="Helvetica Neue"/>
                <a:ea typeface="Helvetica Neue"/>
                <a:cs typeface="Helvetica Neue"/>
                <a:sym typeface="Helvetica Neue"/>
              </a:rPr>
              <a:t>in	a	logical	way	that	puts</a:t>
            </a:r>
            <a:endParaRPr sz="2900">
              <a:solidFill>
                <a:schemeClr val="dk1"/>
              </a:solidFill>
              <a:latin typeface="Helvetica Neue"/>
              <a:ea typeface="Helvetica Neue"/>
              <a:cs typeface="Helvetica Neue"/>
              <a:sym typeface="Helvetica Neue"/>
            </a:endParaRPr>
          </a:p>
        </p:txBody>
      </p:sp>
      <p:sp>
        <p:nvSpPr>
          <p:cNvPr id="760" name="Google Shape;760;p64"/>
          <p:cNvSpPr txBox="1"/>
          <p:nvPr/>
        </p:nvSpPr>
        <p:spPr>
          <a:xfrm>
            <a:off x="2711932" y="3380308"/>
            <a:ext cx="4623435" cy="46863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2900">
                <a:solidFill>
                  <a:schemeClr val="dk1"/>
                </a:solidFill>
                <a:latin typeface="Helvetica Neue"/>
                <a:ea typeface="Helvetica Neue"/>
                <a:cs typeface="Helvetica Neue"/>
                <a:sym typeface="Helvetica Neue"/>
              </a:rPr>
              <a:t>components	of	the	program</a:t>
            </a:r>
            <a:endParaRPr sz="2900">
              <a:solidFill>
                <a:schemeClr val="dk1"/>
              </a:solidFill>
              <a:latin typeface="Helvetica Neue"/>
              <a:ea typeface="Helvetica Neue"/>
              <a:cs typeface="Helvetica Neue"/>
              <a:sym typeface="Helvetica Neue"/>
            </a:endParaRPr>
          </a:p>
        </p:txBody>
      </p:sp>
      <p:sp>
        <p:nvSpPr>
          <p:cNvPr id="761" name="Google Shape;761;p64"/>
          <p:cNvSpPr txBox="1"/>
          <p:nvPr/>
        </p:nvSpPr>
        <p:spPr>
          <a:xfrm>
            <a:off x="7319446" y="2938399"/>
            <a:ext cx="1369695" cy="910590"/>
          </a:xfrm>
          <a:prstGeom prst="rect">
            <a:avLst/>
          </a:prstGeom>
          <a:noFill/>
          <a:ln>
            <a:noFill/>
          </a:ln>
        </p:spPr>
        <p:txBody>
          <a:bodyPr spcFirstLastPara="1" wrap="square" lIns="0" tIns="13325" rIns="0" bIns="0" anchor="t" anchorCtr="0">
            <a:spAutoFit/>
          </a:bodyPr>
          <a:lstStyle/>
          <a:p>
            <a:pPr marL="294005" marR="5080" lvl="0" indent="-281940" algn="l" rtl="0">
              <a:lnSpc>
                <a:spcPct val="100000"/>
              </a:lnSpc>
              <a:spcBef>
                <a:spcPts val="0"/>
              </a:spcBef>
              <a:spcAft>
                <a:spcPts val="0"/>
              </a:spcAft>
              <a:buNone/>
            </a:pPr>
            <a:r>
              <a:rPr lang="en-US" sz="2900">
                <a:solidFill>
                  <a:schemeClr val="dk1"/>
                </a:solidFill>
                <a:latin typeface="Helvetica Neue"/>
                <a:ea typeface="Helvetica Neue"/>
                <a:cs typeface="Helvetica Neue"/>
                <a:sym typeface="Helvetica Neue"/>
              </a:rPr>
              <a:t>the	most  in		one</a:t>
            </a:r>
            <a:endParaRPr sz="2900">
              <a:solidFill>
                <a:schemeClr val="dk1"/>
              </a:solidFill>
              <a:latin typeface="Helvetica Neue"/>
              <a:ea typeface="Helvetica Neue"/>
              <a:cs typeface="Helvetica Neue"/>
              <a:sym typeface="Helvetica Neue"/>
            </a:endParaRPr>
          </a:p>
        </p:txBody>
      </p:sp>
      <p:sp>
        <p:nvSpPr>
          <p:cNvPr id="762" name="Google Shape;762;p64"/>
          <p:cNvSpPr txBox="1"/>
          <p:nvPr/>
        </p:nvSpPr>
        <p:spPr>
          <a:xfrm>
            <a:off x="1011732" y="2938399"/>
            <a:ext cx="1435100" cy="1352550"/>
          </a:xfrm>
          <a:prstGeom prst="rect">
            <a:avLst/>
          </a:prstGeom>
          <a:noFill/>
          <a:ln>
            <a:noFill/>
          </a:ln>
        </p:spPr>
        <p:txBody>
          <a:bodyPr spcFirstLastPara="1" wrap="square" lIns="0" tIns="13325" rIns="0" bIns="0" anchor="t" anchorCtr="0">
            <a:spAutoFit/>
          </a:bodyPr>
          <a:lstStyle/>
          <a:p>
            <a:pPr marL="12700" marR="5080" lvl="0" indent="0" algn="just" rtl="0">
              <a:lnSpc>
                <a:spcPct val="100000"/>
              </a:lnSpc>
              <a:spcBef>
                <a:spcPts val="0"/>
              </a:spcBef>
              <a:spcAft>
                <a:spcPts val="0"/>
              </a:spcAft>
              <a:buNone/>
            </a:pPr>
            <a:r>
              <a:rPr lang="en-US" sz="2900">
                <a:solidFill>
                  <a:schemeClr val="dk1"/>
                </a:solidFill>
                <a:latin typeface="Helvetica Neue"/>
                <a:ea typeface="Helvetica Neue"/>
                <a:cs typeface="Helvetica Neue"/>
                <a:sym typeface="Helvetica Neue"/>
              </a:rPr>
              <a:t>programs  important  function.</a:t>
            </a:r>
            <a:endParaRPr sz="2900">
              <a:solidFill>
                <a:schemeClr val="dk1"/>
              </a:solidFill>
              <a:latin typeface="Helvetica Neue"/>
              <a:ea typeface="Helvetica Neue"/>
              <a:cs typeface="Helvetica Neue"/>
              <a:sym typeface="Helvetica Neue"/>
            </a:endParaRPr>
          </a:p>
        </p:txBody>
      </p:sp>
      <p:sp>
        <p:nvSpPr>
          <p:cNvPr id="763" name="Google Shape;763;p64"/>
          <p:cNvSpPr txBox="1"/>
          <p:nvPr/>
        </p:nvSpPr>
        <p:spPr>
          <a:xfrm>
            <a:off x="691387" y="4352925"/>
            <a:ext cx="7998459" cy="1352550"/>
          </a:xfrm>
          <a:prstGeom prst="rect">
            <a:avLst/>
          </a:prstGeom>
          <a:noFill/>
          <a:ln>
            <a:noFill/>
          </a:ln>
        </p:spPr>
        <p:txBody>
          <a:bodyPr spcFirstLastPara="1" wrap="square" lIns="0" tIns="12700" rIns="0" bIns="0" anchor="t" anchorCtr="0">
            <a:spAutoFit/>
          </a:bodyPr>
          <a:lstStyle/>
          <a:p>
            <a:pPr marL="332740" marR="5080" lvl="0" indent="-320675" algn="just"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We can get the name of current module executing  by using built-in variable</a:t>
            </a:r>
            <a:r>
              <a:rPr lang="en-US" sz="2900" u="sng">
                <a:solidFill>
                  <a:schemeClr val="dk1"/>
                </a:solidFill>
                <a:latin typeface="Helvetica Neue"/>
                <a:ea typeface="Helvetica Neue"/>
                <a:cs typeface="Helvetica Neue"/>
                <a:sym typeface="Helvetica Neue"/>
              </a:rPr>
              <a:t> </a:t>
            </a:r>
            <a:r>
              <a:rPr lang="en-US" sz="2900" b="1">
                <a:solidFill>
                  <a:srgbClr val="FF0000"/>
                </a:solidFill>
                <a:latin typeface="Arial"/>
                <a:ea typeface="Arial"/>
                <a:cs typeface="Arial"/>
                <a:sym typeface="Arial"/>
              </a:rPr>
              <a:t>name </a:t>
            </a:r>
            <a:r>
              <a:rPr lang="en-US" sz="2900">
                <a:solidFill>
                  <a:schemeClr val="dk1"/>
                </a:solidFill>
                <a:latin typeface="Helvetica Neue"/>
                <a:ea typeface="Helvetica Neue"/>
                <a:cs typeface="Helvetica Neue"/>
                <a:sym typeface="Helvetica Neue"/>
              </a:rPr>
              <a:t>(2 underscore  before and after of name)</a:t>
            </a:r>
            <a:endParaRPr sz="2900">
              <a:solidFill>
                <a:schemeClr val="dk1"/>
              </a:solidFill>
              <a:latin typeface="Helvetica Neue"/>
              <a:ea typeface="Helvetica Neue"/>
              <a:cs typeface="Helvetica Neue"/>
              <a:sym typeface="Helvetica Neue"/>
            </a:endParaRPr>
          </a:p>
        </p:txBody>
      </p:sp>
      <p:sp>
        <p:nvSpPr>
          <p:cNvPr id="764" name="Google Shape;764;p64"/>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765" name="Google Shape;765;p64"/>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65"/>
          <p:cNvSpPr txBox="1">
            <a:spLocks noGrp="1"/>
          </p:cNvSpPr>
          <p:nvPr>
            <p:ph type="title"/>
          </p:nvPr>
        </p:nvSpPr>
        <p:spPr>
          <a:xfrm>
            <a:off x="691387" y="444449"/>
            <a:ext cx="7400290" cy="51435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3200" b="1">
                <a:latin typeface="Arial"/>
                <a:ea typeface="Arial"/>
                <a:cs typeface="Arial"/>
                <a:sym typeface="Arial"/>
              </a:rPr>
              <a:t>Understanding of main() function in Python</a:t>
            </a:r>
            <a:endParaRPr sz="3200">
              <a:latin typeface="Arial"/>
              <a:ea typeface="Arial"/>
              <a:cs typeface="Arial"/>
              <a:sym typeface="Arial"/>
            </a:endParaRPr>
          </a:p>
        </p:txBody>
      </p:sp>
      <p:grpSp>
        <p:nvGrpSpPr>
          <p:cNvPr id="771" name="Google Shape;771;p65"/>
          <p:cNvGrpSpPr/>
          <p:nvPr/>
        </p:nvGrpSpPr>
        <p:grpSpPr>
          <a:xfrm>
            <a:off x="221678" y="1600187"/>
            <a:ext cx="3754691" cy="763409"/>
            <a:chOff x="221678" y="1600187"/>
            <a:chExt cx="3754691" cy="763409"/>
          </a:xfrm>
        </p:grpSpPr>
        <p:pic>
          <p:nvPicPr>
            <p:cNvPr id="772" name="Google Shape;772;p65"/>
            <p:cNvPicPr preferRelativeResize="0"/>
            <p:nvPr/>
          </p:nvPicPr>
          <p:blipFill rotWithShape="1">
            <a:blip r:embed="rId3">
              <a:alphaModFix/>
            </a:blip>
            <a:srcRect/>
            <a:stretch/>
          </p:blipFill>
          <p:spPr>
            <a:xfrm>
              <a:off x="221678" y="1600187"/>
              <a:ext cx="3754628" cy="763409"/>
            </a:xfrm>
            <a:prstGeom prst="rect">
              <a:avLst/>
            </a:prstGeom>
            <a:noFill/>
            <a:ln>
              <a:noFill/>
            </a:ln>
          </p:spPr>
        </p:pic>
        <p:sp>
          <p:nvSpPr>
            <p:cNvPr id="773" name="Google Shape;773;p65"/>
            <p:cNvSpPr/>
            <p:nvPr/>
          </p:nvSpPr>
          <p:spPr>
            <a:xfrm>
              <a:off x="3276599" y="1676400"/>
              <a:ext cx="699770" cy="152400"/>
            </a:xfrm>
            <a:custGeom>
              <a:avLst/>
              <a:gdLst/>
              <a:ahLst/>
              <a:cxnLst/>
              <a:rect l="l" t="t" r="r" b="b"/>
              <a:pathLst>
                <a:path w="699770" h="152400" extrusionOk="0">
                  <a:moveTo>
                    <a:pt x="623443" y="0"/>
                  </a:moveTo>
                  <a:lnTo>
                    <a:pt x="623443" y="38100"/>
                  </a:lnTo>
                  <a:lnTo>
                    <a:pt x="0" y="38100"/>
                  </a:lnTo>
                  <a:lnTo>
                    <a:pt x="0" y="114300"/>
                  </a:lnTo>
                  <a:lnTo>
                    <a:pt x="623443" y="114300"/>
                  </a:lnTo>
                  <a:lnTo>
                    <a:pt x="623443" y="152400"/>
                  </a:lnTo>
                  <a:lnTo>
                    <a:pt x="699643" y="76200"/>
                  </a:lnTo>
                  <a:lnTo>
                    <a:pt x="623443"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4" name="Google Shape;774;p65"/>
            <p:cNvSpPr/>
            <p:nvPr/>
          </p:nvSpPr>
          <p:spPr>
            <a:xfrm>
              <a:off x="3276599" y="1676400"/>
              <a:ext cx="699770" cy="152400"/>
            </a:xfrm>
            <a:custGeom>
              <a:avLst/>
              <a:gdLst/>
              <a:ahLst/>
              <a:cxnLst/>
              <a:rect l="l" t="t" r="r" b="b"/>
              <a:pathLst>
                <a:path w="699770" h="152400" extrusionOk="0">
                  <a:moveTo>
                    <a:pt x="0" y="38100"/>
                  </a:moveTo>
                  <a:lnTo>
                    <a:pt x="623443" y="38100"/>
                  </a:lnTo>
                  <a:lnTo>
                    <a:pt x="623443" y="0"/>
                  </a:lnTo>
                  <a:lnTo>
                    <a:pt x="699643" y="76200"/>
                  </a:lnTo>
                  <a:lnTo>
                    <a:pt x="623443" y="152400"/>
                  </a:lnTo>
                  <a:lnTo>
                    <a:pt x="623443" y="114300"/>
                  </a:lnTo>
                  <a:lnTo>
                    <a:pt x="0" y="114300"/>
                  </a:lnTo>
                  <a:lnTo>
                    <a:pt x="0" y="38100"/>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pic>
        <p:nvPicPr>
          <p:cNvPr id="775" name="Google Shape;775;p65"/>
          <p:cNvPicPr preferRelativeResize="0"/>
          <p:nvPr/>
        </p:nvPicPr>
        <p:blipFill rotWithShape="1">
          <a:blip r:embed="rId4">
            <a:alphaModFix/>
          </a:blip>
          <a:srcRect/>
          <a:stretch/>
        </p:blipFill>
        <p:spPr>
          <a:xfrm>
            <a:off x="4232528" y="1579410"/>
            <a:ext cx="2590800" cy="784186"/>
          </a:xfrm>
          <a:prstGeom prst="rect">
            <a:avLst/>
          </a:prstGeom>
          <a:noFill/>
          <a:ln>
            <a:noFill/>
          </a:ln>
        </p:spPr>
      </p:pic>
      <p:grpSp>
        <p:nvGrpSpPr>
          <p:cNvPr id="776" name="Google Shape;776;p65"/>
          <p:cNvGrpSpPr/>
          <p:nvPr/>
        </p:nvGrpSpPr>
        <p:grpSpPr>
          <a:xfrm>
            <a:off x="377952" y="2414016"/>
            <a:ext cx="7127748" cy="560832"/>
            <a:chOff x="377952" y="2414016"/>
            <a:chExt cx="7127748" cy="560832"/>
          </a:xfrm>
        </p:grpSpPr>
        <p:pic>
          <p:nvPicPr>
            <p:cNvPr id="777" name="Google Shape;777;p65"/>
            <p:cNvPicPr preferRelativeResize="0"/>
            <p:nvPr/>
          </p:nvPicPr>
          <p:blipFill rotWithShape="1">
            <a:blip r:embed="rId5">
              <a:alphaModFix/>
            </a:blip>
            <a:srcRect/>
            <a:stretch/>
          </p:blipFill>
          <p:spPr>
            <a:xfrm>
              <a:off x="377952" y="2414016"/>
              <a:ext cx="7127748" cy="493775"/>
            </a:xfrm>
            <a:prstGeom prst="rect">
              <a:avLst/>
            </a:prstGeom>
            <a:noFill/>
            <a:ln>
              <a:noFill/>
            </a:ln>
          </p:spPr>
        </p:pic>
        <p:pic>
          <p:nvPicPr>
            <p:cNvPr id="778" name="Google Shape;778;p65"/>
            <p:cNvPicPr preferRelativeResize="0"/>
            <p:nvPr/>
          </p:nvPicPr>
          <p:blipFill rotWithShape="1">
            <a:blip r:embed="rId6">
              <a:alphaModFix/>
            </a:blip>
            <a:srcRect/>
            <a:stretch/>
          </p:blipFill>
          <p:spPr>
            <a:xfrm>
              <a:off x="745236" y="2415540"/>
              <a:ext cx="6455664" cy="559308"/>
            </a:xfrm>
            <a:prstGeom prst="rect">
              <a:avLst/>
            </a:prstGeom>
            <a:noFill/>
            <a:ln>
              <a:noFill/>
            </a:ln>
          </p:spPr>
        </p:pic>
        <p:sp>
          <p:nvSpPr>
            <p:cNvPr id="779" name="Google Shape;779;p65"/>
            <p:cNvSpPr/>
            <p:nvPr/>
          </p:nvSpPr>
          <p:spPr>
            <a:xfrm>
              <a:off x="436422" y="2438400"/>
              <a:ext cx="7010400" cy="381000"/>
            </a:xfrm>
            <a:custGeom>
              <a:avLst/>
              <a:gdLst/>
              <a:ahLst/>
              <a:cxnLst/>
              <a:rect l="l" t="t" r="r" b="b"/>
              <a:pathLst>
                <a:path w="7010400" h="381000" extrusionOk="0">
                  <a:moveTo>
                    <a:pt x="7010400" y="0"/>
                  </a:moveTo>
                  <a:lnTo>
                    <a:pt x="0" y="0"/>
                  </a:lnTo>
                  <a:lnTo>
                    <a:pt x="0" y="381000"/>
                  </a:lnTo>
                  <a:lnTo>
                    <a:pt x="7010400" y="381000"/>
                  </a:lnTo>
                  <a:lnTo>
                    <a:pt x="7010400"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0" name="Google Shape;780;p65"/>
            <p:cNvSpPr/>
            <p:nvPr/>
          </p:nvSpPr>
          <p:spPr>
            <a:xfrm>
              <a:off x="412610" y="2414524"/>
              <a:ext cx="7058659" cy="428625"/>
            </a:xfrm>
            <a:custGeom>
              <a:avLst/>
              <a:gdLst/>
              <a:ahLst/>
              <a:cxnLst/>
              <a:rect l="l" t="t" r="r" b="b"/>
              <a:pathLst>
                <a:path w="7058659" h="428625" extrusionOk="0">
                  <a:moveTo>
                    <a:pt x="7034161" y="0"/>
                  </a:moveTo>
                  <a:lnTo>
                    <a:pt x="23812" y="0"/>
                  </a:lnTo>
                  <a:lnTo>
                    <a:pt x="14541" y="1873"/>
                  </a:lnTo>
                  <a:lnTo>
                    <a:pt x="6972" y="6984"/>
                  </a:lnTo>
                  <a:lnTo>
                    <a:pt x="1870" y="14573"/>
                  </a:lnTo>
                  <a:lnTo>
                    <a:pt x="0" y="23875"/>
                  </a:lnTo>
                  <a:lnTo>
                    <a:pt x="0" y="404875"/>
                  </a:lnTo>
                  <a:lnTo>
                    <a:pt x="1870" y="414158"/>
                  </a:lnTo>
                  <a:lnTo>
                    <a:pt x="6972" y="421703"/>
                  </a:lnTo>
                  <a:lnTo>
                    <a:pt x="14541" y="426771"/>
                  </a:lnTo>
                  <a:lnTo>
                    <a:pt x="23812" y="428625"/>
                  </a:lnTo>
                  <a:lnTo>
                    <a:pt x="7034161" y="428625"/>
                  </a:lnTo>
                  <a:lnTo>
                    <a:pt x="7043464" y="426771"/>
                  </a:lnTo>
                  <a:lnTo>
                    <a:pt x="7051052" y="421703"/>
                  </a:lnTo>
                  <a:lnTo>
                    <a:pt x="7056164" y="414158"/>
                  </a:lnTo>
                  <a:lnTo>
                    <a:pt x="7056448" y="412750"/>
                  </a:lnTo>
                  <a:lnTo>
                    <a:pt x="19418" y="412750"/>
                  </a:lnTo>
                  <a:lnTo>
                    <a:pt x="15875" y="409320"/>
                  </a:lnTo>
                  <a:lnTo>
                    <a:pt x="15875" y="19430"/>
                  </a:lnTo>
                  <a:lnTo>
                    <a:pt x="19418" y="15874"/>
                  </a:lnTo>
                  <a:lnTo>
                    <a:pt x="7056426" y="15874"/>
                  </a:lnTo>
                  <a:lnTo>
                    <a:pt x="7056164" y="14573"/>
                  </a:lnTo>
                  <a:lnTo>
                    <a:pt x="7051052" y="6984"/>
                  </a:lnTo>
                  <a:lnTo>
                    <a:pt x="7043464" y="1873"/>
                  </a:lnTo>
                  <a:lnTo>
                    <a:pt x="7034161" y="0"/>
                  </a:lnTo>
                  <a:close/>
                </a:path>
                <a:path w="7058659" h="428625" extrusionOk="0">
                  <a:moveTo>
                    <a:pt x="7056426" y="15874"/>
                  </a:moveTo>
                  <a:lnTo>
                    <a:pt x="7038606" y="15874"/>
                  </a:lnTo>
                  <a:lnTo>
                    <a:pt x="7042162" y="19430"/>
                  </a:lnTo>
                  <a:lnTo>
                    <a:pt x="7042162" y="409320"/>
                  </a:lnTo>
                  <a:lnTo>
                    <a:pt x="7038606" y="412750"/>
                  </a:lnTo>
                  <a:lnTo>
                    <a:pt x="7056448" y="412750"/>
                  </a:lnTo>
                  <a:lnTo>
                    <a:pt x="7058037" y="404875"/>
                  </a:lnTo>
                  <a:lnTo>
                    <a:pt x="7058037" y="23875"/>
                  </a:lnTo>
                  <a:lnTo>
                    <a:pt x="7056426" y="15874"/>
                  </a:lnTo>
                  <a:close/>
                </a:path>
                <a:path w="7058659" h="428625" extrusionOk="0">
                  <a:moveTo>
                    <a:pt x="7026287" y="31749"/>
                  </a:moveTo>
                  <a:lnTo>
                    <a:pt x="31750" y="31749"/>
                  </a:lnTo>
                  <a:lnTo>
                    <a:pt x="31750" y="396874"/>
                  </a:lnTo>
                  <a:lnTo>
                    <a:pt x="7026287" y="396874"/>
                  </a:lnTo>
                  <a:lnTo>
                    <a:pt x="7026287" y="380999"/>
                  </a:lnTo>
                  <a:lnTo>
                    <a:pt x="47625" y="380999"/>
                  </a:lnTo>
                  <a:lnTo>
                    <a:pt x="47625" y="47624"/>
                  </a:lnTo>
                  <a:lnTo>
                    <a:pt x="7026287" y="47624"/>
                  </a:lnTo>
                  <a:lnTo>
                    <a:pt x="7026287" y="31749"/>
                  </a:lnTo>
                  <a:close/>
                </a:path>
                <a:path w="7058659" h="428625" extrusionOk="0">
                  <a:moveTo>
                    <a:pt x="7026287" y="47624"/>
                  </a:moveTo>
                  <a:lnTo>
                    <a:pt x="7010412" y="47624"/>
                  </a:lnTo>
                  <a:lnTo>
                    <a:pt x="7010412" y="380999"/>
                  </a:lnTo>
                  <a:lnTo>
                    <a:pt x="7026287" y="380999"/>
                  </a:lnTo>
                  <a:lnTo>
                    <a:pt x="7026287" y="47624"/>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1" name="Google Shape;781;p65"/>
            <p:cNvSpPr/>
            <p:nvPr/>
          </p:nvSpPr>
          <p:spPr>
            <a:xfrm>
              <a:off x="6073322" y="2731300"/>
              <a:ext cx="886460" cy="0"/>
            </a:xfrm>
            <a:custGeom>
              <a:avLst/>
              <a:gdLst/>
              <a:ahLst/>
              <a:cxnLst/>
              <a:rect l="l" t="t" r="r" b="b"/>
              <a:pathLst>
                <a:path w="886459" h="120000" extrusionOk="0">
                  <a:moveTo>
                    <a:pt x="0" y="0"/>
                  </a:moveTo>
                  <a:lnTo>
                    <a:pt x="228600" y="0"/>
                  </a:lnTo>
                </a:path>
                <a:path w="886459" h="120000" extrusionOk="0">
                  <a:moveTo>
                    <a:pt x="657448" y="0"/>
                  </a:moveTo>
                  <a:lnTo>
                    <a:pt x="886048" y="0"/>
                  </a:lnTo>
                </a:path>
              </a:pathLst>
            </a:custGeom>
            <a:noFill/>
            <a:ln w="11200" cap="flat" cmpd="sng">
              <a:solidFill>
                <a:srgbClr val="FEFEF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782" name="Google Shape;782;p65"/>
          <p:cNvSpPr txBox="1"/>
          <p:nvPr/>
        </p:nvSpPr>
        <p:spPr>
          <a:xfrm>
            <a:off x="436422" y="2438400"/>
            <a:ext cx="7010400" cy="381000"/>
          </a:xfrm>
          <a:prstGeom prst="rect">
            <a:avLst/>
          </a:prstGeom>
          <a:noFill/>
          <a:ln>
            <a:noFill/>
          </a:ln>
        </p:spPr>
        <p:txBody>
          <a:bodyPr spcFirstLastPara="1" wrap="square" lIns="0" tIns="41900" rIns="0" bIns="0" anchor="t" anchorCtr="0">
            <a:spAutoFit/>
          </a:bodyPr>
          <a:lstStyle/>
          <a:p>
            <a:pPr marL="485140" marR="0" lvl="0" indent="0" algn="l" rtl="0">
              <a:lnSpc>
                <a:spcPct val="100000"/>
              </a:lnSpc>
              <a:spcBef>
                <a:spcPts val="0"/>
              </a:spcBef>
              <a:spcAft>
                <a:spcPts val="0"/>
              </a:spcAft>
              <a:buNone/>
            </a:pPr>
            <a:r>
              <a:rPr lang="en-US" sz="1800">
                <a:solidFill>
                  <a:srgbClr val="FFFFFF"/>
                </a:solidFill>
                <a:latin typeface="Helvetica Neue"/>
                <a:ea typeface="Helvetica Neue"/>
                <a:cs typeface="Helvetica Neue"/>
                <a:sym typeface="Helvetica Neue"/>
              </a:rPr>
              <a:t>We can observe, by default the name of module will be	main</a:t>
            </a:r>
            <a:endParaRPr sz="1800">
              <a:solidFill>
                <a:schemeClr val="dk1"/>
              </a:solidFill>
              <a:latin typeface="Helvetica Neue"/>
              <a:ea typeface="Helvetica Neue"/>
              <a:cs typeface="Helvetica Neue"/>
              <a:sym typeface="Helvetica Neue"/>
            </a:endParaRPr>
          </a:p>
        </p:txBody>
      </p:sp>
      <p:grpSp>
        <p:nvGrpSpPr>
          <p:cNvPr id="783" name="Google Shape;783;p65"/>
          <p:cNvGrpSpPr/>
          <p:nvPr/>
        </p:nvGrpSpPr>
        <p:grpSpPr>
          <a:xfrm>
            <a:off x="284022" y="3200374"/>
            <a:ext cx="8751774" cy="3247670"/>
            <a:chOff x="284022" y="3200374"/>
            <a:chExt cx="8751774" cy="3247670"/>
          </a:xfrm>
        </p:grpSpPr>
        <p:pic>
          <p:nvPicPr>
            <p:cNvPr id="784" name="Google Shape;784;p65"/>
            <p:cNvPicPr preferRelativeResize="0"/>
            <p:nvPr/>
          </p:nvPicPr>
          <p:blipFill rotWithShape="1">
            <a:blip r:embed="rId7">
              <a:alphaModFix/>
            </a:blip>
            <a:srcRect/>
            <a:stretch/>
          </p:blipFill>
          <p:spPr>
            <a:xfrm>
              <a:off x="284022" y="3200374"/>
              <a:ext cx="5470779" cy="3172714"/>
            </a:xfrm>
            <a:prstGeom prst="rect">
              <a:avLst/>
            </a:prstGeom>
            <a:noFill/>
            <a:ln>
              <a:noFill/>
            </a:ln>
          </p:spPr>
        </p:pic>
        <p:pic>
          <p:nvPicPr>
            <p:cNvPr id="785" name="Google Shape;785;p65"/>
            <p:cNvPicPr preferRelativeResize="0"/>
            <p:nvPr/>
          </p:nvPicPr>
          <p:blipFill rotWithShape="1">
            <a:blip r:embed="rId8">
              <a:alphaModFix/>
            </a:blip>
            <a:srcRect/>
            <a:stretch/>
          </p:blipFill>
          <p:spPr>
            <a:xfrm>
              <a:off x="5710428" y="3337560"/>
              <a:ext cx="3325368" cy="3110484"/>
            </a:xfrm>
            <a:prstGeom prst="rect">
              <a:avLst/>
            </a:prstGeom>
            <a:noFill/>
            <a:ln>
              <a:noFill/>
            </a:ln>
          </p:spPr>
        </p:pic>
        <p:pic>
          <p:nvPicPr>
            <p:cNvPr id="786" name="Google Shape;786;p65"/>
            <p:cNvPicPr preferRelativeResize="0"/>
            <p:nvPr/>
          </p:nvPicPr>
          <p:blipFill rotWithShape="1">
            <a:blip r:embed="rId9">
              <a:alphaModFix/>
            </a:blip>
            <a:srcRect/>
            <a:stretch/>
          </p:blipFill>
          <p:spPr>
            <a:xfrm>
              <a:off x="5817107" y="3415284"/>
              <a:ext cx="3169919" cy="3028188"/>
            </a:xfrm>
            <a:prstGeom prst="rect">
              <a:avLst/>
            </a:prstGeom>
            <a:noFill/>
            <a:ln>
              <a:noFill/>
            </a:ln>
          </p:spPr>
        </p:pic>
        <p:sp>
          <p:nvSpPr>
            <p:cNvPr id="787" name="Google Shape;787;p65"/>
            <p:cNvSpPr/>
            <p:nvPr/>
          </p:nvSpPr>
          <p:spPr>
            <a:xfrm>
              <a:off x="5754750" y="3352800"/>
              <a:ext cx="3237230" cy="3020695"/>
            </a:xfrm>
            <a:custGeom>
              <a:avLst/>
              <a:gdLst/>
              <a:ahLst/>
              <a:cxnLst/>
              <a:rect l="l" t="t" r="r" b="b"/>
              <a:pathLst>
                <a:path w="3237229" h="3020695" extrusionOk="0">
                  <a:moveTo>
                    <a:pt x="2733421" y="0"/>
                  </a:moveTo>
                  <a:lnTo>
                    <a:pt x="503428" y="0"/>
                  </a:lnTo>
                  <a:lnTo>
                    <a:pt x="454949" y="2304"/>
                  </a:lnTo>
                  <a:lnTo>
                    <a:pt x="407773" y="9078"/>
                  </a:lnTo>
                  <a:lnTo>
                    <a:pt x="362111" y="20110"/>
                  </a:lnTo>
                  <a:lnTo>
                    <a:pt x="318174" y="35189"/>
                  </a:lnTo>
                  <a:lnTo>
                    <a:pt x="276173" y="54103"/>
                  </a:lnTo>
                  <a:lnTo>
                    <a:pt x="236319" y="76642"/>
                  </a:lnTo>
                  <a:lnTo>
                    <a:pt x="198823" y="102595"/>
                  </a:lnTo>
                  <a:lnTo>
                    <a:pt x="163896" y="131750"/>
                  </a:lnTo>
                  <a:lnTo>
                    <a:pt x="131750" y="163896"/>
                  </a:lnTo>
                  <a:lnTo>
                    <a:pt x="102595" y="198823"/>
                  </a:lnTo>
                  <a:lnTo>
                    <a:pt x="76642" y="236319"/>
                  </a:lnTo>
                  <a:lnTo>
                    <a:pt x="54103" y="276173"/>
                  </a:lnTo>
                  <a:lnTo>
                    <a:pt x="35189" y="318174"/>
                  </a:lnTo>
                  <a:lnTo>
                    <a:pt x="20110" y="362111"/>
                  </a:lnTo>
                  <a:lnTo>
                    <a:pt x="9078" y="407773"/>
                  </a:lnTo>
                  <a:lnTo>
                    <a:pt x="2304" y="454949"/>
                  </a:lnTo>
                  <a:lnTo>
                    <a:pt x="0" y="503427"/>
                  </a:lnTo>
                  <a:lnTo>
                    <a:pt x="0" y="2516898"/>
                  </a:lnTo>
                  <a:lnTo>
                    <a:pt x="2304" y="2565378"/>
                  </a:lnTo>
                  <a:lnTo>
                    <a:pt x="9078" y="2612554"/>
                  </a:lnTo>
                  <a:lnTo>
                    <a:pt x="20110" y="2658216"/>
                  </a:lnTo>
                  <a:lnTo>
                    <a:pt x="35189" y="2702151"/>
                  </a:lnTo>
                  <a:lnTo>
                    <a:pt x="54103" y="2744150"/>
                  </a:lnTo>
                  <a:lnTo>
                    <a:pt x="76642" y="2784001"/>
                  </a:lnTo>
                  <a:lnTo>
                    <a:pt x="102595" y="2821494"/>
                  </a:lnTo>
                  <a:lnTo>
                    <a:pt x="131750" y="2856417"/>
                  </a:lnTo>
                  <a:lnTo>
                    <a:pt x="163896" y="2888560"/>
                  </a:lnTo>
                  <a:lnTo>
                    <a:pt x="198823" y="2917711"/>
                  </a:lnTo>
                  <a:lnTo>
                    <a:pt x="236319" y="2943659"/>
                  </a:lnTo>
                  <a:lnTo>
                    <a:pt x="276173" y="2966195"/>
                  </a:lnTo>
                  <a:lnTo>
                    <a:pt x="318174" y="2985106"/>
                  </a:lnTo>
                  <a:lnTo>
                    <a:pt x="362111" y="3000182"/>
                  </a:lnTo>
                  <a:lnTo>
                    <a:pt x="407773" y="3011211"/>
                  </a:lnTo>
                  <a:lnTo>
                    <a:pt x="454949" y="3017984"/>
                  </a:lnTo>
                  <a:lnTo>
                    <a:pt x="503428" y="3020288"/>
                  </a:lnTo>
                  <a:lnTo>
                    <a:pt x="2733421" y="3020288"/>
                  </a:lnTo>
                  <a:lnTo>
                    <a:pt x="2781899" y="3017984"/>
                  </a:lnTo>
                  <a:lnTo>
                    <a:pt x="2829075" y="3011211"/>
                  </a:lnTo>
                  <a:lnTo>
                    <a:pt x="2874737" y="3000182"/>
                  </a:lnTo>
                  <a:lnTo>
                    <a:pt x="2918674" y="2985106"/>
                  </a:lnTo>
                  <a:lnTo>
                    <a:pt x="2960675" y="2966195"/>
                  </a:lnTo>
                  <a:lnTo>
                    <a:pt x="3000529" y="2943659"/>
                  </a:lnTo>
                  <a:lnTo>
                    <a:pt x="3038025" y="2917711"/>
                  </a:lnTo>
                  <a:lnTo>
                    <a:pt x="3072952" y="2888560"/>
                  </a:lnTo>
                  <a:lnTo>
                    <a:pt x="3105098" y="2856417"/>
                  </a:lnTo>
                  <a:lnTo>
                    <a:pt x="3134253" y="2821494"/>
                  </a:lnTo>
                  <a:lnTo>
                    <a:pt x="3160206" y="2784001"/>
                  </a:lnTo>
                  <a:lnTo>
                    <a:pt x="3182745" y="2744150"/>
                  </a:lnTo>
                  <a:lnTo>
                    <a:pt x="3201659" y="2702151"/>
                  </a:lnTo>
                  <a:lnTo>
                    <a:pt x="3216738" y="2658216"/>
                  </a:lnTo>
                  <a:lnTo>
                    <a:pt x="3227770" y="2612554"/>
                  </a:lnTo>
                  <a:lnTo>
                    <a:pt x="3234544" y="2565378"/>
                  </a:lnTo>
                  <a:lnTo>
                    <a:pt x="3236849" y="2516898"/>
                  </a:lnTo>
                  <a:lnTo>
                    <a:pt x="3236849" y="503427"/>
                  </a:lnTo>
                  <a:lnTo>
                    <a:pt x="3234544" y="454949"/>
                  </a:lnTo>
                  <a:lnTo>
                    <a:pt x="3227770" y="407773"/>
                  </a:lnTo>
                  <a:lnTo>
                    <a:pt x="3216738" y="362111"/>
                  </a:lnTo>
                  <a:lnTo>
                    <a:pt x="3201659" y="318174"/>
                  </a:lnTo>
                  <a:lnTo>
                    <a:pt x="3182745" y="276173"/>
                  </a:lnTo>
                  <a:lnTo>
                    <a:pt x="3160206" y="236319"/>
                  </a:lnTo>
                  <a:lnTo>
                    <a:pt x="3134253" y="198823"/>
                  </a:lnTo>
                  <a:lnTo>
                    <a:pt x="3105098" y="163896"/>
                  </a:lnTo>
                  <a:lnTo>
                    <a:pt x="3072952" y="131750"/>
                  </a:lnTo>
                  <a:lnTo>
                    <a:pt x="3038025" y="102595"/>
                  </a:lnTo>
                  <a:lnTo>
                    <a:pt x="3000529" y="76642"/>
                  </a:lnTo>
                  <a:lnTo>
                    <a:pt x="2960675" y="54103"/>
                  </a:lnTo>
                  <a:lnTo>
                    <a:pt x="2918674" y="35189"/>
                  </a:lnTo>
                  <a:lnTo>
                    <a:pt x="2874737" y="20110"/>
                  </a:lnTo>
                  <a:lnTo>
                    <a:pt x="2829075" y="9078"/>
                  </a:lnTo>
                  <a:lnTo>
                    <a:pt x="2781899" y="2304"/>
                  </a:lnTo>
                  <a:lnTo>
                    <a:pt x="2733421"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8" name="Google Shape;788;p65"/>
            <p:cNvSpPr/>
            <p:nvPr/>
          </p:nvSpPr>
          <p:spPr>
            <a:xfrm>
              <a:off x="5754750" y="3352800"/>
              <a:ext cx="3237230" cy="3020695"/>
            </a:xfrm>
            <a:custGeom>
              <a:avLst/>
              <a:gdLst/>
              <a:ahLst/>
              <a:cxnLst/>
              <a:rect l="l" t="t" r="r" b="b"/>
              <a:pathLst>
                <a:path w="3237229" h="3020695" extrusionOk="0">
                  <a:moveTo>
                    <a:pt x="0" y="503427"/>
                  </a:moveTo>
                  <a:lnTo>
                    <a:pt x="2304" y="454949"/>
                  </a:lnTo>
                  <a:lnTo>
                    <a:pt x="9078" y="407773"/>
                  </a:lnTo>
                  <a:lnTo>
                    <a:pt x="20110" y="362111"/>
                  </a:lnTo>
                  <a:lnTo>
                    <a:pt x="35189" y="318174"/>
                  </a:lnTo>
                  <a:lnTo>
                    <a:pt x="54103" y="276173"/>
                  </a:lnTo>
                  <a:lnTo>
                    <a:pt x="76642" y="236319"/>
                  </a:lnTo>
                  <a:lnTo>
                    <a:pt x="102595" y="198823"/>
                  </a:lnTo>
                  <a:lnTo>
                    <a:pt x="131750" y="163896"/>
                  </a:lnTo>
                  <a:lnTo>
                    <a:pt x="163896" y="131750"/>
                  </a:lnTo>
                  <a:lnTo>
                    <a:pt x="198823" y="102595"/>
                  </a:lnTo>
                  <a:lnTo>
                    <a:pt x="236319" y="76642"/>
                  </a:lnTo>
                  <a:lnTo>
                    <a:pt x="276173" y="54103"/>
                  </a:lnTo>
                  <a:lnTo>
                    <a:pt x="318174" y="35189"/>
                  </a:lnTo>
                  <a:lnTo>
                    <a:pt x="362111" y="20110"/>
                  </a:lnTo>
                  <a:lnTo>
                    <a:pt x="407773" y="9078"/>
                  </a:lnTo>
                  <a:lnTo>
                    <a:pt x="454949" y="2304"/>
                  </a:lnTo>
                  <a:lnTo>
                    <a:pt x="503428" y="0"/>
                  </a:lnTo>
                  <a:lnTo>
                    <a:pt x="2733421" y="0"/>
                  </a:lnTo>
                  <a:lnTo>
                    <a:pt x="2781899" y="2304"/>
                  </a:lnTo>
                  <a:lnTo>
                    <a:pt x="2829075" y="9078"/>
                  </a:lnTo>
                  <a:lnTo>
                    <a:pt x="2874737" y="20110"/>
                  </a:lnTo>
                  <a:lnTo>
                    <a:pt x="2918674" y="35189"/>
                  </a:lnTo>
                  <a:lnTo>
                    <a:pt x="2960675" y="54103"/>
                  </a:lnTo>
                  <a:lnTo>
                    <a:pt x="3000529" y="76642"/>
                  </a:lnTo>
                  <a:lnTo>
                    <a:pt x="3038025" y="102595"/>
                  </a:lnTo>
                  <a:lnTo>
                    <a:pt x="3072952" y="131750"/>
                  </a:lnTo>
                  <a:lnTo>
                    <a:pt x="3105098" y="163896"/>
                  </a:lnTo>
                  <a:lnTo>
                    <a:pt x="3134253" y="198823"/>
                  </a:lnTo>
                  <a:lnTo>
                    <a:pt x="3160206" y="236319"/>
                  </a:lnTo>
                  <a:lnTo>
                    <a:pt x="3182745" y="276173"/>
                  </a:lnTo>
                  <a:lnTo>
                    <a:pt x="3201659" y="318174"/>
                  </a:lnTo>
                  <a:lnTo>
                    <a:pt x="3216738" y="362111"/>
                  </a:lnTo>
                  <a:lnTo>
                    <a:pt x="3227770" y="407773"/>
                  </a:lnTo>
                  <a:lnTo>
                    <a:pt x="3234544" y="454949"/>
                  </a:lnTo>
                  <a:lnTo>
                    <a:pt x="3236849" y="503427"/>
                  </a:lnTo>
                  <a:lnTo>
                    <a:pt x="3236849" y="2516898"/>
                  </a:lnTo>
                  <a:lnTo>
                    <a:pt x="3234544" y="2565378"/>
                  </a:lnTo>
                  <a:lnTo>
                    <a:pt x="3227770" y="2612554"/>
                  </a:lnTo>
                  <a:lnTo>
                    <a:pt x="3216738" y="2658216"/>
                  </a:lnTo>
                  <a:lnTo>
                    <a:pt x="3201659" y="2702151"/>
                  </a:lnTo>
                  <a:lnTo>
                    <a:pt x="3182745" y="2744150"/>
                  </a:lnTo>
                  <a:lnTo>
                    <a:pt x="3160206" y="2784001"/>
                  </a:lnTo>
                  <a:lnTo>
                    <a:pt x="3134253" y="2821494"/>
                  </a:lnTo>
                  <a:lnTo>
                    <a:pt x="3105098" y="2856417"/>
                  </a:lnTo>
                  <a:lnTo>
                    <a:pt x="3072952" y="2888560"/>
                  </a:lnTo>
                  <a:lnTo>
                    <a:pt x="3038025" y="2917711"/>
                  </a:lnTo>
                  <a:lnTo>
                    <a:pt x="3000529" y="2943659"/>
                  </a:lnTo>
                  <a:lnTo>
                    <a:pt x="2960675" y="2966195"/>
                  </a:lnTo>
                  <a:lnTo>
                    <a:pt x="2918674" y="2985106"/>
                  </a:lnTo>
                  <a:lnTo>
                    <a:pt x="2874737" y="3000182"/>
                  </a:lnTo>
                  <a:lnTo>
                    <a:pt x="2829075" y="3011211"/>
                  </a:lnTo>
                  <a:lnTo>
                    <a:pt x="2781899" y="3017984"/>
                  </a:lnTo>
                  <a:lnTo>
                    <a:pt x="2733421" y="3020288"/>
                  </a:lnTo>
                  <a:lnTo>
                    <a:pt x="503428" y="3020288"/>
                  </a:lnTo>
                  <a:lnTo>
                    <a:pt x="454949" y="3017984"/>
                  </a:lnTo>
                  <a:lnTo>
                    <a:pt x="407773" y="3011211"/>
                  </a:lnTo>
                  <a:lnTo>
                    <a:pt x="362111" y="3000182"/>
                  </a:lnTo>
                  <a:lnTo>
                    <a:pt x="318174" y="2985106"/>
                  </a:lnTo>
                  <a:lnTo>
                    <a:pt x="276173" y="2966195"/>
                  </a:lnTo>
                  <a:lnTo>
                    <a:pt x="236319" y="2943659"/>
                  </a:lnTo>
                  <a:lnTo>
                    <a:pt x="198823" y="2917711"/>
                  </a:lnTo>
                  <a:lnTo>
                    <a:pt x="163896" y="2888560"/>
                  </a:lnTo>
                  <a:lnTo>
                    <a:pt x="131750" y="2856417"/>
                  </a:lnTo>
                  <a:lnTo>
                    <a:pt x="102595" y="2821494"/>
                  </a:lnTo>
                  <a:lnTo>
                    <a:pt x="76642" y="2784001"/>
                  </a:lnTo>
                  <a:lnTo>
                    <a:pt x="54103" y="2744150"/>
                  </a:lnTo>
                  <a:lnTo>
                    <a:pt x="35189" y="2702151"/>
                  </a:lnTo>
                  <a:lnTo>
                    <a:pt x="20110" y="2658216"/>
                  </a:lnTo>
                  <a:lnTo>
                    <a:pt x="9078" y="2612554"/>
                  </a:lnTo>
                  <a:lnTo>
                    <a:pt x="2304" y="2565378"/>
                  </a:lnTo>
                  <a:lnTo>
                    <a:pt x="0" y="2516898"/>
                  </a:lnTo>
                  <a:lnTo>
                    <a:pt x="0" y="503427"/>
                  </a:lnTo>
                  <a:close/>
                </a:path>
              </a:pathLst>
            </a:custGeom>
            <a:noFill/>
            <a:ln w="99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789" name="Google Shape;789;p65"/>
          <p:cNvSpPr txBox="1"/>
          <p:nvPr/>
        </p:nvSpPr>
        <p:spPr>
          <a:xfrm>
            <a:off x="5982715" y="3467227"/>
            <a:ext cx="2783205" cy="2769235"/>
          </a:xfrm>
          <a:prstGeom prst="rect">
            <a:avLst/>
          </a:prstGeom>
          <a:noFill/>
          <a:ln>
            <a:noFill/>
          </a:ln>
        </p:spPr>
        <p:txBody>
          <a:bodyPr spcFirstLastPara="1" wrap="square" lIns="0" tIns="12700" rIns="0" bIns="0" anchor="t" anchorCtr="0">
            <a:spAutoFit/>
          </a:bodyPr>
          <a:lstStyle/>
          <a:p>
            <a:pPr marL="12700" marR="5080" lvl="0" indent="-635" algn="ctr" rtl="0">
              <a:lnSpc>
                <a:spcPct val="100000"/>
              </a:lnSpc>
              <a:spcBef>
                <a:spcPts val="0"/>
              </a:spcBef>
              <a:spcAft>
                <a:spcPts val="0"/>
              </a:spcAft>
              <a:buNone/>
            </a:pPr>
            <a:r>
              <a:rPr lang="en-US" sz="1800">
                <a:solidFill>
                  <a:srgbClr val="FFFFFF"/>
                </a:solidFill>
                <a:latin typeface="Helvetica Neue"/>
                <a:ea typeface="Helvetica Neue"/>
                <a:cs typeface="Helvetica Neue"/>
                <a:sym typeface="Helvetica Neue"/>
              </a:rPr>
              <a:t>Most non-python  programmers are having the  habit of writing main()  function where the important  and starter code of programs  are written. </a:t>
            </a:r>
            <a:r>
              <a:rPr lang="en-US" sz="1800" b="1">
                <a:solidFill>
                  <a:srgbClr val="FFFF00"/>
                </a:solidFill>
                <a:latin typeface="Arial"/>
                <a:ea typeface="Arial"/>
                <a:cs typeface="Arial"/>
                <a:sym typeface="Arial"/>
              </a:rPr>
              <a:t>In Python we can  also create main() and call it  by checking</a:t>
            </a:r>
            <a:r>
              <a:rPr lang="en-US" sz="1800" b="1" u="sng">
                <a:solidFill>
                  <a:srgbClr val="FFFF00"/>
                </a:solidFill>
                <a:latin typeface="Arial"/>
                <a:ea typeface="Arial"/>
                <a:cs typeface="Arial"/>
                <a:sym typeface="Arial"/>
              </a:rPr>
              <a:t>	</a:t>
            </a:r>
            <a:r>
              <a:rPr lang="en-US" sz="1800" b="1">
                <a:solidFill>
                  <a:srgbClr val="FFFFFF"/>
                </a:solidFill>
                <a:latin typeface="Arial"/>
                <a:ea typeface="Arial"/>
                <a:cs typeface="Arial"/>
                <a:sym typeface="Arial"/>
              </a:rPr>
              <a:t>name</a:t>
            </a:r>
            <a:r>
              <a:rPr lang="en-US" sz="1800" b="1" u="sng">
                <a:solidFill>
                  <a:srgbClr val="FFFFFF"/>
                </a:solidFill>
                <a:latin typeface="Arial"/>
                <a:ea typeface="Arial"/>
                <a:cs typeface="Arial"/>
                <a:sym typeface="Arial"/>
              </a:rPr>
              <a:t>	</a:t>
            </a:r>
            <a:r>
              <a:rPr lang="en-US" sz="1800" b="1">
                <a:solidFill>
                  <a:srgbClr val="FFFF00"/>
                </a:solidFill>
                <a:latin typeface="Arial"/>
                <a:ea typeface="Arial"/>
                <a:cs typeface="Arial"/>
                <a:sym typeface="Arial"/>
              </a:rPr>
              <a:t>to</a:t>
            </a:r>
            <a:endParaRPr sz="1800">
              <a:solidFill>
                <a:schemeClr val="dk1"/>
              </a:solidFill>
              <a:latin typeface="Arial"/>
              <a:ea typeface="Arial"/>
              <a:cs typeface="Arial"/>
              <a:sym typeface="Arial"/>
            </a:endParaRPr>
          </a:p>
          <a:p>
            <a:pPr marL="0" marR="0" lvl="0" indent="0" algn="ctr" rtl="0">
              <a:lnSpc>
                <a:spcPct val="100000"/>
              </a:lnSpc>
              <a:spcBef>
                <a:spcPts val="5"/>
              </a:spcBef>
              <a:spcAft>
                <a:spcPts val="0"/>
              </a:spcAft>
              <a:buNone/>
            </a:pPr>
            <a:r>
              <a:rPr lang="en-US" sz="1800" b="1" u="sng">
                <a:solidFill>
                  <a:srgbClr val="FFFFFF"/>
                </a:solidFill>
                <a:latin typeface="Arial"/>
                <a:ea typeface="Arial"/>
                <a:cs typeface="Arial"/>
                <a:sym typeface="Arial"/>
              </a:rPr>
              <a:t> 	</a:t>
            </a:r>
            <a:r>
              <a:rPr lang="en-US" sz="1800" b="1">
                <a:solidFill>
                  <a:srgbClr val="FFFFFF"/>
                </a:solidFill>
                <a:latin typeface="Arial"/>
                <a:ea typeface="Arial"/>
                <a:cs typeface="Arial"/>
                <a:sym typeface="Arial"/>
              </a:rPr>
              <a:t>main</a:t>
            </a:r>
            <a:r>
              <a:rPr lang="en-US" sz="1800" b="1" u="sng">
                <a:solidFill>
                  <a:srgbClr val="FFFFFF"/>
                </a:solidFill>
                <a:latin typeface="Arial"/>
                <a:ea typeface="Arial"/>
                <a:cs typeface="Arial"/>
                <a:sym typeface="Arial"/>
              </a:rPr>
              <a:t> 	</a:t>
            </a:r>
            <a:r>
              <a:rPr lang="en-US" sz="1800" b="1">
                <a:solidFill>
                  <a:srgbClr val="FFFF00"/>
                </a:solidFill>
                <a:latin typeface="Arial"/>
                <a:ea typeface="Arial"/>
                <a:cs typeface="Arial"/>
                <a:sym typeface="Arial"/>
              </a:rPr>
              <a:t>and then call any</a:t>
            </a:r>
            <a:endParaRPr sz="1800">
              <a:solidFill>
                <a:schemeClr val="dk1"/>
              </a:solidFill>
              <a:latin typeface="Arial"/>
              <a:ea typeface="Arial"/>
              <a:cs typeface="Arial"/>
              <a:sym typeface="Arial"/>
            </a:endParaRPr>
          </a:p>
          <a:p>
            <a:pPr marL="0" marR="0" lvl="0" indent="0" algn="ctr" rtl="0">
              <a:lnSpc>
                <a:spcPct val="100000"/>
              </a:lnSpc>
              <a:spcBef>
                <a:spcPts val="0"/>
              </a:spcBef>
              <a:spcAft>
                <a:spcPts val="0"/>
              </a:spcAft>
              <a:buNone/>
            </a:pPr>
            <a:r>
              <a:rPr lang="en-US" sz="1800" b="1">
                <a:solidFill>
                  <a:srgbClr val="FFFF00"/>
                </a:solidFill>
                <a:latin typeface="Arial"/>
                <a:ea typeface="Arial"/>
                <a:cs typeface="Arial"/>
                <a:sym typeface="Arial"/>
              </a:rPr>
              <a:t>function, in this case main()</a:t>
            </a:r>
            <a:endParaRPr sz="1800">
              <a:solidFill>
                <a:schemeClr val="dk1"/>
              </a:solidFill>
              <a:latin typeface="Arial"/>
              <a:ea typeface="Arial"/>
              <a:cs typeface="Arial"/>
              <a:sym typeface="Arial"/>
            </a:endParaRPr>
          </a:p>
        </p:txBody>
      </p:sp>
      <p:grpSp>
        <p:nvGrpSpPr>
          <p:cNvPr id="790" name="Google Shape;790;p65"/>
          <p:cNvGrpSpPr/>
          <p:nvPr/>
        </p:nvGrpSpPr>
        <p:grpSpPr>
          <a:xfrm>
            <a:off x="4232528" y="3869435"/>
            <a:ext cx="1564767" cy="2150365"/>
            <a:chOff x="4232528" y="3869435"/>
            <a:chExt cx="1564767" cy="2150365"/>
          </a:xfrm>
        </p:grpSpPr>
        <p:pic>
          <p:nvPicPr>
            <p:cNvPr id="791" name="Google Shape;791;p65"/>
            <p:cNvPicPr preferRelativeResize="0"/>
            <p:nvPr/>
          </p:nvPicPr>
          <p:blipFill rotWithShape="1">
            <a:blip r:embed="rId10">
              <a:alphaModFix/>
            </a:blip>
            <a:srcRect/>
            <a:stretch/>
          </p:blipFill>
          <p:spPr>
            <a:xfrm>
              <a:off x="4986527" y="3869435"/>
              <a:ext cx="810768" cy="312419"/>
            </a:xfrm>
            <a:prstGeom prst="rect">
              <a:avLst/>
            </a:prstGeom>
            <a:noFill/>
            <a:ln>
              <a:noFill/>
            </a:ln>
          </p:spPr>
        </p:pic>
        <p:sp>
          <p:nvSpPr>
            <p:cNvPr id="792" name="Google Shape;792;p65"/>
            <p:cNvSpPr/>
            <p:nvPr/>
          </p:nvSpPr>
          <p:spPr>
            <a:xfrm>
              <a:off x="4232528" y="5791200"/>
              <a:ext cx="1159510" cy="228600"/>
            </a:xfrm>
            <a:custGeom>
              <a:avLst/>
              <a:gdLst/>
              <a:ahLst/>
              <a:cxnLst/>
              <a:rect l="l" t="t" r="r" b="b"/>
              <a:pathLst>
                <a:path w="1159510" h="228600" extrusionOk="0">
                  <a:moveTo>
                    <a:pt x="114300" y="0"/>
                  </a:moveTo>
                  <a:lnTo>
                    <a:pt x="0" y="114300"/>
                  </a:lnTo>
                  <a:lnTo>
                    <a:pt x="114300" y="228600"/>
                  </a:lnTo>
                  <a:lnTo>
                    <a:pt x="114300" y="171450"/>
                  </a:lnTo>
                  <a:lnTo>
                    <a:pt x="1159510" y="171450"/>
                  </a:lnTo>
                  <a:lnTo>
                    <a:pt x="1159510" y="57150"/>
                  </a:lnTo>
                  <a:lnTo>
                    <a:pt x="114300" y="57150"/>
                  </a:lnTo>
                  <a:lnTo>
                    <a:pt x="114300" y="0"/>
                  </a:lnTo>
                  <a:close/>
                </a:path>
              </a:pathLst>
            </a:custGeom>
            <a:solidFill>
              <a:srgbClr val="FFC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3" name="Google Shape;793;p65"/>
            <p:cNvSpPr/>
            <p:nvPr/>
          </p:nvSpPr>
          <p:spPr>
            <a:xfrm>
              <a:off x="4232528" y="5791200"/>
              <a:ext cx="1159510" cy="228600"/>
            </a:xfrm>
            <a:custGeom>
              <a:avLst/>
              <a:gdLst/>
              <a:ahLst/>
              <a:cxnLst/>
              <a:rect l="l" t="t" r="r" b="b"/>
              <a:pathLst>
                <a:path w="1159510" h="228600" extrusionOk="0">
                  <a:moveTo>
                    <a:pt x="0" y="114300"/>
                  </a:moveTo>
                  <a:lnTo>
                    <a:pt x="114300" y="0"/>
                  </a:lnTo>
                  <a:lnTo>
                    <a:pt x="114300" y="57150"/>
                  </a:lnTo>
                  <a:lnTo>
                    <a:pt x="1159510" y="57150"/>
                  </a:lnTo>
                  <a:lnTo>
                    <a:pt x="1159510" y="171450"/>
                  </a:lnTo>
                  <a:lnTo>
                    <a:pt x="114300" y="171450"/>
                  </a:lnTo>
                  <a:lnTo>
                    <a:pt x="114300" y="228600"/>
                  </a:lnTo>
                  <a:lnTo>
                    <a:pt x="0" y="114300"/>
                  </a:lnTo>
                  <a:close/>
                </a:path>
              </a:pathLst>
            </a:custGeom>
            <a:noFill/>
            <a:ln w="19050" cap="flat" cmpd="sng">
              <a:solidFill>
                <a:srgbClr val="6B859A"/>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794" name="Google Shape;794;p65"/>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795" name="Google Shape;795;p65"/>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66"/>
          <p:cNvSpPr txBox="1">
            <a:spLocks noGrp="1"/>
          </p:cNvSpPr>
          <p:nvPr>
            <p:ph type="title"/>
          </p:nvPr>
        </p:nvSpPr>
        <p:spPr>
          <a:xfrm>
            <a:off x="691387" y="343865"/>
            <a:ext cx="445897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Example - Recursion</a:t>
            </a:r>
            <a:endParaRPr sz="4400"/>
          </a:p>
        </p:txBody>
      </p:sp>
      <p:grpSp>
        <p:nvGrpSpPr>
          <p:cNvPr id="801" name="Google Shape;801;p66"/>
          <p:cNvGrpSpPr/>
          <p:nvPr/>
        </p:nvGrpSpPr>
        <p:grpSpPr>
          <a:xfrm>
            <a:off x="34635" y="1600200"/>
            <a:ext cx="3810000" cy="4419599"/>
            <a:chOff x="34635" y="1600200"/>
            <a:chExt cx="3810000" cy="4419599"/>
          </a:xfrm>
        </p:grpSpPr>
        <p:pic>
          <p:nvPicPr>
            <p:cNvPr id="802" name="Google Shape;802;p66"/>
            <p:cNvPicPr preferRelativeResize="0"/>
            <p:nvPr/>
          </p:nvPicPr>
          <p:blipFill rotWithShape="1">
            <a:blip r:embed="rId3">
              <a:alphaModFix/>
            </a:blip>
            <a:srcRect/>
            <a:stretch/>
          </p:blipFill>
          <p:spPr>
            <a:xfrm>
              <a:off x="34635" y="1600200"/>
              <a:ext cx="3810000" cy="3429000"/>
            </a:xfrm>
            <a:prstGeom prst="rect">
              <a:avLst/>
            </a:prstGeom>
            <a:noFill/>
            <a:ln>
              <a:noFill/>
            </a:ln>
          </p:spPr>
        </p:pic>
        <p:pic>
          <p:nvPicPr>
            <p:cNvPr id="803" name="Google Shape;803;p66"/>
            <p:cNvPicPr preferRelativeResize="0"/>
            <p:nvPr/>
          </p:nvPicPr>
          <p:blipFill rotWithShape="1">
            <a:blip r:embed="rId4">
              <a:alphaModFix/>
            </a:blip>
            <a:srcRect/>
            <a:stretch/>
          </p:blipFill>
          <p:spPr>
            <a:xfrm>
              <a:off x="34635" y="4946078"/>
              <a:ext cx="3810000" cy="1073721"/>
            </a:xfrm>
            <a:prstGeom prst="rect">
              <a:avLst/>
            </a:prstGeom>
            <a:noFill/>
            <a:ln>
              <a:noFill/>
            </a:ln>
          </p:spPr>
        </p:pic>
      </p:grpSp>
      <p:pic>
        <p:nvPicPr>
          <p:cNvPr id="804" name="Google Shape;804;p66"/>
          <p:cNvPicPr preferRelativeResize="0"/>
          <p:nvPr/>
        </p:nvPicPr>
        <p:blipFill rotWithShape="1">
          <a:blip r:embed="rId5">
            <a:alphaModFix/>
          </a:blip>
          <a:srcRect/>
          <a:stretch/>
        </p:blipFill>
        <p:spPr>
          <a:xfrm>
            <a:off x="3962400" y="1593214"/>
            <a:ext cx="5105400" cy="4578985"/>
          </a:xfrm>
          <a:prstGeom prst="rect">
            <a:avLst/>
          </a:prstGeom>
          <a:noFill/>
          <a:ln>
            <a:noFill/>
          </a:ln>
        </p:spPr>
      </p:pic>
      <p:sp>
        <p:nvSpPr>
          <p:cNvPr id="805" name="Google Shape;805;p66"/>
          <p:cNvSpPr txBox="1">
            <a:spLocks noGrp="1"/>
          </p:cNvSpPr>
          <p:nvPr>
            <p:ph type="dt" idx="10"/>
          </p:nvPr>
        </p:nvSpPr>
        <p:spPr>
          <a:xfrm>
            <a:off x="457200" y="6356350"/>
            <a:ext cx="2133600" cy="365125"/>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a:t>8/19/2024</a:t>
            </a:r>
            <a:endParaRPr/>
          </a:p>
        </p:txBody>
      </p:sp>
      <p:sp>
        <p:nvSpPr>
          <p:cNvPr id="806" name="Google Shape;806;p66"/>
          <p:cNvSpPr txBox="1">
            <a:spLocks noGrp="1"/>
          </p:cNvSpPr>
          <p:nvPr>
            <p:ph type="sldNum" idx="12"/>
          </p:nvPr>
        </p:nvSpPr>
        <p:spPr>
          <a:xfrm>
            <a:off x="6553200" y="6356350"/>
            <a:ext cx="2133600" cy="365125"/>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66</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67"/>
          <p:cNvSpPr txBox="1">
            <a:spLocks noGrp="1"/>
          </p:cNvSpPr>
          <p:nvPr>
            <p:ph type="title"/>
          </p:nvPr>
        </p:nvSpPr>
        <p:spPr>
          <a:xfrm>
            <a:off x="304800" y="152400"/>
            <a:ext cx="6403340" cy="697230"/>
          </a:xfrm>
          <a:prstGeom prst="rect">
            <a:avLst/>
          </a:prstGeom>
          <a:noFill/>
          <a:ln>
            <a:noFill/>
          </a:ln>
        </p:spPr>
        <p:txBody>
          <a:bodyPr spcFirstLastPara="1" wrap="square" lIns="0" tIns="13325" rIns="0" bIns="0" anchor="ctr" anchorCtr="0">
            <a:spAutoFit/>
          </a:bodyPr>
          <a:lstStyle/>
          <a:p>
            <a:pPr marL="12700" lvl="0" indent="0" algn="ctr" rtl="0">
              <a:lnSpc>
                <a:spcPct val="100000"/>
              </a:lnSpc>
              <a:spcBef>
                <a:spcPts val="0"/>
              </a:spcBef>
              <a:spcAft>
                <a:spcPts val="0"/>
              </a:spcAft>
              <a:buNone/>
            </a:pPr>
            <a:r>
              <a:rPr lang="en-US" sz="4400"/>
              <a:t>Questions based on functions</a:t>
            </a:r>
            <a:endParaRPr sz="4400"/>
          </a:p>
        </p:txBody>
      </p:sp>
      <p:sp>
        <p:nvSpPr>
          <p:cNvPr id="812" name="Google Shape;812;p67"/>
          <p:cNvSpPr txBox="1"/>
          <p:nvPr/>
        </p:nvSpPr>
        <p:spPr>
          <a:xfrm>
            <a:off x="691387" y="1612138"/>
            <a:ext cx="7997825" cy="4713605"/>
          </a:xfrm>
          <a:prstGeom prst="rect">
            <a:avLst/>
          </a:prstGeom>
          <a:noFill/>
          <a:ln>
            <a:noFill/>
          </a:ln>
        </p:spPr>
        <p:txBody>
          <a:bodyPr spcFirstLastPara="1" wrap="square" lIns="0" tIns="13325" rIns="0" bIns="0" anchor="t" anchorCtr="0">
            <a:spAutoFit/>
          </a:bodyPr>
          <a:lstStyle/>
          <a:p>
            <a:pPr marL="332740" marR="5080" lvl="0" indent="-320675" algn="just"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WAP to create function Lsearch() which takes List  and number to search and return the position of  number in list using Linear Searching method</a:t>
            </a:r>
            <a:endParaRPr sz="2900">
              <a:solidFill>
                <a:schemeClr val="dk1"/>
              </a:solidFill>
              <a:latin typeface="Helvetica Neue"/>
              <a:ea typeface="Helvetica Neue"/>
              <a:cs typeface="Helvetica Neue"/>
              <a:sym typeface="Helvetica Neue"/>
            </a:endParaRPr>
          </a:p>
          <a:p>
            <a:pPr marL="0" marR="0" lvl="0" indent="0" algn="l" rtl="0">
              <a:lnSpc>
                <a:spcPct val="100000"/>
              </a:lnSpc>
              <a:spcBef>
                <a:spcPts val="20"/>
              </a:spcBef>
              <a:spcAft>
                <a:spcPts val="0"/>
              </a:spcAft>
              <a:buClr>
                <a:srgbClr val="DD8046"/>
              </a:buClr>
              <a:buSzPts val="4300"/>
              <a:buFont typeface="Noto Sans Symbols"/>
              <a:buNone/>
            </a:pPr>
            <a:endParaRPr sz="4300">
              <a:solidFill>
                <a:schemeClr val="dk1"/>
              </a:solidFill>
              <a:latin typeface="Helvetica Neue"/>
              <a:ea typeface="Helvetica Neue"/>
              <a:cs typeface="Helvetica Neue"/>
              <a:sym typeface="Helvetica Neue"/>
            </a:endParaRPr>
          </a:p>
          <a:p>
            <a:pPr marL="332740" marR="6985" lvl="0" indent="-320675" algn="just" rtl="0">
              <a:lnSpc>
                <a:spcPct val="100000"/>
              </a:lnSpc>
              <a:spcBef>
                <a:spcPts val="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WAP to create function Bsearch() which takes List  and number to search and return the position of  number in list using Binary Searching method</a:t>
            </a:r>
            <a:endParaRPr sz="2900">
              <a:solidFill>
                <a:schemeClr val="dk1"/>
              </a:solidFill>
              <a:latin typeface="Helvetica Neue"/>
              <a:ea typeface="Helvetica Neue"/>
              <a:cs typeface="Helvetica Neue"/>
              <a:sym typeface="Helvetica Neue"/>
            </a:endParaRPr>
          </a:p>
          <a:p>
            <a:pPr marL="332740" marR="5715" lvl="0" indent="-320675" algn="just" rtl="0">
              <a:lnSpc>
                <a:spcPct val="100000"/>
              </a:lnSpc>
              <a:spcBef>
                <a:spcPts val="700"/>
              </a:spcBef>
              <a:spcAft>
                <a:spcPts val="0"/>
              </a:spcAft>
              <a:buClr>
                <a:srgbClr val="DD8046"/>
              </a:buClr>
              <a:buSzPts val="1750"/>
              <a:buFont typeface="Noto Sans Symbols"/>
              <a:buChar char="◻"/>
            </a:pPr>
            <a:r>
              <a:rPr lang="en-US" sz="2900">
                <a:solidFill>
                  <a:schemeClr val="dk1"/>
                </a:solidFill>
                <a:latin typeface="Helvetica Neue"/>
                <a:ea typeface="Helvetica Neue"/>
                <a:cs typeface="Helvetica Neue"/>
                <a:sym typeface="Helvetica Neue"/>
              </a:rPr>
              <a:t>What is the difference between Local and Global  variables? Also give suitable Python code to  illustrate both</a:t>
            </a:r>
            <a:endParaRPr sz="2900">
              <a:solidFill>
                <a:schemeClr val="dk1"/>
              </a:solidFill>
              <a:latin typeface="Helvetica Neue"/>
              <a:ea typeface="Helvetica Neue"/>
              <a:cs typeface="Helvetica Neue"/>
              <a:sym typeface="Helvetica Neue"/>
            </a:endParaRPr>
          </a:p>
        </p:txBody>
      </p:sp>
      <p:sp>
        <p:nvSpPr>
          <p:cNvPr id="813" name="Google Shape;813;p67"/>
          <p:cNvSpPr txBox="1">
            <a:spLocks noGrp="1"/>
          </p:cNvSpPr>
          <p:nvPr>
            <p:ph type="dt" idx="4294967295"/>
          </p:nvPr>
        </p:nvSpPr>
        <p:spPr>
          <a:xfrm>
            <a:off x="457200" y="6377940"/>
            <a:ext cx="2103120" cy="342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8/19/2024</a:t>
            </a:r>
            <a:endParaRPr/>
          </a:p>
        </p:txBody>
      </p:sp>
      <p:sp>
        <p:nvSpPr>
          <p:cNvPr id="814" name="Google Shape;814;p67"/>
          <p:cNvSpPr txBox="1">
            <a:spLocks noGrp="1"/>
          </p:cNvSpPr>
          <p:nvPr>
            <p:ph type="sldNum" idx="4294967295"/>
          </p:nvPr>
        </p:nvSpPr>
        <p:spPr>
          <a:xfrm>
            <a:off x="6583680" y="6377940"/>
            <a:ext cx="2103120" cy="342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6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Questions???</a:t>
            </a:r>
            <a:endParaRPr/>
          </a:p>
        </p:txBody>
      </p:sp>
      <p:sp>
        <p:nvSpPr>
          <p:cNvPr id="820" name="Google Shape;820;p6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139700" algn="l" rtl="0">
              <a:spcBef>
                <a:spcPts val="0"/>
              </a:spcBef>
              <a:spcAft>
                <a:spcPts val="0"/>
              </a:spcAft>
              <a:buClr>
                <a:schemeClr val="dk1"/>
              </a:buClr>
              <a:buSzPts val="3200"/>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2792</Words>
  <Application>Microsoft Office PowerPoint</Application>
  <PresentationFormat>On-screen Show (4:3)</PresentationFormat>
  <Paragraphs>355</Paragraphs>
  <Slides>68</Slides>
  <Notes>68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Noto Sans Symbols</vt:lpstr>
      <vt:lpstr>Times New Roman</vt:lpstr>
      <vt:lpstr>Calibri</vt:lpstr>
      <vt:lpstr>Arial</vt:lpstr>
      <vt:lpstr>Helvetica Neue</vt:lpstr>
      <vt:lpstr>Office Theme</vt:lpstr>
      <vt:lpstr>PowerPoint Presentation</vt:lpstr>
      <vt:lpstr>Introduction</vt:lpstr>
      <vt:lpstr>Introduction</vt:lpstr>
      <vt:lpstr>Advantages of Function</vt:lpstr>
      <vt:lpstr>User Defined Functions</vt:lpstr>
      <vt:lpstr>Points to remember…</vt:lpstr>
      <vt:lpstr>User Defined function can be….</vt:lpstr>
      <vt:lpstr>Function with no argument and no return</vt:lpstr>
      <vt:lpstr>Function with parameters but  no return value</vt:lpstr>
      <vt:lpstr>Function with parameters but no return value</vt:lpstr>
      <vt:lpstr>Function with parameter and return</vt:lpstr>
      <vt:lpstr>Function with return</vt:lpstr>
      <vt:lpstr>Function with return</vt:lpstr>
      <vt:lpstr>Function not returning value</vt:lpstr>
      <vt:lpstr>Parameters and Arguments in Function</vt:lpstr>
      <vt:lpstr>Example of Formal/Actual  Arguments</vt:lpstr>
      <vt:lpstr>Types of Arguments</vt:lpstr>
      <vt:lpstr>Positional arguments</vt:lpstr>
      <vt:lpstr>PowerPoint Presentation</vt:lpstr>
      <vt:lpstr>Default arguments</vt:lpstr>
      <vt:lpstr>Default arguments</vt:lpstr>
      <vt:lpstr>Default arguments</vt:lpstr>
      <vt:lpstr>Keyword(Named) Arguments</vt:lpstr>
      <vt:lpstr>Keyword(Named) Argument</vt:lpstr>
      <vt:lpstr>Rules for combining all three type  of arguments</vt:lpstr>
      <vt:lpstr>Returning Multiple values</vt:lpstr>
      <vt:lpstr>Multiple return value stored in  TUPLE</vt:lpstr>
      <vt:lpstr>Multiple return value stored by  unpacking in multiple variables</vt:lpstr>
      <vt:lpstr>Composition</vt:lpstr>
      <vt:lpstr>Scope of Variables</vt:lpstr>
      <vt:lpstr>Global Scope</vt:lpstr>
      <vt:lpstr>Local Scope</vt:lpstr>
      <vt:lpstr>Example – Local and Global Scope</vt:lpstr>
      <vt:lpstr>Example – Local and Global Scope</vt:lpstr>
      <vt:lpstr>Example – Local and Global Scope</vt:lpstr>
      <vt:lpstr>PowerPoint Presentation</vt:lpstr>
      <vt:lpstr>Lifetime of Variable</vt:lpstr>
      <vt:lpstr>Name Resolution (Scope Resolution)</vt:lpstr>
      <vt:lpstr>Predict the output</vt:lpstr>
      <vt:lpstr>Predict the output</vt:lpstr>
      <vt:lpstr>Predict the output</vt:lpstr>
      <vt:lpstr>PowerPoint Presentation</vt:lpstr>
      <vt:lpstr>Predict the output</vt:lpstr>
      <vt:lpstr>Predict the output</vt:lpstr>
      <vt:lpstr>Predict the output</vt:lpstr>
      <vt:lpstr>Predict the output</vt:lpstr>
      <vt:lpstr>Mutability/Immutability of  Arguments/Parameters and function call</vt:lpstr>
      <vt:lpstr>Mutability/Immutability of  Arguments/Parameters and function call</vt:lpstr>
      <vt:lpstr>Mutability/Immutability of  Arguments/Parameters and function call</vt:lpstr>
      <vt:lpstr>Mutability/Immutability of  Arguments/Parameters and function call</vt:lpstr>
      <vt:lpstr>Passing String to function</vt:lpstr>
      <vt:lpstr>Passing string to function and  count how  many vowels in it</vt:lpstr>
      <vt:lpstr>Program to count how many times  any  character is present in string</vt:lpstr>
      <vt:lpstr>Program to Jumble the given string by passing  it to function using temporary string</vt:lpstr>
      <vt:lpstr>Passing List to function</vt:lpstr>
      <vt:lpstr>Passing list to function, and just  double each value</vt:lpstr>
      <vt:lpstr>Passing list to function to double the  odd values and half the even values</vt:lpstr>
      <vt:lpstr>Passing nested list to function and print all those values  which are at diagonal position in the form of matrix</vt:lpstr>
      <vt:lpstr>Passing list to function to calculate sum and average of  all numbers and return it in the form of tuple</vt:lpstr>
      <vt:lpstr>Passing list to function to calculate sum and average of  all numbers and return it in the form of tuple</vt:lpstr>
      <vt:lpstr>Passing tuples to function</vt:lpstr>
      <vt:lpstr>Input n numbers in tuple and pass it function to count  how many even and odd numbers are entered.</vt:lpstr>
      <vt:lpstr>Input n numbers in tuple and pass it function to count  how many even and odd numbers are entered.</vt:lpstr>
      <vt:lpstr>Understanding of main() function in Python</vt:lpstr>
      <vt:lpstr>Understanding of main() function in Python</vt:lpstr>
      <vt:lpstr>Example - Recursion</vt:lpstr>
      <vt:lpstr>Questions based on functions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Vibhu Sharma</cp:lastModifiedBy>
  <cp:revision>1</cp:revision>
  <dcterms:created xsi:type="dcterms:W3CDTF">2010-04-09T07:36:00Z</dcterms:created>
  <dcterms:modified xsi:type="dcterms:W3CDTF">2025-09-15T04:02:52Z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77C75C994B4C446DB33EAD35C783E0D7_12</vt:lpwstr>
  </property>
  <property fmtid="{D5CDD505-2E9C-101B-9397-08002B2CF9AE}" pid="3" name="KSOProductBuildVer">
    <vt:lpwstr>1033-12.2.0.17153</vt:lpwstr>
  </property>
</Properties>
</file>