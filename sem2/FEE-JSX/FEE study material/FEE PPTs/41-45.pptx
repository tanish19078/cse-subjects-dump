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45" r:id="rId3"/>
    <p:sldId id="338" r:id="rId4"/>
    <p:sldId id="347" r:id="rId5"/>
    <p:sldId id="348" r:id="rId6"/>
    <p:sldId id="349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3" r:id="rId16"/>
    <p:sldId id="364" r:id="rId17"/>
    <p:sldId id="365" r:id="rId18"/>
    <p:sldId id="366" r:id="rId19"/>
    <p:sldId id="367" r:id="rId20"/>
    <p:sldId id="368" r:id="rId21"/>
    <p:sldId id="323" r:id="rId2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24CE57-81FB-4CE5-B3F0-45E823DBC8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howGuides="1">
      <p:cViewPr varScale="1">
        <p:scale>
          <a:sx n="60" d="100"/>
          <a:sy n="60" d="100"/>
        </p:scale>
        <p:origin x="1460" y="44"/>
      </p:cViewPr>
      <p:guideLst>
        <p:guide orient="horz" pos="2160"/>
        <p:guide pos="2829"/>
      </p:guideLst>
    </p:cSldViewPr>
  </p:slideViewPr>
  <p:outlineViewPr>
    <p:cViewPr>
      <p:scale>
        <a:sx n="33" d="100"/>
        <a:sy n="33" d="100"/>
      </p:scale>
      <p:origin x="0" y="-2519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9" descr="LOGO.gif"/>
          <p:cNvPicPr preferRelativeResize="0"/>
          <p:nvPr/>
        </p:nvPicPr>
        <p:blipFill rotWithShape="1">
          <a:blip r:embed="rId2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9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39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Google Shape;28;p39" descr="LOGO.gif"/>
            <p:cNvPicPr preferRelativeResize="0"/>
            <p:nvPr/>
          </p:nvPicPr>
          <p:blipFill rotWithShape="1">
            <a:blip r:embed="rId2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9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30" name="Google Shape;30;p39" descr="logo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683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15" name="Google Shape;15;p38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38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Google Shape;17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 descr="LOGO.gif"/>
          <p:cNvPicPr preferRelativeResize="0"/>
          <p:nvPr/>
        </p:nvPicPr>
        <p:blipFill rotWithShape="1">
          <a:blip r:embed="rId5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3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1" name="Google Shape;21;p38" descr="LOGO.gif"/>
            <p:cNvPicPr preferRelativeResize="0"/>
            <p:nvPr/>
          </p:nvPicPr>
          <p:blipFill rotWithShape="1">
            <a:blip r:embed="rId5"/>
            <a:srcRect b="10713"/>
            <a:stretch>
              <a:fillRect/>
            </a:stretch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" name="Google Shape;23;p38" descr="logo.jp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algn="ctr"/>
            <a:r>
              <a:rPr lang="en-US" sz="2800" dirty="0" err="1"/>
              <a:t>async</a:t>
            </a:r>
            <a:r>
              <a:rPr lang="en-US" sz="2800" dirty="0"/>
              <a:t>/await: Fetch API, AJAX basics, Event loop &amp; concurrency model.</a:t>
            </a:r>
          </a:p>
          <a:p>
            <a:pPr algn="ctr"/>
            <a:r>
              <a:rPr lang="en-US" sz="2800" dirty="0"/>
              <a:t>Introduction to </a:t>
            </a:r>
            <a:r>
              <a:rPr lang="en-US" sz="2800" dirty="0" err="1"/>
              <a:t>Git</a:t>
            </a:r>
            <a:r>
              <a:rPr lang="en-US" sz="2800" dirty="0"/>
              <a:t>.</a:t>
            </a:r>
            <a:endParaRPr lang="en-US" altLang="en-US" sz="2800" b="1" dirty="0">
              <a:solidFill>
                <a:schemeClr val="dk1"/>
              </a:solidFill>
              <a:latin typeface="Times New Roman" pitchFamily="18" charset="0"/>
              <a:ea typeface="Calibri" panose="020F0502020204030204"/>
              <a:cs typeface="Times New Roman" pitchFamily="18" charset="0"/>
              <a:sym typeface="Calibri" panose="020F0502020204030204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</a:t>
            </a:r>
            <a:endParaRPr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Chitkara University, Punjab</a:t>
            </a:r>
          </a:p>
        </p:txBody>
      </p:sp>
      <p:sp>
        <p:nvSpPr>
          <p:cNvPr id="54" name="Google Shape;5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Async</a:t>
            </a:r>
            <a:r>
              <a:rPr lang="en-US" b="1" dirty="0"/>
              <a:t> and Await in JavaScript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1588"/>
            <a:ext cx="8229600" cy="4824095"/>
          </a:xfrm>
        </p:spPr>
        <p:txBody>
          <a:bodyPr/>
          <a:lstStyle/>
          <a:p>
            <a:pPr marL="88900" indent="0" fontAlgn="base">
              <a:lnSpc>
                <a:spcPct val="150000"/>
              </a:lnSpc>
              <a:buNone/>
            </a:pPr>
            <a:r>
              <a:rPr lang="en-US" dirty="0" err="1"/>
              <a:t>Async</a:t>
            </a:r>
            <a:r>
              <a:rPr lang="en-US" dirty="0"/>
              <a:t>/Await in JavaScript allows you to write asynchronous code in a clean, synchronous-like manner, making it easier to read, understand, and maintain while working with promises.</a:t>
            </a:r>
          </a:p>
          <a:p>
            <a:pPr fontAlgn="base">
              <a:lnSpc>
                <a:spcPct val="150000"/>
              </a:lnSpc>
            </a:pPr>
            <a:r>
              <a:rPr lang="en-US" dirty="0" err="1"/>
              <a:t>async</a:t>
            </a:r>
            <a:r>
              <a:rPr lang="en-US" dirty="0"/>
              <a:t> functions always return a Promise.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await pauses execution until the Promise is resolved or rejected.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Improves readability compared to .then() and .catch() chaining.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Makes error handling simpler using try...catch.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Ideal for managing complex asynchronous flows in a structured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218" y="1168459"/>
            <a:ext cx="8225701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try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= await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someAsyncFunction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(result);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catch (error)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("Error:",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error.message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36560"/>
            <a:ext cx="8625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 let us write promise-based code in a synchronous-looking way, improving readability while keeping the execution non-blocking.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always returns a Promise—if it returns a non-promise value, JavaScript automatically wraps it in a resolved Promise.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asynchronous code easier to read and maintain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block the main execution thread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returns a Promise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Non-promise return values are auto-wrapped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Promise.resolve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seamlessly with await for handling promises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 </a:t>
            </a:r>
            <a:r>
              <a:rPr lang="en-US" sz="3200" dirty="0" smtClean="0"/>
              <a:t> 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850" y="1168459"/>
            <a:ext cx="82150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>
              <a:lnSpc>
                <a:spcPct val="150000"/>
              </a:lnSpc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myFunction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"Hello";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25873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68459"/>
            <a:ext cx="862584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Await Keyword</a:t>
            </a:r>
          </a:p>
          <a:p>
            <a:pPr algn="just" fontAlgn="base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await keyword pauses the execution of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until a Promise is resolved or rejected. It can only be used inside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function, making asynchronous code easier to read and manage.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wait for a Promise to settle.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only be used inside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callback and .then() chaining.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asynchronous code cleaner and more readable.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error handling with try...catch.</a:t>
            </a:r>
          </a:p>
          <a:p>
            <a:pPr algn="just">
              <a:lnSpc>
                <a:spcPct val="150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25873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977065"/>
            <a:ext cx="862584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=&gt; 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let y = await "Hello World";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(y);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transforms a regular JavaScript function into an asynchronous function, causing it to return a Promise.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await keyword is used inside an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pause its execution and wait for a Promise to resolve before continuing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170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" y="925873"/>
            <a:ext cx="8803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Async</a:t>
            </a:r>
            <a:r>
              <a:rPr lang="en-US" sz="3200" b="1" dirty="0"/>
              <a:t> and Await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977065"/>
            <a:ext cx="8625840" cy="696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/Await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provides predefined arguments for handling promises: resolve and reject.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when an asynchronous task is completed successfully.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Used when an asynchronous task fails, providing the reason for failure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try {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let response = await fetch('https://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api.example.com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/data');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let data = await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catch (error) {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console.error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('Error fetching data:', error);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fontAlgn="base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8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F</a:t>
            </a:r>
            <a:r>
              <a:rPr lang="en-US" sz="3200" b="1" dirty="0" smtClean="0"/>
              <a:t>etch API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fetch() is the modern way to request data from a server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is asynchronous and returns a promise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 use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to get data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does not return the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 It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a promise that becomes a response later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fetch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then(function(response) {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(response);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});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Response object, not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67253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F</a:t>
            </a:r>
            <a:r>
              <a:rPr lang="en-US" sz="3200" b="1" dirty="0" smtClean="0"/>
              <a:t>etch API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Getting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get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you must read the response body.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returns a promise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fetch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then(function(response) {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})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then(function(data) {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(data);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});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02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F</a:t>
            </a:r>
            <a:r>
              <a:rPr lang="en-US" sz="3200" b="1" dirty="0" smtClean="0"/>
              <a:t>etch API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 with 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await make fetch code easier to read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recommended way for beginners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fontAlgn="base">
              <a:lnSpc>
                <a:spcPct val="150000"/>
              </a:lnSpc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loadData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let response = await fetch("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let data = await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(data);</a:t>
            </a:r>
          </a:p>
          <a:p>
            <a:pPr fontAlgn="base"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loadData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72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AJAX Basics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AJAX: Asynchronous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And XML.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AJAX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a programming language.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AJAX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uses a combination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of:</a:t>
            </a:r>
          </a:p>
          <a:p>
            <a:pPr marL="342900" lvl="3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built-in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XMLHttpRequest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 (to request data from a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web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server)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HTML DOM (to display or use the data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AJAX allows web pages to be updated asynchronously by exchanging data with a web server behind the scenes. This means that it is possible to update parts of a web page, without reloading the whole page.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6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AJAX Basics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AJAX 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Works: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JA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1903448"/>
            <a:ext cx="7138655" cy="406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99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AJAX Basics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080" y="1125928"/>
            <a:ext cx="862584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AJAX </a:t>
            </a:r>
            <a:r>
              <a:rPr lang="en-US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Works: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An event occurs in a web page (the page is loaded, a button is clicked)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An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XMLHttpRequest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 is created by JavaScript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XMLHttpRequest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 sends a request to a web server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The server processes the request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The server sends a response back to the web page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The response is read by JavaScript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Proper action (like page update) is performed by JavaScript</a:t>
            </a:r>
          </a:p>
          <a:p>
            <a:pPr fontAlgn="base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2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Event Loop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Event-Loop-in-JavaScri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" y="1514961"/>
            <a:ext cx="8835190" cy="4428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13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Event Loop in JavaScript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706" y="1010684"/>
            <a:ext cx="838909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Phases of the Event </a:t>
            </a:r>
            <a:r>
              <a:rPr lang="en-US" sz="2000" b="1" dirty="0" smtClean="0"/>
              <a:t>Loop: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event loop operates in multiple phases.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Timers </a:t>
            </a:r>
            <a:r>
              <a:rPr lang="en-US" sz="2000" b="1" dirty="0"/>
              <a:t>Phase:</a:t>
            </a:r>
            <a:r>
              <a:rPr lang="en-US" sz="2000" dirty="0"/>
              <a:t> Executes callbacks from </a:t>
            </a:r>
            <a:r>
              <a:rPr lang="en-US" sz="2000" dirty="0" err="1"/>
              <a:t>setTimeout</a:t>
            </a:r>
            <a:r>
              <a:rPr lang="en-US" sz="2000" dirty="0"/>
              <a:t> and </a:t>
            </a:r>
            <a:r>
              <a:rPr lang="en-US" sz="2000" dirty="0" err="1"/>
              <a:t>setInterval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I/O Callbacks Phase:</a:t>
            </a:r>
            <a:r>
              <a:rPr lang="en-US" sz="2000" dirty="0"/>
              <a:t> Handles I/O operations like file reading, network requests, etc.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Prepare Phase:</a:t>
            </a:r>
            <a:r>
              <a:rPr lang="en-US" sz="2000" dirty="0"/>
              <a:t> Internal phase used by </a:t>
            </a:r>
            <a:r>
              <a:rPr lang="en-US" sz="2000" dirty="0" err="1"/>
              <a:t>Node.js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Poll Phase:</a:t>
            </a:r>
            <a:r>
              <a:rPr lang="en-US" sz="2000" dirty="0"/>
              <a:t> Retrieves new I/O events and executes callbacks.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Check Phase:</a:t>
            </a:r>
            <a:r>
              <a:rPr lang="en-US" sz="2000" dirty="0"/>
              <a:t> Executes callbacks from </a:t>
            </a:r>
            <a:r>
              <a:rPr lang="en-US" sz="2000" dirty="0" err="1"/>
              <a:t>setImmediate</a:t>
            </a:r>
            <a:r>
              <a:rPr lang="en-US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Close Callbacks Phase:</a:t>
            </a:r>
            <a:r>
              <a:rPr lang="en-US" sz="2000" dirty="0"/>
              <a:t> Executes close event </a:t>
            </a:r>
            <a:r>
              <a:rPr lang="en-US" sz="2000" dirty="0" smtClean="0"/>
              <a:t>callbacks.</a:t>
            </a:r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Microtasks</a:t>
            </a:r>
            <a:r>
              <a:rPr lang="en-US" sz="2000" b="1" dirty="0"/>
              <a:t> Execution: </a:t>
            </a:r>
            <a:r>
              <a:rPr lang="en-US" sz="2000" dirty="0"/>
              <a:t>After each phase, the event loop processes the </a:t>
            </a:r>
            <a:r>
              <a:rPr lang="en-US" sz="2000" dirty="0" err="1"/>
              <a:t>microtask</a:t>
            </a:r>
            <a:r>
              <a:rPr lang="en-US" sz="2000" dirty="0"/>
              <a:t> queue before moving to the next phase</a:t>
            </a:r>
            <a:r>
              <a:rPr lang="en-US" sz="20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326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Concurrency Model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706" y="1010684"/>
            <a:ext cx="838909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concurrency model of JavaScript is based on the concept of an “event loop”. 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This </a:t>
            </a:r>
            <a:r>
              <a:rPr lang="en-US" sz="2000" dirty="0"/>
              <a:t>model enables JavaScript to carry out non-blocking I/O operations despite being a single-threaded language. 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This </a:t>
            </a:r>
            <a:r>
              <a:rPr lang="en-US" sz="2000" dirty="0"/>
              <a:t>capability is made possible by offloading certain operations to the system kernel whenever possible</a:t>
            </a:r>
            <a:r>
              <a:rPr lang="en-US" sz="2000" dirty="0" smtClean="0"/>
              <a:t>.</a:t>
            </a:r>
            <a:r>
              <a:rPr lang="en-US" sz="2000" dirty="0"/>
              <a:t> </a:t>
            </a:r>
            <a:endParaRPr lang="en-US" sz="20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04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smtClean="0"/>
              <a:t>Concurrency Model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706" y="1010684"/>
            <a:ext cx="838909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pPr algn="just"/>
            <a:r>
              <a:rPr lang="en-US" sz="2000" dirty="0"/>
              <a:t> </a:t>
            </a:r>
            <a:r>
              <a:rPr lang="en-US" sz="2000" dirty="0" smtClean="0"/>
              <a:t>	// </a:t>
            </a:r>
            <a:r>
              <a:rPr lang="en-US" sz="2000" dirty="0"/>
              <a:t>First</a:t>
            </a:r>
          </a:p>
          <a:p>
            <a:pPr algn="just"/>
            <a:r>
              <a:rPr lang="en-US" sz="2000" dirty="0" smtClean="0"/>
              <a:t>	</a:t>
            </a:r>
            <a:r>
              <a:rPr lang="en-US" sz="2000" dirty="0" err="1" smtClean="0"/>
              <a:t>console.log</a:t>
            </a:r>
            <a:r>
              <a:rPr lang="en-US" sz="2000" dirty="0"/>
              <a:t>('Start');</a:t>
            </a:r>
          </a:p>
          <a:p>
            <a:pPr algn="just"/>
            <a:r>
              <a:rPr lang="en-US" sz="2000" dirty="0" smtClean="0"/>
              <a:t>	// </a:t>
            </a:r>
            <a:r>
              <a:rPr lang="en-US" sz="2000" dirty="0"/>
              <a:t>Second</a:t>
            </a:r>
          </a:p>
          <a:p>
            <a:pPr algn="just"/>
            <a:r>
              <a:rPr lang="en-US" sz="2000" dirty="0" smtClean="0"/>
              <a:t>	</a:t>
            </a:r>
            <a:r>
              <a:rPr lang="en-US" sz="2000" dirty="0" err="1" smtClean="0"/>
              <a:t>setTimeout</a:t>
            </a:r>
            <a:r>
              <a:rPr lang="en-US" sz="2000" dirty="0"/>
              <a:t>(() =&gt; {</a:t>
            </a:r>
          </a:p>
          <a:p>
            <a:pPr algn="just"/>
            <a:r>
              <a:rPr lang="en-US" sz="2000" dirty="0" smtClean="0"/>
              <a:t>	  </a:t>
            </a:r>
            <a:r>
              <a:rPr lang="en-US" sz="2000" dirty="0"/>
              <a:t>// Fifth: Callback function is not executed until after the delay.</a:t>
            </a:r>
          </a:p>
          <a:p>
            <a:pPr algn="just"/>
            <a:r>
              <a:rPr lang="en-US" sz="2000" dirty="0" smtClean="0"/>
              <a:t>	  </a:t>
            </a:r>
            <a:r>
              <a:rPr lang="en-US" sz="2000" dirty="0" err="1"/>
              <a:t>console.log</a:t>
            </a:r>
            <a:r>
              <a:rPr lang="en-US" sz="2000" dirty="0"/>
              <a:t>('Timeout');</a:t>
            </a:r>
          </a:p>
          <a:p>
            <a:pPr algn="just"/>
            <a:r>
              <a:rPr lang="en-US" sz="2000" dirty="0" smtClean="0"/>
              <a:t>	}, </a:t>
            </a:r>
            <a:r>
              <a:rPr lang="en-US" sz="2000" dirty="0"/>
              <a:t>2000);</a:t>
            </a:r>
          </a:p>
          <a:p>
            <a:pPr algn="just"/>
            <a:r>
              <a:rPr lang="en-US" sz="2000" dirty="0" smtClean="0"/>
              <a:t>	// </a:t>
            </a:r>
            <a:r>
              <a:rPr lang="en-US" sz="2000" dirty="0"/>
              <a:t>Third</a:t>
            </a:r>
          </a:p>
          <a:p>
            <a:pPr algn="just"/>
            <a:r>
              <a:rPr lang="en-US" sz="2000" dirty="0" smtClean="0"/>
              <a:t>	</a:t>
            </a:r>
            <a:r>
              <a:rPr lang="en-US" sz="2000" dirty="0" err="1" smtClean="0"/>
              <a:t>console.log</a:t>
            </a:r>
            <a:r>
              <a:rPr lang="en-US" sz="2000" dirty="0"/>
              <a:t>('End</a:t>
            </a:r>
            <a:r>
              <a:rPr lang="en-US" sz="2000" dirty="0" smtClean="0"/>
              <a:t>');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OUTPUT: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	Start</a:t>
            </a:r>
            <a:endParaRPr lang="en-US" sz="2000" dirty="0"/>
          </a:p>
          <a:p>
            <a:pPr algn="just"/>
            <a:r>
              <a:rPr lang="en-US" sz="2000" dirty="0" smtClean="0"/>
              <a:t>	End</a:t>
            </a:r>
            <a:endParaRPr lang="en-US" sz="2000" dirty="0"/>
          </a:p>
          <a:p>
            <a:pPr algn="just"/>
            <a:r>
              <a:rPr lang="en-US" sz="2000" dirty="0" smtClean="0"/>
              <a:t>	Timeout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959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 smtClean="0"/>
              <a:t>Introduduction</a:t>
            </a:r>
            <a:r>
              <a:rPr lang="en-US" sz="3200" b="1" dirty="0" smtClean="0"/>
              <a:t> to </a:t>
            </a:r>
            <a:r>
              <a:rPr lang="en-US" sz="3200" b="1" dirty="0" err="1" smtClean="0"/>
              <a:t>GIT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707" y="938057"/>
            <a:ext cx="838909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Git</a:t>
            </a:r>
            <a:r>
              <a:rPr lang="en-US" sz="1800" dirty="0"/>
              <a:t> is an essential </a:t>
            </a:r>
            <a:r>
              <a:rPr lang="en-US" sz="1800" b="1" dirty="0"/>
              <a:t>Version Control System (VCS)</a:t>
            </a:r>
            <a:r>
              <a:rPr lang="en-US" sz="1800" dirty="0"/>
              <a:t> used by JavaScript developers to track changes, collaborate with teams, and manage project history</a:t>
            </a:r>
            <a:r>
              <a:rPr lang="en-US" sz="1200" dirty="0"/>
              <a:t>. </a:t>
            </a:r>
            <a:endParaRPr lang="en-US" sz="12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Core Concepts for JavaScript Developers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/>
              <a:t>Repository(Repo</a:t>
            </a:r>
            <a:r>
              <a:rPr lang="en-US" sz="1800" dirty="0"/>
              <a:t>): A folder where </a:t>
            </a:r>
            <a:r>
              <a:rPr lang="en-US" sz="1800" dirty="0" err="1"/>
              <a:t>Git</a:t>
            </a:r>
            <a:r>
              <a:rPr lang="en-US" sz="1800" dirty="0"/>
              <a:t> tracks every change made to your code.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Commit: A "snapshot" of your project at a specific point in time. Each commit has a unique ID (hash).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Staging Area (Index): A middle ground where you prepare changes before officially committing them.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Branch: An independent line of development. Developers often create branches for new features to avoid breaking the main code.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Remote: A version of your project hosted on the internet (e.g., GitHub, </a:t>
            </a:r>
            <a:r>
              <a:rPr lang="en-US" sz="1800" dirty="0" err="1"/>
              <a:t>GitLab</a:t>
            </a:r>
            <a:r>
              <a:rPr lang="en-US" sz="1800" dirty="0"/>
              <a:t>, or </a:t>
            </a:r>
            <a:r>
              <a:rPr lang="en-US" sz="1800" dirty="0" err="1"/>
              <a:t>Bitbucket</a:t>
            </a:r>
            <a:r>
              <a:rPr lang="en-US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6212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19534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 smtClean="0"/>
              <a:t>Introduduction</a:t>
            </a:r>
            <a:r>
              <a:rPr lang="en-US" sz="3200" b="1" dirty="0" smtClean="0"/>
              <a:t> to </a:t>
            </a:r>
            <a:r>
              <a:rPr lang="en-US" sz="3200" b="1" dirty="0" err="1" smtClean="0"/>
              <a:t>GIT</a:t>
            </a:r>
            <a:endParaRPr lang="en-US" sz="3200" b="1" i="0" dirty="0"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7707" y="938057"/>
            <a:ext cx="8389093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 smtClean="0"/>
              <a:t>Standard Workflow: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/>
              <a:t>Initialize: Create a new repository in your project folder using the </a:t>
            </a:r>
            <a:r>
              <a:rPr lang="en-US" sz="1800" dirty="0" err="1" smtClean="0"/>
              <a:t>Git</a:t>
            </a:r>
            <a:r>
              <a:rPr lang="en-US" sz="1800" dirty="0" smtClean="0"/>
              <a:t> Command Line.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 err="1" smtClean="0"/>
              <a:t>init</a:t>
            </a:r>
            <a:endParaRPr lang="en-US" sz="18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/>
              <a:t>Stage</a:t>
            </a:r>
            <a:r>
              <a:rPr lang="en-US" sz="1800" dirty="0"/>
              <a:t>: Tell </a:t>
            </a:r>
            <a:r>
              <a:rPr lang="en-US" sz="1800" dirty="0" err="1"/>
              <a:t>Git</a:t>
            </a:r>
            <a:r>
              <a:rPr lang="en-US" sz="1800" dirty="0"/>
              <a:t> which files (like </a:t>
            </a:r>
            <a:r>
              <a:rPr lang="en-US" sz="1800" dirty="0" err="1"/>
              <a:t>app.js</a:t>
            </a:r>
            <a:r>
              <a:rPr lang="en-US" sz="1800" dirty="0"/>
              <a:t> or </a:t>
            </a:r>
            <a:r>
              <a:rPr lang="en-US" sz="1800" dirty="0" err="1"/>
              <a:t>index.html</a:t>
            </a:r>
            <a:r>
              <a:rPr lang="en-US" sz="1800" dirty="0"/>
              <a:t>) you want to include in the next update</a:t>
            </a:r>
            <a:r>
              <a:rPr lang="en-US" sz="1800" dirty="0" smtClean="0"/>
              <a:t>.</a:t>
            </a:r>
            <a:endParaRPr lang="en-US" sz="1800" dirty="0"/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add </a:t>
            </a:r>
            <a:r>
              <a:rPr lang="en-US" sz="1800" dirty="0" err="1"/>
              <a:t>app.js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# Or add all changes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add 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Commit: Save the staged changes with a descriptive message.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commit -m "Add login validation logic"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Push: Upload your local commits to a remote server like GitHub</a:t>
            </a:r>
            <a:r>
              <a:rPr lang="en-US" sz="1800" dirty="0" smtClean="0"/>
              <a:t>.</a:t>
            </a:r>
            <a:endParaRPr lang="en-US" sz="1800" dirty="0"/>
          </a:p>
          <a:p>
            <a:pPr algn="just">
              <a:lnSpc>
                <a:spcPct val="150000"/>
              </a:lnSpc>
            </a:pPr>
            <a:r>
              <a:rPr lang="en-US" sz="1800" dirty="0" smtClean="0"/>
              <a:t>	</a:t>
            </a:r>
            <a:r>
              <a:rPr lang="en-US" sz="1800" dirty="0" err="1" smtClean="0"/>
              <a:t>git</a:t>
            </a:r>
            <a:r>
              <a:rPr lang="en-US" sz="1800" dirty="0" smtClean="0"/>
              <a:t> </a:t>
            </a:r>
            <a:r>
              <a:rPr lang="en-US" sz="1800" dirty="0"/>
              <a:t>push origin </a:t>
            </a:r>
            <a:r>
              <a:rPr lang="en-US" sz="1800" dirty="0" smtClean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309251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5634" y="2388215"/>
            <a:ext cx="37240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Thank</a:t>
            </a: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sz="54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You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4415</TotalTime>
  <Words>915</Words>
  <Application>Microsoft Office PowerPoint</Application>
  <PresentationFormat>On-screen Show (4:3)</PresentationFormat>
  <Paragraphs>200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Wingdings</vt:lpstr>
      <vt:lpstr>Verdana</vt:lpstr>
      <vt:lpstr>Arial</vt:lpstr>
      <vt:lpstr>Times New Roman</vt:lpstr>
      <vt:lpstr>Office Theme</vt:lpstr>
      <vt:lpstr>PowerPoint Presentation</vt:lpstr>
      <vt:lpstr>Async and Await in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asus</cp:lastModifiedBy>
  <cp:revision>142</cp:revision>
  <dcterms:created xsi:type="dcterms:W3CDTF">2010-04-09T07:36:00Z</dcterms:created>
  <dcterms:modified xsi:type="dcterms:W3CDTF">2026-04-07T10:24:59Z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0816DB4EA2254B8095D92CBE0445F10C_13</vt:lpwstr>
  </property>
  <property fmtid="{D5CDD505-2E9C-101B-9397-08002B2CF9AE}" pid="3" name="KSOProductBuildVer">
    <vt:lpwstr>1033-12.2.0.23196</vt:lpwstr>
  </property>
</Properties>
</file>