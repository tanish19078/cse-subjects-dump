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355" r:id="rId5"/>
    <p:sldId id="356" r:id="rId6"/>
    <p:sldId id="358" r:id="rId7"/>
    <p:sldId id="357" r:id="rId8"/>
    <p:sldId id="359" r:id="rId9"/>
    <p:sldId id="360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61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80" r:id="rId28"/>
  </p:sldIdLst>
  <p:sldSz cx="9144000" cy="6858000" type="screen4x3"/>
  <p:notesSz cx="6858000" cy="9144000"/>
  <p:embeddedFontLst>
    <p:embeddedFont>
      <p:font typeface="Calibri" panose="020F0502020204030204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howGuide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29"/>
      </p:guideLst>
    </p:cSldViewPr>
  </p:slideViewPr>
  <p:outlineViewPr>
    <p:cViewPr>
      <p:scale>
        <a:sx n="33" d="100"/>
        <a:sy n="33" d="100"/>
      </p:scale>
      <p:origin x="0" y="-2519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9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9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39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39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9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39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5" name="Google Shape;15;p38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38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38" descr="LOGO.gif"/>
          <p:cNvPicPr preferRelativeResize="0"/>
          <p:nvPr/>
        </p:nvPicPr>
        <p:blipFill rotWithShape="1">
          <a:blip r:embed="rId4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8" descr="LOGO.gif"/>
          <p:cNvPicPr preferRelativeResize="0"/>
          <p:nvPr/>
        </p:nvPicPr>
        <p:blipFill rotWithShape="1">
          <a:blip r:embed="rId4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38" descr="LOGO.gif"/>
            <p:cNvPicPr preferRelativeResize="0"/>
            <p:nvPr/>
          </p:nvPicPr>
          <p:blipFill rotWithShape="1">
            <a:blip r:embed="rId4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38" descr="logo.jp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52400" y="914400"/>
            <a:ext cx="8763000" cy="36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en-US" alt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BOM &amp; Storage: Window, navigator, location, Alerts, pop-ups, timers, Web Stroage- LocalStorage, SessionStorage, Cookies.</a:t>
            </a:r>
            <a:endParaRPr lang="en-US" altLang="en-US" sz="2800" b="1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1905000" y="4953000"/>
            <a:ext cx="476250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</a:t>
            </a:r>
            <a:endParaRPr sz="24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and Engineering</a:t>
            </a:r>
            <a:endParaRPr lang="en-US" sz="180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Chitkara University, Punjab</a:t>
            </a:r>
            <a:endParaRPr lang="en-US" sz="180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Contents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endParaRPr lang="en-US" altLang="en-US"/>
          </a:p>
          <a:p>
            <a:r>
              <a:rPr lang="en-US" altLang="en-US"/>
              <a:t>Window Object</a:t>
            </a:r>
            <a:endParaRPr lang="en-US" altLang="en-US"/>
          </a:p>
          <a:p>
            <a:r>
              <a:rPr lang="en-US" altLang="en-US"/>
              <a:t>Navigator</a:t>
            </a:r>
            <a:endParaRPr lang="en-US" altLang="en-US"/>
          </a:p>
          <a:p>
            <a:r>
              <a:rPr lang="en-US" altLang="en-US"/>
              <a:t>Location</a:t>
            </a:r>
            <a:endParaRPr lang="en-US" altLang="en-US"/>
          </a:p>
          <a:p>
            <a:r>
              <a:rPr lang="en-US" altLang="en-US"/>
              <a:t>Alerts &amp; Pop-ups</a:t>
            </a:r>
            <a:endParaRPr lang="en-US" altLang="en-US"/>
          </a:p>
          <a:p>
            <a:r>
              <a:rPr lang="en-US" altLang="en-US"/>
              <a:t>Timers</a:t>
            </a:r>
            <a:endParaRPr lang="en-US" altLang="en-US"/>
          </a:p>
          <a:p>
            <a:r>
              <a:rPr lang="en-US" altLang="en-US"/>
              <a:t>Web Storage (LocalStorage, SessionStorage)</a:t>
            </a:r>
            <a:endParaRPr lang="en-US" altLang="en-US"/>
          </a:p>
          <a:p>
            <a:r>
              <a:rPr lang="en-US" altLang="en-US"/>
              <a:t>Cookies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Browser Object Model (BOM)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BOM stands for Browser Object Model</a:t>
            </a:r>
            <a:endParaRPr lang="en-US" altLang="en-US"/>
          </a:p>
          <a:p>
            <a:r>
              <a:rPr lang="en-US" altLang="en-US"/>
              <a:t>It allows JavaScript to interact with the browser</a:t>
            </a:r>
            <a:endParaRPr lang="en-US" altLang="en-US"/>
          </a:p>
          <a:p>
            <a:r>
              <a:rPr lang="en-US" altLang="en-US"/>
              <a:t>Represents the browser window and its components</a:t>
            </a:r>
            <a:endParaRPr lang="en-US" altLang="en-US"/>
          </a:p>
          <a:p>
            <a:r>
              <a:rPr lang="en-US" altLang="en-US"/>
              <a:t>Provides access to:</a:t>
            </a:r>
            <a:endParaRPr lang="en-US" altLang="en-US"/>
          </a:p>
          <a:p>
            <a:r>
              <a:rPr lang="en-US" altLang="en-US"/>
              <a:t>URL (location)</a:t>
            </a:r>
            <a:endParaRPr lang="en-US" altLang="en-US"/>
          </a:p>
          <a:p>
            <a:r>
              <a:rPr lang="en-US" altLang="en-US"/>
              <a:t>Browser details (navigator)</a:t>
            </a:r>
            <a:endParaRPr lang="en-US" altLang="en-US"/>
          </a:p>
          <a:p>
            <a:r>
              <a:rPr lang="en-US" altLang="en-US"/>
              <a:t>Screen information</a:t>
            </a:r>
            <a:endParaRPr lang="en-US" altLang="en-US"/>
          </a:p>
          <a:p>
            <a:r>
              <a:rPr lang="en-US" altLang="en-US"/>
              <a:t>Storage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5" name="Picture 4" descr="BO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0365" y="3032760"/>
            <a:ext cx="4843780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88900" indent="0">
              <a:buNone/>
            </a:pPr>
            <a:r>
              <a:rPr lang="en-US" altLang="en-US" b="1">
                <a:sym typeface="+mn-ea"/>
              </a:rPr>
              <a:t>Real-Life Example:</a:t>
            </a:r>
            <a:endParaRPr lang="en-US" altLang="en-US" b="1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Redirecting user to another page after login</a:t>
            </a:r>
            <a:endParaRPr lang="en-US" altLang="en-US"/>
          </a:p>
          <a:p>
            <a:r>
              <a:rPr lang="en-US" altLang="en-US">
                <a:sym typeface="+mn-ea"/>
              </a:rPr>
              <a:t>Checking if user is online/offline</a:t>
            </a:r>
            <a:endParaRPr lang="en-US" altLang="en-US"/>
          </a:p>
          <a:p>
            <a:r>
              <a:rPr lang="en-US" altLang="en-US">
                <a:sym typeface="+mn-ea"/>
              </a:rPr>
              <a:t>Showing alerts or pop-ups</a:t>
            </a:r>
            <a:endParaRPr lang="en-US" alt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Window Object in JavaScript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Represents the browser window</a:t>
            </a:r>
            <a:endParaRPr lang="en-US" altLang="en-US"/>
          </a:p>
          <a:p>
            <a:r>
              <a:rPr lang="en-US" altLang="en-US"/>
              <a:t>It is the global object in JavaScript</a:t>
            </a:r>
            <a:endParaRPr lang="en-US" altLang="en-US"/>
          </a:p>
          <a:p>
            <a:r>
              <a:rPr lang="en-US" altLang="en-US"/>
              <a:t>All variables and functions are part of window</a:t>
            </a:r>
            <a:endParaRPr lang="en-US" altLang="en-US"/>
          </a:p>
          <a:p>
            <a:r>
              <a:rPr lang="en-US" altLang="en-US"/>
              <a:t>You can access it explicitly or implicitly</a:t>
            </a:r>
            <a:br>
              <a:rPr lang="en-US" altLang="en-US"/>
            </a:br>
            <a:endParaRPr lang="en-US" altLang="en-US"/>
          </a:p>
          <a:p>
            <a:pPr marL="88900" indent="0">
              <a:buNone/>
            </a:pPr>
            <a:r>
              <a:rPr lang="en-US" altLang="en-US"/>
              <a:t>Syntax: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window.property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window.method()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Examples: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console.log(window.innerHeight);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console.log(window.innerWidth);</a:t>
            </a:r>
            <a:br>
              <a:rPr lang="en-US" altLang="en-US"/>
            </a:br>
            <a:r>
              <a:rPr lang="en-US" altLang="en-US"/>
              <a:t>console.log(innerHeight);      //window is optional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Real-Life Example: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Adjust layout based on screen size</a:t>
            </a:r>
            <a:endParaRPr lang="en-US" altLang="en-US"/>
          </a:p>
          <a:p>
            <a:r>
              <a:rPr lang="en-US" altLang="en-US"/>
              <a:t>Detect browser window dimensions for responsive design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Window Methods: User Interaction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Used to interact with users</a:t>
            </a:r>
            <a:endParaRPr lang="en-US" altLang="en-US"/>
          </a:p>
          <a:p>
            <a:r>
              <a:rPr lang="en-US" altLang="en-US"/>
              <a:t>Built-in methods of the window object</a:t>
            </a:r>
            <a:endParaRPr lang="en-US" altLang="en-US"/>
          </a:p>
          <a:p>
            <a:r>
              <a:rPr lang="en-US" altLang="en-US"/>
              <a:t>Common methods: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alert()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confirm()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prompt()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1. Alert Box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Displays a message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alert("Welcome to the website");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2. Confirm Box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altLang="en-US"/>
          </a:p>
          <a:p>
            <a:r>
              <a:rPr lang="en-US" altLang="en-US"/>
              <a:t>Returns true / false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let x = confirm("Do you want to continue?");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console.log(x);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OK → true</a:t>
            </a:r>
            <a:endParaRPr lang="en-US" altLang="en-US"/>
          </a:p>
          <a:p>
            <a:r>
              <a:rPr lang="en-US" altLang="en-US"/>
              <a:t>Cancel → false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Navigator Object in JavaScript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5349875"/>
          </a:xfrm>
        </p:spPr>
        <p:txBody>
          <a:bodyPr/>
          <a:p>
            <a:r>
              <a:rPr lang="en-US" altLang="en-US"/>
              <a:t>Provides information about the browser</a:t>
            </a:r>
            <a:endParaRPr lang="en-US" altLang="en-US"/>
          </a:p>
          <a:p>
            <a:r>
              <a:rPr lang="en-US" altLang="en-US"/>
              <a:t>Helps detect device, browser, and connection status</a:t>
            </a:r>
            <a:endParaRPr lang="en-US" altLang="en-US"/>
          </a:p>
          <a:p>
            <a:r>
              <a:rPr lang="en-US" altLang="en-US"/>
              <a:t>Part of the BOM (child of window)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Common Properties:</a:t>
            </a:r>
            <a:endParaRPr lang="en-US" altLang="en-US"/>
          </a:p>
          <a:p>
            <a:r>
              <a:rPr lang="en-US" altLang="en-US"/>
              <a:t>navigator.userAgent → Browser details</a:t>
            </a:r>
            <a:endParaRPr lang="en-US" altLang="en-US"/>
          </a:p>
          <a:p>
            <a:r>
              <a:rPr lang="en-US" altLang="en-US"/>
              <a:t>navigator.language → Language of browser</a:t>
            </a:r>
            <a:endParaRPr lang="en-US" altLang="en-US"/>
          </a:p>
          <a:p>
            <a:r>
              <a:rPr lang="en-US" altLang="en-US"/>
              <a:t>navigator.onLine → Internet status (true/false)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/>
              <a:t>Examples:</a:t>
            </a:r>
            <a:br>
              <a:rPr lang="en-US" altLang="en-US"/>
            </a:br>
            <a:r>
              <a:rPr lang="en-US" altLang="en-US"/>
              <a:t>console.log(navigator.userAgent);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console.log(navigator.language);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console.log(navigator.onLine);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Real-Life Example: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Show message when user is offline</a:t>
            </a:r>
            <a:endParaRPr lang="en-US" altLang="en-US"/>
          </a:p>
          <a:p>
            <a:r>
              <a:rPr lang="en-US" altLang="en-US"/>
              <a:t>Customize UI based on browser</a:t>
            </a:r>
            <a:endParaRPr lang="en-US" altLang="en-US"/>
          </a:p>
          <a:p>
            <a:r>
              <a:rPr lang="en-US" altLang="en-US"/>
              <a:t>Detect mobile vs desktop users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Location Object in JavaScript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Provides information about current URL</a:t>
            </a:r>
            <a:endParaRPr lang="en-US" altLang="en-US"/>
          </a:p>
          <a:p>
            <a:r>
              <a:rPr lang="en-US" altLang="en-US"/>
              <a:t>Used for navigation and redirection</a:t>
            </a:r>
            <a:endParaRPr lang="en-US" altLang="en-US"/>
          </a:p>
          <a:p>
            <a:r>
              <a:rPr lang="en-US" altLang="en-US"/>
              <a:t>Part of window object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Common Properties: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location.href → Full URL</a:t>
            </a:r>
            <a:endParaRPr lang="en-US" altLang="en-US"/>
          </a:p>
          <a:p>
            <a:r>
              <a:rPr lang="en-US" altLang="en-US"/>
              <a:t>location.hostname → Domain name</a:t>
            </a:r>
            <a:endParaRPr lang="en-US" altLang="en-US"/>
          </a:p>
          <a:p>
            <a:r>
              <a:rPr lang="en-US" altLang="en-US"/>
              <a:t>location.pathname → Page path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b="1"/>
              <a:t>Examples: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console.log(location.href);</a:t>
            </a:r>
            <a:endParaRPr lang="en-US" altLang="en-US"/>
          </a:p>
          <a:p>
            <a:r>
              <a:rPr lang="en-US" altLang="en-US"/>
              <a:t>console.log(location.hostname);</a:t>
            </a:r>
            <a:br>
              <a:rPr lang="en-US" altLang="en-US"/>
            </a:br>
            <a:br>
              <a:rPr lang="en-US" altLang="en-US"/>
            </a:br>
            <a:r>
              <a:rPr lang="en-US" altLang="en-US" b="1"/>
              <a:t>Redirection Example:</a:t>
            </a:r>
            <a:endParaRPr lang="en-US" altLang="en-US"/>
          </a:p>
          <a:p>
            <a:endParaRPr lang="en-US" altLang="en-US"/>
          </a:p>
          <a:p>
            <a:pPr algn="l"/>
            <a:r>
              <a:rPr lang="en-US" altLang="en-US"/>
              <a:t>location.href = "https://google.com";</a:t>
            </a:r>
            <a:endParaRPr lang="en-US" altLang="en-US"/>
          </a:p>
          <a:p>
            <a:pPr marL="88900" indent="0" algn="l">
              <a:buNone/>
            </a:pPr>
            <a:endParaRPr lang="en-US" altLang="en-US"/>
          </a:p>
          <a:p>
            <a:pPr marL="88900" indent="0" algn="l">
              <a:buNone/>
            </a:pPr>
            <a:r>
              <a:rPr lang="en-US" altLang="en-US" b="1"/>
              <a:t>Real-Life Example:</a:t>
            </a:r>
            <a:endParaRPr lang="en-US" altLang="en-US" b="1"/>
          </a:p>
          <a:p>
            <a:r>
              <a:rPr lang="en-US" altLang="en-US"/>
              <a:t>Redirect user after login</a:t>
            </a:r>
            <a:endParaRPr lang="en-US" altLang="en-US"/>
          </a:p>
          <a:p>
            <a:r>
              <a:rPr lang="en-US" altLang="en-US"/>
              <a:t>Navigate to payment page</a:t>
            </a:r>
            <a:endParaRPr lang="en-US" altLang="en-US"/>
          </a:p>
          <a:p>
            <a:r>
              <a:rPr lang="en-US" altLang="en-US"/>
              <a:t>Reload or change page dynamically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Alerts and Pop-ups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Used to interact with users</a:t>
            </a:r>
            <a:endParaRPr lang="en-US" altLang="en-US"/>
          </a:p>
          <a:p>
            <a:r>
              <a:rPr lang="en-US" altLang="en-US"/>
              <a:t>Display messages or take input</a:t>
            </a:r>
            <a:endParaRPr lang="en-US" altLang="en-US"/>
          </a:p>
          <a:p>
            <a:r>
              <a:rPr lang="en-US" altLang="en-US"/>
              <a:t>Methods belong to window object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Types: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alert() → Message box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confirm() → OK/Cancel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prompt() → User input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b="1"/>
              <a:t>Examples:</a:t>
            </a:r>
            <a:endParaRPr lang="en-US" altLang="en-US" b="1"/>
          </a:p>
          <a:p>
            <a:pPr marL="88900" indent="0">
              <a:buNone/>
            </a:pPr>
            <a:r>
              <a:rPr lang="en-US" altLang="en-US"/>
              <a:t>alert("Welcome!");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let x = confirm("Delete item?");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console.log(x);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let name = prompt("Enter name:");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console.log(name);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Real-Life Example: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Confirmation before deleting data</a:t>
            </a:r>
            <a:endParaRPr lang="en-US" altLang="en-US"/>
          </a:p>
          <a:p>
            <a:r>
              <a:rPr lang="en-US" altLang="en-US"/>
              <a:t>Asking user details</a:t>
            </a:r>
            <a:endParaRPr lang="en-US" altLang="en-US"/>
          </a:p>
          <a:p>
            <a:r>
              <a:rPr lang="en-US" altLang="en-US"/>
              <a:t>Showing warnings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Pop-up Windows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22985"/>
            <a:ext cx="8229600" cy="5431790"/>
          </a:xfrm>
        </p:spPr>
        <p:txBody>
          <a:bodyPr/>
          <a:p>
            <a:r>
              <a:rPr lang="en-US" altLang="en-US"/>
              <a:t>Used to open new browser windows/tabs</a:t>
            </a:r>
            <a:endParaRPr lang="en-US" altLang="en-US"/>
          </a:p>
          <a:p>
            <a:r>
              <a:rPr lang="en-US" altLang="en-US"/>
              <a:t>Controlled using window.open()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Syntax: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window.open(url, name, specs);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Example: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window.open("https://example.com");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Close Window: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window.close();</a:t>
            </a:r>
            <a:endParaRPr lang="en-US" altLang="en-US"/>
          </a:p>
          <a:p>
            <a:pPr marL="88900" indent="0">
              <a:buNone/>
            </a:pPr>
            <a:endParaRPr lang="en-US" altLang="en-US"/>
          </a:p>
          <a:p>
            <a:pPr marL="88900" indent="0">
              <a:buNone/>
            </a:pPr>
            <a:r>
              <a:rPr lang="en-US" altLang="en-US"/>
              <a:t>Real-Life Example:</a:t>
            </a:r>
            <a:endParaRPr lang="en-US" altLang="en-US"/>
          </a:p>
          <a:p>
            <a:r>
              <a:rPr lang="en-US" altLang="en-US"/>
              <a:t>Opening payment gateway</a:t>
            </a:r>
            <a:endParaRPr lang="en-US" altLang="en-US"/>
          </a:p>
          <a:p>
            <a:r>
              <a:rPr lang="en-US" altLang="en-US"/>
              <a:t>Showing external links</a:t>
            </a:r>
            <a:endParaRPr lang="en-US" altLang="en-US"/>
          </a:p>
          <a:p>
            <a:r>
              <a:rPr lang="en-US" altLang="en-US"/>
              <a:t>Login popup window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Timers in JavaScript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29640"/>
            <a:ext cx="8229600" cy="4968240"/>
          </a:xfrm>
        </p:spPr>
        <p:txBody>
          <a:bodyPr/>
          <a:p>
            <a:pPr marL="88900" indent="0">
              <a:buNone/>
            </a:pPr>
            <a:r>
              <a:rPr lang="en-US" altLang="en-US" b="1"/>
              <a:t>Timers:</a:t>
            </a:r>
            <a:r>
              <a:rPr lang="en-US" altLang="en-US"/>
              <a:t> setTimeout()</a:t>
            </a:r>
            <a:endParaRPr lang="en-US" altLang="en-US"/>
          </a:p>
          <a:p>
            <a:r>
              <a:rPr lang="en-US" altLang="en-US"/>
              <a:t>Executes code after a delay</a:t>
            </a:r>
            <a:endParaRPr lang="en-US" altLang="en-US"/>
          </a:p>
          <a:p>
            <a:r>
              <a:rPr lang="en-US" altLang="en-US"/>
              <a:t>Runs only once</a:t>
            </a:r>
            <a:endParaRPr lang="en-US" altLang="en-US"/>
          </a:p>
          <a:p>
            <a:pPr marL="88900" indent="0">
              <a:buNone/>
            </a:pPr>
            <a:r>
              <a:rPr lang="en-US" altLang="en-US" b="1"/>
              <a:t>Syntax:</a:t>
            </a:r>
            <a:endParaRPr lang="en-US" altLang="en-US" b="1"/>
          </a:p>
          <a:p>
            <a:pPr marL="88900" indent="0">
              <a:buNone/>
            </a:pPr>
            <a:r>
              <a:rPr lang="en-US" altLang="en-US"/>
              <a:t>setTimeout(function, time);</a:t>
            </a:r>
            <a:endParaRPr lang="en-US" altLang="en-US"/>
          </a:p>
          <a:p>
            <a:pPr marL="88900" indent="0">
              <a:buNone/>
            </a:pPr>
            <a:r>
              <a:rPr lang="en-US" altLang="en-US" b="1"/>
              <a:t>Example:</a:t>
            </a:r>
            <a:endParaRPr lang="en-US" altLang="en-US" b="1"/>
          </a:p>
          <a:p>
            <a:pPr marL="88900" indent="0">
              <a:buNone/>
            </a:pPr>
            <a:r>
              <a:rPr lang="en-US" altLang="en-US"/>
              <a:t>setTimeout(function(){console.log("Hello after 2 seconds");}, 2000);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 b="1"/>
              <a:t>Real-Life Example: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Show notification after delay</a:t>
            </a:r>
            <a:endParaRPr lang="en-US" altLang="en-US"/>
          </a:p>
          <a:p>
            <a:r>
              <a:rPr lang="en-US" altLang="en-US"/>
              <a:t>Auto logout warning</a:t>
            </a:r>
            <a:endParaRPr lang="en-US" altLang="en-US"/>
          </a:p>
          <a:p>
            <a:r>
              <a:rPr lang="en-US" altLang="en-US"/>
              <a:t>Delayed message display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Timers: setInterval()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04925"/>
            <a:ext cx="8229600" cy="4592955"/>
          </a:xfrm>
        </p:spPr>
        <p:txBody>
          <a:bodyPr/>
          <a:p>
            <a:r>
              <a:rPr lang="en-US" altLang="en-US"/>
              <a:t>Executes code repeatedly</a:t>
            </a:r>
            <a:endParaRPr lang="en-US" altLang="en-US"/>
          </a:p>
          <a:p>
            <a:r>
              <a:rPr lang="en-US" altLang="en-US"/>
              <a:t>Runs after fixed intervals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Syntax:</a:t>
            </a:r>
            <a:endParaRPr lang="en-US" altLang="en-US" b="1"/>
          </a:p>
          <a:p>
            <a:pPr marL="88900" indent="0">
              <a:buNone/>
            </a:pPr>
            <a:r>
              <a:rPr lang="en-US" altLang="en-US"/>
              <a:t>setInterval(function, time);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Example:</a:t>
            </a:r>
            <a:endParaRPr lang="en-US" altLang="en-US" b="1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/>
              <a:t>let id = setInterval(function(){console.log("Running...");}, 1000);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Stop Interval: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984750"/>
          </a:xfrm>
        </p:spPr>
        <p:txBody>
          <a:bodyPr/>
          <a:p>
            <a:endParaRPr lang="en-US" altLang="en-US"/>
          </a:p>
          <a:p>
            <a:pPr marL="88900" indent="0">
              <a:buNone/>
            </a:pPr>
            <a:r>
              <a:rPr lang="en-US" altLang="en-US">
                <a:sym typeface="+mn-ea"/>
              </a:rPr>
              <a:t>clearInterval(id);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Real-Life Example: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Clock updates every second</a:t>
            </a:r>
            <a:endParaRPr lang="en-US" altLang="en-US"/>
          </a:p>
          <a:p>
            <a:r>
              <a:rPr lang="en-US" altLang="en-US">
                <a:sym typeface="+mn-ea"/>
              </a:rPr>
              <a:t>Auto-refresh data</a:t>
            </a:r>
            <a:endParaRPr lang="en-US" altLang="en-US"/>
          </a:p>
          <a:p>
            <a:r>
              <a:rPr lang="en-US" altLang="en-US">
                <a:sym typeface="+mn-ea"/>
              </a:rPr>
              <a:t>Live notifications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Key Point:</a:t>
            </a:r>
            <a:endParaRPr lang="en-US" altLang="en-US"/>
          </a:p>
          <a:p>
            <a:r>
              <a:rPr lang="en-US" altLang="en-US">
                <a:sym typeface="+mn-ea"/>
              </a:rPr>
              <a:t>It is Used for repeated execution</a:t>
            </a:r>
            <a:endParaRPr lang="en-US" alt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Web Storage in JavaScript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8229600" cy="5059680"/>
          </a:xfrm>
        </p:spPr>
        <p:txBody>
          <a:bodyPr/>
          <a:p>
            <a:r>
              <a:rPr lang="en-US" altLang="en-US"/>
              <a:t>Used to store data in browser (client-side)</a:t>
            </a:r>
            <a:endParaRPr lang="en-US" altLang="en-US"/>
          </a:p>
          <a:p>
            <a:r>
              <a:rPr lang="en-US" altLang="en-US"/>
              <a:t>Data is stored as key–value pairs</a:t>
            </a:r>
            <a:endParaRPr lang="en-US" altLang="en-US"/>
          </a:p>
          <a:p>
            <a:r>
              <a:rPr lang="en-US" altLang="en-US"/>
              <a:t>No server/database required</a:t>
            </a:r>
            <a:endParaRPr lang="en-US" altLang="en-US"/>
          </a:p>
          <a:p>
            <a:r>
              <a:rPr lang="en-US" altLang="en-US"/>
              <a:t>Faster than cookies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Types of Web Storage: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LocalStorage → Permanent</a:t>
            </a:r>
            <a:endParaRPr lang="en-US" altLang="en-US"/>
          </a:p>
          <a:p>
            <a:r>
              <a:rPr lang="en-US" altLang="en-US"/>
              <a:t>SessionStorage → Temporary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Real-Life Example: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Save theme (dark/light mode)</a:t>
            </a:r>
            <a:endParaRPr lang="en-US" altLang="en-US"/>
          </a:p>
          <a:p>
            <a:r>
              <a:rPr lang="en-US" altLang="en-US"/>
              <a:t>Store shopping cart items</a:t>
            </a:r>
            <a:endParaRPr lang="en-US" altLang="en-US"/>
          </a:p>
          <a:p>
            <a:r>
              <a:rPr lang="en-US" altLang="en-US"/>
              <a:t>Remember user preferences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LocalStorage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984750"/>
          </a:xfrm>
        </p:spPr>
        <p:txBody>
          <a:bodyPr/>
          <a:p>
            <a:r>
              <a:rPr lang="en-US" altLang="en-US"/>
              <a:t>Stores data permanently</a:t>
            </a:r>
            <a:endParaRPr lang="en-US" altLang="en-US"/>
          </a:p>
          <a:p>
            <a:r>
              <a:rPr lang="en-US" altLang="en-US"/>
              <a:t>Data remains even after browser is closed</a:t>
            </a:r>
            <a:endParaRPr lang="en-US" altLang="en-US"/>
          </a:p>
          <a:p>
            <a:r>
              <a:rPr lang="en-US" altLang="en-US"/>
              <a:t>Shared across tabs (same website)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Syntax: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/>
              <a:t>localStorage.setItem("key", "value");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Example: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/>
              <a:t>localStorage.setItem("name", "Rohan");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let x = localStorage.getItem("name");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console.log(x);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b="1"/>
              <a:t>Remove Data: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localStorage.removeItem("name");</a:t>
            </a:r>
            <a:endParaRPr lang="en-US" altLang="en-US"/>
          </a:p>
          <a:p>
            <a:r>
              <a:rPr lang="en-US" altLang="en-US"/>
              <a:t>localStorage.clear();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Real-Life Example: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Save “Remember Me” login</a:t>
            </a:r>
            <a:endParaRPr lang="en-US" altLang="en-US"/>
          </a:p>
          <a:p>
            <a:r>
              <a:rPr lang="en-US" altLang="en-US"/>
              <a:t>Store user settings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SessionStorage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62025"/>
            <a:ext cx="8229600" cy="4935855"/>
          </a:xfrm>
        </p:spPr>
        <p:txBody>
          <a:bodyPr/>
          <a:p>
            <a:r>
              <a:rPr lang="en-US" altLang="en-US"/>
              <a:t>Stores data temporarily</a:t>
            </a:r>
            <a:endParaRPr lang="en-US" altLang="en-US"/>
          </a:p>
          <a:p>
            <a:r>
              <a:rPr lang="en-US" altLang="en-US"/>
              <a:t>Data is deleted when tab is closed</a:t>
            </a:r>
            <a:endParaRPr lang="en-US" altLang="en-US"/>
          </a:p>
          <a:p>
            <a:r>
              <a:rPr lang="en-US" altLang="en-US"/>
              <a:t>Not shared across tabs</a:t>
            </a:r>
            <a:endParaRPr lang="en-US" altLang="en-US"/>
          </a:p>
          <a:p>
            <a:r>
              <a:rPr lang="en-US" altLang="en-US"/>
              <a:t>Syntax: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sessionStorage.setItem("key", "value");</a:t>
            </a:r>
            <a:endParaRPr lang="en-US" altLang="en-US"/>
          </a:p>
          <a:p>
            <a:r>
              <a:rPr lang="en-US" altLang="en-US"/>
              <a:t>Example: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sessionStorage.setItem("user", "Admin");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let x = sessionStorage.getItem("user");</a:t>
            </a:r>
            <a:endParaRPr lang="en-US" altLang="en-US"/>
          </a:p>
          <a:p>
            <a:pPr marL="88900" indent="0">
              <a:buNone/>
            </a:pPr>
            <a:r>
              <a:rPr lang="en-US" altLang="en-US"/>
              <a:t>console.log(x);</a:t>
            </a:r>
            <a:endParaRPr lang="en-US" altLang="en-US"/>
          </a:p>
          <a:p>
            <a:r>
              <a:rPr lang="en-US" altLang="en-US"/>
              <a:t>Real-Life Example:</a:t>
            </a:r>
            <a:endParaRPr lang="en-US" altLang="en-US"/>
          </a:p>
          <a:p>
            <a:r>
              <a:rPr lang="en-US" altLang="en-US"/>
              <a:t>Store login session</a:t>
            </a:r>
            <a:endParaRPr lang="en-US" altLang="en-US"/>
          </a:p>
          <a:p>
            <a:r>
              <a:rPr lang="en-US" altLang="en-US"/>
              <a:t>Temporary form data</a:t>
            </a:r>
            <a:endParaRPr lang="en-US" altLang="en-US"/>
          </a:p>
          <a:p>
            <a:r>
              <a:rPr lang="en-US" altLang="en-US"/>
              <a:t>One-time activity tracking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Cookies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Small data stored in browser</a:t>
            </a:r>
            <a:endParaRPr lang="en-US" altLang="en-US"/>
          </a:p>
          <a:p>
            <a:r>
              <a:rPr lang="en-US" altLang="en-US"/>
              <a:t>Sent to server with every request</a:t>
            </a:r>
            <a:endParaRPr lang="en-US" altLang="en-US"/>
          </a:p>
          <a:p>
            <a:r>
              <a:rPr lang="en-US" altLang="en-US"/>
              <a:t>Used for authentication &amp; tracking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Syntax: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document.cookie = "username=Rohan";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Example with Expiry:</a:t>
            </a:r>
            <a:endParaRPr lang="en-US" altLang="en-US"/>
          </a:p>
          <a:p>
            <a:endParaRPr lang="en-US" altLang="en-US"/>
          </a:p>
          <a:p>
            <a:pPr marL="88900" indent="0">
              <a:buNone/>
            </a:pPr>
            <a:r>
              <a:rPr lang="en-US" altLang="en-US"/>
              <a:t>document.cookie = "age=22; expires=Fri, 31 Dec 2026 12:00:00 UTC";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Real-Life Example: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Login authentication</a:t>
            </a:r>
            <a:endParaRPr lang="en-US" altLang="en-US"/>
          </a:p>
          <a:p>
            <a:r>
              <a:rPr lang="en-US" altLang="en-US">
                <a:sym typeface="+mn-ea"/>
              </a:rPr>
              <a:t>User tracking</a:t>
            </a:r>
            <a:endParaRPr lang="en-US" altLang="en-US"/>
          </a:p>
          <a:p>
            <a:r>
              <a:rPr lang="en-US" altLang="en-US">
                <a:sym typeface="+mn-ea"/>
              </a:rPr>
              <a:t>Remember user sessions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Key Point:</a:t>
            </a:r>
            <a:endParaRPr lang="en-US" altLang="en-US"/>
          </a:p>
          <a:p>
            <a:r>
              <a:rPr lang="en-US" altLang="en-US">
                <a:sym typeface="+mn-ea"/>
              </a:rPr>
              <a:t>Cookies connect browser with server.</a:t>
            </a:r>
            <a:endParaRPr lang="en-US" alt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435634" y="2388215"/>
            <a:ext cx="37240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Thank</a:t>
            </a:r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sz="54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You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5083</Words>
  <Application>WPS Presentation</Application>
  <PresentationFormat>On-screen Show (4:3)</PresentationFormat>
  <Paragraphs>336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Microsoft YaHei</vt:lpstr>
      <vt:lpstr>Arial Unicode MS</vt:lpstr>
      <vt:lpstr>Office Theme</vt:lpstr>
      <vt:lpstr>PowerPoint 演示文稿</vt:lpstr>
      <vt:lpstr>Contents</vt:lpstr>
      <vt:lpstr>Browser Object Model (BOM)</vt:lpstr>
      <vt:lpstr>PowerPoint 演示文稿</vt:lpstr>
      <vt:lpstr>Window Object in JavaScript</vt:lpstr>
      <vt:lpstr>PowerPoint 演示文稿</vt:lpstr>
      <vt:lpstr>Window Methods: User Interaction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Mandeep Kaur</cp:lastModifiedBy>
  <cp:revision>203</cp:revision>
  <dcterms:created xsi:type="dcterms:W3CDTF">2010-04-09T07:36:00Z</dcterms:created>
  <dcterms:modified xsi:type="dcterms:W3CDTF">2026-04-13T09:04:07Z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16F153FE1EAC4DCCBBB91EE55B003585_13</vt:lpwstr>
  </property>
  <property fmtid="{D5CDD505-2E9C-101B-9397-08002B2CF9AE}" pid="3" name="KSOProductBuildVer">
    <vt:lpwstr>1033-12.1.0.25242</vt:lpwstr>
  </property>
</Properties>
</file>