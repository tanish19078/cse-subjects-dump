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ijA+1eX66IXCUKd/m7FHR3xUNQ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166CC-40B8-40B7-BD9F-1611220504BA}" v="9" dt="2025-12-19T09:37:45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5" descr="LOGO.gif"/>
          <p:cNvPicPr preferRelativeResize="0"/>
          <p:nvPr/>
        </p:nvPicPr>
        <p:blipFill rotWithShape="1">
          <a:blip r:embed="rId2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45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23" name="Google Shape;23;p45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" name="Google Shape;24;p45" descr="LOGO.gif"/>
            <p:cNvPicPr preferRelativeResize="0"/>
            <p:nvPr/>
          </p:nvPicPr>
          <p:blipFill rotWithShape="1">
            <a:blip r:embed="rId2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25;p45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" name="Google Shape;26;p45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5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3683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5"/>
          <p:cNvSpPr txBox="1">
            <a:spLocks noGrp="1"/>
          </p:cNvSpPr>
          <p:nvPr>
            <p:ph type="dt" idx="10"/>
          </p:nvPr>
        </p:nvSpPr>
        <p:spPr>
          <a:xfrm>
            <a:off x="152400" y="6629400"/>
            <a:ext cx="2286000" cy="1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5"/>
          <p:cNvSpPr txBox="1">
            <a:spLocks noGrp="1"/>
          </p:cNvSpPr>
          <p:nvPr>
            <p:ph type="ftr" idx="11"/>
          </p:nvPr>
        </p:nvSpPr>
        <p:spPr>
          <a:xfrm>
            <a:off x="3124200" y="6629400"/>
            <a:ext cx="2895600" cy="19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5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2700" marR="0" lvl="0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12700" marR="0" lvl="1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2700" marR="0" lvl="2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2700" marR="0" lvl="3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2700" marR="0" lvl="4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2700" marR="0" lvl="5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12700" marR="0" lvl="6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2700" marR="0" lvl="7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2700" marR="0" lvl="8" indent="0" algn="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lvl="0" indent="0" algn="r" rtl="0">
              <a:spcBef>
                <a:spcPts val="15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44"/>
          <p:cNvSpPr/>
          <p:nvPr/>
        </p:nvSpPr>
        <p:spPr>
          <a:xfrm rot="10800000" flipH="1">
            <a:off x="0" y="6583684"/>
            <a:ext cx="9144000" cy="27431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44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4" descr="LOGO.gif"/>
          <p:cNvPicPr preferRelativeResize="0"/>
          <p:nvPr/>
        </p:nvPicPr>
        <p:blipFill rotWithShape="1">
          <a:blip r:embed="rId3">
            <a:alphaModFix/>
          </a:blip>
          <a:srcRect b="10713"/>
          <a:stretch/>
        </p:blipFill>
        <p:spPr>
          <a:xfrm>
            <a:off x="6553200" y="228600"/>
            <a:ext cx="2057400" cy="63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44"/>
          <p:cNvGrpSpPr/>
          <p:nvPr/>
        </p:nvGrpSpPr>
        <p:grpSpPr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3" name="Google Shape;13;p44"/>
            <p:cNvSpPr/>
            <p:nvPr/>
          </p:nvSpPr>
          <p:spPr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14;p44" descr="LOGO.gif"/>
            <p:cNvPicPr preferRelativeResize="0"/>
            <p:nvPr/>
          </p:nvPicPr>
          <p:blipFill rotWithShape="1">
            <a:blip r:embed="rId3">
              <a:alphaModFix/>
            </a:blip>
            <a:srcRect b="10713"/>
            <a:stretch/>
          </p:blipFill>
          <p:spPr>
            <a:xfrm>
              <a:off x="6502400" y="4152900"/>
              <a:ext cx="2057400" cy="63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15;p44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6" name="Google Shape;16;p44" descr="log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3200" y="228600"/>
            <a:ext cx="19208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4"/>
          <p:cNvSpPr txBox="1">
            <a:spLocks noGrp="1"/>
          </p:cNvSpPr>
          <p:nvPr>
            <p:ph type="dt" idx="10"/>
          </p:nvPr>
        </p:nvSpPr>
        <p:spPr>
          <a:xfrm>
            <a:off x="76200" y="6594307"/>
            <a:ext cx="2362200" cy="26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4"/>
          <p:cNvSpPr txBox="1">
            <a:spLocks noGrp="1"/>
          </p:cNvSpPr>
          <p:nvPr>
            <p:ph type="ftr" idx="11"/>
          </p:nvPr>
        </p:nvSpPr>
        <p:spPr>
          <a:xfrm>
            <a:off x="3086100" y="6596246"/>
            <a:ext cx="2895600" cy="261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sldNum" idx="12"/>
          </p:nvPr>
        </p:nvSpPr>
        <p:spPr>
          <a:xfrm>
            <a:off x="6553200" y="6583684"/>
            <a:ext cx="2133600" cy="27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2700" marR="0" lvl="0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12700" marR="0" lvl="1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2700" marR="0" lvl="2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2700" marR="0" lvl="3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12700" marR="0" lvl="4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12700" marR="0" lvl="5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12700" marR="0" lvl="6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12700" marR="0" lvl="7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12700" marR="0" lvl="8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700" lvl="0" indent="0" algn="r" rtl="0">
              <a:spcBef>
                <a:spcPts val="15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sldNum" idx="12"/>
          </p:nvPr>
        </p:nvSpPr>
        <p:spPr>
          <a:xfrm>
            <a:off x="6553200" y="6629400"/>
            <a:ext cx="2133600" cy="17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0" rIns="0" bIns="0" anchor="ctr" anchorCtr="0">
            <a:spAutoFit/>
          </a:bodyPr>
          <a:lstStyle/>
          <a:p>
            <a:pPr marL="12700" lvl="0" indent="0" algn="r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03145-9778-A087-0079-A5DD0A2BEF34}"/>
              </a:ext>
            </a:extLst>
          </p:cNvPr>
          <p:cNvSpPr txBox="1"/>
          <p:nvPr/>
        </p:nvSpPr>
        <p:spPr>
          <a:xfrm>
            <a:off x="235974" y="963561"/>
            <a:ext cx="85344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Hoisting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moves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top before execution.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Happens during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creation phase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→ hoisted and initialized as undefined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&amp; const → hoisted but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initialized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(Temporal Dead Zone)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declarations → fully hoisted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expressions → hoisted only as variables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A5C284-96C3-B746-742D-59164A6A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26" y="4595324"/>
            <a:ext cx="2848373" cy="905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999EF3B-0FA6-A34C-A7B7-76D36BBD0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</p:spPr>
        <p:txBody>
          <a:bodyPr/>
          <a:lstStyle/>
          <a:p>
            <a:r>
              <a:rPr lang="en-IN" dirty="0"/>
              <a:t>Hoisting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8F953-42A8-512F-DDCF-BDCA7730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Closures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0D0B2-7A04-E7C4-7F82-1E30FF301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endParaRPr lang="en-US" dirty="0"/>
          </a:p>
          <a:p>
            <a:r>
              <a:rPr lang="en-US" dirty="0"/>
              <a:t>A closure is when a function </a:t>
            </a:r>
            <a:r>
              <a:rPr lang="en-US" b="1" dirty="0"/>
              <a:t>remembers variables</a:t>
            </a:r>
            <a:r>
              <a:rPr lang="en-US" dirty="0"/>
              <a:t> from its outer scope even after the outer function has finished.</a:t>
            </a:r>
          </a:p>
          <a:p>
            <a:r>
              <a:rPr lang="en-US" b="1" dirty="0"/>
              <a:t>Why Closures Work</a:t>
            </a:r>
            <a:endParaRPr lang="en-US" dirty="0"/>
          </a:p>
          <a:p>
            <a:r>
              <a:rPr lang="en-US" dirty="0"/>
              <a:t>Inner function keeps reference to outer variables</a:t>
            </a:r>
          </a:p>
          <a:p>
            <a:r>
              <a:rPr lang="en-US" dirty="0"/>
              <a:t>JavaScript uses </a:t>
            </a:r>
            <a:r>
              <a:rPr lang="en-US" b="1" dirty="0"/>
              <a:t>lexical scoping</a:t>
            </a:r>
            <a:endParaRPr lang="en-US" dirty="0"/>
          </a:p>
          <a:p>
            <a:r>
              <a:rPr lang="en-US" b="1" dirty="0"/>
              <a:t>Simple Example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C5979-3A11-A52D-45FF-76B8E5004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910" y="4128493"/>
            <a:ext cx="3677163" cy="230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5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2E09-3409-E083-9732-0A8AC3561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Practical Uses of Closures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36B7A6-6137-2446-9F75-1CE0A40F3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357310"/>
            <a:ext cx="531267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hiding and encapsulation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private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Maintaining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 factories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Callbacks and event handlers</a:t>
            </a:r>
          </a:p>
        </p:txBody>
      </p:sp>
    </p:spTree>
    <p:extLst>
      <p:ext uri="{BB962C8B-B14F-4D97-AF65-F5344CB8AC3E}">
        <p14:creationId xmlns:p14="http://schemas.microsoft.com/office/powerpoint/2010/main" val="412422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D6AE-550B-D7E3-8C00-2BD2B59F3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Private Variables Using Closures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04431-60CC-3082-0B0A-02358AD6C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Concept</a:t>
            </a:r>
            <a:endParaRPr lang="en-US" dirty="0"/>
          </a:p>
          <a:p>
            <a:r>
              <a:rPr lang="en-US" dirty="0"/>
              <a:t>Variables declared inside a function cannot be accessed directly from outside.</a:t>
            </a:r>
          </a:p>
          <a:p>
            <a:r>
              <a:rPr lang="en-US" b="1" dirty="0"/>
              <a:t>Benefit</a:t>
            </a:r>
            <a:endParaRPr lang="en-US" dirty="0"/>
          </a:p>
          <a:p>
            <a:r>
              <a:rPr lang="en-US" dirty="0"/>
              <a:t>Prevents unwanted modification of data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B4705-60E8-F773-2F02-30287F501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905" y="3429000"/>
            <a:ext cx="3238952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0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0F7D-3257-5FD5-7D35-F41F9CDF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Factories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F034C-1BAD-6E9F-0D0E-B415F24D0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a Function Factory</a:t>
            </a:r>
            <a:endParaRPr lang="en-US" dirty="0"/>
          </a:p>
          <a:p>
            <a:r>
              <a:rPr lang="en-US" dirty="0"/>
              <a:t>A function that </a:t>
            </a:r>
            <a:r>
              <a:rPr lang="en-US" b="1" dirty="0"/>
              <a:t>returns another function</a:t>
            </a:r>
            <a:endParaRPr lang="en-US" dirty="0"/>
          </a:p>
          <a:p>
            <a:r>
              <a:rPr lang="en-US" dirty="0"/>
              <a:t>Uses closures to customize behavior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r>
              <a:rPr lang="en-US" b="1" dirty="0"/>
              <a:t>Use Case</a:t>
            </a:r>
            <a:endParaRPr lang="en-US" dirty="0"/>
          </a:p>
          <a:p>
            <a:r>
              <a:rPr lang="en-US" dirty="0"/>
              <a:t>Code reusability</a:t>
            </a:r>
          </a:p>
          <a:p>
            <a:r>
              <a:rPr lang="en-US" dirty="0"/>
              <a:t>Dynamic function creation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21FA5-1DF6-6977-04F1-3A2267BE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79" y="4268486"/>
            <a:ext cx="3057952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6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2F5BF-4E03-F4D0-2C53-D0E59D15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Higher-Order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455CD-BD23-EC7E-D00F-0950B54CA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endParaRPr lang="en-US" dirty="0"/>
          </a:p>
          <a:p>
            <a:r>
              <a:rPr lang="en-US" dirty="0"/>
              <a:t>A function that:</a:t>
            </a:r>
          </a:p>
          <a:p>
            <a:pPr lvl="1"/>
            <a:r>
              <a:rPr lang="en-US" dirty="0"/>
              <a:t>Takes another function as argument OR</a:t>
            </a:r>
          </a:p>
          <a:p>
            <a:pPr lvl="1"/>
            <a:r>
              <a:rPr lang="en-US" dirty="0"/>
              <a:t>Returns a function</a:t>
            </a:r>
          </a:p>
          <a:p>
            <a:r>
              <a:rPr lang="en-US" b="1" dirty="0"/>
              <a:t>Common Examples</a:t>
            </a:r>
            <a:endParaRPr lang="en-US" dirty="0"/>
          </a:p>
          <a:p>
            <a:r>
              <a:rPr lang="en-US" dirty="0"/>
              <a:t>map()</a:t>
            </a:r>
          </a:p>
          <a:p>
            <a:r>
              <a:rPr lang="en-US" dirty="0"/>
              <a:t>filter()</a:t>
            </a:r>
          </a:p>
          <a:p>
            <a:r>
              <a:rPr lang="en-US" dirty="0" err="1"/>
              <a:t>setTimeout</a:t>
            </a:r>
            <a:r>
              <a:rPr lang="en-US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442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FEE8-8CDD-E69E-1195-1E131A15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map()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AC247-5419-DDD4-FFF3-5E4BA4009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endParaRPr lang="en-US" dirty="0"/>
          </a:p>
          <a:p>
            <a:r>
              <a:rPr lang="en-US" dirty="0"/>
              <a:t>Creates a new array by modifying each element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r>
              <a:rPr lang="en-US" b="1" dirty="0"/>
              <a:t>Key Point</a:t>
            </a:r>
            <a:endParaRPr lang="en-US" dirty="0"/>
          </a:p>
          <a:p>
            <a:r>
              <a:rPr lang="en-US" dirty="0"/>
              <a:t>Does not change original array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48480-CBFA-29A3-8CF5-4D171A929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79" y="3634581"/>
            <a:ext cx="3715268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621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3A39-4BD2-7828-B4E6-016EC10D3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filter()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FDD6C-165C-DA1E-69BA-D9FBA37A5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endParaRPr lang="en-US" dirty="0"/>
          </a:p>
          <a:p>
            <a:r>
              <a:rPr lang="en-US" dirty="0"/>
              <a:t>Creates a new array with elements that pass a condition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04578-2DF5-E254-F6CD-A446A9501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7" y="3052056"/>
            <a:ext cx="518232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6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DADE-FA8D-5565-5729-77F97E83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setTimeout</a:t>
            </a:r>
            <a:r>
              <a:rPr lang="en-IN" dirty="0"/>
              <a:t>() Function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902CE-1DC7-3166-E0E8-A63142B33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endParaRPr lang="en-US" dirty="0"/>
          </a:p>
          <a:p>
            <a:r>
              <a:rPr lang="en-US" dirty="0"/>
              <a:t>Executes a function </a:t>
            </a:r>
            <a:r>
              <a:rPr lang="en-US" b="1" dirty="0"/>
              <a:t>after a delay</a:t>
            </a:r>
            <a:endParaRPr lang="en-US" dirty="0"/>
          </a:p>
          <a:p>
            <a:r>
              <a:rPr lang="en-US" b="1" dirty="0"/>
              <a:t>Example</a:t>
            </a:r>
          </a:p>
          <a:p>
            <a:r>
              <a:rPr lang="en-US" b="1" dirty="0"/>
              <a:t>Key Points</a:t>
            </a:r>
            <a:endParaRPr lang="en-US" dirty="0"/>
          </a:p>
          <a:p>
            <a:r>
              <a:rPr lang="en-US" dirty="0"/>
              <a:t>Asynchronous</a:t>
            </a:r>
          </a:p>
          <a:p>
            <a:r>
              <a:rPr lang="en-US" dirty="0"/>
              <a:t>Uses callbacks</a:t>
            </a:r>
          </a:p>
          <a:p>
            <a:r>
              <a:rPr lang="en-US" dirty="0"/>
              <a:t>Delay is in milliseconds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C099F-CAAE-A9BA-838C-7295A41B2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08" y="4267030"/>
            <a:ext cx="358190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9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9A384-E67C-73E4-5C09-6A203C571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125D1-7237-BB76-67E8-CE1537DEC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Hoisting affects how code is executed</a:t>
            </a:r>
          </a:p>
          <a:p>
            <a:r>
              <a:rPr lang="en-US" dirty="0"/>
              <a:t>Closures allow data persistence and privacy</a:t>
            </a:r>
          </a:p>
          <a:p>
            <a:r>
              <a:rPr lang="en-US" dirty="0"/>
              <a:t>Function factories improve reusability</a:t>
            </a:r>
          </a:p>
          <a:p>
            <a:r>
              <a:rPr lang="en-US" dirty="0"/>
              <a:t>Higher-order functions simplify array operations</a:t>
            </a:r>
          </a:p>
          <a:p>
            <a:r>
              <a:rPr lang="en-US" dirty="0"/>
              <a:t>map, filter, and </a:t>
            </a:r>
            <a:r>
              <a:rPr lang="en-US" dirty="0" err="1"/>
              <a:t>setTimeout</a:t>
            </a:r>
            <a:r>
              <a:rPr lang="en-US" dirty="0"/>
              <a:t> make code cleaner and efficient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8374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276</Words>
  <Application>Microsoft Office PowerPoint</Application>
  <PresentationFormat>On-screen Show (4:3)</PresentationFormat>
  <Paragraphs>70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Theme2</vt:lpstr>
      <vt:lpstr>Hoisting</vt:lpstr>
      <vt:lpstr>Closures</vt:lpstr>
      <vt:lpstr>Practical Uses of Closures</vt:lpstr>
      <vt:lpstr>Creating Private Variables Using Closures</vt:lpstr>
      <vt:lpstr>Function Factories</vt:lpstr>
      <vt:lpstr>Higher-Order Functions</vt:lpstr>
      <vt:lpstr>map() Function</vt:lpstr>
      <vt:lpstr>filter() Function</vt:lpstr>
      <vt:lpstr>setTimeout() Function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Toshiba</dc:creator>
  <cp:lastModifiedBy>MANU SHARMA</cp:lastModifiedBy>
  <cp:revision>7</cp:revision>
  <dcterms:created xsi:type="dcterms:W3CDTF">2025-08-12T04:51:10Z</dcterms:created>
  <dcterms:modified xsi:type="dcterms:W3CDTF">2026-01-20T14:51:06Z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2019-07-01T00:00:00Z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2025-08-12T00:00:00Z</vt:filetime>
  </property>
  <property fmtid="{D5CDD505-2E9C-101B-9397-08002B2CF9AE}" pid="5" name="Producer">
    <vt:lpwstr>Microsoft® PowerPoint® for Office 365</vt:lpwstr>
  </property>
</Properties>
</file>