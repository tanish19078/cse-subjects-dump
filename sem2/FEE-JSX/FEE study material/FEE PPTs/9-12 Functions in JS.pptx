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96" r:id="rId5"/>
    <p:sldId id="295" r:id="rId6"/>
    <p:sldId id="294" r:id="rId7"/>
    <p:sldId id="293" r:id="rId8"/>
    <p:sldId id="292" r:id="rId9"/>
    <p:sldId id="291" r:id="rId10"/>
    <p:sldId id="290" r:id="rId11"/>
    <p:sldId id="298" r:id="rId12"/>
    <p:sldId id="297" r:id="rId13"/>
    <p:sldId id="299" r:id="rId14"/>
    <p:sldId id="300" r:id="rId15"/>
    <p:sldId id="301" r:id="rId16"/>
    <p:sldId id="302" r:id="rId17"/>
    <p:sldId id="303" r:id="rId18"/>
    <p:sldId id="289" r:id="rId19"/>
    <p:sldId id="288" r:id="rId20"/>
    <p:sldId id="304" r:id="rId21"/>
    <p:sldId id="305" r:id="rId22"/>
    <p:sldId id="306" r:id="rId23"/>
    <p:sldId id="307" r:id="rId24"/>
    <p:sldId id="308" r:id="rId25"/>
    <p:sldId id="287" r:id="rId26"/>
  </p:sldIdLst>
  <p:sldSz cx="9144000" cy="6858000"/>
  <p:notesSz cx="6858000" cy="9144000"/>
  <p:embeddedFontLst>
    <p:embeddedFont>
      <p:font typeface="Calibri" panose="020F0502020204030204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4.fntdata"/><Relationship Id="rId32" Type="http://schemas.openxmlformats.org/officeDocument/2006/relationships/font" Target="fonts/font3.fntdata"/><Relationship Id="rId31" Type="http://schemas.openxmlformats.org/officeDocument/2006/relationships/font" Target="fonts/font2.fntdata"/><Relationship Id="rId30" Type="http://schemas.openxmlformats.org/officeDocument/2006/relationships/font" Target="fonts/font1.fntdata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9" name="Google Shape;49;p1:notes"/>
          <p:cNvSpPr txBox="1"/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295" name="Google Shape;295;p7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39" descr="LOGO.gif"/>
          <p:cNvPicPr preferRelativeResize="0"/>
          <p:nvPr/>
        </p:nvPicPr>
        <p:blipFill rotWithShape="1">
          <a:blip r:embed="rId2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9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39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8" name="Google Shape;28;p39" descr="LOGO.gif"/>
            <p:cNvPicPr preferRelativeResize="0"/>
            <p:nvPr/>
          </p:nvPicPr>
          <p:blipFill rotWithShape="1">
            <a:blip r:embed="rId2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9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0" name="Google Shape;30;p39" descr="logo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9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lvl="1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lvl="2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lvl="3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lvl="4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1"/>
          <p:cNvSpPr txBox="1"/>
          <p:nvPr>
            <p:ph type="ctrTitle"/>
          </p:nvPr>
        </p:nvSpPr>
        <p:spPr>
          <a:xfrm>
            <a:off x="0" y="1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type="subTitle" idx="1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4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1" name="Google Shape;11;p38"/>
          <p:cNvSpPr txBox="1"/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3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3" name="Google Shape;13;p3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4" name="Google Shape;14;p3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5" name="Google Shape;15;p38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38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" name="Google Shape;17;p38" descr="LOGO.gif"/>
          <p:cNvPicPr preferRelativeResize="0"/>
          <p:nvPr/>
        </p:nvPicPr>
        <p:blipFill rotWithShape="1">
          <a:blip r:embed="rId4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8" descr="LOGO.gif"/>
          <p:cNvPicPr preferRelativeResize="0"/>
          <p:nvPr/>
        </p:nvPicPr>
        <p:blipFill rotWithShape="1">
          <a:blip r:embed="rId4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8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38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1" name="Google Shape;21;p38" descr="LOGO.gif"/>
            <p:cNvPicPr preferRelativeResize="0"/>
            <p:nvPr/>
          </p:nvPicPr>
          <p:blipFill rotWithShape="1">
            <a:blip r:embed="rId4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3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23" name="Google Shape;23;p38" descr="logo.jp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52400" y="914400"/>
            <a:ext cx="8763000" cy="36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US" altLang="en-US" sz="3200" b="1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Functions, Arguments, Scope &amp; Advanced Function Concepts (JavaScript)</a:t>
            </a:r>
            <a:endParaRPr lang="en-US" altLang="en-US" sz="32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1905000" y="4953000"/>
            <a:ext cx="4762500" cy="64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Dr. Mandeep Kaur</a:t>
            </a:r>
            <a:endParaRPr sz="24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1676400" y="5599331"/>
            <a:ext cx="6172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and Engineering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Chitkara University, Punjab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4" name="Google Shape;54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/>
              <a:t>Function Definition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r>
              <a:rPr lang="en-US" altLang="en-US"/>
              <a:t>A function is a reusable block of JavaScript code that performs a specific task and executes only when invoked.</a:t>
            </a:r>
            <a:endParaRPr lang="en-US" altLang="en-US"/>
          </a:p>
          <a:p>
            <a:endParaRPr lang="en-US" altLang="en-US"/>
          </a:p>
          <a:p>
            <a:pPr marL="88900" indent="0">
              <a:buNone/>
            </a:pPr>
            <a:r>
              <a:rPr lang="en-US" altLang="en-US" b="1"/>
              <a:t>Importance in Frontend Engineering: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Handles user events (click, submit, input)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Controls application logic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Enables modular and maintainable code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Forms the foundation of frameworks like React and Angular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Function Definition Syntax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88900" indent="0">
              <a:buNone/>
            </a:pPr>
            <a:r>
              <a:rPr lang="en-US" altLang="en-US"/>
              <a:t>function functionName(parameters) {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    // function body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    return value;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r>
              <a:rPr lang="en-US" altLang="en-US"/>
              <a:t>Functions are objects in JavaScript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r>
              <a:rPr lang="en-US" altLang="en-US"/>
              <a:t>Can accept inputs (parameters)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Can return a value or perform actions</a:t>
            </a:r>
            <a:endParaRPr lang="en-US" altLang="en-US"/>
          </a:p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Calling (Invoking) a Function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457200" y="1052195"/>
            <a:ext cx="8229600" cy="4845685"/>
          </a:xfrm>
        </p:spPr>
        <p:txBody>
          <a:bodyPr/>
          <a:p>
            <a:r>
              <a:rPr lang="en-US" altLang="en-US"/>
              <a:t>Function Call Syntax:</a:t>
            </a:r>
            <a:endParaRPr lang="en-US" altLang="en-US"/>
          </a:p>
          <a:p>
            <a:endParaRPr lang="en-US" altLang="en-US"/>
          </a:p>
          <a:p>
            <a:pPr marL="88900" indent="0">
              <a:buNone/>
            </a:pPr>
            <a:r>
              <a:rPr lang="en-US" altLang="en-US"/>
              <a:t>functionName(arguments);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r>
              <a:rPr lang="en-US" altLang="en-US" b="1"/>
              <a:t>Example:</a:t>
            </a:r>
            <a:endParaRPr lang="en-US" altLang="en-US" b="1"/>
          </a:p>
          <a:p>
            <a:pPr marL="88900" indent="0">
              <a:buNone/>
            </a:pPr>
            <a:r>
              <a:rPr lang="en-US" altLang="en-US"/>
              <a:t>function greet(name) {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    return "Hello " + name;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greet("Rohan");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r>
              <a:rPr lang="en-US" altLang="en-US"/>
              <a:t>Function executes when: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A button is clicked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A form is submitted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A page loads</a:t>
            </a:r>
            <a:endParaRPr lang="en-US" altLang="en-US"/>
          </a:p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Parameters vs Arguments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Example:</a:t>
            </a:r>
            <a:endParaRPr lang="en-US"/>
          </a:p>
          <a:p>
            <a:pPr marL="88900" indent="0">
              <a:buNone/>
            </a:pPr>
            <a:r>
              <a:rPr lang="en-US" altLang="en-US"/>
              <a:t>function add(a, b) {   // parameters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   return a + b;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add(5, 10);           // arguments</a:t>
            </a:r>
            <a:endParaRPr lang="en-US" altLang="en-US"/>
          </a:p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1084580" y="1015365"/>
          <a:ext cx="66865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3275"/>
                <a:gridCol w="3343275"/>
              </a:tblGrid>
              <a:tr h="5803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Term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  <a:endParaRPr lang="en-US"/>
                    </a:p>
                  </a:txBody>
                  <a:tcPr/>
                </a:tc>
              </a:tr>
              <a:tr h="5810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Parameters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Variables listed in function definition</a:t>
                      </a:r>
                      <a:endParaRPr lang="en-US" altLang="en-US"/>
                    </a:p>
                  </a:txBody>
                  <a:tcPr/>
                </a:tc>
              </a:tr>
              <a:tr h="7893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Arguments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Actual values passed during function call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Types of Function Arguments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88900" indent="0">
              <a:buNone/>
            </a:pPr>
            <a:r>
              <a:rPr lang="en-US" altLang="en-US"/>
              <a:t>JavaScript supports multiple ways of passing arguments: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Required arguments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Default arguments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Keyword-like arguments (object-based)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Variable-length arguments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Required Arguments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88900" indent="0">
              <a:buNone/>
            </a:pPr>
            <a:r>
              <a:rPr lang="en-US" altLang="en-US" b="1"/>
              <a:t>Definition</a:t>
            </a:r>
            <a:endParaRPr lang="en-US" altLang="en-US" b="1"/>
          </a:p>
          <a:p>
            <a:r>
              <a:rPr lang="en-US" altLang="en-US"/>
              <a:t>Arguments that must be supplied during function call.</a:t>
            </a:r>
            <a:endParaRPr lang="en-US" altLang="en-US"/>
          </a:p>
          <a:p>
            <a:endParaRPr lang="en-US" altLang="en-US"/>
          </a:p>
          <a:p>
            <a:pPr marL="88900" indent="0">
              <a:buNone/>
            </a:pPr>
            <a:r>
              <a:rPr lang="en-US" altLang="en-US" b="1"/>
              <a:t>Example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function login(username, password) {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console.log(username, password);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login("admin", "1234");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endParaRPr lang="en-US" altLang="en-US"/>
          </a:p>
          <a:p>
            <a:r>
              <a:rPr lang="en-US" altLang="en-US"/>
              <a:t>Missing arguments become undefined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JavaScript does not throw an error automatically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Default Arguments (ES6)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457200" y="967105"/>
            <a:ext cx="8229600" cy="4930775"/>
          </a:xfrm>
        </p:spPr>
        <p:txBody>
          <a:bodyPr/>
          <a:p>
            <a:pPr marL="88900" indent="0">
              <a:buNone/>
            </a:pPr>
            <a:r>
              <a:rPr lang="en-US" altLang="en-US" b="1"/>
              <a:t>Purpose</a:t>
            </a:r>
            <a:endParaRPr lang="en-US" altLang="en-US" b="1"/>
          </a:p>
          <a:p>
            <a:pPr marL="88900" indent="0">
              <a:buNone/>
            </a:pPr>
            <a:r>
              <a:rPr lang="en-US" altLang="en-US"/>
              <a:t>Provide fallback values if arguments are not passed.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r>
              <a:rPr lang="en-US" altLang="en-US"/>
              <a:t>Syntax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function greet(name = "Guest") {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    console.log("Hello " + name);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88900" indent="0">
              <a:buNone/>
            </a:pPr>
            <a:r>
              <a:rPr lang="en-US" altLang="en-US" b="1"/>
              <a:t>Example</a:t>
            </a:r>
            <a:endParaRPr lang="en-US" altLang="en-US" b="1"/>
          </a:p>
          <a:p>
            <a:pPr marL="88900" indent="0">
              <a:buNone/>
            </a:pPr>
            <a:r>
              <a:rPr lang="en-US" altLang="en-US"/>
              <a:t>greet();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greet("Rohan");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lnSpc>
                <a:spcPct val="100000"/>
              </a:lnSpc>
              <a:buNone/>
            </a:pPr>
            <a:r>
              <a:rPr lang="en-US" altLang="en-US" b="1"/>
              <a:t>Frontend Use Case:</a:t>
            </a:r>
            <a:endParaRPr lang="en-US" altLang="en-US" b="1"/>
          </a:p>
          <a:p>
            <a:pPr>
              <a:lnSpc>
                <a:spcPct val="100000"/>
              </a:lnSpc>
            </a:pPr>
            <a:r>
              <a:rPr lang="en-US" altLang="en-US"/>
              <a:t>Optional form fields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Default UI messages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Keyword Arguments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457200" y="1009015"/>
            <a:ext cx="8229600" cy="4888865"/>
          </a:xfrm>
        </p:spPr>
        <p:txBody>
          <a:bodyPr/>
          <a:p>
            <a:r>
              <a:rPr lang="en-US" altLang="en-US"/>
              <a:t>JavaScript does not support true keyword arguments like Python.</a:t>
            </a:r>
            <a:endParaRPr lang="en-US" altLang="en-US"/>
          </a:p>
          <a:p>
            <a:r>
              <a:rPr lang="en-US" altLang="en-US"/>
              <a:t>Instead, objects are used to simulate them.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r>
              <a:rPr lang="en-US" altLang="en-US"/>
              <a:t>Example: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function createUser({name, age}) {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    console.log(name, age);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r>
              <a:rPr lang="en-US" altLang="en-US"/>
              <a:t>createUser({ age: 20, name: "Rohan" });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r>
              <a:rPr lang="en-US" altLang="en-US" b="1"/>
              <a:t>Advantage:</a:t>
            </a:r>
            <a:endParaRPr lang="en-US" altLang="en-US"/>
          </a:p>
          <a:p>
            <a:r>
              <a:rPr lang="en-US" altLang="en-US"/>
              <a:t>Order-independent arguments</a:t>
            </a:r>
            <a:endParaRPr lang="en-US" altLang="en-US"/>
          </a:p>
          <a:p>
            <a:r>
              <a:rPr lang="en-US" altLang="en-US"/>
              <a:t>Cleaner APIs in frontend code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Variable-Length Arguments (Rest Parameters)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88900" indent="0">
              <a:buNone/>
            </a:pPr>
            <a:r>
              <a:rPr lang="en-US" altLang="en-US"/>
              <a:t>Accept any number of arguments.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r>
              <a:rPr lang="en-US" altLang="en-US" b="1"/>
              <a:t>Syntax</a:t>
            </a:r>
            <a:endParaRPr lang="en-US" altLang="en-US" b="1"/>
          </a:p>
          <a:p>
            <a:pPr marL="88900" indent="0">
              <a:buNone/>
            </a:pPr>
            <a:r>
              <a:rPr lang="en-US" altLang="en-US"/>
              <a:t>function total(...values) 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{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    return values.reduce((sum, v) =&gt; sum + v, 0);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}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Scope Rules in JavaScript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88900" indent="0">
              <a:buNone/>
            </a:pPr>
            <a:r>
              <a:rPr lang="en-US" altLang="en-US"/>
              <a:t>What is Scope?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Scope defines where a variable is accessible and how long it exists.</a:t>
            </a:r>
            <a:endParaRPr lang="en-US" altLang="en-US"/>
          </a:p>
          <a:p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r>
              <a:rPr lang="en-US" altLang="en-US"/>
              <a:t>JavaScript Uses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Lexical (static) scoping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Global Scope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88900" indent="0">
              <a:buNone/>
            </a:pPr>
            <a:r>
              <a:rPr lang="en-US" altLang="en-US" b="1"/>
              <a:t>Definition:</a:t>
            </a:r>
            <a:endParaRPr lang="en-US" altLang="en-US"/>
          </a:p>
          <a:p>
            <a:r>
              <a:rPr lang="en-US" altLang="en-US"/>
              <a:t>Variables declared outside all functions.</a:t>
            </a:r>
            <a:endParaRPr lang="en-US" altLang="en-US"/>
          </a:p>
          <a:p>
            <a:endParaRPr lang="en-US" altLang="en-US"/>
          </a:p>
          <a:p>
            <a:pPr marL="88900" indent="0">
              <a:buNone/>
            </a:pPr>
            <a:r>
              <a:rPr lang="en-US" altLang="en-US" b="1"/>
              <a:t>Example</a:t>
            </a:r>
            <a:endParaRPr lang="en-US" altLang="en-US" b="1"/>
          </a:p>
          <a:p>
            <a:pPr marL="88900" indent="0">
              <a:buNone/>
            </a:pPr>
            <a:r>
              <a:rPr lang="en-US" altLang="en-US"/>
              <a:t>let theme = "dark";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r>
              <a:rPr lang="en-US" altLang="en-US"/>
              <a:t>function applyTheme() 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{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    console.log(theme);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}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GB" altLang="en-US"/>
              <a:t>Local Scope</a:t>
            </a:r>
            <a:endParaRPr lang="en-GB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>
              <a:sym typeface="+mn-ea"/>
            </a:endParaRPr>
          </a:p>
          <a:p>
            <a:pPr marL="88900" indent="0">
              <a:buNone/>
            </a:pPr>
            <a:r>
              <a:rPr lang="en-US" altLang="en-US" b="1">
                <a:sym typeface="+mn-ea"/>
              </a:rPr>
              <a:t>Definition:</a:t>
            </a:r>
            <a:endParaRPr lang="en-US" altLang="en-US"/>
          </a:p>
          <a:p>
            <a:r>
              <a:rPr lang="en-US" altLang="en-US">
                <a:sym typeface="+mn-ea"/>
              </a:rPr>
              <a:t>Variables </a:t>
            </a:r>
            <a:r>
              <a:rPr lang="en-GB" altLang="en-US">
                <a:sym typeface="+mn-ea"/>
              </a:rPr>
              <a:t>are </a:t>
            </a:r>
            <a:r>
              <a:rPr lang="en-US" altLang="en-US">
                <a:sym typeface="+mn-ea"/>
              </a:rPr>
              <a:t>declared</a:t>
            </a:r>
            <a:r>
              <a:rPr lang="en-GB" altLang="en-US">
                <a:sym typeface="+mn-ea"/>
              </a:rPr>
              <a:t> inside the</a:t>
            </a:r>
            <a:r>
              <a:rPr lang="en-US" altLang="en-US">
                <a:sym typeface="+mn-ea"/>
              </a:rPr>
              <a:t> functions.</a:t>
            </a:r>
            <a:endParaRPr lang="en-US" altLang="en-US"/>
          </a:p>
          <a:p>
            <a:endParaRPr lang="en-US" altLang="en-US"/>
          </a:p>
          <a:p>
            <a:pPr marL="88900" indent="0">
              <a:buNone/>
            </a:pPr>
            <a:r>
              <a:rPr lang="en-US" altLang="en-US" b="1">
                <a:sym typeface="+mn-ea"/>
              </a:rPr>
              <a:t>Example</a:t>
            </a:r>
            <a:endParaRPr lang="en-US" altLang="en-US" b="1"/>
          </a:p>
          <a:p>
            <a:pPr marL="88900" indent="0">
              <a:buNone/>
            </a:pPr>
            <a:r>
              <a:rPr>
                <a:sym typeface="+mn-ea"/>
              </a:rPr>
              <a:t>def calculate()</a:t>
            </a:r>
            <a:endParaRPr>
              <a:sym typeface="+mn-ea"/>
            </a:endParaRPr>
          </a:p>
          <a:p>
            <a:pPr marL="88900" indent="0">
              <a:buNone/>
            </a:pPr>
            <a:r>
              <a:rPr lang="en-GB">
                <a:sym typeface="+mn-ea"/>
              </a:rPr>
              <a:t>{</a:t>
            </a:r>
            <a:endParaRPr lang="en-GB">
              <a:sym typeface="+mn-ea"/>
            </a:endParaRPr>
          </a:p>
          <a:p>
            <a:pPr marL="88900" indent="0">
              <a:buNone/>
            </a:pPr>
            <a:r>
              <a:rPr>
                <a:sym typeface="+mn-ea"/>
              </a:rPr>
              <a:t> </a:t>
            </a:r>
            <a:r>
              <a:rPr lang="en-US">
                <a:sym typeface="+mn-ea"/>
              </a:rPr>
              <a:t>let </a:t>
            </a:r>
            <a:r>
              <a:rPr>
                <a:sym typeface="+mn-ea"/>
              </a:rPr>
              <a:t>y = 20</a:t>
            </a:r>
            <a:endParaRPr>
              <a:sym typeface="+mn-ea"/>
            </a:endParaRPr>
          </a:p>
          <a:p>
            <a:pPr marL="88900" indent="0">
              <a:buNone/>
            </a:pPr>
            <a:r>
              <a:rPr>
                <a:sym typeface="+mn-ea"/>
              </a:rPr>
              <a:t> </a:t>
            </a:r>
            <a:r>
              <a:rPr lang="en-US">
                <a:sym typeface="+mn-ea"/>
              </a:rPr>
              <a:t>console.log</a:t>
            </a:r>
            <a:r>
              <a:rPr>
                <a:sym typeface="+mn-ea"/>
              </a:rPr>
              <a:t>(y)</a:t>
            </a:r>
            <a:r>
              <a:rPr lang="en-US">
                <a:sym typeface="+mn-ea"/>
              </a:rPr>
              <a:t>;</a:t>
            </a:r>
            <a:endParaRPr lang="en-US">
              <a:sym typeface="+mn-ea"/>
            </a:endParaRPr>
          </a:p>
          <a:p>
            <a:pPr marL="88900" indent="0">
              <a:buNone/>
            </a:pPr>
            <a:r>
              <a:rPr lang="en-US">
                <a:sym typeface="+mn-ea"/>
              </a:rPr>
              <a:t>}</a:t>
            </a:r>
            <a:endParaRPr lang="en-US">
              <a:sym typeface="+mn-ea"/>
            </a:endParaRPr>
          </a:p>
          <a:p>
            <a:pPr marL="88900" indent="0">
              <a:buNone/>
            </a:pPr>
            <a:r>
              <a:rPr lang="en-US">
                <a:sym typeface="+mn-ea"/>
              </a:rPr>
              <a:t>c</a:t>
            </a:r>
            <a:r>
              <a:rPr>
                <a:sym typeface="+mn-ea"/>
              </a:rPr>
              <a:t>alculate()</a:t>
            </a:r>
            <a:endParaRPr>
              <a:sym typeface="+mn-ea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Passing Arguments in JavaScript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457200" y="837565"/>
            <a:ext cx="8229600" cy="5060315"/>
          </a:xfrm>
        </p:spPr>
        <p:txBody>
          <a:bodyPr/>
          <a:p>
            <a:r>
              <a:rPr lang="en-US" altLang="en-US" b="1"/>
              <a:t>Call by Value &amp; Call by Reference</a:t>
            </a:r>
            <a:endParaRPr lang="en-US" altLang="en-US" b="1"/>
          </a:p>
          <a:p>
            <a:r>
              <a:rPr lang="en-US" altLang="en-US" b="1"/>
              <a:t>Call by Value (Primitive data types)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When primitive values are passed (number, string, boolean), a copy is sent.</a:t>
            </a:r>
            <a:endParaRPr lang="en-US" altLang="en-US"/>
          </a:p>
          <a:p>
            <a:r>
              <a:rPr lang="en-US" altLang="en-US"/>
              <a:t>Changes inside the function do not affect the original value.</a:t>
            </a:r>
            <a:endParaRPr lang="en-US" altLang="en-US"/>
          </a:p>
          <a:p>
            <a:endParaRPr lang="en-US" altLang="en-US"/>
          </a:p>
          <a:p>
            <a:pPr marL="88900" indent="0">
              <a:buNone/>
            </a:pPr>
            <a:r>
              <a:rPr lang="en-US" altLang="en-US"/>
              <a:t>&lt;script&gt;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function change(x) {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  x = 50;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let a = 10;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change(a);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console.log(a); // 10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&lt;/script&gt;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Call by Reference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88900" indent="0">
              <a:buNone/>
            </a:pPr>
            <a:r>
              <a:rPr lang="en-US" altLang="en-US"/>
              <a:t>function modify(arr) {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  arr.push(100);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r>
              <a:rPr lang="en-US" altLang="en-US"/>
              <a:t>let nums = [1, 2, 3];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modify(nums);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r>
              <a:rPr lang="en-US" altLang="en-US"/>
              <a:t>console.log(nums);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Value vs Reference 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graphicFrame>
        <p:nvGraphicFramePr>
          <p:cNvPr id="5" name="Table 4"/>
          <p:cNvGraphicFramePr/>
          <p:nvPr/>
        </p:nvGraphicFramePr>
        <p:xfrm>
          <a:off x="1371600" y="2857500"/>
          <a:ext cx="64008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381000">
                <a:tc>
                  <a:txBody>
                    <a:bodyPr/>
                    <a:p>
                      <a:r>
                        <a:rPr lang="en-US" altLang="zh-CN" sz="1100"/>
                        <a:t>Type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Example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Effect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100"/>
                        <a:t>Value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Number, String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No change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100"/>
                        <a:t>Reference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Array, Object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Changes reflect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Recursive Functions – Introduction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r>
              <a:rPr lang="en-US" altLang="en-US"/>
              <a:t>A function that calls itself.</a:t>
            </a:r>
            <a:endParaRPr lang="en-US" altLang="en-US"/>
          </a:p>
          <a:p>
            <a:endParaRPr lang="en-US" altLang="en-US"/>
          </a:p>
          <a:p>
            <a:pPr marL="88900" indent="0">
              <a:buNone/>
            </a:pPr>
            <a:r>
              <a:rPr lang="en-US" altLang="en-US"/>
              <a:t> Must have: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Base condition</a:t>
            </a:r>
            <a:endParaRPr lang="en-US" altLang="en-US"/>
          </a:p>
          <a:p>
            <a:r>
              <a:rPr lang="en-US" altLang="en-US"/>
              <a:t>Recursive call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Example – Factorial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88900" indent="0">
              <a:buNone/>
            </a:pPr>
            <a:r>
              <a:rPr lang="en-US" altLang="en-US"/>
              <a:t>function fact(n) {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  if (n === 1) return 1;   // base case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  return n * fact(n - 1);  // recursive call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r>
              <a:rPr lang="en-US" altLang="en-US"/>
              <a:t>console.log(fact(5));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Example – Sum of Numbers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88900" indent="0">
              <a:buNone/>
            </a:pPr>
            <a:r>
              <a:rPr lang="en-US" altLang="en-US"/>
              <a:t>function sum(n) {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  if (n === 0) return 0;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  return n + sum(n - 1);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r>
              <a:rPr lang="en-US" altLang="en-US"/>
              <a:t>console.log(sum(5));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Example – Sum of Numbers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88900" indent="0">
              <a:buNone/>
            </a:pPr>
            <a:r>
              <a:rPr lang="en-US" altLang="en-US"/>
              <a:t>function sum(n) {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  if (n === 0) return 0;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  return n + sum(n - 1);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r>
              <a:rPr lang="en-US" altLang="en-US"/>
              <a:t>console.log(sum(5));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Lambda Expressions (Arrow Functions)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88900" indent="0">
              <a:buNone/>
            </a:pPr>
            <a:r>
              <a:rPr lang="en-US" altLang="en-US"/>
              <a:t>let add = (a, b) =&gt; {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  return a + b;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};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r>
              <a:rPr lang="en-US" altLang="en-US" b="1"/>
              <a:t>Example 1:</a:t>
            </a:r>
            <a:endParaRPr lang="en-US" altLang="en-US" b="1"/>
          </a:p>
          <a:p>
            <a:pPr marL="88900" indent="0">
              <a:buNone/>
            </a:pPr>
            <a:r>
              <a:rPr lang="en-US" altLang="en-US"/>
              <a:t>let square = x =&gt; x * x;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console.log(square(4));</a:t>
            </a:r>
            <a:br>
              <a:rPr lang="en-US" altLang="en-US"/>
            </a:br>
            <a:br>
              <a:rPr lang="en-US" altLang="en-US"/>
            </a:br>
            <a:r>
              <a:rPr lang="en-US" altLang="en-US" b="1">
                <a:sym typeface="+mn-ea"/>
              </a:rPr>
              <a:t>Example 2:</a:t>
            </a:r>
            <a:endParaRPr lang="en-US" altLang="en-US"/>
          </a:p>
          <a:p>
            <a:pPr marL="88900" indent="0">
              <a:buNone/>
            </a:pPr>
            <a:r>
              <a:rPr lang="en-US" altLang="en-US">
                <a:sym typeface="+mn-ea"/>
              </a:rPr>
              <a:t>let greet = () =&gt; "Hello!";</a:t>
            </a:r>
            <a:endParaRPr lang="en-US" altLang="en-US"/>
          </a:p>
          <a:p>
            <a:pPr marL="88900" indent="0">
              <a:buNone/>
            </a:pPr>
            <a:r>
              <a:rPr lang="en-US" altLang="en-US">
                <a:sym typeface="+mn-ea"/>
              </a:rPr>
              <a:t>console.log(greet());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r>
              <a:rPr lang="en-US" altLang="en-US"/>
              <a:t>Example 2:</a:t>
            </a:r>
            <a:endParaRPr lang="en-US" altLang="en-US"/>
          </a:p>
          <a:p>
            <a:r>
              <a:rPr lang="en-US" altLang="en-US"/>
              <a:t>let greet = () =&gt; "Hello!";</a:t>
            </a:r>
            <a:endParaRPr lang="en-US" altLang="en-US"/>
          </a:p>
          <a:p>
            <a:r>
              <a:rPr lang="en-US" altLang="en-US"/>
              <a:t>console.log(greet());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8FB"/>
            </a:gs>
            <a:gs pos="19000">
              <a:srgbClr val="F4F8FB"/>
            </a:gs>
            <a:gs pos="74000">
              <a:srgbClr val="AEC5E1"/>
            </a:gs>
            <a:gs pos="83000">
              <a:srgbClr val="AEC5E1"/>
            </a:gs>
            <a:gs pos="100000">
              <a:srgbClr val="C8D8EB"/>
            </a:gs>
          </a:gsLst>
          <a:lin ang="5400000" scaled="0"/>
        </a:gradFill>
        <a:effectLst/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7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98" name="Google Shape;298;p72"/>
          <p:cNvSpPr/>
          <p:nvPr/>
        </p:nvSpPr>
        <p:spPr>
          <a:xfrm>
            <a:off x="2724175" y="2388225"/>
            <a:ext cx="3828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E5B8B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</a:t>
            </a:r>
            <a:r>
              <a:rPr lang="en-US" sz="5400" b="1">
                <a:solidFill>
                  <a:srgbClr val="E5B8B7"/>
                </a:solidFill>
              </a:rPr>
              <a:t>you</a:t>
            </a:r>
            <a:endParaRPr sz="5400" b="1" i="0" u="none" strike="noStrike" cap="none">
              <a:solidFill>
                <a:srgbClr val="E5B8B7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26*153"/>
  <p:tag name="TABLE_ENDDRAG_RECT" val="85*172*526*153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3973</Words>
  <Application>WPS Presentation</Application>
  <PresentationFormat/>
  <Paragraphs>338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Arial</vt:lpstr>
      <vt:lpstr>SimSun</vt:lpstr>
      <vt:lpstr>Wingdings</vt:lpstr>
      <vt:lpstr>Arial</vt:lpstr>
      <vt:lpstr>Calibri</vt:lpstr>
      <vt:lpstr>Times New Roman</vt:lpstr>
      <vt:lpstr>Times New Roman</vt:lpstr>
      <vt:lpstr>Microsoft YaHei</vt:lpstr>
      <vt:lpstr>Arial Unicode MS</vt:lpstr>
      <vt:lpstr>Office Theme</vt:lpstr>
      <vt:lpstr>PowerPoint 演示文稿</vt:lpstr>
      <vt:lpstr>Function Definition</vt:lpstr>
      <vt:lpstr>Function Definition Syntax</vt:lpstr>
      <vt:lpstr>Calling (Invoking) a Function</vt:lpstr>
      <vt:lpstr>Parameters vs Arguments</vt:lpstr>
      <vt:lpstr>Types of Function Arguments</vt:lpstr>
      <vt:lpstr>Required Arguments</vt:lpstr>
      <vt:lpstr>Default Arguments (ES6)</vt:lpstr>
      <vt:lpstr>Keyword Arguments</vt:lpstr>
      <vt:lpstr>Variable-Length Arguments (Rest Parameters)</vt:lpstr>
      <vt:lpstr>Scope Rules in JavaScript</vt:lpstr>
      <vt:lpstr>Global Scope</vt:lpstr>
      <vt:lpstr>Local Scope</vt:lpstr>
      <vt:lpstr>Passing Arguments in JavaScript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ABC</dc:creator>
  <cp:lastModifiedBy>Mandeep Kaur</cp:lastModifiedBy>
  <cp:revision>35</cp:revision>
  <dcterms:created xsi:type="dcterms:W3CDTF">2026-01-23T05:20:00Z</dcterms:created>
  <dcterms:modified xsi:type="dcterms:W3CDTF">2026-04-07T10:21:50Z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FD1C213C45A34F579D79E9BE45F8A15F_13</vt:lpwstr>
  </property>
  <property fmtid="{D5CDD505-2E9C-101B-9397-08002B2CF9AE}" pid="3" name="KSOProductBuildVer">
    <vt:lpwstr>1033-12.1.0.25242</vt:lpwstr>
  </property>
</Properties>
</file>