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2" r:id="rId3"/>
    <p:sldId id="273" r:id="rId4"/>
    <p:sldId id="304" r:id="rId5"/>
    <p:sldId id="303" r:id="rId6"/>
    <p:sldId id="274" r:id="rId7"/>
    <p:sldId id="275" r:id="rId8"/>
    <p:sldId id="276" r:id="rId9"/>
    <p:sldId id="317" r:id="rId10"/>
    <p:sldId id="277" r:id="rId11"/>
    <p:sldId id="278" r:id="rId12"/>
    <p:sldId id="279" r:id="rId13"/>
    <p:sldId id="280" r:id="rId14"/>
    <p:sldId id="305" r:id="rId15"/>
    <p:sldId id="306" r:id="rId16"/>
    <p:sldId id="307" r:id="rId17"/>
    <p:sldId id="281" r:id="rId18"/>
    <p:sldId id="309" r:id="rId19"/>
    <p:sldId id="285" r:id="rId20"/>
    <p:sldId id="310" r:id="rId21"/>
    <p:sldId id="286" r:id="rId22"/>
    <p:sldId id="287" r:id="rId23"/>
    <p:sldId id="311" r:id="rId24"/>
    <p:sldId id="312" r:id="rId25"/>
    <p:sldId id="288" r:id="rId26"/>
    <p:sldId id="318" r:id="rId27"/>
    <p:sldId id="289" r:id="rId28"/>
    <p:sldId id="290" r:id="rId29"/>
    <p:sldId id="291" r:id="rId30"/>
    <p:sldId id="292" r:id="rId31"/>
    <p:sldId id="293" r:id="rId3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gM6VNHpDPnSK9aWOWxRBT33mzR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0" autoAdjust="0"/>
    <p:restoredTop sz="0" autoAdjust="0"/>
  </p:normalViewPr>
  <p:slideViewPr>
    <p:cSldViewPr snapToGrid="0">
      <p:cViewPr varScale="1">
        <p:scale>
          <a:sx n="67" d="100"/>
          <a:sy n="67" d="100"/>
        </p:scale>
        <p:origin x="1616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7013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4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4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3" descr="LOGO.gif"/>
            <p:cNvPicPr preferRelativeResize="0"/>
            <p:nvPr/>
          </p:nvPicPr>
          <p:blipFill rotWithShape="1">
            <a:blip r:embed="rId4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3" descr="logo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2016.asp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152400" y="914400"/>
            <a:ext cx="8763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 Class</a:t>
            </a:r>
            <a:r>
              <a:rPr lang="en-US" sz="1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b="0" i="0" u="none" strike="noStrik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sz="3200" b="1" i="1" u="none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spcBef>
                <a:spcPts val="400"/>
              </a:spcBef>
            </a:pPr>
            <a:r>
              <a:rPr lang="en-US" sz="2000" b="1" i="1" dirty="0">
                <a:latin typeface="Times New Roman"/>
                <a:ea typeface="Times New Roman"/>
                <a:cs typeface="Times New Roman"/>
                <a:sym typeface="Times New Roman"/>
              </a:rPr>
              <a:t>Reference Type: Objects, Operators &amp; Expressions - Logical operators, Comparison operators, Ternary operator, Control Flow: if/else, switch statements, and all loop types (for, while, do/while, for...in, for...of).</a:t>
            </a:r>
            <a:endParaRPr sz="2000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905000" y="4953000"/>
            <a:ext cx="4762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Dr. </a:t>
            </a:r>
            <a:r>
              <a:rPr lang="en-US" sz="2400" b="1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Ashima</a:t>
            </a:r>
            <a:endParaRPr dirty="0"/>
          </a:p>
        </p:txBody>
      </p:sp>
      <p:sp>
        <p:nvSpPr>
          <p:cNvPr id="49" name="Google Shape;49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</p:txBody>
      </p:sp>
      <p:sp>
        <p:nvSpPr>
          <p:cNvPr id="52" name="Google Shape;52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F2B26-6B62-4D67-BDD9-3B9CC57CC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4254" y="3116688"/>
            <a:ext cx="5486400" cy="914400"/>
          </a:xfrm>
        </p:spPr>
        <p:txBody>
          <a:bodyPr/>
          <a:lstStyle/>
          <a:p>
            <a:r>
              <a:rPr lang="en-IN" dirty="0"/>
              <a:t>JavaScript Operators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7214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771AED-D4C7-4F2E-B7FF-72362258B46E}"/>
              </a:ext>
            </a:extLst>
          </p:cNvPr>
          <p:cNvSpPr txBox="1"/>
          <p:nvPr/>
        </p:nvSpPr>
        <p:spPr>
          <a:xfrm>
            <a:off x="483177" y="1552829"/>
            <a:ext cx="83655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Operators are for Mathematical and Logical Computations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 </a:t>
            </a:r>
            <a:r>
              <a:rPr lang="en-US" sz="2800" b="1" dirty="0"/>
              <a:t>Assignment Operator</a:t>
            </a:r>
            <a:r>
              <a:rPr lang="en-US" sz="2800" dirty="0"/>
              <a:t> </a:t>
            </a:r>
            <a:r>
              <a:rPr lang="en-US" sz="2800" b="1" dirty="0"/>
              <a:t>=</a:t>
            </a:r>
            <a:r>
              <a:rPr lang="en-US" sz="2800" dirty="0"/>
              <a:t> assigns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 </a:t>
            </a:r>
            <a:r>
              <a:rPr lang="en-US" sz="2800" b="1" dirty="0"/>
              <a:t>Addition Operator</a:t>
            </a:r>
            <a:r>
              <a:rPr lang="en-US" sz="2800" dirty="0"/>
              <a:t> </a:t>
            </a:r>
            <a:r>
              <a:rPr lang="en-US" sz="2800" b="1" dirty="0"/>
              <a:t>+</a:t>
            </a:r>
            <a:r>
              <a:rPr lang="en-US" sz="2800" dirty="0"/>
              <a:t> adds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 </a:t>
            </a:r>
            <a:r>
              <a:rPr lang="en-US" sz="2800" b="1" dirty="0"/>
              <a:t>Multiplication Operator</a:t>
            </a:r>
            <a:r>
              <a:rPr lang="en-US" sz="2800" dirty="0"/>
              <a:t> </a:t>
            </a:r>
            <a:r>
              <a:rPr lang="en-US" sz="2800" b="1" dirty="0"/>
              <a:t>*</a:t>
            </a:r>
            <a:r>
              <a:rPr lang="en-US" sz="2800" dirty="0"/>
              <a:t> multiplies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 </a:t>
            </a:r>
            <a:r>
              <a:rPr lang="en-US" sz="2800" b="1" dirty="0"/>
              <a:t>Comparison Operator</a:t>
            </a:r>
            <a:r>
              <a:rPr lang="en-US" sz="2800" dirty="0"/>
              <a:t> </a:t>
            </a:r>
            <a:r>
              <a:rPr lang="en-US" sz="2800" b="1" dirty="0"/>
              <a:t>&gt;</a:t>
            </a:r>
            <a:r>
              <a:rPr lang="en-US" sz="2800" dirty="0"/>
              <a:t> compares values</a:t>
            </a:r>
          </a:p>
        </p:txBody>
      </p:sp>
    </p:spTree>
    <p:extLst>
      <p:ext uri="{BB962C8B-B14F-4D97-AF65-F5344CB8AC3E}">
        <p14:creationId xmlns:p14="http://schemas.microsoft.com/office/powerpoint/2010/main" val="364999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JavaScript Assignment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004857"/>
            <a:ext cx="8334375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Assignment Operator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assigns a value to a variable: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982" y="1579662"/>
            <a:ext cx="2547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Segoe UI" panose="020B0502040204020203" pitchFamily="34" charset="0"/>
              </a:rPr>
              <a:t>Assignment 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" y="2218665"/>
            <a:ext cx="352425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&lt;h1&gt;JavaScript Operators&lt;/h1&gt;</a:t>
            </a:r>
          </a:p>
          <a:p>
            <a:r>
              <a:rPr lang="en-IN" dirty="0"/>
              <a:t>&lt;h2&gt;The = Operator&lt;/h2&gt;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let x = 10;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54890"/>
            <a:ext cx="4572000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&lt;h1&gt;JavaScript Operators&lt;/h1&gt;</a:t>
            </a:r>
          </a:p>
          <a:p>
            <a:r>
              <a:rPr lang="en-IN" dirty="0"/>
              <a:t>&lt;h2&gt;The Assignment (=) Operator&lt;/h2&gt;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// Assign the value 5 to x</a:t>
            </a:r>
          </a:p>
          <a:p>
            <a:r>
              <a:rPr lang="en-IN" dirty="0"/>
              <a:t>let x = 5;</a:t>
            </a:r>
          </a:p>
          <a:p>
            <a:r>
              <a:rPr lang="en-IN" dirty="0"/>
              <a:t>// Assign the value 2 to y</a:t>
            </a:r>
          </a:p>
          <a:p>
            <a:r>
              <a:rPr lang="en-IN" dirty="0"/>
              <a:t>let y = 2;</a:t>
            </a:r>
          </a:p>
          <a:p>
            <a:r>
              <a:rPr lang="en-IN" dirty="0"/>
              <a:t>// Assign the value x + y to z</a:t>
            </a:r>
          </a:p>
          <a:p>
            <a:r>
              <a:rPr lang="en-IN" dirty="0"/>
              <a:t>let z = x + y;</a:t>
            </a:r>
          </a:p>
          <a:p>
            <a:r>
              <a:rPr lang="en-IN" dirty="0"/>
              <a:t>// Display z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"The sum of x + y is: " + z;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6917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06721" y="217587"/>
            <a:ext cx="3490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Segoe UI" panose="020B0502040204020203" pitchFamily="34" charset="0"/>
              </a:rPr>
              <a:t>JavaScript Addition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06720" y="1069287"/>
            <a:ext cx="8327679" cy="132852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The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Addition Operator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+mj-lt"/>
                <a:cs typeface="Segoe UI" panose="020B0502040204020203" pitchFamily="34" charset="0"/>
              </a:rPr>
              <a:t>+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) adds numbers: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j-lt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Adding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4325" y="2568594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&lt;h1&gt;JavaScript Arithmetic&lt;/h1&gt;</a:t>
            </a:r>
          </a:p>
          <a:p>
            <a:r>
              <a:rPr lang="en-IN" dirty="0"/>
              <a:t>&lt;h2&gt;The + Operator&lt;/h2&gt;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let x = 5;</a:t>
            </a:r>
          </a:p>
          <a:p>
            <a:r>
              <a:rPr lang="en-IN" dirty="0"/>
              <a:t>let y = 2;</a:t>
            </a:r>
          </a:p>
          <a:p>
            <a:r>
              <a:rPr lang="en-IN" dirty="0"/>
              <a:t>let z = x + y;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z;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77164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90" y="189012"/>
            <a:ext cx="3201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+mj-lt"/>
              </a:rPr>
              <a:t>JavaScript Multiplication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8390" y="1023907"/>
            <a:ext cx="6492910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Multiplication Operator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multiplies numbers: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1653391"/>
            <a:ext cx="64389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&lt;h1&gt;JavaScript Arithmetic&lt;/h1&gt;</a:t>
            </a:r>
          </a:p>
          <a:p>
            <a:r>
              <a:rPr lang="en-IN" dirty="0"/>
              <a:t>&lt;h2&gt;The * Operator&lt;/h2&gt;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let x = 5;</a:t>
            </a:r>
          </a:p>
          <a:p>
            <a:r>
              <a:rPr lang="en-IN" dirty="0"/>
              <a:t>let y = 2;</a:t>
            </a:r>
          </a:p>
          <a:p>
            <a:r>
              <a:rPr lang="en-IN" dirty="0"/>
              <a:t>let z = x * y;</a:t>
            </a:r>
          </a:p>
          <a:p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z;</a:t>
            </a:r>
          </a:p>
          <a:p>
            <a:r>
              <a:rPr lang="en-IN" dirty="0"/>
              <a:t>&lt;/script&gt;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526664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675" y="1028581"/>
            <a:ext cx="84201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b="1" dirty="0" smtClean="0">
              <a:latin typeface="Segoe UI" panose="020B0502040204020203" pitchFamily="34" charset="0"/>
            </a:endParaRPr>
          </a:p>
          <a:p>
            <a:r>
              <a:rPr lang="en-US" sz="2800" dirty="0" smtClean="0">
                <a:latin typeface="Segoe UI" panose="020B0502040204020203" pitchFamily="34" charset="0"/>
              </a:rPr>
              <a:t>There </a:t>
            </a:r>
            <a:r>
              <a:rPr lang="en-US" sz="2800" dirty="0">
                <a:latin typeface="Segoe UI" panose="020B0502040204020203" pitchFamily="34" charset="0"/>
              </a:rPr>
              <a:t>are different types of JavaScript operators</a:t>
            </a:r>
            <a:r>
              <a:rPr lang="en-US" sz="2800" dirty="0" smtClean="0">
                <a:latin typeface="Segoe UI" panose="020B0502040204020203" pitchFamily="34" charset="0"/>
              </a:rPr>
              <a:t>:</a:t>
            </a:r>
          </a:p>
          <a:p>
            <a:endParaRPr lang="en-US" sz="2800" dirty="0">
              <a:latin typeface="Segoe UI" panose="020B0502040204020203" pitchFamily="34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Segoe UI" panose="020B0502040204020203" pitchFamily="34" charset="0"/>
              </a:rPr>
              <a:t>Arithmetic Operators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Segoe UI" panose="020B0502040204020203" pitchFamily="34" charset="0"/>
              </a:rPr>
              <a:t>Assignment Operators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Segoe UI" panose="020B0502040204020203" pitchFamily="34" charset="0"/>
              </a:rPr>
              <a:t>Comparison Operators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Segoe UI" panose="020B0502040204020203" pitchFamily="34" charset="0"/>
              </a:rPr>
              <a:t>Logical Operators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Segoe UI" panose="020B0502040204020203" pitchFamily="34" charset="0"/>
              </a:rPr>
              <a:t>And </a:t>
            </a:r>
            <a:r>
              <a:rPr lang="en-US" sz="2800" dirty="0">
                <a:latin typeface="Segoe UI" panose="020B0502040204020203" pitchFamily="34" charset="0"/>
              </a:rPr>
              <a:t>more 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1862"/>
            <a:ext cx="59570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</a:rPr>
              <a:t>Types of JavaScript Operators</a:t>
            </a:r>
          </a:p>
        </p:txBody>
      </p:sp>
    </p:spTree>
    <p:extLst>
      <p:ext uri="{BB962C8B-B14F-4D97-AF65-F5344CB8AC3E}">
        <p14:creationId xmlns:p14="http://schemas.microsoft.com/office/powerpoint/2010/main" val="2656231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5274" y="208062"/>
            <a:ext cx="43204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Segoe UI" panose="020B0502040204020203" pitchFamily="34" charset="0"/>
              </a:rPr>
              <a:t>JavaScript Arithmetic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796761"/>
              </p:ext>
            </p:extLst>
          </p:nvPr>
        </p:nvGraphicFramePr>
        <p:xfrm>
          <a:off x="690302" y="1921985"/>
          <a:ext cx="7548823" cy="4107339"/>
        </p:xfrm>
        <a:graphic>
          <a:graphicData uri="http://schemas.openxmlformats.org/drawingml/2006/table">
            <a:tbl>
              <a:tblPr/>
              <a:tblGrid>
                <a:gridCol w="1885606">
                  <a:extLst>
                    <a:ext uri="{9D8B030D-6E8A-4147-A177-3AD203B41FA5}">
                      <a16:colId xmlns:a16="http://schemas.microsoft.com/office/drawing/2014/main" val="1956648163"/>
                    </a:ext>
                  </a:extLst>
                </a:gridCol>
                <a:gridCol w="5663217">
                  <a:extLst>
                    <a:ext uri="{9D8B030D-6E8A-4147-A177-3AD203B41FA5}">
                      <a16:colId xmlns:a16="http://schemas.microsoft.com/office/drawing/2014/main" val="2187541865"/>
                    </a:ext>
                  </a:extLst>
                </a:gridCol>
              </a:tblGrid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Description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8717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+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Addition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017614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-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Subtraction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1819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*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Multiplication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569105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**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Exponentiation (</a:t>
                      </a:r>
                      <a:r>
                        <a:rPr lang="en-IN">
                          <a:effectLst/>
                          <a:hlinkClick r:id="rId2"/>
                        </a:rPr>
                        <a:t>ES2016</a:t>
                      </a:r>
                      <a:r>
                        <a:rPr lang="en-IN">
                          <a:effectLst/>
                        </a:rPr>
                        <a:t>)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130833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/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Division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105624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%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Modulus (Remainder)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536256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++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Increment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757223"/>
                  </a:ext>
                </a:extLst>
              </a:tr>
              <a:tr h="45637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--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Decrement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347426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11138" y="845889"/>
            <a:ext cx="80279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Arithmetic operators perform arithmetic on numbers (literals or variables).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121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" y="1089164"/>
            <a:ext cx="748665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Segoe UI" panose="020B0502040204020203" pitchFamily="34" charset="0"/>
              </a:rPr>
              <a:t>A typical arithmetic operation operates on two </a:t>
            </a:r>
            <a:r>
              <a:rPr lang="en-US" sz="2800" dirty="0">
                <a:latin typeface="+mj-lt"/>
              </a:rPr>
              <a:t>numbers.</a:t>
            </a:r>
          </a:p>
          <a:p>
            <a:r>
              <a:rPr lang="en-US" sz="2800" dirty="0">
                <a:latin typeface="+mj-lt"/>
              </a:rPr>
              <a:t>The two numbers can be literals:</a:t>
            </a:r>
          </a:p>
          <a:p>
            <a:r>
              <a:rPr lang="en-US" sz="2800" dirty="0">
                <a:latin typeface="+mj-lt"/>
              </a:rPr>
              <a:t>Example</a:t>
            </a:r>
          </a:p>
          <a:p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x = 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100</a:t>
            </a:r>
            <a:r>
              <a:rPr lang="en-US" sz="2800" dirty="0">
                <a:latin typeface="+mj-lt"/>
              </a:rPr>
              <a:t> + 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50</a:t>
            </a:r>
            <a:r>
              <a:rPr lang="en-US" sz="2800" dirty="0">
                <a:latin typeface="+mj-lt"/>
              </a:rPr>
              <a:t>;</a:t>
            </a:r>
          </a:p>
          <a:p>
            <a:r>
              <a:rPr lang="en-US" sz="2800" dirty="0">
                <a:latin typeface="+mj-lt"/>
              </a:rPr>
              <a:t>or variables:</a:t>
            </a:r>
          </a:p>
          <a:p>
            <a:r>
              <a:rPr lang="en-US" sz="2800" dirty="0">
                <a:latin typeface="+mj-lt"/>
              </a:rPr>
              <a:t>Example</a:t>
            </a:r>
          </a:p>
          <a:p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x = a + b;</a:t>
            </a:r>
          </a:p>
          <a:p>
            <a:r>
              <a:rPr lang="en-US" sz="2800" dirty="0">
                <a:latin typeface="+mj-lt"/>
              </a:rPr>
              <a:t>or expressions:</a:t>
            </a:r>
          </a:p>
          <a:p>
            <a:r>
              <a:rPr lang="en-US" sz="2800" dirty="0">
                <a:latin typeface="+mj-lt"/>
              </a:rPr>
              <a:t>Example</a:t>
            </a:r>
          </a:p>
          <a:p>
            <a:r>
              <a:rPr lang="en-US" sz="2800" dirty="0">
                <a:solidFill>
                  <a:srgbClr val="005CC5"/>
                </a:solidFill>
                <a:latin typeface="+mj-lt"/>
              </a:rPr>
              <a:t>let</a:t>
            </a:r>
            <a:r>
              <a:rPr lang="en-US" sz="2800" dirty="0">
                <a:latin typeface="+mj-lt"/>
              </a:rPr>
              <a:t> x = (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100</a:t>
            </a:r>
            <a:r>
              <a:rPr lang="en-US" sz="2800" dirty="0">
                <a:latin typeface="+mj-lt"/>
              </a:rPr>
              <a:t> + </a:t>
            </a:r>
            <a:r>
              <a:rPr lang="en-US" sz="2800" dirty="0">
                <a:solidFill>
                  <a:srgbClr val="990055"/>
                </a:solidFill>
                <a:latin typeface="+mj-lt"/>
              </a:rPr>
              <a:t>50</a:t>
            </a:r>
            <a:r>
              <a:rPr lang="en-US" sz="2800" dirty="0">
                <a:latin typeface="+mj-lt"/>
              </a:rPr>
              <a:t>) * a;</a:t>
            </a:r>
          </a:p>
          <a:p>
            <a:r>
              <a:rPr lang="en-US" sz="2800" dirty="0">
                <a:latin typeface="+mj-lt"/>
              </a:rPr>
              <a:t/>
            </a:r>
            <a:br>
              <a:rPr lang="en-US" sz="2800" dirty="0">
                <a:latin typeface="+mj-lt"/>
              </a:rPr>
            </a:br>
            <a:endParaRPr lang="en-IN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81688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426" y="160437"/>
            <a:ext cx="43300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Segoe UI" panose="020B0502040204020203" pitchFamily="34" charset="0"/>
              </a:rPr>
              <a:t>Operators and Operands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98445"/>
              </p:ext>
            </p:extLst>
          </p:nvPr>
        </p:nvGraphicFramePr>
        <p:xfrm>
          <a:off x="582210" y="3838574"/>
          <a:ext cx="8218890" cy="1247776"/>
        </p:xfrm>
        <a:graphic>
          <a:graphicData uri="http://schemas.openxmlformats.org/drawingml/2006/table">
            <a:tbl>
              <a:tblPr/>
              <a:tblGrid>
                <a:gridCol w="2739630">
                  <a:extLst>
                    <a:ext uri="{9D8B030D-6E8A-4147-A177-3AD203B41FA5}">
                      <a16:colId xmlns:a16="http://schemas.microsoft.com/office/drawing/2014/main" val="1418599059"/>
                    </a:ext>
                  </a:extLst>
                </a:gridCol>
                <a:gridCol w="2739630">
                  <a:extLst>
                    <a:ext uri="{9D8B030D-6E8A-4147-A177-3AD203B41FA5}">
                      <a16:colId xmlns:a16="http://schemas.microsoft.com/office/drawing/2014/main" val="1086894301"/>
                    </a:ext>
                  </a:extLst>
                </a:gridCol>
                <a:gridCol w="2739630">
                  <a:extLst>
                    <a:ext uri="{9D8B030D-6E8A-4147-A177-3AD203B41FA5}">
                      <a16:colId xmlns:a16="http://schemas.microsoft.com/office/drawing/2014/main" val="2165436320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Operand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Operand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84314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100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+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50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618111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39500" y="1302663"/>
            <a:ext cx="8571149" cy="1979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numbers (in an arithmetic operation) are called 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operands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operation (to be performed between the two operands) is defined by an 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operator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734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8600" y="841351"/>
            <a:ext cx="3562350" cy="2472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Adding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addition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adds numbers: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y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 + y;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04790" y="3562288"/>
            <a:ext cx="3005136" cy="2841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Subtracting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subtraction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subtracts numbers.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y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 - y;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609974" y="841352"/>
            <a:ext cx="4200525" cy="2472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Multiplying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multiplication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*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multiplies numbers.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y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 * y;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496050" y="2003037"/>
            <a:ext cx="2438400" cy="28417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Dividing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division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divides numbers.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y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 / y;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114676" y="3534054"/>
            <a:ext cx="3067050" cy="289818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Remainder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modulus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%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returns the division remainder.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y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 % y;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0219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1450" y="125612"/>
            <a:ext cx="4667250" cy="2472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Incrementing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increment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increments numbers.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x++;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705350" y="0"/>
            <a:ext cx="4162425" cy="2472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Decrementing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decrement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--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decrements numbers.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x--;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 x;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314825" y="2723616"/>
            <a:ext cx="4552950" cy="4134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Exponentiation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exponentiation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operator (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**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raises the first operand to the power of the second operand.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 **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x ** y produces the same result as 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Math.pow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x,y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z =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Math.pow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(x,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2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71450" y="3608315"/>
            <a:ext cx="3810000" cy="299052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erator Precedence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Operator precedence describes the order in which operations are performed in an arithmetic expression.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x 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100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+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*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3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397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2812"/>
            <a:ext cx="65934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Segoe UI" panose="020B0502040204020203" pitchFamily="34" charset="0"/>
              </a:rPr>
              <a:t>JavaScript Assignment Operators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434288"/>
              </p:ext>
            </p:extLst>
          </p:nvPr>
        </p:nvGraphicFramePr>
        <p:xfrm>
          <a:off x="557047" y="2645886"/>
          <a:ext cx="7939252" cy="3239446"/>
        </p:xfrm>
        <a:graphic>
          <a:graphicData uri="http://schemas.openxmlformats.org/drawingml/2006/table">
            <a:tbl>
              <a:tblPr/>
              <a:tblGrid>
                <a:gridCol w="1984813">
                  <a:extLst>
                    <a:ext uri="{9D8B030D-6E8A-4147-A177-3AD203B41FA5}">
                      <a16:colId xmlns:a16="http://schemas.microsoft.com/office/drawing/2014/main" val="4265358451"/>
                    </a:ext>
                  </a:extLst>
                </a:gridCol>
                <a:gridCol w="1984813">
                  <a:extLst>
                    <a:ext uri="{9D8B030D-6E8A-4147-A177-3AD203B41FA5}">
                      <a16:colId xmlns:a16="http://schemas.microsoft.com/office/drawing/2014/main" val="1758099001"/>
                    </a:ext>
                  </a:extLst>
                </a:gridCol>
                <a:gridCol w="1984813">
                  <a:extLst>
                    <a:ext uri="{9D8B030D-6E8A-4147-A177-3AD203B41FA5}">
                      <a16:colId xmlns:a16="http://schemas.microsoft.com/office/drawing/2014/main" val="289569676"/>
                    </a:ext>
                  </a:extLst>
                </a:gridCol>
                <a:gridCol w="1984813">
                  <a:extLst>
                    <a:ext uri="{9D8B030D-6E8A-4147-A177-3AD203B41FA5}">
                      <a16:colId xmlns:a16="http://schemas.microsoft.com/office/drawing/2014/main" val="3775439860"/>
                    </a:ext>
                  </a:extLst>
                </a:gridCol>
              </a:tblGrid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Example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Same As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Result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151201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5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659035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+=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+=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+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15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381970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-=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-=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-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5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757764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*=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*=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*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50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423665"/>
                  </a:ext>
                </a:extLst>
              </a:tr>
              <a:tr h="517363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**=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**=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**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100000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567309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/=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/=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/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2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474789"/>
                  </a:ext>
                </a:extLst>
              </a:tr>
              <a:tr h="30842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%=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%=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x %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734603"/>
                  </a:ext>
                </a:extLst>
              </a:tr>
              <a:tr h="517363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: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x: 45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size.x = 45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x = 45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739240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0167" y="971579"/>
            <a:ext cx="7826083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Assignment operators assign values to JavaScript variables.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Given that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x = 10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and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y = 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the table below explains the assignment operators: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48215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1"/>
            <a:ext cx="6029325" cy="914400"/>
          </a:xfrm>
        </p:spPr>
        <p:txBody>
          <a:bodyPr/>
          <a:lstStyle/>
          <a:p>
            <a:r>
              <a:rPr lang="en-IN" dirty="0"/>
              <a:t>Logical Assignment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218667"/>
              </p:ext>
            </p:extLst>
          </p:nvPr>
        </p:nvGraphicFramePr>
        <p:xfrm>
          <a:off x="299872" y="1309211"/>
          <a:ext cx="8615529" cy="3748564"/>
        </p:xfrm>
        <a:graphic>
          <a:graphicData uri="http://schemas.openxmlformats.org/drawingml/2006/table">
            <a:tbl>
              <a:tblPr/>
              <a:tblGrid>
                <a:gridCol w="2871843">
                  <a:extLst>
                    <a:ext uri="{9D8B030D-6E8A-4147-A177-3AD203B41FA5}">
                      <a16:colId xmlns:a16="http://schemas.microsoft.com/office/drawing/2014/main" val="4078043199"/>
                    </a:ext>
                  </a:extLst>
                </a:gridCol>
                <a:gridCol w="2871843">
                  <a:extLst>
                    <a:ext uri="{9D8B030D-6E8A-4147-A177-3AD203B41FA5}">
                      <a16:colId xmlns:a16="http://schemas.microsoft.com/office/drawing/2014/main" val="3341461624"/>
                    </a:ext>
                  </a:extLst>
                </a:gridCol>
                <a:gridCol w="2871843">
                  <a:extLst>
                    <a:ext uri="{9D8B030D-6E8A-4147-A177-3AD203B41FA5}">
                      <a16:colId xmlns:a16="http://schemas.microsoft.com/office/drawing/2014/main" val="1446425896"/>
                    </a:ext>
                  </a:extLst>
                </a:gridCol>
              </a:tblGrid>
              <a:tr h="93714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Operator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Example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Result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42769"/>
                  </a:ext>
                </a:extLst>
              </a:tr>
              <a:tr h="93714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&amp;&amp;=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true &amp;&amp;=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925579"/>
                  </a:ext>
                </a:extLst>
              </a:tr>
              <a:tr h="93714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||=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 ||=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x 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55727"/>
                  </a:ext>
                </a:extLst>
              </a:tr>
              <a:tr h="93714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??=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null ??=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x = 10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504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747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5724" y="272827"/>
            <a:ext cx="29338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Segoe UI" panose="020B0502040204020203" pitchFamily="34" charset="0"/>
              </a:rPr>
              <a:t>JavaScript Comparison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0499" y="1105928"/>
            <a:ext cx="8410575" cy="1236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Comparison Operators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Comparison operators are used to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compare two values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Comparison operators always return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true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or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6224" y="3203739"/>
            <a:ext cx="7658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Segoe UI" panose="020B0502040204020203" pitchFamily="34" charset="0"/>
              </a:rPr>
              <a:t>Comparison operators can be used in conditional statements to compare values and take action depending on the result:</a:t>
            </a:r>
          </a:p>
          <a:p>
            <a:r>
              <a:rPr lang="en-US" sz="2400" dirty="0">
                <a:solidFill>
                  <a:srgbClr val="005CC5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latin typeface="Consolas" panose="020B0609020204030204" pitchFamily="49" charset="0"/>
              </a:rPr>
              <a:t> (age &lt; </a:t>
            </a:r>
            <a:r>
              <a:rPr lang="en-US" sz="2400" dirty="0">
                <a:solidFill>
                  <a:srgbClr val="990055"/>
                </a:solidFill>
                <a:latin typeface="Consolas" panose="020B0609020204030204" pitchFamily="49" charset="0"/>
              </a:rPr>
              <a:t>18</a:t>
            </a:r>
            <a:r>
              <a:rPr lang="en-US" sz="2400" dirty="0">
                <a:latin typeface="Consolas" panose="020B0609020204030204" pitchFamily="49" charset="0"/>
              </a:rPr>
              <a:t>) text =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"Too young to buy alcohol"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6685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496279"/>
              </p:ext>
            </p:extLst>
          </p:nvPr>
        </p:nvGraphicFramePr>
        <p:xfrm>
          <a:off x="447674" y="1220136"/>
          <a:ext cx="8353425" cy="5025259"/>
        </p:xfrm>
        <a:graphic>
          <a:graphicData uri="http://schemas.openxmlformats.org/drawingml/2006/table">
            <a:tbl>
              <a:tblPr/>
              <a:tblGrid>
                <a:gridCol w="1670685">
                  <a:extLst>
                    <a:ext uri="{9D8B030D-6E8A-4147-A177-3AD203B41FA5}">
                      <a16:colId xmlns:a16="http://schemas.microsoft.com/office/drawing/2014/main" val="1172218735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2649492736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842220171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3271602595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117414393"/>
                    </a:ext>
                  </a:extLst>
                </a:gridCol>
              </a:tblGrid>
              <a:tr h="233065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Operator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Description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Comparing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Returns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dirty="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547608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==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equal to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==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false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dirty="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439236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dirty="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== 5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08291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dirty="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x == "5"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110492"/>
                  </a:ext>
                </a:extLst>
              </a:tr>
              <a:tr h="548829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===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value and equal type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x === 5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234538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=== "5"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false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00038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!=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not equal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!=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317857"/>
                  </a:ext>
                </a:extLst>
              </a:tr>
              <a:tr h="548829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!==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 value or not equal type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!== 5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false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02020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!== "5"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411485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!==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681849"/>
                  </a:ext>
                </a:extLst>
              </a:tr>
              <a:tr h="39094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&gt;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greater than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&gt;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false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dirty="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799988"/>
                  </a:ext>
                </a:extLst>
              </a:tr>
              <a:tr h="233065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&lt;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less than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&lt;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370826"/>
                  </a:ext>
                </a:extLst>
              </a:tr>
              <a:tr h="548829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&gt;=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&gt;=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false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>
                        <a:effectLst/>
                      </a:endParaRP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509788"/>
                  </a:ext>
                </a:extLst>
              </a:tr>
              <a:tr h="39094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&lt;=</a:t>
                      </a:r>
                    </a:p>
                  </a:txBody>
                  <a:tcPr marL="75182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effectLst/>
                        </a:rPr>
                        <a:t>x &lt;= 8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effectLst/>
                        </a:rPr>
                        <a:t>true</a:t>
                      </a:r>
                    </a:p>
                  </a:txBody>
                  <a:tcPr marL="37591" marR="37591" marT="37591" marB="37591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7664" marR="67664" marT="33832" marB="338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6021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925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57174" y="1015054"/>
            <a:ext cx="8715376" cy="15131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Comparing Different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Comparing data of different types may give unexpected results.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When comparing a string with a number, JavaScript will convert the string to a number when doing the comparison. An empty string converts to 0. A non-numeric string converts to 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NaN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which is always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96026"/>
              </p:ext>
            </p:extLst>
          </p:nvPr>
        </p:nvGraphicFramePr>
        <p:xfrm>
          <a:off x="782471" y="2903061"/>
          <a:ext cx="7856704" cy="2834640"/>
        </p:xfrm>
        <a:graphic>
          <a:graphicData uri="http://schemas.openxmlformats.org/drawingml/2006/table">
            <a:tbl>
              <a:tblPr/>
              <a:tblGrid>
                <a:gridCol w="3523588">
                  <a:extLst>
                    <a:ext uri="{9D8B030D-6E8A-4147-A177-3AD203B41FA5}">
                      <a16:colId xmlns:a16="http://schemas.microsoft.com/office/drawing/2014/main" val="417737978"/>
                    </a:ext>
                  </a:extLst>
                </a:gridCol>
                <a:gridCol w="3523588">
                  <a:extLst>
                    <a:ext uri="{9D8B030D-6E8A-4147-A177-3AD203B41FA5}">
                      <a16:colId xmlns:a16="http://schemas.microsoft.com/office/drawing/2014/main" val="579785921"/>
                    </a:ext>
                  </a:extLst>
                </a:gridCol>
                <a:gridCol w="809528">
                  <a:extLst>
                    <a:ext uri="{9D8B030D-6E8A-4147-A177-3AD203B41FA5}">
                      <a16:colId xmlns:a16="http://schemas.microsoft.com/office/drawing/2014/main" val="3374582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Case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Value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Try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529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2 &lt; 12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true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65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2 &lt; "12"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true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699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2 &lt; "John"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53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2 &gt; "John"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988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2 == "John"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9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"2" &lt; "12"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4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"2" &gt; "12"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true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>
                        <a:effectLst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253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"2" == "12"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46336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96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857500"/>
            <a:ext cx="8153400" cy="7620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JavaScript Conditionals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06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19075" y="1115929"/>
            <a:ext cx="8677275" cy="46832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 dirty="0"/>
              <a:t>Conditional Statements</a:t>
            </a:r>
            <a:r>
              <a:rPr lang="en-US" sz="2400" dirty="0"/>
              <a:t> allow us to perform </a:t>
            </a:r>
            <a:r>
              <a:rPr lang="en-US" sz="2400" b="1" dirty="0"/>
              <a:t>different actions</a:t>
            </a:r>
            <a:r>
              <a:rPr lang="en-US" sz="2400" dirty="0"/>
              <a:t> for </a:t>
            </a:r>
            <a:r>
              <a:rPr lang="en-US" sz="2400" b="1" dirty="0"/>
              <a:t>different conditions</a:t>
            </a:r>
            <a:r>
              <a:rPr lang="en-US" sz="2400" dirty="0"/>
              <a:t>.</a:t>
            </a:r>
          </a:p>
          <a:p>
            <a:r>
              <a:rPr lang="en-US" sz="2400" dirty="0"/>
              <a:t>Conditional statements </a:t>
            </a:r>
            <a:r>
              <a:rPr lang="en-US" sz="2400" b="1" dirty="0"/>
              <a:t>run different code</a:t>
            </a:r>
            <a:r>
              <a:rPr lang="en-US" sz="2400" dirty="0"/>
              <a:t> depending on </a:t>
            </a:r>
            <a:r>
              <a:rPr lang="en-US" sz="2400" b="1" dirty="0"/>
              <a:t>true</a:t>
            </a:r>
            <a:r>
              <a:rPr lang="en-US" sz="2400" dirty="0"/>
              <a:t> or </a:t>
            </a:r>
            <a:r>
              <a:rPr lang="en-US" sz="2400" b="1" dirty="0"/>
              <a:t>false</a:t>
            </a:r>
            <a:r>
              <a:rPr lang="en-US" sz="2400" dirty="0"/>
              <a:t> conditions.</a:t>
            </a:r>
          </a:p>
          <a:p>
            <a:r>
              <a:rPr lang="en-US" sz="2400" dirty="0"/>
              <a:t>Conditional statements include:</a:t>
            </a:r>
          </a:p>
          <a:p>
            <a:r>
              <a:rPr lang="en-US" sz="2400" dirty="0"/>
              <a:t>if</a:t>
            </a:r>
          </a:p>
          <a:p>
            <a:r>
              <a:rPr lang="en-US" sz="2400" dirty="0"/>
              <a:t>if...else</a:t>
            </a:r>
          </a:p>
          <a:p>
            <a:r>
              <a:rPr lang="en-US" sz="2400" dirty="0"/>
              <a:t>if...else if...else</a:t>
            </a:r>
          </a:p>
          <a:p>
            <a:r>
              <a:rPr lang="en-US" sz="2400" dirty="0"/>
              <a:t>switch</a:t>
            </a:r>
          </a:p>
          <a:p>
            <a:r>
              <a:rPr lang="en-US" sz="2400" dirty="0"/>
              <a:t>ternary (? :)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5324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76275"/>
            <a:ext cx="5486400" cy="238125"/>
          </a:xfrm>
        </p:spPr>
        <p:txBody>
          <a:bodyPr/>
          <a:lstStyle/>
          <a:p>
            <a:pPr algn="l"/>
            <a:r>
              <a:rPr lang="en-IN" dirty="0"/>
              <a:t>When to use Conditionals</a:t>
            </a:r>
            <a:r>
              <a:rPr lang="en-IN" b="0" dirty="0"/>
              <a:t/>
            </a:r>
            <a:br>
              <a:rPr lang="en-IN" b="0" dirty="0"/>
            </a:b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2426" y="1199049"/>
            <a:ext cx="7486650" cy="49552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code block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executed, if a specified condition is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true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code block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executed, if the same condition is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 if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new condition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test, if the first condition is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switch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many 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alternative code blocks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(? :)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(ternary) as a 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shorthand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for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if...else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188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0611" y="150912"/>
            <a:ext cx="29819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b="1" dirty="0">
                <a:latin typeface="+mj-lt"/>
                <a:cs typeface="Segoe UI" panose="020B0502040204020203" pitchFamily="34" charset="0"/>
              </a:rPr>
              <a:t>The if Statement</a:t>
            </a:r>
            <a:endParaRPr lang="en-US" altLang="en-US" sz="2800" b="1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85750" y="1525623"/>
            <a:ext cx="7334250" cy="308285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code block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executed, if a specified condition is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true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the condition is true</a:t>
            </a:r>
            <a:b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94320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6263" y="284262"/>
            <a:ext cx="34628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+mj-lt"/>
              </a:rPr>
              <a:t>The else Statement</a:t>
            </a:r>
            <a:endParaRPr lang="en-IN" sz="2800" b="1" dirty="0">
              <a:latin typeface="+mj-lt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66263" y="1607657"/>
            <a:ext cx="8349112" cy="3452187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code block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executed, if the same condition is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the condition is true</a:t>
            </a:r>
            <a:b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the condition is false</a:t>
            </a:r>
            <a:b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78143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85514" y="46882"/>
            <a:ext cx="42578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Segoe UI" panose="020B0502040204020203" pitchFamily="34" charset="0"/>
              </a:rPr>
              <a:t>The else if Statement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8389" y="1374488"/>
            <a:ext cx="8682261" cy="492951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 if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a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new condition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test, if the first condition is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false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condition1 is true</a:t>
            </a:r>
            <a:b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the condition1 is false and condition2 is true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else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{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code to execute if the condition1 is false and condition2 is false</a:t>
            </a:r>
            <a:b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982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9549"/>
            <a:ext cx="5486400" cy="704851"/>
          </a:xfrm>
        </p:spPr>
        <p:txBody>
          <a:bodyPr/>
          <a:lstStyle/>
          <a:p>
            <a:r>
              <a:rPr lang="en-IN" dirty="0">
                <a:latin typeface="Segoe UI" panose="020B0502040204020203" pitchFamily="34" charset="0"/>
              </a:rPr>
              <a:t>The switch </a:t>
            </a:r>
            <a:r>
              <a:rPr lang="en-IN" dirty="0" smtClean="0">
                <a:latin typeface="Segoe UI" panose="020B0502040204020203" pitchFamily="34" charset="0"/>
              </a:rPr>
              <a:t>Statement</a:t>
            </a:r>
            <a:r>
              <a:rPr lang="en-IN" dirty="0">
                <a:latin typeface="Segoe UI" panose="020B0502040204020203" pitchFamily="34" charset="0"/>
              </a:rPr>
              <a:t/>
            </a:r>
            <a:br>
              <a:rPr lang="en-IN" dirty="0"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0500" y="1573933"/>
            <a:ext cx="8572500" cy="372918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switch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specify many 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alternative code blocks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be executed.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switch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expression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case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  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code block</a:t>
            </a:r>
            <a:b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 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break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case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  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code block</a:t>
            </a:r>
            <a:b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 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break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default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 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 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code block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62515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12812"/>
            <a:ext cx="43508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Segoe UI" panose="020B0502040204020203" pitchFamily="34" charset="0"/>
              </a:rPr>
              <a:t>Ternary Operator (? :)</a:t>
            </a:r>
            <a:endParaRPr lang="en-IN" sz="3200" b="1" dirty="0">
              <a:latin typeface="Segoe UI" panose="020B0502040204020203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09550" y="1612896"/>
            <a:ext cx="6800850" cy="197485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(? :)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(ternary) as a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shorthand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for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if...else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? 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expression1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: 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expression2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39156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74686" y="2998887"/>
            <a:ext cx="30139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Segoe UI" panose="020B0502040204020203" pitchFamily="34" charset="0"/>
              </a:rPr>
              <a:t>JavaScript Loops</a:t>
            </a:r>
          </a:p>
        </p:txBody>
      </p:sp>
    </p:spTree>
    <p:extLst>
      <p:ext uri="{BB962C8B-B14F-4D97-AF65-F5344CB8AC3E}">
        <p14:creationId xmlns:p14="http://schemas.microsoft.com/office/powerpoint/2010/main" val="3121302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1949" y="1198454"/>
            <a:ext cx="8524875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</a:rPr>
              <a:t>Loops are handy, if you want to run the same code over and over again, each time with a different value.</a:t>
            </a:r>
          </a:p>
          <a:p>
            <a:r>
              <a:rPr lang="en-US" sz="2000" dirty="0">
                <a:latin typeface="Segoe UI" panose="020B0502040204020203" pitchFamily="34" charset="0"/>
              </a:rPr>
              <a:t>Often this is the case when working with arrays:</a:t>
            </a:r>
          </a:p>
          <a:p>
            <a:r>
              <a:rPr lang="en-US" sz="2000" dirty="0">
                <a:latin typeface="Segoe UI" panose="020B0502040204020203" pitchFamily="34" charset="0"/>
              </a:rPr>
              <a:t>Instead of writing: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4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text += cars[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Segoe UI" panose="020B0502040204020203" pitchFamily="34" charset="0"/>
              </a:rPr>
              <a:t>You can write:</a:t>
            </a:r>
          </a:p>
          <a:p>
            <a:r>
              <a:rPr lang="en-US" sz="2000" dirty="0">
                <a:solidFill>
                  <a:srgbClr val="005CC5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</a:rPr>
              <a:t> (</a:t>
            </a:r>
            <a:r>
              <a:rPr lang="en-US" sz="2000" dirty="0">
                <a:solidFill>
                  <a:srgbClr val="005CC5"/>
                </a:solidFill>
                <a:latin typeface="Consolas" panose="020B06090202040302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</a:rPr>
              <a:t> 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 = </a:t>
            </a:r>
            <a:r>
              <a:rPr lang="en-US" sz="2000" dirty="0">
                <a:solidFill>
                  <a:srgbClr val="990055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latin typeface="Consolas" panose="020B0609020204030204" pitchFamily="49" charset="0"/>
              </a:rPr>
              <a:t>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 &lt; </a:t>
            </a:r>
            <a:r>
              <a:rPr lang="en-US" sz="2000" dirty="0" err="1">
                <a:latin typeface="Consolas" panose="020B0609020204030204" pitchFamily="49" charset="0"/>
              </a:rPr>
              <a:t>cars.length</a:t>
            </a:r>
            <a:r>
              <a:rPr lang="en-US" sz="2000" dirty="0">
                <a:latin typeface="Consolas" panose="020B0609020204030204" pitchFamily="49" charset="0"/>
              </a:rPr>
              <a:t>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++) {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  text += cars[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] +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"&lt;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br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&gt;"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</a:rPr>
              <a:t/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8530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9189" y="322362"/>
            <a:ext cx="21467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latin typeface="+mj-lt"/>
                <a:cs typeface="Segoe UI" panose="020B0502040204020203" pitchFamily="34" charset="0"/>
              </a:rPr>
              <a:t>The For Loop</a:t>
            </a:r>
            <a:endParaRPr lang="en-US" altLang="en-US" sz="2400" b="1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5364" y="909727"/>
            <a:ext cx="8457136" cy="399079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statement creates a loop with 3 optional expressions: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expr1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expr2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expr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code block to be executed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exp1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is executed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one time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before the execution of the code block.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exp2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defines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condition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for executing the code block.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exp3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is executed 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every time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the code block has been executed.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0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&lt;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++) {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 text +=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"The number is 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+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+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"&lt;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br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&gt;"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/>
            </a:r>
            <a:b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5364" y="5226248"/>
            <a:ext cx="8115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Segoe UI" panose="020B0502040204020203" pitchFamily="34" charset="0"/>
              </a:rPr>
              <a:t>exp1</a:t>
            </a:r>
            <a:r>
              <a:rPr lang="en-US" sz="1800" dirty="0">
                <a:latin typeface="Segoe UI" panose="020B0502040204020203" pitchFamily="34" charset="0"/>
              </a:rPr>
              <a:t> sets a variable before the loop starts (let </a:t>
            </a:r>
            <a:r>
              <a:rPr lang="en-US" sz="1800" dirty="0" err="1">
                <a:latin typeface="Segoe UI" panose="020B0502040204020203" pitchFamily="34" charset="0"/>
              </a:rPr>
              <a:t>i</a:t>
            </a:r>
            <a:r>
              <a:rPr lang="en-US" sz="1800" dirty="0">
                <a:latin typeface="Segoe UI" panose="020B0502040204020203" pitchFamily="34" charset="0"/>
              </a:rPr>
              <a:t> = 0).</a:t>
            </a:r>
          </a:p>
          <a:p>
            <a:r>
              <a:rPr lang="en-US" sz="1800" b="1" dirty="0">
                <a:latin typeface="Segoe UI" panose="020B0502040204020203" pitchFamily="34" charset="0"/>
              </a:rPr>
              <a:t>exp2</a:t>
            </a:r>
            <a:r>
              <a:rPr lang="en-US" sz="1800" dirty="0">
                <a:latin typeface="Segoe UI" panose="020B0502040204020203" pitchFamily="34" charset="0"/>
              </a:rPr>
              <a:t> defines the condition for the loop to run (</a:t>
            </a:r>
            <a:r>
              <a:rPr lang="en-US" sz="1800" dirty="0" err="1">
                <a:latin typeface="Segoe UI" panose="020B0502040204020203" pitchFamily="34" charset="0"/>
              </a:rPr>
              <a:t>i</a:t>
            </a:r>
            <a:r>
              <a:rPr lang="en-US" sz="1800" dirty="0">
                <a:latin typeface="Segoe UI" panose="020B0502040204020203" pitchFamily="34" charset="0"/>
              </a:rPr>
              <a:t> must be less than 5).</a:t>
            </a:r>
          </a:p>
          <a:p>
            <a:r>
              <a:rPr lang="en-US" sz="1800" b="1" dirty="0">
                <a:latin typeface="Segoe UI" panose="020B0502040204020203" pitchFamily="34" charset="0"/>
              </a:rPr>
              <a:t>exp3</a:t>
            </a:r>
            <a:r>
              <a:rPr lang="en-US" sz="1800" dirty="0">
                <a:latin typeface="Segoe UI" panose="020B0502040204020203" pitchFamily="34" charset="0"/>
              </a:rPr>
              <a:t> increases a value (</a:t>
            </a:r>
            <a:r>
              <a:rPr lang="en-US" sz="1800" dirty="0" err="1">
                <a:latin typeface="Segoe UI" panose="020B0502040204020203" pitchFamily="34" charset="0"/>
              </a:rPr>
              <a:t>i</a:t>
            </a:r>
            <a:r>
              <a:rPr lang="en-US" sz="1800" dirty="0">
                <a:latin typeface="Segoe UI" panose="020B0502040204020203" pitchFamily="34" charset="0"/>
              </a:rPr>
              <a:t>++) each time the code block has been executed.</a:t>
            </a:r>
          </a:p>
        </p:txBody>
      </p:sp>
    </p:spTree>
    <p:extLst>
      <p:ext uri="{BB962C8B-B14F-4D97-AF65-F5344CB8AC3E}">
        <p14:creationId xmlns:p14="http://schemas.microsoft.com/office/powerpoint/2010/main" val="544002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2750" y="131862"/>
            <a:ext cx="28264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+mj-lt"/>
              </a:rPr>
              <a:t>Loop Scope</a:t>
            </a:r>
            <a:endParaRPr lang="en-IN" sz="3600" b="1" dirty="0">
              <a:latin typeface="+mj-lt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0525" y="1001227"/>
            <a:ext cx="8039100" cy="54270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76176" tIns="126960" rIns="-76176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for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0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&lt;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10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++) {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some code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Here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is 10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5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for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0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&lt;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10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++) {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some code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Here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is 5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the first example,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 5;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is declared outside the loop.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the second example,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= 0;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is declared inside the loop.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When a variable is declared with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let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or 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const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inside a loop, it will only be visible within the loop.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0772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1039" y="141387"/>
            <a:ext cx="28584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The While Loop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60064" y="1184836"/>
            <a:ext cx="8579136" cy="4221628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loop loops through a block of code as long as a specified condition is true.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 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code block to be executed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 the following example, the code in the loop will run, over and over again, as long as a variable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is less than 10: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&lt;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10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 {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 text +=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"The number is 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+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++;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166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223" y="236637"/>
            <a:ext cx="38940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+mj-lt"/>
              </a:rPr>
              <a:t>The Do While Loop</a:t>
            </a:r>
            <a:endParaRPr lang="en-IN" sz="3200" b="1" dirty="0">
              <a:latin typeface="+mj-lt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47850" y="958989"/>
            <a:ext cx="8624675" cy="566817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do while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loop is a variant of the while loop.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do while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loop will execute the code block once, before checking if the condition is true, then it will repeat the loop as long as the condition is true.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{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// code block to be executed</a:t>
            </a:r>
            <a:b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condition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do while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runs at least once, even if the condition is false from the start.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 is because the code block is executed before the condition is tested: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do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{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 text +=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"The number is "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+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++;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5CC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while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 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 &lt;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10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4906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3357</TotalTime>
  <Words>942</Words>
  <Application>Microsoft Office PowerPoint</Application>
  <PresentationFormat>On-screen Show (4:3)</PresentationFormat>
  <Paragraphs>430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Consolas</vt:lpstr>
      <vt:lpstr>Segoe UI</vt:lpstr>
      <vt:lpstr>Times New Roman</vt:lpstr>
      <vt:lpstr>Office Theme</vt:lpstr>
      <vt:lpstr>PowerPoint Presentation</vt:lpstr>
      <vt:lpstr>JavaScript Operators</vt:lpstr>
      <vt:lpstr>PowerPoint Presentation</vt:lpstr>
      <vt:lpstr>JavaScript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Logical Assignment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When to use Conditionals  </vt:lpstr>
      <vt:lpstr>PowerPoint Presentation</vt:lpstr>
      <vt:lpstr>PowerPoint Presentation</vt:lpstr>
      <vt:lpstr>PowerPoint Presentation</vt:lpstr>
      <vt:lpstr>The switch Statement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hp</cp:lastModifiedBy>
  <cp:revision>23</cp:revision>
  <dcterms:created xsi:type="dcterms:W3CDTF">2010-04-09T07:36:15Z</dcterms:created>
  <dcterms:modified xsi:type="dcterms:W3CDTF">2026-01-19T06:00:05Z</dcterms:modified>
</cp:coreProperties>
</file>