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29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hhqIFuVGifVxDYpE+4+fWrYN0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2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gif" id="25" name="Google Shape;25;p18"/>
          <p:cNvPicPr preferRelativeResize="0"/>
          <p:nvPr/>
        </p:nvPicPr>
        <p:blipFill rotWithShape="1">
          <a:blip r:embed="rId2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8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18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8" name="Google Shape;28;p18"/>
            <p:cNvPicPr preferRelativeResize="0"/>
            <p:nvPr/>
          </p:nvPicPr>
          <p:blipFill rotWithShape="1">
            <a:blip r:embed="rId2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30" name="Google Shape;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8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8300" lvl="1" marL="9144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68300" lvl="2" marL="1371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68300" lvl="3" marL="18288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68300" lvl="4" marL="22860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ctrTitle"/>
          </p:nvPr>
        </p:nvSpPr>
        <p:spPr>
          <a:xfrm>
            <a:off x="0" y="1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subTitle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7"/>
          <p:cNvSpPr/>
          <p:nvPr/>
        </p:nvSpPr>
        <p:spPr>
          <a:xfrm flipH="1" rot="10800000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gif" id="17" name="Google Shape;17;p17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8" name="Google Shape;18;p17"/>
          <p:cNvPicPr preferRelativeResize="0"/>
          <p:nvPr/>
        </p:nvPicPr>
        <p:blipFill rotWithShape="1">
          <a:blip r:embed="rId1">
            <a:alphaModFix/>
          </a:blip>
          <a:srcRect b="10713" l="0" r="0" t="0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7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1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OGO.gif" id="21" name="Google Shape;21;p17"/>
            <p:cNvPicPr preferRelativeResize="0"/>
            <p:nvPr/>
          </p:nvPicPr>
          <p:blipFill rotWithShape="1">
            <a:blip r:embed="rId1">
              <a:alphaModFix/>
            </a:blip>
            <a:srcRect b="10713" l="0" r="0" t="0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3" name="Google Shape;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52400" y="914400"/>
            <a:ext cx="8763000" cy="36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331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Handling &amp; Event Propagation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addEventListener(), Event Bubbling, Event Capturing,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Delegation, Form Validation, DOM Performance Optimisation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1905000" y="4953000"/>
            <a:ext cx="4762500" cy="643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676400" y="5599331"/>
            <a:ext cx="6172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</p:txBody>
      </p:sp>
      <p:sp>
        <p:nvSpPr>
          <p:cNvPr id="54" name="Google Shape;5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What is Event Handling?</a:t>
            </a:r>
            <a:endParaRPr b="1"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457200" y="1411711"/>
            <a:ext cx="8229600" cy="4824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400"/>
              <a:t>What is Event Handling?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Event handling = responding to user actions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Actions like click, typing, hover, submit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JavaScript listens and reacts to these events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Examples: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click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keypress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submit</a:t>
            </a:r>
            <a:endParaRPr/>
          </a:p>
        </p:txBody>
      </p:sp>
      <p:sp>
        <p:nvSpPr>
          <p:cNvPr id="61" name="Google Shape;61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3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addEventListener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1" i="0" sz="3200" u="none" cap="none" strike="noStrike">
              <a:solidFill>
                <a:srgbClr val="2125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347980" y="2000785"/>
            <a:ext cx="8625840" cy="1955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addEventListener()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attach events to elements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multiple event handlers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element.addEventListener("event", function);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addEventListener Example</a:t>
            </a:r>
            <a:endParaRPr b="1" i="0" sz="3200" u="none" cap="none" strike="noStrike">
              <a:solidFill>
                <a:srgbClr val="2125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259080" y="1168459"/>
            <a:ext cx="8625840" cy="2795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 btn = document.getElementById("btn");</a:t>
            </a:r>
            <a:endParaRPr/>
          </a:p>
          <a:p>
            <a:pPr indent="0" lvl="1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btn.addEventListener("click", function() {</a:t>
            </a:r>
            <a:endParaRPr/>
          </a:p>
          <a:p>
            <a:pPr indent="0" lvl="1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alert("Button clicked");</a:t>
            </a:r>
            <a:endParaRPr/>
          </a:p>
          <a:p>
            <a:pPr indent="0" lvl="1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});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259080" y="1312533"/>
            <a:ext cx="88036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18929" y="136525"/>
            <a:ext cx="65176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Propagation</a:t>
            </a:r>
            <a:endParaRPr b="1" i="0" sz="3200" u="none" cap="none" strike="noStrike">
              <a:solidFill>
                <a:srgbClr val="2125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259080" y="2459504"/>
            <a:ext cx="862584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order of event execution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event occurs, it travels through DOM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types: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Bubbling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Capturing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18929" y="136525"/>
            <a:ext cx="65176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Bubbling</a:t>
            </a:r>
            <a:endParaRPr b="1" i="0" sz="3200" u="none" cap="none" strike="noStrike">
              <a:solidFill>
                <a:srgbClr val="2125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259080" y="1168459"/>
            <a:ext cx="862584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 behavior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moves from child → parent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Flow: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 → div → body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259080" y="968404"/>
            <a:ext cx="88036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35560" y="136525"/>
            <a:ext cx="65176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Bubbling Example</a:t>
            </a:r>
            <a:endParaRPr b="1" i="0" sz="3200" u="none" cap="none" strike="noStrike">
              <a:solidFill>
                <a:srgbClr val="2125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259080" y="1168459"/>
            <a:ext cx="8625840" cy="5196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child.addEventListener("click", () =&gt; {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console.log("Child clicked");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});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parent.addEventListener("click", () =&gt; {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console.log("Parent clicked");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});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 → Parent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174069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Event Capturing</a:t>
            </a:r>
            <a:endParaRPr b="1"/>
          </a:p>
        </p:txBody>
      </p:sp>
      <p:sp>
        <p:nvSpPr>
          <p:cNvPr id="107" name="Google Shape;107;p8"/>
          <p:cNvSpPr txBox="1"/>
          <p:nvPr>
            <p:ph idx="1" type="body"/>
          </p:nvPr>
        </p:nvSpPr>
        <p:spPr>
          <a:xfrm>
            <a:off x="327993" y="1232454"/>
            <a:ext cx="843832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400"/>
              <a:t>Event Capturing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Event moves from parent → child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Opposite of bubbling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400"/>
              <a:t>Enable capturing: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 sz="2400"/>
              <a:t>element.addEventListener("click", function, true);</a:t>
            </a:r>
            <a:endParaRPr/>
          </a:p>
        </p:txBody>
      </p:sp>
      <p:sp>
        <p:nvSpPr>
          <p:cNvPr id="108" name="Google Shape;10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>
            <p:ph type="title"/>
          </p:nvPr>
        </p:nvSpPr>
        <p:spPr>
          <a:xfrm>
            <a:off x="382788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Event Delegation</a:t>
            </a:r>
            <a:endParaRPr b="1"/>
          </a:p>
        </p:txBody>
      </p:sp>
      <p:sp>
        <p:nvSpPr>
          <p:cNvPr id="114" name="Google Shape;114;p9"/>
          <p:cNvSpPr txBox="1"/>
          <p:nvPr>
            <p:ph idx="1" type="body"/>
          </p:nvPr>
        </p:nvSpPr>
        <p:spPr>
          <a:xfrm>
            <a:off x="457200" y="1242393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Attach event to parent instead of children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Uses event bubbling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-US"/>
              <a:t>Advantages: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Better performance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Works for dynamic elements</a:t>
            </a:r>
            <a:endParaRPr/>
          </a:p>
        </p:txBody>
      </p:sp>
      <p:sp>
        <p:nvSpPr>
          <p:cNvPr id="115" name="Google Shape;115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6474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Event Delegation Example</a:t>
            </a:r>
            <a:endParaRPr b="1"/>
          </a:p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457200" y="1242393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/>
              <a:t>document.getElementById("list").addEventListener("click", function(e) {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/>
              <a:t>    if(e.target.tagName === "LI") {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/>
              <a:t>        console.log(e.target.textContent);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/>
              <a:t>    }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lang="en-US"/>
              <a:t>});</a:t>
            </a:r>
            <a:endParaRPr/>
          </a:p>
        </p:txBody>
      </p:sp>
      <p:sp>
        <p:nvSpPr>
          <p:cNvPr id="122" name="Google Shape;12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Form Validation</a:t>
            </a:r>
            <a:endParaRPr/>
          </a:p>
        </p:txBody>
      </p:sp>
      <p:sp>
        <p:nvSpPr>
          <p:cNvPr id="128" name="Google Shape;128;p11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Ensures correct user input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Prevents invalid data submission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Types: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Required fields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Email format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Password rules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Form Validation Example</a:t>
            </a:r>
            <a:endParaRPr/>
          </a:p>
        </p:txBody>
      </p:sp>
      <p:sp>
        <p:nvSpPr>
          <p:cNvPr id="134" name="Google Shape;134;p12"/>
          <p:cNvSpPr txBox="1"/>
          <p:nvPr>
            <p:ph idx="1" type="body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form.addEventListener("submit", function(e) {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    let name = document.getElementById("name").value;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    if(name === "") {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        alert("Name is required");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        e.preventDefault();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    }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/>
              <a:t>});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DOM Performance Optimisation</a:t>
            </a:r>
            <a:endParaRPr/>
          </a:p>
        </p:txBody>
      </p:sp>
      <p:sp>
        <p:nvSpPr>
          <p:cNvPr id="140" name="Google Shape;140;p13"/>
          <p:cNvSpPr txBox="1"/>
          <p:nvPr>
            <p:ph idx="1" type="body"/>
          </p:nvPr>
        </p:nvSpPr>
        <p:spPr>
          <a:xfrm>
            <a:off x="342957" y="1402262"/>
            <a:ext cx="694274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speed of web pages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unnecessary operations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Optimisation Techniques</a:t>
            </a:r>
            <a:endParaRPr/>
          </a:p>
        </p:txBody>
      </p:sp>
      <p:sp>
        <p:nvSpPr>
          <p:cNvPr id="146" name="Google Shape;146;p14"/>
          <p:cNvSpPr txBox="1"/>
          <p:nvPr>
            <p:ph idx="1" type="body"/>
          </p:nvPr>
        </p:nvSpPr>
        <p:spPr>
          <a:xfrm>
            <a:off x="358878" y="1359541"/>
            <a:ext cx="668101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 DOM access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event delegation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updates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reflows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classList instead of style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Summary</a:t>
            </a:r>
            <a:endParaRPr/>
          </a:p>
        </p:txBody>
      </p:sp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349045" y="1322360"/>
            <a:ext cx="482536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Events handle user interaction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addEventListener() is widely used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Propagation: Bubbling &amp; Capturing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Delegation improves efficiency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 ensures correct data 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Optimisation improves performance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8FB"/>
            </a:gs>
            <a:gs pos="19000">
              <a:srgbClr val="F4F8FB"/>
            </a:gs>
            <a:gs pos="74000">
              <a:srgbClr val="AEC5E1"/>
            </a:gs>
            <a:gs pos="83000">
              <a:srgbClr val="AEC5E1"/>
            </a:gs>
            <a:gs pos="100000">
              <a:srgbClr val="C8D8EB"/>
            </a:gs>
          </a:gsLst>
          <a:lin ang="5400000" scaled="0"/>
        </a:gra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2435634" y="2388215"/>
            <a:ext cx="372409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Thank</a:t>
            </a:r>
            <a:r>
              <a:rPr b="1" i="0" lang="en-US" sz="5400" u="none" cap="none" strike="noStrike">
                <a:solidFill>
                  <a:srgbClr val="E5B8B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5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endParaRPr b="1" i="0" sz="5400" u="none" cap="none" strike="noStrike">
              <a:solidFill>
                <a:srgbClr val="E5B8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2010-04-09T07:36:00Z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0816DB4EA2254B8095D92CBE0445F10C_13</vt:lpwstr>
  </property>
  <property fmtid="{D5CDD505-2E9C-101B-9397-08002B2CF9AE}" pid="3" name="KSOProductBuildVer">
    <vt:lpwstr>1033-12.2.0.23196</vt:lpwstr>
  </property>
</Properties>
</file>