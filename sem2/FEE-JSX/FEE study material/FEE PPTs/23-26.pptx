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345" r:id="rId3"/>
    <p:sldId id="338" r:id="rId4"/>
    <p:sldId id="347" r:id="rId5"/>
    <p:sldId id="348" r:id="rId6"/>
    <p:sldId id="354" r:id="rId7"/>
    <p:sldId id="349" r:id="rId8"/>
    <p:sldId id="346" r:id="rId9"/>
    <p:sldId id="350" r:id="rId10"/>
    <p:sldId id="351" r:id="rId11"/>
    <p:sldId id="323" r:id="rId12"/>
  </p:sldIdLst>
  <p:sldSz cx="9144000" cy="6858000" type="screen4x3"/>
  <p:notesSz cx="6858000" cy="9144000"/>
  <p:embeddedFontLst>
    <p:embeddedFont>
      <p:font typeface="Calibri" pitchFamily="34" charset="0"/>
      <p:regular r:id="rId14"/>
      <p:bold r:id="rId15"/>
      <p:italic r:id="rId16"/>
      <p:boldItalic r:id="rId17"/>
    </p:embeddedFont>
    <p:embeddedFont>
      <p:font typeface="Verdana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28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24CE57-81FB-4CE5-B3F0-45E823DBC81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41" autoAdjust="0"/>
  </p:normalViewPr>
  <p:slideViewPr>
    <p:cSldViewPr snapToGrid="0" showGuides="1"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29"/>
      </p:guideLst>
    </p:cSldViewPr>
  </p:slideViewPr>
  <p:outlineViewPr>
    <p:cViewPr>
      <p:scale>
        <a:sx n="33" d="100"/>
        <a:sy n="33" d="100"/>
      </p:scale>
      <p:origin x="0" y="-25190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" name="Google Shape;4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39" descr="LOGO.gif"/>
          <p:cNvPicPr preferRelativeResize="0"/>
          <p:nvPr/>
        </p:nvPicPr>
        <p:blipFill rotWithShape="1">
          <a:blip r:embed="rId2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9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7" name="Google Shape;27;p39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28" name="Google Shape;28;p39" descr="LOGO.gif"/>
            <p:cNvPicPr preferRelativeResize="0"/>
            <p:nvPr/>
          </p:nvPicPr>
          <p:blipFill rotWithShape="1">
            <a:blip r:embed="rId2"/>
            <a:srcRect b="10713"/>
            <a:stretch>
              <a:fillRect/>
            </a:stretch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39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30" name="Google Shape;30;p39" descr="logo.jp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9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9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lvl="1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lvl="2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lvl="3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lvl="4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1"/>
          <p:cNvSpPr txBox="1"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1"/>
          <p:cNvSpPr txBox="1"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1" name="Google Shape;11;p38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3" name="Google Shape;13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4" name="Google Shape;14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  <p:sp>
        <p:nvSpPr>
          <p:cNvPr id="15" name="Google Shape;15;p38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" name="Google Shape;16;p38"/>
          <p:cNvSpPr/>
          <p:nvPr/>
        </p:nvSpPr>
        <p:spPr>
          <a:xfrm rot="10800000" flipH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7" name="Google Shape;17;p38" descr="LOGO.gif"/>
          <p:cNvPicPr preferRelativeResize="0"/>
          <p:nvPr/>
        </p:nvPicPr>
        <p:blipFill rotWithShape="1">
          <a:blip r:embed="rId5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8" descr="LOGO.gif"/>
          <p:cNvPicPr preferRelativeResize="0"/>
          <p:nvPr/>
        </p:nvPicPr>
        <p:blipFill rotWithShape="1">
          <a:blip r:embed="rId5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38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0" name="Google Shape;20;p38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21" name="Google Shape;21;p38" descr="LOGO.gif"/>
            <p:cNvPicPr preferRelativeResize="0"/>
            <p:nvPr/>
          </p:nvPicPr>
          <p:blipFill rotWithShape="1">
            <a:blip r:embed="rId5"/>
            <a:srcRect b="10713"/>
            <a:stretch>
              <a:fillRect/>
            </a:stretch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3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23" name="Google Shape;23;p38" descr="logo.jp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152400" y="914400"/>
            <a:ext cx="8763000" cy="36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33100" rIns="91425" bIns="45700" anchor="ctr" anchorCtr="0">
            <a:noAutofit/>
          </a:bodyPr>
          <a:lstStyle/>
          <a:p>
            <a:pPr lv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DOM Manipulation: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DOM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tree &amp; selectors -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querySelector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querySelectorAll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 (node lists),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getElementById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(), </a:t>
            </a:r>
          </a:p>
          <a:p>
            <a:pPr lv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Read/write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HTML &amp; CSS through JavaScript, Creating, appending, deleting nodes,</a:t>
            </a:r>
            <a:endParaRPr lang="en-US" altLang="en-US" sz="2800" b="1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</p:txBody>
      </p:sp>
      <p:sp>
        <p:nvSpPr>
          <p:cNvPr id="52" name="Google Shape;52;p1"/>
          <p:cNvSpPr txBox="1"/>
          <p:nvPr/>
        </p:nvSpPr>
        <p:spPr>
          <a:xfrm>
            <a:off x="1905000" y="4953000"/>
            <a:ext cx="4762500" cy="64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</a:t>
            </a:r>
            <a:endParaRPr sz="24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1676400" y="5599331"/>
            <a:ext cx="61722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and Engineering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Chitkara University, Punjab</a:t>
            </a:r>
          </a:p>
        </p:txBody>
      </p:sp>
      <p:sp>
        <p:nvSpPr>
          <p:cNvPr id="54" name="Google Shape;5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/>
              <a:t>What is DOM?</a:t>
            </a:r>
            <a:endParaRPr lang="en-US" b="1" dirty="0" smtClean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1711"/>
            <a:ext cx="8229600" cy="4824095"/>
          </a:xfrm>
        </p:spPr>
        <p:txBody>
          <a:bodyPr/>
          <a:lstStyle/>
          <a:p>
            <a:r>
              <a:rPr lang="en-US" dirty="0" smtClean="0"/>
              <a:t>DOM </a:t>
            </a:r>
            <a:r>
              <a:rPr lang="en-US" dirty="0" smtClean="0"/>
              <a:t>= </a:t>
            </a:r>
            <a:r>
              <a:rPr lang="en-US" b="1" dirty="0" smtClean="0"/>
              <a:t>Document Object Model</a:t>
            </a:r>
            <a:endParaRPr lang="en-US" dirty="0" smtClean="0"/>
          </a:p>
          <a:p>
            <a:r>
              <a:rPr lang="en-US" dirty="0" smtClean="0"/>
              <a:t>Represents HTML as a </a:t>
            </a:r>
            <a:r>
              <a:rPr lang="en-US" b="1" dirty="0" smtClean="0"/>
              <a:t>tree structure</a:t>
            </a:r>
            <a:endParaRPr lang="en-US" dirty="0" smtClean="0"/>
          </a:p>
          <a:p>
            <a:r>
              <a:rPr lang="en-US" dirty="0" smtClean="0"/>
              <a:t>Each HTML element is a </a:t>
            </a:r>
            <a:r>
              <a:rPr lang="en-US" b="1" dirty="0" smtClean="0"/>
              <a:t>node</a:t>
            </a:r>
            <a:endParaRPr lang="en-US" dirty="0" smtClean="0"/>
          </a:p>
          <a:p>
            <a:r>
              <a:rPr lang="en-US" dirty="0" smtClean="0"/>
              <a:t>JavaScript uses DOM to:</a:t>
            </a:r>
          </a:p>
          <a:p>
            <a:pPr lvl="1"/>
            <a:r>
              <a:rPr lang="en-US" dirty="0" smtClean="0"/>
              <a:t>Access elements</a:t>
            </a:r>
          </a:p>
          <a:p>
            <a:pPr lvl="1"/>
            <a:r>
              <a:rPr lang="en-US" dirty="0" smtClean="0"/>
              <a:t>Modify content &amp; styles</a:t>
            </a:r>
          </a:p>
          <a:p>
            <a:pPr lvl="1"/>
            <a:r>
              <a:rPr lang="en-US" dirty="0" smtClean="0"/>
              <a:t>Add or remove elements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59080" y="968404"/>
            <a:ext cx="8803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00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560" y="136525"/>
            <a:ext cx="6517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DOM Tree Structure</a:t>
            </a:r>
            <a:endParaRPr lang="en-US" sz="3200" b="1" i="0" dirty="0">
              <a:solidFill>
                <a:srgbClr val="212529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9080" y="850411"/>
            <a:ext cx="8625840" cy="6324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Root node → document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Parent → Child → Sibling relationship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&lt;body&gt;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&lt;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div&gt;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&lt;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p&gt;Hello&lt;/p&gt;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&lt;/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div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&lt;/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body&gt; 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body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→ parent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div → child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 → child node</a:t>
            </a:r>
          </a:p>
          <a:p>
            <a:pPr>
              <a:lnSpc>
                <a:spcPct val="150000"/>
              </a:lnSpc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Times New Roman" pitchFamily="18" charset="0"/>
                <a:cs typeface="Times New Roman" pitchFamily="18" charset="0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9080" y="968404"/>
            <a:ext cx="8803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000000"/>
              </a:solidFill>
              <a:effectLst/>
              <a:latin typeface="Times New Roman" pitchFamily="18" charset="0"/>
              <a:ea typeface="Verdana" panose="020B0604030504040204" pitchFamily="34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560" y="136525"/>
            <a:ext cx="6517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Selecting Elements</a:t>
            </a:r>
            <a:endParaRPr lang="en-US" sz="3200" b="1" i="0" dirty="0">
              <a:solidFill>
                <a:srgbClr val="212529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9080" y="1168459"/>
            <a:ext cx="862584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DOM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Selectors: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Used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access HTML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elements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Common methods:</a:t>
            </a:r>
          </a:p>
          <a:p>
            <a:pPr lvl="3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getElementById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querySelector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querySelectorAll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()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Times New Roman" pitchFamily="18" charset="0"/>
                <a:cs typeface="Times New Roman" pitchFamily="18" charset="0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9080" y="968404"/>
            <a:ext cx="8803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000000"/>
              </a:solidFill>
              <a:effectLst/>
              <a:latin typeface="Times New Roman" pitchFamily="18" charset="0"/>
              <a:ea typeface="Verdana" panose="020B0604030504040204" pitchFamily="34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929" y="136525"/>
            <a:ext cx="6517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Selecting Elements</a:t>
            </a:r>
            <a:endParaRPr lang="en-US" sz="3200" b="1" dirty="0">
              <a:solidFill>
                <a:srgbClr val="21252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9080" y="1168459"/>
            <a:ext cx="8625840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getElementById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():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Selects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element by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ID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Returns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one element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const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box =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document.getElementById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("box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");</a:t>
            </a:r>
          </a:p>
          <a:p>
            <a:pPr>
              <a:lnSpc>
                <a:spcPct val="150000"/>
              </a:lnSpc>
            </a:pP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querySelector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():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Uses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CSS selectors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Returns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first matching element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document.querySelector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("p");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document.querySelector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(".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btn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");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document.querySelector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("#box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");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dirty="0" smtClean="0">
                <a:latin typeface="Times New Roman" pitchFamily="18" charset="0"/>
                <a:cs typeface="Times New Roman" pitchFamily="18" charset="0"/>
              </a:rPr>
            </a:b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59080" y="968404"/>
            <a:ext cx="8803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00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929" y="136525"/>
            <a:ext cx="6517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Selecting Elements</a:t>
            </a:r>
            <a:endParaRPr lang="en-US" sz="3200" b="1" dirty="0">
              <a:solidFill>
                <a:srgbClr val="21252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9080" y="1168459"/>
            <a:ext cx="862584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querySelectorAll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():</a:t>
            </a:r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Selects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all matching elements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Returns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NodeList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const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items =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document.querySelectorAll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("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li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");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NodeList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supports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forEach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items.forEach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(item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=&gt; console.log(item));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dirty="0" smtClean="0">
                <a:latin typeface="Times New Roman" pitchFamily="18" charset="0"/>
                <a:cs typeface="Times New Roman" pitchFamily="18" charset="0"/>
              </a:rPr>
            </a:b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59080" y="968404"/>
            <a:ext cx="8803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00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560" y="136525"/>
            <a:ext cx="6517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Reading &amp; Writing HTML</a:t>
            </a:r>
            <a:endParaRPr lang="en-US" sz="3200" b="1" i="0" dirty="0">
              <a:solidFill>
                <a:srgbClr val="212529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9080" y="1168459"/>
            <a:ext cx="8625840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Reading content</a:t>
            </a:r>
          </a:p>
          <a:p>
            <a:pPr>
              <a:lnSpc>
                <a:spcPct val="150000"/>
              </a:lnSpc>
            </a:pP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element.textContent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element.innerHTML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Writing content</a:t>
            </a:r>
          </a:p>
          <a:p>
            <a:pPr>
              <a:lnSpc>
                <a:spcPct val="150000"/>
              </a:lnSpc>
            </a:pP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element.textContent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= "Hello";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element.innerHTML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= "&lt;b&gt;Hello&lt;/b&gt;"; 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innerHTML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can be unsafe</a:t>
            </a:r>
          </a:p>
          <a:p>
            <a:pPr>
              <a:lnSpc>
                <a:spcPct val="150000"/>
              </a:lnSpc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dirty="0" smtClean="0">
                <a:latin typeface="Times New Roman" pitchFamily="18" charset="0"/>
                <a:cs typeface="Times New Roman" pitchFamily="18" charset="0"/>
              </a:rPr>
            </a:b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069" y="0"/>
            <a:ext cx="6477000" cy="838200"/>
          </a:xfrm>
        </p:spPr>
        <p:txBody>
          <a:bodyPr/>
          <a:lstStyle/>
          <a:p>
            <a:pPr algn="l"/>
            <a:r>
              <a:rPr lang="en-US" b="1" dirty="0" smtClean="0"/>
              <a:t>Reading &amp; Writing CSS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7993" y="1232454"/>
            <a:ext cx="8438320" cy="5486400"/>
          </a:xfrm>
        </p:spPr>
        <p:txBody>
          <a:bodyPr/>
          <a:lstStyle/>
          <a:p>
            <a:r>
              <a:rPr lang="en-US" b="1" dirty="0" smtClean="0"/>
              <a:t>Change styles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/>
              <a:t>element.style.color</a:t>
            </a:r>
            <a:r>
              <a:rPr lang="en-US" dirty="0" smtClean="0"/>
              <a:t> </a:t>
            </a:r>
            <a:r>
              <a:rPr lang="en-US" dirty="0" smtClean="0"/>
              <a:t>= "red";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/>
              <a:t>element.style.backgroundColor</a:t>
            </a:r>
            <a:r>
              <a:rPr lang="en-US" dirty="0" smtClean="0"/>
              <a:t> </a:t>
            </a:r>
            <a:r>
              <a:rPr lang="en-US" dirty="0" smtClean="0"/>
              <a:t>= "yellow"; 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CSS </a:t>
            </a:r>
            <a:r>
              <a:rPr lang="en-US" dirty="0" smtClean="0"/>
              <a:t>properties use </a:t>
            </a:r>
            <a:r>
              <a:rPr lang="en-US" b="1" dirty="0" err="1" smtClean="0"/>
              <a:t>camelCase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788" y="0"/>
            <a:ext cx="6477000" cy="838200"/>
          </a:xfrm>
        </p:spPr>
        <p:txBody>
          <a:bodyPr/>
          <a:lstStyle/>
          <a:p>
            <a:pPr algn="l"/>
            <a:r>
              <a:rPr lang="en-US" b="1" dirty="0" smtClean="0"/>
              <a:t>Creating </a:t>
            </a:r>
            <a:r>
              <a:rPr lang="en-US" b="1" dirty="0" smtClean="0"/>
              <a:t>Elements (Nodes)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42393"/>
            <a:ext cx="8229600" cy="5486400"/>
          </a:xfrm>
        </p:spPr>
        <p:txBody>
          <a:bodyPr/>
          <a:lstStyle/>
          <a:p>
            <a:r>
              <a:rPr lang="en-US" dirty="0" smtClean="0"/>
              <a:t>Create new HTML elements </a:t>
            </a:r>
            <a:r>
              <a:rPr lang="en-US" dirty="0" smtClean="0"/>
              <a:t>dynamically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const </a:t>
            </a:r>
            <a:r>
              <a:rPr lang="en-US" dirty="0" smtClean="0"/>
              <a:t>div = </a:t>
            </a:r>
            <a:r>
              <a:rPr lang="en-US" dirty="0" err="1" smtClean="0"/>
              <a:t>document.createElement</a:t>
            </a:r>
            <a:r>
              <a:rPr lang="en-US" dirty="0" smtClean="0"/>
              <a:t>("div");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/>
              <a:t>div.textContent</a:t>
            </a:r>
            <a:r>
              <a:rPr lang="en-US" dirty="0" smtClean="0"/>
              <a:t> </a:t>
            </a:r>
            <a:r>
              <a:rPr lang="en-US" dirty="0" smtClean="0"/>
              <a:t>= "New Element"; 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Element created </a:t>
            </a:r>
            <a:r>
              <a:rPr lang="en-US" dirty="0" smtClean="0"/>
              <a:t>but </a:t>
            </a:r>
            <a:r>
              <a:rPr lang="en-US" b="1" dirty="0" smtClean="0"/>
              <a:t>not visible yet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40" y="0"/>
            <a:ext cx="6477000" cy="838200"/>
          </a:xfrm>
        </p:spPr>
        <p:txBody>
          <a:bodyPr/>
          <a:lstStyle/>
          <a:p>
            <a:pPr algn="l"/>
            <a:r>
              <a:rPr lang="en-US" b="1" dirty="0" smtClean="0"/>
              <a:t>Appending </a:t>
            </a:r>
            <a:r>
              <a:rPr lang="en-US" b="1" dirty="0" smtClean="0"/>
              <a:t>and </a:t>
            </a:r>
            <a:r>
              <a:rPr lang="en-US" b="1" dirty="0" smtClean="0"/>
              <a:t>Deleting </a:t>
            </a:r>
            <a:r>
              <a:rPr lang="en-US" b="1" dirty="0" smtClean="0"/>
              <a:t>Elements</a:t>
            </a:r>
            <a:endParaRPr lang="en-US" b="1" dirty="0" smtClean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42393"/>
            <a:ext cx="8229600" cy="5486400"/>
          </a:xfrm>
        </p:spPr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US" b="1" dirty="0" smtClean="0"/>
              <a:t>Appending Elements:</a:t>
            </a:r>
            <a:endParaRPr lang="en-US" b="1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Add </a:t>
            </a:r>
            <a:r>
              <a:rPr lang="en-US" dirty="0" smtClean="0"/>
              <a:t>elements to the </a:t>
            </a:r>
            <a:r>
              <a:rPr lang="en-US" dirty="0" smtClean="0"/>
              <a:t>DOM	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	</a:t>
            </a:r>
            <a:r>
              <a:rPr lang="en-US" dirty="0" smtClean="0"/>
              <a:t>	</a:t>
            </a:r>
            <a:r>
              <a:rPr lang="en-US" dirty="0" err="1" smtClean="0"/>
              <a:t>document.body.appendChild</a:t>
            </a:r>
            <a:r>
              <a:rPr lang="en-US" dirty="0" smtClean="0"/>
              <a:t>(div</a:t>
            </a:r>
            <a:r>
              <a:rPr lang="en-US" dirty="0" smtClean="0"/>
              <a:t>); 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 smtClean="0"/>
              <a:t>Deleting Elements:</a:t>
            </a:r>
            <a:endParaRPr lang="en-US" b="1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Remove elements from DOM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		</a:t>
            </a:r>
            <a:r>
              <a:rPr lang="en-US" dirty="0" err="1" smtClean="0"/>
              <a:t>element.remove</a:t>
            </a:r>
            <a:r>
              <a:rPr lang="en-US" dirty="0" smtClean="0"/>
              <a:t>();</a:t>
            </a:r>
          </a:p>
          <a:p>
            <a:pPr>
              <a:lnSpc>
                <a:spcPct val="150000"/>
              </a:lnSpc>
              <a:buNone/>
            </a:pPr>
            <a:r>
              <a:rPr lang="en-IN" dirty="0" smtClean="0"/>
              <a:t>OR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		</a:t>
            </a:r>
            <a:r>
              <a:rPr lang="en-US" dirty="0" err="1" smtClean="0"/>
              <a:t>parent.removeChild</a:t>
            </a:r>
            <a:r>
              <a:rPr lang="en-US" dirty="0" smtClean="0"/>
              <a:t>(child</a:t>
            </a:r>
            <a:r>
              <a:rPr lang="en-US" dirty="0" smtClean="0"/>
              <a:t>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9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435634" y="2388215"/>
            <a:ext cx="37240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Thank</a:t>
            </a:r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</a:t>
            </a:r>
            <a:r>
              <a:rPr lang="en-US" sz="5400" b="1" dirty="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You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8284</TotalTime>
  <Words>264</Words>
  <Application>Microsoft Office PowerPoint</Application>
  <PresentationFormat>On-screen Show (4:3)</PresentationFormat>
  <Paragraphs>100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Times New Roman</vt:lpstr>
      <vt:lpstr>Calibri</vt:lpstr>
      <vt:lpstr>Verdana</vt:lpstr>
      <vt:lpstr>Office Theme</vt:lpstr>
      <vt:lpstr>Slide 1</vt:lpstr>
      <vt:lpstr>What is DOM?</vt:lpstr>
      <vt:lpstr>Slide 3</vt:lpstr>
      <vt:lpstr>Slide 4</vt:lpstr>
      <vt:lpstr>Slide 5</vt:lpstr>
      <vt:lpstr>Slide 6</vt:lpstr>
      <vt:lpstr>Slide 7</vt:lpstr>
      <vt:lpstr>Reading &amp; Writing CSS</vt:lpstr>
      <vt:lpstr>Creating Elements (Nodes)</vt:lpstr>
      <vt:lpstr>Appending and Deleting Elements</vt:lpstr>
      <vt:lpstr>Slide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Chinmaya</cp:lastModifiedBy>
  <cp:revision>174</cp:revision>
  <dcterms:created xsi:type="dcterms:W3CDTF">2010-04-09T07:36:00Z</dcterms:created>
  <dcterms:modified xsi:type="dcterms:W3CDTF">2026-02-05T04:06:34Z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0816DB4EA2254B8095D92CBE0445F10C_13</vt:lpwstr>
  </property>
  <property fmtid="{D5CDD505-2E9C-101B-9397-08002B2CF9AE}" pid="3" name="KSOProductBuildVer">
    <vt:lpwstr>1033-12.2.0.23196</vt:lpwstr>
  </property>
</Properties>
</file>