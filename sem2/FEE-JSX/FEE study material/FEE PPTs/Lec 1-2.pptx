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72" r:id="rId3"/>
    <p:sldId id="273" r:id="rId4"/>
    <p:sldId id="304" r:id="rId5"/>
    <p:sldId id="30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305" r:id="rId14"/>
    <p:sldId id="306" r:id="rId15"/>
    <p:sldId id="307" r:id="rId16"/>
    <p:sldId id="281" r:id="rId17"/>
    <p:sldId id="282" r:id="rId18"/>
    <p:sldId id="308" r:id="rId19"/>
    <p:sldId id="283" r:id="rId20"/>
    <p:sldId id="284" r:id="rId21"/>
    <p:sldId id="309" r:id="rId22"/>
    <p:sldId id="285" r:id="rId23"/>
    <p:sldId id="310" r:id="rId24"/>
    <p:sldId id="286" r:id="rId25"/>
    <p:sldId id="287" r:id="rId26"/>
    <p:sldId id="311" r:id="rId27"/>
    <p:sldId id="312" r:id="rId28"/>
    <p:sldId id="288" r:id="rId29"/>
    <p:sldId id="289" r:id="rId30"/>
    <p:sldId id="290" r:id="rId31"/>
    <p:sldId id="291" r:id="rId32"/>
    <p:sldId id="292" r:id="rId33"/>
    <p:sldId id="293" r:id="rId34"/>
    <p:sldId id="313" r:id="rId35"/>
    <p:sldId id="314" r:id="rId36"/>
    <p:sldId id="294" r:id="rId37"/>
    <p:sldId id="295" r:id="rId38"/>
    <p:sldId id="296" r:id="rId39"/>
    <p:sldId id="315" r:id="rId40"/>
    <p:sldId id="297" r:id="rId41"/>
    <p:sldId id="298" r:id="rId42"/>
    <p:sldId id="299" r:id="rId43"/>
    <p:sldId id="302" r:id="rId44"/>
    <p:sldId id="316" r:id="rId4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M6VNHpDPnSK9aWOWxRBT33mzR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0" autoAdjust="0"/>
  </p:normalViewPr>
  <p:slideViewPr>
    <p:cSldViewPr snapToGrid="0">
      <p:cViewPr varScale="1">
        <p:scale>
          <a:sx n="67" d="100"/>
          <a:sy n="67" d="100"/>
        </p:scale>
        <p:origin x="161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01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3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3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152400" y="9144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 Class</a:t>
            </a: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b="0" i="0" u="none" strike="noStrik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3200" b="1" i="1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400"/>
              </a:spcBef>
            </a:pP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JavaScript Basics: History &amp; Evolution of JavaScript's origins, the role of ECMAScript standards, ES6+ Overview, Variables- </a:t>
            </a:r>
            <a:r>
              <a:rPr lang="en-US" sz="2000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, let, and </a:t>
            </a:r>
            <a:r>
              <a:rPr lang="en-US" sz="2000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const</a:t>
            </a: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 (mutability and scope implications), Data Types- Primitive Types: String, Number, Boolean, null, undefined, Symbol, and </a:t>
            </a:r>
            <a:r>
              <a:rPr lang="en-US" sz="2000" b="1" i="1" dirty="0" err="1">
                <a:latin typeface="Times New Roman"/>
                <a:ea typeface="Times New Roman"/>
                <a:cs typeface="Times New Roman"/>
                <a:sym typeface="Times New Roman"/>
              </a:rPr>
              <a:t>BigInt</a:t>
            </a: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905000" y="4953000"/>
            <a:ext cx="4762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Dr. </a:t>
            </a:r>
            <a:r>
              <a:rPr lang="en-US" sz="2400" b="1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Ashima</a:t>
            </a:r>
            <a:endParaRPr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2B26-6B62-4D67-BDD9-3B9CC57C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4254" y="3116688"/>
            <a:ext cx="5486400" cy="914400"/>
          </a:xfrm>
        </p:spPr>
        <p:txBody>
          <a:bodyPr/>
          <a:lstStyle/>
          <a:p>
            <a:r>
              <a:rPr lang="en-IN" dirty="0"/>
              <a:t>JavaScript Introduction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214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71AED-D4C7-4F2E-B7FF-72362258B46E}"/>
              </a:ext>
            </a:extLst>
          </p:cNvPr>
          <p:cNvSpPr txBox="1"/>
          <p:nvPr/>
        </p:nvSpPr>
        <p:spPr>
          <a:xfrm>
            <a:off x="235527" y="1009904"/>
            <a:ext cx="70866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JavaScript is the programming language of the web.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It can calculate, manipulate and validate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/>
              <a:t>It can update and change both HTML and CSS.</a:t>
            </a:r>
            <a:endParaRPr lang="en-IN" sz="2100" dirty="0"/>
          </a:p>
        </p:txBody>
      </p:sp>
      <p:sp>
        <p:nvSpPr>
          <p:cNvPr id="2" name="Rectangle 1"/>
          <p:cNvSpPr/>
          <p:nvPr/>
        </p:nvSpPr>
        <p:spPr>
          <a:xfrm>
            <a:off x="235527" y="3169035"/>
            <a:ext cx="48750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JavaScript Can Change HTML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4020116"/>
            <a:ext cx="794385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One of many JavaScript HTML methods is </a:t>
            </a:r>
            <a:r>
              <a:rPr lang="en-IN" sz="2000" dirty="0" err="1"/>
              <a:t>getElementById</a:t>
            </a:r>
            <a:r>
              <a:rPr lang="en-IN" sz="2000" dirty="0"/>
              <a:t>().</a:t>
            </a:r>
          </a:p>
          <a:p>
            <a:endParaRPr lang="en-IN" sz="2000" dirty="0"/>
          </a:p>
          <a:p>
            <a:r>
              <a:rPr lang="en-IN" sz="2000" dirty="0"/>
              <a:t>The example below "finds" an HTML element (with id="demo"), and changes the element content (</a:t>
            </a:r>
            <a:r>
              <a:rPr lang="en-IN" sz="2000" dirty="0" err="1"/>
              <a:t>innerHTML</a:t>
            </a:r>
            <a:r>
              <a:rPr lang="en-IN" sz="2000" dirty="0"/>
              <a:t>) to "Hello JavaScript":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4999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52450" y="1214557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&lt;h2&gt;What Can JavaScript Do?&lt;/h2&gt;</a:t>
            </a:r>
          </a:p>
          <a:p>
            <a:endParaRPr lang="en-IN" sz="1800" dirty="0"/>
          </a:p>
          <a:p>
            <a:r>
              <a:rPr lang="en-IN" sz="1800" dirty="0"/>
              <a:t>&lt;p id="demo"&gt;JavaScript can change HTML content.&lt;/p&gt;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='</a:t>
            </a:r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 "Hello JavaScript!"'&gt;Click Me!&lt;/button&gt;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6917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6225" y="1037422"/>
            <a:ext cx="87058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+mj-lt"/>
              </a:rPr>
              <a:t>JavaScript accepts both double and single quotes:</a:t>
            </a:r>
          </a:p>
          <a:p>
            <a:endParaRPr lang="en-IN" sz="2000" dirty="0" smtClean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6225" y="4792206"/>
            <a:ext cx="84105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Can Change HTML Attribute Values</a:t>
            </a:r>
          </a:p>
          <a:p>
            <a:endParaRPr lang="en-US" sz="2000" dirty="0" smtClean="0"/>
          </a:p>
          <a:p>
            <a:r>
              <a:rPr lang="en-US" sz="2000" dirty="0" smtClean="0"/>
              <a:t>In </a:t>
            </a:r>
            <a:r>
              <a:rPr lang="en-US" sz="2000" dirty="0"/>
              <a:t>this example JavaScript changes the value of the </a:t>
            </a:r>
            <a:r>
              <a:rPr lang="en-US" sz="2000" dirty="0" err="1"/>
              <a:t>src</a:t>
            </a:r>
            <a:r>
              <a:rPr lang="en-US" sz="2000" dirty="0"/>
              <a:t> (source) attribute of an &lt;</a:t>
            </a:r>
            <a:r>
              <a:rPr lang="en-US" sz="2000" dirty="0" err="1"/>
              <a:t>img</a:t>
            </a:r>
            <a:r>
              <a:rPr lang="en-US" sz="2000" dirty="0"/>
              <a:t>&gt; tag:</a:t>
            </a:r>
          </a:p>
          <a:p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09575" y="1391365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&lt;h2&gt;What Can JavaScript Do?&lt;/h2&gt;</a:t>
            </a:r>
          </a:p>
          <a:p>
            <a:endParaRPr lang="en-IN" dirty="0"/>
          </a:p>
          <a:p>
            <a:r>
              <a:rPr lang="en-IN" dirty="0"/>
              <a:t>&lt;p id="demo"&gt;JavaScript can change HTML content.&lt;/p&gt;</a:t>
            </a:r>
          </a:p>
          <a:p>
            <a:endParaRPr lang="en-IN" dirty="0"/>
          </a:p>
          <a:p>
            <a:r>
              <a:rPr lang="en-IN" dirty="0"/>
              <a:t>&lt;button type="button" </a:t>
            </a:r>
            <a:r>
              <a:rPr lang="en-IN" dirty="0" err="1"/>
              <a:t>onclick</a:t>
            </a:r>
            <a:r>
              <a:rPr lang="en-IN" dirty="0"/>
              <a:t>="</a:t>
            </a:r>
            <a:r>
              <a:rPr lang="en-IN" dirty="0" err="1"/>
              <a:t>document.getElementById</a:t>
            </a:r>
            <a:r>
              <a:rPr lang="en-IN" dirty="0"/>
              <a:t>('demo').</a:t>
            </a:r>
            <a:r>
              <a:rPr lang="en-IN" dirty="0" err="1"/>
              <a:t>innerHTML</a:t>
            </a:r>
            <a:r>
              <a:rPr lang="en-IN" dirty="0"/>
              <a:t> = 'Hello JavaScript!'"&gt;Click Me!&lt;/button&gt;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7164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D0021-8EC0-4B0A-9E2A-C6094E73E334}"/>
              </a:ext>
            </a:extLst>
          </p:cNvPr>
          <p:cNvSpPr txBox="1"/>
          <p:nvPr/>
        </p:nvSpPr>
        <p:spPr>
          <a:xfrm>
            <a:off x="591415" y="1202583"/>
            <a:ext cx="569421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&lt;!DOCTYPE html&gt;</a:t>
            </a:r>
          </a:p>
          <a:p>
            <a:r>
              <a:rPr lang="en-IN" b="1" dirty="0"/>
              <a:t>&lt;html&gt;</a:t>
            </a:r>
          </a:p>
          <a:p>
            <a:r>
              <a:rPr lang="en-IN" b="1" dirty="0"/>
              <a:t>&lt;body&gt;</a:t>
            </a:r>
          </a:p>
          <a:p>
            <a:endParaRPr lang="en-IN" b="1" dirty="0"/>
          </a:p>
          <a:p>
            <a:r>
              <a:rPr lang="en-IN" b="1" dirty="0"/>
              <a:t>&lt;h2&gt;What Can JavaScript Do?&lt;/h2&gt;</a:t>
            </a:r>
          </a:p>
          <a:p>
            <a:endParaRPr lang="en-IN" b="1" dirty="0"/>
          </a:p>
          <a:p>
            <a:r>
              <a:rPr lang="en-IN" b="1" dirty="0"/>
              <a:t>&lt;p&gt;JavaScript can change HTML attribute values.&lt;/p&gt;</a:t>
            </a:r>
          </a:p>
          <a:p>
            <a:endParaRPr lang="en-IN" b="1" dirty="0"/>
          </a:p>
          <a:p>
            <a:r>
              <a:rPr lang="en-IN" b="1" dirty="0"/>
              <a:t>&lt;p&gt;In this case JavaScript changes the value of the </a:t>
            </a:r>
            <a:r>
              <a:rPr lang="en-IN" b="1" dirty="0" err="1"/>
              <a:t>src</a:t>
            </a:r>
            <a:r>
              <a:rPr lang="en-IN" b="1" dirty="0"/>
              <a:t> (source) attribute of an image.&lt;/p&gt;</a:t>
            </a:r>
          </a:p>
          <a:p>
            <a:endParaRPr lang="en-IN" b="1" dirty="0"/>
          </a:p>
          <a:p>
            <a:r>
              <a:rPr lang="en-IN" b="1" dirty="0"/>
              <a:t>&lt;button </a:t>
            </a:r>
            <a:r>
              <a:rPr lang="en-IN" b="1" dirty="0" err="1"/>
              <a:t>onclick</a:t>
            </a:r>
            <a:r>
              <a:rPr lang="en-IN" b="1" dirty="0"/>
              <a:t>="</a:t>
            </a:r>
            <a:r>
              <a:rPr lang="en-IN" b="1" dirty="0" err="1"/>
              <a:t>document.getElementById</a:t>
            </a:r>
            <a:r>
              <a:rPr lang="en-IN" b="1" dirty="0"/>
              <a:t>('</a:t>
            </a:r>
            <a:r>
              <a:rPr lang="en-IN" b="1" dirty="0" err="1"/>
              <a:t>myImage</a:t>
            </a:r>
            <a:r>
              <a:rPr lang="en-IN" b="1" dirty="0"/>
              <a:t>').</a:t>
            </a:r>
            <a:r>
              <a:rPr lang="en-IN" b="1" dirty="0" err="1"/>
              <a:t>src</a:t>
            </a:r>
            <a:r>
              <a:rPr lang="en-IN" b="1" dirty="0"/>
              <a:t>='pic_bulbon.gif'"&gt;Turn on the light&lt;/button&gt;</a:t>
            </a:r>
          </a:p>
          <a:p>
            <a:endParaRPr lang="en-IN" b="1" dirty="0"/>
          </a:p>
          <a:p>
            <a:r>
              <a:rPr lang="en-IN" b="1" dirty="0"/>
              <a:t>&lt;</a:t>
            </a:r>
            <a:r>
              <a:rPr lang="en-IN" b="1" dirty="0" err="1"/>
              <a:t>img</a:t>
            </a:r>
            <a:r>
              <a:rPr lang="en-IN" b="1" dirty="0"/>
              <a:t> id="</a:t>
            </a:r>
            <a:r>
              <a:rPr lang="en-IN" b="1" dirty="0" err="1"/>
              <a:t>myImage</a:t>
            </a:r>
            <a:r>
              <a:rPr lang="en-IN" b="1" dirty="0"/>
              <a:t>" </a:t>
            </a:r>
            <a:r>
              <a:rPr lang="en-IN" b="1" dirty="0" err="1"/>
              <a:t>src</a:t>
            </a:r>
            <a:r>
              <a:rPr lang="en-IN" b="1" dirty="0"/>
              <a:t>="pic_bulboff.gif" style="width:100px"&gt;</a:t>
            </a:r>
          </a:p>
          <a:p>
            <a:endParaRPr lang="en-IN" b="1" dirty="0"/>
          </a:p>
          <a:p>
            <a:r>
              <a:rPr lang="en-IN" b="1" dirty="0"/>
              <a:t>&lt;button </a:t>
            </a:r>
            <a:r>
              <a:rPr lang="en-IN" b="1" dirty="0" err="1"/>
              <a:t>onclick</a:t>
            </a:r>
            <a:r>
              <a:rPr lang="en-IN" b="1" dirty="0"/>
              <a:t>="</a:t>
            </a:r>
            <a:r>
              <a:rPr lang="en-IN" b="1" dirty="0" err="1"/>
              <a:t>document.getElementById</a:t>
            </a:r>
            <a:r>
              <a:rPr lang="en-IN" b="1" dirty="0"/>
              <a:t>('</a:t>
            </a:r>
            <a:r>
              <a:rPr lang="en-IN" b="1" dirty="0" err="1"/>
              <a:t>myImage</a:t>
            </a:r>
            <a:r>
              <a:rPr lang="en-IN" b="1" dirty="0"/>
              <a:t>').</a:t>
            </a:r>
            <a:r>
              <a:rPr lang="en-IN" b="1" dirty="0" err="1"/>
              <a:t>src</a:t>
            </a:r>
            <a:r>
              <a:rPr lang="en-IN" b="1" dirty="0"/>
              <a:t>='pic_bulboff.gif'"&gt;Turn off the light&lt;/button&gt;</a:t>
            </a:r>
          </a:p>
          <a:p>
            <a:endParaRPr lang="en-IN" b="1" dirty="0"/>
          </a:p>
          <a:p>
            <a:r>
              <a:rPr lang="en-IN" b="1" dirty="0"/>
              <a:t>&lt;/body&gt;</a:t>
            </a:r>
          </a:p>
          <a:p>
            <a:r>
              <a:rPr lang="en-IN" b="1" dirty="0"/>
              <a:t>&lt;/html&gt;</a:t>
            </a:r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526664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D9FDCF-A479-4CA5-95BA-69B697D0165E}"/>
              </a:ext>
            </a:extLst>
          </p:cNvPr>
          <p:cNvSpPr txBox="1"/>
          <p:nvPr/>
        </p:nvSpPr>
        <p:spPr>
          <a:xfrm>
            <a:off x="317788" y="893872"/>
            <a:ext cx="8311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JavaScript Can Change HTML Styles (CSS)</a:t>
            </a:r>
          </a:p>
          <a:p>
            <a:r>
              <a:rPr lang="en-US" sz="1800" dirty="0"/>
              <a:t>Changing the style of an HTML element, is a variant of changing an HTML attribute:</a:t>
            </a:r>
            <a:endParaRPr lang="en-IN" sz="1800" dirty="0"/>
          </a:p>
        </p:txBody>
      </p:sp>
      <p:sp>
        <p:nvSpPr>
          <p:cNvPr id="2" name="Rectangle 1"/>
          <p:cNvSpPr/>
          <p:nvPr/>
        </p:nvSpPr>
        <p:spPr>
          <a:xfrm>
            <a:off x="317788" y="196703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&lt;h2&gt;What Can JavaScript Do?&lt;/h2&gt;</a:t>
            </a:r>
          </a:p>
          <a:p>
            <a:endParaRPr lang="en-IN" sz="1800" dirty="0"/>
          </a:p>
          <a:p>
            <a:r>
              <a:rPr lang="en-IN" sz="1800" dirty="0"/>
              <a:t>&lt;p id="demo"&gt;JavaScript can change the style of an HTML element.&lt;/p&gt;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document.getElementById</a:t>
            </a:r>
            <a:r>
              <a:rPr lang="en-IN" sz="1800" dirty="0"/>
              <a:t>('demo').</a:t>
            </a:r>
            <a:r>
              <a:rPr lang="en-IN" sz="1800" dirty="0" err="1"/>
              <a:t>style.fontSize</a:t>
            </a:r>
            <a:r>
              <a:rPr lang="en-IN" sz="1800" dirty="0"/>
              <a:t>='35px'"&gt;Click Me!&lt;/button&gt;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265623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5274" y="964168"/>
            <a:ext cx="8258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Can Hide HTML Elements</a:t>
            </a:r>
          </a:p>
          <a:p>
            <a:r>
              <a:rPr lang="en-US" sz="2000" dirty="0"/>
              <a:t>Hiding HTML elements can be done by changing the display style:</a:t>
            </a:r>
            <a:endParaRPr lang="en-IN" sz="2000" dirty="0"/>
          </a:p>
        </p:txBody>
      </p:sp>
      <p:sp>
        <p:nvSpPr>
          <p:cNvPr id="6" name="Rectangle 5"/>
          <p:cNvSpPr/>
          <p:nvPr/>
        </p:nvSpPr>
        <p:spPr>
          <a:xfrm>
            <a:off x="428625" y="1786057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&lt;h2&gt;What Can JavaScript Do?&lt;/h2&gt;</a:t>
            </a:r>
          </a:p>
          <a:p>
            <a:endParaRPr lang="en-IN" sz="1800" dirty="0"/>
          </a:p>
          <a:p>
            <a:r>
              <a:rPr lang="en-IN" sz="1800" dirty="0"/>
              <a:t>&lt;p id="demo"&gt;JavaScript can hide HTML elements.&lt;/p&gt;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document.getElementById</a:t>
            </a:r>
            <a:r>
              <a:rPr lang="en-IN" sz="1800" dirty="0"/>
              <a:t>('demo').</a:t>
            </a:r>
            <a:r>
              <a:rPr lang="en-IN" sz="1800" dirty="0" err="1"/>
              <a:t>style.display</a:t>
            </a:r>
            <a:r>
              <a:rPr lang="en-IN" sz="1800" dirty="0"/>
              <a:t>='none'"&gt;Click Me!&lt;/button&gt;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88012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2900" y="964168"/>
            <a:ext cx="84201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Can Show HTML Elements</a:t>
            </a:r>
          </a:p>
          <a:p>
            <a:r>
              <a:rPr lang="en-US" sz="2000" dirty="0"/>
              <a:t>Showing hidden HTML elements can also be done by changing the display style:</a:t>
            </a:r>
            <a:endParaRPr lang="en-IN" sz="2000" dirty="0"/>
          </a:p>
        </p:txBody>
      </p:sp>
      <p:sp>
        <p:nvSpPr>
          <p:cNvPr id="4" name="Rectangle 3"/>
          <p:cNvSpPr/>
          <p:nvPr/>
        </p:nvSpPr>
        <p:spPr>
          <a:xfrm>
            <a:off x="247650" y="2104013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&lt;!DOCTYPE html&gt;</a:t>
            </a:r>
          </a:p>
          <a:p>
            <a:r>
              <a:rPr lang="en-IN" sz="1600" dirty="0"/>
              <a:t>&lt;html&gt;</a:t>
            </a:r>
          </a:p>
          <a:p>
            <a:r>
              <a:rPr lang="en-IN" sz="1600" dirty="0"/>
              <a:t>&lt;body&gt;</a:t>
            </a:r>
          </a:p>
          <a:p>
            <a:endParaRPr lang="en-IN" sz="1600" dirty="0"/>
          </a:p>
          <a:p>
            <a:r>
              <a:rPr lang="en-IN" sz="1600" dirty="0"/>
              <a:t>&lt;h2&gt;What Can JavaScript Do?&lt;/h2&gt;</a:t>
            </a:r>
          </a:p>
          <a:p>
            <a:endParaRPr lang="en-IN" sz="1600" dirty="0"/>
          </a:p>
          <a:p>
            <a:r>
              <a:rPr lang="en-IN" sz="1600" dirty="0"/>
              <a:t>&lt;p&gt;JavaScript can show hidden HTML elements.&lt;/p&gt;</a:t>
            </a:r>
          </a:p>
          <a:p>
            <a:endParaRPr lang="en-IN" sz="1600" dirty="0"/>
          </a:p>
          <a:p>
            <a:r>
              <a:rPr lang="en-IN" sz="1600" dirty="0"/>
              <a:t>&lt;p id="demo" style="</a:t>
            </a:r>
            <a:r>
              <a:rPr lang="en-IN" sz="1600" dirty="0" err="1"/>
              <a:t>display:none</a:t>
            </a:r>
            <a:r>
              <a:rPr lang="en-IN" sz="1600" dirty="0"/>
              <a:t>"&gt;Hello JavaScript!&lt;/p&gt;</a:t>
            </a:r>
          </a:p>
          <a:p>
            <a:endParaRPr lang="en-IN" sz="1600" dirty="0"/>
          </a:p>
          <a:p>
            <a:r>
              <a:rPr lang="en-IN" sz="1600" dirty="0"/>
              <a:t>&lt;button type="button" </a:t>
            </a:r>
            <a:r>
              <a:rPr lang="en-IN" sz="1600" dirty="0" err="1"/>
              <a:t>onclick</a:t>
            </a:r>
            <a:r>
              <a:rPr lang="en-IN" sz="1600" dirty="0"/>
              <a:t>="</a:t>
            </a:r>
            <a:r>
              <a:rPr lang="en-IN" sz="1600" dirty="0" err="1"/>
              <a:t>document.getElementById</a:t>
            </a:r>
            <a:r>
              <a:rPr lang="en-IN" sz="1600" dirty="0"/>
              <a:t>('demo').</a:t>
            </a:r>
            <a:r>
              <a:rPr lang="en-IN" sz="1600" dirty="0" err="1"/>
              <a:t>style.display</a:t>
            </a:r>
            <a:r>
              <a:rPr lang="en-IN" sz="1600" dirty="0"/>
              <a:t>='block'"&gt;Click Me!&lt;/button&gt;</a:t>
            </a:r>
          </a:p>
          <a:p>
            <a:endParaRPr lang="en-IN" sz="1600" dirty="0"/>
          </a:p>
          <a:p>
            <a:r>
              <a:rPr lang="en-IN" sz="1600" dirty="0"/>
              <a:t>&lt;/body&gt;</a:t>
            </a:r>
          </a:p>
          <a:p>
            <a:r>
              <a:rPr lang="en-IN" sz="16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44734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175" y="227112"/>
            <a:ext cx="44906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JavaScript Where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71475" y="1126092"/>
            <a:ext cx="78581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&lt;script&gt; Tag</a:t>
            </a:r>
          </a:p>
          <a:p>
            <a:r>
              <a:rPr lang="en-US" sz="2000" dirty="0"/>
              <a:t>In HTML, JavaScript code is inserted between &lt;script&gt; and &lt;/script&gt; tags.</a:t>
            </a:r>
            <a:endParaRPr lang="en-IN" sz="2000" dirty="0"/>
          </a:p>
        </p:txBody>
      </p:sp>
      <p:sp>
        <p:nvSpPr>
          <p:cNvPr id="6" name="Rectangle 5"/>
          <p:cNvSpPr/>
          <p:nvPr/>
        </p:nvSpPr>
        <p:spPr>
          <a:xfrm>
            <a:off x="374049" y="2262307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&lt;h2&gt;JavaScript in Body&lt;/h2&gt;</a:t>
            </a:r>
          </a:p>
          <a:p>
            <a:endParaRPr lang="en-IN" sz="1800" dirty="0"/>
          </a:p>
          <a:p>
            <a:r>
              <a:rPr lang="en-IN" sz="1800" dirty="0"/>
              <a:t>&lt;p id="demo"&gt;&lt;/p&gt;</a:t>
            </a:r>
          </a:p>
          <a:p>
            <a:endParaRPr lang="en-IN" sz="1800" dirty="0"/>
          </a:p>
          <a:p>
            <a:r>
              <a:rPr lang="en-IN" sz="1800" dirty="0"/>
              <a:t>&lt;script&gt;</a:t>
            </a:r>
          </a:p>
          <a:p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 "My First JavaScript";</a:t>
            </a:r>
          </a:p>
          <a:p>
            <a:r>
              <a:rPr lang="en-IN" sz="1800" dirty="0"/>
              <a:t>&lt;/script&gt;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3930219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099" y="303312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JavaScript Functions and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628" y="1425684"/>
            <a:ext cx="77943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JavaScript function is a block of JavaScript code, that can be executed when "called" for.</a:t>
            </a:r>
          </a:p>
          <a:p>
            <a:endParaRPr lang="en-US" sz="2400" dirty="0"/>
          </a:p>
          <a:p>
            <a:r>
              <a:rPr lang="en-US" sz="2400" dirty="0"/>
              <a:t>For example, a function can be called when an event occurs, like when the user clicks a button.</a:t>
            </a:r>
          </a:p>
          <a:p>
            <a:endParaRPr lang="en-US" sz="2400" dirty="0"/>
          </a:p>
          <a:p>
            <a:r>
              <a:rPr lang="en-US" sz="2400" dirty="0"/>
              <a:t>You will learn much more about functions and events in later chapters.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9139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61950" y="1202978"/>
            <a:ext cx="83629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JavaScript in &lt;head&gt; or &lt;body&gt;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can place any number of scripts in an HTML document</a:t>
            </a:r>
            <a:r>
              <a:rPr lang="en-US" sz="2800" dirty="0" smtClean="0"/>
              <a:t>.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Scripts can be placed in the &lt;body&gt;, or in the &lt;head&gt; section of an HTML page, or in both.</a:t>
            </a:r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523874" y="3765203"/>
            <a:ext cx="82010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JavaScript in &lt;head&gt;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this example, a JavaScript function is placed in the &lt;head&gt; section of an HTML page.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function is invoked (called) when a button is clicked: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48215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2425" y="914401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&lt;head&gt;</a:t>
            </a:r>
          </a:p>
          <a:p>
            <a:r>
              <a:rPr lang="en-IN" sz="1800" dirty="0"/>
              <a:t>&lt;script&gt;</a:t>
            </a:r>
          </a:p>
          <a:p>
            <a:r>
              <a:rPr lang="en-IN" sz="1800" dirty="0"/>
              <a:t>function </a:t>
            </a:r>
            <a:r>
              <a:rPr lang="en-IN" sz="1800" dirty="0" err="1"/>
              <a:t>myFunction</a:t>
            </a:r>
            <a:r>
              <a:rPr lang="en-IN" sz="1800" dirty="0"/>
              <a:t>() {</a:t>
            </a:r>
          </a:p>
          <a:p>
            <a:r>
              <a:rPr lang="en-IN" sz="1800" dirty="0"/>
              <a:t>  </a:t>
            </a:r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 "Paragraph changed.";</a:t>
            </a:r>
          </a:p>
          <a:p>
            <a:r>
              <a:rPr lang="en-IN" sz="1800" dirty="0"/>
              <a:t>}</a:t>
            </a:r>
          </a:p>
          <a:p>
            <a:r>
              <a:rPr lang="en-IN" sz="1800" dirty="0"/>
              <a:t>&lt;/script&gt;</a:t>
            </a:r>
          </a:p>
          <a:p>
            <a:r>
              <a:rPr lang="en-IN" sz="1800" dirty="0"/>
              <a:t>&lt;/head&gt;</a:t>
            </a:r>
          </a:p>
          <a:p>
            <a:r>
              <a:rPr lang="en-IN" sz="1800" dirty="0"/>
              <a:t>&lt;body&gt;</a:t>
            </a:r>
          </a:p>
          <a:p>
            <a:r>
              <a:rPr lang="en-IN" sz="1800" dirty="0"/>
              <a:t>&lt;h2&gt;Demo JavaScript in Head&lt;/h2&gt;</a:t>
            </a:r>
          </a:p>
          <a:p>
            <a:endParaRPr lang="en-IN" sz="1800" dirty="0"/>
          </a:p>
          <a:p>
            <a:r>
              <a:rPr lang="en-IN" sz="1800" dirty="0"/>
              <a:t>&lt;p id="demo"&gt;A Paragraph&lt;/p&gt;</a:t>
            </a:r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myFunction</a:t>
            </a:r>
            <a:r>
              <a:rPr lang="en-IN" sz="1800" dirty="0"/>
              <a:t>()"&gt;Try it&lt;/button&gt;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90747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5274" y="1145828"/>
            <a:ext cx="85058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JavaScript in &lt;body&gt;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this example, a JavaScript function is placed in the &lt;body&gt; section of an HTML page</a:t>
            </a:r>
            <a:r>
              <a:rPr lang="en-US" sz="2000" dirty="0" smtClean="0"/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function is invoked (called) when a button is clicked:</a:t>
            </a:r>
            <a:endParaRPr lang="en-IN" sz="2000" dirty="0"/>
          </a:p>
        </p:txBody>
      </p:sp>
      <p:sp>
        <p:nvSpPr>
          <p:cNvPr id="7" name="Rectangle 6"/>
          <p:cNvSpPr/>
          <p:nvPr/>
        </p:nvSpPr>
        <p:spPr>
          <a:xfrm>
            <a:off x="504825" y="2320270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&lt;h2&gt;Demo JavaScript in Body&lt;/h2&gt;</a:t>
            </a:r>
          </a:p>
          <a:p>
            <a:endParaRPr lang="en-IN" dirty="0"/>
          </a:p>
          <a:p>
            <a:r>
              <a:rPr lang="en-IN" dirty="0"/>
              <a:t>&lt;p id="demo"&gt;A Paragraph&lt;/p&gt;</a:t>
            </a:r>
          </a:p>
          <a:p>
            <a:endParaRPr lang="en-IN" dirty="0"/>
          </a:p>
          <a:p>
            <a:r>
              <a:rPr lang="en-IN" dirty="0"/>
              <a:t>&lt;button type="button" </a:t>
            </a:r>
            <a:r>
              <a:rPr lang="en-IN" dirty="0" err="1"/>
              <a:t>onclick</a:t>
            </a:r>
            <a:r>
              <a:rPr lang="en-IN" dirty="0"/>
              <a:t>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"Paragraph changed.";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36685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0525" y="783312"/>
            <a:ext cx="84010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Scripts </a:t>
            </a:r>
            <a:r>
              <a:rPr lang="en-US" sz="2400" dirty="0"/>
              <a:t>can also be placed in external files: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file: myScript.js</a:t>
            </a:r>
          </a:p>
          <a:p>
            <a:pPr lvl="8"/>
            <a:r>
              <a:rPr lang="en-US" sz="2400" dirty="0">
                <a:solidFill>
                  <a:srgbClr val="FF0000"/>
                </a:solidFill>
              </a:rPr>
              <a:t>function </a:t>
            </a:r>
            <a:r>
              <a:rPr lang="en-US" sz="2400" dirty="0" err="1">
                <a:solidFill>
                  <a:srgbClr val="FF0000"/>
                </a:solidFill>
              </a:rPr>
              <a:t>myFunction</a:t>
            </a:r>
            <a:r>
              <a:rPr lang="en-US" sz="2400" dirty="0">
                <a:solidFill>
                  <a:srgbClr val="FF0000"/>
                </a:solidFill>
              </a:rPr>
              <a:t>() {</a:t>
            </a:r>
          </a:p>
          <a:p>
            <a:pPr lvl="8"/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en-US" sz="2400" dirty="0" err="1">
                <a:solidFill>
                  <a:srgbClr val="FF0000"/>
                </a:solidFill>
              </a:rPr>
              <a:t>document.getElementById</a:t>
            </a:r>
            <a:r>
              <a:rPr lang="en-US" sz="2400" dirty="0">
                <a:solidFill>
                  <a:srgbClr val="FF0000"/>
                </a:solidFill>
              </a:rPr>
              <a:t>("demo").</a:t>
            </a:r>
            <a:r>
              <a:rPr lang="en-US" sz="2400" dirty="0" err="1">
                <a:solidFill>
                  <a:srgbClr val="FF0000"/>
                </a:solidFill>
              </a:rPr>
              <a:t>innerHTML</a:t>
            </a:r>
            <a:r>
              <a:rPr lang="en-US" sz="2400" dirty="0">
                <a:solidFill>
                  <a:srgbClr val="FF0000"/>
                </a:solidFill>
              </a:rPr>
              <a:t> = "Paragraph changed.";</a:t>
            </a:r>
          </a:p>
          <a:p>
            <a:pPr lvl="8"/>
            <a:r>
              <a:rPr lang="en-US" sz="2400" dirty="0">
                <a:solidFill>
                  <a:srgbClr val="FF0000"/>
                </a:solidFill>
              </a:rPr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scripts are practical when the same code is used in many different web pages.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JavaScript files have the file extension .</a:t>
            </a:r>
            <a:r>
              <a:rPr lang="en-US" sz="2400" dirty="0" err="1"/>
              <a:t>js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use an external script, put the name of the script file in the </a:t>
            </a:r>
            <a:r>
              <a:rPr lang="en-US" sz="2400" dirty="0" err="1"/>
              <a:t>src</a:t>
            </a:r>
            <a:r>
              <a:rPr lang="en-US" sz="2400" dirty="0"/>
              <a:t> (source) attribute of a &lt;script&gt; tag: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291704" y="198537"/>
            <a:ext cx="39885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External JavaScript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9092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919966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dirty="0"/>
              <a:t>&lt;!DOCTYPE html&gt;</a:t>
            </a:r>
          </a:p>
          <a:p>
            <a:r>
              <a:rPr lang="en-IN" sz="1800" dirty="0"/>
              <a:t>&lt;html&gt;</a:t>
            </a:r>
          </a:p>
          <a:p>
            <a:r>
              <a:rPr lang="en-IN" sz="1800" dirty="0"/>
              <a:t>&lt;body&gt;</a:t>
            </a:r>
          </a:p>
          <a:p>
            <a:endParaRPr lang="en-IN" sz="1800" dirty="0"/>
          </a:p>
          <a:p>
            <a:r>
              <a:rPr lang="en-IN" sz="1800" dirty="0"/>
              <a:t>&lt;h2&gt;Demo External JavaScript&lt;/h2&gt;</a:t>
            </a:r>
          </a:p>
          <a:p>
            <a:endParaRPr lang="en-IN" sz="1800" dirty="0"/>
          </a:p>
          <a:p>
            <a:r>
              <a:rPr lang="en-IN" sz="1800" dirty="0"/>
              <a:t>&lt;p id="demo"&gt;A Paragraph.&lt;/p&gt;</a:t>
            </a:r>
          </a:p>
          <a:p>
            <a:endParaRPr lang="en-IN" sz="1800" dirty="0"/>
          </a:p>
          <a:p>
            <a:r>
              <a:rPr lang="en-IN" sz="1800" dirty="0"/>
              <a:t>&lt;button type="button" </a:t>
            </a:r>
            <a:r>
              <a:rPr lang="en-IN" sz="1800" dirty="0" err="1"/>
              <a:t>onclick</a:t>
            </a:r>
            <a:r>
              <a:rPr lang="en-IN" sz="1800" dirty="0"/>
              <a:t>="</a:t>
            </a:r>
            <a:r>
              <a:rPr lang="en-IN" sz="1800" dirty="0" err="1"/>
              <a:t>myFunction</a:t>
            </a:r>
            <a:r>
              <a:rPr lang="en-IN" sz="1800" dirty="0"/>
              <a:t>()"&gt;Try it&lt;/button&gt;</a:t>
            </a:r>
          </a:p>
          <a:p>
            <a:endParaRPr lang="en-IN" sz="1800" dirty="0"/>
          </a:p>
          <a:p>
            <a:r>
              <a:rPr lang="en-IN" sz="1800" dirty="0"/>
              <a:t>&lt;p&gt;This example links to "myScript.js".&lt;/p&gt;</a:t>
            </a:r>
          </a:p>
          <a:p>
            <a:r>
              <a:rPr lang="en-IN" sz="1800" dirty="0"/>
              <a:t>&lt;p&gt;(</a:t>
            </a:r>
            <a:r>
              <a:rPr lang="en-IN" sz="1800" dirty="0" err="1"/>
              <a:t>myFunction</a:t>
            </a:r>
            <a:r>
              <a:rPr lang="en-IN" sz="1800" dirty="0"/>
              <a:t> is stored in "myScript.js")&lt;/p&gt;</a:t>
            </a:r>
          </a:p>
          <a:p>
            <a:endParaRPr lang="en-IN" sz="1800" dirty="0"/>
          </a:p>
          <a:p>
            <a:r>
              <a:rPr lang="en-IN" sz="1800" dirty="0"/>
              <a:t>&lt;script </a:t>
            </a:r>
            <a:r>
              <a:rPr lang="en-IN" sz="1800" dirty="0" err="1"/>
              <a:t>src</a:t>
            </a:r>
            <a:r>
              <a:rPr lang="en-IN" sz="1800" dirty="0"/>
              <a:t>="myScript.js"&gt;&lt;/script&gt;</a:t>
            </a:r>
          </a:p>
          <a:p>
            <a:endParaRPr lang="en-IN" sz="1800" dirty="0"/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496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4825" y="989588"/>
            <a:ext cx="809625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can place an external script reference in &lt;head&gt; or &lt;body&gt; as you like.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script will behave as if it was located exactly where the &lt;script&gt; tag is located.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External scripts cannot contain &lt;script&gt; tags.</a:t>
            </a:r>
          </a:p>
          <a:p>
            <a:endParaRPr lang="en-US" sz="2000" dirty="0"/>
          </a:p>
          <a:p>
            <a:r>
              <a:rPr lang="en-US" sz="2000" b="1" dirty="0"/>
              <a:t>External JavaScript Advantages</a:t>
            </a:r>
          </a:p>
          <a:p>
            <a:r>
              <a:rPr lang="en-US" sz="2000" dirty="0"/>
              <a:t>Placing scripts in external files has some advantages</a:t>
            </a:r>
            <a:r>
              <a:rPr lang="en-US" sz="2000" dirty="0" smtClean="0"/>
              <a:t>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separates HTML and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makes HTML and JavaScript easier to read and maintain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Cached JavaScript files can speed up page </a:t>
            </a:r>
            <a:r>
              <a:rPr lang="en-US" sz="2000" dirty="0" smtClean="0"/>
              <a:t>loads</a:t>
            </a:r>
          </a:p>
          <a:p>
            <a:endParaRPr lang="en-US" sz="2000" dirty="0"/>
          </a:p>
          <a:p>
            <a:r>
              <a:rPr lang="en-US" sz="2000" dirty="0"/>
              <a:t>To add several script files to one page  - use several script tags:</a:t>
            </a:r>
            <a:endParaRPr lang="en-IN" sz="2000" dirty="0"/>
          </a:p>
        </p:txBody>
      </p:sp>
      <p:sp>
        <p:nvSpPr>
          <p:cNvPr id="7" name="Rectangle 6"/>
          <p:cNvSpPr/>
          <p:nvPr/>
        </p:nvSpPr>
        <p:spPr>
          <a:xfrm>
            <a:off x="581024" y="5872490"/>
            <a:ext cx="7191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script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src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="myScript1.js"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/script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script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src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="myScript2.js"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&gt;&lt;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/script</a:t>
            </a:r>
            <a:r>
              <a:rPr lang="en-IN" sz="1800" dirty="0">
                <a:solidFill>
                  <a:srgbClr val="999999"/>
                </a:solidFill>
                <a:latin typeface="Consolas" panose="020B0609020204030204" pitchFamily="49" charset="0"/>
              </a:rPr>
              <a:t>&gt;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40158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External </a:t>
            </a:r>
            <a:r>
              <a:rPr lang="en-IN" dirty="0"/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399" y="914401"/>
            <a:ext cx="86582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+mn-lt"/>
              </a:rPr>
              <a:t>An external script can be referenced in 3 different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With a full URL (a full web address)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With a file path (like /</a:t>
            </a:r>
            <a:r>
              <a:rPr lang="en-US" sz="1800" dirty="0" err="1">
                <a:latin typeface="+mn-lt"/>
              </a:rPr>
              <a:t>js</a:t>
            </a:r>
            <a:r>
              <a:rPr lang="en-US" sz="1800" dirty="0">
                <a:latin typeface="+mn-lt"/>
              </a:rPr>
              <a:t>/)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Without any path</a:t>
            </a:r>
          </a:p>
          <a:p>
            <a:r>
              <a:rPr lang="en-US" sz="1800" dirty="0">
                <a:latin typeface="+mn-lt"/>
              </a:rPr>
              <a:t>This example uses a </a:t>
            </a:r>
            <a:r>
              <a:rPr lang="en-US" sz="1800" b="1" dirty="0">
                <a:latin typeface="+mn-lt"/>
              </a:rPr>
              <a:t>full URL</a:t>
            </a:r>
            <a:r>
              <a:rPr lang="en-US" sz="1800" dirty="0">
                <a:latin typeface="+mn-lt"/>
              </a:rPr>
              <a:t> to link to myScript.js: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49" y="2391729"/>
            <a:ext cx="642937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&lt;h2&gt;External JavaScript&lt;/h2&gt;</a:t>
            </a:r>
          </a:p>
          <a:p>
            <a:endParaRPr lang="en-IN" dirty="0"/>
          </a:p>
          <a:p>
            <a:r>
              <a:rPr lang="en-IN" dirty="0"/>
              <a:t>&lt;p id="demo"&gt;A Paragraph.&lt;/p&gt;</a:t>
            </a:r>
          </a:p>
          <a:p>
            <a:endParaRPr lang="en-IN" dirty="0"/>
          </a:p>
          <a:p>
            <a:r>
              <a:rPr lang="en-IN" dirty="0"/>
              <a:t>&lt;button type="button" </a:t>
            </a:r>
            <a:r>
              <a:rPr lang="en-IN" dirty="0" err="1"/>
              <a:t>onclick</a:t>
            </a:r>
            <a:r>
              <a:rPr lang="en-IN" dirty="0"/>
              <a:t>="</a:t>
            </a:r>
            <a:r>
              <a:rPr lang="en-IN" dirty="0" err="1"/>
              <a:t>myFunction</a:t>
            </a:r>
            <a:r>
              <a:rPr lang="en-IN" dirty="0"/>
              <a:t>()"&gt;Click Me&lt;/button&gt;</a:t>
            </a:r>
          </a:p>
          <a:p>
            <a:endParaRPr lang="en-IN" dirty="0"/>
          </a:p>
          <a:p>
            <a:r>
              <a:rPr lang="en-IN" dirty="0"/>
              <a:t>&lt;p&gt;This example uses a full web URL to link to "myScript.js".&lt;/p&gt;</a:t>
            </a:r>
          </a:p>
          <a:p>
            <a:r>
              <a:rPr lang="en-IN" dirty="0"/>
              <a:t>&lt;p&gt;(</a:t>
            </a:r>
            <a:r>
              <a:rPr lang="en-IN" dirty="0" err="1"/>
              <a:t>myFunction</a:t>
            </a:r>
            <a:r>
              <a:rPr lang="en-IN" dirty="0"/>
              <a:t> is stored in "myScript.js")&lt;/p&gt;</a:t>
            </a:r>
          </a:p>
          <a:p>
            <a:endParaRPr lang="en-IN" dirty="0"/>
          </a:p>
          <a:p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="https://www.w3schools.com/js/myScript.js"&gt;&lt;/script&gt;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32638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66BB39-346F-408B-9313-1E5E28285016}"/>
              </a:ext>
            </a:extLst>
          </p:cNvPr>
          <p:cNvSpPr txBox="1"/>
          <p:nvPr/>
        </p:nvSpPr>
        <p:spPr>
          <a:xfrm>
            <a:off x="436418" y="1160400"/>
            <a:ext cx="8104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This example uses a </a:t>
            </a:r>
            <a:r>
              <a:rPr lang="en-US" sz="1800" b="1" dirty="0"/>
              <a:t>file path</a:t>
            </a:r>
            <a:r>
              <a:rPr lang="en-US" sz="1800" dirty="0"/>
              <a:t> to link to myScript.js:</a:t>
            </a:r>
            <a:r>
              <a:rPr lang="en-IN" sz="1800" dirty="0" smtClean="0"/>
              <a:t>.</a:t>
            </a:r>
            <a:endParaRPr lang="en-IN" sz="1800" dirty="0"/>
          </a:p>
        </p:txBody>
      </p:sp>
      <p:sp>
        <p:nvSpPr>
          <p:cNvPr id="2" name="Rectangle 1"/>
          <p:cNvSpPr/>
          <p:nvPr/>
        </p:nvSpPr>
        <p:spPr>
          <a:xfrm>
            <a:off x="514350" y="2107645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&lt;h2&gt;External JavaScript&lt;/h2&gt;</a:t>
            </a:r>
          </a:p>
          <a:p>
            <a:endParaRPr lang="en-IN" dirty="0"/>
          </a:p>
          <a:p>
            <a:r>
              <a:rPr lang="en-IN" dirty="0"/>
              <a:t>&lt;p id="demo"&gt;A Paragraph.&lt;/p&gt;</a:t>
            </a:r>
          </a:p>
          <a:p>
            <a:endParaRPr lang="en-IN" dirty="0"/>
          </a:p>
          <a:p>
            <a:r>
              <a:rPr lang="en-IN" dirty="0"/>
              <a:t>&lt;button type="button" </a:t>
            </a:r>
            <a:r>
              <a:rPr lang="en-IN" dirty="0" err="1"/>
              <a:t>onclick</a:t>
            </a:r>
            <a:r>
              <a:rPr lang="en-IN" dirty="0"/>
              <a:t>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&lt;p&gt;This example uses a file path to link to "myScript.js".&lt;/p&gt;</a:t>
            </a:r>
          </a:p>
          <a:p>
            <a:r>
              <a:rPr lang="en-IN" dirty="0"/>
              <a:t>&lt;p&gt;(</a:t>
            </a:r>
            <a:r>
              <a:rPr lang="en-IN" dirty="0" err="1"/>
              <a:t>myFunction</a:t>
            </a:r>
            <a:r>
              <a:rPr lang="en-IN" dirty="0"/>
              <a:t> is stored in "myScript.js")&lt;/p&gt;</a:t>
            </a:r>
          </a:p>
          <a:p>
            <a:endParaRPr lang="en-IN" dirty="0"/>
          </a:p>
          <a:p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="/</a:t>
            </a:r>
            <a:r>
              <a:rPr lang="en-IN" dirty="0" err="1"/>
              <a:t>js</a:t>
            </a:r>
            <a:r>
              <a:rPr lang="en-IN" dirty="0"/>
              <a:t>/myScript.js"&gt;&lt;/script&gt;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55054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088" y="1208187"/>
            <a:ext cx="56669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This example uses no path to link to myScript.js:</a:t>
            </a:r>
            <a:endParaRPr lang="en-IN" sz="20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6250" y="1939141"/>
            <a:ext cx="68961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&lt;h2&gt;Demo External JavaScript&lt;/h2&gt;</a:t>
            </a:r>
          </a:p>
          <a:p>
            <a:endParaRPr lang="en-IN" dirty="0"/>
          </a:p>
          <a:p>
            <a:r>
              <a:rPr lang="en-IN" dirty="0"/>
              <a:t>&lt;p id="demo"&gt;A Paragraph.&lt;/p&gt;</a:t>
            </a:r>
          </a:p>
          <a:p>
            <a:endParaRPr lang="en-IN" dirty="0"/>
          </a:p>
          <a:p>
            <a:r>
              <a:rPr lang="en-IN" dirty="0"/>
              <a:t>&lt;button type="button" </a:t>
            </a:r>
            <a:r>
              <a:rPr lang="en-IN" dirty="0" err="1"/>
              <a:t>onclick</a:t>
            </a:r>
            <a:r>
              <a:rPr lang="en-IN" dirty="0"/>
              <a:t>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&lt;p&gt;This example links to "myScript.js".&lt;/p&gt;</a:t>
            </a:r>
          </a:p>
          <a:p>
            <a:r>
              <a:rPr lang="en-IN" dirty="0"/>
              <a:t>&lt;p&gt;(</a:t>
            </a:r>
            <a:r>
              <a:rPr lang="en-IN" dirty="0" err="1"/>
              <a:t>myFunction</a:t>
            </a:r>
            <a:r>
              <a:rPr lang="en-IN" dirty="0"/>
              <a:t> is stored in "myScript.js")&lt;/p&gt;</a:t>
            </a:r>
          </a:p>
          <a:p>
            <a:endParaRPr lang="en-IN" dirty="0"/>
          </a:p>
          <a:p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="myScript.js"&gt;&lt;/script&gt;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5094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857500"/>
            <a:ext cx="8153400" cy="7620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JavaScript Output</a:t>
            </a:r>
          </a:p>
          <a:p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06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9075" y="1023596"/>
            <a:ext cx="8677275" cy="48679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Display Possibilities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can "display" data in different ways: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an HTML element, using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innerHTML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or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innerText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the HTML output using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document.write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an alert box, using 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window.alert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Writing into the browser console,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console.log()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5324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7649"/>
            <a:ext cx="5486400" cy="666751"/>
          </a:xfrm>
        </p:spPr>
        <p:txBody>
          <a:bodyPr/>
          <a:lstStyle/>
          <a:p>
            <a:pPr lvl="0" algn="l"/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Using </a:t>
            </a:r>
            <a:r>
              <a:rPr lang="en-US" altLang="en-US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innerHTML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850" y="914400"/>
            <a:ext cx="8562975" cy="529884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>To access an HTML element, you can use the </a:t>
            </a:r>
            <a:r>
              <a:rPr lang="en-US" altLang="en-US" sz="1600" dirty="0" err="1"/>
              <a:t>document.getElementById</a:t>
            </a:r>
            <a:r>
              <a:rPr lang="en-US" altLang="en-US" sz="1600" dirty="0"/>
              <a:t>(id) method.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Use the id attribute to identify the HTML element.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Then use the </a:t>
            </a:r>
            <a:r>
              <a:rPr lang="en-US" altLang="en-US" sz="1600" dirty="0" err="1"/>
              <a:t>innerHTML</a:t>
            </a:r>
            <a:r>
              <a:rPr lang="en-US" altLang="en-US" sz="1600" dirty="0"/>
              <a:t> property to change the HTML content of the HTML element: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>Example</a:t>
            </a:r>
          </a:p>
          <a:p>
            <a:pPr lvl="0">
              <a:buClrTx/>
            </a:pPr>
            <a:r>
              <a:rPr lang="en-US" altLang="en-US" sz="1600" dirty="0"/>
              <a:t>&lt;!DOCTYPE html&gt;</a:t>
            </a:r>
            <a:br>
              <a:rPr lang="en-US" altLang="en-US" sz="1600" dirty="0"/>
            </a:br>
            <a:r>
              <a:rPr lang="en-US" altLang="en-US" sz="1600" dirty="0"/>
              <a:t>&lt;html&gt;</a:t>
            </a:r>
            <a:br>
              <a:rPr lang="en-US" altLang="en-US" sz="1600" dirty="0"/>
            </a:br>
            <a:r>
              <a:rPr lang="en-US" altLang="en-US" sz="1600" dirty="0"/>
              <a:t>&lt;body&gt;</a:t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&lt;h1&gt;My First Web Page&lt;/h1&gt;</a:t>
            </a:r>
            <a:br>
              <a:rPr lang="en-US" altLang="en-US" sz="1600" dirty="0"/>
            </a:br>
            <a:r>
              <a:rPr lang="en-US" altLang="en-US" sz="1600" dirty="0"/>
              <a:t>&lt;p&gt;My First Paragraph&lt;/p&gt;</a:t>
            </a:r>
            <a:br>
              <a:rPr lang="en-US" altLang="en-US" sz="1600" dirty="0"/>
            </a:br>
            <a:r>
              <a:rPr lang="en-US" altLang="en-US" sz="1600" dirty="0"/>
              <a:t>Using </a:t>
            </a:r>
            <a:r>
              <a:rPr lang="en-US" altLang="en-US" sz="1600" dirty="0" err="1"/>
              <a:t>innerHTML</a:t>
            </a: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&lt;p id="demo"&gt;&lt;/p&gt;</a:t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&lt;script&gt;</a:t>
            </a:r>
            <a:br>
              <a:rPr lang="en-US" altLang="en-US" sz="1600" dirty="0"/>
            </a:br>
            <a:r>
              <a:rPr lang="en-US" altLang="en-US" sz="1600" dirty="0" err="1"/>
              <a:t>document.getElementById</a:t>
            </a:r>
            <a:r>
              <a:rPr lang="en-US" altLang="en-US" sz="1600" dirty="0"/>
              <a:t>("demo").</a:t>
            </a:r>
            <a:r>
              <a:rPr lang="en-US" altLang="en-US" sz="1600" dirty="0" err="1"/>
              <a:t>innerHTML</a:t>
            </a:r>
            <a:r>
              <a:rPr lang="en-US" altLang="en-US" sz="1600" dirty="0"/>
              <a:t> = "&lt;h2&gt;Hello World&lt;/h2&gt;";</a:t>
            </a:r>
            <a:br>
              <a:rPr lang="en-US" altLang="en-US" sz="1600" dirty="0"/>
            </a:br>
            <a:r>
              <a:rPr lang="en-US" altLang="en-US" sz="1600" dirty="0"/>
              <a:t>&lt;/script&gt;</a:t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>&lt;/body&gt;</a:t>
            </a:r>
            <a:br>
              <a:rPr lang="en-US" altLang="en-US" sz="1600" dirty="0"/>
            </a:br>
            <a:r>
              <a:rPr lang="en-US" altLang="en-US" sz="16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33118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9550" y="1178198"/>
            <a:ext cx="8639175" cy="480640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To access an HTML element, use the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document.getElementById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(id)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method.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Then use the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innerText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property to change the inner text of the HTML element: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h1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Web Page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/h1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Paragraph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Segoe UI" panose="020B0502040204020203" pitchFamily="34" charset="0"/>
              </a:rPr>
              <a:t> 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+mj-lt"/>
                <a:cs typeface="Segoe UI" panose="020B0502040204020203" pitchFamily="34" charset="0"/>
              </a:rPr>
              <a:t>="demo"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script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document.getElementById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Segoe UI" panose="020B0502040204020203" pitchFamily="34" charset="0"/>
              </a:rPr>
              <a:t>"demo"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innerText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=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Segoe UI" panose="020B0502040204020203" pitchFamily="34" charset="0"/>
              </a:rPr>
              <a:t>"Hello World"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/script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611" y="150912"/>
            <a:ext cx="2901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latin typeface="+mj-lt"/>
                <a:cs typeface="Segoe UI" panose="020B0502040204020203" pitchFamily="34" charset="0"/>
              </a:rPr>
              <a:t>Using </a:t>
            </a:r>
            <a:r>
              <a:rPr lang="en-US" altLang="en-US" sz="2800" b="1" dirty="0" err="1">
                <a:latin typeface="+mj-lt"/>
                <a:cs typeface="Segoe UI" panose="020B0502040204020203" pitchFamily="34" charset="0"/>
              </a:rPr>
              <a:t>innerText</a:t>
            </a:r>
            <a:endParaRPr lang="en-US" altLang="en-US" sz="2800" b="1" dirty="0"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20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6263" y="284262"/>
            <a:ext cx="4179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Using </a:t>
            </a:r>
            <a:r>
              <a:rPr lang="en-IN" sz="2800" b="1" dirty="0" err="1">
                <a:latin typeface="+mj-lt"/>
              </a:rPr>
              <a:t>document.write</a:t>
            </a:r>
            <a:r>
              <a:rPr lang="en-IN" sz="2800" b="1" dirty="0">
                <a:latin typeface="+mj-lt"/>
              </a:rPr>
              <a:t>()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3825" y="1196534"/>
            <a:ext cx="8343900" cy="456018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For testing purposes, it is convenient to use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document.write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Web Page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paragraph.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script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document.write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+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6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/script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8143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0024" y="1138565"/>
            <a:ext cx="84867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Using </a:t>
            </a:r>
            <a:r>
              <a:rPr lang="en-US" sz="2400" dirty="0" err="1">
                <a:latin typeface="+mj-lt"/>
              </a:rPr>
              <a:t>document.write</a:t>
            </a:r>
            <a:r>
              <a:rPr lang="en-US" sz="2400" dirty="0">
                <a:latin typeface="+mj-lt"/>
              </a:rPr>
              <a:t>() after an HTML document is loaded, will </a:t>
            </a:r>
            <a:r>
              <a:rPr lang="en-US" sz="2400" b="1" dirty="0">
                <a:latin typeface="+mj-lt"/>
              </a:rPr>
              <a:t>delete all existing HTML</a:t>
            </a:r>
            <a:r>
              <a:rPr lang="en-US" sz="2400" dirty="0">
                <a:latin typeface="+mj-lt"/>
              </a:rPr>
              <a:t>:</a:t>
            </a:r>
            <a:endParaRPr lang="en-IN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3875" y="2398604"/>
            <a:ext cx="4572000" cy="38472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708090"/>
                </a:solidFill>
                <a:latin typeface="+mj-lt"/>
              </a:rPr>
              <a:t>&lt;!DOCTYPE html&gt;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html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body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h1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>My First Web Page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/h1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p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>My first paragraph.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/p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button</a:t>
            </a:r>
            <a:r>
              <a:rPr lang="en-US" sz="1800" dirty="0">
                <a:solidFill>
                  <a:srgbClr val="008000"/>
                </a:solidFill>
                <a:latin typeface="+mj-lt"/>
              </a:rPr>
              <a:t> type</a:t>
            </a:r>
            <a:r>
              <a:rPr lang="en-US" sz="1800" dirty="0">
                <a:solidFill>
                  <a:srgbClr val="005CC5"/>
                </a:solidFill>
                <a:latin typeface="+mj-lt"/>
              </a:rPr>
              <a:t>="button"</a:t>
            </a:r>
            <a:r>
              <a:rPr lang="en-US" sz="1800" dirty="0">
                <a:solidFill>
                  <a:srgbClr val="008000"/>
                </a:solidFill>
                <a:latin typeface="+mj-lt"/>
              </a:rPr>
              <a:t> </a:t>
            </a:r>
            <a:r>
              <a:rPr lang="en-US" sz="1800" dirty="0" err="1">
                <a:solidFill>
                  <a:srgbClr val="008000"/>
                </a:solidFill>
                <a:latin typeface="+mj-lt"/>
              </a:rPr>
              <a:t>onclick</a:t>
            </a:r>
            <a:r>
              <a:rPr lang="en-US" sz="1800" dirty="0">
                <a:solidFill>
                  <a:srgbClr val="005CC5"/>
                </a:solidFill>
                <a:latin typeface="+mj-lt"/>
              </a:rPr>
              <a:t>="</a:t>
            </a:r>
            <a:r>
              <a:rPr lang="en-US" sz="1800" dirty="0" err="1">
                <a:solidFill>
                  <a:srgbClr val="005CC5"/>
                </a:solidFill>
                <a:latin typeface="+mj-lt"/>
              </a:rPr>
              <a:t>document.write</a:t>
            </a:r>
            <a:r>
              <a:rPr lang="en-US" sz="1800" dirty="0">
                <a:solidFill>
                  <a:srgbClr val="005CC5"/>
                </a:solidFill>
                <a:latin typeface="+mj-lt"/>
              </a:rPr>
              <a:t>(5 + 6)"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>Try it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/button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/body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US" sz="1800" dirty="0">
                <a:latin typeface="+mj-lt"/>
              </a:rPr>
              <a:t/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US" sz="1800" dirty="0">
                <a:solidFill>
                  <a:srgbClr val="990055"/>
                </a:solidFill>
                <a:latin typeface="+mj-lt"/>
              </a:rPr>
              <a:t>/html</a:t>
            </a:r>
            <a:r>
              <a:rPr lang="en-US" sz="1800" dirty="0">
                <a:solidFill>
                  <a:srgbClr val="999999"/>
                </a:solidFill>
                <a:latin typeface="+mj-lt"/>
              </a:rPr>
              <a:t>&gt;</a:t>
            </a:r>
            <a:endParaRPr lang="en-US" sz="1800" dirty="0">
              <a:latin typeface="+mj-lt"/>
            </a:endParaRPr>
          </a:p>
          <a:p>
            <a:r>
              <a:rPr lang="en-US" dirty="0">
                <a:latin typeface="Segoe UI" panose="020B0502040204020203" pitchFamily="34" charset="0"/>
              </a:rPr>
              <a:t/>
            </a:r>
            <a:br>
              <a:rPr lang="en-US" dirty="0">
                <a:latin typeface="Segoe UI" panose="020B0502040204020203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82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9549"/>
            <a:ext cx="5486400" cy="704851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</a:rPr>
              <a:t>Using </a:t>
            </a:r>
            <a:r>
              <a:rPr lang="en-IN" dirty="0" err="1">
                <a:latin typeface="Segoe UI" panose="020B0502040204020203" pitchFamily="34" charset="0"/>
              </a:rPr>
              <a:t>window.alert</a:t>
            </a:r>
            <a:r>
              <a:rPr lang="en-IN" dirty="0">
                <a:latin typeface="Segoe UI" panose="020B0502040204020203" pitchFamily="34" charset="0"/>
              </a:rPr>
              <a:t>()</a:t>
            </a:r>
            <a:br>
              <a:rPr lang="en-IN" dirty="0"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2900" y="906601"/>
            <a:ext cx="8153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+mj-lt"/>
              </a:rPr>
              <a:t>You </a:t>
            </a:r>
            <a:r>
              <a:rPr lang="en-IN" sz="2400" dirty="0">
                <a:latin typeface="+mj-lt"/>
              </a:rPr>
              <a:t>can use an alert box to display data:</a:t>
            </a:r>
          </a:p>
          <a:p>
            <a:r>
              <a:rPr lang="en-IN" sz="2400" dirty="0">
                <a:latin typeface="+mj-lt"/>
              </a:rPr>
              <a:t>Example</a:t>
            </a:r>
          </a:p>
          <a:p>
            <a:r>
              <a:rPr lang="en-IN" sz="2400" dirty="0">
                <a:solidFill>
                  <a:srgbClr val="708090"/>
                </a:solidFill>
                <a:latin typeface="+mj-lt"/>
              </a:rPr>
              <a:t>&lt;!DOCTYPE html&gt;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html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body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h1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>My First Web Page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/h1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p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>My first paragraph.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/p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script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 err="1">
                <a:latin typeface="+mj-lt"/>
              </a:rPr>
              <a:t>window.alert</a:t>
            </a:r>
            <a:r>
              <a:rPr lang="en-IN" sz="2400" dirty="0">
                <a:latin typeface="+mj-lt"/>
              </a:rPr>
              <a:t>(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5</a:t>
            </a:r>
            <a:r>
              <a:rPr lang="en-IN" sz="2400" dirty="0">
                <a:latin typeface="+mj-lt"/>
              </a:rPr>
              <a:t> + 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6</a:t>
            </a:r>
            <a:r>
              <a:rPr lang="en-IN" sz="2400" dirty="0">
                <a:latin typeface="+mj-lt"/>
              </a:rPr>
              <a:t>);</a:t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/script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/body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r>
              <a:rPr lang="en-IN" sz="2400" dirty="0">
                <a:latin typeface="+mj-lt"/>
              </a:rPr>
              <a:t/>
            </a:r>
            <a:br>
              <a:rPr lang="en-IN" sz="2400" dirty="0">
                <a:latin typeface="+mj-lt"/>
              </a:rPr>
            </a:br>
            <a:r>
              <a:rPr lang="en-IN" sz="2400" dirty="0">
                <a:solidFill>
                  <a:srgbClr val="999999"/>
                </a:solidFill>
                <a:latin typeface="+mj-lt"/>
              </a:rPr>
              <a:t>&lt;</a:t>
            </a:r>
            <a:r>
              <a:rPr lang="en-IN" sz="2400" dirty="0">
                <a:solidFill>
                  <a:srgbClr val="990055"/>
                </a:solidFill>
                <a:latin typeface="+mj-lt"/>
              </a:rPr>
              <a:t>/html</a:t>
            </a:r>
            <a:r>
              <a:rPr lang="en-IN" sz="2400" dirty="0">
                <a:solidFill>
                  <a:srgbClr val="999999"/>
                </a:solidFill>
                <a:latin typeface="+mj-lt"/>
              </a:rPr>
              <a:t>&gt;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2515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6700" y="1114410"/>
            <a:ext cx="8543925" cy="539117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You can skip the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keyword.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In JavaScript, the window object is the global scope object. This means that variables, properties, and methods by default belong to the window object. This also means that specifying the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keyword is optional: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Web Page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My first paragraph.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script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alert(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+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6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/script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156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725" y="457199"/>
            <a:ext cx="6477000" cy="561975"/>
          </a:xfrm>
        </p:spPr>
        <p:txBody>
          <a:bodyPr/>
          <a:lstStyle/>
          <a:p>
            <a:pPr lvl="0" algn="l"/>
            <a:r>
              <a:rPr lang="en-US" altLang="en-US" b="1" dirty="0">
                <a:solidFill>
                  <a:srgbClr val="000000"/>
                </a:solidFill>
                <a:latin typeface="+mj-lt"/>
                <a:cs typeface="Segoe UI" panose="020B0502040204020203" pitchFamily="34" charset="0"/>
              </a:rPr>
              <a:t>Using console.log()</a:t>
            </a:r>
            <a:br>
              <a:rPr lang="en-US" altLang="en-US" b="1" dirty="0">
                <a:solidFill>
                  <a:srgbClr val="000000"/>
                </a:solidFill>
                <a:latin typeface="+mj-lt"/>
                <a:cs typeface="Segoe UI" panose="020B0502040204020203" pitchFamily="34" charset="0"/>
              </a:rPr>
            </a:br>
            <a:endParaRPr lang="en-IN" b="1" dirty="0">
              <a:latin typeface="+mj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7175" y="865286"/>
            <a:ext cx="8648700" cy="5606623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For debugging purposes, you can call the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console.log()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method in the browser to display data.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You will learn more about debugging in a later chapter.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script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console.log(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5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+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6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);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/script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30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0525" y="1216358"/>
            <a:ext cx="7877175" cy="400618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does not have any print object or print methods.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You cannot access output devices from JavaScript.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 only exception is that you can call the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window.print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()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method in the browser to print the content of the current window.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+mj-lt"/>
                <a:cs typeface="Segoe UI" panose="020B0502040204020203" pitchFamily="34" charset="0"/>
              </a:rPr>
              <a:t>&lt;!DOCTYPE html&gt;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body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button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Segoe UI" panose="020B050204020402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+mj-lt"/>
                <a:cs typeface="Segoe UI" panose="020B0502040204020203" pitchFamily="34" charset="0"/>
              </a:rPr>
              <a:t>onclick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+mj-lt"/>
                <a:cs typeface="Segoe UI" panose="020B0502040204020203" pitchFamily="34" charset="0"/>
              </a:rPr>
              <a:t>="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5CC5"/>
                </a:solidFill>
                <a:effectLst/>
                <a:latin typeface="+mj-lt"/>
                <a:cs typeface="Segoe UI" panose="020B0502040204020203" pitchFamily="34" charset="0"/>
              </a:rPr>
              <a:t>window.print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+mj-lt"/>
                <a:cs typeface="Segoe UI" panose="020B0502040204020203" pitchFamily="34" charset="0"/>
              </a:rPr>
              <a:t>()"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Print this page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/button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/body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&lt;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+mj-lt"/>
                <a:cs typeface="Segoe UI" panose="020B0502040204020203" pitchFamily="34" charset="0"/>
              </a:rPr>
              <a:t>/html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+mj-lt"/>
                <a:cs typeface="Segoe UI" panose="020B0502040204020203" pitchFamily="34" charset="0"/>
              </a:rPr>
              <a:t>&gt;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9189" y="322362"/>
            <a:ext cx="2528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+mj-lt"/>
                <a:cs typeface="Segoe UI" panose="020B0502040204020203" pitchFamily="34" charset="0"/>
              </a:rPr>
              <a:t>JavaScript Print</a:t>
            </a:r>
          </a:p>
        </p:txBody>
      </p:sp>
    </p:spTree>
    <p:extLst>
      <p:ext uri="{BB962C8B-B14F-4D97-AF65-F5344CB8AC3E}">
        <p14:creationId xmlns:p14="http://schemas.microsoft.com/office/powerpoint/2010/main" val="544002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1100" y="2941737"/>
            <a:ext cx="4160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+mj-lt"/>
              </a:rPr>
              <a:t>JavaScript Syntax</a:t>
            </a:r>
          </a:p>
        </p:txBody>
      </p:sp>
    </p:spTree>
    <p:extLst>
      <p:ext uri="{BB962C8B-B14F-4D97-AF65-F5344CB8AC3E}">
        <p14:creationId xmlns:p14="http://schemas.microsoft.com/office/powerpoint/2010/main" val="200772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1039" y="1226344"/>
            <a:ext cx="795048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+mj-lt"/>
              </a:rPr>
              <a:t>Syntax </a:t>
            </a:r>
            <a:r>
              <a:rPr lang="en-US" sz="2800" dirty="0">
                <a:latin typeface="+mj-lt"/>
              </a:rPr>
              <a:t>are the rules how programs must be constructed:</a:t>
            </a:r>
          </a:p>
          <a:p>
            <a:r>
              <a:rPr lang="en-US" sz="2800" dirty="0">
                <a:solidFill>
                  <a:srgbClr val="708090"/>
                </a:solidFill>
                <a:latin typeface="+mj-lt"/>
              </a:rPr>
              <a:t>// How to Declare variables:</a:t>
            </a:r>
            <a:br>
              <a:rPr lang="en-US" sz="2800" dirty="0">
                <a:solidFill>
                  <a:srgbClr val="708090"/>
                </a:solidFill>
                <a:latin typeface="+mj-lt"/>
              </a:rPr>
            </a:br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5</a:t>
            </a:r>
            <a:r>
              <a:rPr lang="en-US" sz="2800" dirty="0">
                <a:latin typeface="+mj-lt"/>
              </a:rPr>
              <a:t>;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y =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6</a:t>
            </a:r>
            <a:r>
              <a:rPr lang="en-US" sz="2800" dirty="0">
                <a:latin typeface="+mj-lt"/>
              </a:rPr>
              <a:t>;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/>
            </a:r>
            <a:br>
              <a:rPr lang="en-US" sz="2800" dirty="0">
                <a:latin typeface="+mj-lt"/>
              </a:rPr>
            </a:br>
            <a:r>
              <a:rPr lang="en-US" sz="2800" dirty="0">
                <a:solidFill>
                  <a:srgbClr val="708090"/>
                </a:solidFill>
                <a:latin typeface="+mj-lt"/>
              </a:rPr>
              <a:t>// How to Compute values:</a:t>
            </a:r>
            <a:br>
              <a:rPr lang="en-US" sz="2800" dirty="0">
                <a:solidFill>
                  <a:srgbClr val="708090"/>
                </a:solidFill>
                <a:latin typeface="+mj-lt"/>
              </a:rPr>
            </a:br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z = x + y;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/>
            </a:r>
            <a:br>
              <a:rPr lang="en-US" sz="2800" dirty="0">
                <a:latin typeface="+mj-lt"/>
              </a:rPr>
            </a:br>
            <a:r>
              <a:rPr lang="en-US" sz="2800" dirty="0">
                <a:solidFill>
                  <a:srgbClr val="708090"/>
                </a:solidFill>
                <a:latin typeface="+mj-lt"/>
              </a:rPr>
              <a:t>// I am a Comment. I do Nothing</a:t>
            </a:r>
            <a:endParaRPr lang="en-US" sz="28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039" y="141387"/>
            <a:ext cx="26003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+mj-lt"/>
              </a:rPr>
              <a:t>Syntax Rules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2166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223" y="236637"/>
            <a:ext cx="36920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+mj-lt"/>
              </a:rPr>
              <a:t>JavaScript Values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6225" y="821412"/>
            <a:ext cx="7019925" cy="1641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 JavaScript syntax defines two types of values: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Literals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(Fixed values)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Variables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(Variable values)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8123" y="2015098"/>
            <a:ext cx="8343900" cy="1605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Literals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 most important syntax rules for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literals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(fixed values) are: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Numbers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are written with or without decimals: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6225" y="3534013"/>
            <a:ext cx="691515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Numbers&lt;/h1&gt;</a:t>
            </a:r>
          </a:p>
          <a:p>
            <a:r>
              <a:rPr lang="en-IN" dirty="0"/>
              <a:t>&lt;h3&gt;Number can be written with or without decimals.&lt;/h3&gt;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10.50;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64906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1763" y="1341537"/>
            <a:ext cx="76626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+mj-lt"/>
              </a:rPr>
              <a:t>Strings</a:t>
            </a:r>
            <a:r>
              <a:rPr lang="en-US" sz="2400" dirty="0">
                <a:latin typeface="+mj-lt"/>
              </a:rPr>
              <a:t> are text, written within double or single quotes:</a:t>
            </a:r>
            <a:endParaRPr lang="en-IN" sz="240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2450" y="2135535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Strings&lt;/h1&gt;</a:t>
            </a:r>
          </a:p>
          <a:p>
            <a:r>
              <a:rPr lang="en-IN" dirty="0"/>
              <a:t>&lt;h3&gt;Strings can be written with double or single quotes.&lt;/h3&gt;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'John Doe';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7617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7649"/>
            <a:ext cx="5486400" cy="666751"/>
          </a:xfrm>
        </p:spPr>
        <p:txBody>
          <a:bodyPr/>
          <a:lstStyle/>
          <a:p>
            <a:r>
              <a:rPr lang="en-IN" dirty="0"/>
              <a:t>JavaScript Keywords</a:t>
            </a:r>
            <a:r>
              <a:rPr lang="en-IN" b="0" dirty="0"/>
              <a:t/>
            </a:r>
            <a:br>
              <a:rPr lang="en-IN" b="0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7650" y="938853"/>
            <a:ext cx="8353425" cy="151319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keywords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are used to defines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to be performed.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and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keywords create variables: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1475" y="2643991"/>
            <a:ext cx="73914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Syntax&lt;/h1&gt;</a:t>
            </a:r>
          </a:p>
          <a:p>
            <a:r>
              <a:rPr lang="en-IN" dirty="0"/>
              <a:t>&lt;h3&gt;The let and </a:t>
            </a:r>
            <a:r>
              <a:rPr lang="en-IN" dirty="0" err="1"/>
              <a:t>const</a:t>
            </a:r>
            <a:r>
              <a:rPr lang="en-IN" dirty="0"/>
              <a:t> keywords create variables&lt;/h3&gt;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fname</a:t>
            </a:r>
            <a:r>
              <a:rPr lang="en-IN" dirty="0"/>
              <a:t> = "John";</a:t>
            </a:r>
          </a:p>
          <a:p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fname</a:t>
            </a:r>
            <a:r>
              <a:rPr lang="en-IN" dirty="0"/>
              <a:t> + " is " + x + " years old.";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13633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5825" y="2354818"/>
            <a:ext cx="7791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JavaScript keywords are </a:t>
            </a:r>
            <a:r>
              <a:rPr lang="en-US" sz="2400" b="1" dirty="0">
                <a:latin typeface="+mj-lt"/>
              </a:rPr>
              <a:t>case-sensitive</a:t>
            </a:r>
            <a:r>
              <a:rPr lang="en-US" sz="2400" dirty="0">
                <a:latin typeface="+mj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JavaScript does not interpret </a:t>
            </a:r>
            <a:r>
              <a:rPr lang="en-US" sz="2400" b="1" dirty="0">
                <a:latin typeface="+mj-lt"/>
              </a:rPr>
              <a:t>LET</a:t>
            </a:r>
            <a:r>
              <a:rPr lang="en-US" sz="2400" dirty="0">
                <a:latin typeface="+mj-lt"/>
              </a:rPr>
              <a:t> or </a:t>
            </a:r>
            <a:r>
              <a:rPr lang="en-US" sz="2400" b="1" dirty="0">
                <a:latin typeface="+mj-lt"/>
              </a:rPr>
              <a:t>Let</a:t>
            </a:r>
            <a:r>
              <a:rPr lang="en-US" sz="2400" dirty="0">
                <a:latin typeface="+mj-lt"/>
              </a:rPr>
              <a:t> as the keyword </a:t>
            </a:r>
            <a:r>
              <a:rPr lang="en-US" sz="2400" b="1" dirty="0">
                <a:latin typeface="+mj-lt"/>
              </a:rPr>
              <a:t>let</a:t>
            </a:r>
            <a:r>
              <a:rPr lang="en-U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272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67959" y="3141762"/>
            <a:ext cx="4193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+mj-lt"/>
              </a:rPr>
              <a:t>JavaScript Variables</a:t>
            </a:r>
          </a:p>
        </p:txBody>
      </p:sp>
    </p:spTree>
    <p:extLst>
      <p:ext uri="{BB962C8B-B14F-4D97-AF65-F5344CB8AC3E}">
        <p14:creationId xmlns:p14="http://schemas.microsoft.com/office/powerpoint/2010/main" val="17345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57225" y="1328426"/>
            <a:ext cx="7400925" cy="4467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63480" rIns="-76176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Variables = Data Containers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variables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are containers for data.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variables can be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declared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in 4 ways: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Modern JavaScript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let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const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Older JavaScript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Using 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var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(Not Recommended)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Automatically (Not Recommended)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47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2899" y="1199823"/>
            <a:ext cx="818197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Variables&lt;/h1&gt;</a:t>
            </a:r>
          </a:p>
          <a:p>
            <a:endParaRPr lang="en-IN" dirty="0"/>
          </a:p>
          <a:p>
            <a:r>
              <a:rPr lang="en-IN" dirty="0"/>
              <a:t>&lt;p&gt;In this example, x, y, and z are variables.&lt;/p&gt;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let y = 6;</a:t>
            </a:r>
          </a:p>
          <a:p>
            <a:r>
              <a:rPr lang="en-IN" dirty="0"/>
              <a:t>let z = x + y;</a:t>
            </a:r>
          </a:p>
          <a:p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"The value of z is " +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899" y="229057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Example using let</a:t>
            </a:r>
          </a:p>
        </p:txBody>
      </p:sp>
    </p:spTree>
    <p:extLst>
      <p:ext uri="{BB962C8B-B14F-4D97-AF65-F5344CB8AC3E}">
        <p14:creationId xmlns:p14="http://schemas.microsoft.com/office/powerpoint/2010/main" val="339384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77" y="141387"/>
            <a:ext cx="41376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Example using </a:t>
            </a:r>
            <a:r>
              <a:rPr lang="en-IN" sz="3200" b="1" dirty="0" err="1">
                <a:latin typeface="Segoe UI" panose="020B0502040204020203" pitchFamily="34" charset="0"/>
              </a:rPr>
              <a:t>const</a:t>
            </a:r>
            <a:endParaRPr lang="en-IN" sz="3200" b="1" dirty="0"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3875" y="1256973"/>
            <a:ext cx="75057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Variables&lt;/h1&gt;</a:t>
            </a:r>
          </a:p>
          <a:p>
            <a:endParaRPr lang="en-IN" dirty="0"/>
          </a:p>
          <a:p>
            <a:r>
              <a:rPr lang="en-IN" dirty="0"/>
              <a:t>&lt;p&gt;In this example, x, y, and z are variables.&lt;/p&gt;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const</a:t>
            </a:r>
            <a:r>
              <a:rPr lang="en-IN" dirty="0"/>
              <a:t> x = 5;</a:t>
            </a:r>
          </a:p>
          <a:p>
            <a:r>
              <a:rPr lang="en-IN" dirty="0" err="1"/>
              <a:t>const</a:t>
            </a:r>
            <a:r>
              <a:rPr lang="en-IN" dirty="0"/>
              <a:t> y = 6;</a:t>
            </a:r>
          </a:p>
          <a:p>
            <a:r>
              <a:rPr lang="en-IN" dirty="0" err="1"/>
              <a:t>const</a:t>
            </a:r>
            <a:r>
              <a:rPr lang="en-IN" dirty="0"/>
              <a:t> z = x + y;</a:t>
            </a:r>
          </a:p>
          <a:p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"The value of z is " +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8310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3440" y="2960787"/>
            <a:ext cx="37096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JavaScript Datatypes</a:t>
            </a:r>
          </a:p>
        </p:txBody>
      </p:sp>
    </p:spTree>
    <p:extLst>
      <p:ext uri="{BB962C8B-B14F-4D97-AF65-F5344CB8AC3E}">
        <p14:creationId xmlns:p14="http://schemas.microsoft.com/office/powerpoint/2010/main" val="751571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69960"/>
              </p:ext>
            </p:extLst>
          </p:nvPr>
        </p:nvGraphicFramePr>
        <p:xfrm>
          <a:off x="322263" y="1563120"/>
          <a:ext cx="8097836" cy="4610216"/>
        </p:xfrm>
        <a:graphic>
          <a:graphicData uri="http://schemas.openxmlformats.org/drawingml/2006/table">
            <a:tbl>
              <a:tblPr/>
              <a:tblGrid>
                <a:gridCol w="4048918">
                  <a:extLst>
                    <a:ext uri="{9D8B030D-6E8A-4147-A177-3AD203B41FA5}">
                      <a16:colId xmlns:a16="http://schemas.microsoft.com/office/drawing/2014/main" val="2512269122"/>
                    </a:ext>
                  </a:extLst>
                </a:gridCol>
                <a:gridCol w="4048918">
                  <a:extLst>
                    <a:ext uri="{9D8B030D-6E8A-4147-A177-3AD203B41FA5}">
                      <a16:colId xmlns:a16="http://schemas.microsoft.com/office/drawing/2014/main" val="2150245162"/>
                    </a:ext>
                  </a:extLst>
                </a:gridCol>
              </a:tblGrid>
              <a:tr h="27870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89328" marR="89328" marT="44664" marB="44664"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89328" marR="89328" marT="44664" marB="44664"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487391"/>
                  </a:ext>
                </a:extLst>
              </a:tr>
              <a:tr h="287841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Type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Description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73654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String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text of characters enclosed in quotes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866724"/>
                  </a:ext>
                </a:extLst>
              </a:tr>
              <a:tr h="484294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Number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A number representing a mathematical value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28317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Bigint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number representing a large integer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39690"/>
                  </a:ext>
                </a:extLst>
              </a:tr>
              <a:tr h="624543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Boolean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data type representing true or false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36056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Object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collection of key-value pairs of data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990099"/>
                  </a:ext>
                </a:extLst>
              </a:tr>
              <a:tr h="484294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Undefined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primitive variable with no assigned value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38377"/>
                  </a:ext>
                </a:extLst>
              </a:tr>
              <a:tr h="624543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Null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 primitive value representing object absence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80234"/>
                  </a:ext>
                </a:extLst>
              </a:tr>
              <a:tr h="44431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Symbol</a:t>
                      </a:r>
                    </a:p>
                  </a:txBody>
                  <a:tcPr marL="99254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A unique and primitive identifier</a:t>
                      </a:r>
                    </a:p>
                  </a:txBody>
                  <a:tcPr marL="49627" marR="49627" marT="49627" marB="49627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306393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2263" y="896282"/>
            <a:ext cx="6878637" cy="866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JavaScript has 8 Datatypes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 JavaScript variable can hold 8 types of data: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0461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974" y="217587"/>
            <a:ext cx="1863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3974" y="863977"/>
            <a:ext cx="79057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String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</a:t>
            </a:r>
            <a:r>
              <a:rPr lang="en-IN" sz="1800" dirty="0" err="1">
                <a:latin typeface="Consolas" panose="020B0609020204030204" pitchFamily="49" charset="0"/>
              </a:rPr>
              <a:t>color</a:t>
            </a:r>
            <a:r>
              <a:rPr lang="en-IN" sz="1800" dirty="0">
                <a:latin typeface="Consolas" panose="020B0609020204030204" pitchFamily="49" charset="0"/>
              </a:rPr>
              <a:t> = 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"Yellow"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</a:t>
            </a:r>
            <a:r>
              <a:rPr lang="en-IN" sz="1800" dirty="0" err="1">
                <a:latin typeface="Consolas" panose="020B0609020204030204" pitchFamily="49" charset="0"/>
              </a:rPr>
              <a:t>lastName</a:t>
            </a:r>
            <a:r>
              <a:rPr lang="en-IN" sz="1800" dirty="0">
                <a:latin typeface="Consolas" panose="020B0609020204030204" pitchFamily="49" charset="0"/>
              </a:rPr>
              <a:t> = 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"Johnson"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Number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length = 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16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weight = 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7.5</a:t>
            </a:r>
            <a:r>
              <a:rPr lang="en-IN" sz="1800" dirty="0" smtClean="0">
                <a:latin typeface="Consolas" panose="020B0609020204030204" pitchFamily="49" charset="0"/>
              </a:rPr>
              <a:t>;</a:t>
            </a:r>
            <a:r>
              <a:rPr lang="en-IN" sz="1800" dirty="0" smtClean="0"/>
              <a:t/>
            </a:r>
            <a:br>
              <a:rPr lang="en-IN" sz="1800" dirty="0" smtClean="0"/>
            </a:br>
            <a:r>
              <a:rPr lang="en-IN" sz="1800" dirty="0" smtClean="0"/>
              <a:t/>
            </a:r>
            <a:br>
              <a:rPr lang="en-IN" sz="1800" dirty="0" smtClean="0"/>
            </a:br>
            <a:r>
              <a:rPr lang="en-IN" sz="1800" dirty="0" smtClean="0">
                <a:solidFill>
                  <a:srgbClr val="708090"/>
                </a:solidFill>
                <a:latin typeface="Consolas" panose="020B0609020204030204" pitchFamily="49" charset="0"/>
              </a:rPr>
              <a:t>// </a:t>
            </a:r>
            <a:r>
              <a:rPr lang="en-IN" sz="1800" dirty="0" err="1">
                <a:solidFill>
                  <a:srgbClr val="708090"/>
                </a:solidFill>
                <a:latin typeface="Consolas" panose="020B0609020204030204" pitchFamily="49" charset="0"/>
              </a:rPr>
              <a:t>BigInt</a:t>
            </a: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x = 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1234567890123456789012345</a:t>
            </a:r>
            <a:r>
              <a:rPr lang="en-IN" sz="1800" dirty="0">
                <a:latin typeface="Consolas" panose="020B0609020204030204" pitchFamily="49" charset="0"/>
              </a:rPr>
              <a:t>n;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y = </a:t>
            </a:r>
            <a:r>
              <a:rPr lang="en-IN" sz="1800" dirty="0" err="1">
                <a:latin typeface="Consolas" panose="020B0609020204030204" pitchFamily="49" charset="0"/>
              </a:rPr>
              <a:t>BigInt</a:t>
            </a:r>
            <a:r>
              <a:rPr lang="en-IN" sz="1800" dirty="0"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990055"/>
                </a:solidFill>
                <a:latin typeface="Consolas" panose="020B0609020204030204" pitchFamily="49" charset="0"/>
              </a:rPr>
              <a:t>1234567890123456789012345</a:t>
            </a:r>
            <a:r>
              <a:rPr lang="en-IN" sz="1800" dirty="0">
                <a:latin typeface="Consolas" panose="020B0609020204030204" pitchFamily="49" charset="0"/>
              </a:rPr>
              <a:t>)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Boolean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x = 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true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1800" dirty="0">
                <a:latin typeface="Consolas" panose="020B0609020204030204" pitchFamily="49" charset="0"/>
              </a:rPr>
              <a:t> y = </a:t>
            </a:r>
            <a:r>
              <a:rPr lang="en-IN" sz="1800" dirty="0">
                <a:solidFill>
                  <a:srgbClr val="005CC5"/>
                </a:solidFill>
                <a:latin typeface="Consolas" panose="020B0609020204030204" pitchFamily="49" charset="0"/>
              </a:rPr>
              <a:t>false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  <a:t>// Object</a:t>
            </a:r>
            <a:br>
              <a:rPr lang="en-IN" sz="18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18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1800" dirty="0">
                <a:latin typeface="Consolas" panose="020B0609020204030204" pitchFamily="49" charset="0"/>
              </a:rPr>
              <a:t> person = {</a:t>
            </a:r>
            <a:r>
              <a:rPr lang="en-IN" sz="1800" dirty="0" err="1">
                <a:latin typeface="Consolas" panose="020B0609020204030204" pitchFamily="49" charset="0"/>
              </a:rPr>
              <a:t>firstName</a:t>
            </a:r>
            <a:r>
              <a:rPr lang="en-IN" sz="1800" dirty="0">
                <a:latin typeface="Consolas" panose="020B0609020204030204" pitchFamily="49" charset="0"/>
              </a:rPr>
              <a:t>: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"John"</a:t>
            </a:r>
            <a:r>
              <a:rPr lang="en-IN" sz="1800" dirty="0">
                <a:latin typeface="Consolas" panose="020B0609020204030204" pitchFamily="49" charset="0"/>
              </a:rPr>
              <a:t>, </a:t>
            </a:r>
            <a:r>
              <a:rPr lang="en-IN" sz="1800" dirty="0" err="1">
                <a:latin typeface="Consolas" panose="020B0609020204030204" pitchFamily="49" charset="0"/>
              </a:rPr>
              <a:t>lastName</a:t>
            </a:r>
            <a:r>
              <a:rPr lang="en-IN" sz="1800" dirty="0">
                <a:latin typeface="Consolas" panose="020B0609020204030204" pitchFamily="49" charset="0"/>
              </a:rPr>
              <a:t>: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"Doe"</a:t>
            </a:r>
            <a:r>
              <a:rPr lang="en-IN" sz="1800" dirty="0">
                <a:latin typeface="Consolas" panose="020B0609020204030204" pitchFamily="49" charset="0"/>
              </a:rPr>
              <a:t>};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83561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974" y="217587"/>
            <a:ext cx="1863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0" y="837188"/>
            <a:ext cx="80772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Array object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cars = [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"Saab"</a:t>
            </a:r>
            <a:r>
              <a:rPr lang="en-IN" sz="2000" dirty="0">
                <a:latin typeface="Consolas" panose="020B0609020204030204" pitchFamily="49" charset="0"/>
              </a:rPr>
              <a:t>, 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"Volvo"</a:t>
            </a:r>
            <a:r>
              <a:rPr lang="en-IN" sz="2000" dirty="0">
                <a:latin typeface="Consolas" panose="020B0609020204030204" pitchFamily="49" charset="0"/>
              </a:rPr>
              <a:t>, 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"BMW"</a:t>
            </a:r>
            <a:r>
              <a:rPr lang="en-IN" sz="2000" dirty="0">
                <a:latin typeface="Consolas" panose="020B0609020204030204" pitchFamily="49" charset="0"/>
              </a:rPr>
              <a:t>];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Date object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date = </a:t>
            </a: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new</a:t>
            </a:r>
            <a:r>
              <a:rPr lang="en-IN" sz="2000" dirty="0">
                <a:latin typeface="Consolas" panose="020B0609020204030204" pitchFamily="49" charset="0"/>
              </a:rPr>
              <a:t> Date(</a:t>
            </a:r>
            <a:r>
              <a:rPr lang="en-IN" sz="2000" dirty="0">
                <a:solidFill>
                  <a:srgbClr val="008000"/>
                </a:solidFill>
                <a:latin typeface="Consolas" panose="020B0609020204030204" pitchFamily="49" charset="0"/>
              </a:rPr>
              <a:t>"2022-03-25"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Undefined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x;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y;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Null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x = </a:t>
            </a: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IN" sz="2000" dirty="0">
                <a:latin typeface="Consolas" panose="020B0609020204030204" pitchFamily="49" charset="0"/>
              </a:rPr>
              <a:t> y = </a:t>
            </a:r>
            <a:r>
              <a:rPr lang="en-IN" sz="2000" dirty="0">
                <a:solidFill>
                  <a:srgbClr val="005CC5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  <a:t>// Symbol</a:t>
            </a:r>
            <a:br>
              <a:rPr lang="en-IN" sz="2000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x = Symbol();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err="1">
                <a:solidFill>
                  <a:srgbClr val="005CC5"/>
                </a:solidFill>
                <a:latin typeface="Consolas" panose="020B0609020204030204" pitchFamily="49" charset="0"/>
              </a:rPr>
              <a:t>const</a:t>
            </a:r>
            <a:r>
              <a:rPr lang="en-IN" sz="2000" dirty="0">
                <a:latin typeface="Consolas" panose="020B0609020204030204" pitchFamily="49" charset="0"/>
              </a:rPr>
              <a:t> y = Symbol();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1641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3287</TotalTime>
  <Words>2223</Words>
  <Application>Microsoft Office PowerPoint</Application>
  <PresentationFormat>On-screen Show (4:3)</PresentationFormat>
  <Paragraphs>489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Consolas</vt:lpstr>
      <vt:lpstr>Segoe UI</vt:lpstr>
      <vt:lpstr>Times New Roman</vt:lpstr>
      <vt:lpstr>Office Theme</vt:lpstr>
      <vt:lpstr>PowerPoint Presentation</vt:lpstr>
      <vt:lpstr>JavaScript Introduction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 External References </vt:lpstr>
      <vt:lpstr>PowerPoint Presentation</vt:lpstr>
      <vt:lpstr>PowerPoint Presentation</vt:lpstr>
      <vt:lpstr>PowerPoint Presentation</vt:lpstr>
      <vt:lpstr>PowerPoint Presentation</vt:lpstr>
      <vt:lpstr>Using innerHTML </vt:lpstr>
      <vt:lpstr>PowerPoint Presentation</vt:lpstr>
      <vt:lpstr>PowerPoint Presentation</vt:lpstr>
      <vt:lpstr>PowerPoint Presentation</vt:lpstr>
      <vt:lpstr>Using window.alert() </vt:lpstr>
      <vt:lpstr>PowerPoint Presentation</vt:lpstr>
      <vt:lpstr>Using console.log()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JavaScript Keywords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hp</cp:lastModifiedBy>
  <cp:revision>16</cp:revision>
  <dcterms:created xsi:type="dcterms:W3CDTF">2010-04-09T07:36:15Z</dcterms:created>
  <dcterms:modified xsi:type="dcterms:W3CDTF">2026-01-19T04:45:18Z</dcterms:modified>
</cp:coreProperties>
</file>