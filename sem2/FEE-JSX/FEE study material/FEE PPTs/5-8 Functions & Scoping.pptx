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345" r:id="rId5"/>
    <p:sldId id="338" r:id="rId6"/>
    <p:sldId id="346" r:id="rId7"/>
    <p:sldId id="298" r:id="rId8"/>
    <p:sldId id="344" r:id="rId9"/>
    <p:sldId id="339" r:id="rId10"/>
    <p:sldId id="296" r:id="rId11"/>
    <p:sldId id="325" r:id="rId12"/>
    <p:sldId id="297" r:id="rId13"/>
    <p:sldId id="340" r:id="rId14"/>
    <p:sldId id="341" r:id="rId15"/>
    <p:sldId id="342" r:id="rId16"/>
    <p:sldId id="343" r:id="rId17"/>
    <p:sldId id="327" r:id="rId18"/>
    <p:sldId id="328" r:id="rId19"/>
    <p:sldId id="329" r:id="rId20"/>
    <p:sldId id="330" r:id="rId21"/>
    <p:sldId id="331" r:id="rId22"/>
    <p:sldId id="336" r:id="rId23"/>
    <p:sldId id="337" r:id="rId24"/>
    <p:sldId id="323" r:id="rId25"/>
  </p:sldIdLst>
  <p:sldSz cx="9144000" cy="6858000" type="screen4x3"/>
  <p:notesSz cx="6858000" cy="9144000"/>
  <p:embeddedFontLst>
    <p:embeddedFont>
      <p:font typeface="Calibri" panose="020F0502020204030204"/>
      <p:regular r:id="rId29"/>
      <p:bold r:id="rId30"/>
      <p:italic r:id="rId31"/>
      <p:boldItalic r:id="rId32"/>
    </p:embeddedFont>
    <p:embeddedFont>
      <p:font typeface="Nunito" pitchFamily="2" charset="0"/>
      <p:regular r:id="rId33"/>
      <p:bold r:id="rId34"/>
      <p:italic r:id="rId35"/>
      <p:boldItalic r:id="rId36"/>
    </p:embeddedFont>
    <p:embeddedFont>
      <p:font typeface="Consolas" panose="020B0609020204030204" pitchFamily="49" charset="0"/>
      <p:regular r:id="rId37"/>
      <p:bold r:id="rId38"/>
      <p:italic r:id="rId39"/>
      <p:boldItalic r:id="rId40"/>
    </p:embeddedFont>
    <p:embeddedFont>
      <p:font typeface="Nunito"/>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24CE57-81FB-4CE5-B3F0-45E823DBC81C}"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snapToGrid="0" showGuides="1">
      <p:cViewPr varScale="1">
        <p:scale>
          <a:sx n="59" d="100"/>
          <a:sy n="59" d="100"/>
        </p:scale>
        <p:origin x="1500" y="52"/>
      </p:cViewPr>
      <p:guideLst>
        <p:guide orient="horz" pos="2160"/>
        <p:guide pos="2829"/>
      </p:guideLst>
    </p:cSldViewPr>
  </p:slideViewPr>
  <p:outlineViewPr>
    <p:cViewPr>
      <p:scale>
        <a:sx n="33" d="100"/>
        <a:sy n="33" d="100"/>
      </p:scale>
      <p:origin x="0" y="-2519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font" Target="fonts/font16.fntdata"/><Relationship Id="rId43" Type="http://schemas.openxmlformats.org/officeDocument/2006/relationships/font" Target="fonts/font15.fntdata"/><Relationship Id="rId42" Type="http://schemas.openxmlformats.org/officeDocument/2006/relationships/font" Target="fonts/font14.fntdata"/><Relationship Id="rId41" Type="http://schemas.openxmlformats.org/officeDocument/2006/relationships/font" Target="fonts/font13.fntdata"/><Relationship Id="rId40" Type="http://schemas.openxmlformats.org/officeDocument/2006/relationships/font" Target="fonts/font12.fntdata"/><Relationship Id="rId4" Type="http://schemas.openxmlformats.org/officeDocument/2006/relationships/notesMaster" Target="notesMasters/notesMaster1.xml"/><Relationship Id="rId39" Type="http://schemas.openxmlformats.org/officeDocument/2006/relationships/font" Target="fonts/font11.fntdata"/><Relationship Id="rId38" Type="http://schemas.openxmlformats.org/officeDocument/2006/relationships/font" Target="fonts/font10.fntdata"/><Relationship Id="rId37" Type="http://schemas.openxmlformats.org/officeDocument/2006/relationships/font" Target="fonts/font9.fntdata"/><Relationship Id="rId36" Type="http://schemas.openxmlformats.org/officeDocument/2006/relationships/font" Target="fonts/font8.fntdata"/><Relationship Id="rId35" Type="http://schemas.openxmlformats.org/officeDocument/2006/relationships/font" Target="fonts/font7.fntdata"/><Relationship Id="rId34" Type="http://schemas.openxmlformats.org/officeDocument/2006/relationships/font" Target="fonts/font6.fntdata"/><Relationship Id="rId33" Type="http://schemas.openxmlformats.org/officeDocument/2006/relationships/font" Target="fonts/font5.fntdata"/><Relationship Id="rId32" Type="http://schemas.openxmlformats.org/officeDocument/2006/relationships/font" Target="fonts/font4.fntdata"/><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
        <p:cNvGrpSpPr/>
        <p:nvPr/>
      </p:nvGrpSpPr>
      <p:grpSpPr>
        <a:xfrm>
          <a:off x="0" y="0"/>
          <a:ext cx="0" cy="0"/>
          <a:chOff x="0" y="0"/>
          <a:chExt cx="0" cy="0"/>
        </a:xfrm>
      </p:grpSpPr>
      <p:sp>
        <p:nvSpPr>
          <p:cNvPr id="47" name="Google Shape;4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 name="Google Shape;48;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49" name="Google Shape;49;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4"/>
        <p:cNvGrpSpPr/>
        <p:nvPr/>
      </p:nvGrpSpPr>
      <p:grpSpPr>
        <a:xfrm>
          <a:off x="0" y="0"/>
          <a:ext cx="0" cy="0"/>
          <a:chOff x="0" y="0"/>
          <a:chExt cx="0" cy="0"/>
        </a:xfrm>
      </p:grpSpPr>
      <p:pic>
        <p:nvPicPr>
          <p:cNvPr id="25" name="Google Shape;25;p39" descr="LOGO.gif"/>
          <p:cNvPicPr preferRelativeResize="0"/>
          <p:nvPr/>
        </p:nvPicPr>
        <p:blipFill rotWithShape="1">
          <a:blip r:embed="rId2"/>
          <a:srcRect b="10713"/>
          <a:stretch>
            <a:fillRect/>
          </a:stretch>
        </p:blipFill>
        <p:spPr>
          <a:xfrm>
            <a:off x="6553200" y="228600"/>
            <a:ext cx="2057400" cy="635000"/>
          </a:xfrm>
          <a:prstGeom prst="rect">
            <a:avLst/>
          </a:prstGeom>
          <a:noFill/>
          <a:ln>
            <a:noFill/>
          </a:ln>
        </p:spPr>
      </p:pic>
      <p:grpSp>
        <p:nvGrpSpPr>
          <p:cNvPr id="26" name="Google Shape;26;p39"/>
          <p:cNvGrpSpPr/>
          <p:nvPr/>
        </p:nvGrpSpPr>
        <p:grpSpPr>
          <a:xfrm>
            <a:off x="6146800" y="0"/>
            <a:ext cx="2997200" cy="876300"/>
            <a:chOff x="6096000" y="3924300"/>
            <a:chExt cx="2997200" cy="876300"/>
          </a:xfrm>
        </p:grpSpPr>
        <p:sp>
          <p:nvSpPr>
            <p:cNvPr id="27" name="Google Shape;27;p39"/>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8" name="Google Shape;28;p39" descr="LOGO.gif"/>
            <p:cNvPicPr preferRelativeResize="0"/>
            <p:nvPr/>
          </p:nvPicPr>
          <p:blipFill rotWithShape="1">
            <a:blip r:embed="rId2"/>
            <a:srcRect b="10713"/>
            <a:stretch>
              <a:fillRect/>
            </a:stretch>
          </p:blipFill>
          <p:spPr>
            <a:xfrm>
              <a:off x="6502400" y="4152900"/>
              <a:ext cx="2057400" cy="635000"/>
            </a:xfrm>
            <a:prstGeom prst="rect">
              <a:avLst/>
            </a:prstGeom>
            <a:noFill/>
            <a:ln>
              <a:noFill/>
            </a:ln>
          </p:spPr>
        </p:pic>
        <p:sp>
          <p:nvSpPr>
            <p:cNvPr id="29" name="Google Shape;29;p39"/>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30" name="Google Shape;30;p39" descr="logo.jpg"/>
          <p:cNvPicPr preferRelativeResize="0"/>
          <p:nvPr/>
        </p:nvPicPr>
        <p:blipFill rotWithShape="1">
          <a:blip r:embed="rId3"/>
          <a:srcRect/>
          <a:stretch>
            <a:fillRect/>
          </a:stretch>
        </p:blipFill>
        <p:spPr>
          <a:xfrm>
            <a:off x="6553200" y="228600"/>
            <a:ext cx="1920875" cy="609600"/>
          </a:xfrm>
          <a:prstGeom prst="rect">
            <a:avLst/>
          </a:prstGeom>
          <a:noFill/>
          <a:ln>
            <a:noFill/>
          </a:ln>
        </p:spPr>
      </p:pic>
      <p:sp>
        <p:nvSpPr>
          <p:cNvPr id="31" name="Google Shape;31;p3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atin typeface="Times New Roman" panose="02020603050405020304"/>
                <a:ea typeface="Times New Roman" panose="02020603050405020304"/>
                <a:cs typeface="Times New Roman" panose="02020603050405020304"/>
                <a:sym typeface="Times New Roman" panose="020206030504050203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3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1pPr>
            <a:lvl2pPr marL="914400" lvl="1"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2pPr>
            <a:lvl3pPr marL="1371600" lvl="2"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3pPr>
            <a:lvl4pPr marL="1828800" lvl="3"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4pPr>
            <a:lvl5pPr marL="2286000" lvl="4"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33" name="Google Shape;33;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1pPr>
            <a:lvl2pPr marL="0" lvl="1"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2pPr>
            <a:lvl3pPr marL="0" lvl="2"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3pPr>
            <a:lvl4pPr marL="0" lvl="3"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4pPr>
            <a:lvl5pPr marL="0" lvl="4"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5pPr>
            <a:lvl6pPr marL="0" lvl="5"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6pPr>
            <a:lvl7pPr marL="0" lvl="6"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7pPr>
            <a:lvl8pPr marL="0" lvl="7"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8pPr>
            <a:lvl9pPr marL="0" lvl="8"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36"/>
        <p:cNvGrpSpPr/>
        <p:nvPr/>
      </p:nvGrpSpPr>
      <p:grpSpPr>
        <a:xfrm>
          <a:off x="0" y="0"/>
          <a:ext cx="0" cy="0"/>
          <a:chOff x="0" y="0"/>
          <a:chExt cx="0" cy="0"/>
        </a:xfrm>
      </p:grpSpPr>
      <p:sp>
        <p:nvSpPr>
          <p:cNvPr id="37" name="Google Shape;37;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40"/>
        <p:cNvGrpSpPr/>
        <p:nvPr/>
      </p:nvGrpSpPr>
      <p:grpSpPr>
        <a:xfrm>
          <a:off x="0" y="0"/>
          <a:ext cx="0" cy="0"/>
          <a:chOff x="0" y="0"/>
          <a:chExt cx="0" cy="0"/>
        </a:xfrm>
      </p:grpSpPr>
      <p:sp>
        <p:nvSpPr>
          <p:cNvPr id="41" name="Google Shape;41;p41"/>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b="1">
                <a:latin typeface="Times New Roman" panose="02020603050405020304"/>
                <a:ea typeface="Times New Roman" panose="02020603050405020304"/>
                <a:cs typeface="Times New Roman" panose="02020603050405020304"/>
                <a:sym typeface="Times New Roman" panose="020206030504050203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41"/>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43" name="Google Shape;43;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1pPr>
            <a:lvl2pPr marL="0" lvl="1"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2pPr>
            <a:lvl3pPr marL="0" lvl="2"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3pPr>
            <a:lvl4pPr marL="0" lvl="3"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4pPr>
            <a:lvl5pPr marL="0" lvl="4"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5pPr>
            <a:lvl6pPr marL="0" lvl="5"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6pPr>
            <a:lvl7pPr marL="0" lvl="6"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7pPr>
            <a:lvl8pPr marL="0" lvl="7"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8pPr>
            <a:lvl9pPr marL="0" lvl="8"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2.jpeg"/><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1" name="Google Shape;11;p3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3" name="Google Shape;13;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4" name="Google Shape;14;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
        <p:nvSpPr>
          <p:cNvPr id="15" name="Google Shape;15;p38"/>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 name="Google Shape;16;p38"/>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7" name="Google Shape;17;p38" descr="LOGO.gif"/>
          <p:cNvPicPr preferRelativeResize="0"/>
          <p:nvPr/>
        </p:nvPicPr>
        <p:blipFill rotWithShape="1">
          <a:blip r:embed="rId4"/>
          <a:srcRect b="10713"/>
          <a:stretch>
            <a:fillRect/>
          </a:stretch>
        </p:blipFill>
        <p:spPr>
          <a:xfrm>
            <a:off x="6553200" y="228600"/>
            <a:ext cx="2057400" cy="635000"/>
          </a:xfrm>
          <a:prstGeom prst="rect">
            <a:avLst/>
          </a:prstGeom>
          <a:noFill/>
          <a:ln>
            <a:noFill/>
          </a:ln>
        </p:spPr>
      </p:pic>
      <p:pic>
        <p:nvPicPr>
          <p:cNvPr id="18" name="Google Shape;18;p38" descr="LOGO.gif"/>
          <p:cNvPicPr preferRelativeResize="0"/>
          <p:nvPr/>
        </p:nvPicPr>
        <p:blipFill rotWithShape="1">
          <a:blip r:embed="rId4"/>
          <a:srcRect b="10713"/>
          <a:stretch>
            <a:fillRect/>
          </a:stretch>
        </p:blipFill>
        <p:spPr>
          <a:xfrm>
            <a:off x="6553200" y="228600"/>
            <a:ext cx="2057400" cy="635000"/>
          </a:xfrm>
          <a:prstGeom prst="rect">
            <a:avLst/>
          </a:prstGeom>
          <a:noFill/>
          <a:ln>
            <a:noFill/>
          </a:ln>
        </p:spPr>
      </p:pic>
      <p:grpSp>
        <p:nvGrpSpPr>
          <p:cNvPr id="19" name="Google Shape;19;p38"/>
          <p:cNvGrpSpPr/>
          <p:nvPr/>
        </p:nvGrpSpPr>
        <p:grpSpPr>
          <a:xfrm>
            <a:off x="6146800" y="0"/>
            <a:ext cx="2997200" cy="876300"/>
            <a:chOff x="6096000" y="3924300"/>
            <a:chExt cx="2997200" cy="876300"/>
          </a:xfrm>
        </p:grpSpPr>
        <p:sp>
          <p:nvSpPr>
            <p:cNvPr id="20" name="Google Shape;20;p3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1" name="Google Shape;21;p38" descr="LOGO.gif"/>
            <p:cNvPicPr preferRelativeResize="0"/>
            <p:nvPr/>
          </p:nvPicPr>
          <p:blipFill rotWithShape="1">
            <a:blip r:embed="rId4"/>
            <a:srcRect b="10713"/>
            <a:stretch>
              <a:fillRect/>
            </a:stretch>
          </p:blipFill>
          <p:spPr>
            <a:xfrm>
              <a:off x="6502400" y="4152900"/>
              <a:ext cx="2057400" cy="635000"/>
            </a:xfrm>
            <a:prstGeom prst="rect">
              <a:avLst/>
            </a:prstGeom>
            <a:noFill/>
            <a:ln>
              <a:noFill/>
            </a:ln>
          </p:spPr>
        </p:pic>
        <p:sp>
          <p:nvSpPr>
            <p:cNvPr id="22" name="Google Shape;22;p3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23" name="Google Shape;23;p38" descr="logo.jpg"/>
          <p:cNvPicPr preferRelativeResize="0"/>
          <p:nvPr/>
        </p:nvPicPr>
        <p:blipFill rotWithShape="1">
          <a:blip r:embed="rId5"/>
          <a:srcRect/>
          <a:stretch>
            <a:fill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www.geeksforgeeks.org/javascript/encapsulation-in-javascript/" TargetMode="External"/><Relationship Id="rId3" Type="http://schemas.openxmlformats.org/officeDocument/2006/relationships/hyperlink" Target="https://www.geeksforgeeks.org/javascript/closure-in-javascript/" TargetMode="External"/><Relationship Id="rId2" Type="http://schemas.openxmlformats.org/officeDocument/2006/relationships/hyperlink" Target="https://www.geeksforgeeks.org/javascript/javascript-callbacks/" TargetMode="External"/><Relationship Id="rId1" Type="http://schemas.openxmlformats.org/officeDocument/2006/relationships/hyperlink" Target="https://www.geeksforgeeks.org/javascript/javascript-hoist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
          <p:cNvSpPr txBox="1"/>
          <p:nvPr/>
        </p:nvSpPr>
        <p:spPr>
          <a:xfrm>
            <a:off x="152400" y="914400"/>
            <a:ext cx="8763000" cy="3606800"/>
          </a:xfrm>
          <a:prstGeom prst="rect">
            <a:avLst/>
          </a:prstGeom>
          <a:noFill/>
          <a:ln>
            <a:noFill/>
          </a:ln>
        </p:spPr>
        <p:txBody>
          <a:bodyPr spcFirstLastPara="1" wrap="square" lIns="91425" tIns="33100" rIns="91425" bIns="45700" anchor="ctr" anchorCtr="0">
            <a:noAutofit/>
          </a:bodyPr>
          <a:lstStyle/>
          <a:p>
            <a:pPr marL="0" lvl="0" indent="0" algn="ctr" rtl="0">
              <a:lnSpc>
                <a:spcPct val="115000"/>
              </a:lnSpc>
              <a:spcBef>
                <a:spcPts val="1200"/>
              </a:spcBef>
              <a:spcAft>
                <a:spcPts val="1200"/>
              </a:spcAft>
              <a:buSzPts val="1100"/>
              <a:buNone/>
            </a:pPr>
            <a:r>
              <a:rPr lang="en-US" altLang="en-US" sz="9600" b="1" dirty="0">
                <a:solidFill>
                  <a:schemeClr val="dk1"/>
                </a:solidFill>
                <a:latin typeface="Calibri" panose="020F0502020204030204"/>
                <a:ea typeface="Calibri" panose="020F0502020204030204"/>
                <a:cs typeface="Calibri" panose="020F0502020204030204"/>
                <a:sym typeface="Calibri" panose="020F0502020204030204"/>
              </a:rPr>
              <a:t>Functions &amp; Scoping</a:t>
            </a:r>
            <a:endParaRPr lang="en-US" altLang="en-US" sz="9600" b="1"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2" name="Google Shape;52;p1"/>
          <p:cNvSpPr txBox="1"/>
          <p:nvPr/>
        </p:nvSpPr>
        <p:spPr>
          <a:xfrm>
            <a:off x="1905000" y="4953000"/>
            <a:ext cx="4762500" cy="643890"/>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 name="Google Shape;53;p1"/>
          <p:cNvSpPr txBox="1"/>
          <p:nvPr/>
        </p:nvSpPr>
        <p:spPr>
          <a:xfrm>
            <a:off x="1676400" y="5599331"/>
            <a:ext cx="61722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FF0000"/>
                </a:solidFill>
                <a:latin typeface="Times New Roman" panose="02020603050405020304"/>
                <a:ea typeface="Times New Roman" panose="02020603050405020304"/>
                <a:cs typeface="Times New Roman" panose="02020603050405020304"/>
                <a:sym typeface="Times New Roman" panose="02020603050405020304"/>
              </a:rPr>
              <a:t>Department of Computer Science and Engineering</a:t>
            </a:r>
            <a:endParaRPr lang="en-US" sz="180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sz="1800">
                <a:solidFill>
                  <a:srgbClr val="FF0000"/>
                </a:solidFill>
                <a:latin typeface="Times New Roman" panose="02020603050405020304"/>
                <a:ea typeface="Times New Roman" panose="02020603050405020304"/>
                <a:cs typeface="Times New Roman" panose="02020603050405020304"/>
                <a:sym typeface="Times New Roman" panose="02020603050405020304"/>
              </a:rPr>
              <a:t>Chitkara University, Punjab</a:t>
            </a:r>
            <a:endParaRPr lang="en-US" sz="180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4" name="Google Shape;5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Functions in JavaScript</a:t>
            </a:r>
            <a:endParaRPr lang="en-US" altLang="en-US"/>
          </a:p>
        </p:txBody>
      </p:sp>
      <p:sp>
        <p:nvSpPr>
          <p:cNvPr id="3" name="Text Placeholder 2"/>
          <p:cNvSpPr>
            <a:spLocks noGrp="1"/>
          </p:cNvSpPr>
          <p:nvPr>
            <p:ph type="body" idx="1"/>
          </p:nvPr>
        </p:nvSpPr>
        <p:spPr>
          <a:xfrm>
            <a:off x="457200" y="1073785"/>
            <a:ext cx="8229600" cy="4824095"/>
          </a:xfrm>
        </p:spPr>
        <p:txBody>
          <a:bodyPr/>
          <a:p>
            <a:r>
              <a:rPr lang="en-US" altLang="en-US"/>
              <a:t>Functions in JavaScript are reusable blocks of code designed to perform specific tasks. They allow you to organize, reuse, and modularize code. It can take inputs, perform actions, and return outputs.</a:t>
            </a:r>
            <a:endParaRPr lang="en-US" altLang="en-US"/>
          </a:p>
        </p:txBody>
      </p:sp>
      <p:sp>
        <p:nvSpPr>
          <p:cNvPr id="4" name="Slide Number Placeholder 3"/>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pic>
        <p:nvPicPr>
          <p:cNvPr id="5" name="Picture 4"/>
          <p:cNvPicPr>
            <a:picLocks noChangeAspect="1"/>
          </p:cNvPicPr>
          <p:nvPr/>
        </p:nvPicPr>
        <p:blipFill>
          <a:blip r:embed="rId1"/>
          <a:stretch>
            <a:fillRect/>
          </a:stretch>
        </p:blipFill>
        <p:spPr>
          <a:xfrm>
            <a:off x="889635" y="2843530"/>
            <a:ext cx="7797165" cy="38328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6" name="TextBox 5"/>
          <p:cNvSpPr txBox="1"/>
          <p:nvPr/>
        </p:nvSpPr>
        <p:spPr>
          <a:xfrm>
            <a:off x="259080" y="968404"/>
            <a:ext cx="8803640" cy="400110"/>
          </a:xfrm>
          <a:prstGeom prst="rect">
            <a:avLst/>
          </a:prstGeom>
          <a:noFill/>
        </p:spPr>
        <p:txBody>
          <a:bodyPr wrap="square">
            <a:spAutoFit/>
          </a:bodyPr>
          <a:lstStyle/>
          <a:p>
            <a:pPr algn="just">
              <a:buFont typeface="Arial" panose="020B0604020202020204" pitchFamily="34" charset="0"/>
              <a:buChar char="•"/>
            </a:pPr>
            <a:endParaRPr lang="en-US" sz="2000" b="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7" name="TextBox 6"/>
          <p:cNvSpPr txBox="1"/>
          <p:nvPr/>
        </p:nvSpPr>
        <p:spPr>
          <a:xfrm>
            <a:off x="35560" y="136525"/>
            <a:ext cx="6517640" cy="584775"/>
          </a:xfrm>
          <a:prstGeom prst="rect">
            <a:avLst/>
          </a:prstGeom>
          <a:noFill/>
        </p:spPr>
        <p:txBody>
          <a:bodyPr wrap="square">
            <a:spAutoFit/>
          </a:bodyPr>
          <a:lstStyle/>
          <a:p>
            <a:pPr algn="just"/>
            <a:r>
              <a:rPr lang="en-US" sz="3200" b="1" i="0" dirty="0">
                <a:solidFill>
                  <a:srgbClr val="212529"/>
                </a:solidFill>
                <a:effectLst/>
                <a:latin typeface="Times New Roman" panose="02020603050405020304" pitchFamily="18" charset="0"/>
                <a:cs typeface="Times New Roman" panose="02020603050405020304" pitchFamily="18" charset="0"/>
              </a:rPr>
              <a:t>Syntax for Function Declaration:</a:t>
            </a:r>
            <a:endParaRPr lang="en-US" sz="3200" b="1" i="0" dirty="0">
              <a:solidFill>
                <a:srgbClr val="212529"/>
              </a:solidFill>
              <a:effectLst/>
              <a:latin typeface="Times New Roman" panose="02020603050405020304" pitchFamily="18" charset="0"/>
              <a:cs typeface="Times New Roman" panose="02020603050405020304" pitchFamily="18" charset="0"/>
            </a:endParaRPr>
          </a:p>
        </p:txBody>
      </p:sp>
      <p:sp>
        <p:nvSpPr>
          <p:cNvPr id="9" name="TextBox 8"/>
          <p:cNvSpPr txBox="1"/>
          <p:nvPr/>
        </p:nvSpPr>
        <p:spPr>
          <a:xfrm>
            <a:off x="259080" y="1168459"/>
            <a:ext cx="8625840" cy="4893647"/>
          </a:xfrm>
          <a:prstGeom prst="rect">
            <a:avLst/>
          </a:prstGeom>
          <a:noFill/>
        </p:spPr>
        <p:txBody>
          <a:bodyPr wrap="square">
            <a:spAutoFit/>
          </a:bodyPr>
          <a:lstStyle/>
          <a:p>
            <a:endParaRPr lang="en-US" sz="2400" b="0" i="0" dirty="0">
              <a:solidFill>
                <a:srgbClr val="212529"/>
              </a:solidFill>
              <a:effectLst/>
              <a:latin typeface="Times New Roman" panose="02020603050405020304" pitchFamily="18" charset="0"/>
              <a:cs typeface="Times New Roman" panose="02020603050405020304" pitchFamily="18" charset="0"/>
            </a:endParaRPr>
          </a:p>
          <a:p>
            <a:r>
              <a:rPr lang="en-US" sz="2400" b="0" i="1" dirty="0">
                <a:solidFill>
                  <a:srgbClr val="212529"/>
                </a:solidFill>
                <a:effectLst/>
                <a:latin typeface="Times New Roman" panose="02020603050405020304" pitchFamily="18" charset="0"/>
                <a:cs typeface="Times New Roman" panose="02020603050405020304" pitchFamily="18" charset="0"/>
              </a:rPr>
              <a:t>function </a:t>
            </a:r>
            <a:r>
              <a:rPr lang="en-US" sz="2400" b="0" i="1" dirty="0" err="1">
                <a:solidFill>
                  <a:srgbClr val="212529"/>
                </a:solidFill>
                <a:effectLst/>
                <a:latin typeface="Times New Roman" panose="02020603050405020304" pitchFamily="18" charset="0"/>
                <a:cs typeface="Times New Roman" panose="02020603050405020304" pitchFamily="18" charset="0"/>
              </a:rPr>
              <a:t>functionName</a:t>
            </a:r>
            <a:r>
              <a:rPr lang="en-US" sz="2400" b="0" i="1" dirty="0">
                <a:solidFill>
                  <a:srgbClr val="212529"/>
                </a:solidFill>
                <a:effectLst/>
                <a:latin typeface="Times New Roman" panose="02020603050405020304" pitchFamily="18" charset="0"/>
                <a:cs typeface="Times New Roman" panose="02020603050405020304" pitchFamily="18" charset="0"/>
              </a:rPr>
              <a:t>(x, y) { statements... return (z) };</a:t>
            </a:r>
            <a:endParaRPr lang="en-US" sz="2400" b="0" i="1" dirty="0">
              <a:solidFill>
                <a:srgbClr val="212529"/>
              </a:solidFill>
              <a:effectLst/>
              <a:latin typeface="Times New Roman" panose="02020603050405020304" pitchFamily="18" charset="0"/>
              <a:cs typeface="Times New Roman" panose="02020603050405020304" pitchFamily="18" charset="0"/>
            </a:endParaRPr>
          </a:p>
          <a:p>
            <a:endParaRPr lang="en-US" sz="2400" b="0" i="1" dirty="0">
              <a:solidFill>
                <a:srgbClr val="212529"/>
              </a:solidFill>
              <a:effectLst/>
              <a:latin typeface="Times New Roman" panose="02020603050405020304" pitchFamily="18" charset="0"/>
              <a:cs typeface="Times New Roman" panose="02020603050405020304" pitchFamily="18" charset="0"/>
            </a:endParaRPr>
          </a:p>
          <a:p>
            <a:r>
              <a:rPr lang="en-US" sz="2400" b="1" i="1" dirty="0">
                <a:solidFill>
                  <a:srgbClr val="212529"/>
                </a:solidFill>
                <a:effectLst/>
                <a:latin typeface="Times New Roman" panose="02020603050405020304" pitchFamily="18" charset="0"/>
                <a:cs typeface="Times New Roman" panose="02020603050405020304" pitchFamily="18" charset="0"/>
              </a:rPr>
              <a:t>Syntax for Function Expression (anonymous):</a:t>
            </a:r>
            <a:endParaRPr lang="en-US" sz="2400" b="1" i="1" dirty="0">
              <a:solidFill>
                <a:srgbClr val="212529"/>
              </a:solidFill>
              <a:effectLst/>
              <a:latin typeface="Times New Roman" panose="02020603050405020304" pitchFamily="18" charset="0"/>
              <a:cs typeface="Times New Roman" panose="02020603050405020304" pitchFamily="18" charset="0"/>
            </a:endParaRPr>
          </a:p>
          <a:p>
            <a:endParaRPr lang="en-US" sz="2400" b="0" i="1" dirty="0">
              <a:solidFill>
                <a:srgbClr val="212529"/>
              </a:solidFill>
              <a:effectLst/>
              <a:latin typeface="Times New Roman" panose="02020603050405020304" pitchFamily="18" charset="0"/>
              <a:cs typeface="Times New Roman" panose="02020603050405020304" pitchFamily="18" charset="0"/>
            </a:endParaRPr>
          </a:p>
          <a:p>
            <a:r>
              <a:rPr lang="en-US" sz="2400" b="0" i="1" dirty="0">
                <a:solidFill>
                  <a:srgbClr val="212529"/>
                </a:solidFill>
                <a:effectLst/>
                <a:latin typeface="Times New Roman" panose="02020603050405020304" pitchFamily="18" charset="0"/>
                <a:cs typeface="Times New Roman" panose="02020603050405020304" pitchFamily="18" charset="0"/>
              </a:rPr>
              <a:t>let </a:t>
            </a:r>
            <a:r>
              <a:rPr lang="en-US" sz="2400" b="0" i="1" dirty="0" err="1">
                <a:solidFill>
                  <a:srgbClr val="212529"/>
                </a:solidFill>
                <a:effectLst/>
                <a:latin typeface="Times New Roman" panose="02020603050405020304" pitchFamily="18" charset="0"/>
                <a:cs typeface="Times New Roman" panose="02020603050405020304" pitchFamily="18" charset="0"/>
              </a:rPr>
              <a:t>variableName</a:t>
            </a:r>
            <a:r>
              <a:rPr lang="en-US" sz="2400" b="0" i="1" dirty="0">
                <a:solidFill>
                  <a:srgbClr val="212529"/>
                </a:solidFill>
                <a:effectLst/>
                <a:latin typeface="Times New Roman" panose="02020603050405020304" pitchFamily="18" charset="0"/>
                <a:cs typeface="Times New Roman" panose="02020603050405020304" pitchFamily="18" charset="0"/>
              </a:rPr>
              <a:t> = function(x, y) { statements... return (z) };</a:t>
            </a:r>
            <a:endParaRPr lang="en-US" sz="2400" b="0" i="1" dirty="0">
              <a:solidFill>
                <a:srgbClr val="212529"/>
              </a:solidFill>
              <a:effectLst/>
              <a:latin typeface="Times New Roman" panose="02020603050405020304" pitchFamily="18" charset="0"/>
              <a:cs typeface="Times New Roman" panose="02020603050405020304" pitchFamily="18" charset="0"/>
            </a:endParaRPr>
          </a:p>
          <a:p>
            <a:r>
              <a:rPr lang="en-US" sz="2400" b="0" i="1" dirty="0">
                <a:solidFill>
                  <a:srgbClr val="212529"/>
                </a:solidFill>
                <a:effectLst/>
                <a:latin typeface="Times New Roman" panose="02020603050405020304" pitchFamily="18" charset="0"/>
                <a:cs typeface="Times New Roman" panose="02020603050405020304" pitchFamily="18" charset="0"/>
              </a:rPr>
              <a:t>Syntax for Function Expression (named): </a:t>
            </a:r>
            <a:endParaRPr lang="en-US" sz="2400" b="0" i="1" dirty="0">
              <a:solidFill>
                <a:srgbClr val="212529"/>
              </a:solidFill>
              <a:effectLst/>
              <a:latin typeface="Times New Roman" panose="02020603050405020304" pitchFamily="18" charset="0"/>
              <a:cs typeface="Times New Roman" panose="02020603050405020304" pitchFamily="18" charset="0"/>
            </a:endParaRPr>
          </a:p>
          <a:p>
            <a:endParaRPr lang="en-US" sz="2400" b="0" i="1" dirty="0">
              <a:solidFill>
                <a:srgbClr val="212529"/>
              </a:solidFill>
              <a:effectLst/>
              <a:latin typeface="Times New Roman" panose="02020603050405020304" pitchFamily="18" charset="0"/>
              <a:cs typeface="Times New Roman" panose="02020603050405020304" pitchFamily="18" charset="0"/>
            </a:endParaRPr>
          </a:p>
          <a:p>
            <a:r>
              <a:rPr lang="en-US" sz="2400" b="0" i="1" dirty="0">
                <a:solidFill>
                  <a:srgbClr val="212529"/>
                </a:solidFill>
                <a:effectLst/>
                <a:latin typeface="Times New Roman" panose="02020603050405020304" pitchFamily="18" charset="0"/>
                <a:cs typeface="Times New Roman" panose="02020603050405020304" pitchFamily="18" charset="0"/>
              </a:rPr>
              <a:t>let </a:t>
            </a:r>
            <a:r>
              <a:rPr lang="en-US" sz="2400" b="0" i="1" dirty="0" err="1">
                <a:solidFill>
                  <a:srgbClr val="212529"/>
                </a:solidFill>
                <a:effectLst/>
                <a:latin typeface="Times New Roman" panose="02020603050405020304" pitchFamily="18" charset="0"/>
                <a:cs typeface="Times New Roman" panose="02020603050405020304" pitchFamily="18" charset="0"/>
              </a:rPr>
              <a:t>variableName</a:t>
            </a:r>
            <a:r>
              <a:rPr lang="en-US" sz="2400" b="0" i="1" dirty="0">
                <a:solidFill>
                  <a:srgbClr val="212529"/>
                </a:solidFill>
                <a:effectLst/>
                <a:latin typeface="Times New Roman" panose="02020603050405020304" pitchFamily="18" charset="0"/>
                <a:cs typeface="Times New Roman" panose="02020603050405020304" pitchFamily="18" charset="0"/>
              </a:rPr>
              <a:t> = function </a:t>
            </a:r>
            <a:r>
              <a:rPr lang="en-US" sz="2400" b="0" i="1" dirty="0" err="1">
                <a:solidFill>
                  <a:srgbClr val="212529"/>
                </a:solidFill>
                <a:effectLst/>
                <a:latin typeface="Times New Roman" panose="02020603050405020304" pitchFamily="18" charset="0"/>
                <a:cs typeface="Times New Roman" panose="02020603050405020304" pitchFamily="18" charset="0"/>
              </a:rPr>
              <a:t>functionName</a:t>
            </a:r>
            <a:r>
              <a:rPr lang="en-US" sz="2400" b="0" i="1" dirty="0">
                <a:solidFill>
                  <a:srgbClr val="212529"/>
                </a:solidFill>
                <a:effectLst/>
                <a:latin typeface="Times New Roman" panose="02020603050405020304" pitchFamily="18" charset="0"/>
                <a:cs typeface="Times New Roman" panose="02020603050405020304" pitchFamily="18" charset="0"/>
              </a:rPr>
              <a:t>(x, y) </a:t>
            </a:r>
            <a:endParaRPr lang="en-US" sz="2400" b="0" i="1" dirty="0">
              <a:solidFill>
                <a:srgbClr val="212529"/>
              </a:solidFill>
              <a:effectLst/>
              <a:latin typeface="Times New Roman" panose="02020603050405020304" pitchFamily="18" charset="0"/>
              <a:cs typeface="Times New Roman" panose="02020603050405020304" pitchFamily="18" charset="0"/>
            </a:endParaRPr>
          </a:p>
          <a:p>
            <a:r>
              <a:rPr lang="en-US" sz="2400" b="0" i="1" dirty="0">
                <a:solidFill>
                  <a:srgbClr val="212529"/>
                </a:solidFill>
                <a:effectLst/>
                <a:latin typeface="Times New Roman" panose="02020603050405020304" pitchFamily="18" charset="0"/>
                <a:cs typeface="Times New Roman" panose="02020603050405020304" pitchFamily="18" charset="0"/>
              </a:rPr>
              <a:t>{ statements... return (z) };</a:t>
            </a:r>
            <a:endParaRPr lang="en-US" sz="2400" b="0" i="1" dirty="0">
              <a:solidFill>
                <a:srgbClr val="212529"/>
              </a:solidFill>
              <a:effectLst/>
              <a:latin typeface="Times New Roman" panose="02020603050405020304" pitchFamily="18" charset="0"/>
              <a:cs typeface="Times New Roman" panose="02020603050405020304" pitchFamily="18" charset="0"/>
            </a:endParaRPr>
          </a:p>
          <a:p>
            <a:endParaRPr lang="en-US" sz="2400" b="0" i="1" dirty="0">
              <a:solidFill>
                <a:srgbClr val="212529"/>
              </a:solidFill>
              <a:effectLst/>
              <a:latin typeface="Times New Roman" panose="02020603050405020304" pitchFamily="18" charset="0"/>
              <a:cs typeface="Times New Roman" panose="02020603050405020304" pitchFamily="18" charset="0"/>
            </a:endParaRPr>
          </a:p>
          <a:p>
            <a:r>
              <a:rPr lang="en-US" sz="2400" b="1" i="1" dirty="0">
                <a:solidFill>
                  <a:srgbClr val="212529"/>
                </a:solidFill>
                <a:effectLst/>
                <a:latin typeface="Times New Roman" panose="02020603050405020304" pitchFamily="18" charset="0"/>
                <a:cs typeface="Times New Roman" panose="02020603050405020304" pitchFamily="18" charset="0"/>
              </a:rPr>
              <a:t>Syntax for Arrow Function: </a:t>
            </a:r>
            <a:endParaRPr lang="en-US" sz="2400" b="1" i="1" dirty="0">
              <a:solidFill>
                <a:srgbClr val="212529"/>
              </a:solidFill>
              <a:effectLst/>
              <a:latin typeface="Times New Roman" panose="02020603050405020304" pitchFamily="18" charset="0"/>
              <a:cs typeface="Times New Roman" panose="02020603050405020304" pitchFamily="18" charset="0"/>
            </a:endParaRPr>
          </a:p>
          <a:p>
            <a:r>
              <a:rPr lang="en-US" sz="2400" b="0" i="1" dirty="0">
                <a:solidFill>
                  <a:srgbClr val="212529"/>
                </a:solidFill>
                <a:effectLst/>
                <a:latin typeface="Times New Roman" panose="02020603050405020304" pitchFamily="18" charset="0"/>
                <a:cs typeface="Times New Roman" panose="02020603050405020304" pitchFamily="18" charset="0"/>
              </a:rPr>
              <a:t>let </a:t>
            </a:r>
            <a:r>
              <a:rPr lang="en-US" sz="2400" b="0" i="1" dirty="0" err="1">
                <a:solidFill>
                  <a:srgbClr val="212529"/>
                </a:solidFill>
                <a:effectLst/>
                <a:latin typeface="Times New Roman" panose="02020603050405020304" pitchFamily="18" charset="0"/>
                <a:cs typeface="Times New Roman" panose="02020603050405020304" pitchFamily="18" charset="0"/>
              </a:rPr>
              <a:t>variableName</a:t>
            </a:r>
            <a:r>
              <a:rPr lang="en-US" sz="2400" b="0" i="1" dirty="0">
                <a:solidFill>
                  <a:srgbClr val="212529"/>
                </a:solidFill>
                <a:effectLst/>
                <a:latin typeface="Times New Roman" panose="02020603050405020304" pitchFamily="18" charset="0"/>
                <a:cs typeface="Times New Roman" panose="02020603050405020304" pitchFamily="18" charset="0"/>
              </a:rPr>
              <a:t> = (x, y) =&gt; { statements... return (z) }; </a:t>
            </a:r>
            <a:endParaRPr lang="en-US" sz="2000" b="0" i="1" dirty="0">
              <a:solidFill>
                <a:srgbClr val="000000"/>
              </a:solidFill>
              <a:effectLst/>
              <a:highlight>
                <a:srgbClr val="FFFFFF"/>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Understanding Functions</a:t>
            </a:r>
            <a:endParaRPr lang="en-US"/>
          </a:p>
        </p:txBody>
      </p:sp>
      <p:sp>
        <p:nvSpPr>
          <p:cNvPr id="3" name="Text Placeholder 2"/>
          <p:cNvSpPr>
            <a:spLocks noGrp="1"/>
          </p:cNvSpPr>
          <p:nvPr>
            <p:ph type="body" idx="1"/>
          </p:nvPr>
        </p:nvSpPr>
        <p:spPr/>
        <p:txBody>
          <a:bodyPr/>
          <a:p>
            <a:pPr marL="88900" indent="0">
              <a:buNone/>
            </a:pPr>
            <a:r>
              <a:rPr lang="en-US" altLang="en-US"/>
              <a:t>In functions, parameters are placeholders defined in the function, while arguments are the actual values you pass when calling the function</a:t>
            </a:r>
            <a:endParaRPr lang="en-US" altLang="en-US"/>
          </a:p>
          <a:p>
            <a:endParaRPr lang="en-US" altLang="en-US"/>
          </a:p>
          <a:p>
            <a:r>
              <a:rPr lang="en-US" altLang="en-US"/>
              <a:t>Example:</a:t>
            </a:r>
            <a:endParaRPr lang="en-US" altLang="en-US"/>
          </a:p>
          <a:p>
            <a:pPr marL="88900" indent="0">
              <a:buNone/>
            </a:pPr>
            <a:r>
              <a:rPr lang="en-US" altLang="en-US"/>
              <a:t>function greet(name) {   // 'name' is a parameter</a:t>
            </a:r>
            <a:endParaRPr lang="en-US" altLang="en-US"/>
          </a:p>
          <a:p>
            <a:pPr marL="88900" indent="0">
              <a:buNone/>
            </a:pPr>
            <a:r>
              <a:rPr lang="en-US" altLang="en-US"/>
              <a:t>  console.log("Hello " + name);</a:t>
            </a:r>
            <a:endParaRPr lang="en-US" altLang="en-US"/>
          </a:p>
          <a:p>
            <a:pPr marL="88900" indent="0">
              <a:buNone/>
            </a:pPr>
            <a:r>
              <a:rPr lang="en-US" altLang="en-US"/>
              <a:t>}</a:t>
            </a:r>
            <a:endParaRPr lang="en-US" altLang="en-US"/>
          </a:p>
          <a:p>
            <a:pPr marL="88900" indent="0">
              <a:buNone/>
            </a:pPr>
            <a:r>
              <a:rPr lang="en-US" altLang="en-US"/>
              <a:t>greet("Alice");  // "Alice" is the argument</a:t>
            </a:r>
            <a:endParaRPr lang="en-US" altLang="en-US"/>
          </a:p>
          <a:p>
            <a:pPr marL="88900" indent="0">
              <a:buNone/>
            </a:pPr>
            <a:endParaRPr lang="en-US" altLang="en-US"/>
          </a:p>
          <a:p>
            <a:pPr marL="88900" indent="0">
              <a:buNone/>
            </a:pPr>
            <a:r>
              <a:rPr lang="en-US" altLang="en-US"/>
              <a:t>Parameter → name (placeholder inside the function).</a:t>
            </a:r>
            <a:endParaRPr lang="en-US" altLang="en-US"/>
          </a:p>
          <a:p>
            <a:pPr marL="88900" indent="0">
              <a:buNone/>
            </a:pPr>
            <a:r>
              <a:rPr lang="en-US" altLang="en-US"/>
              <a:t>Argument → "Alice" (real value given at call time).</a:t>
            </a:r>
            <a:endParaRPr lang="en-US" altLang="en-US"/>
          </a:p>
        </p:txBody>
      </p:sp>
      <p:sp>
        <p:nvSpPr>
          <p:cNvPr id="4" name="Slide Number Placeholder 3"/>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3" name="TextBox 2"/>
          <p:cNvSpPr txBox="1"/>
          <p:nvPr/>
        </p:nvSpPr>
        <p:spPr>
          <a:xfrm>
            <a:off x="538480" y="152400"/>
            <a:ext cx="5737860" cy="583565"/>
          </a:xfrm>
          <a:prstGeom prst="rect">
            <a:avLst/>
          </a:prstGeom>
          <a:noFill/>
        </p:spPr>
        <p:txBody>
          <a:bodyPr wrap="none" rtlCol="0">
            <a:spAutoFit/>
          </a:bodyPr>
          <a:lstStyle/>
          <a:p>
            <a:pPr algn="l" fontAlgn="base"/>
            <a:r>
              <a:rPr lang="en-US" sz="3200" b="1" i="0" dirty="0">
                <a:solidFill>
                  <a:srgbClr val="273239"/>
                </a:solidFill>
                <a:effectLst/>
                <a:latin typeface="Times New Roman" panose="02020603050405020304" pitchFamily="18" charset="0"/>
                <a:cs typeface="Times New Roman" panose="02020603050405020304" pitchFamily="18" charset="0"/>
              </a:rPr>
              <a:t>JavaScript Function Expression</a:t>
            </a:r>
            <a:endParaRPr lang="en-US" sz="3200" b="1" i="0" dirty="0">
              <a:solidFill>
                <a:srgbClr val="273239"/>
              </a:solidFill>
              <a:effectLst/>
              <a:latin typeface="Times New Roman" panose="02020603050405020304" pitchFamily="18" charset="0"/>
              <a:cs typeface="Times New Roman" panose="02020603050405020304" pitchFamily="18" charset="0"/>
            </a:endParaRPr>
          </a:p>
        </p:txBody>
      </p:sp>
      <p:sp>
        <p:nvSpPr>
          <p:cNvPr id="6" name="TextBox 5"/>
          <p:cNvSpPr txBox="1"/>
          <p:nvPr/>
        </p:nvSpPr>
        <p:spPr>
          <a:xfrm>
            <a:off x="259080" y="968404"/>
            <a:ext cx="8803640" cy="400110"/>
          </a:xfrm>
          <a:prstGeom prst="rect">
            <a:avLst/>
          </a:prstGeom>
          <a:noFill/>
        </p:spPr>
        <p:txBody>
          <a:bodyPr wrap="square">
            <a:spAutoFit/>
          </a:bodyPr>
          <a:lstStyle/>
          <a:p>
            <a:pPr algn="just">
              <a:buFont typeface="Arial" panose="020B0604020202020204" pitchFamily="34" charset="0"/>
              <a:buChar char="•"/>
            </a:pPr>
            <a:endParaRPr lang="en-US" sz="2000" b="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5" name="TextBox 4"/>
          <p:cNvSpPr txBox="1"/>
          <p:nvPr/>
        </p:nvSpPr>
        <p:spPr>
          <a:xfrm>
            <a:off x="259080" y="1168459"/>
            <a:ext cx="8625840" cy="5169535"/>
          </a:xfrm>
          <a:prstGeom prst="rect">
            <a:avLst/>
          </a:prstGeom>
          <a:noFill/>
        </p:spPr>
        <p:txBody>
          <a:bodyPr wrap="square">
            <a:spAutoFit/>
          </a:bodyPr>
          <a:lstStyle/>
          <a:p>
            <a:pPr algn="just" fontAlgn="base">
              <a:lnSpc>
                <a:spcPct val="150000"/>
              </a:lnSpc>
            </a:pPr>
            <a:r>
              <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rPr>
              <a:t>The </a:t>
            </a:r>
            <a:r>
              <a:rPr lang="en-US" sz="2200" b="0" i="0" dirty="0" err="1">
                <a:solidFill>
                  <a:srgbClr val="273239"/>
                </a:solidFill>
                <a:effectLst/>
                <a:highlight>
                  <a:srgbClr val="FFFFFF"/>
                </a:highlight>
                <a:latin typeface="Times New Roman" panose="02020603050405020304" pitchFamily="18" charset="0"/>
                <a:cs typeface="Times New Roman" panose="02020603050405020304" pitchFamily="18" charset="0"/>
              </a:rPr>
              <a:t>Javascript</a:t>
            </a:r>
            <a:r>
              <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rPr>
              <a:t> </a:t>
            </a:r>
            <a:r>
              <a:rPr lang="en-US" sz="2200" b="1" i="0" dirty="0">
                <a:solidFill>
                  <a:srgbClr val="273239"/>
                </a:solidFill>
                <a:effectLst/>
                <a:highlight>
                  <a:srgbClr val="FFFFFF"/>
                </a:highlight>
                <a:latin typeface="Times New Roman" panose="02020603050405020304" pitchFamily="18" charset="0"/>
                <a:cs typeface="Times New Roman" panose="02020603050405020304" pitchFamily="18" charset="0"/>
              </a:rPr>
              <a:t>Function Expression </a:t>
            </a:r>
            <a:r>
              <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rPr>
              <a:t>is used to define a function inside any expression. The Function Expression</a:t>
            </a:r>
            <a:r>
              <a:rPr lang="en-US" sz="2200" b="1" i="0" dirty="0">
                <a:solidFill>
                  <a:srgbClr val="273239"/>
                </a:solidFill>
                <a:effectLst/>
                <a:highlight>
                  <a:srgbClr val="FFFFFF"/>
                </a:highlight>
                <a:latin typeface="Times New Roman" panose="02020603050405020304" pitchFamily="18" charset="0"/>
                <a:cs typeface="Times New Roman" panose="02020603050405020304" pitchFamily="18" charset="0"/>
              </a:rPr>
              <a:t> </a:t>
            </a:r>
            <a:r>
              <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rPr>
              <a:t>allows us to create an anonymous function that doesn’t have any function name which is the main difference between Function Expression and Function Declaration. </a:t>
            </a:r>
            <a:endPar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just" fontAlgn="base">
              <a:lnSpc>
                <a:spcPct val="150000"/>
              </a:lnSpc>
            </a:pPr>
            <a:endParaRPr lang="en-US" sz="2200" dirty="0">
              <a:solidFill>
                <a:srgbClr val="273239"/>
              </a:solidFill>
              <a:highlight>
                <a:srgbClr val="FFFFFF"/>
              </a:highlight>
              <a:latin typeface="Times New Roman" panose="02020603050405020304" pitchFamily="18" charset="0"/>
              <a:cs typeface="Times New Roman" panose="02020603050405020304" pitchFamily="18" charset="0"/>
            </a:endParaRPr>
          </a:p>
          <a:p>
            <a:pPr algn="just" fontAlgn="base">
              <a:lnSpc>
                <a:spcPct val="150000"/>
              </a:lnSpc>
            </a:pPr>
            <a:r>
              <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rPr>
              <a:t>A function expression can be used as an IIFE (Immediately Invoked Function Expression)which runs as soon as it is defined. A function expression has to be stored in a variable and can be accessed using </a:t>
            </a:r>
            <a:r>
              <a:rPr lang="en-US" sz="2200" b="0" i="1" dirty="0" err="1">
                <a:solidFill>
                  <a:srgbClr val="273239"/>
                </a:solidFill>
                <a:effectLst/>
                <a:highlight>
                  <a:srgbClr val="FFFFFF"/>
                </a:highlight>
                <a:latin typeface="Times New Roman" panose="02020603050405020304" pitchFamily="18" charset="0"/>
                <a:cs typeface="Times New Roman" panose="02020603050405020304" pitchFamily="18" charset="0"/>
              </a:rPr>
              <a:t>variableName</a:t>
            </a:r>
            <a:r>
              <a:rPr lang="en-US" sz="2200" b="0" i="1" dirty="0">
                <a:solidFill>
                  <a:srgbClr val="273239"/>
                </a:solidFill>
                <a:effectLst/>
                <a:highlight>
                  <a:srgbClr val="FFFFFF"/>
                </a:highlight>
                <a:latin typeface="Times New Roman" panose="02020603050405020304" pitchFamily="18" charset="0"/>
                <a:cs typeface="Times New Roman" panose="02020603050405020304" pitchFamily="18" charset="0"/>
              </a:rPr>
              <a:t>. </a:t>
            </a:r>
            <a:r>
              <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rPr>
              <a:t> With the ES6 features introducing Arrow Function, it becomes more easier to declare function expression</a:t>
            </a:r>
            <a:endPar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3" name="Text Box 2"/>
          <p:cNvSpPr txBox="1"/>
          <p:nvPr/>
        </p:nvSpPr>
        <p:spPr>
          <a:xfrm>
            <a:off x="221615" y="958850"/>
            <a:ext cx="8733155" cy="5397500"/>
          </a:xfrm>
          <a:prstGeom prst="rect">
            <a:avLst/>
          </a:prstGeom>
        </p:spPr>
        <p:txBody>
          <a:bodyPr>
            <a:noAutofit/>
          </a:bodyPr>
          <a:p>
            <a:pPr marL="0" indent="0" algn="just" fontAlgn="base">
              <a:spcBef>
                <a:spcPct val="0"/>
              </a:spcBef>
              <a:spcAft>
                <a:spcPts val="500"/>
              </a:spcAft>
            </a:pPr>
            <a:r>
              <a:rPr lang="en-US" altLang="zh-CN" sz="2000" b="0">
                <a:latin typeface="Times New Roman" panose="02020603050405020304" pitchFamily="18" charset="0"/>
                <a:ea typeface="Nunito"/>
                <a:cs typeface="Times New Roman" panose="02020603050405020304" pitchFamily="18" charset="0"/>
              </a:rPr>
              <a:t>A function expression is a way to define a function by assigning it to a variable or using it within an expression, allowing the function to be stored, passed as an argument, or executed immediately.</a:t>
            </a:r>
            <a:endParaRPr lang="en-US" altLang="zh-CN" sz="2000" b="0">
              <a:latin typeface="Times New Roman" panose="02020603050405020304" pitchFamily="18" charset="0"/>
              <a:ea typeface="Nunito"/>
              <a:cs typeface="Times New Roman" panose="02020603050405020304" pitchFamily="18" charset="0"/>
            </a:endParaRPr>
          </a:p>
          <a:p>
            <a:pPr marL="152400" indent="0" algn="just" fontAlgn="base">
              <a:spcBef>
                <a:spcPct val="0"/>
              </a:spcBef>
              <a:spcAft>
                <a:spcPct val="0"/>
              </a:spcAft>
              <a:buFont typeface="Arial" panose="020B0604020202020204"/>
              <a:buChar char="•"/>
            </a:pPr>
            <a:r>
              <a:rPr lang="en-US" altLang="zh-CN" sz="2000">
                <a:solidFill>
                  <a:srgbClr val="273239"/>
                </a:solidFill>
                <a:latin typeface="Times New Roman" panose="02020603050405020304" pitchFamily="18" charset="0"/>
                <a:ea typeface="Nunito"/>
                <a:cs typeface="Times New Roman" panose="02020603050405020304" pitchFamily="18" charset="0"/>
              </a:rPr>
              <a:t>Function expressions can be named or anonymous.</a:t>
            </a:r>
            <a:endParaRPr lang="en-US" altLang="zh-CN" sz="2000">
              <a:solidFill>
                <a:srgbClr val="273239"/>
              </a:solidFill>
              <a:latin typeface="Times New Roman" panose="02020603050405020304" pitchFamily="18" charset="0"/>
              <a:ea typeface="Nunito"/>
              <a:cs typeface="Times New Roman" panose="02020603050405020304" pitchFamily="18" charset="0"/>
            </a:endParaRPr>
          </a:p>
          <a:p>
            <a:pPr marL="152400" indent="0" algn="just" fontAlgn="base">
              <a:spcBef>
                <a:spcPct val="0"/>
              </a:spcBef>
              <a:spcAft>
                <a:spcPct val="0"/>
              </a:spcAft>
              <a:buFont typeface="Arial" panose="020B0604020202020204"/>
              <a:buChar char="•"/>
            </a:pPr>
            <a:r>
              <a:rPr lang="en-US" altLang="zh-CN" sz="2000">
                <a:solidFill>
                  <a:srgbClr val="273239"/>
                </a:solidFill>
                <a:latin typeface="Times New Roman" panose="02020603050405020304" pitchFamily="18" charset="0"/>
                <a:ea typeface="Nunito"/>
                <a:cs typeface="Times New Roman" panose="02020603050405020304" pitchFamily="18" charset="0"/>
              </a:rPr>
              <a:t>They are not </a:t>
            </a:r>
            <a:r>
              <a:rPr lang="en-US" altLang="zh-CN" sz="2000" b="0" u="sng">
                <a:solidFill>
                  <a:srgbClr val="273239"/>
                </a:solidFill>
                <a:latin typeface="Times New Roman" panose="02020603050405020304" pitchFamily="18" charset="0"/>
                <a:ea typeface="Nunito"/>
                <a:cs typeface="Times New Roman" panose="02020603050405020304" pitchFamily="18" charset="0"/>
                <a:hlinkClick r:id="rId1"/>
              </a:rPr>
              <a:t>hoisted</a:t>
            </a:r>
            <a:r>
              <a:rPr lang="en-US" altLang="zh-CN" sz="2000">
                <a:solidFill>
                  <a:srgbClr val="273239"/>
                </a:solidFill>
                <a:latin typeface="Times New Roman" panose="02020603050405020304" pitchFamily="18" charset="0"/>
                <a:ea typeface="Nunito"/>
                <a:cs typeface="Times New Roman" panose="02020603050405020304" pitchFamily="18" charset="0"/>
              </a:rPr>
              <a:t>, meaning they are accessible only after their definition.</a:t>
            </a:r>
            <a:endParaRPr lang="en-US" altLang="zh-CN" sz="2000">
              <a:solidFill>
                <a:srgbClr val="273239"/>
              </a:solidFill>
              <a:latin typeface="Times New Roman" panose="02020603050405020304" pitchFamily="18" charset="0"/>
              <a:ea typeface="Nunito"/>
              <a:cs typeface="Times New Roman" panose="02020603050405020304" pitchFamily="18" charset="0"/>
            </a:endParaRPr>
          </a:p>
          <a:p>
            <a:pPr marL="152400" indent="0" algn="just" fontAlgn="base">
              <a:spcBef>
                <a:spcPct val="0"/>
              </a:spcBef>
              <a:spcAft>
                <a:spcPct val="0"/>
              </a:spcAft>
              <a:buFont typeface="Arial" panose="020B0604020202020204"/>
              <a:buChar char="•"/>
            </a:pPr>
            <a:r>
              <a:rPr lang="en-US" altLang="zh-CN" sz="2000">
                <a:solidFill>
                  <a:srgbClr val="273239"/>
                </a:solidFill>
                <a:latin typeface="Times New Roman" panose="02020603050405020304" pitchFamily="18" charset="0"/>
                <a:ea typeface="Nunito"/>
                <a:cs typeface="Times New Roman" panose="02020603050405020304" pitchFamily="18" charset="0"/>
              </a:rPr>
              <a:t>Frequently used in </a:t>
            </a:r>
            <a:r>
              <a:rPr lang="en-US" altLang="zh-CN" sz="2000" b="0" u="sng">
                <a:solidFill>
                  <a:srgbClr val="273239"/>
                </a:solidFill>
                <a:latin typeface="Times New Roman" panose="02020603050405020304" pitchFamily="18" charset="0"/>
                <a:ea typeface="Nunito"/>
                <a:cs typeface="Times New Roman" panose="02020603050405020304" pitchFamily="18" charset="0"/>
                <a:hlinkClick r:id="rId2"/>
              </a:rPr>
              <a:t>callbacks</a:t>
            </a:r>
            <a:r>
              <a:rPr lang="en-US" altLang="zh-CN" sz="2000">
                <a:solidFill>
                  <a:srgbClr val="273239"/>
                </a:solidFill>
                <a:latin typeface="Times New Roman" panose="02020603050405020304" pitchFamily="18" charset="0"/>
                <a:ea typeface="Nunito"/>
                <a:cs typeface="Times New Roman" panose="02020603050405020304" pitchFamily="18" charset="0"/>
              </a:rPr>
              <a:t>, </a:t>
            </a:r>
            <a:r>
              <a:rPr lang="en-US" altLang="zh-CN" sz="2000" b="0" u="sng">
                <a:solidFill>
                  <a:srgbClr val="273239"/>
                </a:solidFill>
                <a:latin typeface="Times New Roman" panose="02020603050405020304" pitchFamily="18" charset="0"/>
                <a:ea typeface="Nunito"/>
                <a:cs typeface="Times New Roman" panose="02020603050405020304" pitchFamily="18" charset="0"/>
                <a:hlinkClick r:id="rId3"/>
              </a:rPr>
              <a:t>closures</a:t>
            </a:r>
            <a:r>
              <a:rPr lang="en-US" altLang="zh-CN" sz="2000">
                <a:solidFill>
                  <a:srgbClr val="273239"/>
                </a:solidFill>
                <a:latin typeface="Times New Roman" panose="02020603050405020304" pitchFamily="18" charset="0"/>
                <a:ea typeface="Nunito"/>
                <a:cs typeface="Times New Roman" panose="02020603050405020304" pitchFamily="18" charset="0"/>
              </a:rPr>
              <a:t>, and dynamic function creation.</a:t>
            </a:r>
            <a:endParaRPr lang="en-US" altLang="zh-CN" sz="2000">
              <a:solidFill>
                <a:srgbClr val="273239"/>
              </a:solidFill>
              <a:latin typeface="Times New Roman" panose="02020603050405020304" pitchFamily="18" charset="0"/>
              <a:ea typeface="Nunito"/>
              <a:cs typeface="Times New Roman" panose="02020603050405020304" pitchFamily="18" charset="0"/>
            </a:endParaRPr>
          </a:p>
          <a:p>
            <a:pPr marL="152400" indent="0" algn="just" fontAlgn="base">
              <a:spcBef>
                <a:spcPct val="0"/>
              </a:spcBef>
              <a:spcAft>
                <a:spcPct val="0"/>
              </a:spcAft>
              <a:buFont typeface="Arial" panose="020B0604020202020204"/>
              <a:buChar char="•"/>
            </a:pPr>
            <a:r>
              <a:rPr lang="en-US" altLang="zh-CN" sz="2000">
                <a:solidFill>
                  <a:srgbClr val="273239"/>
                </a:solidFill>
                <a:latin typeface="Times New Roman" panose="02020603050405020304" pitchFamily="18" charset="0"/>
                <a:ea typeface="Nunito"/>
                <a:cs typeface="Times New Roman" panose="02020603050405020304" pitchFamily="18" charset="0"/>
              </a:rPr>
              <a:t>Enable</a:t>
            </a:r>
            <a:r>
              <a:rPr lang="en-US" altLang="zh-CN" sz="2000" b="0" u="sng">
                <a:solidFill>
                  <a:srgbClr val="273239"/>
                </a:solidFill>
                <a:latin typeface="Times New Roman" panose="02020603050405020304" pitchFamily="18" charset="0"/>
                <a:ea typeface="Nunito"/>
                <a:cs typeface="Times New Roman" panose="02020603050405020304" pitchFamily="18" charset="0"/>
                <a:hlinkClick r:id="rId4"/>
              </a:rPr>
              <a:t> </a:t>
            </a:r>
            <a:r>
              <a:rPr lang="en-US" altLang="zh-CN" sz="2000" b="0" u="sng">
                <a:solidFill>
                  <a:srgbClr val="273239"/>
                </a:solidFill>
                <a:latin typeface="Times New Roman" panose="02020603050405020304" pitchFamily="18" charset="0"/>
                <a:ea typeface="Nunito"/>
                <a:cs typeface="Times New Roman" panose="02020603050405020304" pitchFamily="18" charset="0"/>
                <a:hlinkClick r:id="rId4"/>
              </a:rPr>
              <a:t>encapsulation</a:t>
            </a:r>
            <a:r>
              <a:rPr lang="en-US" altLang="zh-CN" sz="2000">
                <a:solidFill>
                  <a:srgbClr val="273239"/>
                </a:solidFill>
                <a:latin typeface="Times New Roman" panose="02020603050405020304" pitchFamily="18" charset="0"/>
                <a:ea typeface="Nunito"/>
                <a:cs typeface="Times New Roman" panose="02020603050405020304" pitchFamily="18" charset="0"/>
              </a:rPr>
              <a:t> of functionality within a limited scope</a:t>
            </a:r>
            <a:r>
              <a:rPr lang="en-US" altLang="zh-CN" sz="1600">
                <a:solidFill>
                  <a:srgbClr val="273239"/>
                </a:solidFill>
                <a:latin typeface="Nunito"/>
                <a:ea typeface="Nunito"/>
              </a:rPr>
              <a:t>.</a:t>
            </a:r>
            <a:endParaRPr lang="en-US" altLang="zh-CN" sz="1600">
              <a:solidFill>
                <a:srgbClr val="273239"/>
              </a:solidFill>
              <a:latin typeface="Nunito"/>
              <a:ea typeface="Nunito"/>
            </a:endParaRPr>
          </a:p>
          <a:p>
            <a:pPr marL="152400" indent="0" algn="l" fontAlgn="base">
              <a:spcBef>
                <a:spcPct val="0"/>
              </a:spcBef>
              <a:spcAft>
                <a:spcPct val="0"/>
              </a:spcAft>
              <a:buFont typeface="Arial" panose="020B0604020202020204"/>
              <a:buChar char="•"/>
            </a:pPr>
            <a:endParaRPr lang="en-US" altLang="zh-CN" sz="1600">
              <a:solidFill>
                <a:srgbClr val="273239"/>
              </a:solidFill>
              <a:latin typeface="Nunito"/>
              <a:ea typeface="Nunito"/>
            </a:endParaRPr>
          </a:p>
        </p:txBody>
      </p:sp>
      <p:sp>
        <p:nvSpPr>
          <p:cNvPr id="4" name="Text Box 3"/>
          <p:cNvSpPr txBox="1"/>
          <p:nvPr/>
        </p:nvSpPr>
        <p:spPr>
          <a:xfrm>
            <a:off x="2371090" y="3750945"/>
            <a:ext cx="4572000" cy="1322070"/>
          </a:xfrm>
          <a:prstGeom prst="rect">
            <a:avLst/>
          </a:prstGeom>
          <a:noFill/>
        </p:spPr>
        <p:txBody>
          <a:bodyPr wrap="square" rtlCol="0" anchor="t">
            <a:spAutoFit/>
          </a:bodyPr>
          <a:p>
            <a:r>
              <a:rPr lang="en-US" altLang="en-US" sz="2000">
                <a:latin typeface="Times New Roman" panose="02020603050405020304" pitchFamily="18" charset="0"/>
                <a:cs typeface="Times New Roman" panose="02020603050405020304" pitchFamily="18" charset="0"/>
              </a:rPr>
              <a:t>const greet = function(name) {</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    return `Hello, ${name}!`;</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console.log(greet("Steven"));</a:t>
            </a: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4" name="TextBox 3"/>
          <p:cNvSpPr txBox="1"/>
          <p:nvPr/>
        </p:nvSpPr>
        <p:spPr>
          <a:xfrm>
            <a:off x="289560" y="1035625"/>
            <a:ext cx="8564880" cy="532320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 this, we will pass a function as a parameter in JavaScript. Passing a function as an argument to the function is quite similar to passing a variable as an argument to the function. So variables can be returned from a function. </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below examples describe passing a function as a parameter to another function. </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Example 1: This example passes a function </a:t>
            </a:r>
            <a:r>
              <a:rPr lang="en-US" sz="2000" dirty="0" err="1">
                <a:latin typeface="Times New Roman" panose="02020603050405020304" pitchFamily="18" charset="0"/>
                <a:cs typeface="Times New Roman" panose="02020603050405020304" pitchFamily="18" charset="0"/>
              </a:rPr>
              <a:t>geeks_inner</a:t>
            </a:r>
            <a:r>
              <a:rPr lang="en-US" sz="2000" dirty="0">
                <a:latin typeface="Times New Roman" panose="02020603050405020304" pitchFamily="18" charset="0"/>
                <a:cs typeface="Times New Roman" panose="02020603050405020304" pitchFamily="18" charset="0"/>
              </a:rPr>
              <a:t> to the function </a:t>
            </a:r>
            <a:r>
              <a:rPr lang="en-US" sz="2000" dirty="0" err="1">
                <a:latin typeface="Times New Roman" panose="02020603050405020304" pitchFamily="18" charset="0"/>
                <a:cs typeface="Times New Roman" panose="02020603050405020304" pitchFamily="18" charset="0"/>
              </a:rPr>
              <a:t>geeks_outer</a:t>
            </a:r>
            <a:r>
              <a:rPr lang="en-US" sz="2000" dirty="0">
                <a:latin typeface="Times New Roman" panose="02020603050405020304" pitchFamily="18" charset="0"/>
                <a:cs typeface="Times New Roman" panose="02020603050405020304" pitchFamily="18" charset="0"/>
              </a:rPr>
              <a:t> as an argument. </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i="1" dirty="0">
                <a:latin typeface="Times New Roman" panose="02020603050405020304" pitchFamily="18" charset="0"/>
                <a:cs typeface="Times New Roman" panose="02020603050405020304" pitchFamily="18" charset="0"/>
              </a:rPr>
              <a:t>function </a:t>
            </a:r>
            <a:r>
              <a:rPr lang="en-US" sz="2000" b="1" i="1" dirty="0" err="1">
                <a:latin typeface="Times New Roman" panose="02020603050405020304" pitchFamily="18" charset="0"/>
                <a:cs typeface="Times New Roman" panose="02020603050405020304" pitchFamily="18" charset="0"/>
              </a:rPr>
              <a:t>geeks_inner</a:t>
            </a:r>
            <a:r>
              <a:rPr lang="en-US" sz="2000" b="1" i="1" dirty="0">
                <a:latin typeface="Times New Roman" panose="02020603050405020304" pitchFamily="18" charset="0"/>
                <a:cs typeface="Times New Roman" panose="02020603050405020304" pitchFamily="18" charset="0"/>
              </a:rPr>
              <a:t>(value){</a:t>
            </a:r>
            <a:endParaRPr lang="en-US" sz="2000" b="1" i="1" dirty="0">
              <a:latin typeface="Times New Roman" panose="02020603050405020304" pitchFamily="18" charset="0"/>
              <a:cs typeface="Times New Roman" panose="02020603050405020304" pitchFamily="18" charset="0"/>
            </a:endParaRPr>
          </a:p>
          <a:p>
            <a:r>
              <a:rPr lang="en-US" sz="2000" b="1" i="1" dirty="0">
                <a:latin typeface="Times New Roman" panose="02020603050405020304" pitchFamily="18" charset="0"/>
                <a:cs typeface="Times New Roman" panose="02020603050405020304" pitchFamily="18" charset="0"/>
              </a:rPr>
              <a:t>	return 'hello User!';</a:t>
            </a:r>
            <a:endParaRPr lang="en-US" sz="2000" b="1" i="1" dirty="0">
              <a:latin typeface="Times New Roman" panose="02020603050405020304" pitchFamily="18" charset="0"/>
              <a:cs typeface="Times New Roman" panose="02020603050405020304" pitchFamily="18" charset="0"/>
            </a:endParaRPr>
          </a:p>
          <a:p>
            <a:r>
              <a:rPr lang="en-US" sz="2000" b="1" i="1" dirty="0">
                <a:latin typeface="Times New Roman" panose="02020603050405020304" pitchFamily="18" charset="0"/>
                <a:cs typeface="Times New Roman" panose="02020603050405020304" pitchFamily="18" charset="0"/>
              </a:rPr>
              <a:t>}</a:t>
            </a:r>
            <a:endParaRPr lang="en-US" sz="2000" b="1" i="1" dirty="0">
              <a:latin typeface="Times New Roman" panose="02020603050405020304" pitchFamily="18" charset="0"/>
              <a:cs typeface="Times New Roman" panose="02020603050405020304" pitchFamily="18" charset="0"/>
            </a:endParaRPr>
          </a:p>
          <a:p>
            <a:r>
              <a:rPr lang="en-US" sz="2000" b="1" i="1" dirty="0">
                <a:latin typeface="Times New Roman" panose="02020603050405020304" pitchFamily="18" charset="0"/>
                <a:cs typeface="Times New Roman" panose="02020603050405020304" pitchFamily="18" charset="0"/>
              </a:rPr>
              <a:t>function </a:t>
            </a:r>
            <a:r>
              <a:rPr lang="en-US" sz="2000" b="1" i="1" dirty="0" err="1">
                <a:latin typeface="Times New Roman" panose="02020603050405020304" pitchFamily="18" charset="0"/>
                <a:cs typeface="Times New Roman" panose="02020603050405020304" pitchFamily="18" charset="0"/>
              </a:rPr>
              <a:t>geeks_outer</a:t>
            </a:r>
            <a:r>
              <a:rPr lang="en-US" sz="2000" b="1" i="1" dirty="0">
                <a:latin typeface="Times New Roman" panose="02020603050405020304" pitchFamily="18" charset="0"/>
                <a:cs typeface="Times New Roman" panose="02020603050405020304" pitchFamily="18" charset="0"/>
              </a:rPr>
              <a:t>(</a:t>
            </a:r>
            <a:r>
              <a:rPr lang="en-US" sz="2000" b="1" i="1" dirty="0" err="1">
                <a:latin typeface="Times New Roman" panose="02020603050405020304" pitchFamily="18" charset="0"/>
                <a:cs typeface="Times New Roman" panose="02020603050405020304" pitchFamily="18" charset="0"/>
              </a:rPr>
              <a:t>func</a:t>
            </a:r>
            <a:r>
              <a:rPr lang="en-US" sz="2000" b="1" i="1" dirty="0">
                <a:latin typeface="Times New Roman" panose="02020603050405020304" pitchFamily="18" charset="0"/>
                <a:cs typeface="Times New Roman" panose="02020603050405020304" pitchFamily="18" charset="0"/>
              </a:rPr>
              <a:t>){</a:t>
            </a:r>
            <a:endParaRPr lang="en-US" sz="2000" b="1" i="1" dirty="0">
              <a:latin typeface="Times New Roman" panose="02020603050405020304" pitchFamily="18" charset="0"/>
              <a:cs typeface="Times New Roman" panose="02020603050405020304" pitchFamily="18" charset="0"/>
            </a:endParaRPr>
          </a:p>
          <a:p>
            <a:r>
              <a:rPr lang="en-US" sz="2000" b="1" i="1" dirty="0">
                <a:latin typeface="Times New Roman" panose="02020603050405020304" pitchFamily="18" charset="0"/>
                <a:cs typeface="Times New Roman" panose="02020603050405020304" pitchFamily="18" charset="0"/>
              </a:rPr>
              <a:t>	console.log(</a:t>
            </a:r>
            <a:r>
              <a:rPr lang="en-US" sz="2000" b="1" i="1" dirty="0" err="1">
                <a:latin typeface="Times New Roman" panose="02020603050405020304" pitchFamily="18" charset="0"/>
                <a:cs typeface="Times New Roman" panose="02020603050405020304" pitchFamily="18" charset="0"/>
              </a:rPr>
              <a:t>geeks_inner</a:t>
            </a:r>
            <a:r>
              <a:rPr lang="en-US" sz="2000" b="1" i="1" dirty="0">
                <a:latin typeface="Times New Roman" panose="02020603050405020304" pitchFamily="18" charset="0"/>
                <a:cs typeface="Times New Roman" panose="02020603050405020304" pitchFamily="18" charset="0"/>
              </a:rPr>
              <a:t>());</a:t>
            </a:r>
            <a:endParaRPr lang="en-US" sz="2000" b="1" i="1" dirty="0">
              <a:latin typeface="Times New Roman" panose="02020603050405020304" pitchFamily="18" charset="0"/>
              <a:cs typeface="Times New Roman" panose="02020603050405020304" pitchFamily="18" charset="0"/>
            </a:endParaRPr>
          </a:p>
          <a:p>
            <a:r>
              <a:rPr lang="en-US" sz="2000" b="1" i="1" dirty="0">
                <a:latin typeface="Times New Roman" panose="02020603050405020304" pitchFamily="18" charset="0"/>
                <a:cs typeface="Times New Roman" panose="02020603050405020304" pitchFamily="18" charset="0"/>
              </a:rPr>
              <a:t>}</a:t>
            </a:r>
            <a:endParaRPr lang="en-US" sz="2000" b="1" i="1" dirty="0">
              <a:latin typeface="Times New Roman" panose="02020603050405020304" pitchFamily="18" charset="0"/>
              <a:cs typeface="Times New Roman" panose="02020603050405020304" pitchFamily="18" charset="0"/>
            </a:endParaRPr>
          </a:p>
          <a:p>
            <a:endParaRPr lang="en-US" sz="2000" b="1" i="1" dirty="0">
              <a:latin typeface="Times New Roman" panose="02020603050405020304" pitchFamily="18" charset="0"/>
              <a:cs typeface="Times New Roman" panose="02020603050405020304" pitchFamily="18" charset="0"/>
            </a:endParaRPr>
          </a:p>
          <a:p>
            <a:r>
              <a:rPr lang="en-US" sz="2000" b="1" i="1" dirty="0" err="1">
                <a:latin typeface="Times New Roman" panose="02020603050405020304" pitchFamily="18" charset="0"/>
                <a:cs typeface="Times New Roman" panose="02020603050405020304" pitchFamily="18" charset="0"/>
              </a:rPr>
              <a:t>geeks_outer</a:t>
            </a:r>
            <a:r>
              <a:rPr lang="en-US" sz="2000" b="1" i="1" dirty="0">
                <a:latin typeface="Times New Roman" panose="02020603050405020304" pitchFamily="18" charset="0"/>
                <a:cs typeface="Times New Roman" panose="02020603050405020304" pitchFamily="18" charset="0"/>
              </a:rPr>
              <a:t>(</a:t>
            </a:r>
            <a:r>
              <a:rPr lang="en-US" sz="2000" b="1" i="1" dirty="0" err="1">
                <a:latin typeface="Times New Roman" panose="02020603050405020304" pitchFamily="18" charset="0"/>
                <a:cs typeface="Times New Roman" panose="02020603050405020304" pitchFamily="18" charset="0"/>
              </a:rPr>
              <a:t>geeks_inner</a:t>
            </a:r>
            <a:r>
              <a:rPr lang="en-US" sz="2000" b="1" i="1" dirty="0">
                <a:latin typeface="Times New Roman" panose="02020603050405020304" pitchFamily="18" charset="0"/>
                <a:cs typeface="Times New Roman" panose="02020603050405020304" pitchFamily="18" charset="0"/>
              </a:rPr>
              <a:t>);</a:t>
            </a:r>
            <a:endParaRPr lang="en-US" sz="2000" b="1" i="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11760" y="-81042"/>
            <a:ext cx="6512560" cy="954107"/>
          </a:xfrm>
          <a:prstGeom prst="rect">
            <a:avLst/>
          </a:prstGeom>
          <a:noFill/>
        </p:spPr>
        <p:txBody>
          <a:bodyPr wrap="square">
            <a:spAutoFit/>
          </a:bodyPr>
          <a:lstStyle/>
          <a:p>
            <a:r>
              <a:rPr lang="en-US" sz="2700" b="1" dirty="0"/>
              <a:t>Passing a function as a parameter in JavaScript</a:t>
            </a:r>
            <a:endParaRPr lang="en-US" sz="27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3" name="TextBox 2"/>
          <p:cNvSpPr txBox="1"/>
          <p:nvPr/>
        </p:nvSpPr>
        <p:spPr>
          <a:xfrm>
            <a:off x="538480" y="152400"/>
            <a:ext cx="3310890" cy="583565"/>
          </a:xfrm>
          <a:prstGeom prst="rect">
            <a:avLst/>
          </a:prstGeom>
          <a:noFill/>
        </p:spPr>
        <p:txBody>
          <a:bodyPr wrap="none" rtlCol="0">
            <a:spAutoFit/>
          </a:bodyPr>
          <a:lstStyle/>
          <a:p>
            <a:pPr algn="l"/>
            <a:r>
              <a:rPr lang="en-US" sz="3200" b="1" i="0" dirty="0">
                <a:solidFill>
                  <a:srgbClr val="000000"/>
                </a:solidFill>
                <a:effectLst/>
                <a:latin typeface="Times New Roman" panose="02020603050405020304" pitchFamily="18" charset="0"/>
                <a:cs typeface="Times New Roman" panose="02020603050405020304" pitchFamily="18" charset="0"/>
              </a:rPr>
              <a:t>Function Hoisting</a:t>
            </a:r>
            <a:endParaRPr lang="en-US" sz="3200" b="1" i="0" dirty="0">
              <a:solidFill>
                <a:srgbClr val="000000"/>
              </a:solidFill>
              <a:effectLst/>
              <a:latin typeface="Times New Roman" panose="02020603050405020304" pitchFamily="18" charset="0"/>
              <a:cs typeface="Times New Roman" panose="02020603050405020304" pitchFamily="18" charset="0"/>
            </a:endParaRPr>
          </a:p>
        </p:txBody>
      </p:sp>
      <p:sp>
        <p:nvSpPr>
          <p:cNvPr id="5" name="TextBox 4"/>
          <p:cNvSpPr txBox="1"/>
          <p:nvPr/>
        </p:nvSpPr>
        <p:spPr>
          <a:xfrm>
            <a:off x="386080" y="909529"/>
            <a:ext cx="8300720" cy="5262245"/>
          </a:xfrm>
          <a:prstGeom prst="rect">
            <a:avLst/>
          </a:prstGeom>
          <a:noFill/>
        </p:spPr>
        <p:txBody>
          <a:bodyPr wrap="square">
            <a:spAutoFit/>
          </a:bodyPr>
          <a:lstStyle/>
          <a:p>
            <a:pPr algn="just" fontAlgn="base"/>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What is Hoisting in JavaScript?</a:t>
            </a:r>
            <a:endPar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just" rtl="0" fontAlgn="base"/>
            <a:r>
              <a:rPr lang="en-US" sz="2400" b="0" i="0" dirty="0">
                <a:solidFill>
                  <a:srgbClr val="273239"/>
                </a:solidFill>
                <a:effectLst/>
                <a:latin typeface="Times New Roman" panose="02020603050405020304" pitchFamily="18" charset="0"/>
                <a:cs typeface="Times New Roman" panose="02020603050405020304" pitchFamily="18" charset="0"/>
              </a:rPr>
              <a:t>Hoisting is the default behavior in JavaScript where variable and function declarations are moved to the top of their respective scopes during the compilation phase. This guarantees that regardless of where these declarations appear within a scope, they can be accessed throughout that scope.</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just" rtl="0" fontAlgn="base"/>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just" fontAlgn="base"/>
            <a:r>
              <a:rPr lang="en-US" sz="2400" b="1" i="0" dirty="0">
                <a:solidFill>
                  <a:srgbClr val="273239"/>
                </a:solidFill>
                <a:effectLst/>
                <a:latin typeface="Times New Roman" panose="02020603050405020304" pitchFamily="18" charset="0"/>
                <a:cs typeface="Times New Roman" panose="02020603050405020304" pitchFamily="18" charset="0"/>
              </a:rPr>
              <a:t>Features of Hoisting</a:t>
            </a:r>
            <a:endParaRPr lang="en-US" sz="2400" b="1" i="0" dirty="0">
              <a:solidFill>
                <a:srgbClr val="273239"/>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Declarations are hoisted, not initializations.</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Allows calling functions before their declarations.</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indent="92075" algn="just"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All variable and function declarations are processed before any code execution.</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Undeclared variables are implicitly created as global variables when assigned a value.</a:t>
            </a:r>
            <a:endParaRPr lang="en-US" sz="2400" b="0" i="0" dirty="0">
              <a:solidFill>
                <a:srgbClr val="273239"/>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3" name="TextBox 2"/>
          <p:cNvSpPr txBox="1"/>
          <p:nvPr/>
        </p:nvSpPr>
        <p:spPr>
          <a:xfrm>
            <a:off x="538480" y="152400"/>
            <a:ext cx="3310890" cy="583565"/>
          </a:xfrm>
          <a:prstGeom prst="rect">
            <a:avLst/>
          </a:prstGeom>
          <a:noFill/>
        </p:spPr>
        <p:txBody>
          <a:bodyPr wrap="none" rtlCol="0">
            <a:spAutoFit/>
          </a:bodyPr>
          <a:lstStyle/>
          <a:p>
            <a:pPr algn="l"/>
            <a:r>
              <a:rPr lang="en-US" sz="3200" b="1" i="0" dirty="0">
                <a:solidFill>
                  <a:srgbClr val="000000"/>
                </a:solidFill>
                <a:effectLst/>
                <a:latin typeface="Times New Roman" panose="02020603050405020304" pitchFamily="18" charset="0"/>
                <a:cs typeface="Times New Roman" panose="02020603050405020304" pitchFamily="18" charset="0"/>
              </a:rPr>
              <a:t>Function Hoisting</a:t>
            </a:r>
            <a:endParaRPr lang="en-US" sz="3200" b="1" i="0" dirty="0">
              <a:solidFill>
                <a:srgbClr val="000000"/>
              </a:solidFill>
              <a:effectLst/>
              <a:latin typeface="Times New Roman" panose="02020603050405020304" pitchFamily="18" charset="0"/>
              <a:cs typeface="Times New Roman" panose="02020603050405020304" pitchFamily="18" charset="0"/>
            </a:endParaRPr>
          </a:p>
        </p:txBody>
      </p:sp>
      <p:sp>
        <p:nvSpPr>
          <p:cNvPr id="5" name="TextBox 4"/>
          <p:cNvSpPr txBox="1"/>
          <p:nvPr/>
        </p:nvSpPr>
        <p:spPr>
          <a:xfrm>
            <a:off x="386080" y="1720840"/>
            <a:ext cx="8300720" cy="3415030"/>
          </a:xfrm>
          <a:prstGeom prst="rect">
            <a:avLst/>
          </a:prstGeom>
          <a:noFill/>
        </p:spPr>
        <p:txBody>
          <a:bodyPr wrap="square">
            <a:spAutoFit/>
          </a:bodyPr>
          <a:lstStyle/>
          <a:p>
            <a:pPr algn="just" fontAlgn="base"/>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 Hoisting</a:t>
            </a:r>
            <a:endPar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just" fontAlgn="base"/>
            <a:r>
              <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rPr>
              <a:t>function </a:t>
            </a:r>
            <a:r>
              <a:rPr lang="en-US" sz="2400" b="1" i="0" dirty="0" err="1">
                <a:solidFill>
                  <a:srgbClr val="273239"/>
                </a:solidFill>
                <a:effectLst/>
                <a:highlight>
                  <a:srgbClr val="00FFFF"/>
                </a:highlight>
                <a:latin typeface="Times New Roman" panose="02020603050405020304" pitchFamily="18" charset="0"/>
                <a:cs typeface="Times New Roman" panose="02020603050405020304" pitchFamily="18" charset="0"/>
              </a:rPr>
              <a:t>codeHoist</a:t>
            </a:r>
            <a:r>
              <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rPr>
              <a:t>() {</a:t>
            </a:r>
            <a:endPar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endParaRPr>
          </a:p>
          <a:p>
            <a:pPr algn="just" fontAlgn="base"/>
            <a:r>
              <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rPr>
              <a:t>    a = 10;</a:t>
            </a:r>
            <a:endPar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endParaRPr>
          </a:p>
          <a:p>
            <a:pPr algn="just" fontAlgn="base"/>
            <a:r>
              <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rPr>
              <a:t>    let b = 50;</a:t>
            </a:r>
            <a:endPar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endParaRPr>
          </a:p>
          <a:p>
            <a:pPr algn="just" fontAlgn="base"/>
            <a:r>
              <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rPr>
              <a:t>}</a:t>
            </a:r>
            <a:endPar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endParaRPr>
          </a:p>
          <a:p>
            <a:pPr algn="just" fontAlgn="base"/>
            <a:r>
              <a:rPr lang="en-US" sz="2400" b="1" i="0" dirty="0" err="1">
                <a:solidFill>
                  <a:srgbClr val="273239"/>
                </a:solidFill>
                <a:effectLst/>
                <a:highlight>
                  <a:srgbClr val="FFFFFF"/>
                </a:highlight>
                <a:latin typeface="Times New Roman" panose="02020603050405020304" pitchFamily="18" charset="0"/>
                <a:cs typeface="Times New Roman" panose="02020603050405020304" pitchFamily="18" charset="0"/>
              </a:rPr>
              <a:t>codeHoist</a:t>
            </a: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a:t>
            </a:r>
            <a:endPar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just" fontAlgn="base"/>
            <a:endPar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just" fontAlgn="base"/>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console.log(a); // 10</a:t>
            </a:r>
            <a:endPar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just" fontAlgn="base"/>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console.log(b); // </a:t>
            </a:r>
            <a:r>
              <a:rPr lang="en-US" sz="2400" b="1" i="0" dirty="0" err="1">
                <a:solidFill>
                  <a:srgbClr val="273239"/>
                </a:solidFill>
                <a:effectLst/>
                <a:highlight>
                  <a:srgbClr val="FFFFFF"/>
                </a:highlight>
                <a:latin typeface="Times New Roman" panose="02020603050405020304" pitchFamily="18" charset="0"/>
                <a:cs typeface="Times New Roman" panose="02020603050405020304" pitchFamily="18" charset="0"/>
              </a:rPr>
              <a:t>ReferenceError</a:t>
            </a: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 : b is not defined</a:t>
            </a:r>
            <a:endPar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3" name="TextBox 2"/>
          <p:cNvSpPr txBox="1"/>
          <p:nvPr/>
        </p:nvSpPr>
        <p:spPr>
          <a:xfrm>
            <a:off x="538480" y="152400"/>
            <a:ext cx="5974715" cy="583565"/>
          </a:xfrm>
          <a:prstGeom prst="rect">
            <a:avLst/>
          </a:prstGeom>
          <a:noFill/>
        </p:spPr>
        <p:txBody>
          <a:bodyPr wrap="none" rtlCol="0">
            <a:spAutoFit/>
          </a:bodyPr>
          <a:lstStyle/>
          <a:p>
            <a:pPr algn="l"/>
            <a:r>
              <a:rPr lang="en-US" sz="3200" b="1" i="0" dirty="0">
                <a:solidFill>
                  <a:srgbClr val="000000"/>
                </a:solidFill>
                <a:effectLst/>
                <a:latin typeface="Times New Roman" panose="02020603050405020304" pitchFamily="18" charset="0"/>
                <a:cs typeface="Times New Roman" panose="02020603050405020304" pitchFamily="18" charset="0"/>
              </a:rPr>
              <a:t>Function Hoisting- Example code</a:t>
            </a:r>
            <a:endParaRPr lang="en-US" sz="3200" b="1" i="0" dirty="0">
              <a:solidFill>
                <a:srgbClr val="000000"/>
              </a:solidFill>
              <a:effectLst/>
              <a:latin typeface="Times New Roman" panose="02020603050405020304" pitchFamily="18" charset="0"/>
              <a:cs typeface="Times New Roman" panose="02020603050405020304" pitchFamily="18" charset="0"/>
            </a:endParaRPr>
          </a:p>
        </p:txBody>
      </p:sp>
      <p:sp>
        <p:nvSpPr>
          <p:cNvPr id="6" name="TextBox 5"/>
          <p:cNvSpPr txBox="1"/>
          <p:nvPr/>
        </p:nvSpPr>
        <p:spPr>
          <a:xfrm>
            <a:off x="259080" y="968404"/>
            <a:ext cx="8803640" cy="400110"/>
          </a:xfrm>
          <a:prstGeom prst="rect">
            <a:avLst/>
          </a:prstGeom>
          <a:noFill/>
        </p:spPr>
        <p:txBody>
          <a:bodyPr wrap="square">
            <a:spAutoFit/>
          </a:bodyPr>
          <a:lstStyle/>
          <a:p>
            <a:pPr algn="just">
              <a:buFont typeface="Arial" panose="020B0604020202020204" pitchFamily="34" charset="0"/>
              <a:buChar char="•"/>
            </a:pPr>
            <a:endParaRPr lang="en-US" sz="2000" b="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p:txBody>
      </p:sp>
      <p:graphicFrame>
        <p:nvGraphicFramePr>
          <p:cNvPr id="4" name="Table 3"/>
          <p:cNvGraphicFramePr>
            <a:graphicFrameLocks noGrp="1"/>
          </p:cNvGraphicFramePr>
          <p:nvPr/>
        </p:nvGraphicFramePr>
        <p:xfrm>
          <a:off x="386080" y="1249680"/>
          <a:ext cx="8498840" cy="4998720"/>
        </p:xfrm>
        <a:graphic>
          <a:graphicData uri="http://schemas.openxmlformats.org/drawingml/2006/table">
            <a:tbl>
              <a:tblPr firstRow="1" bandRow="1">
                <a:tableStyleId>{BD24CE57-81FB-4CE5-B3F0-45E823DBC81C}</a:tableStyleId>
              </a:tblPr>
              <a:tblGrid>
                <a:gridCol w="4185920"/>
                <a:gridCol w="4312920"/>
              </a:tblGrid>
              <a:tr h="4998720">
                <a:tc>
                  <a:txBody>
                    <a:bodyPr/>
                    <a:lstStyle/>
                    <a:p>
                      <a:pPr algn="just" fontAlgn="base"/>
                      <a:r>
                        <a:rPr lang="en-US" sz="2000" b="1" dirty="0" err="1">
                          <a:solidFill>
                            <a:srgbClr val="273239"/>
                          </a:solidFill>
                          <a:highlight>
                            <a:srgbClr val="000000">
                              <a:alpha val="0"/>
                            </a:srgbClr>
                          </a:highlight>
                          <a:latin typeface="Times New Roman" panose="02020603050405020304" pitchFamily="18" charset="0"/>
                          <a:cs typeface="Times New Roman" panose="02020603050405020304" pitchFamily="18" charset="0"/>
                        </a:rPr>
                        <a:t>J</a:t>
                      </a:r>
                      <a:r>
                        <a:rPr lang="en-US" sz="2000" b="1" i="0" dirty="0" err="1">
                          <a:solidFill>
                            <a:srgbClr val="273239"/>
                          </a:solidFill>
                          <a:effectLst/>
                          <a:highlight>
                            <a:srgbClr val="000000">
                              <a:alpha val="0"/>
                            </a:srgbClr>
                          </a:highlight>
                          <a:latin typeface="Times New Roman" panose="02020603050405020304" pitchFamily="18" charset="0"/>
                          <a:cs typeface="Times New Roman" panose="02020603050405020304" pitchFamily="18" charset="0"/>
                        </a:rPr>
                        <a:t>avascript</a:t>
                      </a:r>
                      <a:r>
                        <a:rPr lang="en-US" sz="2000" b="1" i="0" dirty="0">
                          <a:solidFill>
                            <a:srgbClr val="273239"/>
                          </a:solidFill>
                          <a:effectLst/>
                          <a:highlight>
                            <a:srgbClr val="000000">
                              <a:alpha val="0"/>
                            </a:srgbClr>
                          </a:highlight>
                          <a:latin typeface="Times New Roman" panose="02020603050405020304" pitchFamily="18" charset="0"/>
                          <a:cs typeface="Times New Roman" panose="02020603050405020304" pitchFamily="18" charset="0"/>
                        </a:rPr>
                        <a:t> Nested functions</a:t>
                      </a:r>
                      <a:endParaRPr lang="en-US" sz="2000" b="1" i="0" dirty="0">
                        <a:solidFill>
                          <a:srgbClr val="273239"/>
                        </a:solidFill>
                        <a:effectLst/>
                        <a:highlight>
                          <a:srgbClr val="000000">
                            <a:alpha val="0"/>
                          </a:srgbClr>
                        </a:highlight>
                        <a:latin typeface="Times New Roman" panose="02020603050405020304" pitchFamily="18" charset="0"/>
                        <a:cs typeface="Times New Roman" panose="02020603050405020304" pitchFamily="18" charset="0"/>
                      </a:endParaRPr>
                    </a:p>
                    <a:p>
                      <a:pPr algn="just" fontAlgn="base"/>
                      <a:endParaRPr lang="en-US" sz="2000" b="1" i="0" dirty="0">
                        <a:solidFill>
                          <a:srgbClr val="273239"/>
                        </a:solidFill>
                        <a:effectLst/>
                        <a:highlight>
                          <a:srgbClr val="000000">
                            <a:alpha val="0"/>
                          </a:srgbClr>
                        </a:highlight>
                        <a:latin typeface="Times New Roman" panose="02020603050405020304" pitchFamily="18" charset="0"/>
                        <a:cs typeface="Times New Roman" panose="02020603050405020304" pitchFamily="18" charset="0"/>
                      </a:endParaRPr>
                    </a:p>
                    <a:p>
                      <a:pPr algn="just" rtl="0" fontAlgn="base">
                        <a:lnSpc>
                          <a:spcPct val="150000"/>
                        </a:lnSpc>
                      </a:pPr>
                      <a:r>
                        <a:rPr lang="en-US" sz="2000" b="0" i="0" dirty="0">
                          <a:solidFill>
                            <a:srgbClr val="273239"/>
                          </a:solidFill>
                          <a:effectLst/>
                          <a:highlight>
                            <a:srgbClr val="000000">
                              <a:alpha val="0"/>
                            </a:srgbClr>
                          </a:highlight>
                          <a:latin typeface="Times New Roman" panose="02020603050405020304" pitchFamily="18" charset="0"/>
                          <a:cs typeface="Times New Roman" panose="02020603050405020304" pitchFamily="18" charset="0"/>
                        </a:rPr>
                        <a:t>In JavaScript, Functions within another function are called “Nested function.” These nested functions have access to the variables and parameters of the outer (enclosing) function, creating a scope hierarchy. A function can have one or more inner functions. </a:t>
                      </a:r>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txBody>
                  <a:tcPr/>
                </a:tc>
                <a:tc>
                  <a:txBody>
                    <a:bodyPr/>
                    <a:lstStyle/>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Outer function</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function </a:t>
                      </a:r>
                      <a:r>
                        <a:rPr kumimoji="0" lang="en-US" altLang="en-US" sz="2000" b="0" i="0" u="none" strike="noStrike" cap="none" normalizeH="0" baseline="0" dirty="0" err="1">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outerFunction</a:t>
                      </a:r>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 Nested function</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function </a:t>
                      </a:r>
                      <a:r>
                        <a:rPr kumimoji="0" lang="en-US" altLang="en-US" sz="2000" b="0" i="0" u="none" strike="noStrike" cap="none" normalizeH="0" baseline="0" dirty="0" err="1">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nestedFunction</a:t>
                      </a:r>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 Function logic here</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 Call the nested function</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nestedFunction</a:t>
                      </a:r>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 Rest of the outer function logic</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Call the outer function</a:t>
                      </a:r>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p>
                      <a:pPr rtl="0" fontAlgn="base"/>
                      <a:r>
                        <a:rPr kumimoji="0" lang="en-US" altLang="en-US" sz="2000" b="0" i="0" u="none" strike="noStrike" cap="none" normalizeH="0" baseline="0" dirty="0" err="1">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outerFunction</a:t>
                      </a:r>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a:t>
                      </a:r>
                      <a:endParaRPr lang="en-US" sz="2000" b="0" i="0" dirty="0">
                        <a:solidFill>
                          <a:srgbClr val="273239"/>
                        </a:solidFill>
                        <a:effectLst/>
                        <a:highlight>
                          <a:srgbClr val="000000">
                            <a:alpha val="0"/>
                          </a:srgbClr>
                        </a:highlight>
                        <a:latin typeface="Times New Roman" panose="02020603050405020304" pitchFamily="18" charset="0"/>
                        <a:cs typeface="Times New Roman" panose="02020603050405020304" pitchFamily="18" charset="0"/>
                      </a:endParaRPr>
                    </a:p>
                    <a:p>
                      <a:endParaRPr lang="en-US" sz="2000" b="0" i="0" dirty="0">
                        <a:solidFill>
                          <a:srgbClr val="273239"/>
                        </a:solidFill>
                        <a:effectLst/>
                        <a:highlight>
                          <a:srgbClr val="000000">
                            <a:alpha val="0"/>
                          </a:srgbClr>
                        </a:highlight>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5" name="TextBox 4"/>
          <p:cNvSpPr txBox="1"/>
          <p:nvPr/>
        </p:nvSpPr>
        <p:spPr>
          <a:xfrm>
            <a:off x="275573" y="1064712"/>
            <a:ext cx="8517698" cy="4093428"/>
          </a:xfrm>
          <a:prstGeom prst="rect">
            <a:avLst/>
          </a:prstGeom>
          <a:noFill/>
        </p:spPr>
        <p:txBody>
          <a:bodyPr wrap="square">
            <a:spAutoFit/>
          </a:bodyPr>
          <a:lstStyle/>
          <a:p>
            <a:pPr algn="just"/>
            <a:r>
              <a:rPr lang="en-US" sz="2000" b="1" dirty="0"/>
              <a:t>What is Arrow Function?</a:t>
            </a:r>
            <a:endParaRPr lang="en-US" sz="2000" b="1" dirty="0"/>
          </a:p>
          <a:p>
            <a:pPr algn="just">
              <a:lnSpc>
                <a:spcPct val="150000"/>
              </a:lnSpc>
            </a:pPr>
            <a:r>
              <a:rPr lang="en-US" sz="2000" dirty="0"/>
              <a:t>An arrow function is essentially an anonymous function with a shorter syntax. They are often assigned to variables, making them reusable. Arrow functions are also known as lambda functions in some other programming languages.</a:t>
            </a:r>
            <a:endParaRPr lang="en-US" sz="2000" dirty="0"/>
          </a:p>
          <a:p>
            <a:pPr algn="just"/>
            <a:endParaRPr lang="en-US" sz="2000" dirty="0"/>
          </a:p>
          <a:p>
            <a:pPr algn="just"/>
            <a:r>
              <a:rPr lang="en-US" sz="2000" dirty="0"/>
              <a:t>Syntax</a:t>
            </a:r>
            <a:endParaRPr lang="en-US" sz="2000" dirty="0"/>
          </a:p>
          <a:p>
            <a:pPr algn="just"/>
            <a:endParaRPr lang="en-US" sz="2000" dirty="0"/>
          </a:p>
          <a:p>
            <a:pPr algn="just"/>
            <a:r>
              <a:rPr lang="en-US" sz="2000" dirty="0">
                <a:highlight>
                  <a:srgbClr val="FFFF00"/>
                </a:highlight>
              </a:rPr>
              <a:t>const </a:t>
            </a:r>
            <a:r>
              <a:rPr lang="en-US" sz="2000" dirty="0" err="1">
                <a:highlight>
                  <a:srgbClr val="FFFF00"/>
                </a:highlight>
              </a:rPr>
              <a:t>gfg</a:t>
            </a:r>
            <a:r>
              <a:rPr lang="en-US" sz="2000" dirty="0">
                <a:highlight>
                  <a:srgbClr val="FFFF00"/>
                </a:highlight>
              </a:rPr>
              <a:t> = () =&gt; {</a:t>
            </a:r>
            <a:endParaRPr lang="en-US" sz="2000" dirty="0">
              <a:highlight>
                <a:srgbClr val="FFFF00"/>
              </a:highlight>
            </a:endParaRPr>
          </a:p>
          <a:p>
            <a:pPr algn="just"/>
            <a:r>
              <a:rPr lang="en-US" sz="2000" dirty="0">
                <a:highlight>
                  <a:srgbClr val="FFFF00"/>
                </a:highlight>
              </a:rPr>
              <a:t>    console.log( "Hi Geek!" );</a:t>
            </a:r>
            <a:endParaRPr lang="en-US" sz="2000" dirty="0">
              <a:highlight>
                <a:srgbClr val="FFFF00"/>
              </a:highlight>
            </a:endParaRPr>
          </a:p>
          <a:p>
            <a:pPr algn="just"/>
            <a:r>
              <a:rPr lang="en-US" sz="2000" dirty="0">
                <a:highlight>
                  <a:srgbClr val="FFFF00"/>
                </a:highlight>
              </a:rPr>
              <a:t>}</a:t>
            </a:r>
            <a:endParaRPr lang="en-IN" sz="2000" dirty="0">
              <a:highlight>
                <a:srgbClr val="FFFF00"/>
              </a:highlight>
            </a:endParaRPr>
          </a:p>
        </p:txBody>
      </p:sp>
      <p:sp>
        <p:nvSpPr>
          <p:cNvPr id="7" name="TextBox 6"/>
          <p:cNvSpPr txBox="1"/>
          <p:nvPr/>
        </p:nvSpPr>
        <p:spPr>
          <a:xfrm>
            <a:off x="396240" y="155992"/>
            <a:ext cx="4572000" cy="523220"/>
          </a:xfrm>
          <a:prstGeom prst="rect">
            <a:avLst/>
          </a:prstGeom>
          <a:noFill/>
        </p:spPr>
        <p:txBody>
          <a:bodyPr wrap="square">
            <a:spAutoFit/>
          </a:bodyPr>
          <a:lstStyle/>
          <a:p>
            <a:pPr algn="just"/>
            <a:r>
              <a:rPr lang="en-US" sz="2800" b="1" dirty="0"/>
              <a:t>What is Arrow Function?</a:t>
            </a:r>
            <a:endParaRPr lang="en-US" sz="28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6" name="TextBox 5"/>
          <p:cNvSpPr txBox="1"/>
          <p:nvPr/>
        </p:nvSpPr>
        <p:spPr>
          <a:xfrm>
            <a:off x="313151" y="1139868"/>
            <a:ext cx="8530224" cy="4093428"/>
          </a:xfrm>
          <a:prstGeom prst="rect">
            <a:avLst/>
          </a:prstGeom>
          <a:solidFill>
            <a:schemeClr val="accent1">
              <a:lumMod val="20000"/>
              <a:lumOff val="80000"/>
            </a:schemeClr>
          </a:solidFill>
          <a:ln w="12700">
            <a:solidFill>
              <a:schemeClr val="tx1"/>
            </a:solidFill>
          </a:ln>
        </p:spPr>
        <p:txBody>
          <a:bodyPr wrap="square">
            <a:spAutoFit/>
          </a:bodyPr>
          <a:lstStyle/>
          <a:p>
            <a:pPr algn="just"/>
            <a:r>
              <a:rPr lang="en-US" sz="2000" dirty="0">
                <a:highlight>
                  <a:srgbClr val="FFFF00"/>
                </a:highlight>
              </a:rPr>
              <a:t>An arrow function without parameters is defined using empty parentheses (). This is useful when you need a function that doesn’t require any arguments.</a:t>
            </a:r>
            <a:endParaRPr lang="en-US" sz="2000" dirty="0">
              <a:highlight>
                <a:srgbClr val="FFFF00"/>
              </a:highlight>
            </a:endParaRPr>
          </a:p>
          <a:p>
            <a:pPr algn="just"/>
            <a:endParaRPr lang="en-US" sz="2000" dirty="0">
              <a:highlight>
                <a:srgbClr val="FFFF00"/>
              </a:highlight>
            </a:endParaRPr>
          </a:p>
          <a:p>
            <a:pPr algn="just"/>
            <a:r>
              <a:rPr lang="en-US" sz="2000" dirty="0"/>
              <a:t>Example: In this example we Defines an arrow function </a:t>
            </a:r>
            <a:r>
              <a:rPr lang="en-US" sz="2000" dirty="0" err="1"/>
              <a:t>gfg</a:t>
            </a:r>
            <a:r>
              <a:rPr lang="en-US" sz="2000" dirty="0"/>
              <a:t> without parameters that logs “Hi” when called.</a:t>
            </a:r>
            <a:endParaRPr lang="en-US" sz="2000" dirty="0"/>
          </a:p>
          <a:p>
            <a:pPr algn="just"/>
            <a:endParaRPr lang="en-US" sz="2000" dirty="0"/>
          </a:p>
          <a:p>
            <a:pPr algn="just"/>
            <a:endParaRPr lang="en-US" sz="2000" dirty="0"/>
          </a:p>
          <a:p>
            <a:pPr algn="just"/>
            <a:r>
              <a:rPr lang="en-US" sz="2000" dirty="0">
                <a:highlight>
                  <a:srgbClr val="FFFF00"/>
                </a:highlight>
              </a:rPr>
              <a:t>const </a:t>
            </a:r>
            <a:r>
              <a:rPr lang="en-US" sz="2000" dirty="0" err="1">
                <a:highlight>
                  <a:srgbClr val="FFFF00"/>
                </a:highlight>
              </a:rPr>
              <a:t>gfg</a:t>
            </a:r>
            <a:r>
              <a:rPr lang="en-US" sz="2000" dirty="0">
                <a:highlight>
                  <a:srgbClr val="FFFF00"/>
                </a:highlight>
              </a:rPr>
              <a:t> = () =&gt; {</a:t>
            </a:r>
            <a:endParaRPr lang="en-US" sz="2000" dirty="0">
              <a:highlight>
                <a:srgbClr val="FFFF00"/>
              </a:highlight>
            </a:endParaRPr>
          </a:p>
          <a:p>
            <a:pPr algn="just"/>
            <a:r>
              <a:rPr lang="en-US" sz="2000" dirty="0">
                <a:highlight>
                  <a:srgbClr val="FFFF00"/>
                </a:highlight>
              </a:rPr>
              <a:t>    console.log( "Hi" );</a:t>
            </a:r>
            <a:endParaRPr lang="en-US" sz="2000" dirty="0">
              <a:highlight>
                <a:srgbClr val="FFFF00"/>
              </a:highlight>
            </a:endParaRPr>
          </a:p>
          <a:p>
            <a:pPr algn="just"/>
            <a:r>
              <a:rPr lang="en-US" sz="2000" dirty="0">
                <a:highlight>
                  <a:srgbClr val="FFFF00"/>
                </a:highlight>
              </a:rPr>
              <a:t>}</a:t>
            </a:r>
            <a:endParaRPr lang="en-US" sz="2000" dirty="0">
              <a:highlight>
                <a:srgbClr val="FFFF00"/>
              </a:highlight>
            </a:endParaRPr>
          </a:p>
          <a:p>
            <a:pPr algn="just"/>
            <a:endParaRPr lang="en-US" sz="2000" dirty="0"/>
          </a:p>
          <a:p>
            <a:pPr algn="just"/>
            <a:r>
              <a:rPr lang="en-US" sz="2000" dirty="0" err="1"/>
              <a:t>gfg</a:t>
            </a:r>
            <a:r>
              <a:rPr lang="en-US" sz="2000" dirty="0"/>
              <a:t>();</a:t>
            </a:r>
            <a:endParaRPr lang="en-IN" sz="2000" dirty="0"/>
          </a:p>
        </p:txBody>
      </p:sp>
      <p:sp>
        <p:nvSpPr>
          <p:cNvPr id="8" name="TextBox 7"/>
          <p:cNvSpPr txBox="1"/>
          <p:nvPr/>
        </p:nvSpPr>
        <p:spPr>
          <a:xfrm>
            <a:off x="0" y="185761"/>
            <a:ext cx="7478038" cy="523220"/>
          </a:xfrm>
          <a:prstGeom prst="rect">
            <a:avLst/>
          </a:prstGeom>
          <a:noFill/>
        </p:spPr>
        <p:txBody>
          <a:bodyPr wrap="square">
            <a:spAutoFit/>
          </a:bodyPr>
          <a:lstStyle/>
          <a:p>
            <a:pPr algn="just"/>
            <a:r>
              <a:rPr lang="en-US" sz="2800" b="1" dirty="0"/>
              <a:t>1. Arrow Function without Parameters</a:t>
            </a:r>
            <a:endParaRPr lang="en-US" sz="2800" b="1" dirty="0"/>
          </a:p>
        </p:txBody>
      </p:sp>
      <p:sp>
        <p:nvSpPr>
          <p:cNvPr id="10" name="TextBox 9"/>
          <p:cNvSpPr txBox="1"/>
          <p:nvPr/>
        </p:nvSpPr>
        <p:spPr>
          <a:xfrm>
            <a:off x="313151" y="5718132"/>
            <a:ext cx="4634630" cy="646331"/>
          </a:xfrm>
          <a:prstGeom prst="rect">
            <a:avLst/>
          </a:prstGeom>
          <a:solidFill>
            <a:schemeClr val="accent2">
              <a:lumMod val="20000"/>
              <a:lumOff val="80000"/>
            </a:schemeClr>
          </a:solidFill>
          <a:ln w="12700">
            <a:solidFill>
              <a:schemeClr val="tx1"/>
            </a:solidFill>
          </a:ln>
        </p:spPr>
        <p:txBody>
          <a:bodyPr wrap="square">
            <a:spAutoFit/>
          </a:bodyPr>
          <a:lstStyle/>
          <a:p>
            <a:r>
              <a:rPr lang="en-IN" sz="1800" b="1" dirty="0"/>
              <a:t>Output</a:t>
            </a:r>
            <a:endParaRPr lang="en-IN" sz="1800" b="1" dirty="0"/>
          </a:p>
          <a:p>
            <a:r>
              <a:rPr lang="en-IN" sz="1800" dirty="0"/>
              <a:t>Hi</a:t>
            </a:r>
            <a:endParaRPr lang="en-IN"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4" name="TextBox 3"/>
          <p:cNvSpPr txBox="1"/>
          <p:nvPr/>
        </p:nvSpPr>
        <p:spPr>
          <a:xfrm>
            <a:off x="254000" y="1135132"/>
            <a:ext cx="8534400" cy="3170099"/>
          </a:xfrm>
          <a:prstGeom prst="rect">
            <a:avLst/>
          </a:prstGeom>
          <a:solidFill>
            <a:schemeClr val="accent1">
              <a:lumMod val="20000"/>
              <a:lumOff val="80000"/>
            </a:schemeClr>
          </a:solidFill>
          <a:ln w="19050">
            <a:solidFill>
              <a:schemeClr val="tx1"/>
            </a:solidFill>
          </a:ln>
        </p:spPr>
        <p:txBody>
          <a:bodyPr wrap="square">
            <a:spAutoFit/>
          </a:bodyPr>
          <a:lstStyle/>
          <a:p>
            <a:pPr algn="just"/>
            <a:r>
              <a:rPr lang="en-US" sz="2000" dirty="0">
                <a:highlight>
                  <a:srgbClr val="FFFF00"/>
                </a:highlight>
              </a:rPr>
              <a:t>If your arrow function has a single parameter, you can omit the parentheses around it</a:t>
            </a:r>
            <a:r>
              <a:rPr lang="en-US" sz="2000" dirty="0"/>
              <a:t>.</a:t>
            </a:r>
            <a:endParaRPr lang="en-US" sz="2000" dirty="0"/>
          </a:p>
          <a:p>
            <a:pPr algn="just"/>
            <a:endParaRPr lang="en-US" sz="2000" dirty="0"/>
          </a:p>
          <a:p>
            <a:pPr algn="just"/>
            <a:r>
              <a:rPr lang="en-US" sz="2000" dirty="0"/>
              <a:t>Example: In this example we defines an arrow function square with a single parameter x, returning the square of x.</a:t>
            </a:r>
            <a:endParaRPr lang="en-US" sz="2000" dirty="0"/>
          </a:p>
          <a:p>
            <a:pPr algn="just"/>
            <a:endParaRPr lang="en-US" sz="2000" dirty="0"/>
          </a:p>
          <a:p>
            <a:pPr algn="just"/>
            <a:endParaRPr lang="en-US" sz="2000" dirty="0"/>
          </a:p>
          <a:p>
            <a:pPr algn="just"/>
            <a:r>
              <a:rPr lang="en-US" sz="2000" dirty="0"/>
              <a:t>const square = x =&gt; x*x;</a:t>
            </a:r>
            <a:endParaRPr lang="en-US" sz="2000" dirty="0"/>
          </a:p>
          <a:p>
            <a:pPr algn="just"/>
            <a:r>
              <a:rPr lang="en-US" sz="2000" dirty="0"/>
              <a:t>console.log(square(4));</a:t>
            </a:r>
            <a:endParaRPr lang="en-US" sz="2000" dirty="0"/>
          </a:p>
          <a:p>
            <a:pPr algn="just"/>
            <a:r>
              <a:rPr lang="en-US" sz="2000" dirty="0"/>
              <a:t>// </a:t>
            </a:r>
            <a:r>
              <a:rPr lang="en-US" sz="2000" dirty="0">
                <a:highlight>
                  <a:srgbClr val="FFFF00"/>
                </a:highlight>
              </a:rPr>
              <a:t>output: 16</a:t>
            </a:r>
            <a:endParaRPr lang="en-IN" sz="2000" dirty="0">
              <a:highlight>
                <a:srgbClr val="FFFF00"/>
              </a:highlight>
            </a:endParaRPr>
          </a:p>
        </p:txBody>
      </p:sp>
      <p:sp>
        <p:nvSpPr>
          <p:cNvPr id="6" name="TextBox 5"/>
          <p:cNvSpPr txBox="1"/>
          <p:nvPr/>
        </p:nvSpPr>
        <p:spPr>
          <a:xfrm>
            <a:off x="-71120" y="136525"/>
            <a:ext cx="7376160" cy="461665"/>
          </a:xfrm>
          <a:prstGeom prst="rect">
            <a:avLst/>
          </a:prstGeom>
          <a:noFill/>
        </p:spPr>
        <p:txBody>
          <a:bodyPr wrap="square">
            <a:spAutoFit/>
          </a:bodyPr>
          <a:lstStyle/>
          <a:p>
            <a:pPr algn="just"/>
            <a:r>
              <a:rPr lang="en-US" sz="2400" b="1" dirty="0"/>
              <a:t> 2. Arrow Function with Single Parameters</a:t>
            </a:r>
            <a:endParaRPr lang="en-US" sz="24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6" name="TextBox 5"/>
          <p:cNvSpPr txBox="1"/>
          <p:nvPr/>
        </p:nvSpPr>
        <p:spPr>
          <a:xfrm>
            <a:off x="325120" y="1198881"/>
            <a:ext cx="8361680" cy="3693319"/>
          </a:xfrm>
          <a:prstGeom prst="rect">
            <a:avLst/>
          </a:prstGeom>
          <a:solidFill>
            <a:schemeClr val="accent1">
              <a:lumMod val="20000"/>
              <a:lumOff val="80000"/>
            </a:schemeClr>
          </a:solidFill>
          <a:ln w="12700">
            <a:solidFill>
              <a:schemeClr val="tx1"/>
            </a:solidFill>
          </a:ln>
        </p:spPr>
        <p:txBody>
          <a:bodyPr wrap="square">
            <a:spAutoFit/>
          </a:bodyPr>
          <a:lstStyle/>
          <a:p>
            <a:r>
              <a:rPr lang="en-IN" sz="1800" dirty="0">
                <a:highlight>
                  <a:srgbClr val="FFFF00"/>
                </a:highlight>
              </a:rPr>
              <a:t>Arrow functions with multiple parameters, like (param1, param2) =&gt; { }, simplify writing concise function expressions in JavaScript, useful for functions requiring more than one argument.</a:t>
            </a:r>
            <a:endParaRPr lang="en-IN" sz="1800" dirty="0">
              <a:highlight>
                <a:srgbClr val="FFFF00"/>
              </a:highlight>
            </a:endParaRPr>
          </a:p>
          <a:p>
            <a:endParaRPr lang="en-IN" sz="1800" dirty="0">
              <a:highlight>
                <a:srgbClr val="FFFF00"/>
              </a:highlight>
            </a:endParaRPr>
          </a:p>
          <a:p>
            <a:r>
              <a:rPr lang="en-IN" sz="1800" dirty="0"/>
              <a:t>Example : In this example we defines an arrow function </a:t>
            </a:r>
            <a:r>
              <a:rPr lang="en-IN" sz="1800" dirty="0" err="1"/>
              <a:t>gfg</a:t>
            </a:r>
            <a:r>
              <a:rPr lang="en-IN" sz="1800" dirty="0"/>
              <a:t> with parameters x, y, z, logging their sum.</a:t>
            </a:r>
            <a:endParaRPr lang="en-IN" sz="1800" dirty="0"/>
          </a:p>
          <a:p>
            <a:endParaRPr lang="en-IN" sz="1800" dirty="0"/>
          </a:p>
          <a:p>
            <a:endParaRPr lang="en-IN" sz="1800" dirty="0"/>
          </a:p>
          <a:p>
            <a:r>
              <a:rPr lang="en-IN" sz="1800" dirty="0" err="1"/>
              <a:t>const</a:t>
            </a:r>
            <a:r>
              <a:rPr lang="en-IN" sz="1800" dirty="0"/>
              <a:t> </a:t>
            </a:r>
            <a:r>
              <a:rPr lang="en-IN" sz="1800" dirty="0" err="1"/>
              <a:t>gfg</a:t>
            </a:r>
            <a:r>
              <a:rPr lang="en-IN" sz="1800" dirty="0"/>
              <a:t> = ( x, y, z ) =&gt; {</a:t>
            </a:r>
            <a:endParaRPr lang="en-IN" sz="1800" dirty="0"/>
          </a:p>
          <a:p>
            <a:r>
              <a:rPr lang="en-IN" sz="1800" dirty="0"/>
              <a:t>    console.log( x + y + z )</a:t>
            </a:r>
            <a:endParaRPr lang="en-IN" sz="1800" dirty="0"/>
          </a:p>
          <a:p>
            <a:r>
              <a:rPr lang="en-IN" sz="1800" dirty="0"/>
              <a:t>}</a:t>
            </a:r>
            <a:endParaRPr lang="en-IN" sz="1800" dirty="0"/>
          </a:p>
          <a:p>
            <a:endParaRPr lang="en-IN" sz="1800" dirty="0"/>
          </a:p>
          <a:p>
            <a:r>
              <a:rPr lang="en-IN" sz="1800" dirty="0" err="1"/>
              <a:t>gfg</a:t>
            </a:r>
            <a:r>
              <a:rPr lang="en-IN" sz="1800" dirty="0"/>
              <a:t>( 10, 20, 30 );</a:t>
            </a:r>
            <a:endParaRPr lang="en-IN" sz="1800" dirty="0"/>
          </a:p>
        </p:txBody>
      </p:sp>
      <p:sp>
        <p:nvSpPr>
          <p:cNvPr id="8" name="TextBox 7"/>
          <p:cNvSpPr txBox="1"/>
          <p:nvPr/>
        </p:nvSpPr>
        <p:spPr>
          <a:xfrm>
            <a:off x="91440" y="216952"/>
            <a:ext cx="6319520" cy="430887"/>
          </a:xfrm>
          <a:prstGeom prst="rect">
            <a:avLst/>
          </a:prstGeom>
          <a:noFill/>
        </p:spPr>
        <p:txBody>
          <a:bodyPr wrap="square">
            <a:spAutoFit/>
          </a:bodyPr>
          <a:lstStyle/>
          <a:p>
            <a:r>
              <a:rPr lang="en-IN" sz="2200" b="1" dirty="0"/>
              <a:t>3. Arrow Function with Multiple Parameters</a:t>
            </a:r>
            <a:endParaRPr lang="en-IN" sz="2200" b="1" dirty="0"/>
          </a:p>
        </p:txBody>
      </p:sp>
      <p:sp>
        <p:nvSpPr>
          <p:cNvPr id="10" name="TextBox 9"/>
          <p:cNvSpPr txBox="1"/>
          <p:nvPr/>
        </p:nvSpPr>
        <p:spPr>
          <a:xfrm>
            <a:off x="589280" y="5529432"/>
            <a:ext cx="4572000" cy="523220"/>
          </a:xfrm>
          <a:prstGeom prst="rect">
            <a:avLst/>
          </a:prstGeom>
          <a:solidFill>
            <a:schemeClr val="accent2">
              <a:lumMod val="20000"/>
              <a:lumOff val="80000"/>
            </a:schemeClr>
          </a:solidFill>
          <a:ln w="12700">
            <a:solidFill>
              <a:schemeClr val="tx1"/>
            </a:solidFill>
          </a:ln>
        </p:spPr>
        <p:txBody>
          <a:bodyPr wrap="square">
            <a:spAutoFit/>
          </a:bodyPr>
          <a:lstStyle/>
          <a:p>
            <a:r>
              <a:rPr lang="en-IN" dirty="0"/>
              <a:t>Output</a:t>
            </a:r>
            <a:endParaRPr lang="en-IN" dirty="0"/>
          </a:p>
          <a:p>
            <a:r>
              <a:rPr lang="en-IN" dirty="0"/>
              <a:t>60</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4" name="TextBox 3"/>
          <p:cNvSpPr txBox="1"/>
          <p:nvPr/>
        </p:nvSpPr>
        <p:spPr>
          <a:xfrm>
            <a:off x="111760" y="1148081"/>
            <a:ext cx="8575040" cy="4093428"/>
          </a:xfrm>
          <a:prstGeom prst="rect">
            <a:avLst/>
          </a:prstGeom>
          <a:noFill/>
        </p:spPr>
        <p:txBody>
          <a:bodyPr wrap="square">
            <a:spAutoFit/>
          </a:bodyPr>
          <a:lstStyle/>
          <a:p>
            <a:pPr algn="just" rtl="0" fontAlgn="base"/>
            <a:r>
              <a:rPr lang="en-US" sz="2000" b="1" i="0" dirty="0">
                <a:solidFill>
                  <a:srgbClr val="273239"/>
                </a:solidFill>
                <a:effectLst/>
                <a:highlight>
                  <a:srgbClr val="FFFFFF"/>
                </a:highlight>
                <a:latin typeface="Nunito" pitchFamily="2" charset="0"/>
              </a:rPr>
              <a:t>Closures in JavaScript</a:t>
            </a:r>
            <a:r>
              <a:rPr lang="en-US" sz="2000" b="0" i="0" dirty="0">
                <a:solidFill>
                  <a:srgbClr val="273239"/>
                </a:solidFill>
                <a:effectLst/>
                <a:highlight>
                  <a:srgbClr val="FFFFFF"/>
                </a:highlight>
                <a:latin typeface="Nunito" pitchFamily="2" charset="0"/>
              </a:rPr>
              <a:t> are functions that retain access to variables from their containing scope even after the parent function has finished executing. They’re useful for maintaining private data, creating modular code, and implementing callback functions with persistent state. In this article, we’ll dive deep into closures, understand how they work, and explore practical examples.</a:t>
            </a:r>
            <a:endParaRPr lang="en-US" sz="2000" b="0" i="0" dirty="0">
              <a:solidFill>
                <a:srgbClr val="273239"/>
              </a:solidFill>
              <a:effectLst/>
              <a:highlight>
                <a:srgbClr val="FFFFFF"/>
              </a:highlight>
              <a:latin typeface="Nunito" pitchFamily="2" charset="0"/>
            </a:endParaRPr>
          </a:p>
          <a:p>
            <a:pPr algn="just" rtl="0" fontAlgn="base"/>
            <a:endParaRPr lang="en-US" sz="2000" b="0" i="0" dirty="0">
              <a:solidFill>
                <a:srgbClr val="273239"/>
              </a:solidFill>
              <a:effectLst/>
              <a:highlight>
                <a:srgbClr val="FFFFFF"/>
              </a:highlight>
              <a:latin typeface="Nunito" pitchFamily="2" charset="0"/>
            </a:endParaRPr>
          </a:p>
          <a:p>
            <a:pPr algn="just" fontAlgn="base"/>
            <a:r>
              <a:rPr lang="en-US" sz="2000" b="1" i="0" dirty="0">
                <a:solidFill>
                  <a:srgbClr val="273239"/>
                </a:solidFill>
                <a:effectLst/>
                <a:highlight>
                  <a:srgbClr val="FFFFFF"/>
                </a:highlight>
                <a:latin typeface="Nunito" pitchFamily="2" charset="0"/>
              </a:rPr>
              <a:t>What is a Closure?</a:t>
            </a:r>
            <a:endParaRPr lang="en-US" sz="2000" b="1" i="0" dirty="0">
              <a:solidFill>
                <a:srgbClr val="273239"/>
              </a:solidFill>
              <a:effectLst/>
              <a:highlight>
                <a:srgbClr val="FFFFFF"/>
              </a:highlight>
              <a:latin typeface="Nunito" pitchFamily="2" charset="0"/>
            </a:endParaRPr>
          </a:p>
          <a:p>
            <a:pPr algn="just" rtl="0" fontAlgn="base"/>
            <a:r>
              <a:rPr lang="en-US" sz="2000" b="0" i="0" dirty="0">
                <a:solidFill>
                  <a:srgbClr val="273239"/>
                </a:solidFill>
                <a:effectLst/>
                <a:highlight>
                  <a:srgbClr val="FFFFFF"/>
                </a:highlight>
                <a:latin typeface="Nunito" pitchFamily="2" charset="0"/>
              </a:rPr>
              <a:t>A </a:t>
            </a:r>
            <a:r>
              <a:rPr lang="en-US" sz="2000" b="1" i="0" dirty="0">
                <a:solidFill>
                  <a:srgbClr val="273239"/>
                </a:solidFill>
                <a:effectLst/>
                <a:highlight>
                  <a:srgbClr val="FFFFFF"/>
                </a:highlight>
                <a:latin typeface="Nunito" pitchFamily="2" charset="0"/>
              </a:rPr>
              <a:t>closure</a:t>
            </a:r>
            <a:r>
              <a:rPr lang="en-US" sz="2000" b="0" i="0" dirty="0">
                <a:solidFill>
                  <a:srgbClr val="273239"/>
                </a:solidFill>
                <a:effectLst/>
                <a:highlight>
                  <a:srgbClr val="FFFFFF"/>
                </a:highlight>
                <a:latin typeface="Nunito" pitchFamily="2" charset="0"/>
              </a:rPr>
              <a:t> is the combination of a function bundled together (enclosed) with references to its surrounding state (the lexical environment). When you create a closure, you gain access to an outer function’s scope from an inner function. Closures are automatically created every time a function is defined in JavaScript.</a:t>
            </a:r>
            <a:endParaRPr lang="en-US" sz="2000" b="0" i="0" dirty="0">
              <a:solidFill>
                <a:srgbClr val="273239"/>
              </a:solidFill>
              <a:effectLst/>
              <a:highlight>
                <a:srgbClr val="FFFFFF"/>
              </a:highlight>
              <a:latin typeface="Nunito" pitchFamily="2" charset="0"/>
            </a:endParaRPr>
          </a:p>
        </p:txBody>
      </p:sp>
      <p:sp>
        <p:nvSpPr>
          <p:cNvPr id="6" name="TextBox 5"/>
          <p:cNvSpPr txBox="1"/>
          <p:nvPr/>
        </p:nvSpPr>
        <p:spPr>
          <a:xfrm>
            <a:off x="772160" y="125512"/>
            <a:ext cx="4572000" cy="584775"/>
          </a:xfrm>
          <a:prstGeom prst="rect">
            <a:avLst/>
          </a:prstGeom>
          <a:noFill/>
        </p:spPr>
        <p:txBody>
          <a:bodyPr wrap="square">
            <a:spAutoFit/>
          </a:bodyPr>
          <a:lstStyle/>
          <a:p>
            <a:r>
              <a:rPr lang="en-US" sz="3200" b="1" i="0" dirty="0">
                <a:solidFill>
                  <a:srgbClr val="273239"/>
                </a:solidFill>
                <a:effectLst/>
                <a:latin typeface="Nunito" pitchFamily="2" charset="0"/>
              </a:rPr>
              <a:t>Closures in JavaScript</a:t>
            </a:r>
            <a:r>
              <a:rPr lang="en-US" sz="3200" b="0" i="0" dirty="0">
                <a:solidFill>
                  <a:srgbClr val="273239"/>
                </a:solidFill>
                <a:effectLst/>
                <a:latin typeface="Nunito" pitchFamily="2" charset="0"/>
              </a:rPr>
              <a:t> </a:t>
            </a:r>
            <a:endParaRPr lang="en-IN"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graphicFrame>
        <p:nvGraphicFramePr>
          <p:cNvPr id="3" name="Table 2"/>
          <p:cNvGraphicFramePr>
            <a:graphicFrameLocks noGrp="1"/>
          </p:cNvGraphicFramePr>
          <p:nvPr/>
        </p:nvGraphicFramePr>
        <p:xfrm>
          <a:off x="142240" y="1021080"/>
          <a:ext cx="8544560" cy="5882640"/>
        </p:xfrm>
        <a:graphic>
          <a:graphicData uri="http://schemas.openxmlformats.org/drawingml/2006/table">
            <a:tbl>
              <a:tblPr firstRow="1" bandRow="1">
                <a:tableStyleId>{BD24CE57-81FB-4CE5-B3F0-45E823DBC81C}</a:tableStyleId>
              </a:tblPr>
              <a:tblGrid>
                <a:gridCol w="4126818"/>
                <a:gridCol w="4417742"/>
              </a:tblGrid>
              <a:tr h="5662097">
                <a:tc>
                  <a:txBody>
                    <a:bodyPr/>
                    <a:lstStyle/>
                    <a:p>
                      <a:pPr algn="just" fontAlgn="base"/>
                      <a:r>
                        <a:rPr lang="en-US" sz="2000" b="1" i="0" u="none" strike="noStrike" cap="none" dirty="0">
                          <a:solidFill>
                            <a:srgbClr val="000000"/>
                          </a:solidFill>
                          <a:effectLst/>
                          <a:latin typeface="Arial" panose="020B0604020202020204"/>
                          <a:ea typeface="Arial" panose="020B0604020202020204"/>
                          <a:cs typeface="Arial" panose="020B0604020202020204"/>
                          <a:sym typeface="Arial" panose="020B0604020202020204"/>
                        </a:rPr>
                        <a:t>Lexical Scoping</a:t>
                      </a:r>
                      <a:endParaRPr lang="en-US" sz="2000" b="1" i="0" u="none" strike="noStrike" cap="none" dirty="0">
                        <a:solidFill>
                          <a:srgbClr val="000000"/>
                        </a:solidFill>
                        <a:effectLst/>
                        <a:latin typeface="Arial" panose="020B0604020202020204"/>
                        <a:ea typeface="Arial" panose="020B0604020202020204"/>
                        <a:cs typeface="Arial" panose="020B0604020202020204"/>
                        <a:sym typeface="Arial" panose="020B0604020202020204"/>
                      </a:endParaRPr>
                    </a:p>
                    <a:p>
                      <a:pPr algn="just" rtl="0" fontAlgn="base"/>
                      <a:r>
                        <a:rPr lang="en-US" sz="2000" b="0" i="0" u="none" strike="noStrike" cap="none" dirty="0">
                          <a:solidFill>
                            <a:srgbClr val="000000"/>
                          </a:solidFill>
                          <a:effectLst/>
                          <a:latin typeface="Arial" panose="020B0604020202020204"/>
                          <a:ea typeface="Arial" panose="020B0604020202020204"/>
                          <a:cs typeface="Arial" panose="020B0604020202020204"/>
                          <a:sym typeface="Arial" panose="020B0604020202020204"/>
                        </a:rPr>
                        <a:t>Lexical scoping refers to how a parser resolves variable names when functions are nested. The location where a variable is declared within the source code determines where that variable is available. Nested functions have access to variables declared in their outer scope. Consider the following example:</a:t>
                      </a:r>
                      <a:endParaRPr lang="en-US" sz="2000" b="0" i="0" u="none" strike="noStrike" cap="none" dirty="0">
                        <a:solidFill>
                          <a:srgbClr val="000000"/>
                        </a:solidFill>
                        <a:effectLst/>
                        <a:latin typeface="Arial" panose="020B0604020202020204"/>
                        <a:ea typeface="Arial" panose="020B0604020202020204"/>
                        <a:cs typeface="Arial" panose="020B0604020202020204"/>
                        <a:sym typeface="Arial" panose="020B0604020202020204"/>
                      </a:endParaRPr>
                    </a:p>
                    <a:p>
                      <a:pPr algn="just" rtl="0" fontAlgn="base"/>
                      <a:endParaRPr lang="en-US" sz="2000" b="0" i="0" u="none" strike="noStrike" cap="none" dirty="0">
                        <a:solidFill>
                          <a:srgbClr val="000000"/>
                        </a:solidFill>
                        <a:effectLst/>
                        <a:latin typeface="Arial" panose="020B0604020202020204"/>
                        <a:ea typeface="Arial" panose="020B0604020202020204"/>
                        <a:cs typeface="Arial" panose="020B0604020202020204"/>
                        <a:sym typeface="Arial" panose="020B0604020202020204"/>
                      </a:endParaRPr>
                    </a:p>
                    <a:p>
                      <a:pPr algn="just"/>
                      <a:endParaRPr lang="en-IN" sz="2000" dirty="0"/>
                    </a:p>
                  </a:txBody>
                  <a:tcPr/>
                </a:tc>
                <a:tc>
                  <a:txBody>
                    <a:bodyPr/>
                    <a:lstStyle/>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sz="1800" b="1" i="0" u="none" strike="noStrike" cap="none" dirty="0">
                          <a:solidFill>
                            <a:srgbClr val="000000"/>
                          </a:solidFill>
                          <a:effectLst/>
                          <a:latin typeface="Arial" panose="020B0604020202020204"/>
                          <a:ea typeface="Arial" panose="020B0604020202020204"/>
                          <a:cs typeface="Arial" panose="020B0604020202020204"/>
                          <a:sym typeface="Arial" panose="020B0604020202020204"/>
                        </a:rPr>
                        <a:t>Example 1:</a:t>
                      </a:r>
                      <a:r>
                        <a:rPr lang="en-US" sz="1800" b="0" i="0" u="none" strike="noStrike" cap="none" dirty="0">
                          <a:solidFill>
                            <a:srgbClr val="000000"/>
                          </a:solidFill>
                          <a:effectLst/>
                          <a:latin typeface="Arial" panose="020B0604020202020204"/>
                          <a:ea typeface="Arial" panose="020B0604020202020204"/>
                          <a:cs typeface="Arial" panose="020B0604020202020204"/>
                          <a:sym typeface="Arial" panose="020B0604020202020204"/>
                        </a:rPr>
                        <a:t> This example shows the basic use of closure.</a:t>
                      </a:r>
                      <a:endParaRPr lang="en-US" sz="1800" b="0" i="0" u="none" strike="noStrike" cap="none" dirty="0">
                        <a:solidFill>
                          <a:srgbClr val="000000"/>
                        </a:solidFill>
                        <a:effectLst/>
                        <a:latin typeface="Arial" panose="020B0604020202020204"/>
                        <a:ea typeface="Arial" panose="020B0604020202020204"/>
                        <a:cs typeface="Arial" panose="020B0604020202020204"/>
                        <a:sym typeface="Arial" panose="020B0604020202020204"/>
                      </a:endParaRP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lang="en-US" sz="1800" b="0" i="0" u="none" strike="noStrike" cap="none" dirty="0">
                        <a:solidFill>
                          <a:srgbClr val="000000"/>
                        </a:solidFill>
                        <a:effectLst/>
                        <a:latin typeface="Arial" panose="020B0604020202020204"/>
                        <a:ea typeface="Arial" panose="020B0604020202020204"/>
                        <a:cs typeface="Arial" panose="020B0604020202020204"/>
                        <a:sym typeface="Arial" panose="020B0604020202020204"/>
                      </a:endParaRPr>
                    </a:p>
                    <a:p>
                      <a:pPr marL="720725" indent="0" algn="l"/>
                      <a:r>
                        <a:rPr lang="en-IN" sz="1800" i="1" dirty="0"/>
                        <a:t>function foo() {</a:t>
                      </a:r>
                      <a:endParaRPr lang="en-IN" sz="1800" i="1" dirty="0"/>
                    </a:p>
                    <a:p>
                      <a:pPr marL="720725" indent="0" algn="l"/>
                      <a:r>
                        <a:rPr lang="en-IN" sz="1800" i="1" dirty="0"/>
                        <a:t>    let b = 1;</a:t>
                      </a:r>
                      <a:endParaRPr lang="en-IN" sz="1800" i="1" dirty="0"/>
                    </a:p>
                    <a:p>
                      <a:pPr marL="720725" indent="0" algn="l"/>
                      <a:r>
                        <a:rPr lang="en-IN" sz="1800" i="1" dirty="0"/>
                        <a:t>    function inner() {</a:t>
                      </a:r>
                      <a:endParaRPr lang="en-IN" sz="1800" i="1" dirty="0"/>
                    </a:p>
                    <a:p>
                      <a:pPr marL="720725" indent="0" algn="l"/>
                      <a:r>
                        <a:rPr lang="en-IN" sz="1800" i="1" dirty="0"/>
                        <a:t>        return b;</a:t>
                      </a:r>
                      <a:endParaRPr lang="en-IN" sz="1800" i="1" dirty="0"/>
                    </a:p>
                    <a:p>
                      <a:pPr marL="720725" indent="0" algn="l"/>
                      <a:r>
                        <a:rPr lang="en-IN" sz="1800" i="1" dirty="0"/>
                        <a:t>    }</a:t>
                      </a:r>
                      <a:endParaRPr lang="en-IN" sz="1800" i="1" dirty="0"/>
                    </a:p>
                    <a:p>
                      <a:pPr marL="720725" indent="0" algn="l"/>
                      <a:r>
                        <a:rPr lang="en-IN" sz="1800" i="1" dirty="0"/>
                        <a:t>    return inner;</a:t>
                      </a:r>
                      <a:endParaRPr lang="en-IN" sz="1800" i="1" dirty="0"/>
                    </a:p>
                    <a:p>
                      <a:pPr marL="720725" indent="0" algn="l"/>
                      <a:r>
                        <a:rPr lang="en-IN" sz="1800" i="1" dirty="0"/>
                        <a:t>}</a:t>
                      </a:r>
                      <a:endParaRPr lang="en-IN" sz="1800" i="1" dirty="0"/>
                    </a:p>
                    <a:p>
                      <a:pPr marL="720725" indent="0" algn="l"/>
                      <a:r>
                        <a:rPr lang="en-IN" sz="1800" i="1" dirty="0"/>
                        <a:t>let </a:t>
                      </a:r>
                      <a:r>
                        <a:rPr lang="en-IN" sz="1800" i="1" dirty="0" err="1"/>
                        <a:t>get_func_inner</a:t>
                      </a:r>
                      <a:r>
                        <a:rPr lang="en-IN" sz="1800" i="1" dirty="0"/>
                        <a:t> = foo();</a:t>
                      </a:r>
                      <a:endParaRPr lang="en-IN" sz="1800" i="1" dirty="0"/>
                    </a:p>
                    <a:p>
                      <a:pPr marL="720725" indent="0" algn="l"/>
                      <a:endParaRPr lang="en-IN" sz="1800" i="1" dirty="0"/>
                    </a:p>
                    <a:p>
                      <a:pPr marL="720725" indent="0" algn="l"/>
                      <a:r>
                        <a:rPr lang="en-IN" sz="1800" i="1" dirty="0"/>
                        <a:t>console.log(</a:t>
                      </a:r>
                      <a:r>
                        <a:rPr lang="en-IN" sz="1800" i="1" dirty="0" err="1"/>
                        <a:t>get_func_inner</a:t>
                      </a:r>
                      <a:r>
                        <a:rPr lang="en-IN" sz="1800" i="1" dirty="0"/>
                        <a:t>());</a:t>
                      </a:r>
                      <a:endParaRPr lang="en-IN" sz="1800" i="1" dirty="0"/>
                    </a:p>
                    <a:p>
                      <a:pPr marL="720725" indent="0" algn="l"/>
                      <a:r>
                        <a:rPr lang="en-IN" sz="1800" i="1" dirty="0"/>
                        <a:t>console.log(</a:t>
                      </a:r>
                      <a:r>
                        <a:rPr lang="en-IN" sz="1800" i="1" dirty="0" err="1"/>
                        <a:t>get_func_inner</a:t>
                      </a:r>
                      <a:r>
                        <a:rPr lang="en-IN" sz="1800" i="1" dirty="0"/>
                        <a:t>());</a:t>
                      </a:r>
                      <a:endParaRPr lang="en-IN" sz="1800" i="1" dirty="0"/>
                    </a:p>
                    <a:p>
                      <a:pPr marL="720725" indent="0" algn="l"/>
                      <a:r>
                        <a:rPr lang="en-IN" sz="1800" i="1" dirty="0"/>
                        <a:t>console.log(</a:t>
                      </a:r>
                      <a:r>
                        <a:rPr lang="en-IN" sz="1800" i="1" dirty="0" err="1"/>
                        <a:t>get_func_inner</a:t>
                      </a:r>
                      <a:r>
                        <a:rPr lang="en-IN" sz="1800" i="1" dirty="0"/>
                        <a:t>());</a:t>
                      </a:r>
                      <a:endParaRPr lang="en-IN" sz="1800" i="1" dirty="0"/>
                    </a:p>
                    <a:p>
                      <a:pPr marL="720725" indent="0" algn="l"/>
                      <a:endParaRPr lang="en-IN" sz="1800" b="1" i="1" dirty="0">
                        <a:solidFill>
                          <a:srgbClr val="FF0000"/>
                        </a:solidFill>
                      </a:endParaRPr>
                    </a:p>
                    <a:p>
                      <a:pPr marL="720725" indent="0" algn="l"/>
                      <a:r>
                        <a:rPr lang="en-IN" sz="1800" b="1" i="1" dirty="0">
                          <a:solidFill>
                            <a:srgbClr val="FF0000"/>
                          </a:solidFill>
                        </a:rPr>
                        <a:t>Output</a:t>
                      </a:r>
                      <a:endParaRPr lang="en-IN" sz="1800" b="1" i="1" dirty="0">
                        <a:solidFill>
                          <a:srgbClr val="FF0000"/>
                        </a:solidFill>
                      </a:endParaRPr>
                    </a:p>
                    <a:p>
                      <a:pPr marL="720725" indent="0" algn="l"/>
                      <a:r>
                        <a:rPr lang="en-IN" sz="1800" i="1" dirty="0"/>
                        <a:t>1</a:t>
                      </a:r>
                      <a:endParaRPr lang="en-IN" sz="1800" i="1" dirty="0"/>
                    </a:p>
                    <a:p>
                      <a:pPr marL="720725" indent="0" algn="l"/>
                      <a:r>
                        <a:rPr lang="en-IN" sz="1800" i="1" dirty="0"/>
                        <a:t>1</a:t>
                      </a:r>
                      <a:endParaRPr lang="en-IN" sz="1800" i="1" dirty="0"/>
                    </a:p>
                    <a:p>
                      <a:pPr marL="720725" indent="0" algn="l"/>
                      <a:r>
                        <a:rPr lang="en-IN" sz="1800" i="1" dirty="0"/>
                        <a:t>1</a:t>
                      </a:r>
                      <a:endParaRPr lang="en-IN" sz="1800" i="1" dirty="0"/>
                    </a:p>
                    <a:p>
                      <a:pPr algn="just"/>
                      <a:endParaRPr lang="en-IN" sz="2000" dirty="0"/>
                    </a:p>
                  </a:txBody>
                  <a:tcPr/>
                </a:tc>
              </a:tr>
            </a:tbl>
          </a:graphicData>
        </a:graphic>
      </p:graphicFrame>
      <p:sp>
        <p:nvSpPr>
          <p:cNvPr id="5" name="TextBox 4"/>
          <p:cNvSpPr txBox="1"/>
          <p:nvPr/>
        </p:nvSpPr>
        <p:spPr>
          <a:xfrm>
            <a:off x="426720" y="174823"/>
            <a:ext cx="4572000" cy="523220"/>
          </a:xfrm>
          <a:prstGeom prst="rect">
            <a:avLst/>
          </a:prstGeom>
          <a:noFill/>
        </p:spPr>
        <p:txBody>
          <a:bodyPr wrap="square">
            <a:spAutoFit/>
          </a:bodyPr>
          <a:lstStyle/>
          <a:p>
            <a:pPr algn="just" fontAlgn="base"/>
            <a:r>
              <a:rPr lang="en-US" sz="2800" b="1" i="0" u="none" strike="noStrike" cap="none" dirty="0">
                <a:solidFill>
                  <a:srgbClr val="000000"/>
                </a:solidFill>
                <a:effectLst/>
                <a:latin typeface="Arial" panose="020B0604020202020204"/>
                <a:ea typeface="Arial" panose="020B0604020202020204"/>
                <a:cs typeface="Arial" panose="020B0604020202020204"/>
                <a:sym typeface="Arial" panose="020B0604020202020204"/>
              </a:rPr>
              <a:t>Lexical Scoping</a:t>
            </a:r>
            <a:endParaRPr lang="en-US" sz="2800" b="1" i="0" u="none" strike="noStrike" cap="none" dirty="0">
              <a:solidFill>
                <a:srgbClr val="000000"/>
              </a:solidFill>
              <a:effectLst/>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5" name="TextBox 4"/>
          <p:cNvSpPr txBox="1"/>
          <p:nvPr/>
        </p:nvSpPr>
        <p:spPr>
          <a:xfrm>
            <a:off x="182880" y="1184107"/>
            <a:ext cx="8686800" cy="1200329"/>
          </a:xfrm>
          <a:prstGeom prst="rect">
            <a:avLst/>
          </a:prstGeom>
          <a:noFill/>
        </p:spPr>
        <p:txBody>
          <a:bodyPr wrap="square">
            <a:spAutoFit/>
          </a:bodyPr>
          <a:lstStyle/>
          <a:p>
            <a:r>
              <a:rPr lang="en-US" sz="2400" b="1" dirty="0"/>
              <a:t>let</a:t>
            </a:r>
            <a:endParaRPr lang="en-US" sz="2400" b="1" dirty="0"/>
          </a:p>
          <a:p>
            <a:r>
              <a:rPr lang="en-US" sz="2400" dirty="0"/>
              <a:t>The let declaration declares re-assignable, block-scoped local variables, optionally initializing each to a value.</a:t>
            </a:r>
            <a:endParaRPr lang="en-IN" sz="2400" dirty="0"/>
          </a:p>
        </p:txBody>
      </p:sp>
      <p:sp>
        <p:nvSpPr>
          <p:cNvPr id="7" name="TextBox 6"/>
          <p:cNvSpPr txBox="1"/>
          <p:nvPr/>
        </p:nvSpPr>
        <p:spPr>
          <a:xfrm>
            <a:off x="182880" y="2557790"/>
            <a:ext cx="4572000" cy="1420325"/>
          </a:xfrm>
          <a:prstGeom prst="rect">
            <a:avLst/>
          </a:prstGeom>
          <a:noFill/>
        </p:spPr>
        <p:txBody>
          <a:bodyPr wrap="square">
            <a:spAutoFit/>
          </a:bodyPr>
          <a:lstStyle/>
          <a:p>
            <a:pPr>
              <a:lnSpc>
                <a:spcPct val="150000"/>
              </a:lnSpc>
            </a:pPr>
            <a:r>
              <a:rPr lang="en-US" sz="2000" dirty="0">
                <a:highlight>
                  <a:srgbClr val="FFFF00"/>
                </a:highlight>
              </a:rPr>
              <a:t>let x = 1;if (x === 1) {  let x = 2;  console.log(x);  // Expected output: 2}console.log(x);// Expected output: 1</a:t>
            </a:r>
            <a:endParaRPr lang="en-IN" sz="2000" dirty="0">
              <a:highlight>
                <a:srgbClr val="FFFF00"/>
              </a:highlight>
            </a:endParaRPr>
          </a:p>
        </p:txBody>
      </p:sp>
      <p:sp>
        <p:nvSpPr>
          <p:cNvPr id="11" name="TextBox 10"/>
          <p:cNvSpPr txBox="1"/>
          <p:nvPr/>
        </p:nvSpPr>
        <p:spPr>
          <a:xfrm>
            <a:off x="396240" y="5150673"/>
            <a:ext cx="4572000" cy="954107"/>
          </a:xfrm>
          <a:prstGeom prst="rect">
            <a:avLst/>
          </a:prstGeom>
          <a:noFill/>
        </p:spPr>
        <p:txBody>
          <a:bodyPr wrap="square">
            <a:spAutoFit/>
          </a:bodyPr>
          <a:lstStyle/>
          <a:p>
            <a:r>
              <a:rPr lang="en-IN" b="1" dirty="0"/>
              <a:t>OUTPUT:</a:t>
            </a:r>
            <a:endParaRPr lang="en-IN" b="1" dirty="0"/>
          </a:p>
          <a:p>
            <a:endParaRPr lang="en-IN" dirty="0"/>
          </a:p>
          <a:p>
            <a:r>
              <a:rPr lang="en-IN" dirty="0"/>
              <a:t>&gt; 2</a:t>
            </a:r>
            <a:endParaRPr lang="en-IN" dirty="0"/>
          </a:p>
          <a:p>
            <a:r>
              <a:rPr lang="en-IN" dirty="0"/>
              <a:t>&gt; 1</a:t>
            </a:r>
            <a:endParaRPr lang="en-IN" dirty="0"/>
          </a:p>
        </p:txBody>
      </p:sp>
      <p:sp>
        <p:nvSpPr>
          <p:cNvPr id="13" name="TextBox 12"/>
          <p:cNvSpPr txBox="1"/>
          <p:nvPr/>
        </p:nvSpPr>
        <p:spPr>
          <a:xfrm>
            <a:off x="701040" y="106889"/>
            <a:ext cx="4572000" cy="646331"/>
          </a:xfrm>
          <a:prstGeom prst="rect">
            <a:avLst/>
          </a:prstGeom>
          <a:noFill/>
        </p:spPr>
        <p:txBody>
          <a:bodyPr wrap="square">
            <a:spAutoFit/>
          </a:bodyPr>
          <a:lstStyle/>
          <a:p>
            <a:r>
              <a:rPr lang="en-US" sz="3600" b="1" dirty="0"/>
              <a:t>let</a:t>
            </a:r>
            <a:endParaRPr lang="en-US" sz="3600"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5" name="TextBox 4"/>
          <p:cNvSpPr txBox="1"/>
          <p:nvPr/>
        </p:nvSpPr>
        <p:spPr>
          <a:xfrm>
            <a:off x="365760" y="946258"/>
            <a:ext cx="8321040" cy="2000548"/>
          </a:xfrm>
          <a:prstGeom prst="rect">
            <a:avLst/>
          </a:prstGeom>
          <a:noFill/>
        </p:spPr>
        <p:txBody>
          <a:bodyPr wrap="square">
            <a:spAutoFit/>
          </a:bodyPr>
          <a:lstStyle/>
          <a:p>
            <a:pPr algn="just"/>
            <a:r>
              <a:rPr lang="en-US" sz="2400" b="1" dirty="0"/>
              <a:t>const</a:t>
            </a:r>
            <a:endParaRPr lang="en-US" sz="2400" b="1" dirty="0"/>
          </a:p>
          <a:p>
            <a:pPr algn="just"/>
            <a:r>
              <a:rPr lang="en-US" sz="2000" dirty="0"/>
              <a:t>The const declaration declares block-scoped local variables. The value of a constant can't be changed through reassignment using the assignment operator, but if a constant is an object, its properties can be added, updated, or removed.</a:t>
            </a:r>
            <a:endParaRPr lang="en-US" sz="2000" dirty="0"/>
          </a:p>
          <a:p>
            <a:pPr algn="just"/>
            <a:r>
              <a:rPr lang="en-US" sz="2000" dirty="0"/>
              <a:t>Example:</a:t>
            </a:r>
            <a:endParaRPr lang="en-IN" sz="2000" dirty="0"/>
          </a:p>
        </p:txBody>
      </p:sp>
      <p:sp>
        <p:nvSpPr>
          <p:cNvPr id="7" name="TextBox 6"/>
          <p:cNvSpPr txBox="1"/>
          <p:nvPr/>
        </p:nvSpPr>
        <p:spPr>
          <a:xfrm>
            <a:off x="528320" y="166152"/>
            <a:ext cx="4572000" cy="523220"/>
          </a:xfrm>
          <a:prstGeom prst="rect">
            <a:avLst/>
          </a:prstGeom>
          <a:noFill/>
        </p:spPr>
        <p:txBody>
          <a:bodyPr wrap="square">
            <a:spAutoFit/>
          </a:bodyPr>
          <a:lstStyle/>
          <a:p>
            <a:r>
              <a:rPr lang="en-US" sz="2800" b="1" dirty="0"/>
              <a:t>const</a:t>
            </a:r>
            <a:endParaRPr lang="en-US" sz="2800" b="1" dirty="0"/>
          </a:p>
        </p:txBody>
      </p:sp>
      <p:sp>
        <p:nvSpPr>
          <p:cNvPr id="9" name="TextBox 8"/>
          <p:cNvSpPr txBox="1"/>
          <p:nvPr/>
        </p:nvSpPr>
        <p:spPr>
          <a:xfrm>
            <a:off x="365760" y="3007937"/>
            <a:ext cx="7396480" cy="2949525"/>
          </a:xfrm>
          <a:prstGeom prst="rect">
            <a:avLst/>
          </a:prstGeom>
          <a:solidFill>
            <a:schemeClr val="accent2">
              <a:lumMod val="20000"/>
              <a:lumOff val="80000"/>
            </a:schemeClr>
          </a:solidFill>
          <a:ln w="12700">
            <a:solidFill>
              <a:schemeClr val="tx1"/>
            </a:solidFill>
          </a:ln>
        </p:spPr>
        <p:txBody>
          <a:bodyPr wrap="square">
            <a:spAutoFit/>
          </a:bodyPr>
          <a:lstStyle/>
          <a:p>
            <a:pPr>
              <a:lnSpc>
                <a:spcPct val="150000"/>
              </a:lnSpc>
            </a:pPr>
            <a:r>
              <a:rPr lang="en-IN" sz="1800" b="1" i="1" dirty="0" err="1"/>
              <a:t>const</a:t>
            </a:r>
            <a:r>
              <a:rPr lang="en-IN" sz="1800" b="1" i="1" dirty="0"/>
              <a:t> number = 42;</a:t>
            </a:r>
            <a:endParaRPr lang="en-IN" sz="1800" b="1" i="1" dirty="0"/>
          </a:p>
          <a:p>
            <a:pPr>
              <a:lnSpc>
                <a:spcPct val="150000"/>
              </a:lnSpc>
            </a:pPr>
            <a:r>
              <a:rPr lang="en-IN" sz="1800" b="1" i="1" dirty="0"/>
              <a:t>try {  number = 99;} </a:t>
            </a:r>
            <a:endParaRPr lang="en-IN" sz="1800" b="1" i="1" dirty="0"/>
          </a:p>
          <a:p>
            <a:pPr>
              <a:lnSpc>
                <a:spcPct val="150000"/>
              </a:lnSpc>
            </a:pPr>
            <a:r>
              <a:rPr lang="en-IN" sz="1800" b="1" i="1" dirty="0"/>
              <a:t>catch (err) {  console.log(err);  </a:t>
            </a:r>
            <a:endParaRPr lang="en-IN" sz="1800" b="1" i="1" dirty="0"/>
          </a:p>
          <a:p>
            <a:pPr>
              <a:lnSpc>
                <a:spcPct val="150000"/>
              </a:lnSpc>
            </a:pPr>
            <a:r>
              <a:rPr lang="en-IN" sz="1800" i="1" dirty="0"/>
              <a:t>// Expected output: </a:t>
            </a:r>
            <a:r>
              <a:rPr lang="en-IN" sz="1800" i="1" dirty="0" err="1"/>
              <a:t>TypeError</a:t>
            </a:r>
            <a:r>
              <a:rPr lang="en-IN" sz="1800" i="1" dirty="0"/>
              <a:t>: invalid assignment to </a:t>
            </a:r>
            <a:r>
              <a:rPr lang="en-IN" sz="1800" i="1" dirty="0" err="1"/>
              <a:t>const</a:t>
            </a:r>
            <a:r>
              <a:rPr lang="en-IN" sz="1800" i="1" dirty="0"/>
              <a:t> 'number'  // (Note: the exact output may be browser-dependent)</a:t>
            </a:r>
            <a:endParaRPr lang="en-IN" sz="1800" i="1" dirty="0"/>
          </a:p>
          <a:p>
            <a:pPr>
              <a:lnSpc>
                <a:spcPct val="150000"/>
              </a:lnSpc>
            </a:pPr>
            <a:r>
              <a:rPr lang="en-IN" sz="1800" b="1" i="1" dirty="0"/>
              <a:t>}</a:t>
            </a:r>
            <a:endParaRPr lang="en-IN" sz="1800" b="1" i="1" dirty="0"/>
          </a:p>
          <a:p>
            <a:pPr>
              <a:lnSpc>
                <a:spcPct val="150000"/>
              </a:lnSpc>
            </a:pPr>
            <a:r>
              <a:rPr lang="en-IN" sz="1800" b="1" i="1" dirty="0"/>
              <a:t>console.log(number);</a:t>
            </a:r>
            <a:r>
              <a:rPr lang="en-IN" sz="1800" i="1" dirty="0"/>
              <a:t>// Expected output: 42</a:t>
            </a:r>
            <a:endParaRPr lang="en-IN" sz="1800" i="1" dirty="0"/>
          </a:p>
        </p:txBody>
      </p:sp>
      <p:sp>
        <p:nvSpPr>
          <p:cNvPr id="11" name="TextBox 10"/>
          <p:cNvSpPr txBox="1"/>
          <p:nvPr/>
        </p:nvSpPr>
        <p:spPr>
          <a:xfrm>
            <a:off x="5201920" y="5679853"/>
            <a:ext cx="3942080" cy="954107"/>
          </a:xfrm>
          <a:prstGeom prst="rect">
            <a:avLst/>
          </a:prstGeom>
          <a:solidFill>
            <a:schemeClr val="bg2">
              <a:lumMod val="20000"/>
              <a:lumOff val="80000"/>
            </a:schemeClr>
          </a:solidFill>
          <a:ln w="12700">
            <a:solidFill>
              <a:schemeClr val="tx1"/>
            </a:solidFill>
          </a:ln>
        </p:spPr>
        <p:txBody>
          <a:bodyPr wrap="square">
            <a:spAutoFit/>
          </a:bodyPr>
          <a:lstStyle/>
          <a:p>
            <a:r>
              <a:rPr lang="en-US" b="1" dirty="0"/>
              <a:t>OUTPUT:</a:t>
            </a:r>
            <a:endParaRPr lang="en-US" b="1" dirty="0"/>
          </a:p>
          <a:p>
            <a:endParaRPr lang="en-US" dirty="0"/>
          </a:p>
          <a:p>
            <a:r>
              <a:rPr lang="en-US" dirty="0"/>
              <a:t>&gt; </a:t>
            </a:r>
            <a:r>
              <a:rPr lang="en-US" dirty="0" err="1"/>
              <a:t>TypeError</a:t>
            </a:r>
            <a:r>
              <a:rPr lang="en-US" dirty="0"/>
              <a:t>: Assignment to constant variable.</a:t>
            </a:r>
            <a:endParaRPr lang="en-US" dirty="0"/>
          </a:p>
          <a:p>
            <a:r>
              <a:rPr lang="en-US" dirty="0"/>
              <a:t>&gt; 42</a:t>
            </a: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5" name="TextBox 4"/>
          <p:cNvSpPr txBox="1"/>
          <p:nvPr/>
        </p:nvSpPr>
        <p:spPr>
          <a:xfrm>
            <a:off x="281836" y="1230248"/>
            <a:ext cx="8404964" cy="1631216"/>
          </a:xfrm>
          <a:prstGeom prst="rect">
            <a:avLst/>
          </a:prstGeom>
          <a:noFill/>
        </p:spPr>
        <p:txBody>
          <a:bodyPr wrap="square">
            <a:spAutoFit/>
          </a:bodyPr>
          <a:lstStyle/>
          <a:p>
            <a:pPr algn="just"/>
            <a:r>
              <a:rPr lang="en-US" sz="2000" dirty="0"/>
              <a:t>In JavaScript, the </a:t>
            </a:r>
            <a:r>
              <a:rPr lang="en-US" sz="2000" b="1" i="1" dirty="0"/>
              <a:t>let</a:t>
            </a:r>
            <a:r>
              <a:rPr lang="en-US" sz="2000" dirty="0"/>
              <a:t> keyword plays an essential role in creating block-scoped variables. When used in a </a:t>
            </a:r>
            <a:r>
              <a:rPr lang="en-US" sz="2000" b="1" i="1" dirty="0"/>
              <a:t>for</a:t>
            </a:r>
            <a:r>
              <a:rPr lang="en-US" sz="2000" dirty="0"/>
              <a:t> loop,</a:t>
            </a:r>
            <a:r>
              <a:rPr lang="en-US" sz="2000" b="1" i="1" dirty="0"/>
              <a:t> let </a:t>
            </a:r>
            <a:r>
              <a:rPr lang="en-US" sz="2000" dirty="0"/>
              <a:t>ensures that each iteration of the loop has its own distinct instance of the loop variable. This behavior is particularly useful when working with asynchronous code, such as </a:t>
            </a:r>
            <a:r>
              <a:rPr lang="en-US" sz="2000" b="1" i="1" dirty="0" err="1"/>
              <a:t>setTimeout</a:t>
            </a:r>
            <a:r>
              <a:rPr lang="en-US" sz="2000" b="1" i="1" dirty="0"/>
              <a:t> </a:t>
            </a:r>
            <a:r>
              <a:rPr lang="en-US" sz="2000" dirty="0"/>
              <a:t>or promises, within a loop.</a:t>
            </a:r>
            <a:endParaRPr lang="en-IN"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4" name="TextBox 3"/>
          <p:cNvSpPr txBox="1"/>
          <p:nvPr/>
        </p:nvSpPr>
        <p:spPr>
          <a:xfrm>
            <a:off x="152400" y="1056640"/>
            <a:ext cx="8686800" cy="3476625"/>
          </a:xfrm>
          <a:prstGeom prst="rect">
            <a:avLst/>
          </a:prstGeom>
          <a:noFill/>
        </p:spPr>
        <p:txBody>
          <a:bodyPr wrap="square">
            <a:spAutoFit/>
          </a:bodyPr>
          <a:lstStyle/>
          <a:p>
            <a:pPr algn="just" fontAlgn="base"/>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In JavaScript function binding happens using the </a:t>
            </a:r>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Bind()</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method. With this method, we can bind an object to a common function, so that the function gives different results when needed. otherwise, it gives the same result or gives an error while the code is executing. We use the </a:t>
            </a:r>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Bind()</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method to call a function with ‘</a:t>
            </a:r>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this’</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value.</a:t>
            </a:r>
            <a:endPar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just" fontAlgn="base"/>
            <a:endPar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just" fontAlgn="base"/>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What is ‘this’?</a:t>
            </a:r>
            <a:endPar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just" rtl="0" fontAlgn="base"/>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‘this’ refers to the object it belongs to. The exact value of ‘this’ depends on how a function is called. In a method, ‘this’ represents the object that the method was called on, while in a regular function, it typically refers to the global object (in the case of browser environments, it’s the ‘window’ object).</a:t>
            </a:r>
            <a:endPar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just" rtl="0" fontAlgn="base"/>
            <a:endPar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p:txBody>
      </p:sp>
      <p:sp>
        <p:nvSpPr>
          <p:cNvPr id="6" name="TextBox 5"/>
          <p:cNvSpPr txBox="1"/>
          <p:nvPr/>
        </p:nvSpPr>
        <p:spPr>
          <a:xfrm>
            <a:off x="152400" y="156210"/>
            <a:ext cx="6983730" cy="583565"/>
          </a:xfrm>
          <a:prstGeom prst="rect">
            <a:avLst/>
          </a:prstGeom>
          <a:noFill/>
        </p:spPr>
        <p:txBody>
          <a:bodyPr wrap="square">
            <a:spAutoFit/>
          </a:bodyPr>
          <a:lstStyle/>
          <a:p>
            <a:pPr algn="l" fontAlgn="base"/>
            <a:r>
              <a:rPr lang="en-US" sz="3200" b="1" i="0" dirty="0">
                <a:solidFill>
                  <a:srgbClr val="273239"/>
                </a:solidFill>
                <a:effectLst/>
                <a:latin typeface="Times New Roman" panose="02020603050405020304" pitchFamily="18" charset="0"/>
                <a:cs typeface="Times New Roman" panose="02020603050405020304" pitchFamily="18" charset="0"/>
              </a:rPr>
              <a:t>JavaScript Function binding</a:t>
            </a:r>
            <a:endParaRPr lang="en-US" sz="3200" b="1" i="0" dirty="0">
              <a:solidFill>
                <a:srgbClr val="273239"/>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4" name="TextBox 3"/>
          <p:cNvSpPr txBox="1"/>
          <p:nvPr/>
        </p:nvSpPr>
        <p:spPr>
          <a:xfrm>
            <a:off x="264160" y="1139428"/>
            <a:ext cx="8666480" cy="706755"/>
          </a:xfrm>
          <a:prstGeom prst="rect">
            <a:avLst/>
          </a:prstGeom>
          <a:noFill/>
        </p:spPr>
        <p:txBody>
          <a:bodyPr wrap="square">
            <a:spAutoFit/>
          </a:bodyPr>
          <a:lstStyle/>
          <a:p>
            <a:pPr algn="just" rtl="0" fontAlgn="base"/>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Example 1:</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In this example, </a:t>
            </a:r>
            <a:r>
              <a:rPr lang="en-US" sz="2000" b="0" i="1" dirty="0">
                <a:solidFill>
                  <a:srgbClr val="273239"/>
                </a:solidFill>
                <a:effectLst/>
                <a:highlight>
                  <a:srgbClr val="FFFFFF"/>
                </a:highlight>
                <a:latin typeface="Times New Roman" panose="02020603050405020304" pitchFamily="18" charset="0"/>
                <a:cs typeface="Times New Roman" panose="02020603050405020304" pitchFamily="18" charset="0"/>
              </a:rPr>
              <a:t>this</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keyword binds the </a:t>
            </a:r>
            <a:r>
              <a:rPr lang="en-US" sz="2000" b="0" i="1" dirty="0">
                <a:solidFill>
                  <a:srgbClr val="273239"/>
                </a:solidFill>
                <a:effectLst/>
                <a:highlight>
                  <a:srgbClr val="FFFFFF"/>
                </a:highlight>
                <a:latin typeface="Times New Roman" panose="02020603050405020304" pitchFamily="18" charset="0"/>
                <a:cs typeface="Times New Roman" panose="02020603050405020304" pitchFamily="18" charset="0"/>
              </a:rPr>
              <a:t>name</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variable to the function. It is known as default binding. </a:t>
            </a:r>
            <a:r>
              <a:rPr lang="en-US" sz="2000" b="0" i="1" dirty="0">
                <a:solidFill>
                  <a:srgbClr val="273239"/>
                </a:solidFill>
                <a:effectLst/>
                <a:highlight>
                  <a:srgbClr val="FFFFFF"/>
                </a:highlight>
                <a:latin typeface="Times New Roman" panose="02020603050405020304" pitchFamily="18" charset="0"/>
                <a:cs typeface="Times New Roman" panose="02020603050405020304" pitchFamily="18" charset="0"/>
              </a:rPr>
              <a:t>this</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keyword refers to </a:t>
            </a:r>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geeks</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object.</a:t>
            </a:r>
            <a:endPar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p:txBody>
      </p:sp>
      <p:sp>
        <p:nvSpPr>
          <p:cNvPr id="6" name="TextBox 5"/>
          <p:cNvSpPr txBox="1"/>
          <p:nvPr/>
        </p:nvSpPr>
        <p:spPr>
          <a:xfrm>
            <a:off x="2286000" y="2541379"/>
            <a:ext cx="4572000" cy="1815882"/>
          </a:xfrm>
          <a:prstGeom prst="rect">
            <a:avLst/>
          </a:prstGeom>
          <a:solidFill>
            <a:schemeClr val="accent1">
              <a:lumMod val="20000"/>
              <a:lumOff val="80000"/>
            </a:schemeClr>
          </a:solidFill>
          <a:ln w="12700">
            <a:solidFill>
              <a:schemeClr val="tx1"/>
            </a:solidFill>
          </a:ln>
        </p:spPr>
        <p:txBody>
          <a:bodyPr wrap="square">
            <a:spAutoFit/>
          </a:bodyPr>
          <a:lstStyle/>
          <a:p>
            <a:r>
              <a:rPr lang="en-IN" dirty="0"/>
              <a:t>let geeks = {</a:t>
            </a:r>
            <a:endParaRPr lang="en-IN" dirty="0"/>
          </a:p>
          <a:p>
            <a:r>
              <a:rPr lang="en-IN" dirty="0"/>
              <a:t>	name: "ABC",</a:t>
            </a:r>
            <a:endParaRPr lang="en-IN" dirty="0"/>
          </a:p>
          <a:p>
            <a:r>
              <a:rPr lang="en-IN" dirty="0"/>
              <a:t>	</a:t>
            </a:r>
            <a:r>
              <a:rPr lang="en-IN" dirty="0" err="1"/>
              <a:t>printFunc</a:t>
            </a:r>
            <a:r>
              <a:rPr lang="en-IN" dirty="0"/>
              <a:t>: function () {</a:t>
            </a:r>
            <a:endParaRPr lang="en-IN" dirty="0"/>
          </a:p>
          <a:p>
            <a:r>
              <a:rPr lang="en-IN" dirty="0"/>
              <a:t>		console.log(this.name);</a:t>
            </a:r>
            <a:endParaRPr lang="en-IN" dirty="0"/>
          </a:p>
          <a:p>
            <a:r>
              <a:rPr lang="en-IN" dirty="0"/>
              <a:t>	}</a:t>
            </a:r>
            <a:endParaRPr lang="en-IN" dirty="0"/>
          </a:p>
          <a:p>
            <a:r>
              <a:rPr lang="en-IN" dirty="0"/>
              <a:t>}</a:t>
            </a:r>
            <a:endParaRPr lang="en-IN" dirty="0"/>
          </a:p>
          <a:p>
            <a:endParaRPr lang="en-IN" dirty="0"/>
          </a:p>
          <a:p>
            <a:r>
              <a:rPr lang="en-IN" dirty="0" err="1"/>
              <a:t>geeks.printFunc</a:t>
            </a:r>
            <a:r>
              <a:rPr lang="en-IN" dirty="0"/>
              <a:t>();</a:t>
            </a:r>
            <a:endParaRPr lang="en-IN" dirty="0"/>
          </a:p>
        </p:txBody>
      </p:sp>
      <p:sp>
        <p:nvSpPr>
          <p:cNvPr id="7" name="Rectangle 1"/>
          <p:cNvSpPr>
            <a:spLocks noChangeArrowheads="1"/>
          </p:cNvSpPr>
          <p:nvPr/>
        </p:nvSpPr>
        <p:spPr bwMode="auto">
          <a:xfrm>
            <a:off x="2286000" y="5051326"/>
            <a:ext cx="2641600" cy="371876"/>
          </a:xfrm>
          <a:prstGeom prst="rect">
            <a:avLst/>
          </a:prstGeom>
          <a:solidFill>
            <a:srgbClr val="E0E0E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rgbClr val="273239"/>
                </a:solidFill>
                <a:effectLst/>
                <a:latin typeface="Nunito" pitchFamily="2" charset="0"/>
              </a:rPr>
              <a:t>Output:  </a:t>
            </a:r>
            <a:r>
              <a:rPr kumimoji="0" lang="en-US" altLang="en-US" sz="2000" b="0" i="0" u="none" strike="noStrike" cap="none" normalizeH="0" baseline="0" dirty="0">
                <a:ln>
                  <a:noFill/>
                </a:ln>
                <a:solidFill>
                  <a:schemeClr val="tx1"/>
                </a:solidFill>
                <a:effectLst/>
                <a:latin typeface="Consolas" panose="020B0609020204030204" pitchFamily="49" charset="0"/>
              </a:rPr>
              <a:t>ABC</a:t>
            </a:r>
            <a:r>
              <a:rPr kumimoji="0" lang="en-US" altLang="en-US" sz="10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19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4" name="Rectangle 3"/>
          <p:cNvSpPr/>
          <p:nvPr/>
        </p:nvSpPr>
        <p:spPr>
          <a:xfrm>
            <a:off x="2435634" y="2388215"/>
            <a:ext cx="3724096" cy="923330"/>
          </a:xfrm>
          <a:prstGeom prst="rect">
            <a:avLst/>
          </a:prstGeom>
          <a:noFill/>
        </p:spPr>
        <p:txBody>
          <a:bodyPr wrap="none" lIns="91440" tIns="45720" rIns="91440" bIns="45720">
            <a:spAutoFit/>
          </a:bodyPr>
          <a:lstStyle/>
          <a:p>
            <a:pPr algn="ctr"/>
            <a:r>
              <a:rPr lang="en-US" sz="5400"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Thank</a:t>
            </a:r>
            <a:r>
              <a:rPr lang="en-US" sz="5400" b="1" cap="none" spc="0" dirty="0">
                <a:ln w="22225">
                  <a:solidFill>
                    <a:schemeClr val="accent2"/>
                  </a:solidFill>
                  <a:prstDash val="solid"/>
                </a:ln>
                <a:solidFill>
                  <a:schemeClr val="accent2">
                    <a:lumMod val="40000"/>
                    <a:lumOff val="60000"/>
                  </a:schemeClr>
                </a:solidFill>
                <a:effectLst/>
              </a:rPr>
              <a:t> </a:t>
            </a:r>
            <a:r>
              <a:rPr lang="en-US" sz="5400"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You</a:t>
            </a:r>
            <a:endParaRPr lang="en-US" sz="5400" b="1" cap="none" spc="0" dirty="0">
              <a:ln w="22225">
                <a:solidFill>
                  <a:schemeClr val="accent2"/>
                </a:solidFill>
                <a:prstDash val="solid"/>
              </a:ln>
              <a:solidFill>
                <a:schemeClr val="accent2">
                  <a:lumMod val="40000"/>
                  <a:lumOff val="60000"/>
                </a:schemeClr>
              </a:solidFill>
              <a:effectL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9081</Words>
  <Application>WPS Presentation</Application>
  <PresentationFormat>On-screen Show (4:3)</PresentationFormat>
  <Paragraphs>307</Paragraphs>
  <Slides>22</Slides>
  <Notes>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22</vt:i4>
      </vt:variant>
    </vt:vector>
  </HeadingPairs>
  <TitlesOfParts>
    <vt:vector size="41" baseType="lpstr">
      <vt:lpstr>Arial</vt:lpstr>
      <vt:lpstr>SimSun</vt:lpstr>
      <vt:lpstr>Wingdings</vt:lpstr>
      <vt:lpstr>Arial</vt:lpstr>
      <vt:lpstr>Calibri</vt:lpstr>
      <vt:lpstr>Times New Roman</vt:lpstr>
      <vt:lpstr>Verdana</vt:lpstr>
      <vt:lpstr>var(--ff-lato)</vt:lpstr>
      <vt:lpstr>Segoe Print</vt:lpstr>
      <vt:lpstr>inherit</vt:lpstr>
      <vt:lpstr>Nunito</vt:lpstr>
      <vt:lpstr>Times New Roman</vt:lpstr>
      <vt:lpstr>Source Sans 3</vt:lpstr>
      <vt:lpstr>var(--font-secondary)</vt:lpstr>
      <vt:lpstr>Consolas</vt:lpstr>
      <vt:lpstr>Microsoft YaHei</vt:lpstr>
      <vt:lpstr>Arial Unicode MS</vt:lpstr>
      <vt:lpstr>Nunito</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ABC</dc:creator>
  <cp:lastModifiedBy>Mandeep Kaur</cp:lastModifiedBy>
  <cp:revision>115</cp:revision>
  <dcterms:created xsi:type="dcterms:W3CDTF">2010-04-09T07:36:00Z</dcterms:created>
  <dcterms:modified xsi:type="dcterms:W3CDTF">2026-01-22T07:27:15Z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0816DB4EA2254B8095D92CBE0445F10C_13</vt:lpwstr>
  </property>
  <property fmtid="{D5CDD505-2E9C-101B-9397-08002B2CF9AE}" pid="3" name="KSOProductBuildVer">
    <vt:lpwstr>1033-12.2.0.23196</vt:lpwstr>
  </property>
</Properties>
</file>