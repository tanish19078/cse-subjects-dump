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93" r:id="rId8"/>
    <p:sldId id="262" r:id="rId9"/>
    <p:sldId id="263" r:id="rId10"/>
    <p:sldId id="294" r:id="rId11"/>
    <p:sldId id="295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851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D875359-AB3C-4A46-A2E7-77EEEE4F9044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EEE8"/>
          </a:solidFill>
        </a:fill>
      </a:tcStyle>
    </a:wholeTbl>
    <a:band1H>
      <a:tcStyle>
        <a:tcBdr/>
        <a:fill>
          <a:solidFill>
            <a:srgbClr val="FCDCCE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FCDCCE"/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DEEE8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/>
        <a:fill>
          <a:solidFill>
            <a:srgbClr val="FDEEE8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1"/>
  </p:normalViewPr>
  <p:slideViewPr>
    <p:cSldViewPr snapToGrid="0" showGuides="1">
      <p:cViewPr varScale="1">
        <p:scale>
          <a:sx n="78" d="100"/>
          <a:sy n="78" d="100"/>
        </p:scale>
        <p:origin x="1594" y="62"/>
      </p:cViewPr>
      <p:guideLst>
        <p:guide orient="horz" pos="2851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9"/>
          <p:cNvSpPr txBox="1">
            <a:spLocks noGrp="1"/>
          </p:cNvSpPr>
          <p:nvPr>
            <p:ph type="title"/>
          </p:nvPr>
        </p:nvSpPr>
        <p:spPr>
          <a:xfrm>
            <a:off x="1160170" y="-32816"/>
            <a:ext cx="6823659" cy="87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9"/>
          <p:cNvSpPr txBox="1">
            <a:spLocks noGrp="1"/>
          </p:cNvSpPr>
          <p:nvPr>
            <p:ph type="body" idx="1"/>
          </p:nvPr>
        </p:nvSpPr>
        <p:spPr>
          <a:xfrm>
            <a:off x="535940" y="1392377"/>
            <a:ext cx="5281930" cy="139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0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 extrusionOk="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4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755891"/>
            <a:ext cx="899388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199" y="228600"/>
            <a:ext cx="2057400" cy="63550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2"/>
          <p:cNvSpPr txBox="1">
            <a:spLocks noGrp="1"/>
          </p:cNvSpPr>
          <p:nvPr>
            <p:ph type="title"/>
          </p:nvPr>
        </p:nvSpPr>
        <p:spPr>
          <a:xfrm>
            <a:off x="1160170" y="-32816"/>
            <a:ext cx="6823659" cy="87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 txBox="1">
            <a:spLocks noGrp="1"/>
          </p:cNvSpPr>
          <p:nvPr>
            <p:ph type="title"/>
          </p:nvPr>
        </p:nvSpPr>
        <p:spPr>
          <a:xfrm>
            <a:off x="1160170" y="-32816"/>
            <a:ext cx="6823659" cy="87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 extrusionOk="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38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6755891"/>
            <a:ext cx="899388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38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553199" y="228600"/>
            <a:ext cx="2057400" cy="635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8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553199" y="228600"/>
            <a:ext cx="192024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38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6553199" y="228600"/>
            <a:ext cx="2057400" cy="63550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8"/>
          <p:cNvSpPr/>
          <p:nvPr/>
        </p:nvSpPr>
        <p:spPr>
          <a:xfrm>
            <a:off x="6146291" y="0"/>
            <a:ext cx="2997835" cy="838200"/>
          </a:xfrm>
          <a:custGeom>
            <a:avLst/>
            <a:gdLst/>
            <a:ahLst/>
            <a:cxnLst/>
            <a:rect l="l" t="t" r="r" b="b"/>
            <a:pathLst>
              <a:path w="2997834" h="838200" extrusionOk="0">
                <a:moveTo>
                  <a:pt x="2997708" y="0"/>
                </a:moveTo>
                <a:lnTo>
                  <a:pt x="0" y="0"/>
                </a:lnTo>
                <a:lnTo>
                  <a:pt x="0" y="838200"/>
                </a:lnTo>
                <a:lnTo>
                  <a:pt x="2997708" y="838200"/>
                </a:lnTo>
                <a:lnTo>
                  <a:pt x="2997708" y="0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38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6553199" y="228600"/>
            <a:ext cx="2057400" cy="63550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8"/>
          <p:cNvSpPr/>
          <p:nvPr/>
        </p:nvSpPr>
        <p:spPr>
          <a:xfrm>
            <a:off x="6527291" y="190500"/>
            <a:ext cx="2077720" cy="685800"/>
          </a:xfrm>
          <a:custGeom>
            <a:avLst/>
            <a:gdLst/>
            <a:ahLst/>
            <a:cxnLst/>
            <a:rect l="l" t="t" r="r" b="b"/>
            <a:pathLst>
              <a:path w="2077720" h="685800" extrusionOk="0">
                <a:moveTo>
                  <a:pt x="2077211" y="0"/>
                </a:moveTo>
                <a:lnTo>
                  <a:pt x="0" y="0"/>
                </a:lnTo>
                <a:lnTo>
                  <a:pt x="0" y="685800"/>
                </a:lnTo>
                <a:lnTo>
                  <a:pt x="2077211" y="685800"/>
                </a:lnTo>
                <a:lnTo>
                  <a:pt x="20772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38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553199" y="228600"/>
            <a:ext cx="192024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8"/>
          <p:cNvSpPr txBox="1">
            <a:spLocks noGrp="1"/>
          </p:cNvSpPr>
          <p:nvPr>
            <p:ph type="title"/>
          </p:nvPr>
        </p:nvSpPr>
        <p:spPr>
          <a:xfrm>
            <a:off x="1160170" y="-32816"/>
            <a:ext cx="6823659" cy="87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38"/>
          <p:cNvSpPr txBox="1">
            <a:spLocks noGrp="1"/>
          </p:cNvSpPr>
          <p:nvPr>
            <p:ph type="body" idx="1"/>
          </p:nvPr>
        </p:nvSpPr>
        <p:spPr>
          <a:xfrm>
            <a:off x="535940" y="1392377"/>
            <a:ext cx="5281930" cy="139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u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"/>
          <p:cNvSpPr txBox="1"/>
          <p:nvPr/>
        </p:nvSpPr>
        <p:spPr>
          <a:xfrm>
            <a:off x="1219200" y="1350818"/>
            <a:ext cx="6553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None/>
            </a:pPr>
            <a:r>
              <a:rPr lang="en-US" sz="4000" b="1" dirty="0">
                <a:solidFill>
                  <a:schemeClr val="tx1"/>
                </a:solidFill>
                <a:latin typeface="Calibri"/>
                <a:cs typeface="Calibri"/>
                <a:sym typeface="Calibri"/>
              </a:rPr>
              <a:t>Threads</a:t>
            </a:r>
            <a:endParaRPr sz="4000" b="0" i="0" u="none" strike="noStrike" cap="none" dirty="0">
              <a:solidFill>
                <a:schemeClr val="tx1"/>
              </a:solidFill>
              <a:sym typeface="Arial" panose="020B0604020202090204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1621155" y="4764062"/>
            <a:ext cx="6151245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Chitkara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University Institute of Engineering and Technology,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Chitkara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University, Punjab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Content</a:t>
            </a:r>
          </a:p>
        </p:txBody>
      </p:sp>
      <p:sp>
        <p:nvSpPr>
          <p:cNvPr id="3" name="Google Shape;48;p2"/>
          <p:cNvSpPr txBox="1">
            <a:spLocks noGrp="1"/>
          </p:cNvSpPr>
          <p:nvPr>
            <p:ph type="body" idx="1"/>
          </p:nvPr>
        </p:nvSpPr>
        <p:spPr>
          <a:xfrm>
            <a:off x="457200" y="1083501"/>
            <a:ext cx="8229600" cy="5404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just" rtl="0">
              <a:lnSpc>
                <a:spcPct val="1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 pitchFamily="34" charset="0"/>
              <a:buChar char="•"/>
            </a:pPr>
            <a:r>
              <a:rPr lang="en-US" altLang="en-US" sz="2000">
                <a:solidFill>
                  <a:srgbClr val="27323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Overview of Threads</a:t>
            </a:r>
          </a:p>
          <a:p>
            <a:pPr marL="285750" lvl="0" indent="-285750" algn="just" rtl="0">
              <a:lnSpc>
                <a:spcPct val="1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 pitchFamily="34" charset="0"/>
              <a:buChar char="•"/>
            </a:pPr>
            <a:r>
              <a:rPr lang="en-US" altLang="en-US" sz="2000">
                <a:solidFill>
                  <a:srgbClr val="27323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Multicore Programming</a:t>
            </a:r>
          </a:p>
          <a:p>
            <a:pPr marL="285750" lvl="0" indent="-285750" algn="just" rtl="0">
              <a:lnSpc>
                <a:spcPct val="1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 pitchFamily="34" charset="0"/>
              <a:buChar char="•"/>
            </a:pPr>
            <a:r>
              <a:rPr lang="en-US" altLang="en-US" sz="2000">
                <a:solidFill>
                  <a:srgbClr val="27323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Multithreading Models</a:t>
            </a:r>
          </a:p>
          <a:p>
            <a:pPr marL="285750" lvl="0" indent="-285750" algn="just" rtl="0">
              <a:lnSpc>
                <a:spcPct val="1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 pitchFamily="34" charset="0"/>
              <a:buChar char="•"/>
            </a:pPr>
            <a:r>
              <a:rPr lang="en-US" altLang="en-US" sz="2000">
                <a:solidFill>
                  <a:srgbClr val="27323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Threading Issues</a:t>
            </a:r>
          </a:p>
          <a:p>
            <a:pPr marL="285750" lvl="0" indent="-285750" algn="just" rtl="0">
              <a:lnSpc>
                <a:spcPct val="1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 pitchFamily="34" charset="0"/>
              <a:buChar char="•"/>
            </a:pPr>
            <a:r>
              <a:rPr lang="en-US" altLang="en-US" sz="2000">
                <a:solidFill>
                  <a:srgbClr val="27323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Linux Threads</a:t>
            </a:r>
          </a:p>
        </p:txBody>
      </p:sp>
      <p:sp>
        <p:nvSpPr>
          <p:cNvPr id="4" name="Google Shape;49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" panose="02020503050405090304" charset="0"/>
                <a:ea typeface="Calibri"/>
                <a:cs typeface="Times New Roman" panose="02020503050405090304" charset="0"/>
                <a:sym typeface="Calibri"/>
              </a:rPr>
              <a:t>Overview of Threads</a:t>
            </a:r>
            <a:endParaRPr sz="3200" b="0">
              <a:latin typeface="Times New Roman" panose="02020503050405090304" charset="0"/>
              <a:ea typeface="Calibri"/>
              <a:cs typeface="Times New Roman" panose="02020503050405090304" charset="0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91548" y="1152940"/>
            <a:ext cx="8534400" cy="549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 computers,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single process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might have multiple functionalities running in parallel where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each functionality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can be considered as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 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thread is the </a:t>
            </a:r>
            <a:r>
              <a:rPr lang="en-US" alt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smallest unit</a:t>
            </a: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of execution within a program.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process can contain one or more threads.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There can be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multiple threads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single process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having the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same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or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different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functionality. 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thread is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single sequence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stream within a process. 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Threads have the same properties as the process so they are called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lightweight processes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 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On single core processor, threads are are rapidly switched giving the illusion that they are executing in parallel. In multi-core systems, threads can execute truly in parallel across different cores. 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Each thread has different states.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Cont...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91548" y="1152940"/>
            <a:ext cx="8534400" cy="442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Threads are executed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one after another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but it gives the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illusion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that they are executing in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parallel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457200" marR="0" lvl="0" indent="-457200" algn="just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Threads are small units of a computer program that can run independently. </a:t>
            </a:r>
          </a:p>
          <a:p>
            <a:pPr marL="457200" marR="0" lvl="0" indent="-457200" algn="just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They allow a program to perform multiple tasks at the same time, like having different parts of the program run simultaneously. </a:t>
            </a:r>
          </a:p>
          <a:p>
            <a:pPr marL="457200" marR="0" lvl="0" indent="-457200" algn="just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This makes programs more efficient and responsive, especially for tasks that can be divided into smaller parts.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Cont...</a:t>
            </a:r>
          </a:p>
        </p:txBody>
      </p:sp>
      <p:sp>
        <p:nvSpPr>
          <p:cNvPr id="82" name="Google Shape;82;p5"/>
          <p:cNvSpPr/>
          <p:nvPr/>
        </p:nvSpPr>
        <p:spPr>
          <a:xfrm>
            <a:off x="304800" y="1219200"/>
            <a:ext cx="8534400" cy="350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thread, sometimes called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light weight process (LWP)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is a basic unit of CPU utilization.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Each thread has:</a:t>
            </a:r>
          </a:p>
          <a:p>
            <a:pPr marL="914400" marR="0" lvl="1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program counter</a:t>
            </a:r>
          </a:p>
          <a:p>
            <a:pPr marL="914400" marR="0" lvl="1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register set</a:t>
            </a:r>
          </a:p>
          <a:p>
            <a:pPr marL="914400" marR="0" lvl="1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stack space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Threads allow multiple tasks to be performed simultaneously within a process, making them a fundamental concept in modern operating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Cont...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42900" y="1219200"/>
            <a:ext cx="8458200" cy="3198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Many software packages that run on modern desktop PCs are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multithreaded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457200" marR="0" lvl="0" indent="-4572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An application typically is implemented as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separate process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with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several threads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of control.</a:t>
            </a: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Examples: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742950" marR="0" lvl="1" indent="-28575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web browser might have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one thread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display images or text while an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other thread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retrieves data from the network.</a:t>
            </a:r>
          </a:p>
          <a:p>
            <a:pPr marL="742950" marR="0" lvl="1" indent="-28575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word processor may have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thread for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displaying graphics,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another for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reading keystrokes from the user, and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third thread for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performing spelling and grammar checking in the background.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" y="168479"/>
            <a:ext cx="6823659" cy="430530"/>
          </a:xfrm>
        </p:spPr>
        <p:txBody>
          <a:bodyPr/>
          <a:lstStyle/>
          <a:p>
            <a:r>
              <a:rPr lang="en-US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Single &amp; Multi threaded Processes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90600"/>
            <a:ext cx="8978900" cy="3418205"/>
          </a:xfrm>
        </p:spPr>
        <p:txBody>
          <a:bodyPr wrap="square">
            <a:noAutofit/>
          </a:bodyPr>
          <a:lstStyle/>
          <a:p>
            <a:pPr marL="514350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A single-threaded application executes one task at a time, following a linear sequence. The CPU processes each instruction one after another, meaning if one task is slow, everything else has to wait.</a:t>
            </a:r>
          </a:p>
          <a:p>
            <a:pPr marL="514350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A multi-threaded application can execute multiple tasks simultaneously by splitting processes into separate threads, which improves performance and responsiveness.</a:t>
            </a:r>
          </a:p>
          <a:p>
            <a:pPr marL="514350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If you’re working on a simple application with minimal processing needs, single-threading is often sufficient. However, for high-performance applications like gaming, web servers, and real-time processing, multi-threading is essential for efficiency.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5105" y="3429000"/>
            <a:ext cx="8774430" cy="2965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Single &amp; Multi threaded Processes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pic>
        <p:nvPicPr>
          <p:cNvPr id="94" name="Google Shape;94;p7" descr="Screen Clipp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04800" y="1066800"/>
            <a:ext cx="8699862" cy="54102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Components of Threads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422668" y="1143000"/>
            <a:ext cx="8382000" cy="4660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thread is an independent unit of execution. To execute correctly, each thread must maintain its own execution context, which consists of the following three components: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Program Counter</a:t>
            </a:r>
          </a:p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 Program Counter holds the address of the next instruction that the thread will execute.</a:t>
            </a:r>
          </a:p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Why it is needed</a:t>
            </a:r>
          </a:p>
          <a:p>
            <a:pPr marL="1200150" marR="0" lvl="2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Multiple threads may execute the same program code.</a:t>
            </a:r>
          </a:p>
          <a:p>
            <a:pPr marL="1200150" marR="0" lvl="2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Each thread may be at a different point in the execution.</a:t>
            </a:r>
          </a:p>
          <a:p>
            <a:pPr marL="1200150" marR="0" lvl="2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 PC ensures that when a thread is paused and later resumed, it continues from the correct instruction.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0170" y="-32816"/>
            <a:ext cx="6823659" cy="430530"/>
          </a:xfrm>
        </p:spPr>
        <p:txBody>
          <a:bodyPr/>
          <a:lstStyle/>
          <a:p>
            <a:r>
              <a:rPr lang="en-US"/>
              <a:t>Cont..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030" y="845820"/>
            <a:ext cx="8781415" cy="6094095"/>
          </a:xfrm>
        </p:spPr>
        <p:txBody>
          <a:bodyPr wrap="square"/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Register Set</a:t>
            </a:r>
            <a:endParaRPr 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 register set contains the values of all CPU registers required by the thread.</a:t>
            </a:r>
            <a:endParaRPr lang="en-US" alt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Includes:</a:t>
            </a:r>
            <a:endParaRPr lang="en-US" alt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1200150" marR="0" lvl="2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General-purpose registers</a:t>
            </a:r>
            <a:endParaRPr lang="en-US" alt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1200150" marR="0" lvl="2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Accumulator</a:t>
            </a:r>
            <a:endParaRPr lang="en-US" alt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1200150" marR="0" lvl="2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Index registers</a:t>
            </a:r>
            <a:endParaRPr lang="en-US" alt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1200150" marR="0" lvl="2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Status / flag registers</a:t>
            </a:r>
            <a:endParaRPr lang="en-US" alt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1200150" marR="0" lvl="2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Why it is needed</a:t>
            </a:r>
            <a:endParaRPr lang="en-US" alt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1657350" marR="0" lvl="3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Registers store temporary data and intermediate results during execution.</a:t>
            </a:r>
            <a:endParaRPr lang="en-US" alt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1657350" marR="0" lvl="3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During a context switch, the OS saves the register set of the current thread and restores another thread’s register set.</a:t>
            </a:r>
            <a:endParaRPr lang="en-US" alt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914400" marR="0" lvl="2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Key point</a:t>
            </a:r>
            <a:endParaRPr lang="en-US" alt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1200150" marR="0" lvl="2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Each thread must have its own register set so it can resume execution correctly after interruption.</a:t>
            </a:r>
            <a:endParaRPr lang="en-US" alt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endParaRPr 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0170" y="-32816"/>
            <a:ext cx="6823659" cy="430530"/>
          </a:xfrm>
        </p:spPr>
        <p:txBody>
          <a:bodyPr/>
          <a:lstStyle/>
          <a:p>
            <a:r>
              <a:rPr lang="en-US"/>
              <a:t>Cont...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495" y="1003935"/>
            <a:ext cx="8688705" cy="5415280"/>
          </a:xfrm>
        </p:spPr>
        <p:txBody>
          <a:bodyPr wrap="square">
            <a:noAutofit/>
          </a:bodyPr>
          <a:lstStyle/>
          <a:p>
            <a:pPr marL="514350" indent="-285750">
              <a:buFont typeface="Arial" panose="020B0604020202090204" pitchFamily="34" charset="0"/>
              <a:buChar char="•"/>
            </a:pPr>
            <a:r>
              <a:rPr lang="en-US" sz="180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Stack space</a:t>
            </a:r>
            <a:endParaRPr 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971550" lvl="1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The stack is a memory area used by the thread to manage function calls.</a:t>
            </a:r>
          </a:p>
          <a:p>
            <a:pPr marL="971550" lvl="1" indent="-285750">
              <a:buFont typeface="Arial" panose="020B0604020202090204" pitchFamily="34" charset="0"/>
              <a:buChar char="•"/>
            </a:pPr>
            <a:endParaRPr lang="en-US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514350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Stack stores:</a:t>
            </a:r>
          </a:p>
          <a:p>
            <a:pPr marL="971550" lvl="1" indent="-285750"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Local variables</a:t>
            </a:r>
          </a:p>
          <a:p>
            <a:pPr marL="971550" lvl="1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Function parameters</a:t>
            </a:r>
          </a:p>
          <a:p>
            <a:pPr marL="971550" lvl="1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Return addresses</a:t>
            </a:r>
          </a:p>
          <a:p>
            <a:pPr marL="971550" lvl="1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Function call information</a:t>
            </a:r>
          </a:p>
          <a:p>
            <a:pPr marL="971550" lvl="1" indent="-285750">
              <a:buFont typeface="Arial" panose="020B0604020202090204" pitchFamily="34" charset="0"/>
              <a:buChar char="•"/>
            </a:pPr>
            <a:endParaRPr lang="en-US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514350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Why it is needed</a:t>
            </a:r>
          </a:p>
          <a:p>
            <a:pPr marL="971550" lvl="1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Threads execute functions independently.</a:t>
            </a:r>
          </a:p>
          <a:p>
            <a:pPr marL="971550" lvl="1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Each thread requires a separate stack to avoid interference with other threads.</a:t>
            </a:r>
          </a:p>
          <a:p>
            <a:pPr marL="971550" lvl="1" indent="-285750">
              <a:buFont typeface="Arial" panose="020B0604020202090204" pitchFamily="34" charset="0"/>
              <a:buChar char="•"/>
            </a:pPr>
            <a:endParaRPr lang="en-US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514350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Important</a:t>
            </a:r>
          </a:p>
          <a:p>
            <a:pPr marL="971550" lvl="1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Even though threads share the process memory, stack space is private to each thread.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Benefits of Threads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304800" y="1141274"/>
            <a:ext cx="8499868" cy="427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Better resource utilization: Threads can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run in parallel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allowing the system to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make better use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of multiprocessor architecture.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Improved performance: Threads allow for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concurrent execution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which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increases the efficiency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of the system. 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0" indent="-285750" algn="just" rtl="0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Improved communication: Threads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share resources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which allows for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faster communication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and data sharing.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Increased responsiveness: Threads allow for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multitasking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which makes the system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more responsive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Faster context switching: Threads within the same process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share memory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so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switching is faster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between threads as compared to processes.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Process Vs Threads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graphicFrame>
        <p:nvGraphicFramePr>
          <p:cNvPr id="118" name="Google Shape;118;p11"/>
          <p:cNvGraphicFramePr/>
          <p:nvPr/>
        </p:nvGraphicFramePr>
        <p:xfrm>
          <a:off x="112644" y="990601"/>
          <a:ext cx="8915400" cy="5308600"/>
        </p:xfrm>
        <a:graphic>
          <a:graphicData uri="http://schemas.openxmlformats.org/drawingml/2006/table">
            <a:tbl>
              <a:tblPr>
                <a:noFill/>
                <a:tableStyleId>{3D875359-AB3C-4A46-A2E7-77EEEE4F9044}</a:tableStyleId>
              </a:tblPr>
              <a:tblGrid>
                <a:gridCol w="6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S. No.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Process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Thread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Processes use more resources and hence they are termed as heavyweight processes.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Threads share resources and hence they are termed as lightweight processes</a:t>
                      </a:r>
                      <a:r>
                        <a:rPr lang="en-US" sz="2000" u="none" strike="noStrike" cap="none"/>
                        <a:t>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Process switching needs interaction with OS.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Thread switching does not need to interact with OS.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8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Creation and termination times of processes are slower.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Creation and termination times of threads are faster compared to processes.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Processes have their own code and data/file.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Threads share code and data/file within a process.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Communication between processes is slower.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Communication between threads is faster.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8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In multiple processes each process operates independently of the others.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One thread can read, write or change another thread's data.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4925" marR="14925" marT="14925" marB="149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5943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Types of Threads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457200" y="1066800"/>
            <a:ext cx="4819650" cy="258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None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Threads are mainly classified based on who manages them and how they are mapped to the operating system.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None/>
            </a:pPr>
            <a:endParaRPr lang="en-US" alt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User Level Thread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Kernel Level Thread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pic>
        <p:nvPicPr>
          <p:cNvPr id="125" name="Google Shape;125;p1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276850" y="1066800"/>
            <a:ext cx="3657600" cy="555815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User Level Thread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277504" y="1205552"/>
            <a:ext cx="8610600" cy="3570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Implemented and managed by the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user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using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user-level libraries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0" indent="-28575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Kernel is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not aware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of it and OS does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not recognize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these threads.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Faster to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create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and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manage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compared to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kernel-level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thread.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Context switching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faster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If one user-level thread performs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blocking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operation then the entire process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gets blocked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 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0" indent="-28575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For eg: 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POSIX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threads,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 Java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threads, etc.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Kernel Level Thread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277504" y="1205552"/>
            <a:ext cx="8610600" cy="3570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Implemented using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system calls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and recognized by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 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Slower to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create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and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manage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compared to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user-level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threads. 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457200" marR="0" lvl="0" indent="-45720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 implementation is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more difficult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than user thread. 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Context switch time is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longer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 the kernel thread. 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457200" marR="0" lvl="0" indent="-45720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Even if one kernel-level thread performs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blocking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operation, it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does not affect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other threads. 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For eg: 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Window, Solaris, Linux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User Level Vs Kernel Level Thread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pic>
        <p:nvPicPr>
          <p:cNvPr id="143" name="Google Shape;143;p15" descr="Screen Clipp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2400" y="990600"/>
            <a:ext cx="8860155" cy="56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Multicore Programming Concept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77504" y="1205552"/>
            <a:ext cx="8610600" cy="464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Earlier in the history of computer design, in response to the need for more computing performance,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single-CPU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systems evolved into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multi-CPU systems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285750" marR="0" lvl="0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more recent, similar trend in system design is to place multiple computing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cores on a single chip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 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0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Each core appears as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separate processor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to the OS. </a:t>
            </a:r>
          </a:p>
          <a:p>
            <a:pPr marL="285750" marR="0" lvl="0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Whether the cores appear across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CPU chips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within CPU chips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we call these systems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multicore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or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multiprocessor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systems.</a:t>
            </a:r>
          </a:p>
          <a:p>
            <a:pPr marL="285750" marR="0" lvl="0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endParaRPr 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None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Why Multicore Programming is Needed</a:t>
            </a:r>
          </a:p>
          <a:p>
            <a:pPr marL="742950" marR="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Modern CPUs have multiple cores instead of higher clock speeds</a:t>
            </a:r>
          </a:p>
          <a:p>
            <a:pPr marL="742950" marR="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Single-threaded programs cannot fully utilize CPU resources</a:t>
            </a:r>
          </a:p>
          <a:p>
            <a:pPr marL="742950" marR="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Parallel execution reduces execution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solidFill>
                  <a:srgbClr val="00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Concurrency vs. Parallelism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250208" y="1055423"/>
            <a:ext cx="861060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Multithreaded programming provides a mechanism for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more efficient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use of these multiple computing cores and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improved concurrency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45009" y="2514600"/>
            <a:ext cx="8102886" cy="157162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157" name="Google Shape;157;p1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016456" y="4212607"/>
            <a:ext cx="5410200" cy="246622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Programming Challenges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250208" y="1055423"/>
            <a:ext cx="8741392" cy="3521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 general, five areas present challenges in programming for multicore systems:</a:t>
            </a:r>
          </a:p>
          <a:p>
            <a:pPr marL="2232025" marR="0" lvl="0" indent="-457200" algn="just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Identifying tasks</a:t>
            </a:r>
          </a:p>
          <a:p>
            <a:pPr marL="2232025" marR="0" lvl="0" indent="-457200" algn="just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Balance</a:t>
            </a:r>
          </a:p>
          <a:p>
            <a:pPr marL="2232025" marR="0" lvl="0" indent="-457200" algn="just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Data splitting</a:t>
            </a:r>
          </a:p>
          <a:p>
            <a:pPr marL="2232025" marR="0" lvl="0" indent="-457200" algn="just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Data dependency</a:t>
            </a:r>
          </a:p>
          <a:p>
            <a:pPr marL="2232025" marR="0" lvl="0" indent="-457200" algn="just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Testing and debugging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Multi-Threading Models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81000" y="991870"/>
            <a:ext cx="8458200" cy="321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Multithreading models describe how user-level threads are mapped to kernel-level threads. These models define how threads are scheduled, managed, and executed by the operating system.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Multithreading models are of three types;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286000" marR="0" lvl="0" indent="-4572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Many to many relationship.</a:t>
            </a:r>
          </a:p>
          <a:p>
            <a:pPr marL="2286000" marR="0" lvl="0" indent="-4572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Many to one relationship.</a:t>
            </a:r>
          </a:p>
          <a:p>
            <a:pPr marL="2286000" marR="0" lvl="0" indent="-4572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One to one relationship.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Multi-Threading (Example)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457200" y="5486400"/>
            <a:ext cx="8458200" cy="99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For example, client 1, client 2, and client 3 are accessing the web server without having to wait for other tasks to be complete.</a:t>
            </a:r>
          </a:p>
          <a:p>
            <a:pPr marL="342900" marR="0" lvl="0" indent="-342900" algn="just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 threads are divided into user-level and kernel-level threads. 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pic>
        <p:nvPicPr>
          <p:cNvPr id="183" name="Google Shape;183;p21"/>
          <p:cNvPicPr preferRelativeResize="0"/>
          <p:nvPr/>
        </p:nvPicPr>
        <p:blipFill rotWithShape="1">
          <a:blip r:embed="rId3"/>
          <a:srcRect l="5302" t="11525" r="4938" b="25371"/>
          <a:stretch>
            <a:fillRect/>
          </a:stretch>
        </p:blipFill>
        <p:spPr>
          <a:xfrm>
            <a:off x="457200" y="1066800"/>
            <a:ext cx="8444212" cy="43434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Multi-Threading Models (contd…)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76201" y="914400"/>
            <a:ext cx="8872955" cy="258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One to One Relationship: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Each of User thread is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mapped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to kernel thread.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It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facilitates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 running of multiple threads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 parallel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Provides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more concurrency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Whole process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does not gets blocked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when 1 thread makes a blocking call as other threads can run.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 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Creates Overhead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as every User thread requires to create the corresponding Kernel Thread for it.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Implemented by Linux and Windows.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pic>
        <p:nvPicPr>
          <p:cNvPr id="190" name="Google Shape;190;p22" descr="Screen Clipp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082540" y="3498215"/>
            <a:ext cx="3979545" cy="301371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Multi-Threading Models (contd…)</a:t>
            </a:r>
          </a:p>
        </p:txBody>
      </p:sp>
      <p:sp>
        <p:nvSpPr>
          <p:cNvPr id="196" name="Google Shape;196;p23"/>
          <p:cNvSpPr/>
          <p:nvPr/>
        </p:nvSpPr>
        <p:spPr>
          <a:xfrm>
            <a:off x="76201" y="914400"/>
            <a:ext cx="8872955" cy="2303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Many to One Relationship:</a:t>
            </a:r>
          </a:p>
          <a:p>
            <a:pPr marL="342900" marR="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Many User Level Threads are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mapped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to one Kernel level Thread.</a:t>
            </a:r>
          </a:p>
          <a:p>
            <a:pPr marL="342900" marR="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Does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not support parallel processing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of threads in Multicore systems, Because only 1 thread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can access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kernel at a particular time.</a:t>
            </a:r>
          </a:p>
          <a:p>
            <a:pPr marL="342900" marR="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If 1 thread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makes a blocking call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then entire process will stop.</a:t>
            </a:r>
          </a:p>
          <a:p>
            <a:pPr marL="342900" marR="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This is rarely used, mainly cause it does not support Multicore system.</a:t>
            </a:r>
          </a:p>
        </p:txBody>
      </p:sp>
      <p:pic>
        <p:nvPicPr>
          <p:cNvPr id="197" name="Google Shape;197;p23" descr="Screen Clipp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804160" y="3429000"/>
            <a:ext cx="4044950" cy="302831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Multi-Threading Models (contd…)</a:t>
            </a:r>
          </a:p>
        </p:txBody>
      </p:sp>
      <p:sp>
        <p:nvSpPr>
          <p:cNvPr id="203" name="Google Shape;203;p24"/>
          <p:cNvSpPr/>
          <p:nvPr/>
        </p:nvSpPr>
        <p:spPr>
          <a:xfrm>
            <a:off x="76201" y="1143000"/>
            <a:ext cx="4946178" cy="358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Many to Many Relationship: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Multiple User Threads are multiplexed to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same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or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less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number of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Kernel threads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No. of kernel threads depends on the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application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or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machine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There is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no issue of process blocking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and threads can run parallelly in multi-process system unlike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Many to One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Model.</a:t>
            </a:r>
          </a:p>
        </p:txBody>
      </p:sp>
      <p:pic>
        <p:nvPicPr>
          <p:cNvPr id="204" name="Google Shape;204;p24" descr="Screen Clipp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022215" y="1340485"/>
            <a:ext cx="4018280" cy="413766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Multi-Threading Models (contd…)</a:t>
            </a:r>
          </a:p>
        </p:txBody>
      </p:sp>
      <p:sp>
        <p:nvSpPr>
          <p:cNvPr id="210" name="Google Shape;210;p25"/>
          <p:cNvSpPr/>
          <p:nvPr/>
        </p:nvSpPr>
        <p:spPr>
          <a:xfrm>
            <a:off x="76200" y="1143000"/>
            <a:ext cx="8686799" cy="3660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Two Level model: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One popular variation on the many-to-many model (called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Two-level model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).</a:t>
            </a: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It also allows a user thread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to be bound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to a kernel thread.</a:t>
            </a: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endParaRPr sz="1800" u="sng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Examples:</a:t>
            </a: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─ IRIX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─ HP-UX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─ Tru64UNIX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─ Solaris 8 and earlier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pic>
        <p:nvPicPr>
          <p:cNvPr id="211" name="Google Shape;211;p2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733800" y="3116340"/>
            <a:ext cx="5039709" cy="3364091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Threads Library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304799" y="1143000"/>
            <a:ext cx="8534401" cy="402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 library is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 API (Application Programming Interface)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which is a set of functions, methods and routine provided by OS for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creating, managing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 and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co-ordination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 of the threads.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None/>
            </a:pPr>
            <a:endParaRPr lang="en-US"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There are two primary ways of implementing thread library−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 first approach is to provide a library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entirely in user space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with kernel support. All code and data structures for the library exist in a local function call in user space and not in a system call.</a:t>
            </a: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 second approach is to implement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kernel level library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supported directly by the operating system. In this case the code and data structures for the library exist in kernel space.</a:t>
            </a:r>
          </a:p>
          <a:p>
            <a:pPr marL="4953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Threads Library (contd…)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304799" y="1143000"/>
            <a:ext cx="8534401" cy="348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Invoking a function in the application program interface for the library typically results in a system call to the kernel.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None/>
            </a:pPr>
            <a:endParaRPr lang="en-US" sz="1800" u="sng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 main thread libraries which are used are given below −</a:t>
            </a:r>
          </a:p>
          <a:p>
            <a:pPr marL="342900" marR="0" lvl="0" indent="-342900" algn="just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POSIX threads − Pthreads, the threads extension of the POSIX standard, may be provided as either a user level or a kernel level library.</a:t>
            </a:r>
          </a:p>
          <a:p>
            <a:pPr marL="342900" marR="0" lvl="0" indent="-342900" algn="just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WIN 32 thread − The windows thread library is a kernel level library available on windows systems.</a:t>
            </a:r>
          </a:p>
          <a:p>
            <a:pPr marL="342900" marR="0" lvl="0" indent="-342900" algn="just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JAVA thread − The JAVA thread API allows threads to be created and managed directly as JAVA programs.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Threading Issues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533400" y="990600"/>
            <a:ext cx="8077200" cy="392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Semantics of fork() and exec() system calls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Signal handling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1" indent="-2857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Synchronous and Asynchronous</a:t>
            </a:r>
            <a:endParaRPr sz="1800" b="0" i="0" u="none" strike="noStrike" cap="none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 cancellation of target thread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1" indent="-2857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Asynchronous or deferred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Thread-local storage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Scheduler Activations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Threading Issues (contd…)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533400" y="990600"/>
            <a:ext cx="8305800" cy="306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fork() and exec() system calls:</a:t>
            </a: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Some UNIX systems have chosen to have two versions of fork(); </a:t>
            </a:r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One that duplicates all threads. </a:t>
            </a:r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Another that duplicates only the thread that invoked the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fork() system call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If a thread invokes the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exec() system call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the program specified in the parameter to exec() will replace the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entire process—including all threads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4953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Which of the two versions of fork() to use?, depends on the application</a:t>
            </a:r>
            <a:r>
              <a:rPr lang="en-US" sz="24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  <a:endParaRPr sz="54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Threading Issues (contd…)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533400" y="990600"/>
            <a:ext cx="8077200" cy="3983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Signal handling:</a:t>
            </a: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signal is used in UNIX systems to notify a process that a particular event has occurred. 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signal may be received either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synchronously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or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asynchronously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depending on the source.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All signals follow the same pattern:</a:t>
            </a:r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1. A signal is generated by the occurrence of a particular event.</a:t>
            </a:r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2. The signal is delivered to a process.</a:t>
            </a:r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3. Once delivered, the signal must be handled.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signal may be handled by one of two possible handlers:</a:t>
            </a: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1. A default signal handler</a:t>
            </a: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2. A user-defined signal handler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Threading Issues (contd…)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533400" y="990600"/>
            <a:ext cx="8077200" cy="389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 pitchFamily="34" charset="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Signal handling (contd…):</a:t>
            </a: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Every signal has a default signal handler that the kernel runs when handling that signal.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Signals are always delivered to a process. However, delivering signals is more complicated in multithreaded programs.</a:t>
            </a:r>
          </a:p>
          <a:p>
            <a:pPr marL="4953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Where should a signal be delivered for Multi-threaded?</a:t>
            </a:r>
            <a:endParaRPr sz="1800" u="sng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1. Deliver the signal to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 thread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to which the signal applies.</a:t>
            </a: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2. Deliver the signal to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every thread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 the process.</a:t>
            </a: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3. Deliver the signal to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certain threads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 the process.</a:t>
            </a: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4. Assign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specific thread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to receive all signals for the process.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Threading Issues (contd…)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253" name="Google Shape;253;p32"/>
          <p:cNvSpPr/>
          <p:nvPr/>
        </p:nvSpPr>
        <p:spPr>
          <a:xfrm>
            <a:off x="304800" y="990600"/>
            <a:ext cx="8534400" cy="356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 pitchFamily="34" charset="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 cancellation:</a:t>
            </a:r>
            <a:endParaRPr sz="1800" u="sng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800100" marR="0" lvl="1" indent="-342900" algn="just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 cancellation involves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terminating a thread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before it has completed.</a:t>
            </a:r>
          </a:p>
          <a:p>
            <a:pPr marL="800100" marR="0" lvl="1" indent="-34290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 thread that is to be cancelled is referred as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target thread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342900" marR="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0" marR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Cancellation of a target thread may occur in two different scenarios:</a:t>
            </a:r>
          </a:p>
          <a:p>
            <a:pPr marL="742950" marR="0" lvl="1" indent="-285750" algn="just" rtl="0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Asynchronous cancellation. One thread immediately terminates the target thread.</a:t>
            </a:r>
          </a:p>
          <a:p>
            <a:pPr marL="742950" marR="0" lvl="1" indent="-285750" algn="just" rtl="0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Deferred cancellation. The target thread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periodically checks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whether it should terminate, allowing it an opportunity to terminate itself in an orderly fashion.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Threading Issues (contd…)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304800" y="990600"/>
            <a:ext cx="8534400" cy="1213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 cancellation (contd…):</a:t>
            </a:r>
            <a:endParaRPr sz="1800" u="sng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742950" marR="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 Pthreads, thread cancellation is initiated using the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Pthread cancel()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function.</a:t>
            </a:r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Pthreads supports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three cancellation modes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pic>
        <p:nvPicPr>
          <p:cNvPr id="260" name="Google Shape;260;p3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24000" y="2204085"/>
            <a:ext cx="6447155" cy="191579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3"/>
          <p:cNvSpPr/>
          <p:nvPr/>
        </p:nvSpPr>
        <p:spPr>
          <a:xfrm>
            <a:off x="457200" y="4876800"/>
            <a:ext cx="8328956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 default cancellation type is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deferred cancellation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 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Cancellation occurs only when a thread reaches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cancellation point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Threading Issues (contd…)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304800" y="990600"/>
            <a:ext cx="8458200" cy="287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 pitchFamily="34" charset="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 Local Storage (TLS):</a:t>
            </a:r>
          </a:p>
          <a:p>
            <a:pPr marL="285750" marR="0" lvl="0" indent="-285750" algn="just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TLS allows each thread to have its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own copy of data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Useful when you do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not have control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over the thread creation process (i.e., when using a thread pool).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Local variables are visible only during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single function invocation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whereas TLS data are visible across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function invocations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 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4000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4000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Most thread libraries including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Windows, Java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and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Pthreads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provide support for TLS.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Threading Issues (contd…)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273" name="Google Shape;273;p35"/>
          <p:cNvSpPr/>
          <p:nvPr/>
        </p:nvSpPr>
        <p:spPr>
          <a:xfrm>
            <a:off x="228600" y="990600"/>
            <a:ext cx="4876800" cy="302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Scheduler Activations:</a:t>
            </a:r>
          </a:p>
          <a:p>
            <a:pPr marL="285750" marR="0" lvl="0" indent="-285750" algn="just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Both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Many-to-Many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and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Two-level models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require communication to maintain the appropriate number of kernel threads allocated to the application.</a:t>
            </a:r>
          </a:p>
          <a:p>
            <a:pPr marL="400050" marR="0" lvl="0" indent="-285750" algn="just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285750" marR="0" lvl="0" indent="-285750" algn="just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These models place an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intermediate DS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between the user and kernel threads- known as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Light-Weight Process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or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LWP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pic>
        <p:nvPicPr>
          <p:cNvPr id="274" name="Google Shape;274;p35" descr="Screen Clippi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81600" y="1600200"/>
            <a:ext cx="3806293" cy="397237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>
            <a:spLocks noGrp="1"/>
          </p:cNvSpPr>
          <p:nvPr>
            <p:ph type="title"/>
          </p:nvPr>
        </p:nvSpPr>
        <p:spPr>
          <a:xfrm>
            <a:off x="152400" y="148539"/>
            <a:ext cx="6324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Threading Issues (contd…)</a:t>
            </a:r>
            <a:endParaRPr sz="3200" b="0"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  <p:sp>
        <p:nvSpPr>
          <p:cNvPr id="280" name="Google Shape;280;p36"/>
          <p:cNvSpPr/>
          <p:nvPr/>
        </p:nvSpPr>
        <p:spPr>
          <a:xfrm>
            <a:off x="304800" y="1219200"/>
            <a:ext cx="8458200" cy="3306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 pitchFamily="34" charset="0"/>
              <a:buNone/>
            </a:pPr>
            <a:r>
              <a:rPr lang="en-US" sz="1800" u="sng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Scheduler Activations:</a:t>
            </a: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LWP appears to be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virtual processor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on which the application can schedule a user thread to run. 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Each LWP is attached to a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kernel thread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If a kernel thread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blocks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, the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LWP blocks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as well. 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4572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Scheduler Activation mechanism 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is used for communication between the user-thread library and the kernel.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 pitchFamily="34" charset="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Scheduler Activation provides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upcalls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 are handled by the thread library with an </a:t>
            </a:r>
            <a:r>
              <a:rPr lang="en-US" sz="1800">
                <a:solidFill>
                  <a:srgbClr val="FF0000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upcall handler</a:t>
            </a:r>
            <a:r>
              <a:rPr lang="en-US" sz="1800">
                <a:solidFill>
                  <a:schemeClr val="dk1"/>
                </a:solidFill>
                <a:latin typeface="Times New Roman Regular" panose="02020503050405090304" charset="0"/>
                <a:ea typeface="Calibri"/>
                <a:cs typeface="Times New Roman Regular" panose="02020503050405090304" charset="0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Times New Roman Regular" panose="02020503050405090304" charset="0"/>
              <a:ea typeface="Calibri"/>
              <a:cs typeface="Times New Roman Regular" panose="02020503050405090304" charset="0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695" y="195784"/>
            <a:ext cx="6823659" cy="492125"/>
          </a:xfrm>
        </p:spPr>
        <p:txBody>
          <a:bodyPr/>
          <a:lstStyle/>
          <a:p>
            <a:r>
              <a:rPr lang="en-US" altLang="en-US" sz="3200"/>
              <a:t>Linux Threads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392555"/>
            <a:ext cx="8997950" cy="1992630"/>
          </a:xfrm>
        </p:spPr>
        <p:txBody>
          <a:bodyPr wrap="square"/>
          <a:lstStyle/>
          <a:p>
            <a:pPr marL="5143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Linux threads are implemented using the kernel-supported threading model, where each thread is treated as an independent schedulable entity by the operating system. </a:t>
            </a:r>
          </a:p>
          <a:p>
            <a:pPr marL="5143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Linux uses a 1:1 threading model, meaning each user-level thread maps directly to a kernel-level thread.</a:t>
            </a:r>
          </a:p>
          <a:p>
            <a:pPr marL="5143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Internally, Linux implements threads using the clone() system call, which allows fine-grained control over what resources are shared between threads.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070" y="182449"/>
            <a:ext cx="6823659" cy="492125"/>
          </a:xfrm>
        </p:spPr>
        <p:txBody>
          <a:bodyPr/>
          <a:lstStyle/>
          <a:p>
            <a:r>
              <a:rPr lang="en-US" altLang="en-US" sz="3200"/>
              <a:t>Linux Thread Implementation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194435"/>
            <a:ext cx="8223885" cy="4234815"/>
          </a:xfrm>
        </p:spPr>
        <p:txBody>
          <a:bodyPr wrap="square"/>
          <a:lstStyle/>
          <a:p>
            <a:pPr marL="228600" indent="0">
              <a:buFont typeface="Arial" panose="020B0604020202090204" pitchFamily="34" charset="0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In Linux:</a:t>
            </a:r>
          </a:p>
          <a:p>
            <a:pPr marL="514350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Threads are also known as Light Weight Processes (LWP)</a:t>
            </a:r>
          </a:p>
          <a:p>
            <a:pPr marL="514350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Each thread has:</a:t>
            </a:r>
          </a:p>
          <a:p>
            <a:pPr marL="971550" lvl="1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Its own thread ID (TID)</a:t>
            </a:r>
          </a:p>
          <a:p>
            <a:pPr marL="971550" lvl="1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Own register set and stack</a:t>
            </a:r>
          </a:p>
          <a:p>
            <a:pPr marL="514350" indent="-285750"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Threads share:</a:t>
            </a:r>
          </a:p>
          <a:p>
            <a:pPr marL="971550" lvl="1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Code section</a:t>
            </a:r>
          </a:p>
          <a:p>
            <a:pPr marL="971550" lvl="1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Data section</a:t>
            </a:r>
          </a:p>
          <a:p>
            <a:pPr marL="971550" lvl="1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Heap</a:t>
            </a:r>
          </a:p>
          <a:p>
            <a:pPr marL="971550" lvl="1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Open files</a:t>
            </a:r>
          </a:p>
          <a:p>
            <a:pPr marL="971550" lvl="1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Address space</a:t>
            </a:r>
          </a:p>
          <a:p>
            <a:pPr marL="228600" indent="0">
              <a:buFont typeface="Arial" panose="020B0604020202090204" pitchFamily="34" charset="0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From the kernel’s perspective, threads and processes are treated similarly, differing mainly in the degree of resource sharing.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965" y="281509"/>
            <a:ext cx="6823659" cy="492125"/>
          </a:xfrm>
        </p:spPr>
        <p:txBody>
          <a:bodyPr/>
          <a:lstStyle/>
          <a:p>
            <a:r>
              <a:rPr lang="en-US" altLang="en-US" sz="3200"/>
              <a:t>Linux Thread Model (1:1 Model)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392555"/>
            <a:ext cx="8388985" cy="3100705"/>
          </a:xfrm>
        </p:spPr>
        <p:txBody>
          <a:bodyPr wrap="square"/>
          <a:lstStyle/>
          <a:p>
            <a:pPr marL="228600" indent="0">
              <a:buFont typeface="Arial" panose="020B0604020202090204" pitchFamily="34" charset="0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Linux follows the One-to-One threading model:</a:t>
            </a:r>
          </a:p>
          <a:p>
            <a:pPr marL="514350" indent="-285750">
              <a:lnSpc>
                <a:spcPct val="17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Each user thread corresponds to exactly one kernel thread</a:t>
            </a:r>
          </a:p>
          <a:p>
            <a:pPr marL="514350" indent="-285750">
              <a:lnSpc>
                <a:spcPct val="17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Kernel schedules threads directly</a:t>
            </a:r>
          </a:p>
          <a:p>
            <a:pPr marL="514350" indent="-285750">
              <a:lnSpc>
                <a:spcPct val="17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Blocking of one thread does not block the entire process</a:t>
            </a:r>
          </a:p>
          <a:p>
            <a:pPr marL="514350" indent="-285750">
              <a:lnSpc>
                <a:spcPct val="17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Supports true parallelism on multicore processors</a:t>
            </a:r>
          </a:p>
          <a:p>
            <a:pPr marL="228600" indent="0">
              <a:lnSpc>
                <a:spcPct val="170000"/>
              </a:lnSpc>
              <a:buFont typeface="Arial" panose="020B0604020202090204" pitchFamily="34" charset="0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This model provides high concurrency and scalability, making Linux suitable for modern multicore systems.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280" y="248489"/>
            <a:ext cx="6823659" cy="492125"/>
          </a:xfrm>
        </p:spPr>
        <p:txBody>
          <a:bodyPr/>
          <a:lstStyle/>
          <a:p>
            <a:r>
              <a:rPr lang="en-US" altLang="en-US" sz="3200"/>
              <a:t>POSIX Threads (Pthreads) in Linux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392555"/>
            <a:ext cx="8025765" cy="3985260"/>
          </a:xfrm>
        </p:spPr>
        <p:txBody>
          <a:bodyPr wrap="square"/>
          <a:lstStyle/>
          <a:p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Linux provides thread support through the POSIX Threads (Pthreads) library.</a:t>
            </a:r>
          </a:p>
          <a:p>
            <a:endParaRPr lang="en-US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Features of Pthreads:</a:t>
            </a:r>
          </a:p>
          <a:p>
            <a:pPr marL="971550" lvl="1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Standardized thread API</a:t>
            </a:r>
          </a:p>
          <a:p>
            <a:pPr marL="971550" lvl="1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Portable across UNIX-based systems</a:t>
            </a:r>
          </a:p>
          <a:p>
            <a:pPr marL="971550" lvl="1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Supports thread creation, synchronization, and termination</a:t>
            </a:r>
          </a:p>
          <a:p>
            <a:pPr marL="685800" lvl="1" indent="0">
              <a:lnSpc>
                <a:spcPct val="130000"/>
              </a:lnSpc>
              <a:buFont typeface="Arial" panose="020B0604020202090204" pitchFamily="34" charset="0"/>
            </a:pPr>
            <a:endParaRPr lang="en-US" altLang="en-US"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Common Pthread functions:</a:t>
            </a:r>
          </a:p>
          <a:p>
            <a:pPr marL="971550" lvl="1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pthread_create() – create a thread</a:t>
            </a:r>
          </a:p>
          <a:p>
            <a:pPr marL="971550" lvl="1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pthread_exit() – terminate a thread</a:t>
            </a:r>
          </a:p>
          <a:p>
            <a:pPr marL="971550" lvl="1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pthread_join() – wait for thread completion</a:t>
            </a:r>
          </a:p>
          <a:p>
            <a:pPr marL="971550" lvl="1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pthread_mutex_lock() / pthread_mutex_unlock() – synchronization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965" y="248489"/>
            <a:ext cx="6823659" cy="492125"/>
          </a:xfrm>
        </p:spPr>
        <p:txBody>
          <a:bodyPr/>
          <a:lstStyle/>
          <a:p>
            <a:r>
              <a:rPr lang="en-US" altLang="en-US" sz="3200"/>
              <a:t>Scheduling of Linux Threads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635" y="979170"/>
            <a:ext cx="8340090" cy="3211830"/>
          </a:xfrm>
        </p:spPr>
        <p:txBody>
          <a:bodyPr wrap="square"/>
          <a:lstStyle/>
          <a:p>
            <a:pPr marL="514350" indent="-285750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Linux scheduler schedules threads, not processes</a:t>
            </a:r>
          </a:p>
          <a:p>
            <a:pPr marL="514350" indent="-285750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Each thread competes independently for CPU time</a:t>
            </a:r>
          </a:p>
          <a:p>
            <a:pPr marL="514350" indent="-285750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Scheduling policies:</a:t>
            </a:r>
          </a:p>
          <a:p>
            <a:pPr marL="971550" lvl="1" indent="-285750">
              <a:lnSpc>
                <a:spcPct val="18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Time-sharing (CFS – Completely Fair Scheduler)</a:t>
            </a:r>
          </a:p>
          <a:p>
            <a:pPr marL="971550" lvl="1" indent="-285750">
              <a:lnSpc>
                <a:spcPct val="18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Real-time scheduling</a:t>
            </a:r>
          </a:p>
          <a:p>
            <a:pPr marL="514350" indent="-285750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Threads can run simultaneously on different cores</a:t>
            </a:r>
          </a:p>
          <a:p>
            <a:pPr marL="228600" indent="0">
              <a:lnSpc>
                <a:spcPct val="160000"/>
              </a:lnSpc>
              <a:buFont typeface="Arial" panose="020B0604020202090204" pitchFamily="34" charset="0"/>
            </a:pPr>
            <a:r>
              <a:rPr lang="en-US" altLang="en-US" sz="1800">
                <a:latin typeface="Times New Roman Regular" panose="02020503050405090304" charset="0"/>
                <a:cs typeface="Times New Roman Regular" panose="02020503050405090304" charset="0"/>
              </a:rPr>
              <a:t>This ensures efficient CPU utilization and responsiveness.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810" y="264999"/>
            <a:ext cx="6823659" cy="430530"/>
          </a:xfrm>
        </p:spPr>
        <p:txBody>
          <a:bodyPr/>
          <a:lstStyle/>
          <a:p>
            <a:r>
              <a:rPr lang="en-US" altLang="en-US"/>
              <a:t>Advantages of Linux Threads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392555"/>
            <a:ext cx="8241030" cy="2628900"/>
          </a:xfrm>
        </p:spPr>
        <p:txBody>
          <a:bodyPr wrap="square"/>
          <a:lstStyle/>
          <a:p>
            <a:pPr marL="514350" indent="-285750">
              <a:lnSpc>
                <a:spcPct val="19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True parallel execution on multicore systems</a:t>
            </a:r>
          </a:p>
          <a:p>
            <a:pPr marL="514350" indent="-285750">
              <a:lnSpc>
                <a:spcPct val="19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Faster context switching compared to processes</a:t>
            </a:r>
          </a:p>
          <a:p>
            <a:pPr marL="514350" indent="-285750">
              <a:lnSpc>
                <a:spcPct val="19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Efficient resource sharing</a:t>
            </a:r>
          </a:p>
          <a:p>
            <a:pPr marL="514350" indent="-285750">
              <a:lnSpc>
                <a:spcPct val="19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Better performance and responsiveness</a:t>
            </a:r>
          </a:p>
          <a:p>
            <a:pPr marL="514350" indent="-285750">
              <a:lnSpc>
                <a:spcPct val="19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Suitable for high-performance and server applications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965" y="150064"/>
            <a:ext cx="6823659" cy="492125"/>
          </a:xfrm>
        </p:spPr>
        <p:txBody>
          <a:bodyPr/>
          <a:lstStyle/>
          <a:p>
            <a:r>
              <a:rPr lang="en-US" altLang="en-US" sz="3200"/>
              <a:t>Disadvantages of Linux Threads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392377"/>
            <a:ext cx="5281930" cy="1992630"/>
          </a:xfrm>
        </p:spPr>
        <p:txBody>
          <a:bodyPr/>
          <a:lstStyle/>
          <a:p>
            <a:pPr marL="514350" indent="-285750">
              <a:lnSpc>
                <a:spcPct val="18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Complex programming model</a:t>
            </a:r>
          </a:p>
          <a:p>
            <a:pPr marL="514350" indent="-285750">
              <a:lnSpc>
                <a:spcPct val="18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Synchronization issues (race conditions, deadlocks)</a:t>
            </a:r>
          </a:p>
          <a:p>
            <a:pPr marL="514350" indent="-285750">
              <a:lnSpc>
                <a:spcPct val="18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Debugging multithreaded programs is difficult</a:t>
            </a:r>
          </a:p>
          <a:p>
            <a:pPr marL="514350" indent="-285750">
              <a:lnSpc>
                <a:spcPct val="18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Failure of one thread can affect the entire process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865" y="231979"/>
            <a:ext cx="6823659" cy="430530"/>
          </a:xfrm>
        </p:spPr>
        <p:txBody>
          <a:bodyPr/>
          <a:lstStyle/>
          <a:p>
            <a:r>
              <a:rPr lang="en-US" altLang="en-US"/>
              <a:t>Applications of Linux Threads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880" y="1392555"/>
            <a:ext cx="8356600" cy="3235960"/>
          </a:xfrm>
        </p:spPr>
        <p:txBody>
          <a:bodyPr>
            <a:noAutofit/>
          </a:bodyPr>
          <a:lstStyle/>
          <a:p>
            <a:pPr marL="514350" indent="-285750">
              <a:lnSpc>
                <a:spcPct val="19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Web servers (handling multiple client requests)</a:t>
            </a:r>
          </a:p>
          <a:p>
            <a:pPr marL="514350" indent="-285750">
              <a:lnSpc>
                <a:spcPct val="19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Database management systems</a:t>
            </a:r>
          </a:p>
          <a:p>
            <a:pPr marL="514350" indent="-285750">
              <a:lnSpc>
                <a:spcPct val="19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Operating system services</a:t>
            </a:r>
          </a:p>
          <a:p>
            <a:pPr marL="514350" indent="-285750">
              <a:lnSpc>
                <a:spcPct val="19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Real-time and embedded systems</a:t>
            </a:r>
          </a:p>
          <a:p>
            <a:pPr marL="514350" indent="-285750">
              <a:lnSpc>
                <a:spcPct val="190000"/>
              </a:lnSpc>
              <a:buFont typeface="Arial" panose="020B0604020202090204" pitchFamily="34" charset="0"/>
              <a:buChar char="•"/>
            </a:pPr>
            <a:r>
              <a:rPr lang="en-US" altLang="en-US" sz="1800"/>
              <a:t>Scientific and parallel computing applications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0170" y="213564"/>
            <a:ext cx="6823659" cy="430530"/>
          </a:xfrm>
        </p:spPr>
        <p:txBody>
          <a:bodyPr/>
          <a:lstStyle/>
          <a:p>
            <a:r>
              <a:rPr lang="en-US"/>
              <a:t>MCQ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88290" y="1063625"/>
            <a:ext cx="8527415" cy="55314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Q1. A thread is the smallest unit of: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A. Memory allocation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B. Scheduling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C. Execution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D. Storage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Answer: C</a:t>
            </a:r>
          </a:p>
          <a:p>
            <a:pPr marL="0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Q2. Threads are called lightweight processes because they: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A. Do not require CPU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B. Share process resources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C. Have no stack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D. Run slower than processes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Answer: B</a:t>
            </a:r>
          </a:p>
          <a:p>
            <a:pPr marL="0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Q3. On a single-core processor, threads appear to run in parallel due to: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A. Multicore execution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B. Time slicing / rapid switching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C. Pipelining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D. Instruction-level parallelism</a:t>
            </a:r>
          </a:p>
          <a:p>
            <a:pPr marL="457200" lvl="1" indent="0"/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Answer: B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88290" y="1044575"/>
            <a:ext cx="8486775" cy="54679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Q4. Which of the following is NOT a component of a thread?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Program Counter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Register Set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Stack Space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Heap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D</a:t>
            </a: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Q5. The program counter of a thread contains: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Thread ID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Address of next instruction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Stack base address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Memory size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B</a:t>
            </a: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Q6. Each thread has its own register set to: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Reduce context switch time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Improve security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Resume execution correctly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Share CPU registers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C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88290" y="1044575"/>
            <a:ext cx="8466455" cy="5283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Q7. Stack space of a thread stores: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Global variables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Heap memory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Local variables and return addresses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Shared data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C</a:t>
            </a: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Q8. Which application is a classic example of multithreading?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Calculator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Compiler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Web browser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Text editor without background tasks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C</a:t>
            </a: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Q9. A single-threaded process: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Executes multiple tasks simultaneously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Executes one task at a time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Cannot be blocked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Uses multiple CPUs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B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88290" y="1167765"/>
            <a:ext cx="8362950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Q10. Which of the following is a benefit of threads?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Increased blocking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Faster context switching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Higher memory usage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Slower execution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B</a:t>
            </a: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Q11. User-level threads are managed by:</a:t>
            </a: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Kernel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Hardware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User-level libraries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BIOS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C</a:t>
            </a: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Q12. A disadvantage of user-level threads is that: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Context switching is slow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Kernel is not involved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Blocking one thread blocks the entire process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They cannot be created quickly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C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53720" y="1044575"/>
            <a:ext cx="8200390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Q13. Kernel-level threads are: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Not recognized by OS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Faster to manage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Implemented using system calls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Invisible to scheduler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C</a:t>
            </a: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Q14. In the One-to-One threading model: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Many user threads map to one kernel thread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One user thread maps to one kernel thread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Threads cannot run in parallel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Kernel is unaware of threads</a:t>
            </a:r>
          </a:p>
          <a:p>
            <a:pPr marL="0" indent="45720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B</a:t>
            </a: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Q15. Which multithreading model does not support parallelism on multicore systems?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One-to-One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Many-to-Many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Two-Level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Many-to-One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88290" y="1167765"/>
            <a:ext cx="8507095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Q16. In the Many-to-Many model:</a:t>
            </a: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Each user thread has a kernel thread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Multiple user threads map to fewer kernel threads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Kernel threads are not used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Process always blocks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B</a:t>
            </a: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Q17. Thread cancellation means: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Pausing a thread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Restarting a thread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Terminating a thread before completion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Suspending all threads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C</a:t>
            </a: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Q18. In deferred cancellation, a thread is cancelled: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A. Immediately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 By kernel only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C. At cancellation points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D. After process termination</a:t>
            </a:r>
          </a:p>
          <a:p>
            <a:pPr marL="457200" lvl="1" indent="0"/>
            <a:r>
              <a:rPr lang="en-US" altLang="zh-CN" sz="1600" b="0" i="0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Answer: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3524</Words>
  <Application>Microsoft Office PowerPoint</Application>
  <PresentationFormat>On-screen Show (4:3)</PresentationFormat>
  <Paragraphs>442</Paragraphs>
  <Slides>51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Calibri</vt:lpstr>
      <vt:lpstr>Noto Sans Symbols</vt:lpstr>
      <vt:lpstr>Times New Roman</vt:lpstr>
      <vt:lpstr>Times New Roman Regular</vt:lpstr>
      <vt:lpstr>-webkit-standard</vt:lpstr>
      <vt:lpstr>Office Theme</vt:lpstr>
      <vt:lpstr>PowerPoint Presentation</vt:lpstr>
      <vt:lpstr>Content</vt:lpstr>
      <vt:lpstr>Overview of Threads</vt:lpstr>
      <vt:lpstr>Cont...</vt:lpstr>
      <vt:lpstr>Cont...</vt:lpstr>
      <vt:lpstr>Cont...</vt:lpstr>
      <vt:lpstr> Single &amp; Multi threaded Processes</vt:lpstr>
      <vt:lpstr>Single &amp; Multi threaded Processes</vt:lpstr>
      <vt:lpstr>Components of Threads</vt:lpstr>
      <vt:lpstr>Cont..</vt:lpstr>
      <vt:lpstr>Cont...</vt:lpstr>
      <vt:lpstr>Benefits of Threads</vt:lpstr>
      <vt:lpstr>Process Vs Threads</vt:lpstr>
      <vt:lpstr>Types of Threads</vt:lpstr>
      <vt:lpstr>User Level Thread</vt:lpstr>
      <vt:lpstr>Kernel Level Thread</vt:lpstr>
      <vt:lpstr>User Level Vs Kernel Level Thread</vt:lpstr>
      <vt:lpstr>Multicore Programming Concept</vt:lpstr>
      <vt:lpstr>Concurrency vs. Parallelism</vt:lpstr>
      <vt:lpstr>Programming Challenges</vt:lpstr>
      <vt:lpstr>Multi-Threading Models</vt:lpstr>
      <vt:lpstr>Multi-Threading (Example)</vt:lpstr>
      <vt:lpstr>Multi-Threading Models (contd…)</vt:lpstr>
      <vt:lpstr>Multi-Threading Models (contd…)</vt:lpstr>
      <vt:lpstr>Multi-Threading Models (contd…)</vt:lpstr>
      <vt:lpstr>Multi-Threading Models (contd…)</vt:lpstr>
      <vt:lpstr>Threads Library</vt:lpstr>
      <vt:lpstr>Threads Library (contd…)</vt:lpstr>
      <vt:lpstr>Threading Issues</vt:lpstr>
      <vt:lpstr>Threading Issues (contd…)</vt:lpstr>
      <vt:lpstr>Threading Issues (contd…)</vt:lpstr>
      <vt:lpstr>Threading Issues (contd…)</vt:lpstr>
      <vt:lpstr>Threading Issues (contd…)</vt:lpstr>
      <vt:lpstr>Threading Issues (contd…)</vt:lpstr>
      <vt:lpstr>Threading Issues (contd…)</vt:lpstr>
      <vt:lpstr>Threading Issues (contd…)</vt:lpstr>
      <vt:lpstr>Threading Issues (contd…)</vt:lpstr>
      <vt:lpstr>Linux Threads</vt:lpstr>
      <vt:lpstr>Linux Thread Implementation</vt:lpstr>
      <vt:lpstr>Linux Thread Model (1:1 Model)</vt:lpstr>
      <vt:lpstr>POSIX Threads (Pthreads) in Linux</vt:lpstr>
      <vt:lpstr>Scheduling of Linux Threads</vt:lpstr>
      <vt:lpstr>Advantages of Linux Threads</vt:lpstr>
      <vt:lpstr>Disadvantages of Linux Threads</vt:lpstr>
      <vt:lpstr>Applications of Linux Threads</vt:lpstr>
      <vt:lpstr>MCQ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Tanish Singla</cp:lastModifiedBy>
  <cp:revision>8</cp:revision>
  <dcterms:created xsi:type="dcterms:W3CDTF">2026-01-26T17:54:14Z</dcterms:created>
  <dcterms:modified xsi:type="dcterms:W3CDTF">2026-03-05T08:27:12Z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2022-10-03T16:30:00Z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2023-08-17T16:30:00Z</vt:filetime>
  </property>
  <property fmtid="{D5CDD505-2E9C-101B-9397-08002B2CF9AE}" pid="5" name="ICV">
    <vt:lpwstr>A9754E2DFCC82CAE63137269608686C8_42</vt:lpwstr>
  </property>
  <property fmtid="{D5CDD505-2E9C-101B-9397-08002B2CF9AE}" pid="6" name="KSOProductBuildVer">
    <vt:lpwstr>1033-6.13.1.8710</vt:lpwstr>
  </property>
</Properties>
</file>