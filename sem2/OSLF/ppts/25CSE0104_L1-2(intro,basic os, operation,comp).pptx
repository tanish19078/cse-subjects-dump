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310" r:id="rId26"/>
    <p:sldId id="311" r:id="rId27"/>
    <p:sldId id="312" r:id="rId28"/>
    <p:sldId id="313" r:id="rId29"/>
    <p:sldId id="314" r:id="rId30"/>
    <p:sldId id="317" r:id="rId31"/>
    <p:sldId id="318" r:id="rId32"/>
    <p:sldId id="319" r:id="rId33"/>
    <p:sldId id="295" r:id="rId34"/>
    <p:sldId id="296" r:id="rId35"/>
    <p:sldId id="297" r:id="rId36"/>
    <p:sldId id="298" r:id="rId37"/>
    <p:sldId id="299" r:id="rId38"/>
    <p:sldId id="300" r:id="rId39"/>
    <p:sldId id="301" r:id="rId40"/>
    <p:sldId id="302" r:id="rId41"/>
    <p:sldId id="303" r:id="rId42"/>
    <p:sldId id="304" r:id="rId43"/>
    <p:sldId id="315" r:id="rId44"/>
    <p:sldId id="316" r:id="rId4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2" roundtripDataSignature="AMtx7mgJf16mY+BAXz102EpJGrGpyQf9e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64"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8" name="Google Shape;3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5" name="Google Shape;45;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2" name="Google Shape;5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9" name="Google Shape;59;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6" name="Google Shape;6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dirty="0">
                <a:solidFill>
                  <a:srgbClr val="474747"/>
                </a:solidFill>
                <a:highlight>
                  <a:srgbClr val="FFFFFF"/>
                </a:highlight>
                <a:latin typeface="Arial"/>
                <a:ea typeface="Arial"/>
                <a:cs typeface="Arial"/>
                <a:sym typeface="Arial"/>
              </a:rPr>
              <a:t> </a:t>
            </a:r>
            <a:r>
              <a:rPr lang="en-US" dirty="0">
                <a:solidFill>
                  <a:srgbClr val="040C28"/>
                </a:solidFill>
                <a:highlight>
                  <a:srgbClr val="D3E3FD"/>
                </a:highlight>
                <a:latin typeface="Arial"/>
                <a:ea typeface="Arial"/>
                <a:cs typeface="Arial"/>
                <a:sym typeface="Arial"/>
              </a:rPr>
              <a:t>System software provides a platform for other software to run.</a:t>
            </a:r>
            <a:r>
              <a:rPr lang="en-US" sz="1200" b="0" i="0" u="none" strike="noStrike" cap="none" dirty="0">
                <a:solidFill>
                  <a:schemeClr val="dk1"/>
                </a:solidFill>
                <a:effectLst/>
                <a:latin typeface="Calibri"/>
                <a:ea typeface="Calibri"/>
                <a:cs typeface="Calibri"/>
                <a:sym typeface="Calibri"/>
              </a:rPr>
              <a:t> System Software maintains the system resources and gives the path for application software to run.</a:t>
            </a:r>
            <a:r>
              <a:rPr lang="en-US" dirty="0">
                <a:solidFill>
                  <a:srgbClr val="040C28"/>
                </a:solidFill>
                <a:highlight>
                  <a:srgbClr val="D3E3FD"/>
                </a:highlight>
                <a:latin typeface="Arial"/>
                <a:ea typeface="Arial"/>
                <a:cs typeface="Arial"/>
                <a:sym typeface="Arial"/>
              </a:rPr>
              <a:t> while application software performs specific tasks for the user</a:t>
            </a:r>
            <a:endParaRPr dirty="0"/>
          </a:p>
        </p:txBody>
      </p:sp>
      <p:sp>
        <p:nvSpPr>
          <p:cNvPr id="73" name="Google Shape;7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2" name="Google Shape;8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4" name="Google Shape;10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1" name="Google Shape;11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0" name="Google Shape;120;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7" name="Google Shape;127;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4" name="Google Shape;134;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1" name="Google Shape;141;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0" name="Google Shape;150;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7" name="Google Shape;157;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4" name="Google Shape;164;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1" name="Google Shape;171;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8" name="Google Shape;178;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5" name="Google Shape;185;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5" name="Google Shape;195;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2" name="Google Shape;202;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9" name="Google Shape;209;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6" name="Google Shape;216;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3" name="Google Shape;223;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31:notes"/>
          <p:cNvSpPr>
            <a:spLocks noGrp="1" noRot="1" noChangeAspect="1"/>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6" name="Google Shape;246;p31:notes"/>
          <p:cNvSpPr txBox="1">
            <a:spLocks noGrp="1"/>
          </p:cNvSpPr>
          <p:nvPr>
            <p:ph type="body" idx="1"/>
          </p:nvPr>
        </p:nvSpPr>
        <p:spPr>
          <a:xfrm>
            <a:off x="688975" y="4416425"/>
            <a:ext cx="5505450" cy="4183062"/>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27482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32:notes"/>
          <p:cNvSpPr>
            <a:spLocks noGrp="1" noRot="1" noChangeAspect="1"/>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2" name="Google Shape;252;p32:notes"/>
          <p:cNvSpPr txBox="1">
            <a:spLocks noGrp="1"/>
          </p:cNvSpPr>
          <p:nvPr>
            <p:ph type="body" idx="1"/>
          </p:nvPr>
        </p:nvSpPr>
        <p:spPr>
          <a:xfrm>
            <a:off x="688975" y="4416425"/>
            <a:ext cx="5505450" cy="4183062"/>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03733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33:notes"/>
          <p:cNvSpPr>
            <a:spLocks noGrp="1" noRot="1" noChangeAspect="1"/>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8" name="Google Shape;258;p33:notes"/>
          <p:cNvSpPr txBox="1">
            <a:spLocks noGrp="1"/>
          </p:cNvSpPr>
          <p:nvPr>
            <p:ph type="body" idx="1"/>
          </p:nvPr>
        </p:nvSpPr>
        <p:spPr>
          <a:xfrm>
            <a:off x="688975" y="4416425"/>
            <a:ext cx="5505450" cy="4183062"/>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43266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8" name="Google Shape;328;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5" name="Google Shape;335;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2" name="Google Shape;342;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9" name="Google Shape;349;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6" name="Google Shape;356;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3" name="Google Shape;363;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0" name="Google Shape;370;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7" name="Google Shape;377;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4" name="Google Shape;384;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1" name="Google Shape;391;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14"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26" name="Google Shape;26;p14"/>
          <p:cNvGrpSpPr/>
          <p:nvPr/>
        </p:nvGrpSpPr>
        <p:grpSpPr>
          <a:xfrm>
            <a:off x="6146800" y="0"/>
            <a:ext cx="2997200" cy="876300"/>
            <a:chOff x="6096000" y="3924300"/>
            <a:chExt cx="2997200" cy="876300"/>
          </a:xfrm>
        </p:grpSpPr>
        <p:sp>
          <p:nvSpPr>
            <p:cNvPr id="27" name="Google Shape;27;p14"/>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8" name="Google Shape;28;p14"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14"/>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30" name="Google Shape;30;p14"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31" name="Google Shape;31;p1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 name="Google Shape;32;p14"/>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Tree>
    <p:extLst>
      <p:ext uri="{BB962C8B-B14F-4D97-AF65-F5344CB8AC3E}">
        <p14:creationId xmlns:p14="http://schemas.microsoft.com/office/powerpoint/2010/main" val="20929122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13"/>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13"/>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13"/>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 name="Google Shape;17;p13"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pic>
        <p:nvPicPr>
          <p:cNvPr id="18" name="Google Shape;18;p13"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grpSp>
        <p:nvGrpSpPr>
          <p:cNvPr id="19" name="Google Shape;19;p13"/>
          <p:cNvGrpSpPr/>
          <p:nvPr/>
        </p:nvGrpSpPr>
        <p:grpSpPr>
          <a:xfrm>
            <a:off x="6146800" y="0"/>
            <a:ext cx="2997200" cy="876300"/>
            <a:chOff x="6096000" y="3924300"/>
            <a:chExt cx="2997200" cy="876300"/>
          </a:xfrm>
        </p:grpSpPr>
        <p:sp>
          <p:nvSpPr>
            <p:cNvPr id="20" name="Google Shape;20;p13"/>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1" name="Google Shape;21;p13" descr="LOGO.gif"/>
            <p:cNvPicPr preferRelativeResize="0"/>
            <p:nvPr/>
          </p:nvPicPr>
          <p:blipFill rotWithShape="1">
            <a:blip r:embed="rId4">
              <a:alphaModFix/>
            </a:blip>
            <a:srcRect b="10713"/>
            <a:stretch/>
          </p:blipFill>
          <p:spPr>
            <a:xfrm>
              <a:off x="6502400" y="4152900"/>
              <a:ext cx="2057400" cy="635000"/>
            </a:xfrm>
            <a:prstGeom prst="rect">
              <a:avLst/>
            </a:prstGeom>
            <a:noFill/>
            <a:ln>
              <a:noFill/>
            </a:ln>
          </p:spPr>
        </p:pic>
        <p:sp>
          <p:nvSpPr>
            <p:cNvPr id="22" name="Google Shape;22;p13"/>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23" name="Google Shape;23;p13" descr="logo.jpg"/>
          <p:cNvPicPr preferRelativeResize="0"/>
          <p:nvPr/>
        </p:nvPicPr>
        <p:blipFill rotWithShape="1">
          <a:blip r:embed="rId5">
            <a:alphaModFix/>
          </a:blip>
          <a:src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Google Shape;40;p1"/>
          <p:cNvSpPr txBox="1"/>
          <p:nvPr/>
        </p:nvSpPr>
        <p:spPr>
          <a:xfrm>
            <a:off x="1219200" y="1350818"/>
            <a:ext cx="6553200" cy="1981200"/>
          </a:xfrm>
          <a:prstGeom prst="rect">
            <a:avLst/>
          </a:prstGeom>
          <a:noFill/>
          <a:ln>
            <a:noFill/>
          </a:ln>
        </p:spPr>
        <p:txBody>
          <a:bodyPr spcFirstLastPara="1" wrap="square" lIns="91425" tIns="331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4000" b="1" i="0" u="none" strike="noStrike" cap="none" dirty="0">
                <a:solidFill>
                  <a:srgbClr val="3A30FA"/>
                </a:solidFill>
                <a:latin typeface="Calibri"/>
                <a:ea typeface="Calibri"/>
                <a:cs typeface="Calibri"/>
                <a:sym typeface="Calibri"/>
              </a:rPr>
              <a:t>Introduction (lec1-2)</a:t>
            </a:r>
            <a:endParaRPr sz="4000" b="0" i="0" u="none" strike="noStrike" cap="none" dirty="0">
              <a:solidFill>
                <a:srgbClr val="000000"/>
              </a:solidFill>
              <a:sym typeface="Arial"/>
            </a:endParaRPr>
          </a:p>
        </p:txBody>
      </p:sp>
      <p:sp>
        <p:nvSpPr>
          <p:cNvPr id="42" name="Google Shape;42;p1"/>
          <p:cNvSpPr txBox="1"/>
          <p:nvPr/>
        </p:nvSpPr>
        <p:spPr>
          <a:xfrm>
            <a:off x="1621155" y="4764062"/>
            <a:ext cx="6151245" cy="64516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err="1">
                <a:solidFill>
                  <a:srgbClr val="FF0000"/>
                </a:solidFill>
                <a:latin typeface="Arial"/>
                <a:ea typeface="Arial"/>
                <a:cs typeface="Arial"/>
                <a:sym typeface="Arial"/>
              </a:rPr>
              <a:t>Chitkara</a:t>
            </a:r>
            <a:r>
              <a:rPr lang="en-US" sz="1800" b="0" i="0" u="none" strike="noStrike" cap="none" dirty="0">
                <a:solidFill>
                  <a:srgbClr val="FF0000"/>
                </a:solidFill>
                <a:latin typeface="Arial"/>
                <a:ea typeface="Arial"/>
                <a:cs typeface="Arial"/>
                <a:sym typeface="Arial"/>
              </a:rPr>
              <a:t> University Institute of Engineering and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err="1">
                <a:solidFill>
                  <a:srgbClr val="FF0000"/>
                </a:solidFill>
                <a:latin typeface="Arial"/>
                <a:ea typeface="Arial"/>
                <a:cs typeface="Arial"/>
                <a:sym typeface="Arial"/>
              </a:rPr>
              <a:t>Chitkara</a:t>
            </a:r>
            <a:r>
              <a:rPr lang="en-US" sz="1800" b="0" i="0" u="none" strike="noStrike" cap="none" dirty="0">
                <a:solidFill>
                  <a:srgbClr val="FF0000"/>
                </a:solidFill>
                <a:latin typeface="Arial"/>
                <a:ea typeface="Arial"/>
                <a:cs typeface="Arial"/>
                <a:sym typeface="Arial"/>
              </a:rPr>
              <a:t> University, Punjab</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t>Content</a:t>
            </a:r>
            <a:endParaRPr/>
          </a:p>
        </p:txBody>
      </p:sp>
      <p:sp>
        <p:nvSpPr>
          <p:cNvPr id="48" name="Google Shape;48;p2"/>
          <p:cNvSpPr txBox="1">
            <a:spLocks noGrp="1"/>
          </p:cNvSpPr>
          <p:nvPr>
            <p:ph type="body" idx="1"/>
          </p:nvPr>
        </p:nvSpPr>
        <p:spPr>
          <a:xfrm>
            <a:off x="457200" y="1083501"/>
            <a:ext cx="8229600" cy="5404981"/>
          </a:xfrm>
          <a:prstGeom prst="rect">
            <a:avLst/>
          </a:prstGeom>
          <a:noFill/>
          <a:ln>
            <a:noFill/>
          </a:ln>
        </p:spPr>
        <p:txBody>
          <a:bodyPr spcFirstLastPara="1" wrap="square" lIns="91425" tIns="45700" rIns="91425" bIns="45700" anchor="t" anchorCtr="0">
            <a:noAutofit/>
          </a:bodyPr>
          <a:lstStyle/>
          <a:p>
            <a:pPr marL="285750" lvl="0" indent="-285750" algn="just" rtl="0">
              <a:lnSpc>
                <a:spcPct val="150000"/>
              </a:lnSpc>
              <a:spcBef>
                <a:spcPts val="0"/>
              </a:spcBef>
              <a:spcAft>
                <a:spcPts val="0"/>
              </a:spcAft>
              <a:buSzPts val="1800"/>
              <a:buFont typeface="Arial"/>
              <a:buChar char="•"/>
            </a:pPr>
            <a:r>
              <a:rPr lang="en-US" sz="1800">
                <a:latin typeface="Times New Roman"/>
                <a:ea typeface="Times New Roman"/>
                <a:cs typeface="Times New Roman"/>
                <a:sym typeface="Times New Roman"/>
              </a:rPr>
              <a:t>Introduction to Operating systems</a:t>
            </a:r>
            <a:endParaRPr/>
          </a:p>
          <a:p>
            <a:pPr marL="285750" lvl="0" indent="-285750" algn="just" rtl="0">
              <a:lnSpc>
                <a:spcPct val="150000"/>
              </a:lnSpc>
              <a:spcBef>
                <a:spcPts val="0"/>
              </a:spcBef>
              <a:spcAft>
                <a:spcPts val="0"/>
              </a:spcAft>
              <a:buSzPts val="1800"/>
              <a:buFont typeface="Arial"/>
              <a:buChar char="•"/>
            </a:pPr>
            <a:r>
              <a:rPr lang="en-US" sz="1800">
                <a:latin typeface="Times New Roman"/>
                <a:ea typeface="Times New Roman"/>
                <a:cs typeface="Times New Roman"/>
                <a:sym typeface="Times New Roman"/>
              </a:rPr>
              <a:t>Operating System role</a:t>
            </a:r>
            <a:endParaRPr/>
          </a:p>
          <a:p>
            <a:pPr marL="285750" lvl="0" indent="-285750" algn="just" rtl="0">
              <a:lnSpc>
                <a:spcPct val="150000"/>
              </a:lnSpc>
              <a:spcBef>
                <a:spcPts val="0"/>
              </a:spcBef>
              <a:spcAft>
                <a:spcPts val="0"/>
              </a:spcAft>
              <a:buSzPts val="1800"/>
              <a:buFont typeface="Arial"/>
              <a:buChar char="•"/>
            </a:pPr>
            <a:r>
              <a:rPr lang="en-US" sz="1800">
                <a:latin typeface="Times New Roman"/>
                <a:ea typeface="Times New Roman"/>
                <a:cs typeface="Times New Roman"/>
                <a:sym typeface="Times New Roman"/>
              </a:rPr>
              <a:t>Computer system architecture</a:t>
            </a:r>
            <a:endParaRPr/>
          </a:p>
          <a:p>
            <a:pPr marL="285750" lvl="0" indent="-285750" algn="just" rtl="0">
              <a:lnSpc>
                <a:spcPct val="150000"/>
              </a:lnSpc>
              <a:spcBef>
                <a:spcPts val="0"/>
              </a:spcBef>
              <a:spcAft>
                <a:spcPts val="0"/>
              </a:spcAft>
              <a:buSzPts val="1800"/>
              <a:buFont typeface="Arial"/>
              <a:buChar char="•"/>
            </a:pPr>
            <a:r>
              <a:rPr lang="en-US" sz="1800">
                <a:latin typeface="Times New Roman"/>
                <a:ea typeface="Times New Roman"/>
                <a:cs typeface="Times New Roman"/>
                <a:sym typeface="Times New Roman"/>
              </a:rPr>
              <a:t>Single processor</a:t>
            </a:r>
            <a:endParaRPr/>
          </a:p>
          <a:p>
            <a:pPr marL="285750" lvl="0" indent="-285750" algn="just" rtl="0">
              <a:lnSpc>
                <a:spcPct val="150000"/>
              </a:lnSpc>
              <a:spcBef>
                <a:spcPts val="0"/>
              </a:spcBef>
              <a:spcAft>
                <a:spcPts val="0"/>
              </a:spcAft>
              <a:buSzPts val="1800"/>
              <a:buFont typeface="Arial"/>
              <a:buChar char="•"/>
            </a:pPr>
            <a:r>
              <a:rPr lang="en-US" sz="1800">
                <a:latin typeface="Times New Roman"/>
                <a:ea typeface="Times New Roman"/>
                <a:cs typeface="Times New Roman"/>
                <a:sym typeface="Times New Roman"/>
              </a:rPr>
              <a:t> Multiprocessor Systems</a:t>
            </a:r>
            <a:endParaRPr/>
          </a:p>
          <a:p>
            <a:pPr marL="285750" lvl="0" indent="-285750" algn="just" rtl="0">
              <a:lnSpc>
                <a:spcPct val="150000"/>
              </a:lnSpc>
              <a:spcBef>
                <a:spcPts val="0"/>
              </a:spcBef>
              <a:spcAft>
                <a:spcPts val="0"/>
              </a:spcAft>
              <a:buSzPts val="1800"/>
              <a:buFont typeface="Arial"/>
              <a:buChar char="•"/>
            </a:pPr>
            <a:r>
              <a:rPr lang="en-US" sz="1800">
                <a:latin typeface="Times New Roman"/>
                <a:ea typeface="Times New Roman"/>
                <a:cs typeface="Times New Roman"/>
                <a:sym typeface="Times New Roman"/>
              </a:rPr>
              <a:t>Clustered Systems</a:t>
            </a:r>
            <a:endParaRPr/>
          </a:p>
          <a:p>
            <a:pPr marL="285750" lvl="0" indent="-285750" algn="just" rtl="0">
              <a:lnSpc>
                <a:spcPct val="150000"/>
              </a:lnSpc>
              <a:spcBef>
                <a:spcPts val="0"/>
              </a:spcBef>
              <a:spcAft>
                <a:spcPts val="0"/>
              </a:spcAft>
              <a:buSzPts val="1800"/>
              <a:buFont typeface="Arial"/>
              <a:buChar char="•"/>
            </a:pPr>
            <a:r>
              <a:rPr lang="en-US" sz="1800">
                <a:latin typeface="Times New Roman"/>
                <a:ea typeface="Times New Roman"/>
                <a:cs typeface="Times New Roman"/>
                <a:sym typeface="Times New Roman"/>
              </a:rPr>
              <a:t>OS structure</a:t>
            </a:r>
            <a:endParaRPr/>
          </a:p>
          <a:p>
            <a:pPr marL="285750" lvl="0" indent="-285750" algn="just" rtl="0">
              <a:lnSpc>
                <a:spcPct val="150000"/>
              </a:lnSpc>
              <a:spcBef>
                <a:spcPts val="0"/>
              </a:spcBef>
              <a:spcAft>
                <a:spcPts val="0"/>
              </a:spcAft>
              <a:buSzPts val="1800"/>
              <a:buFont typeface="Arial"/>
              <a:buChar char="•"/>
            </a:pPr>
            <a:r>
              <a:rPr lang="en-US" sz="1800">
                <a:latin typeface="Times New Roman"/>
                <a:ea typeface="Times New Roman"/>
                <a:cs typeface="Times New Roman"/>
                <a:sym typeface="Times New Roman"/>
              </a:rPr>
              <a:t>OS operations</a:t>
            </a:r>
            <a:endParaRPr/>
          </a:p>
          <a:p>
            <a:pPr marL="285750" lvl="0" indent="-285750" algn="just" rtl="0">
              <a:lnSpc>
                <a:spcPct val="150000"/>
              </a:lnSpc>
              <a:spcBef>
                <a:spcPts val="0"/>
              </a:spcBef>
              <a:spcAft>
                <a:spcPts val="0"/>
              </a:spcAft>
              <a:buSzPts val="1800"/>
              <a:buFont typeface="Arial"/>
              <a:buChar char="•"/>
            </a:pPr>
            <a:r>
              <a:rPr lang="en-US" sz="1800">
                <a:latin typeface="Times New Roman"/>
                <a:ea typeface="Times New Roman"/>
                <a:cs typeface="Times New Roman"/>
                <a:sym typeface="Times New Roman"/>
              </a:rPr>
              <a:t>Components of OS </a:t>
            </a:r>
            <a:endParaRPr/>
          </a:p>
          <a:p>
            <a:pPr marL="285750" lvl="0" indent="-285750" algn="just" rtl="0">
              <a:lnSpc>
                <a:spcPct val="150000"/>
              </a:lnSpc>
              <a:spcBef>
                <a:spcPts val="0"/>
              </a:spcBef>
              <a:spcAft>
                <a:spcPts val="0"/>
              </a:spcAft>
              <a:buSzPts val="1800"/>
              <a:buFont typeface="Arial"/>
              <a:buChar char="•"/>
            </a:pPr>
            <a:r>
              <a:rPr lang="en-US" sz="1800">
                <a:latin typeface="Times New Roman"/>
                <a:ea typeface="Times New Roman"/>
                <a:cs typeface="Times New Roman"/>
                <a:sym typeface="Times New Roman"/>
              </a:rPr>
              <a:t>Process management</a:t>
            </a:r>
            <a:endParaRPr/>
          </a:p>
          <a:p>
            <a:pPr marL="285750" lvl="0" indent="-285750" algn="just" rtl="0">
              <a:lnSpc>
                <a:spcPct val="150000"/>
              </a:lnSpc>
              <a:spcBef>
                <a:spcPts val="0"/>
              </a:spcBef>
              <a:spcAft>
                <a:spcPts val="0"/>
              </a:spcAft>
              <a:buSzPts val="1800"/>
              <a:buFont typeface="Arial"/>
              <a:buChar char="•"/>
            </a:pPr>
            <a:r>
              <a:rPr lang="en-US" sz="1800">
                <a:latin typeface="Times New Roman"/>
                <a:ea typeface="Times New Roman"/>
                <a:cs typeface="Times New Roman"/>
                <a:sym typeface="Times New Roman"/>
              </a:rPr>
              <a:t>Memory management </a:t>
            </a:r>
            <a:endParaRPr/>
          </a:p>
          <a:p>
            <a:pPr marL="285750" lvl="0" indent="-285750" algn="just" rtl="0">
              <a:lnSpc>
                <a:spcPct val="150000"/>
              </a:lnSpc>
              <a:spcBef>
                <a:spcPts val="0"/>
              </a:spcBef>
              <a:spcAft>
                <a:spcPts val="0"/>
              </a:spcAft>
              <a:buSzPts val="1800"/>
              <a:buFont typeface="Arial"/>
              <a:buChar char="•"/>
            </a:pPr>
            <a:r>
              <a:rPr lang="en-US" sz="1800">
                <a:latin typeface="Times New Roman"/>
                <a:ea typeface="Times New Roman"/>
                <a:cs typeface="Times New Roman"/>
                <a:sym typeface="Times New Roman"/>
              </a:rPr>
              <a:t>Storage management</a:t>
            </a:r>
            <a:endParaRPr/>
          </a:p>
          <a:p>
            <a:pPr marL="285750" lvl="0" indent="-285750" algn="just" rtl="0">
              <a:lnSpc>
                <a:spcPct val="150000"/>
              </a:lnSpc>
              <a:spcBef>
                <a:spcPts val="0"/>
              </a:spcBef>
              <a:spcAft>
                <a:spcPts val="0"/>
              </a:spcAft>
              <a:buSzPts val="1800"/>
              <a:buFont typeface="Arial"/>
              <a:buChar char="•"/>
            </a:pPr>
            <a:r>
              <a:rPr lang="en-US" sz="1800">
                <a:latin typeface="Times New Roman"/>
                <a:ea typeface="Times New Roman"/>
                <a:cs typeface="Times New Roman"/>
                <a:sym typeface="Times New Roman"/>
              </a:rPr>
              <a:t> I/O management</a:t>
            </a:r>
            <a:r>
              <a:rPr lang="en-US" sz="1800" b="0">
                <a:solidFill>
                  <a:srgbClr val="000000"/>
                </a:solidFill>
                <a:latin typeface="Times New Roman"/>
                <a:ea typeface="Times New Roman"/>
                <a:cs typeface="Times New Roman"/>
                <a:sym typeface="Times New Roman"/>
              </a:rPr>
              <a:t>  </a:t>
            </a:r>
            <a:endParaRPr/>
          </a:p>
          <a:p>
            <a:pPr marL="0" lvl="0" indent="0" algn="just" rtl="0">
              <a:lnSpc>
                <a:spcPct val="100000"/>
              </a:lnSpc>
              <a:spcBef>
                <a:spcPts val="360"/>
              </a:spcBef>
              <a:spcAft>
                <a:spcPts val="0"/>
              </a:spcAft>
              <a:buClr>
                <a:schemeClr val="dk1"/>
              </a:buClr>
              <a:buSzPts val="1800"/>
              <a:buNone/>
            </a:pPr>
            <a:endParaRPr sz="1800">
              <a:solidFill>
                <a:srgbClr val="273239"/>
              </a:solidFill>
              <a:latin typeface="Times New Roman"/>
              <a:ea typeface="Times New Roman"/>
              <a:cs typeface="Times New Roman"/>
              <a:sym typeface="Times New Roman"/>
            </a:endParaRPr>
          </a:p>
        </p:txBody>
      </p:sp>
      <p:sp>
        <p:nvSpPr>
          <p:cNvPr id="49" name="Google Shape;49;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200">
                <a:latin typeface="Times New Roman"/>
                <a:ea typeface="Times New Roman"/>
                <a:cs typeface="Times New Roman"/>
                <a:sym typeface="Times New Roman"/>
              </a:rPr>
              <a:t>Introduction to Operating systems</a:t>
            </a:r>
            <a:endParaRPr/>
          </a:p>
        </p:txBody>
      </p:sp>
      <p:sp>
        <p:nvSpPr>
          <p:cNvPr id="55" name="Google Shape;55;p3"/>
          <p:cNvSpPr txBox="1">
            <a:spLocks noGrp="1"/>
          </p:cNvSpPr>
          <p:nvPr>
            <p:ph type="body" idx="1"/>
          </p:nvPr>
        </p:nvSpPr>
        <p:spPr>
          <a:xfrm>
            <a:off x="190259" y="1079350"/>
            <a:ext cx="8605500" cy="5277000"/>
          </a:xfrm>
          <a:prstGeom prst="rect">
            <a:avLst/>
          </a:prstGeom>
          <a:noFill/>
          <a:ln>
            <a:noFill/>
          </a:ln>
        </p:spPr>
        <p:txBody>
          <a:bodyPr spcFirstLastPara="1" wrap="square" lIns="91425" tIns="45700" rIns="91425" bIns="45700" anchor="t" anchorCtr="0">
            <a:noAutofit/>
          </a:bodyPr>
          <a:lstStyle/>
          <a:p>
            <a:pPr marL="457200" lvl="0"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An operating system acts as an intermediary between the user of a computer and computer hardware. </a:t>
            </a:r>
            <a:r>
              <a:rPr lang="en-US" sz="2000" dirty="0">
                <a:solidFill>
                  <a:schemeClr val="tx1"/>
                </a:solidFill>
                <a:latin typeface="Times New Roman"/>
                <a:ea typeface="Times New Roman"/>
                <a:cs typeface="Times New Roman"/>
                <a:sym typeface="Times New Roman"/>
              </a:rPr>
              <a:t>The purpose of an operating system is to provide an environment in which a user can execute programs conveniently and efficiently. </a:t>
            </a:r>
            <a:endParaRPr dirty="0">
              <a:solidFill>
                <a:schemeClr val="tx1"/>
              </a:solidFill>
            </a:endParaRPr>
          </a:p>
          <a:p>
            <a:pPr marL="457200" lvl="0" indent="-342900" algn="just" rtl="0">
              <a:lnSpc>
                <a:spcPct val="100000"/>
              </a:lnSpc>
              <a:spcBef>
                <a:spcPts val="360"/>
              </a:spcBef>
              <a:spcAft>
                <a:spcPts val="0"/>
              </a:spcAft>
              <a:buSzPts val="1800"/>
              <a:buChar char="•"/>
            </a:pPr>
            <a:r>
              <a:rPr lang="en-US" sz="2000" dirty="0">
                <a:solidFill>
                  <a:schemeClr val="tx1"/>
                </a:solidFill>
                <a:latin typeface="Times New Roman"/>
                <a:ea typeface="Times New Roman"/>
                <a:cs typeface="Times New Roman"/>
                <a:sym typeface="Times New Roman"/>
              </a:rPr>
              <a:t>An operating system is software that manages computer hardware. The hardware must provide appropriate mechanisms to ensure the correct operation of the computer system and to prevent user programs from interfering with the proper operation of the system. A more common definition is that the operating system is the one program running at all times on the computer (usually called the kernel), with all else being application programs.</a:t>
            </a:r>
            <a:endParaRPr dirty="0">
              <a:solidFill>
                <a:schemeClr val="tx1"/>
              </a:solidFill>
            </a:endParaRPr>
          </a:p>
          <a:p>
            <a:pPr marL="457200" lvl="0" indent="-342900" algn="just" rtl="0">
              <a:lnSpc>
                <a:spcPct val="100000"/>
              </a:lnSpc>
              <a:spcBef>
                <a:spcPts val="360"/>
              </a:spcBef>
              <a:spcAft>
                <a:spcPts val="0"/>
              </a:spcAft>
              <a:buSzPts val="1800"/>
              <a:buChar char="•"/>
            </a:pPr>
            <a:r>
              <a:rPr lang="en-US" sz="2000" dirty="0">
                <a:solidFill>
                  <a:schemeClr val="tx1"/>
                </a:solidFill>
                <a:latin typeface="Times New Roman"/>
                <a:ea typeface="Times New Roman"/>
                <a:cs typeface="Times New Roman"/>
                <a:sym typeface="Times New Roman"/>
              </a:rPr>
              <a:t>An operating system is concerned with the allocati</a:t>
            </a:r>
            <a:r>
              <a:rPr lang="en-US" sz="2000" dirty="0">
                <a:latin typeface="Times New Roman"/>
                <a:ea typeface="Times New Roman"/>
                <a:cs typeface="Times New Roman"/>
                <a:sym typeface="Times New Roman"/>
              </a:rPr>
              <a:t>on of resources and services, such as memory, processors, devices, and information. The operating system correspondingly includes programs to manage these resources, such as a traffic controller, a scheduler, a memory management module, I/O programs, and a file system.</a:t>
            </a:r>
            <a:endParaRPr dirty="0"/>
          </a:p>
          <a:p>
            <a:pPr marL="457200" lvl="0" indent="-228600" algn="l" rtl="0">
              <a:lnSpc>
                <a:spcPct val="100000"/>
              </a:lnSpc>
              <a:spcBef>
                <a:spcPts val="360"/>
              </a:spcBef>
              <a:spcAft>
                <a:spcPts val="0"/>
              </a:spcAft>
              <a:buClr>
                <a:schemeClr val="dk1"/>
              </a:buClr>
              <a:buSzPts val="1800"/>
              <a:buNone/>
            </a:pPr>
            <a:endParaRPr dirty="0"/>
          </a:p>
        </p:txBody>
      </p:sp>
      <p:sp>
        <p:nvSpPr>
          <p:cNvPr id="56" name="Google Shape;56;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4"/>
          <p:cNvSpPr txBox="1">
            <a:spLocks noGrp="1"/>
          </p:cNvSpPr>
          <p:nvPr>
            <p:ph type="title"/>
          </p:nvPr>
        </p:nvSpPr>
        <p:spPr>
          <a:xfrm>
            <a:off x="76200" y="303877"/>
            <a:ext cx="6477000" cy="44196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3200" dirty="0">
                <a:latin typeface="Times New Roman"/>
                <a:ea typeface="Times New Roman"/>
                <a:cs typeface="Times New Roman"/>
                <a:sym typeface="Times New Roman"/>
              </a:rPr>
              <a:t>Operating System role</a:t>
            </a:r>
            <a:br>
              <a:rPr lang="en-US" sz="3200" dirty="0">
                <a:latin typeface="Times New Roman"/>
                <a:ea typeface="Times New Roman"/>
                <a:cs typeface="Times New Roman"/>
                <a:sym typeface="Times New Roman"/>
              </a:rPr>
            </a:br>
            <a:endParaRPr dirty="0"/>
          </a:p>
        </p:txBody>
      </p:sp>
      <p:sp>
        <p:nvSpPr>
          <p:cNvPr id="62" name="Google Shape;62;p4"/>
          <p:cNvSpPr txBox="1">
            <a:spLocks noGrp="1"/>
          </p:cNvSpPr>
          <p:nvPr>
            <p:ph type="body" idx="1"/>
          </p:nvPr>
        </p:nvSpPr>
        <p:spPr>
          <a:xfrm>
            <a:off x="290944" y="1147156"/>
            <a:ext cx="8502073" cy="5120641"/>
          </a:xfrm>
          <a:prstGeom prst="rect">
            <a:avLst/>
          </a:prstGeom>
          <a:noFill/>
          <a:ln>
            <a:noFill/>
          </a:ln>
        </p:spPr>
        <p:txBody>
          <a:bodyPr spcFirstLastPara="1" wrap="square" lIns="91425" tIns="45700" rIns="91425" bIns="45700" anchor="t" anchorCtr="0">
            <a:noAutofit/>
          </a:bodyPr>
          <a:lstStyle/>
          <a:p>
            <a:pPr marL="457200" lvl="0" indent="-342900" algn="just" rtl="0">
              <a:lnSpc>
                <a:spcPct val="100000"/>
              </a:lnSpc>
              <a:spcBef>
                <a:spcPts val="360"/>
              </a:spcBef>
              <a:spcAft>
                <a:spcPts val="0"/>
              </a:spcAft>
              <a:buSzPts val="1800"/>
              <a:buChar char="•"/>
            </a:pPr>
            <a:r>
              <a:rPr lang="en-US" sz="2000" b="1" dirty="0">
                <a:latin typeface="Times New Roman"/>
                <a:ea typeface="Times New Roman"/>
                <a:cs typeface="Times New Roman"/>
                <a:sym typeface="Times New Roman"/>
              </a:rPr>
              <a:t>Resource Management: </a:t>
            </a:r>
            <a:r>
              <a:rPr lang="en-US" sz="2000" dirty="0">
                <a:latin typeface="Times New Roman"/>
                <a:ea typeface="Times New Roman"/>
                <a:cs typeface="Times New Roman"/>
                <a:sym typeface="Times New Roman"/>
              </a:rPr>
              <a:t>The operating system (OS) manages hardware resources such as CPU, memory, disk storage, and input/output devices, ensuring their efficient utilization during model training and testing.</a:t>
            </a:r>
            <a:endParaRPr dirty="0"/>
          </a:p>
          <a:p>
            <a:pPr marL="457200" lvl="0" indent="-342900" algn="just" rtl="0">
              <a:lnSpc>
                <a:spcPct val="100000"/>
              </a:lnSpc>
              <a:spcBef>
                <a:spcPts val="360"/>
              </a:spcBef>
              <a:spcAft>
                <a:spcPts val="0"/>
              </a:spcAft>
              <a:buSzPts val="1800"/>
              <a:buChar char="•"/>
            </a:pPr>
            <a:r>
              <a:rPr lang="en-US" sz="2000" b="1" dirty="0">
                <a:latin typeface="Times New Roman"/>
                <a:ea typeface="Times New Roman"/>
                <a:cs typeface="Times New Roman"/>
                <a:sym typeface="Times New Roman"/>
              </a:rPr>
              <a:t>Task Scheduling:</a:t>
            </a:r>
            <a:r>
              <a:rPr lang="en-US" sz="2000" dirty="0">
                <a:latin typeface="Times New Roman"/>
                <a:ea typeface="Times New Roman"/>
                <a:cs typeface="Times New Roman"/>
                <a:sym typeface="Times New Roman"/>
              </a:rPr>
              <a:t> The OS schedules tasks, prioritizes processes, and allocates CPU time, ensuring smooth execution of computationally intensive processes like training machine learning models.</a:t>
            </a:r>
            <a:endParaRPr dirty="0"/>
          </a:p>
          <a:p>
            <a:pPr marL="457200" lvl="0" indent="-342900" algn="just" rtl="0">
              <a:lnSpc>
                <a:spcPct val="100000"/>
              </a:lnSpc>
              <a:spcBef>
                <a:spcPts val="360"/>
              </a:spcBef>
              <a:spcAft>
                <a:spcPts val="0"/>
              </a:spcAft>
              <a:buSzPts val="1800"/>
              <a:buChar char="•"/>
            </a:pPr>
            <a:r>
              <a:rPr lang="en-US" sz="2000" b="1" dirty="0">
                <a:latin typeface="Times New Roman"/>
                <a:ea typeface="Times New Roman"/>
                <a:cs typeface="Times New Roman"/>
                <a:sym typeface="Times New Roman"/>
              </a:rPr>
              <a:t>Memory Management: </a:t>
            </a:r>
            <a:r>
              <a:rPr lang="en-US" sz="2000" dirty="0">
                <a:latin typeface="Times New Roman"/>
                <a:ea typeface="Times New Roman"/>
                <a:cs typeface="Times New Roman"/>
                <a:sym typeface="Times New Roman"/>
              </a:rPr>
              <a:t>It handles memory allocation for storing datasets, models, and intermediate computations, optimizing system performance and avoiding memory overflow. </a:t>
            </a:r>
            <a:endParaRPr sz="2000" dirty="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000" b="1" dirty="0">
                <a:latin typeface="Times New Roman"/>
                <a:ea typeface="Times New Roman"/>
                <a:cs typeface="Times New Roman"/>
                <a:sym typeface="Times New Roman"/>
              </a:rPr>
              <a:t>Parallel Processing Support:</a:t>
            </a:r>
            <a:r>
              <a:rPr lang="en-US" sz="2000" dirty="0">
                <a:latin typeface="Times New Roman"/>
                <a:ea typeface="Times New Roman"/>
                <a:cs typeface="Times New Roman"/>
                <a:sym typeface="Times New Roman"/>
              </a:rPr>
              <a:t> Operating systems enable parallel execution through threading and multiprocessing, which is crucial for models that rely on GPUs or multi-core processors.</a:t>
            </a:r>
            <a:endParaRPr sz="2000" dirty="0">
              <a:latin typeface="Times New Roman"/>
              <a:ea typeface="Times New Roman"/>
              <a:cs typeface="Times New Roman"/>
              <a:sym typeface="Times New Roman"/>
            </a:endParaRPr>
          </a:p>
        </p:txBody>
      </p:sp>
      <p:sp>
        <p:nvSpPr>
          <p:cNvPr id="63" name="Google Shape;63;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Cont……..</a:t>
            </a:r>
            <a:endParaRPr/>
          </a:p>
        </p:txBody>
      </p:sp>
      <p:sp>
        <p:nvSpPr>
          <p:cNvPr id="69" name="Google Shape;69;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
        <p:nvSpPr>
          <p:cNvPr id="70" name="Google Shape;70;p5"/>
          <p:cNvSpPr txBox="1">
            <a:spLocks noGrp="1"/>
          </p:cNvSpPr>
          <p:nvPr>
            <p:ph type="body" idx="1"/>
          </p:nvPr>
        </p:nvSpPr>
        <p:spPr>
          <a:xfrm>
            <a:off x="257693" y="1018362"/>
            <a:ext cx="8544560" cy="4401164"/>
          </a:xfrm>
          <a:prstGeom prst="rect">
            <a:avLst/>
          </a:prstGeom>
          <a:noFill/>
          <a:ln>
            <a:noFill/>
          </a:ln>
        </p:spPr>
        <p:txBody>
          <a:bodyPr spcFirstLastPara="1" wrap="square" lIns="91425" tIns="45700" rIns="91425" bIns="45700" anchor="ctr" anchorCtr="0">
            <a:spAutoFit/>
          </a:bodyPr>
          <a:lstStyle/>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Driver Support:</a:t>
            </a:r>
            <a:r>
              <a:rPr lang="en-US" sz="2000" b="0" i="0" u="none" strike="noStrike" cap="none" dirty="0">
                <a:solidFill>
                  <a:schemeClr val="dk1"/>
                </a:solidFill>
                <a:latin typeface="Times New Roman"/>
                <a:ea typeface="Times New Roman"/>
                <a:cs typeface="Times New Roman"/>
                <a:sym typeface="Times New Roman"/>
              </a:rPr>
              <a:t> Provides necessary drivers to interface with hardware components such as GPUs, ensuring compatibility and leveraging hardware acceleration for faster computation.</a:t>
            </a:r>
            <a:endParaRPr dirty="0"/>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File System Management:</a:t>
            </a:r>
            <a:r>
              <a:rPr lang="en-US" sz="2000" b="0" i="0" u="none" strike="noStrike" cap="none" dirty="0">
                <a:solidFill>
                  <a:schemeClr val="dk1"/>
                </a:solidFill>
                <a:latin typeface="Times New Roman"/>
                <a:ea typeface="Times New Roman"/>
                <a:cs typeface="Times New Roman"/>
                <a:sym typeface="Times New Roman"/>
              </a:rPr>
              <a:t> Facilitates efficient data storage, retrieval, and management of large datasets.</a:t>
            </a:r>
            <a:endParaRPr dirty="0"/>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Error Handling:</a:t>
            </a:r>
            <a:r>
              <a:rPr lang="en-US" sz="2000" b="0" i="0" u="none" strike="noStrike" cap="none" dirty="0">
                <a:solidFill>
                  <a:schemeClr val="dk1"/>
                </a:solidFill>
                <a:latin typeface="Times New Roman"/>
                <a:ea typeface="Times New Roman"/>
                <a:cs typeface="Times New Roman"/>
                <a:sym typeface="Times New Roman"/>
              </a:rPr>
              <a:t> Detects and manages system errors, ensuring the reliability and stability of processes during long training sessions or simulations.</a:t>
            </a:r>
            <a:endParaRPr dirty="0"/>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Security:</a:t>
            </a:r>
            <a:r>
              <a:rPr lang="en-US" sz="2000" b="0" i="0" u="none" strike="noStrike" cap="none" dirty="0">
                <a:solidFill>
                  <a:schemeClr val="dk1"/>
                </a:solidFill>
                <a:latin typeface="Times New Roman"/>
                <a:ea typeface="Times New Roman"/>
                <a:cs typeface="Times New Roman"/>
                <a:sym typeface="Times New Roman"/>
              </a:rPr>
              <a:t> Offers secure environments to protect sensitive datasets and ensures safe execution of applications, preventing unauthorized access.</a:t>
            </a:r>
            <a:endParaRPr dirty="0"/>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Networking:</a:t>
            </a:r>
            <a:r>
              <a:rPr lang="en-US" sz="2000" b="0" i="0" u="none" strike="noStrike" cap="none" dirty="0">
                <a:solidFill>
                  <a:schemeClr val="dk1"/>
                </a:solidFill>
                <a:latin typeface="Times New Roman"/>
                <a:ea typeface="Times New Roman"/>
                <a:cs typeface="Times New Roman"/>
                <a:sym typeface="Times New Roman"/>
              </a:rPr>
              <a:t> Provides support for data transfer and communication in distributed computing environments or cloud-based machine learning workflows.</a:t>
            </a:r>
            <a:endParaRPr dirty="0"/>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User Interface and Automation:</a:t>
            </a:r>
            <a:r>
              <a:rPr lang="en-US" sz="2000" b="0" i="0" u="none" strike="noStrike" cap="none" dirty="0">
                <a:solidFill>
                  <a:schemeClr val="dk1"/>
                </a:solidFill>
                <a:latin typeface="Times New Roman"/>
                <a:ea typeface="Times New Roman"/>
                <a:cs typeface="Times New Roman"/>
                <a:sym typeface="Times New Roman"/>
              </a:rPr>
              <a:t> Allows seamless user interaction through graphical interfaces or command-line tools, enabling efficient model execution and result analysis.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285750" lvl="0" indent="-285750" algn="l" rtl="0">
              <a:lnSpc>
                <a:spcPct val="150000"/>
              </a:lnSpc>
              <a:spcBef>
                <a:spcPts val="0"/>
              </a:spcBef>
              <a:spcAft>
                <a:spcPts val="0"/>
              </a:spcAft>
              <a:buSzPts val="1400"/>
              <a:buNone/>
            </a:pPr>
            <a:r>
              <a:rPr lang="en-US" sz="3200">
                <a:latin typeface="Times New Roman"/>
                <a:ea typeface="Times New Roman"/>
                <a:cs typeface="Times New Roman"/>
                <a:sym typeface="Times New Roman"/>
              </a:rPr>
              <a:t>Computer system architecture</a:t>
            </a:r>
            <a:endParaRPr/>
          </a:p>
        </p:txBody>
      </p:sp>
      <p:sp>
        <p:nvSpPr>
          <p:cNvPr id="76" name="Google Shape;76;p6"/>
          <p:cNvSpPr txBox="1">
            <a:spLocks noGrp="1"/>
          </p:cNvSpPr>
          <p:nvPr>
            <p:ph type="body" idx="1"/>
          </p:nvPr>
        </p:nvSpPr>
        <p:spPr>
          <a:xfrm>
            <a:off x="370840" y="1141730"/>
            <a:ext cx="8229600" cy="498475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The process operating system as User Interface: </a:t>
            </a:r>
            <a:endParaRPr dirty="0"/>
          </a:p>
          <a:p>
            <a:pPr marL="914400" lvl="1" indent="-342900" algn="l"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User</a:t>
            </a:r>
            <a:endParaRPr dirty="0"/>
          </a:p>
          <a:p>
            <a:pPr marL="914400" lvl="1" indent="-342900" algn="l"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System and application programs</a:t>
            </a:r>
            <a:endParaRPr dirty="0"/>
          </a:p>
          <a:p>
            <a:pPr marL="914400" lvl="1" indent="-342900" algn="l"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Operating system</a:t>
            </a:r>
            <a:endParaRPr dirty="0"/>
          </a:p>
          <a:p>
            <a:pPr marL="914400" lvl="1" indent="-342900" algn="l"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Hardware</a:t>
            </a:r>
            <a:endParaRPr dirty="0"/>
          </a:p>
          <a:p>
            <a:pPr marL="457200" lvl="0" indent="-228600" algn="l" rtl="0">
              <a:lnSpc>
                <a:spcPct val="100000"/>
              </a:lnSpc>
              <a:spcBef>
                <a:spcPts val="360"/>
              </a:spcBef>
              <a:spcAft>
                <a:spcPts val="0"/>
              </a:spcAft>
              <a:buClr>
                <a:schemeClr val="dk1"/>
              </a:buClr>
              <a:buSzPts val="1800"/>
              <a:buNone/>
            </a:pPr>
            <a:endParaRPr sz="2000" dirty="0">
              <a:latin typeface="Times New Roman"/>
              <a:ea typeface="Times New Roman"/>
              <a:cs typeface="Times New Roman"/>
              <a:sym typeface="Times New Roman"/>
            </a:endParaRPr>
          </a:p>
        </p:txBody>
      </p:sp>
      <p:sp>
        <p:nvSpPr>
          <p:cNvPr id="77" name="Google Shape;7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pic>
        <p:nvPicPr>
          <p:cNvPr id="78" name="Google Shape;78;p6"/>
          <p:cNvPicPr preferRelativeResize="0"/>
          <p:nvPr/>
        </p:nvPicPr>
        <p:blipFill rotWithShape="1">
          <a:blip r:embed="rId3">
            <a:alphaModFix/>
          </a:blip>
          <a:srcRect l="6032" r="4790" b="9460"/>
          <a:stretch/>
        </p:blipFill>
        <p:spPr>
          <a:xfrm>
            <a:off x="1930400" y="3234188"/>
            <a:ext cx="5110480" cy="2588762"/>
          </a:xfrm>
          <a:prstGeom prst="rect">
            <a:avLst/>
          </a:prstGeom>
          <a:noFill/>
          <a:ln>
            <a:noFill/>
          </a:ln>
        </p:spPr>
      </p:pic>
      <p:sp>
        <p:nvSpPr>
          <p:cNvPr id="79" name="Google Shape;79;p6"/>
          <p:cNvSpPr txBox="1"/>
          <p:nvPr/>
        </p:nvSpPr>
        <p:spPr>
          <a:xfrm>
            <a:off x="1320800" y="6126480"/>
            <a:ext cx="673608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Figure 1. Conceptual View of Computer System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Cont…….</a:t>
            </a:r>
            <a:endParaRPr/>
          </a:p>
        </p:txBody>
      </p:sp>
      <p:sp>
        <p:nvSpPr>
          <p:cNvPr id="85" name="Google Shape;85;p7"/>
          <p:cNvSpPr txBox="1">
            <a:spLocks noGrp="1"/>
          </p:cNvSpPr>
          <p:nvPr>
            <p:ph type="body" idx="1"/>
          </p:nvPr>
        </p:nvSpPr>
        <p:spPr>
          <a:xfrm>
            <a:off x="337127" y="1186873"/>
            <a:ext cx="8229600" cy="5242560"/>
          </a:xfrm>
          <a:prstGeom prst="rect">
            <a:avLst/>
          </a:prstGeom>
          <a:noFill/>
          <a:ln>
            <a:noFill/>
          </a:ln>
        </p:spPr>
        <p:txBody>
          <a:bodyPr spcFirstLastPara="1" wrap="square" lIns="91425" tIns="45700" rIns="91425" bIns="45700" anchor="t" anchorCtr="0">
            <a:noAutofit/>
          </a:bodyPr>
          <a:lstStyle/>
          <a:p>
            <a:pPr marL="457200" lvl="0"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Every general-purpose computer consists of hardware, an operating system(s), system programs, and application programs. The hardware consists of memory, CPU, ALU, I/O devices, peripheral devices, and storage devices. The system program consists of compilers, loaders, editors, OS, etc. The application program consists of business programs and database programs. </a:t>
            </a:r>
            <a:endParaRPr sz="2000" dirty="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Every computer must have an operating system to run other programs. The operating system coordinates the use of the hardware among the various system programs and application programs for various users. It simply provides an environment within which other programs can do useful work. </a:t>
            </a:r>
            <a:endParaRPr dirty="0"/>
          </a:p>
          <a:p>
            <a:pPr marL="457200" lvl="0" indent="-342900" algn="just" rtl="0">
              <a:lnSpc>
                <a:spcPct val="100000"/>
              </a:lnSpc>
              <a:spcBef>
                <a:spcPts val="360"/>
              </a:spcBef>
              <a:spcAft>
                <a:spcPts val="0"/>
              </a:spcAft>
              <a:buSzPts val="1800"/>
              <a:buChar char="•"/>
            </a:pPr>
            <a:r>
              <a:rPr lang="en-US" sz="2000" dirty="0">
                <a:solidFill>
                  <a:schemeClr val="tx1"/>
                </a:solidFill>
                <a:latin typeface="Times New Roman"/>
                <a:ea typeface="Times New Roman"/>
                <a:cs typeface="Times New Roman"/>
                <a:sym typeface="Times New Roman"/>
              </a:rPr>
              <a:t>The operating system is a set of special programs that run on a computer system that allows it to work properly. It performs basic tasks such as recognizing input from the keyboard, keeping </a:t>
            </a:r>
            <a:r>
              <a:rPr lang="en-US" sz="2000" dirty="0">
                <a:latin typeface="Times New Roman"/>
                <a:ea typeface="Times New Roman"/>
                <a:cs typeface="Times New Roman"/>
                <a:sym typeface="Times New Roman"/>
              </a:rPr>
              <a:t>track of files and directories on the disk, sending output to the display screen, and controlling peripheral devices. </a:t>
            </a:r>
            <a:endParaRPr dirty="0"/>
          </a:p>
          <a:p>
            <a:pPr marL="457200" lvl="0" indent="-228600" algn="just" rtl="0">
              <a:lnSpc>
                <a:spcPct val="100000"/>
              </a:lnSpc>
              <a:spcBef>
                <a:spcPts val="360"/>
              </a:spcBef>
              <a:spcAft>
                <a:spcPts val="0"/>
              </a:spcAft>
              <a:buSzPts val="1800"/>
              <a:buNone/>
            </a:pPr>
            <a:endParaRPr sz="2000" dirty="0">
              <a:latin typeface="Times New Roman"/>
              <a:ea typeface="Times New Roman"/>
              <a:cs typeface="Times New Roman"/>
              <a:sym typeface="Times New Roman"/>
            </a:endParaRPr>
          </a:p>
        </p:txBody>
      </p:sp>
      <p:sp>
        <p:nvSpPr>
          <p:cNvPr id="86" name="Google Shape;86;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Single Processor System</a:t>
            </a:r>
            <a:endParaRPr/>
          </a:p>
        </p:txBody>
      </p:sp>
      <p:sp>
        <p:nvSpPr>
          <p:cNvPr id="107" name="Google Shape;107;p10"/>
          <p:cNvSpPr txBox="1">
            <a:spLocks noGrp="1"/>
          </p:cNvSpPr>
          <p:nvPr>
            <p:ph type="body" idx="1"/>
          </p:nvPr>
        </p:nvSpPr>
        <p:spPr>
          <a:xfrm>
            <a:off x="383308" y="1186873"/>
            <a:ext cx="8465127" cy="5169477"/>
          </a:xfrm>
          <a:prstGeom prst="rect">
            <a:avLst/>
          </a:prstGeom>
          <a:noFill/>
          <a:ln>
            <a:noFill/>
          </a:ln>
        </p:spPr>
        <p:txBody>
          <a:bodyPr spcFirstLastPara="1" wrap="square" lIns="91425" tIns="45700" rIns="91425" bIns="45700" anchor="t" anchorCtr="0">
            <a:noAutofit/>
          </a:bodyPr>
          <a:lstStyle/>
          <a:p>
            <a:pPr marL="457200" lvl="0" indent="-342900" algn="just" rtl="0">
              <a:lnSpc>
                <a:spcPct val="100000"/>
              </a:lnSpc>
              <a:spcBef>
                <a:spcPts val="360"/>
              </a:spcBef>
              <a:spcAft>
                <a:spcPts val="0"/>
              </a:spcAft>
              <a:buSzPts val="1800"/>
              <a:buChar char="•"/>
            </a:pPr>
            <a:r>
              <a:rPr lang="en-US" sz="2000" dirty="0">
                <a:solidFill>
                  <a:schemeClr val="tx1"/>
                </a:solidFill>
                <a:latin typeface="Times New Roman"/>
                <a:ea typeface="Times New Roman"/>
                <a:cs typeface="Times New Roman"/>
                <a:sym typeface="Times New Roman"/>
              </a:rPr>
              <a:t>A single processor system refers to a computer system that contains only one central processing unit (CPU) responsible for executing all tasks. It performs operations such as arithmetic, logic, control, and input/output (I/O) management in a sequential manner.</a:t>
            </a:r>
          </a:p>
          <a:p>
            <a:pPr marL="114300" lvl="0" indent="0" algn="just" rtl="0">
              <a:lnSpc>
                <a:spcPct val="100000"/>
              </a:lnSpc>
              <a:spcBef>
                <a:spcPts val="360"/>
              </a:spcBef>
              <a:spcAft>
                <a:spcPts val="0"/>
              </a:spcAft>
              <a:buSzPts val="1800"/>
              <a:buNone/>
            </a:pPr>
            <a:endParaRPr dirty="0"/>
          </a:p>
          <a:p>
            <a:pPr marL="114300" lvl="0" indent="0" algn="l" rtl="0">
              <a:lnSpc>
                <a:spcPct val="100000"/>
              </a:lnSpc>
              <a:spcBef>
                <a:spcPts val="360"/>
              </a:spcBef>
              <a:spcAft>
                <a:spcPts val="0"/>
              </a:spcAft>
              <a:buSzPts val="1800"/>
              <a:buNone/>
            </a:pPr>
            <a:r>
              <a:rPr lang="en-US" sz="2400" b="1" dirty="0"/>
              <a:t>Key Characteristics:</a:t>
            </a:r>
            <a:endParaRPr dirty="0"/>
          </a:p>
          <a:p>
            <a:pPr marL="457200" lvl="0" indent="-342900" algn="just" rtl="0">
              <a:lnSpc>
                <a:spcPct val="100000"/>
              </a:lnSpc>
              <a:spcBef>
                <a:spcPts val="360"/>
              </a:spcBef>
              <a:spcAft>
                <a:spcPts val="0"/>
              </a:spcAft>
              <a:buClr>
                <a:schemeClr val="dk1"/>
              </a:buClr>
              <a:buSzPts val="1800"/>
              <a:buChar char="•"/>
            </a:pPr>
            <a:r>
              <a:rPr lang="en-US" sz="2000" b="1" dirty="0"/>
              <a:t>Sequential Task Execution:</a:t>
            </a:r>
            <a:r>
              <a:rPr lang="en-US" sz="2000" dirty="0"/>
              <a:t> Only one task or instruction is executed at any given moment.</a:t>
            </a:r>
            <a:endParaRPr dirty="0"/>
          </a:p>
          <a:p>
            <a:pPr marL="457200" lvl="0" indent="-342900" algn="just" rtl="0">
              <a:lnSpc>
                <a:spcPct val="100000"/>
              </a:lnSpc>
              <a:spcBef>
                <a:spcPts val="360"/>
              </a:spcBef>
              <a:spcAft>
                <a:spcPts val="0"/>
              </a:spcAft>
              <a:buClr>
                <a:schemeClr val="dk1"/>
              </a:buClr>
              <a:buSzPts val="1800"/>
              <a:buChar char="•"/>
            </a:pPr>
            <a:r>
              <a:rPr lang="en-US" sz="2000" b="1" dirty="0"/>
              <a:t>Resource Management:</a:t>
            </a:r>
            <a:r>
              <a:rPr lang="en-US" sz="2000" dirty="0"/>
              <a:t> A single CPU manages all resources, including memory, storage, and I/O devices.</a:t>
            </a:r>
            <a:endParaRPr dirty="0"/>
          </a:p>
          <a:p>
            <a:pPr marL="457200" lvl="0" indent="-342900" algn="just" rtl="0">
              <a:lnSpc>
                <a:spcPct val="100000"/>
              </a:lnSpc>
              <a:spcBef>
                <a:spcPts val="360"/>
              </a:spcBef>
              <a:spcAft>
                <a:spcPts val="0"/>
              </a:spcAft>
              <a:buClr>
                <a:schemeClr val="dk1"/>
              </a:buClr>
              <a:buSzPts val="1800"/>
              <a:buChar char="•"/>
            </a:pPr>
            <a:r>
              <a:rPr lang="en-US" sz="2000" b="1" dirty="0"/>
              <a:t>Simplicity:</a:t>
            </a:r>
            <a:r>
              <a:rPr lang="en-US" sz="2000" dirty="0"/>
              <a:t> Design and implementation are straightforward compared to multi-processor systems.</a:t>
            </a:r>
            <a:endParaRPr dirty="0"/>
          </a:p>
          <a:p>
            <a:pPr marL="457200" lvl="0" indent="-342900" algn="just" rtl="0">
              <a:lnSpc>
                <a:spcPct val="100000"/>
              </a:lnSpc>
              <a:spcBef>
                <a:spcPts val="360"/>
              </a:spcBef>
              <a:spcAft>
                <a:spcPts val="0"/>
              </a:spcAft>
              <a:buClr>
                <a:schemeClr val="dk1"/>
              </a:buClr>
              <a:buSzPts val="1800"/>
              <a:buChar char="•"/>
            </a:pPr>
            <a:r>
              <a:rPr lang="en-US" sz="2000" b="1" dirty="0"/>
              <a:t>Performance:</a:t>
            </a:r>
            <a:r>
              <a:rPr lang="en-US" sz="2000" dirty="0"/>
              <a:t> Suitable for tasks that don't require high computational power or parallel processing.</a:t>
            </a:r>
            <a:endParaRPr dirty="0"/>
          </a:p>
          <a:p>
            <a:pPr marL="457200" lvl="0" indent="-228600" algn="just" rtl="0">
              <a:lnSpc>
                <a:spcPct val="100000"/>
              </a:lnSpc>
              <a:spcBef>
                <a:spcPts val="360"/>
              </a:spcBef>
              <a:spcAft>
                <a:spcPts val="0"/>
              </a:spcAft>
              <a:buSzPts val="1800"/>
              <a:buNone/>
            </a:pPr>
            <a:endParaRPr sz="2000" dirty="0">
              <a:latin typeface="Times New Roman"/>
              <a:ea typeface="Times New Roman"/>
              <a:cs typeface="Times New Roman"/>
              <a:sym typeface="Times New Roman"/>
            </a:endParaRPr>
          </a:p>
        </p:txBody>
      </p:sp>
      <p:sp>
        <p:nvSpPr>
          <p:cNvPr id="108" name="Google Shape;108;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4" name="Google Shape;114;p11"/>
          <p:cNvSpPr txBox="1">
            <a:spLocks noGrp="1"/>
          </p:cNvSpPr>
          <p:nvPr>
            <p:ph type="body" idx="1"/>
          </p:nvPr>
        </p:nvSpPr>
        <p:spPr>
          <a:xfrm>
            <a:off x="1255396" y="3262630"/>
            <a:ext cx="6166484" cy="406400"/>
          </a:xfrm>
          <a:prstGeom prst="rect">
            <a:avLst/>
          </a:prstGeom>
          <a:noFill/>
          <a:ln>
            <a:noFill/>
          </a:ln>
        </p:spPr>
        <p:txBody>
          <a:bodyPr spcFirstLastPara="1" wrap="square" lIns="91425" tIns="45700" rIns="91425" bIns="45700" anchor="t" anchorCtr="0">
            <a:noAutofit/>
          </a:bodyPr>
          <a:lstStyle/>
          <a:p>
            <a:pPr marL="114300" lvl="0" indent="0" algn="ctr" rtl="0">
              <a:lnSpc>
                <a:spcPct val="100000"/>
              </a:lnSpc>
              <a:spcBef>
                <a:spcPts val="0"/>
              </a:spcBef>
              <a:spcAft>
                <a:spcPts val="0"/>
              </a:spcAft>
              <a:buClr>
                <a:srgbClr val="000000"/>
              </a:buClr>
              <a:buSzPts val="1800"/>
              <a:buNone/>
            </a:pPr>
            <a:r>
              <a:rPr lang="en-US" sz="1400" dirty="0">
                <a:solidFill>
                  <a:srgbClr val="000000"/>
                </a:solidFill>
                <a:latin typeface="Arial"/>
                <a:ea typeface="Arial"/>
                <a:cs typeface="Arial"/>
                <a:sym typeface="Arial"/>
              </a:rPr>
              <a:t>Figure 2: Single-Processor operating system </a:t>
            </a:r>
            <a:endParaRPr sz="1400" dirty="0">
              <a:solidFill>
                <a:srgbClr val="000000"/>
              </a:solidFill>
              <a:latin typeface="Arial"/>
              <a:ea typeface="Arial"/>
              <a:cs typeface="Arial"/>
              <a:sym typeface="Arial"/>
            </a:endParaRPr>
          </a:p>
        </p:txBody>
      </p:sp>
      <p:sp>
        <p:nvSpPr>
          <p:cNvPr id="115" name="Google Shape;115;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pic>
        <p:nvPicPr>
          <p:cNvPr id="116" name="Google Shape;116;p11" descr="https://ars.els-cdn.com/content/image/3-s2.0-B9781555583224500059-f03-01-9781555583224.jpg"/>
          <p:cNvPicPr preferRelativeResize="0"/>
          <p:nvPr/>
        </p:nvPicPr>
        <p:blipFill rotWithShape="1">
          <a:blip r:embed="rId3">
            <a:alphaModFix/>
          </a:blip>
          <a:srcRect/>
          <a:stretch/>
        </p:blipFill>
        <p:spPr>
          <a:xfrm>
            <a:off x="1793240" y="900430"/>
            <a:ext cx="5628640" cy="2362200"/>
          </a:xfrm>
          <a:prstGeom prst="rect">
            <a:avLst/>
          </a:prstGeom>
          <a:noFill/>
          <a:ln>
            <a:noFill/>
          </a:ln>
        </p:spPr>
      </p:pic>
      <p:sp>
        <p:nvSpPr>
          <p:cNvPr id="117" name="Google Shape;117;p11"/>
          <p:cNvSpPr txBox="1"/>
          <p:nvPr/>
        </p:nvSpPr>
        <p:spPr>
          <a:xfrm>
            <a:off x="375920" y="3472458"/>
            <a:ext cx="8310880" cy="338554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dirty="0">
                <a:solidFill>
                  <a:srgbClr val="000000"/>
                </a:solidFill>
                <a:latin typeface="Times New Roman"/>
                <a:ea typeface="Times New Roman"/>
                <a:cs typeface="Times New Roman"/>
                <a:sym typeface="Times New Roman"/>
              </a:rPr>
              <a:t>The diagram typically includes:</a:t>
            </a:r>
            <a:endParaRPr dirty="0"/>
          </a:p>
          <a:p>
            <a:pPr marL="0" marR="0" lvl="0" indent="0" algn="l" rtl="0">
              <a:lnSpc>
                <a:spcPct val="100000"/>
              </a:lnSpc>
              <a:spcBef>
                <a:spcPts val="0"/>
              </a:spcBef>
              <a:spcAft>
                <a:spcPts val="0"/>
              </a:spcAft>
              <a:buNone/>
            </a:pPr>
            <a:endParaRPr sz="20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en-US" sz="2000" b="1" i="0" u="none" strike="noStrike" cap="none" dirty="0">
                <a:solidFill>
                  <a:srgbClr val="000000"/>
                </a:solidFill>
                <a:latin typeface="Times New Roman"/>
                <a:ea typeface="Times New Roman"/>
                <a:cs typeface="Times New Roman"/>
                <a:sym typeface="Times New Roman"/>
              </a:rPr>
              <a:t>Disk Controller:</a:t>
            </a:r>
            <a:r>
              <a:rPr lang="en-US" sz="2000" b="0" i="0" u="none" strike="noStrike" cap="none" dirty="0">
                <a:solidFill>
                  <a:srgbClr val="000000"/>
                </a:solidFill>
                <a:latin typeface="Times New Roman"/>
                <a:ea typeface="Times New Roman"/>
                <a:cs typeface="Times New Roman"/>
                <a:sym typeface="Times New Roman"/>
              </a:rPr>
              <a:t> The disk controller is a hardware component that manages the communication between the CPU and storage devices (e.g., hard drives or SSDs).</a:t>
            </a:r>
            <a:endParaRPr dirty="0"/>
          </a:p>
          <a:p>
            <a:pPr marL="0" marR="0" lvl="0" indent="0" algn="just" rtl="0">
              <a:lnSpc>
                <a:spcPct val="100000"/>
              </a:lnSpc>
              <a:spcBef>
                <a:spcPts val="0"/>
              </a:spcBef>
              <a:spcAft>
                <a:spcPts val="0"/>
              </a:spcAft>
              <a:buNone/>
            </a:pPr>
            <a:r>
              <a:rPr lang="en-US" sz="2000" b="1" i="0" u="none" strike="noStrike" cap="none" dirty="0">
                <a:solidFill>
                  <a:srgbClr val="000000"/>
                </a:solidFill>
                <a:latin typeface="Times New Roman"/>
                <a:ea typeface="Times New Roman"/>
                <a:cs typeface="Times New Roman"/>
                <a:sym typeface="Times New Roman"/>
              </a:rPr>
              <a:t>Memory (RAM):</a:t>
            </a:r>
            <a:r>
              <a:rPr lang="en-US" sz="2000" b="0" i="0" u="none" strike="noStrike" cap="none" dirty="0">
                <a:solidFill>
                  <a:srgbClr val="000000"/>
                </a:solidFill>
                <a:latin typeface="Times New Roman"/>
                <a:ea typeface="Times New Roman"/>
                <a:cs typeface="Times New Roman"/>
                <a:sym typeface="Times New Roman"/>
              </a:rPr>
              <a:t> Temporary storage for running applications and active processes.</a:t>
            </a:r>
            <a:endParaRPr dirty="0"/>
          </a:p>
          <a:p>
            <a:pPr marL="0" marR="0" lvl="0" indent="0" algn="just" rtl="0">
              <a:lnSpc>
                <a:spcPct val="100000"/>
              </a:lnSpc>
              <a:spcBef>
                <a:spcPts val="0"/>
              </a:spcBef>
              <a:spcAft>
                <a:spcPts val="0"/>
              </a:spcAft>
              <a:buNone/>
            </a:pPr>
            <a:r>
              <a:rPr lang="en-US" sz="2000" b="1" i="0" u="none" strike="noStrike" cap="none" dirty="0" err="1">
                <a:solidFill>
                  <a:srgbClr val="000000"/>
                </a:solidFill>
                <a:latin typeface="Times New Roman"/>
                <a:ea typeface="Times New Roman"/>
                <a:cs typeface="Times New Roman"/>
                <a:sym typeface="Times New Roman"/>
              </a:rPr>
              <a:t>Input/Output</a:t>
            </a:r>
            <a:r>
              <a:rPr lang="en-US" sz="2000" b="1" i="0" u="none" strike="noStrike" cap="none" dirty="0">
                <a:solidFill>
                  <a:srgbClr val="000000"/>
                </a:solidFill>
                <a:latin typeface="Times New Roman"/>
                <a:ea typeface="Times New Roman"/>
                <a:cs typeface="Times New Roman"/>
                <a:sym typeface="Times New Roman"/>
              </a:rPr>
              <a:t> Devices:</a:t>
            </a:r>
            <a:r>
              <a:rPr lang="en-US" sz="2000" b="0" i="0" u="none" strike="noStrike" cap="none" dirty="0">
                <a:solidFill>
                  <a:srgbClr val="000000"/>
                </a:solidFill>
                <a:latin typeface="Times New Roman"/>
                <a:ea typeface="Times New Roman"/>
                <a:cs typeface="Times New Roman"/>
                <a:sym typeface="Times New Roman"/>
              </a:rPr>
              <a:t> Devices like keyboards, monitors, and storage drives connected to the system.</a:t>
            </a:r>
            <a:endParaRPr dirty="0"/>
          </a:p>
          <a:p>
            <a:pPr marL="0" marR="0" lvl="0" indent="0" algn="just" rtl="0">
              <a:lnSpc>
                <a:spcPct val="100000"/>
              </a:lnSpc>
              <a:spcBef>
                <a:spcPts val="0"/>
              </a:spcBef>
              <a:spcAft>
                <a:spcPts val="0"/>
              </a:spcAft>
              <a:buNone/>
            </a:pPr>
            <a:r>
              <a:rPr lang="en-US" sz="2000" b="1" i="0" u="none" strike="noStrike" cap="none" dirty="0">
                <a:solidFill>
                  <a:srgbClr val="000000"/>
                </a:solidFill>
                <a:latin typeface="Times New Roman"/>
                <a:ea typeface="Times New Roman"/>
                <a:cs typeface="Times New Roman"/>
                <a:sym typeface="Times New Roman"/>
              </a:rPr>
              <a:t>Bus:</a:t>
            </a:r>
            <a:r>
              <a:rPr lang="en-US" sz="2000" b="0" i="0" u="none" strike="noStrike" cap="none" dirty="0">
                <a:solidFill>
                  <a:srgbClr val="000000"/>
                </a:solidFill>
                <a:latin typeface="Times New Roman"/>
                <a:ea typeface="Times New Roman"/>
                <a:cs typeface="Times New Roman"/>
                <a:sym typeface="Times New Roman"/>
              </a:rPr>
              <a:t> Communication channel connecting the CPU, memory, and I/O devices.</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Advantages of Single Processor Systems</a:t>
            </a:r>
            <a:endParaRPr/>
          </a:p>
        </p:txBody>
      </p:sp>
      <p:sp>
        <p:nvSpPr>
          <p:cNvPr id="123" name="Google Shape;12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
        <p:nvSpPr>
          <p:cNvPr id="124" name="Google Shape;124;p12"/>
          <p:cNvSpPr txBox="1">
            <a:spLocks noGrp="1"/>
          </p:cNvSpPr>
          <p:nvPr>
            <p:ph type="body" idx="1"/>
          </p:nvPr>
        </p:nvSpPr>
        <p:spPr>
          <a:xfrm>
            <a:off x="233681" y="1098701"/>
            <a:ext cx="8660937" cy="4401205"/>
          </a:xfrm>
          <a:prstGeom prst="rect">
            <a:avLst/>
          </a:prstGeom>
          <a:noFill/>
          <a:ln>
            <a:noFill/>
          </a:ln>
        </p:spPr>
        <p:txBody>
          <a:bodyPr spcFirstLastPara="1" wrap="square" lIns="91425" tIns="45700" rIns="91425" bIns="45700" anchor="ctr" anchorCtr="0">
            <a:spAutoFit/>
          </a:bodyPr>
          <a:lstStyle/>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Simplicity:</a:t>
            </a:r>
            <a:r>
              <a:rPr lang="en-US" sz="2000" b="0" i="0" u="none" strike="noStrike" cap="none" dirty="0">
                <a:solidFill>
                  <a:schemeClr val="dk1"/>
                </a:solidFill>
                <a:latin typeface="Times New Roman"/>
                <a:ea typeface="Times New Roman"/>
                <a:cs typeface="Times New Roman"/>
                <a:sym typeface="Times New Roman"/>
              </a:rPr>
              <a:t> Single processor systems are easier to design, implement, and maintain due to their straightforward architecture.</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Cost-Effective:</a:t>
            </a:r>
            <a:r>
              <a:rPr lang="en-US" sz="2000" b="0" i="0" u="none" strike="noStrike" cap="none" dirty="0">
                <a:solidFill>
                  <a:schemeClr val="dk1"/>
                </a:solidFill>
                <a:latin typeface="Times New Roman"/>
                <a:ea typeface="Times New Roman"/>
                <a:cs typeface="Times New Roman"/>
                <a:sym typeface="Times New Roman"/>
              </a:rPr>
              <a:t> They are typically less expensive than multi-processor systems, making them ideal for personal and small-scale applications.</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Power Efficiency:</a:t>
            </a:r>
            <a:r>
              <a:rPr lang="en-US" sz="2000" b="0" i="0" u="none" strike="noStrike" cap="none" dirty="0">
                <a:solidFill>
                  <a:schemeClr val="dk1"/>
                </a:solidFill>
                <a:latin typeface="Times New Roman"/>
                <a:ea typeface="Times New Roman"/>
                <a:cs typeface="Times New Roman"/>
                <a:sym typeface="Times New Roman"/>
              </a:rPr>
              <a:t> These systems consume less power compared to multi-processor systems, suitable for energy-constrained environments.</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Ease of Debugging:</a:t>
            </a:r>
            <a:r>
              <a:rPr lang="en-US" sz="2000" b="0" i="0" u="none" strike="noStrike" cap="none" dirty="0">
                <a:solidFill>
                  <a:schemeClr val="dk1"/>
                </a:solidFill>
                <a:latin typeface="Times New Roman"/>
                <a:ea typeface="Times New Roman"/>
                <a:cs typeface="Times New Roman"/>
                <a:sym typeface="Times New Roman"/>
              </a:rPr>
              <a:t> Debugging and troubleshooting are simpler because of the centralized control and absence of inter-processor communication.</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Low Latency:</a:t>
            </a:r>
            <a:r>
              <a:rPr lang="en-US" sz="2000" b="0" i="0" u="none" strike="noStrike" cap="none" dirty="0">
                <a:solidFill>
                  <a:schemeClr val="dk1"/>
                </a:solidFill>
                <a:latin typeface="Times New Roman"/>
                <a:ea typeface="Times New Roman"/>
                <a:cs typeface="Times New Roman"/>
                <a:sym typeface="Times New Roman"/>
              </a:rPr>
              <a:t> Single processor systems can process tasks without the overhead of managing communication between multiple processors</a:t>
            </a:r>
            <a:r>
              <a:rPr lang="en-US" sz="2000" b="0" i="0" u="none" strike="noStrike" cap="none" dirty="0">
                <a:solidFill>
                  <a:schemeClr val="dk1"/>
                </a:solidFill>
                <a:latin typeface="Arial"/>
                <a:ea typeface="Arial"/>
                <a:cs typeface="Arial"/>
                <a:sym typeface="Arial"/>
              </a:rPr>
              <a:t>. </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rtl="0">
              <a:lnSpc>
                <a:spcPct val="100000"/>
              </a:lnSpc>
              <a:spcBef>
                <a:spcPts val="0"/>
              </a:spcBef>
              <a:spcAft>
                <a:spcPts val="0"/>
              </a:spcAft>
              <a:buSzPts val="1400"/>
              <a:buNone/>
            </a:pPr>
            <a:r>
              <a:rPr lang="en-US" dirty="0">
                <a:latin typeface="+mj-lt"/>
              </a:rPr>
              <a:t>Disadvantages of Single Processor Systems</a:t>
            </a:r>
            <a:endParaRPr dirty="0">
              <a:latin typeface="+mj-lt"/>
            </a:endParaRPr>
          </a:p>
        </p:txBody>
      </p:sp>
      <p:sp>
        <p:nvSpPr>
          <p:cNvPr id="130" name="Google Shape;130;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
        <p:nvSpPr>
          <p:cNvPr id="131" name="Google Shape;131;p16"/>
          <p:cNvSpPr txBox="1">
            <a:spLocks noGrp="1"/>
          </p:cNvSpPr>
          <p:nvPr>
            <p:ph type="body" idx="1"/>
          </p:nvPr>
        </p:nvSpPr>
        <p:spPr>
          <a:xfrm>
            <a:off x="254000" y="1219132"/>
            <a:ext cx="8646160" cy="4708981"/>
          </a:xfrm>
          <a:prstGeom prst="rect">
            <a:avLst/>
          </a:prstGeom>
          <a:noFill/>
          <a:ln>
            <a:noFill/>
          </a:ln>
        </p:spPr>
        <p:txBody>
          <a:bodyPr spcFirstLastPara="1" wrap="square" lIns="91425" tIns="45700" rIns="91425" bIns="45700" anchor="ctr" anchorCtr="0">
            <a:spAutoFit/>
          </a:bodyPr>
          <a:lstStyle/>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Limited Performance:</a:t>
            </a:r>
            <a:r>
              <a:rPr lang="en-US" sz="2000" b="0" i="0" u="none" strike="noStrike" cap="none" dirty="0">
                <a:solidFill>
                  <a:schemeClr val="dk1"/>
                </a:solidFill>
                <a:latin typeface="Times New Roman"/>
                <a:ea typeface="Times New Roman"/>
                <a:cs typeface="Times New Roman"/>
                <a:sym typeface="Times New Roman"/>
              </a:rPr>
              <a:t> Single processors have limited computational capacity, making them unsuitable for high-performance or parallel-processing tasks.</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Scalability Issues:</a:t>
            </a:r>
            <a:r>
              <a:rPr lang="en-US" sz="2000" b="0" i="0" u="none" strike="noStrike" cap="none" dirty="0">
                <a:solidFill>
                  <a:schemeClr val="dk1"/>
                </a:solidFill>
                <a:latin typeface="Times New Roman"/>
                <a:ea typeface="Times New Roman"/>
                <a:cs typeface="Times New Roman"/>
                <a:sym typeface="Times New Roman"/>
              </a:rPr>
              <a:t> They cannot handle increased workloads effectively compared to multi-processor or distributed systems.</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Resource Contention:</a:t>
            </a:r>
            <a:r>
              <a:rPr lang="en-US" sz="2000" b="0" i="0" u="none" strike="noStrike" cap="none" dirty="0">
                <a:solidFill>
                  <a:schemeClr val="dk1"/>
                </a:solidFill>
                <a:latin typeface="Times New Roman"/>
                <a:ea typeface="Times New Roman"/>
                <a:cs typeface="Times New Roman"/>
                <a:sym typeface="Times New Roman"/>
              </a:rPr>
              <a:t> With one CPU, all tasks must share the same resources, leading to potential bottlenecks.</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Single Point of Failure:</a:t>
            </a:r>
            <a:r>
              <a:rPr lang="en-US" sz="2000" b="0" i="0" u="none" strike="noStrike" cap="none" dirty="0">
                <a:solidFill>
                  <a:schemeClr val="dk1"/>
                </a:solidFill>
                <a:latin typeface="Times New Roman"/>
                <a:ea typeface="Times New Roman"/>
                <a:cs typeface="Times New Roman"/>
                <a:sym typeface="Times New Roman"/>
              </a:rPr>
              <a:t> If the processor fails, the entire system becomes inoperable, unlike multi-processor systems with redundancy.</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Inability to Handle Concurrent Tasks:</a:t>
            </a:r>
            <a:r>
              <a:rPr lang="en-US" sz="2000" b="0" i="0" u="none" strike="noStrike" cap="none" dirty="0">
                <a:solidFill>
                  <a:schemeClr val="dk1"/>
                </a:solidFill>
                <a:latin typeface="Times New Roman"/>
                <a:ea typeface="Times New Roman"/>
                <a:cs typeface="Times New Roman"/>
                <a:sym typeface="Times New Roman"/>
              </a:rPr>
              <a:t> Multitasking relies on time-sharing rather than true parallelism, which can result in slower processing of simultaneous tasks. </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Applications</a:t>
            </a:r>
            <a:endParaRPr/>
          </a:p>
        </p:txBody>
      </p:sp>
      <p:sp>
        <p:nvSpPr>
          <p:cNvPr id="137" name="Google Shape;137;p17"/>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457200" lvl="0" indent="-342900" algn="just"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Single processor systems are commonly used in personal computers, small-scale servers, and embedded systems where performance demands are moderate, and cost-effectiveness is a priority.</a:t>
            </a:r>
            <a:endParaRPr sz="2000">
              <a:latin typeface="Times New Roman"/>
              <a:ea typeface="Times New Roman"/>
              <a:cs typeface="Times New Roman"/>
              <a:sym typeface="Times New Roman"/>
            </a:endParaRPr>
          </a:p>
        </p:txBody>
      </p:sp>
      <p:sp>
        <p:nvSpPr>
          <p:cNvPr id="138" name="Google Shape;138;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285750" lvl="0" indent="-285750" algn="l" rtl="0">
              <a:lnSpc>
                <a:spcPct val="150000"/>
              </a:lnSpc>
              <a:spcBef>
                <a:spcPts val="0"/>
              </a:spcBef>
              <a:spcAft>
                <a:spcPts val="0"/>
              </a:spcAft>
              <a:buSzPts val="1400"/>
              <a:buNone/>
            </a:pPr>
            <a:r>
              <a:rPr lang="en-US" sz="3200">
                <a:latin typeface="Times New Roman"/>
                <a:ea typeface="Times New Roman"/>
                <a:cs typeface="Times New Roman"/>
                <a:sym typeface="Times New Roman"/>
              </a:rPr>
              <a:t>Multiprocessor Systems</a:t>
            </a:r>
            <a:endParaRPr/>
          </a:p>
        </p:txBody>
      </p:sp>
      <p:sp>
        <p:nvSpPr>
          <p:cNvPr id="144" name="Google Shape;144;p18"/>
          <p:cNvSpPr txBox="1">
            <a:spLocks noGrp="1"/>
          </p:cNvSpPr>
          <p:nvPr>
            <p:ph type="body" idx="1"/>
          </p:nvPr>
        </p:nvSpPr>
        <p:spPr>
          <a:xfrm>
            <a:off x="457200" y="1131454"/>
            <a:ext cx="8229600" cy="4525963"/>
          </a:xfrm>
          <a:prstGeom prst="rect">
            <a:avLst/>
          </a:prstGeom>
          <a:noFill/>
          <a:ln>
            <a:noFill/>
          </a:ln>
        </p:spPr>
        <p:txBody>
          <a:bodyPr spcFirstLastPara="1" wrap="square" lIns="91425" tIns="45700" rIns="91425" bIns="45700" anchor="t" anchorCtr="0">
            <a:noAutofit/>
          </a:bodyPr>
          <a:lstStyle/>
          <a:p>
            <a:pPr marL="457200" lvl="0"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A multiprocessor operating system supports a system with multiple CPUs working together to perform tasks. These systems are designed to manage and coordinate the CPUs efficiently, ensuring optimized use of resources, improved performance, and fault tolerance.</a:t>
            </a:r>
            <a:endParaRPr dirty="0"/>
          </a:p>
          <a:p>
            <a:pPr marL="114300" lvl="0" indent="0" algn="just" rtl="0">
              <a:lnSpc>
                <a:spcPct val="100000"/>
              </a:lnSpc>
              <a:spcBef>
                <a:spcPts val="360"/>
              </a:spcBef>
              <a:spcAft>
                <a:spcPts val="0"/>
              </a:spcAft>
              <a:buSzPts val="1800"/>
              <a:buNone/>
            </a:pPr>
            <a:endParaRPr sz="2000" dirty="0">
              <a:latin typeface="Times New Roman"/>
              <a:ea typeface="Times New Roman"/>
              <a:cs typeface="Times New Roman"/>
              <a:sym typeface="Times New Roman"/>
            </a:endParaRPr>
          </a:p>
        </p:txBody>
      </p:sp>
      <p:sp>
        <p:nvSpPr>
          <p:cNvPr id="145" name="Google Shape;145;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pic>
        <p:nvPicPr>
          <p:cNvPr id="146" name="Google Shape;146;p18" descr="Working of Multiprocessing Operating System"/>
          <p:cNvPicPr preferRelativeResize="0"/>
          <p:nvPr/>
        </p:nvPicPr>
        <p:blipFill rotWithShape="1">
          <a:blip r:embed="rId3">
            <a:alphaModFix/>
          </a:blip>
          <a:srcRect/>
          <a:stretch/>
        </p:blipFill>
        <p:spPr>
          <a:xfrm>
            <a:off x="1665922" y="3002597"/>
            <a:ext cx="6604318" cy="2239963"/>
          </a:xfrm>
          <a:prstGeom prst="rect">
            <a:avLst/>
          </a:prstGeom>
          <a:noFill/>
          <a:ln>
            <a:noFill/>
          </a:ln>
        </p:spPr>
      </p:pic>
      <p:sp>
        <p:nvSpPr>
          <p:cNvPr id="147" name="Google Shape;147;p18"/>
          <p:cNvSpPr txBox="1"/>
          <p:nvPr/>
        </p:nvSpPr>
        <p:spPr>
          <a:xfrm>
            <a:off x="1016000" y="5416173"/>
            <a:ext cx="751840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Figure 3: Working of Multiprocessing Operating System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9"/>
          <p:cNvSpPr txBox="1">
            <a:spLocks noGrp="1"/>
          </p:cNvSpPr>
          <p:nvPr>
            <p:ph type="title"/>
          </p:nvPr>
        </p:nvSpPr>
        <p:spPr>
          <a:xfrm>
            <a:off x="0" y="254000"/>
            <a:ext cx="6477000" cy="248920"/>
          </a:xfrm>
          <a:prstGeom prst="rect">
            <a:avLst/>
          </a:prstGeom>
          <a:noFill/>
          <a:ln>
            <a:noFill/>
          </a:ln>
        </p:spPr>
        <p:txBody>
          <a:bodyPr spcFirstLastPara="1" wrap="square" lIns="91425" tIns="45700" rIns="91425" bIns="45700" anchor="ctr" anchorCtr="0">
            <a:noAutofit/>
          </a:bodyPr>
          <a:lstStyle/>
          <a:p>
            <a:pPr marL="285750" lvl="0" indent="-285750" algn="l" rtl="0">
              <a:lnSpc>
                <a:spcPct val="100000"/>
              </a:lnSpc>
              <a:spcBef>
                <a:spcPts val="0"/>
              </a:spcBef>
              <a:spcAft>
                <a:spcPts val="0"/>
              </a:spcAft>
              <a:buSzPts val="1400"/>
              <a:buNone/>
            </a:pPr>
            <a:r>
              <a:rPr lang="en-US" sz="3200">
                <a:latin typeface="Times New Roman"/>
                <a:ea typeface="Times New Roman"/>
                <a:cs typeface="Times New Roman"/>
                <a:sym typeface="Times New Roman"/>
              </a:rPr>
              <a:t>Working of Multi-Processing System</a:t>
            </a:r>
            <a:endParaRPr sz="3200">
              <a:latin typeface="Times New Roman"/>
              <a:ea typeface="Times New Roman"/>
              <a:cs typeface="Times New Roman"/>
              <a:sym typeface="Times New Roman"/>
            </a:endParaRPr>
          </a:p>
        </p:txBody>
      </p:sp>
      <p:sp>
        <p:nvSpPr>
          <p:cNvPr id="153" name="Google Shape;153;p19"/>
          <p:cNvSpPr txBox="1">
            <a:spLocks noGrp="1"/>
          </p:cNvSpPr>
          <p:nvPr>
            <p:ph type="body" idx="1"/>
          </p:nvPr>
        </p:nvSpPr>
        <p:spPr>
          <a:xfrm>
            <a:off x="457200" y="1186872"/>
            <a:ext cx="8229600" cy="4525963"/>
          </a:xfrm>
          <a:prstGeom prst="rect">
            <a:avLst/>
          </a:prstGeom>
          <a:noFill/>
          <a:ln>
            <a:noFill/>
          </a:ln>
        </p:spPr>
        <p:txBody>
          <a:bodyPr spcFirstLastPara="1" wrap="square" lIns="91425" tIns="45700" rIns="91425" bIns="45700" anchor="t" anchorCtr="0">
            <a:noAutofit/>
          </a:bodyPr>
          <a:lstStyle/>
          <a:p>
            <a:pPr marL="457200" lvl="0"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Multi-processing operating system consists of multiple CPUs. Each CPU is connected to the main memory.</a:t>
            </a:r>
            <a:endParaRPr dirty="0"/>
          </a:p>
          <a:p>
            <a:pPr marL="457200" lvl="0"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The task to be performed id divided among all the processors.</a:t>
            </a:r>
            <a:endParaRPr dirty="0"/>
          </a:p>
          <a:p>
            <a:pPr marL="457200" lvl="0"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For faster execution and improved performance, each processor is assigned a specific task.</a:t>
            </a:r>
            <a:endParaRPr dirty="0"/>
          </a:p>
          <a:p>
            <a:pPr marL="457200" lvl="0"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Once all the tasks of each processor are completed they are compiled together in order to produce a single output.</a:t>
            </a:r>
            <a:endParaRPr dirty="0"/>
          </a:p>
          <a:p>
            <a:pPr marL="457200" lvl="0"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The allocation of resources for each processor is handled by the operating system. This process results in better utilization of the available resources and improved performance.</a:t>
            </a:r>
            <a:endParaRPr dirty="0"/>
          </a:p>
        </p:txBody>
      </p:sp>
      <p:sp>
        <p:nvSpPr>
          <p:cNvPr id="154" name="Google Shape;154;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Key Features of Multiprocessor OS Systems</a:t>
            </a:r>
            <a:endParaRPr/>
          </a:p>
        </p:txBody>
      </p:sp>
      <p:sp>
        <p:nvSpPr>
          <p:cNvPr id="160" name="Google Shape;160;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
        <p:nvSpPr>
          <p:cNvPr id="161" name="Google Shape;161;p20"/>
          <p:cNvSpPr txBox="1">
            <a:spLocks noGrp="1"/>
          </p:cNvSpPr>
          <p:nvPr>
            <p:ph type="body" idx="1"/>
          </p:nvPr>
        </p:nvSpPr>
        <p:spPr>
          <a:xfrm>
            <a:off x="172719" y="1017421"/>
            <a:ext cx="8648007" cy="4401205"/>
          </a:xfrm>
          <a:prstGeom prst="rect">
            <a:avLst/>
          </a:prstGeom>
          <a:noFill/>
          <a:ln>
            <a:noFill/>
          </a:ln>
        </p:spPr>
        <p:txBody>
          <a:bodyPr spcFirstLastPara="1" wrap="square" lIns="91425" tIns="45700" rIns="91425" bIns="45700" anchor="ctr" anchorCtr="0">
            <a:spAutoFit/>
          </a:bodyPr>
          <a:lstStyle/>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Symmetric Multiprocessing (SMP):</a:t>
            </a:r>
            <a:r>
              <a:rPr lang="en-US" sz="2000" b="0" i="0" u="none" strike="noStrike" cap="none" dirty="0">
                <a:solidFill>
                  <a:schemeClr val="dk1"/>
                </a:solidFill>
                <a:latin typeface="Times New Roman"/>
                <a:ea typeface="Times New Roman"/>
                <a:cs typeface="Times New Roman"/>
                <a:sym typeface="Times New Roman"/>
              </a:rPr>
              <a:t> All processors share the same memory and are treated equally by the OS.</a:t>
            </a:r>
            <a:endParaRPr dirty="0"/>
          </a:p>
          <a:p>
            <a:pPr marL="0" marR="0" lvl="0" indent="0" algn="just" rtl="0">
              <a:lnSpc>
                <a:spcPct val="100000"/>
              </a:lnSpc>
              <a:spcBef>
                <a:spcPts val="0"/>
              </a:spcBef>
              <a:spcAft>
                <a:spcPts val="0"/>
              </a:spcAft>
              <a:buClr>
                <a:schemeClr val="dk1"/>
              </a:buClr>
              <a:buSzPts val="2000"/>
              <a:buFont typeface="Calibri"/>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Asymmetric Multiprocessing (AMP):</a:t>
            </a:r>
            <a:r>
              <a:rPr lang="en-US" sz="2000" b="0" i="0" u="none" strike="noStrike" cap="none" dirty="0">
                <a:solidFill>
                  <a:schemeClr val="dk1"/>
                </a:solidFill>
                <a:latin typeface="Times New Roman"/>
                <a:ea typeface="Times New Roman"/>
                <a:cs typeface="Times New Roman"/>
                <a:sym typeface="Times New Roman"/>
              </a:rPr>
              <a:t> Processors are assigned specific tasks, with one acting as a master to control the others.</a:t>
            </a:r>
            <a:br>
              <a:rPr lang="en-US" sz="2000" b="0" i="0" u="none" strike="noStrike" cap="none" dirty="0">
                <a:solidFill>
                  <a:schemeClr val="dk1"/>
                </a:solidFill>
                <a:latin typeface="Times New Roman"/>
                <a:ea typeface="Times New Roman"/>
                <a:cs typeface="Times New Roman"/>
                <a:sym typeface="Times New Roman"/>
              </a:rPr>
            </a:b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Concurrency:</a:t>
            </a:r>
            <a:r>
              <a:rPr lang="en-US" sz="2000" b="0" i="0" u="none" strike="noStrike" cap="none" dirty="0">
                <a:solidFill>
                  <a:schemeClr val="dk1"/>
                </a:solidFill>
                <a:latin typeface="Times New Roman"/>
                <a:ea typeface="Times New Roman"/>
                <a:cs typeface="Times New Roman"/>
                <a:sym typeface="Times New Roman"/>
              </a:rPr>
              <a:t> Ability to execute multiple processes simultaneously by distributing workloads across processors.</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Shared Memory Access:</a:t>
            </a:r>
            <a:r>
              <a:rPr lang="en-US" sz="2000" b="0" i="0" u="none" strike="noStrike" cap="none" dirty="0">
                <a:solidFill>
                  <a:schemeClr val="dk1"/>
                </a:solidFill>
                <a:latin typeface="Times New Roman"/>
                <a:ea typeface="Times New Roman"/>
                <a:cs typeface="Times New Roman"/>
                <a:sym typeface="Times New Roman"/>
              </a:rPr>
              <a:t> Processors access a common memory space, enabling communication and synchronization.</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Load Balancing:</a:t>
            </a:r>
            <a:r>
              <a:rPr lang="en-US" sz="2000" b="0" i="0" u="none" strike="noStrike" cap="none" dirty="0">
                <a:solidFill>
                  <a:schemeClr val="dk1"/>
                </a:solidFill>
                <a:latin typeface="Times New Roman"/>
                <a:ea typeface="Times New Roman"/>
                <a:cs typeface="Times New Roman"/>
                <a:sym typeface="Times New Roman"/>
              </a:rPr>
              <a:t> The OS distributes tasks evenly among processors to avoid overloading any single CPU. </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rtl="0">
              <a:lnSpc>
                <a:spcPct val="100000"/>
              </a:lnSpc>
              <a:spcBef>
                <a:spcPts val="0"/>
              </a:spcBef>
              <a:spcAft>
                <a:spcPts val="0"/>
              </a:spcAft>
              <a:buSzPts val="1400"/>
              <a:buNone/>
            </a:pPr>
            <a:r>
              <a:rPr lang="en-US" dirty="0"/>
              <a:t>Advantages of Multiprocessor OS Systems</a:t>
            </a:r>
            <a:endParaRPr dirty="0"/>
          </a:p>
        </p:txBody>
      </p:sp>
      <p:sp>
        <p:nvSpPr>
          <p:cNvPr id="167" name="Google Shape;167;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
        <p:nvSpPr>
          <p:cNvPr id="168" name="Google Shape;168;p21"/>
          <p:cNvSpPr txBox="1">
            <a:spLocks noGrp="1"/>
          </p:cNvSpPr>
          <p:nvPr>
            <p:ph type="body" idx="1"/>
          </p:nvPr>
        </p:nvSpPr>
        <p:spPr>
          <a:xfrm>
            <a:off x="172720" y="1139341"/>
            <a:ext cx="8814262" cy="4401205"/>
          </a:xfrm>
          <a:prstGeom prst="rect">
            <a:avLst/>
          </a:prstGeom>
          <a:noFill/>
          <a:ln>
            <a:noFill/>
          </a:ln>
        </p:spPr>
        <p:txBody>
          <a:bodyPr spcFirstLastPara="1" wrap="square" lIns="91425" tIns="45700" rIns="91425" bIns="45700" anchor="ctr" anchorCtr="0">
            <a:spAutoFit/>
          </a:bodyPr>
          <a:lstStyle/>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Improved Performance:</a:t>
            </a:r>
            <a:r>
              <a:rPr lang="en-US" sz="2000" b="0" i="0" u="none" strike="noStrike" cap="none" dirty="0">
                <a:solidFill>
                  <a:schemeClr val="dk1"/>
                </a:solidFill>
                <a:latin typeface="Times New Roman"/>
                <a:ea typeface="Times New Roman"/>
                <a:cs typeface="Times New Roman"/>
                <a:sym typeface="Times New Roman"/>
              </a:rPr>
              <a:t> Tasks are divided among processors, reducing execution time and enhancing throughput.</a:t>
            </a:r>
            <a:endParaRPr dirty="0"/>
          </a:p>
          <a:p>
            <a:pPr marL="0" marR="0" lvl="0" indent="0" algn="just" rtl="0">
              <a:lnSpc>
                <a:spcPct val="100000"/>
              </a:lnSpc>
              <a:spcBef>
                <a:spcPts val="0"/>
              </a:spcBef>
              <a:spcAft>
                <a:spcPts val="0"/>
              </a:spcAft>
              <a:buClr>
                <a:schemeClr val="dk1"/>
              </a:buClr>
              <a:buSzPts val="2000"/>
              <a:buFont typeface="Calibri"/>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Fault Tolerance:</a:t>
            </a:r>
            <a:r>
              <a:rPr lang="en-US" sz="2000" b="0" i="0" u="none" strike="noStrike" cap="none" dirty="0">
                <a:solidFill>
                  <a:schemeClr val="dk1"/>
                </a:solidFill>
                <a:latin typeface="Times New Roman"/>
                <a:ea typeface="Times New Roman"/>
                <a:cs typeface="Times New Roman"/>
                <a:sym typeface="Times New Roman"/>
              </a:rPr>
              <a:t> If one processor fails, the system can continue functioning with the remaining processors.</a:t>
            </a:r>
            <a:endParaRPr dirty="0"/>
          </a:p>
          <a:p>
            <a:pPr marL="0" marR="0" lvl="0" indent="0" algn="just" rtl="0">
              <a:lnSpc>
                <a:spcPct val="100000"/>
              </a:lnSpc>
              <a:spcBef>
                <a:spcPts val="0"/>
              </a:spcBef>
              <a:spcAft>
                <a:spcPts val="0"/>
              </a:spcAft>
              <a:buClr>
                <a:schemeClr val="dk1"/>
              </a:buClr>
              <a:buSzPts val="2000"/>
              <a:buFont typeface="Calibri"/>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Scalability:</a:t>
            </a:r>
            <a:r>
              <a:rPr lang="en-US" sz="2000" b="0" i="0" u="none" strike="noStrike" cap="none" dirty="0">
                <a:solidFill>
                  <a:schemeClr val="dk1"/>
                </a:solidFill>
                <a:latin typeface="Times New Roman"/>
                <a:ea typeface="Times New Roman"/>
                <a:cs typeface="Times New Roman"/>
                <a:sym typeface="Times New Roman"/>
              </a:rPr>
              <a:t> Additional processors can be added to improve performance as the workload grows.</a:t>
            </a:r>
            <a:endParaRPr dirty="0"/>
          </a:p>
          <a:p>
            <a:pPr marL="0" marR="0" lvl="0" indent="0" algn="just" rtl="0">
              <a:lnSpc>
                <a:spcPct val="100000"/>
              </a:lnSpc>
              <a:spcBef>
                <a:spcPts val="0"/>
              </a:spcBef>
              <a:spcAft>
                <a:spcPts val="0"/>
              </a:spcAft>
              <a:buClr>
                <a:schemeClr val="dk1"/>
              </a:buClr>
              <a:buSzPts val="2000"/>
              <a:buFont typeface="Calibri"/>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True Parallel Processing:</a:t>
            </a:r>
            <a:r>
              <a:rPr lang="en-US" sz="2000" b="0" i="0" u="none" strike="noStrike" cap="none" dirty="0">
                <a:solidFill>
                  <a:schemeClr val="dk1"/>
                </a:solidFill>
                <a:latin typeface="Times New Roman"/>
                <a:ea typeface="Times New Roman"/>
                <a:cs typeface="Times New Roman"/>
                <a:sym typeface="Times New Roman"/>
              </a:rPr>
              <a:t> Enables simultaneous execution of multiple tasks, suitable for compute-intensive applications.</a:t>
            </a:r>
            <a:endParaRPr dirty="0"/>
          </a:p>
          <a:p>
            <a:pPr marL="0" marR="0" lvl="0" indent="0" algn="just" rtl="0">
              <a:lnSpc>
                <a:spcPct val="100000"/>
              </a:lnSpc>
              <a:spcBef>
                <a:spcPts val="0"/>
              </a:spcBef>
              <a:spcAft>
                <a:spcPts val="0"/>
              </a:spcAft>
              <a:buClr>
                <a:schemeClr val="dk1"/>
              </a:buClr>
              <a:buSzPts val="2000"/>
              <a:buFont typeface="Calibri"/>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Resource Sharing:</a:t>
            </a:r>
            <a:r>
              <a:rPr lang="en-US" sz="2000" b="0" i="0" u="none" strike="noStrike" cap="none" dirty="0">
                <a:solidFill>
                  <a:schemeClr val="dk1"/>
                </a:solidFill>
                <a:latin typeface="Times New Roman"/>
                <a:ea typeface="Times New Roman"/>
                <a:cs typeface="Times New Roman"/>
                <a:sym typeface="Times New Roman"/>
              </a:rPr>
              <a:t> Shared memory allows efficient resource utilization and inter-process communication. </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rtl="0">
              <a:lnSpc>
                <a:spcPct val="100000"/>
              </a:lnSpc>
              <a:spcBef>
                <a:spcPts val="0"/>
              </a:spcBef>
              <a:spcAft>
                <a:spcPts val="0"/>
              </a:spcAft>
              <a:buSzPts val="1400"/>
              <a:buNone/>
            </a:pPr>
            <a:r>
              <a:rPr lang="en-US" dirty="0"/>
              <a:t>Disadvantages of Multiprocessor OS Systems</a:t>
            </a:r>
            <a:endParaRPr dirty="0"/>
          </a:p>
        </p:txBody>
      </p:sp>
      <p:sp>
        <p:nvSpPr>
          <p:cNvPr id="174" name="Google Shape;174;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
        <p:nvSpPr>
          <p:cNvPr id="175" name="Google Shape;175;p22"/>
          <p:cNvSpPr txBox="1">
            <a:spLocks noGrp="1"/>
          </p:cNvSpPr>
          <p:nvPr>
            <p:ph type="body" idx="1"/>
          </p:nvPr>
        </p:nvSpPr>
        <p:spPr>
          <a:xfrm>
            <a:off x="244762" y="1147654"/>
            <a:ext cx="8603673" cy="4401205"/>
          </a:xfrm>
          <a:prstGeom prst="rect">
            <a:avLst/>
          </a:prstGeom>
          <a:noFill/>
          <a:ln>
            <a:noFill/>
          </a:ln>
        </p:spPr>
        <p:txBody>
          <a:bodyPr spcFirstLastPara="1" wrap="square" lIns="91425" tIns="45700" rIns="91425" bIns="45700" anchor="ctr" anchorCtr="0">
            <a:spAutoFit/>
          </a:bodyPr>
          <a:lstStyle/>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Complexity:</a:t>
            </a:r>
            <a:r>
              <a:rPr lang="en-US" sz="2000" b="0" i="0" u="none" strike="noStrike" cap="none" dirty="0">
                <a:solidFill>
                  <a:schemeClr val="dk1"/>
                </a:solidFill>
                <a:latin typeface="Times New Roman"/>
                <a:ea typeface="Times New Roman"/>
                <a:cs typeface="Times New Roman"/>
                <a:sym typeface="Times New Roman"/>
              </a:rPr>
              <a:t> Designing and managing multiprocessor systems is more challenging than single-processor systems.</a:t>
            </a:r>
            <a:endParaRPr dirty="0"/>
          </a:p>
          <a:p>
            <a:pPr marL="0" marR="0" lvl="0" indent="0" algn="just" rtl="0">
              <a:lnSpc>
                <a:spcPct val="100000"/>
              </a:lnSpc>
              <a:spcBef>
                <a:spcPts val="0"/>
              </a:spcBef>
              <a:spcAft>
                <a:spcPts val="0"/>
              </a:spcAft>
              <a:buClr>
                <a:schemeClr val="dk1"/>
              </a:buClr>
              <a:buSzPts val="2000"/>
              <a:buFont typeface="Calibri"/>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Cost:</a:t>
            </a:r>
            <a:r>
              <a:rPr lang="en-US" sz="2000" b="0" i="0" u="none" strike="noStrike" cap="none" dirty="0">
                <a:solidFill>
                  <a:schemeClr val="dk1"/>
                </a:solidFill>
                <a:latin typeface="Times New Roman"/>
                <a:ea typeface="Times New Roman"/>
                <a:cs typeface="Times New Roman"/>
                <a:sym typeface="Times New Roman"/>
              </a:rPr>
              <a:t> Multiprocessor systems are expensive due to additional hardware and software complexity.</a:t>
            </a:r>
            <a:endParaRPr dirty="0"/>
          </a:p>
          <a:p>
            <a:pPr marL="0" marR="0" lvl="0" indent="0" algn="just" rtl="0">
              <a:lnSpc>
                <a:spcPct val="100000"/>
              </a:lnSpc>
              <a:spcBef>
                <a:spcPts val="0"/>
              </a:spcBef>
              <a:spcAft>
                <a:spcPts val="0"/>
              </a:spcAft>
              <a:buClr>
                <a:schemeClr val="dk1"/>
              </a:buClr>
              <a:buSzPts val="2000"/>
              <a:buFont typeface="Calibri"/>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Synchronization Issues:</a:t>
            </a:r>
            <a:r>
              <a:rPr lang="en-US" sz="2000" b="0" i="0" u="none" strike="noStrike" cap="none" dirty="0">
                <a:solidFill>
                  <a:schemeClr val="dk1"/>
                </a:solidFill>
                <a:latin typeface="Times New Roman"/>
                <a:ea typeface="Times New Roman"/>
                <a:cs typeface="Times New Roman"/>
                <a:sym typeface="Times New Roman"/>
              </a:rPr>
              <a:t> Shared memory and resource access can lead to contention and require complex synchronization mechanisms.</a:t>
            </a:r>
            <a:endParaRPr dirty="0"/>
          </a:p>
          <a:p>
            <a:pPr marL="0" marR="0" lvl="0" indent="0" algn="just" rtl="0">
              <a:lnSpc>
                <a:spcPct val="100000"/>
              </a:lnSpc>
              <a:spcBef>
                <a:spcPts val="0"/>
              </a:spcBef>
              <a:spcAft>
                <a:spcPts val="0"/>
              </a:spcAft>
              <a:buClr>
                <a:schemeClr val="dk1"/>
              </a:buClr>
              <a:buSzPts val="2000"/>
              <a:buFont typeface="Calibri"/>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Overhead:</a:t>
            </a:r>
            <a:r>
              <a:rPr lang="en-US" sz="2000" b="0" i="0" u="none" strike="noStrike" cap="none" dirty="0">
                <a:solidFill>
                  <a:schemeClr val="dk1"/>
                </a:solidFill>
                <a:latin typeface="Times New Roman"/>
                <a:ea typeface="Times New Roman"/>
                <a:cs typeface="Times New Roman"/>
                <a:sym typeface="Times New Roman"/>
              </a:rPr>
              <a:t> Communication between processors can add overhead, reducing efficiency in some scenarios.</a:t>
            </a:r>
            <a:endParaRPr dirty="0"/>
          </a:p>
          <a:p>
            <a:pPr marL="0" marR="0" lvl="0" indent="0" algn="just" rtl="0">
              <a:lnSpc>
                <a:spcPct val="100000"/>
              </a:lnSpc>
              <a:spcBef>
                <a:spcPts val="0"/>
              </a:spcBef>
              <a:spcAft>
                <a:spcPts val="0"/>
              </a:spcAft>
              <a:buClr>
                <a:schemeClr val="dk1"/>
              </a:buClr>
              <a:buSzPts val="2000"/>
              <a:buFont typeface="Calibri"/>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Dependency on Software:</a:t>
            </a:r>
            <a:r>
              <a:rPr lang="en-US" sz="2000" b="0" i="0" u="none" strike="noStrike" cap="none" dirty="0">
                <a:solidFill>
                  <a:schemeClr val="dk1"/>
                </a:solidFill>
                <a:latin typeface="Times New Roman"/>
                <a:ea typeface="Times New Roman"/>
                <a:cs typeface="Times New Roman"/>
                <a:sym typeface="Times New Roman"/>
              </a:rPr>
              <a:t> Performance gains depend on the software being optimized for parallel execution. </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rtl="0">
              <a:lnSpc>
                <a:spcPct val="100000"/>
              </a:lnSpc>
              <a:spcBef>
                <a:spcPts val="0"/>
              </a:spcBef>
              <a:spcAft>
                <a:spcPts val="0"/>
              </a:spcAft>
              <a:buSzPts val="1400"/>
              <a:buNone/>
            </a:pPr>
            <a:r>
              <a:rPr lang="en-US" dirty="0"/>
              <a:t>Applications of Multiprocessor OS Systems</a:t>
            </a:r>
            <a:endParaRPr dirty="0"/>
          </a:p>
        </p:txBody>
      </p:sp>
      <p:sp>
        <p:nvSpPr>
          <p:cNvPr id="181" name="Google Shape;181;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sp>
        <p:nvSpPr>
          <p:cNvPr id="182" name="Google Shape;182;p23"/>
          <p:cNvSpPr txBox="1">
            <a:spLocks noGrp="1"/>
          </p:cNvSpPr>
          <p:nvPr>
            <p:ph type="body" idx="1"/>
          </p:nvPr>
        </p:nvSpPr>
        <p:spPr>
          <a:xfrm>
            <a:off x="235527" y="1101472"/>
            <a:ext cx="8631382" cy="4401205"/>
          </a:xfrm>
          <a:prstGeom prst="rect">
            <a:avLst/>
          </a:prstGeom>
          <a:noFill/>
          <a:ln>
            <a:noFill/>
          </a:ln>
        </p:spPr>
        <p:txBody>
          <a:bodyPr spcFirstLastPara="1" wrap="square" lIns="91425" tIns="45700" rIns="91425" bIns="45700" anchor="ctr" anchorCtr="0">
            <a:spAutoFit/>
          </a:bodyPr>
          <a:lstStyle/>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High-Performance Computing (HPC):</a:t>
            </a:r>
            <a:r>
              <a:rPr lang="en-US" sz="2000" b="0" i="0" u="none" strike="noStrike" cap="none" dirty="0">
                <a:solidFill>
                  <a:schemeClr val="dk1"/>
                </a:solidFill>
                <a:latin typeface="Times New Roman"/>
                <a:ea typeface="Times New Roman"/>
                <a:cs typeface="Times New Roman"/>
                <a:sym typeface="Times New Roman"/>
              </a:rPr>
              <a:t> Used in supercomputers for scientific research, simulations, and complex computations.</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Data Centers:</a:t>
            </a:r>
            <a:r>
              <a:rPr lang="en-US" sz="2000" b="0" i="0" u="none" strike="noStrike" cap="none" dirty="0">
                <a:solidFill>
                  <a:schemeClr val="dk1"/>
                </a:solidFill>
                <a:latin typeface="Times New Roman"/>
                <a:ea typeface="Times New Roman"/>
                <a:cs typeface="Times New Roman"/>
                <a:sym typeface="Times New Roman"/>
              </a:rPr>
              <a:t> Multiprocessor systems power servers handling large-scale web services, databases, and cloud computing.</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Gaming Consoles:</a:t>
            </a:r>
            <a:r>
              <a:rPr lang="en-US" sz="2000" b="0" i="0" u="none" strike="noStrike" cap="none" dirty="0">
                <a:solidFill>
                  <a:schemeClr val="dk1"/>
                </a:solidFill>
                <a:latin typeface="Times New Roman"/>
                <a:ea typeface="Times New Roman"/>
                <a:cs typeface="Times New Roman"/>
                <a:sym typeface="Times New Roman"/>
              </a:rPr>
              <a:t> Modern gaming consoles use multiprocessor systems for rendering high-quality graphics and gameplay.</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AI and Machine Learning:</a:t>
            </a:r>
            <a:r>
              <a:rPr lang="en-US" sz="2000" b="0" i="0" u="none" strike="noStrike" cap="none" dirty="0">
                <a:solidFill>
                  <a:schemeClr val="dk1"/>
                </a:solidFill>
                <a:latin typeface="Times New Roman"/>
                <a:ea typeface="Times New Roman"/>
                <a:cs typeface="Times New Roman"/>
                <a:sym typeface="Times New Roman"/>
              </a:rPr>
              <a:t> Used to accelerate training and inference tasks in deep learning models.</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Real-Time Systems:</a:t>
            </a:r>
            <a:r>
              <a:rPr lang="en-US" sz="2000" b="0" i="0" u="none" strike="noStrike" cap="none" dirty="0">
                <a:solidFill>
                  <a:schemeClr val="dk1"/>
                </a:solidFill>
                <a:latin typeface="Times New Roman"/>
                <a:ea typeface="Times New Roman"/>
                <a:cs typeface="Times New Roman"/>
                <a:sym typeface="Times New Roman"/>
              </a:rPr>
              <a:t> Found in automotive and industrial control systems requiring high reliability and quick responses. </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285750" lvl="0" indent="-285750" algn="l" rtl="0">
              <a:lnSpc>
                <a:spcPct val="150000"/>
              </a:lnSpc>
              <a:spcBef>
                <a:spcPts val="0"/>
              </a:spcBef>
              <a:spcAft>
                <a:spcPts val="0"/>
              </a:spcAft>
              <a:buSzPts val="1400"/>
              <a:buNone/>
            </a:pPr>
            <a:r>
              <a:rPr lang="en-US" sz="3200">
                <a:latin typeface="Times New Roman"/>
                <a:ea typeface="Times New Roman"/>
                <a:cs typeface="Times New Roman"/>
                <a:sym typeface="Times New Roman"/>
              </a:rPr>
              <a:t>Clustered Systems</a:t>
            </a:r>
            <a:endParaRPr/>
          </a:p>
        </p:txBody>
      </p:sp>
      <p:sp>
        <p:nvSpPr>
          <p:cNvPr id="188" name="Google Shape;188;p24"/>
          <p:cNvSpPr txBox="1">
            <a:spLocks noGrp="1"/>
          </p:cNvSpPr>
          <p:nvPr>
            <p:ph type="body" idx="1"/>
          </p:nvPr>
        </p:nvSpPr>
        <p:spPr>
          <a:xfrm>
            <a:off x="457200" y="1371601"/>
            <a:ext cx="8229600" cy="1432560"/>
          </a:xfrm>
          <a:prstGeom prst="rect">
            <a:avLst/>
          </a:prstGeom>
          <a:noFill/>
          <a:ln>
            <a:noFill/>
          </a:ln>
        </p:spPr>
        <p:txBody>
          <a:bodyPr spcFirstLastPara="1" wrap="square" lIns="91425" tIns="45700" rIns="91425" bIns="45700" anchor="t" anchorCtr="0">
            <a:noAutofit/>
          </a:bodyPr>
          <a:lstStyle/>
          <a:p>
            <a:pPr marL="457200" lvl="0" indent="-342900" algn="just"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Clustered operating systems are designed to manage and coordinate multiple computers (or nodes) working together as a unified system. These systems use clusters of interconnected machines to achieve high availability, scalability, and performance.</a:t>
            </a:r>
            <a:endParaRPr/>
          </a:p>
          <a:p>
            <a:pPr marL="457200" lvl="0" indent="-228600" algn="just" rtl="0">
              <a:lnSpc>
                <a:spcPct val="100000"/>
              </a:lnSpc>
              <a:spcBef>
                <a:spcPts val="360"/>
              </a:spcBef>
              <a:spcAft>
                <a:spcPts val="0"/>
              </a:spcAft>
              <a:buSzPts val="1800"/>
              <a:buNone/>
            </a:pPr>
            <a:endParaRPr sz="2000">
              <a:latin typeface="Times New Roman"/>
              <a:ea typeface="Times New Roman"/>
              <a:cs typeface="Times New Roman"/>
              <a:sym typeface="Times New Roman"/>
            </a:endParaRPr>
          </a:p>
        </p:txBody>
      </p:sp>
      <p:sp>
        <p:nvSpPr>
          <p:cNvPr id="189" name="Google Shape;189;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sp>
        <p:nvSpPr>
          <p:cNvPr id="190" name="Google Shape;190;p24" descr="Representation of clustered operating system"/>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191" name="Google Shape;191;p24" descr="https://media.geeksforgeeks.org/wp-content/uploads/20210528183232/Clustered-300x259.png"/>
          <p:cNvPicPr preferRelativeResize="0"/>
          <p:nvPr/>
        </p:nvPicPr>
        <p:blipFill rotWithShape="1">
          <a:blip r:embed="rId3">
            <a:alphaModFix/>
          </a:blip>
          <a:srcRect/>
          <a:stretch/>
        </p:blipFill>
        <p:spPr>
          <a:xfrm>
            <a:off x="2665094" y="2804161"/>
            <a:ext cx="4355465" cy="2466975"/>
          </a:xfrm>
          <a:prstGeom prst="rect">
            <a:avLst/>
          </a:prstGeom>
          <a:noFill/>
          <a:ln>
            <a:noFill/>
          </a:ln>
        </p:spPr>
      </p:pic>
      <p:sp>
        <p:nvSpPr>
          <p:cNvPr id="192" name="Google Shape;192;p24"/>
          <p:cNvSpPr txBox="1"/>
          <p:nvPr/>
        </p:nvSpPr>
        <p:spPr>
          <a:xfrm>
            <a:off x="965200" y="5537200"/>
            <a:ext cx="759968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Figure 4: Clustered Operating System</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Key Features of Clustered OS</a:t>
            </a:r>
            <a:endParaRPr/>
          </a:p>
        </p:txBody>
      </p:sp>
      <p:sp>
        <p:nvSpPr>
          <p:cNvPr id="198" name="Google Shape;198;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20</a:t>
            </a:fld>
            <a:endParaRPr/>
          </a:p>
        </p:txBody>
      </p:sp>
      <p:sp>
        <p:nvSpPr>
          <p:cNvPr id="199" name="Google Shape;199;p25"/>
          <p:cNvSpPr txBox="1">
            <a:spLocks noGrp="1"/>
          </p:cNvSpPr>
          <p:nvPr>
            <p:ph type="body" idx="1"/>
          </p:nvPr>
        </p:nvSpPr>
        <p:spPr>
          <a:xfrm>
            <a:off x="295564" y="818427"/>
            <a:ext cx="8515927" cy="5632311"/>
          </a:xfrm>
          <a:prstGeom prst="rect">
            <a:avLst/>
          </a:prstGeom>
          <a:noFill/>
          <a:ln>
            <a:noFill/>
          </a:ln>
        </p:spPr>
        <p:txBody>
          <a:bodyPr spcFirstLastPara="1" wrap="square" lIns="91425" tIns="45700" rIns="91425" bIns="45700" anchor="ctr" anchorCtr="0">
            <a:spAutoFit/>
          </a:bodyPr>
          <a:lstStyle/>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Node-Based Architecture:</a:t>
            </a:r>
            <a:r>
              <a:rPr lang="en-US" sz="2000" b="0" i="0" u="none" strike="noStrike" cap="none" dirty="0">
                <a:solidFill>
                  <a:schemeClr val="dk1"/>
                </a:solidFill>
                <a:latin typeface="Times New Roman"/>
                <a:ea typeface="Times New Roman"/>
                <a:cs typeface="Times New Roman"/>
                <a:sym typeface="Times New Roman"/>
              </a:rPr>
              <a:t> Multiple computers, or nodes, are connected to form a cluster. Each node runs its own OS but is coordinated to act as a single unit.</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High Availability:</a:t>
            </a:r>
            <a:r>
              <a:rPr lang="en-US" sz="2000" b="0" i="0" u="none" strike="noStrike" cap="none" dirty="0">
                <a:solidFill>
                  <a:schemeClr val="dk1"/>
                </a:solidFill>
                <a:latin typeface="Times New Roman"/>
                <a:ea typeface="Times New Roman"/>
                <a:cs typeface="Times New Roman"/>
                <a:sym typeface="Times New Roman"/>
              </a:rPr>
              <a:t> If one node fails, others in the cluster take over, ensuring uninterrupted service.</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Scalability:</a:t>
            </a:r>
            <a:r>
              <a:rPr lang="en-US" sz="2000" b="0" i="0" u="none" strike="noStrike" cap="none" dirty="0">
                <a:solidFill>
                  <a:schemeClr val="dk1"/>
                </a:solidFill>
                <a:latin typeface="Times New Roman"/>
                <a:ea typeface="Times New Roman"/>
                <a:cs typeface="Times New Roman"/>
                <a:sym typeface="Times New Roman"/>
              </a:rPr>
              <a:t> Nodes can be added or removed as needed, making it easier to handle growing workloads.</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Load Balancing:</a:t>
            </a:r>
            <a:r>
              <a:rPr lang="en-US" sz="2000" b="0" i="0" u="none" strike="noStrike" cap="none" dirty="0">
                <a:solidFill>
                  <a:schemeClr val="dk1"/>
                </a:solidFill>
                <a:latin typeface="Times New Roman"/>
                <a:ea typeface="Times New Roman"/>
                <a:cs typeface="Times New Roman"/>
                <a:sym typeface="Times New Roman"/>
              </a:rPr>
              <a:t> Tasks are distributed across nodes to prevent any single node from being overwhelmed.</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Redundancy:</a:t>
            </a:r>
            <a:r>
              <a:rPr lang="en-US" sz="2000" b="0" i="0" u="none" strike="noStrike" cap="none" dirty="0">
                <a:solidFill>
                  <a:schemeClr val="dk1"/>
                </a:solidFill>
                <a:latin typeface="Times New Roman"/>
                <a:ea typeface="Times New Roman"/>
                <a:cs typeface="Times New Roman"/>
                <a:sym typeface="Times New Roman"/>
              </a:rPr>
              <a:t> Data and processes are replicated across nodes to prevent data loss and enable fault tolerance.</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Interconnect Network:</a:t>
            </a:r>
            <a:r>
              <a:rPr lang="en-US" sz="2000" b="0" i="0" u="none" strike="noStrike" cap="none" dirty="0">
                <a:solidFill>
                  <a:schemeClr val="dk1"/>
                </a:solidFill>
                <a:latin typeface="Times New Roman"/>
                <a:ea typeface="Times New Roman"/>
                <a:cs typeface="Times New Roman"/>
                <a:sym typeface="Times New Roman"/>
              </a:rPr>
              <a:t> Nodes communicate through high-speed networks such as Ethernet or </a:t>
            </a:r>
            <a:r>
              <a:rPr lang="en-US" sz="2000" b="0" i="0" u="none" strike="noStrike" cap="none" dirty="0" err="1">
                <a:solidFill>
                  <a:schemeClr val="dk1"/>
                </a:solidFill>
                <a:latin typeface="Times New Roman"/>
                <a:ea typeface="Times New Roman"/>
                <a:cs typeface="Times New Roman"/>
                <a:sym typeface="Times New Roman"/>
              </a:rPr>
              <a:t>InfiniBand</a:t>
            </a:r>
            <a:r>
              <a:rPr lang="en-US" sz="2000" b="0" i="0" u="none" strike="noStrike" cap="none" dirty="0">
                <a:solidFill>
                  <a:schemeClr val="dk1"/>
                </a:solidFill>
                <a:latin typeface="Times New Roman"/>
                <a:ea typeface="Times New Roman"/>
                <a:cs typeface="Times New Roman"/>
                <a:sym typeface="Times New Roman"/>
              </a:rPr>
              <a:t>. </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Types of Clustered OS</a:t>
            </a:r>
            <a:endParaRPr/>
          </a:p>
        </p:txBody>
      </p:sp>
      <p:sp>
        <p:nvSpPr>
          <p:cNvPr id="205" name="Google Shape;205;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21</a:t>
            </a:fld>
            <a:endParaRPr/>
          </a:p>
        </p:txBody>
      </p:sp>
      <p:sp>
        <p:nvSpPr>
          <p:cNvPr id="206" name="Google Shape;206;p26"/>
          <p:cNvSpPr txBox="1">
            <a:spLocks noGrp="1"/>
          </p:cNvSpPr>
          <p:nvPr>
            <p:ph type="body" idx="1"/>
          </p:nvPr>
        </p:nvSpPr>
        <p:spPr>
          <a:xfrm>
            <a:off x="225972" y="1222193"/>
            <a:ext cx="8460828" cy="2554545"/>
          </a:xfrm>
          <a:prstGeom prst="rect">
            <a:avLst/>
          </a:prstGeom>
          <a:noFill/>
          <a:ln>
            <a:noFill/>
          </a:ln>
        </p:spPr>
        <p:txBody>
          <a:bodyPr spcFirstLastPara="1" wrap="square" lIns="91425" tIns="45700" rIns="91425" bIns="45700" anchor="ctr" anchorCtr="0">
            <a:spAutoFit/>
          </a:bodyPr>
          <a:lstStyle/>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High-Performance Clusters (HPC):</a:t>
            </a:r>
            <a:r>
              <a:rPr lang="en-US" sz="2000" b="0" i="0" u="none" strike="noStrike" cap="none" dirty="0">
                <a:solidFill>
                  <a:schemeClr val="dk1"/>
                </a:solidFill>
                <a:latin typeface="Times New Roman"/>
                <a:ea typeface="Times New Roman"/>
                <a:cs typeface="Times New Roman"/>
                <a:sym typeface="Times New Roman"/>
              </a:rPr>
              <a:t> Designed for computationally intensive tasks, such as simulations and scientific research.</a:t>
            </a:r>
            <a:endParaRPr dirty="0"/>
          </a:p>
          <a:p>
            <a:pPr marL="0" marR="0" lvl="0" indent="0" algn="just" rtl="0">
              <a:lnSpc>
                <a:spcPct val="100000"/>
              </a:lnSpc>
              <a:spcBef>
                <a:spcPts val="0"/>
              </a:spcBef>
              <a:spcAft>
                <a:spcPts val="0"/>
              </a:spcAft>
              <a:buClr>
                <a:schemeClr val="dk1"/>
              </a:buClr>
              <a:buSzPts val="2000"/>
              <a:buFont typeface="Calibri"/>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High-Availability Clusters (HA):</a:t>
            </a:r>
            <a:r>
              <a:rPr lang="en-US" sz="2000" b="0" i="0" u="none" strike="noStrike" cap="none" dirty="0">
                <a:solidFill>
                  <a:schemeClr val="dk1"/>
                </a:solidFill>
                <a:latin typeface="Times New Roman"/>
                <a:ea typeface="Times New Roman"/>
                <a:cs typeface="Times New Roman"/>
                <a:sym typeface="Times New Roman"/>
              </a:rPr>
              <a:t> Focused on ensuring uptime and reliability, often used for critical applications like databases.</a:t>
            </a:r>
            <a:endParaRPr dirty="0"/>
          </a:p>
          <a:p>
            <a:pPr marL="0" marR="0" lvl="0" indent="0" algn="just" rtl="0">
              <a:lnSpc>
                <a:spcPct val="100000"/>
              </a:lnSpc>
              <a:spcBef>
                <a:spcPts val="0"/>
              </a:spcBef>
              <a:spcAft>
                <a:spcPts val="0"/>
              </a:spcAft>
              <a:buClr>
                <a:schemeClr val="dk1"/>
              </a:buClr>
              <a:buSzPts val="2000"/>
              <a:buFont typeface="Calibri"/>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Load-Balancing Clusters:</a:t>
            </a:r>
            <a:r>
              <a:rPr lang="en-US" sz="2000" b="0" i="0" u="none" strike="noStrike" cap="none" dirty="0">
                <a:solidFill>
                  <a:schemeClr val="dk1"/>
                </a:solidFill>
                <a:latin typeface="Times New Roman"/>
                <a:ea typeface="Times New Roman"/>
                <a:cs typeface="Times New Roman"/>
                <a:sym typeface="Times New Roman"/>
              </a:rPr>
              <a:t> Distribute workloads among nodes for improved performance, common in web services. </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Advantages of Clustered OS </a:t>
            </a:r>
            <a:endParaRPr/>
          </a:p>
        </p:txBody>
      </p:sp>
      <p:sp>
        <p:nvSpPr>
          <p:cNvPr id="212" name="Google Shape;212;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22</a:t>
            </a:fld>
            <a:endParaRPr/>
          </a:p>
        </p:txBody>
      </p:sp>
      <p:sp>
        <p:nvSpPr>
          <p:cNvPr id="213" name="Google Shape;213;p27"/>
          <p:cNvSpPr txBox="1">
            <a:spLocks noGrp="1"/>
          </p:cNvSpPr>
          <p:nvPr>
            <p:ph type="body" idx="1"/>
          </p:nvPr>
        </p:nvSpPr>
        <p:spPr>
          <a:xfrm>
            <a:off x="204952" y="1251558"/>
            <a:ext cx="8717375" cy="4093388"/>
          </a:xfrm>
          <a:prstGeom prst="rect">
            <a:avLst/>
          </a:prstGeom>
          <a:noFill/>
          <a:ln>
            <a:noFill/>
          </a:ln>
        </p:spPr>
        <p:txBody>
          <a:bodyPr spcFirstLastPara="1" wrap="square" lIns="91425" tIns="45700" rIns="91425" bIns="45700" anchor="ctr" anchorCtr="0">
            <a:spAutoFit/>
          </a:bodyPr>
          <a:lstStyle/>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Fault Tolerance:</a:t>
            </a:r>
            <a:r>
              <a:rPr lang="en-US" sz="2000" b="0" i="0" u="none" strike="noStrike" cap="none" dirty="0">
                <a:solidFill>
                  <a:schemeClr val="dk1"/>
                </a:solidFill>
                <a:latin typeface="Times New Roman"/>
                <a:ea typeface="Times New Roman"/>
                <a:cs typeface="Times New Roman"/>
                <a:sym typeface="Times New Roman"/>
              </a:rPr>
              <a:t> Redundant nodes ensure continuous service even in case of hardware or software failure.</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Scalability:</a:t>
            </a:r>
            <a:r>
              <a:rPr lang="en-US" sz="2000" b="0" i="0" u="none" strike="noStrike" cap="none" dirty="0">
                <a:solidFill>
                  <a:schemeClr val="dk1"/>
                </a:solidFill>
                <a:latin typeface="Times New Roman"/>
                <a:ea typeface="Times New Roman"/>
                <a:cs typeface="Times New Roman"/>
                <a:sym typeface="Times New Roman"/>
              </a:rPr>
              <a:t> Nodes can be easily added to accommodate increased workloads.</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Improved Performance:</a:t>
            </a:r>
            <a:r>
              <a:rPr lang="en-US" sz="2000" b="0" i="0" u="none" strike="noStrike" cap="none" dirty="0">
                <a:solidFill>
                  <a:schemeClr val="dk1"/>
                </a:solidFill>
                <a:latin typeface="Times New Roman"/>
                <a:ea typeface="Times New Roman"/>
                <a:cs typeface="Times New Roman"/>
                <a:sym typeface="Times New Roman"/>
              </a:rPr>
              <a:t> Tasks are divided among multiple nodes, enhancing processing power and speed.</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Cost-Effective:</a:t>
            </a:r>
            <a:r>
              <a:rPr lang="en-US" sz="2000" b="0" i="0" u="none" strike="noStrike" cap="none" dirty="0">
                <a:solidFill>
                  <a:schemeClr val="dk1"/>
                </a:solidFill>
                <a:latin typeface="Times New Roman"/>
                <a:ea typeface="Times New Roman"/>
                <a:cs typeface="Times New Roman"/>
                <a:sym typeface="Times New Roman"/>
              </a:rPr>
              <a:t> Using commodity hardware reduces costs compared to building supercomputers.</a:t>
            </a:r>
            <a:endParaRPr dirty="0"/>
          </a:p>
          <a:p>
            <a:pPr marL="0" marR="0" lvl="0" indent="0" algn="just" rtl="0">
              <a:lnSpc>
                <a:spcPct val="100000"/>
              </a:lnSpc>
              <a:spcBef>
                <a:spcPts val="0"/>
              </a:spcBef>
              <a:spcAft>
                <a:spcPts val="0"/>
              </a:spcAft>
              <a:buClr>
                <a:schemeClr val="dk1"/>
              </a:buClr>
              <a:buSzPts val="2000"/>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Flexibility:</a:t>
            </a:r>
            <a:r>
              <a:rPr lang="en-US" sz="2000" b="0" i="0" u="none" strike="noStrike" cap="none" dirty="0">
                <a:solidFill>
                  <a:schemeClr val="dk1"/>
                </a:solidFill>
                <a:latin typeface="Times New Roman"/>
                <a:ea typeface="Times New Roman"/>
                <a:cs typeface="Times New Roman"/>
                <a:sym typeface="Times New Roman"/>
              </a:rPr>
              <a:t> Nodes can be configured and reconfigured based on the application’s requirements. </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Disadvantages of Clustered OS</a:t>
            </a:r>
            <a:endParaRPr/>
          </a:p>
        </p:txBody>
      </p:sp>
      <p:sp>
        <p:nvSpPr>
          <p:cNvPr id="219" name="Google Shape;219;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23</a:t>
            </a:fld>
            <a:endParaRPr/>
          </a:p>
        </p:txBody>
      </p:sp>
      <p:sp>
        <p:nvSpPr>
          <p:cNvPr id="220" name="Google Shape;220;p28"/>
          <p:cNvSpPr txBox="1">
            <a:spLocks noGrp="1"/>
          </p:cNvSpPr>
          <p:nvPr>
            <p:ph type="body" idx="1"/>
          </p:nvPr>
        </p:nvSpPr>
        <p:spPr>
          <a:xfrm>
            <a:off x="120869" y="1265024"/>
            <a:ext cx="8782985" cy="3477875"/>
          </a:xfrm>
          <a:prstGeom prst="rect">
            <a:avLst/>
          </a:prstGeom>
          <a:noFill/>
          <a:ln>
            <a:noFill/>
          </a:ln>
        </p:spPr>
        <p:txBody>
          <a:bodyPr spcFirstLastPara="1" wrap="square" lIns="91425" tIns="45700" rIns="91425" bIns="45700" anchor="ctr" anchorCtr="0">
            <a:spAutoFit/>
          </a:bodyPr>
          <a:lstStyle/>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Complex Management:</a:t>
            </a:r>
            <a:r>
              <a:rPr lang="en-US" sz="2000" b="0" i="0" u="none" strike="noStrike" cap="none" dirty="0">
                <a:solidFill>
                  <a:schemeClr val="dk1"/>
                </a:solidFill>
                <a:latin typeface="Times New Roman"/>
                <a:ea typeface="Times New Roman"/>
                <a:cs typeface="Times New Roman"/>
                <a:sym typeface="Times New Roman"/>
              </a:rPr>
              <a:t> Managing and configuring clusters can be challenging, especially as the number of nodes increases.</a:t>
            </a:r>
            <a:endParaRPr dirty="0"/>
          </a:p>
          <a:p>
            <a:pPr marL="0" marR="0" lvl="0" indent="0" algn="just" rtl="0">
              <a:lnSpc>
                <a:spcPct val="100000"/>
              </a:lnSpc>
              <a:spcBef>
                <a:spcPts val="0"/>
              </a:spcBef>
              <a:spcAft>
                <a:spcPts val="0"/>
              </a:spcAft>
              <a:buClr>
                <a:schemeClr val="dk1"/>
              </a:buClr>
              <a:buSzPts val="2000"/>
              <a:buFont typeface="Calibri"/>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Cost of Setup:</a:t>
            </a:r>
            <a:r>
              <a:rPr lang="en-US" sz="2000" b="0" i="0" u="none" strike="noStrike" cap="none" dirty="0">
                <a:solidFill>
                  <a:schemeClr val="dk1"/>
                </a:solidFill>
                <a:latin typeface="Times New Roman"/>
                <a:ea typeface="Times New Roman"/>
                <a:cs typeface="Times New Roman"/>
                <a:sym typeface="Times New Roman"/>
              </a:rPr>
              <a:t> Requires high-speed networks and specialized software, which can be expensive.</a:t>
            </a:r>
            <a:endParaRPr dirty="0"/>
          </a:p>
          <a:p>
            <a:pPr marL="0" marR="0" lvl="0" indent="0" algn="just" rtl="0">
              <a:lnSpc>
                <a:spcPct val="100000"/>
              </a:lnSpc>
              <a:spcBef>
                <a:spcPts val="0"/>
              </a:spcBef>
              <a:spcAft>
                <a:spcPts val="0"/>
              </a:spcAft>
              <a:buClr>
                <a:schemeClr val="dk1"/>
              </a:buClr>
              <a:buSzPts val="2000"/>
              <a:buFont typeface="Calibri"/>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Synchronization Overhead:</a:t>
            </a:r>
            <a:r>
              <a:rPr lang="en-US" sz="2000" b="0" i="0" u="none" strike="noStrike" cap="none" dirty="0">
                <a:solidFill>
                  <a:schemeClr val="dk1"/>
                </a:solidFill>
                <a:latin typeface="Times New Roman"/>
                <a:ea typeface="Times New Roman"/>
                <a:cs typeface="Times New Roman"/>
                <a:sym typeface="Times New Roman"/>
              </a:rPr>
              <a:t> Ensuring consistency across nodes can introduce latency.</a:t>
            </a:r>
            <a:endParaRPr dirty="0"/>
          </a:p>
          <a:p>
            <a:pPr marL="0" marR="0" lvl="0" indent="0" algn="just" rtl="0">
              <a:lnSpc>
                <a:spcPct val="100000"/>
              </a:lnSpc>
              <a:spcBef>
                <a:spcPts val="0"/>
              </a:spcBef>
              <a:spcAft>
                <a:spcPts val="0"/>
              </a:spcAft>
              <a:buClr>
                <a:schemeClr val="dk1"/>
              </a:buClr>
              <a:buSzPts val="2000"/>
              <a:buFont typeface="Calibri"/>
              <a:buNone/>
            </a:pPr>
            <a:endParaRPr sz="2000" b="0" i="0" u="none" strike="noStrike" cap="none" dirty="0">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dirty="0">
                <a:solidFill>
                  <a:schemeClr val="dk1"/>
                </a:solidFill>
                <a:latin typeface="Times New Roman"/>
                <a:ea typeface="Times New Roman"/>
                <a:cs typeface="Times New Roman"/>
                <a:sym typeface="Times New Roman"/>
              </a:rPr>
              <a:t>Dependency on Interconnects:</a:t>
            </a:r>
            <a:r>
              <a:rPr lang="en-US" sz="2000" b="0" i="0" u="none" strike="noStrike" cap="none" dirty="0">
                <a:solidFill>
                  <a:schemeClr val="dk1"/>
                </a:solidFill>
                <a:latin typeface="Times New Roman"/>
                <a:ea typeface="Times New Roman"/>
                <a:cs typeface="Times New Roman"/>
                <a:sym typeface="Times New Roman"/>
              </a:rPr>
              <a:t> Performance heavily depends on the speed and reliability of the interconnect network. </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Applications of Clustered OS</a:t>
            </a:r>
            <a:endParaRPr/>
          </a:p>
        </p:txBody>
      </p:sp>
      <p:sp>
        <p:nvSpPr>
          <p:cNvPr id="226" name="Google Shape;226;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24</a:t>
            </a:fld>
            <a:endParaRPr/>
          </a:p>
        </p:txBody>
      </p:sp>
      <p:sp>
        <p:nvSpPr>
          <p:cNvPr id="227" name="Google Shape;227;p29"/>
          <p:cNvSpPr txBox="1">
            <a:spLocks noGrp="1"/>
          </p:cNvSpPr>
          <p:nvPr>
            <p:ph type="body" idx="1"/>
          </p:nvPr>
        </p:nvSpPr>
        <p:spPr>
          <a:xfrm>
            <a:off x="204952" y="1055608"/>
            <a:ext cx="8623738" cy="4401205"/>
          </a:xfrm>
          <a:prstGeom prst="rect">
            <a:avLst/>
          </a:prstGeom>
          <a:noFill/>
          <a:ln>
            <a:noFill/>
          </a:ln>
        </p:spPr>
        <p:txBody>
          <a:bodyPr spcFirstLastPara="1" wrap="square" lIns="91425" tIns="45700" rIns="91425" bIns="45700" anchor="ctr" anchorCtr="0">
            <a:spAutoFit/>
          </a:bodyPr>
          <a:lstStyle/>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a:solidFill>
                  <a:schemeClr val="dk1"/>
                </a:solidFill>
                <a:latin typeface="Times New Roman"/>
                <a:ea typeface="Times New Roman"/>
                <a:cs typeface="Times New Roman"/>
                <a:sym typeface="Times New Roman"/>
              </a:rPr>
              <a:t>Data Centers:</a:t>
            </a:r>
            <a:r>
              <a:rPr lang="en-US" sz="2000" b="0" i="0" u="none" strike="noStrike" cap="none">
                <a:solidFill>
                  <a:schemeClr val="dk1"/>
                </a:solidFill>
                <a:latin typeface="Times New Roman"/>
                <a:ea typeface="Times New Roman"/>
                <a:cs typeface="Times New Roman"/>
                <a:sym typeface="Times New Roman"/>
              </a:rPr>
              <a:t> Used for hosting cloud services and handling large-scale data processing.</a:t>
            </a:r>
            <a:endParaRPr/>
          </a:p>
          <a:p>
            <a:pPr marL="0" marR="0" lvl="0" indent="0" algn="just" rtl="0">
              <a:lnSpc>
                <a:spcPct val="100000"/>
              </a:lnSpc>
              <a:spcBef>
                <a:spcPts val="0"/>
              </a:spcBef>
              <a:spcAft>
                <a:spcPts val="0"/>
              </a:spcAft>
              <a:buClr>
                <a:schemeClr val="dk1"/>
              </a:buClr>
              <a:buSzPts val="2000"/>
              <a:buFont typeface="Calibri"/>
              <a:buNone/>
            </a:pPr>
            <a:endParaRPr sz="2000" b="0" i="0" u="none" strike="noStrike" cap="none">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a:solidFill>
                  <a:schemeClr val="dk1"/>
                </a:solidFill>
                <a:latin typeface="Times New Roman"/>
                <a:ea typeface="Times New Roman"/>
                <a:cs typeface="Times New Roman"/>
                <a:sym typeface="Times New Roman"/>
              </a:rPr>
              <a:t>Scientific Research:</a:t>
            </a:r>
            <a:r>
              <a:rPr lang="en-US" sz="2000" b="0" i="0" u="none" strike="noStrike" cap="none">
                <a:solidFill>
                  <a:schemeClr val="dk1"/>
                </a:solidFill>
                <a:latin typeface="Times New Roman"/>
                <a:ea typeface="Times New Roman"/>
                <a:cs typeface="Times New Roman"/>
                <a:sym typeface="Times New Roman"/>
              </a:rPr>
              <a:t> Perform complex computations and simulations in areas like weather prediction and molecular modeling.</a:t>
            </a:r>
            <a:endParaRPr/>
          </a:p>
          <a:p>
            <a:pPr marL="0" marR="0" lvl="0" indent="0" algn="just" rtl="0">
              <a:lnSpc>
                <a:spcPct val="100000"/>
              </a:lnSpc>
              <a:spcBef>
                <a:spcPts val="0"/>
              </a:spcBef>
              <a:spcAft>
                <a:spcPts val="0"/>
              </a:spcAft>
              <a:buClr>
                <a:schemeClr val="dk1"/>
              </a:buClr>
              <a:buSzPts val="2000"/>
              <a:buFont typeface="Calibri"/>
              <a:buNone/>
            </a:pPr>
            <a:endParaRPr sz="2000" b="0" i="0" u="none" strike="noStrike" cap="none">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a:solidFill>
                  <a:schemeClr val="dk1"/>
                </a:solidFill>
                <a:latin typeface="Times New Roman"/>
                <a:ea typeface="Times New Roman"/>
                <a:cs typeface="Times New Roman"/>
                <a:sym typeface="Times New Roman"/>
              </a:rPr>
              <a:t>Web Servers:</a:t>
            </a:r>
            <a:r>
              <a:rPr lang="en-US" sz="2000" b="0" i="0" u="none" strike="noStrike" cap="none">
                <a:solidFill>
                  <a:schemeClr val="dk1"/>
                </a:solidFill>
                <a:latin typeface="Times New Roman"/>
                <a:ea typeface="Times New Roman"/>
                <a:cs typeface="Times New Roman"/>
                <a:sym typeface="Times New Roman"/>
              </a:rPr>
              <a:t> Enable load balancing and high availability for e-commerce and web hosting.</a:t>
            </a:r>
            <a:endParaRPr/>
          </a:p>
          <a:p>
            <a:pPr marL="0" marR="0" lvl="0" indent="0" algn="just" rtl="0">
              <a:lnSpc>
                <a:spcPct val="100000"/>
              </a:lnSpc>
              <a:spcBef>
                <a:spcPts val="0"/>
              </a:spcBef>
              <a:spcAft>
                <a:spcPts val="0"/>
              </a:spcAft>
              <a:buClr>
                <a:schemeClr val="dk1"/>
              </a:buClr>
              <a:buSzPts val="2000"/>
              <a:buFont typeface="Calibri"/>
              <a:buNone/>
            </a:pPr>
            <a:endParaRPr sz="2000" b="0" i="0" u="none" strike="noStrike" cap="none">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a:solidFill>
                  <a:schemeClr val="dk1"/>
                </a:solidFill>
                <a:latin typeface="Times New Roman"/>
                <a:ea typeface="Times New Roman"/>
                <a:cs typeface="Times New Roman"/>
                <a:sym typeface="Times New Roman"/>
              </a:rPr>
              <a:t>Big Data Analytics:</a:t>
            </a:r>
            <a:r>
              <a:rPr lang="en-US" sz="2000" b="0" i="0" u="none" strike="noStrike" cap="none">
                <a:solidFill>
                  <a:schemeClr val="dk1"/>
                </a:solidFill>
                <a:latin typeface="Times New Roman"/>
                <a:ea typeface="Times New Roman"/>
                <a:cs typeface="Times New Roman"/>
                <a:sym typeface="Times New Roman"/>
              </a:rPr>
              <a:t> Handle distributed processing of massive datasets, such as in Hadoop or Apache Spark clusters.</a:t>
            </a:r>
            <a:endParaRPr/>
          </a:p>
          <a:p>
            <a:pPr marL="0" marR="0" lvl="0" indent="0" algn="just" rtl="0">
              <a:lnSpc>
                <a:spcPct val="100000"/>
              </a:lnSpc>
              <a:spcBef>
                <a:spcPts val="0"/>
              </a:spcBef>
              <a:spcAft>
                <a:spcPts val="0"/>
              </a:spcAft>
              <a:buClr>
                <a:schemeClr val="dk1"/>
              </a:buClr>
              <a:buSzPts val="2000"/>
              <a:buFont typeface="Calibri"/>
              <a:buNone/>
            </a:pPr>
            <a:endParaRPr sz="2000" b="0" i="0" u="none" strike="noStrike" cap="none">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Times New Roman"/>
              <a:buChar char="•"/>
            </a:pPr>
            <a:r>
              <a:rPr lang="en-US" sz="2000" b="1" i="0" u="none" strike="noStrike" cap="none">
                <a:solidFill>
                  <a:schemeClr val="dk1"/>
                </a:solidFill>
                <a:latin typeface="Times New Roman"/>
                <a:ea typeface="Times New Roman"/>
                <a:cs typeface="Times New Roman"/>
                <a:sym typeface="Times New Roman"/>
              </a:rPr>
              <a:t>Enterprise Systems:</a:t>
            </a:r>
            <a:r>
              <a:rPr lang="en-US" sz="2000" b="0" i="0" u="none" strike="noStrike" cap="none">
                <a:solidFill>
                  <a:schemeClr val="dk1"/>
                </a:solidFill>
                <a:latin typeface="Times New Roman"/>
                <a:ea typeface="Times New Roman"/>
                <a:cs typeface="Times New Roman"/>
                <a:sym typeface="Times New Roman"/>
              </a:rPr>
              <a:t> Support critical business applications requiring high reliability and scalability.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Operating Systems Structure (multitask and multi program)</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
        <p:nvSpPr>
          <p:cNvPr id="5" name="Google Shape;237;p29"/>
          <p:cNvSpPr txBox="1">
            <a:spLocks noGrp="1"/>
          </p:cNvSpPr>
          <p:nvPr>
            <p:ph type="body" idx="4294967295"/>
          </p:nvPr>
        </p:nvSpPr>
        <p:spPr>
          <a:xfrm>
            <a:off x="0" y="835025"/>
            <a:ext cx="8940799" cy="5462587"/>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rgbClr val="993300"/>
              </a:buClr>
              <a:buSzPts val="1440"/>
              <a:buFont typeface="Arial"/>
              <a:buNone/>
            </a:pPr>
            <a:endParaRPr sz="1600" b="0" i="0" u="none" dirty="0">
              <a:solidFill>
                <a:schemeClr val="dk1"/>
              </a:solidFill>
              <a:latin typeface="Helvetica Neue"/>
              <a:ea typeface="Helvetica Neue"/>
              <a:cs typeface="Helvetica Neue"/>
              <a:sym typeface="Helvetica Neue"/>
            </a:endParaRPr>
          </a:p>
          <a:p>
            <a:pPr marL="342900" marR="0" lvl="0" indent="-342900" algn="l" rtl="0">
              <a:lnSpc>
                <a:spcPct val="90000"/>
              </a:lnSpc>
              <a:spcBef>
                <a:spcPts val="630"/>
              </a:spcBef>
              <a:spcAft>
                <a:spcPts val="0"/>
              </a:spcAft>
              <a:buClr>
                <a:srgbClr val="993300"/>
              </a:buClr>
              <a:buSzPts val="1620"/>
              <a:buFont typeface="Arial"/>
              <a:buChar char="●"/>
            </a:pPr>
            <a:r>
              <a:rPr lang="en-US" sz="1800" b="1" i="0" u="none" dirty="0">
                <a:solidFill>
                  <a:srgbClr val="3366FF"/>
                </a:solidFill>
                <a:highlight>
                  <a:srgbClr val="FFB9FC"/>
                </a:highlight>
                <a:latin typeface="Helvetica Neue"/>
                <a:ea typeface="Helvetica Neue"/>
                <a:cs typeface="Helvetica Neue"/>
                <a:sym typeface="Helvetica Neue"/>
              </a:rPr>
              <a:t>Multiprogramming</a:t>
            </a:r>
            <a:r>
              <a:rPr lang="en-US" sz="1600" b="0" i="0" u="none" dirty="0">
                <a:solidFill>
                  <a:schemeClr val="dk1"/>
                </a:solidFill>
                <a:highlight>
                  <a:srgbClr val="FFB9FC"/>
                </a:highlight>
                <a:latin typeface="Helvetica Neue"/>
                <a:ea typeface="Helvetica Neue"/>
                <a:cs typeface="Helvetica Neue"/>
                <a:sym typeface="Helvetica Neue"/>
              </a:rPr>
              <a:t> (</a:t>
            </a:r>
            <a:r>
              <a:rPr lang="en-US" sz="1800" b="1" i="0" u="none" dirty="0">
                <a:solidFill>
                  <a:srgbClr val="3366FF"/>
                </a:solidFill>
                <a:highlight>
                  <a:srgbClr val="FFB9FC"/>
                </a:highlight>
                <a:latin typeface="Helvetica Neue"/>
                <a:ea typeface="Helvetica Neue"/>
                <a:cs typeface="Helvetica Neue"/>
                <a:sym typeface="Helvetica Neue"/>
              </a:rPr>
              <a:t>Batch system</a:t>
            </a:r>
            <a:r>
              <a:rPr lang="en-US" sz="1600" b="0" i="0" u="none" dirty="0">
                <a:solidFill>
                  <a:schemeClr val="dk1"/>
                </a:solidFill>
                <a:highlight>
                  <a:srgbClr val="FFB9FC"/>
                </a:highlight>
                <a:latin typeface="Helvetica Neue"/>
                <a:ea typeface="Helvetica Neue"/>
                <a:cs typeface="Helvetica Neue"/>
                <a:sym typeface="Helvetica Neue"/>
              </a:rPr>
              <a:t>) needed for efficiency</a:t>
            </a:r>
            <a:endParaRPr dirty="0">
              <a:highlight>
                <a:srgbClr val="FFB9FC"/>
              </a:highlight>
            </a:endParaRPr>
          </a:p>
          <a:p>
            <a:pPr marL="742950" marR="0" lvl="1" indent="-285750" algn="l" rtl="0">
              <a:lnSpc>
                <a:spcPct val="90000"/>
              </a:lnSpc>
              <a:spcBef>
                <a:spcPts val="560"/>
              </a:spcBef>
              <a:spcAft>
                <a:spcPts val="0"/>
              </a:spcAft>
              <a:buClr>
                <a:srgbClr val="CC6600"/>
              </a:buClr>
              <a:buSzPts val="1280"/>
              <a:buFont typeface="Arial"/>
              <a:buChar char="●"/>
            </a:pPr>
            <a:r>
              <a:rPr lang="en-US" sz="1600" b="0" i="0" u="none" strike="noStrike" cap="none" dirty="0">
                <a:solidFill>
                  <a:schemeClr val="dk1"/>
                </a:solidFill>
                <a:highlight>
                  <a:srgbClr val="FFB9FC"/>
                </a:highlight>
                <a:latin typeface="Helvetica Neue"/>
                <a:ea typeface="Helvetica Neue"/>
                <a:cs typeface="Helvetica Neue"/>
                <a:sym typeface="Helvetica Neue"/>
              </a:rPr>
              <a:t>Single user cannot keep CPU and I/O devices busy at all times</a:t>
            </a:r>
            <a:endParaRPr dirty="0">
              <a:highlight>
                <a:srgbClr val="FFB9FC"/>
              </a:highlight>
            </a:endParaRPr>
          </a:p>
          <a:p>
            <a:pPr marL="742950" marR="0" lvl="1" indent="-285750" algn="l" rtl="0">
              <a:lnSpc>
                <a:spcPct val="90000"/>
              </a:lnSpc>
              <a:spcBef>
                <a:spcPts val="560"/>
              </a:spcBef>
              <a:spcAft>
                <a:spcPts val="0"/>
              </a:spcAft>
              <a:buClr>
                <a:srgbClr val="CC6600"/>
              </a:buClr>
              <a:buSzPts val="1280"/>
              <a:buFont typeface="Arial"/>
              <a:buChar char="●"/>
            </a:pPr>
            <a:r>
              <a:rPr lang="en-US" sz="1600" b="0" i="0" u="none" strike="noStrike" cap="none" dirty="0">
                <a:solidFill>
                  <a:schemeClr val="dk1"/>
                </a:solidFill>
                <a:highlight>
                  <a:srgbClr val="FFB9FC"/>
                </a:highlight>
                <a:latin typeface="Helvetica Neue"/>
                <a:ea typeface="Helvetica Neue"/>
                <a:cs typeface="Helvetica Neue"/>
                <a:sym typeface="Helvetica Neue"/>
              </a:rPr>
              <a:t>Multiprogramming organizes jobs (code and data) so CPU always has one to execute</a:t>
            </a:r>
            <a:endParaRPr dirty="0">
              <a:highlight>
                <a:srgbClr val="FFB9FC"/>
              </a:highlight>
            </a:endParaRPr>
          </a:p>
          <a:p>
            <a:pPr marL="742950" marR="0" lvl="1" indent="-285750" algn="l" rtl="0">
              <a:lnSpc>
                <a:spcPct val="90000"/>
              </a:lnSpc>
              <a:spcBef>
                <a:spcPts val="560"/>
              </a:spcBef>
              <a:spcAft>
                <a:spcPts val="0"/>
              </a:spcAft>
              <a:buClr>
                <a:srgbClr val="CC6600"/>
              </a:buClr>
              <a:buSzPts val="1280"/>
              <a:buFont typeface="Arial"/>
              <a:buChar char="●"/>
            </a:pPr>
            <a:r>
              <a:rPr lang="en-US" sz="1600" b="0" i="0" u="none" strike="noStrike" cap="none" dirty="0">
                <a:solidFill>
                  <a:schemeClr val="dk1"/>
                </a:solidFill>
                <a:highlight>
                  <a:srgbClr val="FFB9FC"/>
                </a:highlight>
                <a:latin typeface="Helvetica Neue"/>
                <a:ea typeface="Helvetica Neue"/>
                <a:cs typeface="Helvetica Neue"/>
                <a:sym typeface="Helvetica Neue"/>
              </a:rPr>
              <a:t>A subset of total jobs in system is kept in memory</a:t>
            </a:r>
            <a:endParaRPr dirty="0">
              <a:highlight>
                <a:srgbClr val="FFB9FC"/>
              </a:highlight>
            </a:endParaRPr>
          </a:p>
          <a:p>
            <a:pPr marL="742950" marR="0" lvl="1" indent="-285750" algn="l" rtl="0">
              <a:lnSpc>
                <a:spcPct val="90000"/>
              </a:lnSpc>
              <a:spcBef>
                <a:spcPts val="630"/>
              </a:spcBef>
              <a:spcAft>
                <a:spcPts val="0"/>
              </a:spcAft>
              <a:buClr>
                <a:srgbClr val="CC6600"/>
              </a:buClr>
              <a:buSzPts val="1280"/>
              <a:buFont typeface="Arial"/>
              <a:buChar char="●"/>
            </a:pPr>
            <a:r>
              <a:rPr lang="en-US" sz="1600" b="0" i="0" u="none" strike="noStrike" cap="none" dirty="0">
                <a:solidFill>
                  <a:schemeClr val="dk1"/>
                </a:solidFill>
                <a:highlight>
                  <a:srgbClr val="FFB9FC"/>
                </a:highlight>
                <a:latin typeface="Helvetica Neue"/>
                <a:ea typeface="Helvetica Neue"/>
                <a:cs typeface="Helvetica Neue"/>
                <a:sym typeface="Helvetica Neue"/>
              </a:rPr>
              <a:t>One job selected and run via </a:t>
            </a:r>
            <a:r>
              <a:rPr lang="en-US" sz="1800" b="1" i="0" u="none" strike="noStrike" cap="none" dirty="0">
                <a:solidFill>
                  <a:srgbClr val="3366FF"/>
                </a:solidFill>
                <a:highlight>
                  <a:srgbClr val="FFB9FC"/>
                </a:highlight>
                <a:latin typeface="Helvetica Neue"/>
                <a:ea typeface="Helvetica Neue"/>
                <a:cs typeface="Helvetica Neue"/>
                <a:sym typeface="Helvetica Neue"/>
              </a:rPr>
              <a:t>job scheduling</a:t>
            </a:r>
            <a:endParaRPr dirty="0">
              <a:highlight>
                <a:srgbClr val="FFB9FC"/>
              </a:highlight>
            </a:endParaRPr>
          </a:p>
          <a:p>
            <a:pPr marL="742950" marR="0" lvl="1" indent="-285750" algn="l" rtl="0">
              <a:lnSpc>
                <a:spcPct val="90000"/>
              </a:lnSpc>
              <a:spcBef>
                <a:spcPts val="560"/>
              </a:spcBef>
              <a:spcAft>
                <a:spcPts val="0"/>
              </a:spcAft>
              <a:buClr>
                <a:srgbClr val="CC6600"/>
              </a:buClr>
              <a:buSzPts val="1280"/>
              <a:buFont typeface="Arial"/>
              <a:buChar char="●"/>
            </a:pPr>
            <a:r>
              <a:rPr lang="en-US" sz="1600" b="0" i="0" u="none" strike="noStrike" cap="none" dirty="0">
                <a:solidFill>
                  <a:schemeClr val="dk1"/>
                </a:solidFill>
                <a:highlight>
                  <a:srgbClr val="FFB9FC"/>
                </a:highlight>
                <a:latin typeface="Helvetica Neue"/>
                <a:ea typeface="Helvetica Neue"/>
                <a:cs typeface="Helvetica Neue"/>
                <a:sym typeface="Helvetica Neue"/>
              </a:rPr>
              <a:t>When it has to wait (</a:t>
            </a:r>
            <a:r>
              <a:rPr lang="en-US" sz="1600" dirty="0">
                <a:highlight>
                  <a:srgbClr val="FFB9FC"/>
                </a:highlight>
              </a:rPr>
              <a:t>f</a:t>
            </a:r>
            <a:r>
              <a:rPr lang="en-US" sz="1600" b="0" i="0" u="none" strike="noStrike" cap="none" dirty="0">
                <a:solidFill>
                  <a:schemeClr val="dk1"/>
                </a:solidFill>
                <a:highlight>
                  <a:srgbClr val="FFB9FC"/>
                </a:highlight>
                <a:latin typeface="Helvetica Neue"/>
                <a:ea typeface="Helvetica Neue"/>
                <a:cs typeface="Helvetica Neue"/>
                <a:sym typeface="Helvetica Neue"/>
              </a:rPr>
              <a:t>or I/O for example), OS switches to another job</a:t>
            </a:r>
            <a:endParaRPr dirty="0">
              <a:highlight>
                <a:srgbClr val="FFB9FC"/>
              </a:highlight>
            </a:endParaRPr>
          </a:p>
          <a:p>
            <a:pPr marL="742950" marR="0" lvl="1" indent="-245109" algn="l" rtl="0">
              <a:lnSpc>
                <a:spcPct val="90000"/>
              </a:lnSpc>
              <a:spcBef>
                <a:spcPts val="280"/>
              </a:spcBef>
              <a:spcAft>
                <a:spcPts val="0"/>
              </a:spcAft>
              <a:buClr>
                <a:srgbClr val="CC6600"/>
              </a:buClr>
              <a:buSzPts val="640"/>
              <a:buFont typeface="Arial"/>
              <a:buNone/>
            </a:pPr>
            <a:endParaRPr sz="800" b="0" i="0" u="none" strike="noStrike" cap="none" dirty="0">
              <a:solidFill>
                <a:schemeClr val="dk1"/>
              </a:solidFill>
              <a:latin typeface="Helvetica Neue"/>
              <a:ea typeface="Helvetica Neue"/>
              <a:cs typeface="Helvetica Neue"/>
              <a:sym typeface="Helvetica Neue"/>
            </a:endParaRPr>
          </a:p>
          <a:p>
            <a:pPr marL="342900" marR="0" lvl="0" indent="-342900" algn="l" rtl="0">
              <a:lnSpc>
                <a:spcPct val="90000"/>
              </a:lnSpc>
              <a:spcBef>
                <a:spcPts val="630"/>
              </a:spcBef>
              <a:spcAft>
                <a:spcPts val="0"/>
              </a:spcAft>
              <a:buClr>
                <a:srgbClr val="993300"/>
              </a:buClr>
              <a:buSzPts val="1620"/>
              <a:buFont typeface="Arial"/>
              <a:buChar char="●"/>
            </a:pPr>
            <a:r>
              <a:rPr lang="en-US" sz="1800" b="1" i="0" u="none" dirty="0">
                <a:solidFill>
                  <a:srgbClr val="3366FF"/>
                </a:solidFill>
                <a:highlight>
                  <a:srgbClr val="FFB9FC"/>
                </a:highlight>
                <a:latin typeface="Helvetica Neue"/>
                <a:ea typeface="Helvetica Neue"/>
                <a:cs typeface="Helvetica Neue"/>
                <a:sym typeface="Helvetica Neue"/>
              </a:rPr>
              <a:t>Timesharing </a:t>
            </a:r>
            <a:r>
              <a:rPr lang="en-US" sz="1600" b="0" i="0" u="none" dirty="0">
                <a:solidFill>
                  <a:schemeClr val="dk1"/>
                </a:solidFill>
                <a:highlight>
                  <a:srgbClr val="FFB9FC"/>
                </a:highlight>
                <a:latin typeface="Helvetica Neue"/>
                <a:ea typeface="Helvetica Neue"/>
                <a:cs typeface="Helvetica Neue"/>
                <a:sym typeface="Helvetica Neue"/>
              </a:rPr>
              <a:t>(</a:t>
            </a:r>
            <a:r>
              <a:rPr lang="en-US" sz="1800" b="1" i="0" u="none" dirty="0">
                <a:solidFill>
                  <a:srgbClr val="3366FF"/>
                </a:solidFill>
                <a:highlight>
                  <a:srgbClr val="FFB9FC"/>
                </a:highlight>
                <a:latin typeface="Helvetica Neue"/>
                <a:ea typeface="Helvetica Neue"/>
                <a:cs typeface="Helvetica Neue"/>
                <a:sym typeface="Helvetica Neue"/>
              </a:rPr>
              <a:t>multitasking</a:t>
            </a:r>
            <a:r>
              <a:rPr lang="en-US" sz="1600" b="0" i="0" u="none" dirty="0">
                <a:solidFill>
                  <a:schemeClr val="dk1"/>
                </a:solidFill>
                <a:highlight>
                  <a:srgbClr val="FFB9FC"/>
                </a:highlight>
                <a:latin typeface="Helvetica Neue"/>
                <a:ea typeface="Helvetica Neue"/>
                <a:cs typeface="Helvetica Neue"/>
                <a:sym typeface="Helvetica Neue"/>
              </a:rPr>
              <a:t>)</a:t>
            </a:r>
            <a:r>
              <a:rPr lang="en-US" sz="1800" b="1" i="0" u="none" dirty="0">
                <a:solidFill>
                  <a:srgbClr val="3366FF"/>
                </a:solidFill>
                <a:highlight>
                  <a:srgbClr val="FFB9FC"/>
                </a:highlight>
                <a:latin typeface="Helvetica Neue"/>
                <a:ea typeface="Helvetica Neue"/>
                <a:cs typeface="Helvetica Neue"/>
                <a:sym typeface="Helvetica Neue"/>
              </a:rPr>
              <a:t> </a:t>
            </a:r>
            <a:r>
              <a:rPr lang="en-US" sz="1600" b="0" i="0" u="none" dirty="0">
                <a:solidFill>
                  <a:schemeClr val="dk1"/>
                </a:solidFill>
                <a:highlight>
                  <a:srgbClr val="FFB9FC"/>
                </a:highlight>
                <a:latin typeface="Helvetica Neue"/>
                <a:ea typeface="Helvetica Neue"/>
                <a:cs typeface="Helvetica Neue"/>
                <a:sym typeface="Helvetica Neue"/>
              </a:rPr>
              <a:t>is logical extension in which CPU switches jobs so frequently that users can interact with each job while it is running, creating </a:t>
            </a:r>
            <a:r>
              <a:rPr lang="en-US" sz="1800" b="1" i="0" u="none" dirty="0">
                <a:solidFill>
                  <a:srgbClr val="3366FF"/>
                </a:solidFill>
                <a:highlight>
                  <a:srgbClr val="FFB9FC"/>
                </a:highlight>
                <a:latin typeface="Helvetica Neue"/>
                <a:ea typeface="Helvetica Neue"/>
                <a:cs typeface="Helvetica Neue"/>
                <a:sym typeface="Helvetica Neue"/>
              </a:rPr>
              <a:t>interactive</a:t>
            </a:r>
            <a:r>
              <a:rPr lang="en-US" sz="1600" b="0" i="0" u="none" dirty="0">
                <a:solidFill>
                  <a:schemeClr val="dk1"/>
                </a:solidFill>
                <a:highlight>
                  <a:srgbClr val="FFB9FC"/>
                </a:highlight>
                <a:latin typeface="Helvetica Neue"/>
                <a:ea typeface="Helvetica Neue"/>
                <a:cs typeface="Helvetica Neue"/>
                <a:sym typeface="Helvetica Neue"/>
              </a:rPr>
              <a:t> computing</a:t>
            </a:r>
            <a:endParaRPr dirty="0">
              <a:highlight>
                <a:srgbClr val="FFB9FC"/>
              </a:highlight>
            </a:endParaRPr>
          </a:p>
          <a:p>
            <a:pPr marL="742950" marR="0" lvl="1" indent="-285750" algn="l" rtl="0">
              <a:lnSpc>
                <a:spcPct val="90000"/>
              </a:lnSpc>
              <a:spcBef>
                <a:spcPts val="630"/>
              </a:spcBef>
              <a:spcAft>
                <a:spcPts val="0"/>
              </a:spcAft>
              <a:buClr>
                <a:srgbClr val="CC6600"/>
              </a:buClr>
              <a:buSzPts val="1440"/>
              <a:buFont typeface="Arial"/>
              <a:buChar char="●"/>
            </a:pPr>
            <a:r>
              <a:rPr lang="en-US" sz="1800" b="1" i="0" u="none" strike="noStrike" cap="none" dirty="0">
                <a:solidFill>
                  <a:srgbClr val="3366FF"/>
                </a:solidFill>
                <a:highlight>
                  <a:srgbClr val="FFB9FC"/>
                </a:highlight>
                <a:latin typeface="Helvetica Neue"/>
                <a:ea typeface="Helvetica Neue"/>
                <a:cs typeface="Helvetica Neue"/>
                <a:sym typeface="Helvetica Neue"/>
              </a:rPr>
              <a:t>Response time </a:t>
            </a:r>
            <a:r>
              <a:rPr lang="en-US" sz="1600" b="0" i="0" u="none" strike="noStrike" cap="none" dirty="0">
                <a:solidFill>
                  <a:schemeClr val="dk1"/>
                </a:solidFill>
                <a:highlight>
                  <a:srgbClr val="FFB9FC"/>
                </a:highlight>
                <a:latin typeface="Helvetica Neue"/>
                <a:ea typeface="Helvetica Neue"/>
                <a:cs typeface="Helvetica Neue"/>
                <a:sym typeface="Helvetica Neue"/>
              </a:rPr>
              <a:t>should be &lt; 1 second</a:t>
            </a:r>
            <a:endParaRPr dirty="0">
              <a:highlight>
                <a:srgbClr val="FFB9FC"/>
              </a:highlight>
            </a:endParaRPr>
          </a:p>
          <a:p>
            <a:pPr marL="742950" marR="0" lvl="1" indent="-285750" algn="l" rtl="0">
              <a:lnSpc>
                <a:spcPct val="90000"/>
              </a:lnSpc>
              <a:spcBef>
                <a:spcPts val="630"/>
              </a:spcBef>
              <a:spcAft>
                <a:spcPts val="0"/>
              </a:spcAft>
              <a:buClr>
                <a:srgbClr val="CC6600"/>
              </a:buClr>
              <a:buSzPts val="1280"/>
              <a:buFont typeface="Arial"/>
              <a:buChar char="●"/>
            </a:pPr>
            <a:r>
              <a:rPr lang="en-US" sz="1600" b="0" i="0" u="none" strike="noStrike" cap="none" dirty="0">
                <a:solidFill>
                  <a:schemeClr val="dk1"/>
                </a:solidFill>
                <a:latin typeface="Helvetica Neue"/>
                <a:ea typeface="Helvetica Neue"/>
                <a:cs typeface="Helvetica Neue"/>
                <a:sym typeface="Helvetica Neue"/>
              </a:rPr>
              <a:t>Each user has at least one program executing in memory 🢡</a:t>
            </a:r>
            <a:r>
              <a:rPr lang="en-US" sz="1800" b="1" i="0" u="none" strike="noStrike" cap="none" dirty="0">
                <a:solidFill>
                  <a:srgbClr val="3366FF"/>
                </a:solidFill>
                <a:latin typeface="Helvetica Neue"/>
                <a:ea typeface="Helvetica Neue"/>
                <a:cs typeface="Helvetica Neue"/>
                <a:sym typeface="Helvetica Neue"/>
              </a:rPr>
              <a:t>process</a:t>
            </a:r>
            <a:endParaRPr dirty="0"/>
          </a:p>
          <a:p>
            <a:pPr marL="742950" marR="0" lvl="1" indent="-285750" algn="l" rtl="0">
              <a:lnSpc>
                <a:spcPct val="90000"/>
              </a:lnSpc>
              <a:spcBef>
                <a:spcPts val="630"/>
              </a:spcBef>
              <a:spcAft>
                <a:spcPts val="0"/>
              </a:spcAft>
              <a:buClr>
                <a:srgbClr val="CC6600"/>
              </a:buClr>
              <a:buSzPts val="1280"/>
              <a:buFont typeface="Arial"/>
              <a:buChar char="●"/>
            </a:pPr>
            <a:r>
              <a:rPr lang="en-US" sz="1600" b="0" i="0" u="none" strike="noStrike" cap="none" dirty="0">
                <a:solidFill>
                  <a:schemeClr val="dk1"/>
                </a:solidFill>
                <a:latin typeface="Helvetica Neue"/>
                <a:ea typeface="Helvetica Neue"/>
                <a:cs typeface="Helvetica Neue"/>
                <a:sym typeface="Helvetica Neue"/>
              </a:rPr>
              <a:t>If several jobs ready to run at the same time 🢡 </a:t>
            </a:r>
            <a:r>
              <a:rPr lang="en-US" sz="1800" b="1" i="0" u="none" strike="noStrike" cap="none" dirty="0">
                <a:solidFill>
                  <a:srgbClr val="3366FF"/>
                </a:solidFill>
                <a:latin typeface="Helvetica Neue"/>
                <a:ea typeface="Helvetica Neue"/>
                <a:cs typeface="Helvetica Neue"/>
                <a:sym typeface="Helvetica Neue"/>
              </a:rPr>
              <a:t>CPU </a:t>
            </a:r>
            <a:r>
              <a:rPr lang="en-US" b="1" dirty="0">
                <a:solidFill>
                  <a:srgbClr val="3366FF"/>
                </a:solidFill>
              </a:rPr>
              <a:t>s</a:t>
            </a:r>
            <a:r>
              <a:rPr lang="en-US" sz="1800" b="1" i="0" u="none" strike="noStrike" cap="none" dirty="0">
                <a:solidFill>
                  <a:srgbClr val="3366FF"/>
                </a:solidFill>
                <a:latin typeface="Helvetica Neue"/>
                <a:ea typeface="Helvetica Neue"/>
                <a:cs typeface="Helvetica Neue"/>
                <a:sym typeface="Helvetica Neue"/>
              </a:rPr>
              <a:t>cheduling</a:t>
            </a:r>
            <a:endParaRPr dirty="0"/>
          </a:p>
          <a:p>
            <a:pPr marL="742950" marR="0" lvl="1" indent="-285750" algn="l" rtl="0">
              <a:lnSpc>
                <a:spcPct val="90000"/>
              </a:lnSpc>
              <a:spcBef>
                <a:spcPts val="630"/>
              </a:spcBef>
              <a:spcAft>
                <a:spcPts val="0"/>
              </a:spcAft>
              <a:buClr>
                <a:srgbClr val="CC6600"/>
              </a:buClr>
              <a:buSzPts val="1280"/>
              <a:buFont typeface="Arial"/>
              <a:buChar char="●"/>
            </a:pPr>
            <a:r>
              <a:rPr lang="en-US" sz="1600" b="0" i="0" u="none" strike="noStrike" cap="none" dirty="0">
                <a:solidFill>
                  <a:schemeClr val="dk1"/>
                </a:solidFill>
                <a:highlight>
                  <a:srgbClr val="FFB9FC"/>
                </a:highlight>
                <a:latin typeface="Helvetica Neue"/>
                <a:ea typeface="Helvetica Neue"/>
                <a:cs typeface="Helvetica Neue"/>
                <a:sym typeface="Helvetica Neue"/>
              </a:rPr>
              <a:t>If processes don’t fit in memory, </a:t>
            </a:r>
            <a:r>
              <a:rPr lang="en-US" sz="1800" b="1" i="0" u="none" strike="noStrike" cap="none" dirty="0">
                <a:solidFill>
                  <a:srgbClr val="3366FF"/>
                </a:solidFill>
                <a:highlight>
                  <a:srgbClr val="FFB9FC"/>
                </a:highlight>
                <a:latin typeface="Helvetica Neue"/>
                <a:ea typeface="Helvetica Neue"/>
                <a:cs typeface="Helvetica Neue"/>
                <a:sym typeface="Helvetica Neue"/>
              </a:rPr>
              <a:t>swapping</a:t>
            </a:r>
            <a:r>
              <a:rPr lang="en-US" sz="1600" b="0" i="0" u="none" strike="noStrike" cap="none" dirty="0">
                <a:solidFill>
                  <a:schemeClr val="dk1"/>
                </a:solidFill>
                <a:highlight>
                  <a:srgbClr val="FFB9FC"/>
                </a:highlight>
                <a:latin typeface="Helvetica Neue"/>
                <a:ea typeface="Helvetica Neue"/>
                <a:cs typeface="Helvetica Neue"/>
                <a:sym typeface="Helvetica Neue"/>
              </a:rPr>
              <a:t> moves them in and out to run</a:t>
            </a:r>
            <a:endParaRPr dirty="0">
              <a:highlight>
                <a:srgbClr val="FFB9FC"/>
              </a:highlight>
            </a:endParaRPr>
          </a:p>
          <a:p>
            <a:pPr marL="742950" marR="0" lvl="1" indent="-285750" algn="l" rtl="0">
              <a:lnSpc>
                <a:spcPct val="90000"/>
              </a:lnSpc>
              <a:spcBef>
                <a:spcPts val="630"/>
              </a:spcBef>
              <a:spcAft>
                <a:spcPts val="0"/>
              </a:spcAft>
              <a:buClr>
                <a:srgbClr val="CC6600"/>
              </a:buClr>
              <a:buSzPts val="1440"/>
              <a:buFont typeface="Arial"/>
              <a:buChar char="●"/>
            </a:pPr>
            <a:r>
              <a:rPr lang="en-US" sz="1800" b="1" i="0" u="none" strike="noStrike" cap="none" dirty="0">
                <a:solidFill>
                  <a:srgbClr val="3366FF"/>
                </a:solidFill>
                <a:highlight>
                  <a:srgbClr val="FFB9FC"/>
                </a:highlight>
                <a:latin typeface="Helvetica Neue"/>
                <a:ea typeface="Helvetica Neue"/>
                <a:cs typeface="Helvetica Neue"/>
                <a:sym typeface="Helvetica Neue"/>
              </a:rPr>
              <a:t>Virtual memory </a:t>
            </a:r>
            <a:r>
              <a:rPr lang="en-US" sz="1600" b="0" i="0" u="none" strike="noStrike" cap="none" dirty="0">
                <a:solidFill>
                  <a:schemeClr val="dk1"/>
                </a:solidFill>
                <a:highlight>
                  <a:srgbClr val="FFB9FC"/>
                </a:highlight>
                <a:latin typeface="Helvetica Neue"/>
                <a:ea typeface="Helvetica Neue"/>
                <a:cs typeface="Helvetica Neue"/>
                <a:sym typeface="Helvetica Neue"/>
              </a:rPr>
              <a:t>allows execution of processes not completely in memory</a:t>
            </a:r>
            <a:endParaRPr dirty="0">
              <a:highlight>
                <a:srgbClr val="FFB9FC"/>
              </a:highlight>
            </a:endParaRPr>
          </a:p>
        </p:txBody>
      </p:sp>
    </p:spTree>
    <p:extLst>
      <p:ext uri="{BB962C8B-B14F-4D97-AF65-F5344CB8AC3E}">
        <p14:creationId xmlns:p14="http://schemas.microsoft.com/office/powerpoint/2010/main" val="25404200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
        <p:nvSpPr>
          <p:cNvPr id="5" name="Google Shape;242;p30"/>
          <p:cNvSpPr txBox="1">
            <a:spLocks/>
          </p:cNvSpPr>
          <p:nvPr/>
        </p:nvSpPr>
        <p:spPr>
          <a:xfrm>
            <a:off x="-167265" y="0"/>
            <a:ext cx="8229600" cy="576262"/>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pPr>
              <a:buClr>
                <a:srgbClr val="006699"/>
              </a:buClr>
              <a:buSzPts val="2800"/>
            </a:pPr>
            <a:r>
              <a:rPr lang="en-US" sz="2800" b="1" dirty="0">
                <a:solidFill>
                  <a:srgbClr val="006699"/>
                </a:solidFill>
                <a:highlight>
                  <a:srgbClr val="A4F9F9"/>
                </a:highlight>
                <a:latin typeface="Arial"/>
                <a:ea typeface="Arial"/>
                <a:cs typeface="Arial"/>
                <a:sym typeface="Arial"/>
              </a:rPr>
              <a:t>Memory Layout for </a:t>
            </a:r>
            <a:r>
              <a:rPr lang="en-US" sz="2800" b="1" dirty="0" err="1">
                <a:solidFill>
                  <a:srgbClr val="006699"/>
                </a:solidFill>
                <a:highlight>
                  <a:srgbClr val="A4F9F9"/>
                </a:highlight>
                <a:latin typeface="Arial"/>
                <a:ea typeface="Arial"/>
                <a:cs typeface="Arial"/>
                <a:sym typeface="Arial"/>
              </a:rPr>
              <a:t>Multiprogrammed</a:t>
            </a:r>
            <a:r>
              <a:rPr lang="en-US" sz="2800" b="1" dirty="0">
                <a:solidFill>
                  <a:srgbClr val="006699"/>
                </a:solidFill>
                <a:highlight>
                  <a:srgbClr val="A4F9F9"/>
                </a:highlight>
                <a:latin typeface="Arial"/>
                <a:ea typeface="Arial"/>
                <a:cs typeface="Arial"/>
                <a:sym typeface="Arial"/>
              </a:rPr>
              <a:t> System</a:t>
            </a:r>
            <a:endParaRPr lang="en-US" dirty="0">
              <a:highlight>
                <a:srgbClr val="A4F9F9"/>
              </a:highlight>
            </a:endParaRPr>
          </a:p>
        </p:txBody>
      </p:sp>
      <p:pic>
        <p:nvPicPr>
          <p:cNvPr id="6" name="Google Shape;243;p30"/>
          <p:cNvPicPr preferRelativeResize="0"/>
          <p:nvPr/>
        </p:nvPicPr>
        <p:blipFill rotWithShape="1">
          <a:blip r:embed="rId2">
            <a:alphaModFix/>
          </a:blip>
          <a:srcRect/>
          <a:stretch/>
        </p:blipFill>
        <p:spPr>
          <a:xfrm>
            <a:off x="2887662" y="1230312"/>
            <a:ext cx="2814637" cy="4332287"/>
          </a:xfrm>
          <a:prstGeom prst="rect">
            <a:avLst/>
          </a:prstGeom>
          <a:noFill/>
          <a:ln>
            <a:noFill/>
          </a:ln>
        </p:spPr>
      </p:pic>
    </p:spTree>
    <p:extLst>
      <p:ext uri="{BB962C8B-B14F-4D97-AF65-F5344CB8AC3E}">
        <p14:creationId xmlns:p14="http://schemas.microsoft.com/office/powerpoint/2010/main" val="23761582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1"/>
          <p:cNvSpPr txBox="1">
            <a:spLocks noGrp="1"/>
          </p:cNvSpPr>
          <p:nvPr>
            <p:ph type="title" idx="4294967295"/>
          </p:nvPr>
        </p:nvSpPr>
        <p:spPr>
          <a:xfrm>
            <a:off x="-573232" y="138978"/>
            <a:ext cx="7791450" cy="576262"/>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6699"/>
              </a:buClr>
              <a:buSzPts val="3200"/>
              <a:buFont typeface="Arial"/>
              <a:buNone/>
            </a:pPr>
            <a:r>
              <a:rPr lang="en-US" sz="3200" b="1" i="0" u="none" strike="noStrike" cap="none" dirty="0">
                <a:solidFill>
                  <a:srgbClr val="006699"/>
                </a:solidFill>
                <a:highlight>
                  <a:srgbClr val="A4F9F9"/>
                </a:highlight>
                <a:latin typeface="Arial"/>
                <a:ea typeface="Arial"/>
                <a:cs typeface="Arial"/>
                <a:sym typeface="Arial"/>
              </a:rPr>
              <a:t>Operating-System Operations</a:t>
            </a:r>
            <a:endParaRPr dirty="0">
              <a:highlight>
                <a:srgbClr val="A4F9F9"/>
              </a:highlight>
            </a:endParaRPr>
          </a:p>
        </p:txBody>
      </p:sp>
      <p:sp>
        <p:nvSpPr>
          <p:cNvPr id="249" name="Google Shape;249;p31"/>
          <p:cNvSpPr txBox="1">
            <a:spLocks noGrp="1"/>
          </p:cNvSpPr>
          <p:nvPr>
            <p:ph type="body" idx="4294967295"/>
          </p:nvPr>
        </p:nvSpPr>
        <p:spPr>
          <a:xfrm>
            <a:off x="443345" y="1154112"/>
            <a:ext cx="8303491" cy="4938712"/>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rgbClr val="993300"/>
              </a:buClr>
              <a:buSzPts val="1620"/>
              <a:buFont typeface="Arial"/>
              <a:buChar char="●"/>
            </a:pPr>
            <a:r>
              <a:rPr lang="en-US" sz="1800" b="1" i="0" u="none" dirty="0">
                <a:solidFill>
                  <a:srgbClr val="3366FF"/>
                </a:solidFill>
                <a:highlight>
                  <a:srgbClr val="FFB9FC"/>
                </a:highlight>
                <a:latin typeface="Helvetica Neue"/>
                <a:ea typeface="Helvetica Neue"/>
                <a:cs typeface="Helvetica Neue"/>
                <a:sym typeface="Helvetica Neue"/>
              </a:rPr>
              <a:t>Modern OS are Interrupt driven </a:t>
            </a:r>
            <a:r>
              <a:rPr lang="en-US" sz="1800" b="0" i="0" u="none" dirty="0">
                <a:solidFill>
                  <a:schemeClr val="dk1"/>
                </a:solidFill>
                <a:highlight>
                  <a:srgbClr val="FFB9FC"/>
                </a:highlight>
                <a:latin typeface="Helvetica Neue"/>
                <a:ea typeface="Helvetica Neue"/>
                <a:cs typeface="Helvetica Neue"/>
                <a:sym typeface="Helvetica Neue"/>
              </a:rPr>
              <a:t>(hardware and software)</a:t>
            </a:r>
            <a:endParaRPr dirty="0">
              <a:highlight>
                <a:srgbClr val="FFB9FC"/>
              </a:highlight>
            </a:endParaRPr>
          </a:p>
          <a:p>
            <a:pPr marL="742950" marR="0" lvl="1" indent="-285750" algn="l" rtl="0">
              <a:lnSpc>
                <a:spcPct val="90000"/>
              </a:lnSpc>
              <a:spcBef>
                <a:spcPts val="630"/>
              </a:spcBef>
              <a:spcAft>
                <a:spcPts val="0"/>
              </a:spcAft>
              <a:buClr>
                <a:srgbClr val="CC6600"/>
              </a:buClr>
              <a:buSzPts val="1440"/>
              <a:buFont typeface="Arial"/>
              <a:buChar char="●"/>
            </a:pPr>
            <a:r>
              <a:rPr lang="en-US" sz="1800" b="0" i="0" u="none" strike="noStrike" cap="none" dirty="0">
                <a:solidFill>
                  <a:schemeClr val="dk1"/>
                </a:solidFill>
                <a:highlight>
                  <a:srgbClr val="FFB9FC"/>
                </a:highlight>
                <a:latin typeface="Helvetica Neue"/>
                <a:ea typeface="Helvetica Neue"/>
                <a:cs typeface="Helvetica Neue"/>
                <a:sym typeface="Helvetica Neue"/>
              </a:rPr>
              <a:t>Hardware interrupt by one of the devices </a:t>
            </a:r>
            <a:endParaRPr dirty="0">
              <a:highlight>
                <a:srgbClr val="FFB9FC"/>
              </a:highlight>
            </a:endParaRPr>
          </a:p>
          <a:p>
            <a:pPr marL="742950" marR="0" lvl="1" indent="-285750" algn="l" rtl="0">
              <a:lnSpc>
                <a:spcPct val="90000"/>
              </a:lnSpc>
              <a:spcBef>
                <a:spcPts val="630"/>
              </a:spcBef>
              <a:spcAft>
                <a:spcPts val="0"/>
              </a:spcAft>
              <a:buClr>
                <a:srgbClr val="CC6600"/>
              </a:buClr>
              <a:buSzPts val="1440"/>
              <a:buFont typeface="Arial"/>
              <a:buChar char="●"/>
            </a:pPr>
            <a:r>
              <a:rPr lang="en-US" sz="1800" b="0" i="0" u="none" strike="noStrike" cap="none" dirty="0">
                <a:solidFill>
                  <a:schemeClr val="dk1"/>
                </a:solidFill>
                <a:highlight>
                  <a:srgbClr val="FFB9FC"/>
                </a:highlight>
                <a:latin typeface="Helvetica Neue"/>
                <a:ea typeface="Helvetica Neue"/>
                <a:cs typeface="Helvetica Neue"/>
                <a:sym typeface="Helvetica Neue"/>
              </a:rPr>
              <a:t>Software interrupt (</a:t>
            </a:r>
            <a:r>
              <a:rPr lang="en-US" sz="1800" b="1" i="0" u="none" strike="noStrike" cap="none" dirty="0">
                <a:solidFill>
                  <a:srgbClr val="3366FF"/>
                </a:solidFill>
                <a:highlight>
                  <a:srgbClr val="FFB9FC"/>
                </a:highlight>
                <a:latin typeface="Helvetica Neue"/>
                <a:ea typeface="Helvetica Neue"/>
                <a:cs typeface="Helvetica Neue"/>
                <a:sym typeface="Helvetica Neue"/>
              </a:rPr>
              <a:t>exception </a:t>
            </a:r>
            <a:r>
              <a:rPr lang="en-US" sz="1800" b="0" i="0" u="none" strike="noStrike" cap="none" dirty="0">
                <a:solidFill>
                  <a:schemeClr val="dk1"/>
                </a:solidFill>
                <a:highlight>
                  <a:srgbClr val="FFB9FC"/>
                </a:highlight>
                <a:latin typeface="Helvetica Neue"/>
                <a:ea typeface="Helvetica Neue"/>
                <a:cs typeface="Helvetica Neue"/>
                <a:sym typeface="Helvetica Neue"/>
              </a:rPr>
              <a:t>or </a:t>
            </a:r>
            <a:r>
              <a:rPr lang="en-US" sz="1800" b="1" i="0" u="none" strike="noStrike" cap="none" dirty="0">
                <a:solidFill>
                  <a:srgbClr val="3366FF"/>
                </a:solidFill>
                <a:highlight>
                  <a:srgbClr val="FFB9FC"/>
                </a:highlight>
                <a:latin typeface="Helvetica Neue"/>
                <a:ea typeface="Helvetica Neue"/>
                <a:cs typeface="Helvetica Neue"/>
                <a:sym typeface="Helvetica Neue"/>
              </a:rPr>
              <a:t>trap):</a:t>
            </a:r>
            <a:endParaRPr dirty="0">
              <a:highlight>
                <a:srgbClr val="FFB9FC"/>
              </a:highlight>
            </a:endParaRPr>
          </a:p>
          <a:p>
            <a:pPr marL="1143000" lvl="2" indent="-285750">
              <a:lnSpc>
                <a:spcPct val="90000"/>
              </a:lnSpc>
              <a:spcBef>
                <a:spcPts val="630"/>
              </a:spcBef>
              <a:buClr>
                <a:srgbClr val="009900"/>
              </a:buClr>
              <a:buSzPts val="1350"/>
            </a:pPr>
            <a:r>
              <a:rPr lang="en-US" sz="1800" b="0" i="0" u="none" strike="noStrike" cap="none" dirty="0">
                <a:solidFill>
                  <a:schemeClr val="dk1"/>
                </a:solidFill>
                <a:highlight>
                  <a:srgbClr val="FFB9FC"/>
                </a:highlight>
                <a:latin typeface="Helvetica Neue"/>
                <a:ea typeface="Helvetica Neue"/>
                <a:cs typeface="Helvetica Neue"/>
                <a:sym typeface="Helvetica Neue"/>
              </a:rPr>
              <a:t>Software error (e.g., division by zero)</a:t>
            </a:r>
            <a:endParaRPr sz="1800" b="1" i="0" u="none" strike="noStrike" cap="none" dirty="0">
              <a:solidFill>
                <a:srgbClr val="3366FF"/>
              </a:solidFill>
              <a:highlight>
                <a:srgbClr val="FFB9FC"/>
              </a:highlight>
              <a:latin typeface="Helvetica Neue"/>
              <a:ea typeface="Helvetica Neue"/>
              <a:cs typeface="Helvetica Neue"/>
              <a:sym typeface="Helvetica Neue"/>
            </a:endParaRPr>
          </a:p>
          <a:p>
            <a:pPr marL="1143000" lvl="2" indent="-285750">
              <a:lnSpc>
                <a:spcPct val="90000"/>
              </a:lnSpc>
              <a:spcBef>
                <a:spcPts val="630"/>
              </a:spcBef>
              <a:buClr>
                <a:srgbClr val="009900"/>
              </a:buClr>
              <a:buSzPts val="1350"/>
            </a:pPr>
            <a:r>
              <a:rPr lang="en-US" sz="1800" b="0" i="0" u="none" strike="noStrike" cap="none" dirty="0">
                <a:solidFill>
                  <a:schemeClr val="dk1"/>
                </a:solidFill>
                <a:highlight>
                  <a:srgbClr val="FFB9FC"/>
                </a:highlight>
                <a:latin typeface="Helvetica Neue"/>
                <a:ea typeface="Helvetica Neue"/>
                <a:cs typeface="Helvetica Neue"/>
                <a:sym typeface="Helvetica Neue"/>
              </a:rPr>
              <a:t>Request for operating system service</a:t>
            </a:r>
            <a:endParaRPr dirty="0">
              <a:highlight>
                <a:srgbClr val="FFB9FC"/>
              </a:highlight>
            </a:endParaRPr>
          </a:p>
          <a:p>
            <a:pPr marL="1143000" lvl="2" indent="-285750">
              <a:lnSpc>
                <a:spcPct val="90000"/>
              </a:lnSpc>
              <a:spcBef>
                <a:spcPts val="630"/>
              </a:spcBef>
              <a:buClr>
                <a:srgbClr val="009900"/>
              </a:buClr>
              <a:buSzPts val="1350"/>
            </a:pPr>
            <a:r>
              <a:rPr lang="en-US" sz="1800" b="0" i="0" u="none" strike="noStrike" cap="none" dirty="0">
                <a:solidFill>
                  <a:schemeClr val="dk1"/>
                </a:solidFill>
                <a:highlight>
                  <a:srgbClr val="FFB9FC"/>
                </a:highlight>
                <a:latin typeface="Helvetica Neue"/>
                <a:ea typeface="Helvetica Neue"/>
                <a:cs typeface="Helvetica Neue"/>
                <a:sym typeface="Helvetica Neue"/>
              </a:rPr>
              <a:t>Other process problems include</a:t>
            </a:r>
            <a:r>
              <a:rPr lang="en-US" sz="1800" b="0" i="0" u="none" strike="noStrike" cap="none" dirty="0">
                <a:solidFill>
                  <a:schemeClr val="dk1"/>
                </a:solidFill>
                <a:latin typeface="Helvetica Neue"/>
                <a:ea typeface="Helvetica Neue"/>
                <a:cs typeface="Helvetica Neue"/>
                <a:sym typeface="Helvetica Neue"/>
              </a:rPr>
              <a:t> infinite loop, </a:t>
            </a:r>
            <a:r>
              <a:rPr lang="en-US" sz="1800" b="0" i="0" u="none" strike="noStrike" cap="none" dirty="0">
                <a:solidFill>
                  <a:schemeClr val="dk1"/>
                </a:solidFill>
                <a:highlight>
                  <a:srgbClr val="FFB9FC"/>
                </a:highlight>
                <a:latin typeface="Helvetica Neue"/>
                <a:ea typeface="Helvetica Neue"/>
                <a:cs typeface="Helvetica Neue"/>
                <a:sym typeface="Helvetica Neue"/>
              </a:rPr>
              <a:t>processes modifying each other or the operating system</a:t>
            </a:r>
            <a:endParaRPr dirty="0">
              <a:highlight>
                <a:srgbClr val="FFB9FC"/>
              </a:highlight>
            </a:endParaRPr>
          </a:p>
        </p:txBody>
      </p:sp>
    </p:spTree>
    <p:extLst>
      <p:ext uri="{BB962C8B-B14F-4D97-AF65-F5344CB8AC3E}">
        <p14:creationId xmlns:p14="http://schemas.microsoft.com/office/powerpoint/2010/main" val="4474328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2"/>
          <p:cNvSpPr txBox="1">
            <a:spLocks noGrp="1"/>
          </p:cNvSpPr>
          <p:nvPr>
            <p:ph type="title" idx="4294967295"/>
          </p:nvPr>
        </p:nvSpPr>
        <p:spPr>
          <a:xfrm>
            <a:off x="-307542" y="143018"/>
            <a:ext cx="7791600" cy="5763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6699"/>
              </a:buClr>
              <a:buSzPts val="3200"/>
              <a:buFont typeface="Arial"/>
              <a:buNone/>
            </a:pPr>
            <a:r>
              <a:rPr lang="en-US" sz="3200" b="1" i="0" u="none" strike="noStrike" cap="none" dirty="0">
                <a:solidFill>
                  <a:srgbClr val="006699"/>
                </a:solidFill>
                <a:highlight>
                  <a:srgbClr val="A4F9F9"/>
                </a:highlight>
                <a:latin typeface="Arial"/>
                <a:ea typeface="Arial"/>
                <a:cs typeface="Arial"/>
                <a:sym typeface="Arial"/>
              </a:rPr>
              <a:t>Operating-System Operations (cont.)</a:t>
            </a:r>
            <a:endParaRPr dirty="0">
              <a:highlight>
                <a:srgbClr val="A4F9F9"/>
              </a:highlight>
            </a:endParaRPr>
          </a:p>
        </p:txBody>
      </p:sp>
      <p:sp>
        <p:nvSpPr>
          <p:cNvPr id="255" name="Google Shape;255;p32"/>
          <p:cNvSpPr txBox="1">
            <a:spLocks noGrp="1"/>
          </p:cNvSpPr>
          <p:nvPr>
            <p:ph type="body" idx="4294967295"/>
          </p:nvPr>
        </p:nvSpPr>
        <p:spPr>
          <a:xfrm>
            <a:off x="138545" y="1011814"/>
            <a:ext cx="8866910" cy="4938712"/>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rgbClr val="993300"/>
              </a:buClr>
              <a:buSzPts val="1620"/>
              <a:buFont typeface="Arial"/>
              <a:buChar char="●"/>
            </a:pPr>
            <a:r>
              <a:rPr lang="en-US" sz="1800" b="1" i="0" u="none" dirty="0">
                <a:solidFill>
                  <a:srgbClr val="3366FF"/>
                </a:solidFill>
                <a:highlight>
                  <a:srgbClr val="FFB9FC"/>
                </a:highlight>
                <a:latin typeface="Helvetica Neue"/>
                <a:ea typeface="Helvetica Neue"/>
                <a:cs typeface="Helvetica Neue"/>
                <a:sym typeface="Helvetica Neue"/>
              </a:rPr>
              <a:t>Dual-mode </a:t>
            </a:r>
            <a:r>
              <a:rPr lang="en-US" sz="1800" b="0" i="0" u="none" dirty="0">
                <a:solidFill>
                  <a:schemeClr val="dk1"/>
                </a:solidFill>
                <a:highlight>
                  <a:srgbClr val="FFB9FC"/>
                </a:highlight>
                <a:latin typeface="Helvetica Neue"/>
                <a:ea typeface="Helvetica Neue"/>
                <a:cs typeface="Helvetica Neue"/>
                <a:sym typeface="Helvetica Neue"/>
              </a:rPr>
              <a:t>operation allows OS to protect itself and other system components</a:t>
            </a:r>
            <a:endParaRPr dirty="0">
              <a:highlight>
                <a:srgbClr val="FFB9FC"/>
              </a:highlight>
            </a:endParaRPr>
          </a:p>
          <a:p>
            <a:pPr marL="742950" lvl="1" indent="-285750">
              <a:lnSpc>
                <a:spcPct val="90000"/>
              </a:lnSpc>
              <a:spcBef>
                <a:spcPts val="630"/>
              </a:spcBef>
              <a:buClr>
                <a:srgbClr val="CC6600"/>
              </a:buClr>
              <a:buSzPts val="1440"/>
              <a:buFont typeface="Arial"/>
              <a:buChar char="●"/>
            </a:pPr>
            <a:r>
              <a:rPr lang="en-US" sz="1800" b="1" i="0" u="none" strike="noStrike" cap="none" dirty="0">
                <a:solidFill>
                  <a:srgbClr val="3366FF"/>
                </a:solidFill>
                <a:highlight>
                  <a:srgbClr val="FFB9FC"/>
                </a:highlight>
                <a:latin typeface="Helvetica Neue"/>
                <a:ea typeface="Helvetica Neue"/>
                <a:cs typeface="Helvetica Neue"/>
                <a:sym typeface="Helvetica Neue"/>
              </a:rPr>
              <a:t>User mode </a:t>
            </a:r>
            <a:r>
              <a:rPr lang="en-US" sz="1800" b="0" i="0" u="none" strike="noStrike" cap="none" dirty="0">
                <a:solidFill>
                  <a:schemeClr val="dk1"/>
                </a:solidFill>
                <a:highlight>
                  <a:srgbClr val="FFB9FC"/>
                </a:highlight>
                <a:latin typeface="Helvetica Neue"/>
                <a:ea typeface="Helvetica Neue"/>
                <a:cs typeface="Helvetica Neue"/>
                <a:sym typeface="Helvetica Neue"/>
              </a:rPr>
              <a:t>and </a:t>
            </a:r>
            <a:r>
              <a:rPr lang="en-US" sz="1800" b="1" i="0" u="none" strike="noStrike" cap="none" dirty="0">
                <a:solidFill>
                  <a:srgbClr val="3366FF"/>
                </a:solidFill>
                <a:highlight>
                  <a:srgbClr val="FFB9FC"/>
                </a:highlight>
                <a:latin typeface="Helvetica Neue"/>
                <a:ea typeface="Helvetica Neue"/>
                <a:cs typeface="Helvetica Neue"/>
                <a:sym typeface="Helvetica Neue"/>
              </a:rPr>
              <a:t>kernel mode</a:t>
            </a:r>
            <a:r>
              <a:rPr lang="en-US" sz="1800" dirty="0">
                <a:highlight>
                  <a:srgbClr val="FFB9FC"/>
                </a:highlight>
                <a:latin typeface="Helvetica Neue"/>
                <a:ea typeface="Helvetica Neue"/>
                <a:cs typeface="Helvetica Neue"/>
              </a:rPr>
              <a:t> (also called supervisor mode, system mode, or privileged mode).</a:t>
            </a:r>
            <a:endParaRPr sz="1800" dirty="0">
              <a:highlight>
                <a:srgbClr val="FFB9FC"/>
              </a:highlight>
              <a:latin typeface="Helvetica Neue"/>
              <a:ea typeface="Helvetica Neue"/>
              <a:cs typeface="Helvetica Neue"/>
            </a:endParaRPr>
          </a:p>
          <a:p>
            <a:pPr marL="742950" marR="0" lvl="1" indent="-285750" algn="l" rtl="0">
              <a:lnSpc>
                <a:spcPct val="90000"/>
              </a:lnSpc>
              <a:spcBef>
                <a:spcPts val="630"/>
              </a:spcBef>
              <a:spcAft>
                <a:spcPts val="0"/>
              </a:spcAft>
              <a:buClr>
                <a:srgbClr val="CC6600"/>
              </a:buClr>
              <a:buSzPts val="1440"/>
              <a:buFont typeface="Arial"/>
              <a:buChar char="●"/>
            </a:pPr>
            <a:r>
              <a:rPr lang="en-US" sz="1800" b="1" i="0" u="none" strike="noStrike" cap="none" dirty="0">
                <a:solidFill>
                  <a:srgbClr val="3366FF"/>
                </a:solidFill>
                <a:highlight>
                  <a:srgbClr val="FFB9FC"/>
                </a:highlight>
                <a:latin typeface="Helvetica Neue"/>
                <a:ea typeface="Helvetica Neue"/>
                <a:cs typeface="Helvetica Neue"/>
                <a:sym typeface="Helvetica Neue"/>
              </a:rPr>
              <a:t>Mode bit </a:t>
            </a:r>
            <a:r>
              <a:rPr lang="en-US" sz="1800" b="0" i="0" u="none" strike="noStrike" cap="none" dirty="0">
                <a:solidFill>
                  <a:schemeClr val="dk1"/>
                </a:solidFill>
                <a:highlight>
                  <a:srgbClr val="FFB9FC"/>
                </a:highlight>
                <a:latin typeface="Helvetica Neue"/>
                <a:ea typeface="Helvetica Neue"/>
                <a:cs typeface="Helvetica Neue"/>
                <a:sym typeface="Helvetica Neue"/>
              </a:rPr>
              <a:t>provided by hardware</a:t>
            </a:r>
            <a:endParaRPr dirty="0">
              <a:highlight>
                <a:srgbClr val="FFB9FC"/>
              </a:highlight>
            </a:endParaRPr>
          </a:p>
          <a:p>
            <a:pPr marL="1143000" lvl="2" indent="-285750">
              <a:lnSpc>
                <a:spcPct val="90000"/>
              </a:lnSpc>
              <a:spcBef>
                <a:spcPts val="630"/>
              </a:spcBef>
              <a:buClr>
                <a:srgbClr val="009900"/>
              </a:buClr>
              <a:buSzPts val="1350"/>
            </a:pPr>
            <a:r>
              <a:rPr lang="en-US" sz="1800" b="0" i="0" u="none" strike="noStrike" cap="none" dirty="0">
                <a:solidFill>
                  <a:schemeClr val="dk1"/>
                </a:solidFill>
                <a:highlight>
                  <a:srgbClr val="FFB9FC"/>
                </a:highlight>
                <a:latin typeface="Helvetica Neue"/>
                <a:ea typeface="Helvetica Neue"/>
                <a:cs typeface="Helvetica Neue"/>
                <a:sym typeface="Helvetica Neue"/>
              </a:rPr>
              <a:t>Provides ability to distinguish when system is running user code or kernel code</a:t>
            </a:r>
            <a:endParaRPr dirty="0">
              <a:highlight>
                <a:srgbClr val="FFB9FC"/>
              </a:highlight>
            </a:endParaRPr>
          </a:p>
          <a:p>
            <a:pPr marL="1143000" lvl="2" indent="-285750">
              <a:lnSpc>
                <a:spcPct val="90000"/>
              </a:lnSpc>
              <a:spcBef>
                <a:spcPts val="630"/>
              </a:spcBef>
              <a:buClr>
                <a:srgbClr val="009900"/>
              </a:buClr>
              <a:buSzPts val="1350"/>
            </a:pPr>
            <a:r>
              <a:rPr lang="en-US" sz="1800" b="0" i="0" u="none" strike="noStrike" cap="none" dirty="0">
                <a:solidFill>
                  <a:schemeClr val="dk1"/>
                </a:solidFill>
                <a:highlight>
                  <a:srgbClr val="FFB9FC"/>
                </a:highlight>
                <a:latin typeface="Helvetica Neue"/>
                <a:ea typeface="Helvetica Neue"/>
                <a:cs typeface="Helvetica Neue"/>
                <a:sym typeface="Helvetica Neue"/>
              </a:rPr>
              <a:t>Some instructions designated as </a:t>
            </a:r>
            <a:r>
              <a:rPr lang="en-US" sz="1800" b="1" i="0" u="none" strike="noStrike" cap="none" dirty="0">
                <a:solidFill>
                  <a:srgbClr val="3366FF"/>
                </a:solidFill>
                <a:highlight>
                  <a:srgbClr val="FFB9FC"/>
                </a:highlight>
                <a:latin typeface="Helvetica Neue"/>
                <a:ea typeface="Helvetica Neue"/>
                <a:cs typeface="Helvetica Neue"/>
                <a:sym typeface="Helvetica Neue"/>
              </a:rPr>
              <a:t>privileged</a:t>
            </a:r>
            <a:r>
              <a:rPr lang="en-US" sz="1800" b="0" i="0" u="none" strike="noStrike" cap="none" dirty="0">
                <a:solidFill>
                  <a:schemeClr val="dk1"/>
                </a:solidFill>
                <a:highlight>
                  <a:srgbClr val="FFB9FC"/>
                </a:highlight>
                <a:latin typeface="Helvetica Neue"/>
                <a:ea typeface="Helvetica Neue"/>
                <a:cs typeface="Helvetica Neue"/>
                <a:sym typeface="Helvetica Neue"/>
              </a:rPr>
              <a:t>, only executable in kernel mode</a:t>
            </a:r>
            <a:endParaRPr dirty="0">
              <a:highlight>
                <a:srgbClr val="FFB9FC"/>
              </a:highlight>
            </a:endParaRPr>
          </a:p>
          <a:p>
            <a:pPr marL="1143000" lvl="2" indent="-285750">
              <a:lnSpc>
                <a:spcPct val="90000"/>
              </a:lnSpc>
              <a:spcBef>
                <a:spcPts val="630"/>
              </a:spcBef>
              <a:buClr>
                <a:srgbClr val="009900"/>
              </a:buClr>
              <a:buSzPts val="1350"/>
            </a:pPr>
            <a:r>
              <a:rPr lang="en-US" sz="1800" b="0" i="0" u="none" strike="noStrike" cap="none" dirty="0">
                <a:solidFill>
                  <a:schemeClr val="dk1"/>
                </a:solidFill>
                <a:highlight>
                  <a:srgbClr val="FFB9FC"/>
                </a:highlight>
                <a:latin typeface="Helvetica Neue"/>
                <a:ea typeface="Helvetica Neue"/>
                <a:cs typeface="Helvetica Neue"/>
                <a:sym typeface="Helvetica Neue"/>
              </a:rPr>
              <a:t>System call changes mode to kernel, return from call resets it to user</a:t>
            </a:r>
            <a:endParaRPr dirty="0">
              <a:highlight>
                <a:srgbClr val="FFB9FC"/>
              </a:highlight>
            </a:endParaRPr>
          </a:p>
          <a:p>
            <a:pPr marL="342900" marR="0" lvl="0" indent="-342900" algn="l" rtl="0">
              <a:lnSpc>
                <a:spcPct val="90000"/>
              </a:lnSpc>
              <a:spcBef>
                <a:spcPts val="630"/>
              </a:spcBef>
              <a:spcAft>
                <a:spcPts val="0"/>
              </a:spcAft>
              <a:buClr>
                <a:srgbClr val="993300"/>
              </a:buClr>
              <a:buSzPts val="1620"/>
              <a:buFont typeface="Arial"/>
              <a:buChar char="●"/>
            </a:pPr>
            <a:r>
              <a:rPr lang="en-US" sz="1800" b="0" i="0" u="none" dirty="0">
                <a:solidFill>
                  <a:schemeClr val="dk1"/>
                </a:solidFill>
                <a:highlight>
                  <a:srgbClr val="FFB9FC"/>
                </a:highlight>
                <a:latin typeface="Helvetica Neue"/>
                <a:ea typeface="Helvetica Neue"/>
                <a:cs typeface="Helvetica Neue"/>
                <a:sym typeface="Helvetica Neue"/>
              </a:rPr>
              <a:t>Increasingly CPUs support multi-mode operations</a:t>
            </a:r>
            <a:endParaRPr dirty="0">
              <a:highlight>
                <a:srgbClr val="FFB9FC"/>
              </a:highlight>
            </a:endParaRPr>
          </a:p>
          <a:p>
            <a:pPr marL="742950" marR="0" lvl="1" indent="-285750" algn="l" rtl="0">
              <a:lnSpc>
                <a:spcPct val="90000"/>
              </a:lnSpc>
              <a:spcBef>
                <a:spcPts val="630"/>
              </a:spcBef>
              <a:spcAft>
                <a:spcPts val="0"/>
              </a:spcAft>
              <a:buClr>
                <a:srgbClr val="CC6600"/>
              </a:buClr>
              <a:buSzPts val="1440"/>
              <a:buFont typeface="Arial"/>
              <a:buChar char="●"/>
            </a:pPr>
            <a:r>
              <a:rPr lang="en-US" sz="1800" b="0" i="0" u="none" strike="noStrike" cap="none" dirty="0">
                <a:solidFill>
                  <a:schemeClr val="dk1"/>
                </a:solidFill>
                <a:highlight>
                  <a:srgbClr val="FFB9FC"/>
                </a:highlight>
                <a:latin typeface="Helvetica Neue"/>
                <a:ea typeface="Helvetica Neue"/>
                <a:cs typeface="Helvetica Neue"/>
                <a:sym typeface="Helvetica Neue"/>
              </a:rPr>
              <a:t>i.e. </a:t>
            </a:r>
            <a:r>
              <a:rPr lang="en-US" sz="1800" b="1" i="0" u="none" strike="noStrike" cap="none" dirty="0">
                <a:solidFill>
                  <a:srgbClr val="3366FF"/>
                </a:solidFill>
                <a:highlight>
                  <a:srgbClr val="FFB9FC"/>
                </a:highlight>
                <a:latin typeface="Helvetica Neue"/>
                <a:ea typeface="Helvetica Neue"/>
                <a:cs typeface="Helvetica Neue"/>
                <a:sym typeface="Helvetica Neue"/>
              </a:rPr>
              <a:t>virtual machine manager </a:t>
            </a:r>
            <a:r>
              <a:rPr lang="en-US" sz="1800" b="0" i="0" u="none" strike="noStrike" cap="none" dirty="0">
                <a:solidFill>
                  <a:schemeClr val="dk1"/>
                </a:solidFill>
                <a:highlight>
                  <a:srgbClr val="FFB9FC"/>
                </a:highlight>
                <a:latin typeface="Helvetica Neue"/>
                <a:ea typeface="Helvetica Neue"/>
                <a:cs typeface="Helvetica Neue"/>
                <a:sym typeface="Helvetica Neue"/>
              </a:rPr>
              <a:t>(</a:t>
            </a:r>
            <a:r>
              <a:rPr lang="en-US" sz="1800" b="1" i="0" u="none" strike="noStrike" cap="none" dirty="0">
                <a:solidFill>
                  <a:srgbClr val="3366FF"/>
                </a:solidFill>
                <a:highlight>
                  <a:srgbClr val="FFB9FC"/>
                </a:highlight>
                <a:latin typeface="Helvetica Neue"/>
                <a:ea typeface="Helvetica Neue"/>
                <a:cs typeface="Helvetica Neue"/>
                <a:sym typeface="Helvetica Neue"/>
              </a:rPr>
              <a:t>VMM</a:t>
            </a:r>
            <a:r>
              <a:rPr lang="en-US" sz="1800" b="0" i="0" u="none" strike="noStrike" cap="none" dirty="0">
                <a:solidFill>
                  <a:schemeClr val="dk1"/>
                </a:solidFill>
                <a:highlight>
                  <a:srgbClr val="FFB9FC"/>
                </a:highlight>
                <a:latin typeface="Helvetica Neue"/>
                <a:ea typeface="Helvetica Neue"/>
                <a:cs typeface="Helvetica Neue"/>
                <a:sym typeface="Helvetica Neue"/>
              </a:rPr>
              <a:t>) mode for guest </a:t>
            </a:r>
            <a:r>
              <a:rPr lang="en-US" sz="1800" b="1" i="0" u="none" strike="noStrike" cap="none" dirty="0">
                <a:solidFill>
                  <a:srgbClr val="3366FF"/>
                </a:solidFill>
                <a:highlight>
                  <a:srgbClr val="FFB9FC"/>
                </a:highlight>
                <a:latin typeface="Helvetica Neue"/>
                <a:ea typeface="Helvetica Neue"/>
                <a:cs typeface="Helvetica Neue"/>
                <a:sym typeface="Helvetica Neue"/>
              </a:rPr>
              <a:t>VMs</a:t>
            </a:r>
            <a:endParaRPr dirty="0">
              <a:highlight>
                <a:srgbClr val="FFB9FC"/>
              </a:highlight>
            </a:endParaRPr>
          </a:p>
          <a:p>
            <a:pPr marL="342900" marR="0" lvl="0" indent="-240030" algn="l" rtl="0">
              <a:spcBef>
                <a:spcPts val="630"/>
              </a:spcBef>
              <a:spcAft>
                <a:spcPts val="0"/>
              </a:spcAft>
              <a:buClr>
                <a:srgbClr val="993300"/>
              </a:buClr>
              <a:buSzPts val="1620"/>
              <a:buFont typeface="Arial"/>
              <a:buNone/>
            </a:pPr>
            <a:endParaRPr sz="1800" b="1" i="0" u="none" strike="noStrike" cap="none" dirty="0">
              <a:solidFill>
                <a:srgbClr val="3366FF"/>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3362275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3"/>
          <p:cNvSpPr txBox="1">
            <a:spLocks noGrp="1"/>
          </p:cNvSpPr>
          <p:nvPr>
            <p:ph type="title" idx="4294967295"/>
          </p:nvPr>
        </p:nvSpPr>
        <p:spPr>
          <a:xfrm>
            <a:off x="-42062" y="136525"/>
            <a:ext cx="8415337" cy="576262"/>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6699"/>
              </a:buClr>
              <a:buSzPts val="3200"/>
              <a:buFont typeface="Arial"/>
              <a:buNone/>
            </a:pPr>
            <a:r>
              <a:rPr lang="en-US" sz="3200" b="1" i="0" u="none" strike="noStrike" cap="none" dirty="0">
                <a:solidFill>
                  <a:srgbClr val="006699"/>
                </a:solidFill>
                <a:highlight>
                  <a:srgbClr val="A4F9F9"/>
                </a:highlight>
                <a:latin typeface="Arial"/>
                <a:ea typeface="Arial"/>
                <a:cs typeface="Arial"/>
                <a:sym typeface="Arial"/>
              </a:rPr>
              <a:t>Transition from User to Kernel Mode</a:t>
            </a:r>
            <a:endParaRPr dirty="0">
              <a:highlight>
                <a:srgbClr val="A4F9F9"/>
              </a:highlight>
            </a:endParaRPr>
          </a:p>
        </p:txBody>
      </p:sp>
      <p:sp>
        <p:nvSpPr>
          <p:cNvPr id="261" name="Google Shape;261;p33"/>
          <p:cNvSpPr txBox="1">
            <a:spLocks noGrp="1"/>
          </p:cNvSpPr>
          <p:nvPr>
            <p:ph type="body" idx="4294967295"/>
          </p:nvPr>
        </p:nvSpPr>
        <p:spPr>
          <a:xfrm>
            <a:off x="341744" y="1060450"/>
            <a:ext cx="8552873" cy="281781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993300"/>
              </a:buClr>
              <a:buSzPts val="1620"/>
              <a:buFont typeface="Arial"/>
              <a:buChar char="●"/>
            </a:pPr>
            <a:r>
              <a:rPr lang="en-US" sz="1800" b="0" i="0" u="none" dirty="0">
                <a:solidFill>
                  <a:schemeClr val="dk1"/>
                </a:solidFill>
                <a:highlight>
                  <a:srgbClr val="FFB9FC"/>
                </a:highlight>
                <a:latin typeface="Helvetica Neue"/>
                <a:ea typeface="Helvetica Neue"/>
                <a:cs typeface="Helvetica Neue"/>
                <a:sym typeface="Helvetica Neue"/>
              </a:rPr>
              <a:t>Timer to prevent infinite loop</a:t>
            </a:r>
            <a:r>
              <a:rPr lang="en-US" sz="1800" b="0" i="0" u="none" dirty="0">
                <a:solidFill>
                  <a:schemeClr val="dk1"/>
                </a:solidFill>
                <a:latin typeface="Helvetica Neue"/>
                <a:ea typeface="Helvetica Neue"/>
                <a:cs typeface="Helvetica Neue"/>
                <a:sym typeface="Helvetica Neue"/>
              </a:rPr>
              <a:t> / process hogging resources</a:t>
            </a:r>
            <a:endParaRPr dirty="0"/>
          </a:p>
          <a:p>
            <a:pPr marL="742950" marR="0" lvl="1" indent="-285750" algn="l" rtl="0">
              <a:lnSpc>
                <a:spcPct val="100000"/>
              </a:lnSpc>
              <a:spcBef>
                <a:spcPts val="630"/>
              </a:spcBef>
              <a:spcAft>
                <a:spcPts val="0"/>
              </a:spcAft>
              <a:buClr>
                <a:srgbClr val="CC6600"/>
              </a:buClr>
              <a:buSzPts val="1440"/>
              <a:buFont typeface="Arial"/>
              <a:buChar char="●"/>
            </a:pPr>
            <a:r>
              <a:rPr lang="en-US" sz="1800" b="0" i="0" u="none" strike="noStrike" cap="none" dirty="0">
                <a:solidFill>
                  <a:schemeClr val="dk1"/>
                </a:solidFill>
                <a:highlight>
                  <a:srgbClr val="FFB9FC"/>
                </a:highlight>
                <a:latin typeface="Helvetica Neue"/>
                <a:ea typeface="Helvetica Neue"/>
                <a:cs typeface="Helvetica Neue"/>
                <a:sym typeface="Helvetica Neue"/>
              </a:rPr>
              <a:t>Timer is set to interrupt the computer after some time period</a:t>
            </a:r>
            <a:endParaRPr dirty="0">
              <a:highlight>
                <a:srgbClr val="FFB9FC"/>
              </a:highlight>
            </a:endParaRPr>
          </a:p>
          <a:p>
            <a:pPr marL="742950" marR="0" lvl="1" indent="-285750" algn="l" rtl="0">
              <a:lnSpc>
                <a:spcPct val="100000"/>
              </a:lnSpc>
              <a:spcBef>
                <a:spcPts val="630"/>
              </a:spcBef>
              <a:spcAft>
                <a:spcPts val="0"/>
              </a:spcAft>
              <a:buClr>
                <a:srgbClr val="CC6600"/>
              </a:buClr>
              <a:buSzPts val="1440"/>
              <a:buFont typeface="Arial"/>
              <a:buChar char="●"/>
            </a:pPr>
            <a:r>
              <a:rPr lang="en-US" sz="1800" b="0" i="0" u="none" strike="noStrike" cap="none" dirty="0">
                <a:solidFill>
                  <a:schemeClr val="dk1"/>
                </a:solidFill>
                <a:highlight>
                  <a:srgbClr val="FFB9FC"/>
                </a:highlight>
                <a:latin typeface="Helvetica Neue"/>
                <a:ea typeface="Helvetica Neue"/>
                <a:cs typeface="Helvetica Neue"/>
                <a:sym typeface="Helvetica Neue"/>
              </a:rPr>
              <a:t>Keep a counter that is decremented by the physical clock.</a:t>
            </a:r>
            <a:endParaRPr dirty="0">
              <a:highlight>
                <a:srgbClr val="FFB9FC"/>
              </a:highlight>
            </a:endParaRPr>
          </a:p>
          <a:p>
            <a:pPr marL="742950" marR="0" lvl="1" indent="-285750" algn="l" rtl="0">
              <a:lnSpc>
                <a:spcPct val="100000"/>
              </a:lnSpc>
              <a:spcBef>
                <a:spcPts val="630"/>
              </a:spcBef>
              <a:spcAft>
                <a:spcPts val="0"/>
              </a:spcAft>
              <a:buClr>
                <a:srgbClr val="CC6600"/>
              </a:buClr>
              <a:buSzPts val="1440"/>
              <a:buFont typeface="Arial"/>
              <a:buChar char="●"/>
            </a:pPr>
            <a:r>
              <a:rPr lang="en-US" sz="1800" b="0" i="0" u="none" strike="noStrike" cap="none" dirty="0">
                <a:solidFill>
                  <a:schemeClr val="dk1"/>
                </a:solidFill>
                <a:highlight>
                  <a:srgbClr val="FFB9FC"/>
                </a:highlight>
                <a:latin typeface="Helvetica Neue"/>
                <a:ea typeface="Helvetica Neue"/>
                <a:cs typeface="Helvetica Neue"/>
                <a:sym typeface="Helvetica Neue"/>
              </a:rPr>
              <a:t>Operating system set the counter (privileged instruction)</a:t>
            </a:r>
            <a:endParaRPr dirty="0">
              <a:highlight>
                <a:srgbClr val="FFB9FC"/>
              </a:highlight>
            </a:endParaRPr>
          </a:p>
          <a:p>
            <a:pPr marL="742950" marR="0" lvl="1" indent="-285750" algn="l" rtl="0">
              <a:lnSpc>
                <a:spcPct val="100000"/>
              </a:lnSpc>
              <a:spcBef>
                <a:spcPts val="630"/>
              </a:spcBef>
              <a:spcAft>
                <a:spcPts val="0"/>
              </a:spcAft>
              <a:buClr>
                <a:srgbClr val="CC6600"/>
              </a:buClr>
              <a:buSzPts val="1440"/>
              <a:buFont typeface="Arial"/>
              <a:buChar char="●"/>
            </a:pPr>
            <a:r>
              <a:rPr lang="en-US" sz="1800" b="0" i="0" u="none" strike="noStrike" cap="none" dirty="0">
                <a:solidFill>
                  <a:schemeClr val="dk1"/>
                </a:solidFill>
                <a:highlight>
                  <a:srgbClr val="FFB9FC"/>
                </a:highlight>
                <a:latin typeface="Helvetica Neue"/>
                <a:ea typeface="Helvetica Neue"/>
                <a:cs typeface="Helvetica Neue"/>
                <a:sym typeface="Helvetica Neue"/>
              </a:rPr>
              <a:t>When counter zero generate an interrupt</a:t>
            </a:r>
            <a:endParaRPr dirty="0">
              <a:highlight>
                <a:srgbClr val="FFB9FC"/>
              </a:highlight>
            </a:endParaRPr>
          </a:p>
          <a:p>
            <a:pPr marL="742950" marR="0" lvl="1" indent="-285750" algn="l" rtl="0">
              <a:lnSpc>
                <a:spcPct val="100000"/>
              </a:lnSpc>
              <a:spcBef>
                <a:spcPts val="630"/>
              </a:spcBef>
              <a:spcAft>
                <a:spcPts val="0"/>
              </a:spcAft>
              <a:buClr>
                <a:srgbClr val="CC6600"/>
              </a:buClr>
              <a:buSzPts val="1440"/>
              <a:buFont typeface="Arial"/>
              <a:buChar char="●"/>
            </a:pPr>
            <a:r>
              <a:rPr lang="en-US" sz="1800" b="0" i="0" u="none" strike="noStrike" cap="none" dirty="0">
                <a:solidFill>
                  <a:schemeClr val="dk1"/>
                </a:solidFill>
                <a:latin typeface="Helvetica Neue"/>
                <a:ea typeface="Helvetica Neue"/>
                <a:cs typeface="Helvetica Neue"/>
                <a:sym typeface="Helvetica Neue"/>
              </a:rPr>
              <a:t>Set up before scheduling process to regain control or terminate program that exceeds allotted time</a:t>
            </a:r>
            <a:endParaRPr dirty="0"/>
          </a:p>
        </p:txBody>
      </p:sp>
      <p:pic>
        <p:nvPicPr>
          <p:cNvPr id="262" name="Google Shape;262;p33"/>
          <p:cNvPicPr preferRelativeResize="0"/>
          <p:nvPr/>
        </p:nvPicPr>
        <p:blipFill rotWithShape="1">
          <a:blip r:embed="rId3">
            <a:alphaModFix/>
          </a:blip>
          <a:srcRect/>
          <a:stretch/>
        </p:blipFill>
        <p:spPr>
          <a:xfrm>
            <a:off x="770738" y="3721675"/>
            <a:ext cx="7602537" cy="2346325"/>
          </a:xfrm>
          <a:prstGeom prst="rect">
            <a:avLst/>
          </a:prstGeom>
          <a:noFill/>
          <a:ln>
            <a:noFill/>
          </a:ln>
        </p:spPr>
      </p:pic>
    </p:spTree>
    <p:extLst>
      <p:ext uri="{BB962C8B-B14F-4D97-AF65-F5344CB8AC3E}">
        <p14:creationId xmlns:p14="http://schemas.microsoft.com/office/powerpoint/2010/main" val="1130503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PlaceHolder 1"/>
          <p:cNvSpPr>
            <a:spLocks noGrp="1"/>
          </p:cNvSpPr>
          <p:nvPr>
            <p:ph type="title"/>
          </p:nvPr>
        </p:nvSpPr>
        <p:spPr>
          <a:xfrm>
            <a:off x="0" y="0"/>
            <a:ext cx="6476040" cy="837000"/>
          </a:xfrm>
          <a:prstGeom prst="rect">
            <a:avLst/>
          </a:prstGeom>
          <a:noFill/>
          <a:ln w="0">
            <a:noFill/>
          </a:ln>
        </p:spPr>
        <p:txBody>
          <a:bodyPr lIns="90000" tIns="45000" rIns="90000" bIns="45000" anchor="ctr">
            <a:noAutofit/>
          </a:bodyPr>
          <a:lstStyle/>
          <a:p>
            <a:pPr indent="0">
              <a:lnSpc>
                <a:spcPct val="100000"/>
              </a:lnSpc>
              <a:buNone/>
              <a:tabLst>
                <a:tab pos="0" algn="l"/>
              </a:tabLst>
            </a:pPr>
            <a:r>
              <a:rPr lang="en-US" sz="3000" b="0" strike="noStrike" spc="-1">
                <a:solidFill>
                  <a:schemeClr val="dk1"/>
                </a:solidFill>
                <a:latin typeface="Calibri"/>
                <a:ea typeface="Calibri"/>
              </a:rPr>
              <a:t>Cont….</a:t>
            </a:r>
            <a:endParaRPr lang="en-US" sz="3000" b="0" strike="noStrike" spc="-1">
              <a:solidFill>
                <a:srgbClr val="000000"/>
              </a:solidFill>
              <a:latin typeface="Arial" panose="020B0604020202090204"/>
            </a:endParaRPr>
          </a:p>
        </p:txBody>
      </p:sp>
      <p:sp>
        <p:nvSpPr>
          <p:cNvPr id="270" name="PlaceHolder 2"/>
          <p:cNvSpPr>
            <a:spLocks noGrp="1"/>
          </p:cNvSpPr>
          <p:nvPr>
            <p:ph/>
          </p:nvPr>
        </p:nvSpPr>
        <p:spPr>
          <a:xfrm>
            <a:off x="243720" y="1046520"/>
            <a:ext cx="8228520" cy="4524840"/>
          </a:xfrm>
          <a:prstGeom prst="rect">
            <a:avLst/>
          </a:prstGeom>
          <a:noFill/>
          <a:ln w="0">
            <a:noFill/>
          </a:ln>
        </p:spPr>
        <p:txBody>
          <a:bodyPr lIns="90000" tIns="45000" rIns="90000" bIns="45000" anchor="t">
            <a:noAutofit/>
          </a:bodyPr>
          <a:lstStyle/>
          <a:p>
            <a:pPr marL="457200" indent="-342900">
              <a:lnSpc>
                <a:spcPct val="100000"/>
              </a:lnSpc>
              <a:spcBef>
                <a:spcPts val="360"/>
              </a:spcBef>
              <a:buClr>
                <a:srgbClr val="000000"/>
              </a:buClr>
              <a:buFont typeface="Arial" panose="020B0604020202090204"/>
              <a:buChar char="•"/>
            </a:pPr>
            <a:r>
              <a:rPr lang="en-US" sz="2000" b="0" strike="noStrike" spc="-1">
                <a:solidFill>
                  <a:schemeClr val="dk1"/>
                </a:solidFill>
                <a:latin typeface="Times New Roman" panose="02020503050405090304"/>
                <a:ea typeface="Times New Roman" panose="02020503050405090304"/>
              </a:rPr>
              <a:t>There are essential components of an operating system (OS). Here's a breakdown of each component:</a:t>
            </a:r>
            <a:endParaRPr lang="en-US" sz="2000" b="0" strike="noStrike" spc="-1">
              <a:solidFill>
                <a:srgbClr val="000000"/>
              </a:solidFill>
              <a:latin typeface="Arial" panose="020B0604020202090204"/>
            </a:endParaRPr>
          </a:p>
          <a:p>
            <a:pPr marL="114300" indent="0">
              <a:lnSpc>
                <a:spcPct val="100000"/>
              </a:lnSpc>
              <a:spcBef>
                <a:spcPts val="360"/>
              </a:spcBef>
              <a:buNone/>
              <a:tabLst>
                <a:tab pos="0" algn="l"/>
              </a:tabLst>
            </a:pPr>
            <a:endParaRPr lang="en-US" sz="2000" b="0" strike="noStrike" spc="-1">
              <a:solidFill>
                <a:srgbClr val="000000"/>
              </a:solidFill>
              <a:latin typeface="Arial" panose="020B0604020202090204"/>
            </a:endParaRPr>
          </a:p>
          <a:p>
            <a:pPr marL="114300" indent="0">
              <a:lnSpc>
                <a:spcPct val="100000"/>
              </a:lnSpc>
              <a:spcBef>
                <a:spcPts val="360"/>
              </a:spcBef>
              <a:buNone/>
              <a:tabLst>
                <a:tab pos="0" algn="l"/>
              </a:tabLst>
            </a:pPr>
            <a:r>
              <a:rPr lang="en-US" sz="2800" b="1" strike="noStrike" spc="-1">
                <a:solidFill>
                  <a:schemeClr val="dk1"/>
                </a:solidFill>
                <a:latin typeface="Times New Roman" panose="02020503050405090304"/>
                <a:ea typeface="Times New Roman" panose="02020503050405090304"/>
              </a:rPr>
              <a:t>Process Management</a:t>
            </a:r>
            <a:r>
              <a:rPr lang="en-US" sz="2800" b="0" strike="noStrike" spc="-1">
                <a:solidFill>
                  <a:schemeClr val="dk1"/>
                </a:solidFill>
                <a:latin typeface="Times New Roman" panose="02020503050405090304"/>
                <a:ea typeface="Times New Roman" panose="02020503050405090304"/>
              </a:rPr>
              <a:t>:</a:t>
            </a:r>
            <a:endParaRPr lang="en-US" sz="2800" b="0" strike="noStrike" spc="-1">
              <a:solidFill>
                <a:srgbClr val="000000"/>
              </a:solidFill>
              <a:latin typeface="Arial" panose="020B0604020202090204"/>
            </a:endParaRPr>
          </a:p>
          <a:p>
            <a:pPr marL="114300" indent="0">
              <a:lnSpc>
                <a:spcPct val="100000"/>
              </a:lnSpc>
              <a:spcBef>
                <a:spcPts val="360"/>
              </a:spcBef>
              <a:buNone/>
              <a:tabLst>
                <a:tab pos="0" algn="l"/>
              </a:tabLst>
            </a:pP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This component manages processes (programs in execution), including their creation, scheduling, and termination.</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It ensures that processes have enough CPU time to run and that processes do not interfere with each other. It also handles multitasking and context switching.</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Key elements: Process scheduling, inter-process communication, process synchronization, and deadlock management.</a:t>
            </a:r>
            <a:endParaRPr lang="en-US" sz="2000" b="0" strike="noStrike" spc="-1">
              <a:solidFill>
                <a:srgbClr val="000000"/>
              </a:solidFill>
              <a:latin typeface="Arial" panose="020B0604020202090204"/>
            </a:endParaRPr>
          </a:p>
          <a:p>
            <a:pPr marL="114300" indent="0">
              <a:lnSpc>
                <a:spcPct val="100000"/>
              </a:lnSpc>
              <a:spcBef>
                <a:spcPts val="360"/>
              </a:spcBef>
              <a:buNone/>
              <a:tabLst>
                <a:tab pos="0" algn="l"/>
              </a:tabLst>
            </a:pPr>
            <a:endParaRPr lang="en-US" sz="2000" b="0" strike="noStrike" spc="-1">
              <a:solidFill>
                <a:srgbClr val="000000"/>
              </a:solidFill>
              <a:latin typeface="Arial" panose="020B0604020202090204"/>
            </a:endParaRPr>
          </a:p>
        </p:txBody>
      </p:sp>
      <p:sp>
        <p:nvSpPr>
          <p:cNvPr id="271" name="PlaceHolder 3"/>
          <p:cNvSpPr>
            <a:spLocks noGrp="1"/>
          </p:cNvSpPr>
          <p:nvPr>
            <p:ph type="sldNum" idx="25"/>
          </p:nvPr>
        </p:nvSpPr>
        <p:spPr>
          <a:xfrm>
            <a:off x="6553080" y="6356520"/>
            <a:ext cx="2132640" cy="363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98989"/>
                </a:solidFill>
                <a:latin typeface="Calibri"/>
                <a:ea typeface="Calibri"/>
              </a:defRPr>
            </a:lvl1pPr>
          </a:lstStyle>
          <a:p>
            <a:pPr indent="0" algn="r">
              <a:lnSpc>
                <a:spcPct val="100000"/>
              </a:lnSpc>
              <a:buNone/>
              <a:tabLst>
                <a:tab pos="0" algn="l"/>
              </a:tabLst>
            </a:pPr>
            <a:fld id="{947151C1-42FA-467F-B6DB-60F65A382A75}" type="slidenum">
              <a:rPr lang="en-US" sz="1200" b="0" strike="noStrike" spc="-1">
                <a:solidFill>
                  <a:srgbClr val="898989"/>
                </a:solidFill>
                <a:latin typeface="Calibri"/>
                <a:ea typeface="Calibri"/>
              </a:rPr>
              <a:t>30</a:t>
            </a:fld>
            <a:endParaRPr lang="en-IN" sz="1200" b="0" strike="noStrike" spc="-1">
              <a:solidFill>
                <a:srgbClr val="000000"/>
              </a:solidFill>
              <a:latin typeface="Times New Roman" panose="020205030504050903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PlaceHolder 1"/>
          <p:cNvSpPr>
            <a:spLocks noGrp="1"/>
          </p:cNvSpPr>
          <p:nvPr>
            <p:ph type="title"/>
          </p:nvPr>
        </p:nvSpPr>
        <p:spPr>
          <a:xfrm>
            <a:off x="0" y="0"/>
            <a:ext cx="6476040" cy="837000"/>
          </a:xfrm>
          <a:prstGeom prst="rect">
            <a:avLst/>
          </a:prstGeom>
          <a:noFill/>
          <a:ln w="0">
            <a:noFill/>
          </a:ln>
        </p:spPr>
        <p:txBody>
          <a:bodyPr lIns="90000" tIns="45000" rIns="90000" bIns="45000" anchor="ctr">
            <a:noAutofit/>
          </a:bodyPr>
          <a:lstStyle/>
          <a:p>
            <a:pPr indent="0">
              <a:lnSpc>
                <a:spcPct val="100000"/>
              </a:lnSpc>
              <a:buNone/>
              <a:tabLst>
                <a:tab pos="0" algn="l"/>
              </a:tabLst>
            </a:pPr>
            <a:r>
              <a:rPr lang="en-US" sz="3000" b="0" strike="noStrike" spc="-1">
                <a:solidFill>
                  <a:schemeClr val="dk1"/>
                </a:solidFill>
                <a:latin typeface="Calibri"/>
                <a:ea typeface="Calibri"/>
              </a:rPr>
              <a:t>Cont….</a:t>
            </a:r>
            <a:endParaRPr lang="en-US" sz="3000" b="0" strike="noStrike" spc="-1">
              <a:solidFill>
                <a:srgbClr val="000000"/>
              </a:solidFill>
              <a:latin typeface="Arial" panose="020B0604020202090204"/>
            </a:endParaRPr>
          </a:p>
        </p:txBody>
      </p:sp>
      <p:sp>
        <p:nvSpPr>
          <p:cNvPr id="273" name="PlaceHolder 2"/>
          <p:cNvSpPr>
            <a:spLocks noGrp="1"/>
          </p:cNvSpPr>
          <p:nvPr>
            <p:ph type="sldNum" idx="26"/>
          </p:nvPr>
        </p:nvSpPr>
        <p:spPr>
          <a:xfrm>
            <a:off x="6553080" y="6356520"/>
            <a:ext cx="2132640" cy="363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98989"/>
                </a:solidFill>
                <a:latin typeface="Calibri"/>
                <a:ea typeface="Calibri"/>
              </a:defRPr>
            </a:lvl1pPr>
          </a:lstStyle>
          <a:p>
            <a:pPr indent="0" algn="r">
              <a:lnSpc>
                <a:spcPct val="100000"/>
              </a:lnSpc>
              <a:buNone/>
              <a:tabLst>
                <a:tab pos="0" algn="l"/>
              </a:tabLst>
            </a:pPr>
            <a:fld id="{10927B8F-4E2E-479D-B272-202758094E5B}" type="slidenum">
              <a:rPr lang="en-US" sz="1200" b="0" strike="noStrike" spc="-1">
                <a:solidFill>
                  <a:srgbClr val="898989"/>
                </a:solidFill>
                <a:latin typeface="Calibri"/>
                <a:ea typeface="Calibri"/>
              </a:rPr>
              <a:t>31</a:t>
            </a:fld>
            <a:endParaRPr lang="en-IN" sz="1200" b="0" strike="noStrike" spc="-1">
              <a:solidFill>
                <a:srgbClr val="000000"/>
              </a:solidFill>
              <a:latin typeface="Times New Roman" panose="02020503050405090304"/>
            </a:endParaRPr>
          </a:p>
        </p:txBody>
      </p:sp>
      <p:sp>
        <p:nvSpPr>
          <p:cNvPr id="274" name="PlaceHolder 3"/>
          <p:cNvSpPr>
            <a:spLocks noGrp="1"/>
          </p:cNvSpPr>
          <p:nvPr>
            <p:ph/>
          </p:nvPr>
        </p:nvSpPr>
        <p:spPr>
          <a:xfrm>
            <a:off x="244440" y="837000"/>
            <a:ext cx="8441280" cy="6249600"/>
          </a:xfrm>
          <a:prstGeom prst="rect">
            <a:avLst/>
          </a:prstGeom>
          <a:noFill/>
          <a:ln w="0">
            <a:noFill/>
          </a:ln>
        </p:spPr>
        <p:txBody>
          <a:bodyPr lIns="90000" tIns="45000" rIns="90000" bIns="45000" anchor="ctr">
            <a:noAutofit/>
          </a:bodyPr>
          <a:lstStyle/>
          <a:p>
            <a:pPr marL="228600" indent="0" algn="just">
              <a:lnSpc>
                <a:spcPct val="100000"/>
              </a:lnSpc>
              <a:spcBef>
                <a:spcPts val="1000"/>
              </a:spcBef>
              <a:buNone/>
              <a:tabLst>
                <a:tab pos="0" algn="l"/>
              </a:tabLst>
            </a:pPr>
            <a:r>
              <a:rPr lang="en-US" sz="2800" b="1" strike="noStrike" spc="-1" dirty="0">
                <a:solidFill>
                  <a:schemeClr val="dk1"/>
                </a:solidFill>
                <a:latin typeface="Times New Roman" panose="02020503050405090304"/>
                <a:ea typeface="Times New Roman" panose="02020503050405090304"/>
              </a:rPr>
              <a:t>Memory Management</a:t>
            </a:r>
            <a:r>
              <a:rPr lang="en-US" sz="2800" b="0" strike="noStrike" spc="-1" dirty="0">
                <a:solidFill>
                  <a:schemeClr val="dk1"/>
                </a:solidFill>
                <a:latin typeface="Times New Roman" panose="02020503050405090304"/>
                <a:ea typeface="Times New Roman" panose="02020503050405090304"/>
              </a:rPr>
              <a:t>:</a:t>
            </a:r>
            <a:endParaRPr lang="en-US" sz="2000" b="0" strike="noStrike" spc="-1" dirty="0">
              <a:solidFill>
                <a:srgbClr val="000000"/>
              </a:solidFill>
              <a:latin typeface="Arial" panose="020B0604020202090204"/>
            </a:endParaRPr>
          </a:p>
          <a:p>
            <a:pPr marL="431800" indent="-127000" algn="just">
              <a:lnSpc>
                <a:spcPct val="100000"/>
              </a:lnSpc>
              <a:spcBef>
                <a:spcPts val="1000"/>
              </a:spcBef>
              <a:buClr>
                <a:srgbClr val="000000"/>
              </a:buClr>
              <a:buFont typeface="Times New Roman" panose="02020503050405090304"/>
              <a:buChar char="•"/>
              <a:tabLst>
                <a:tab pos="0" algn="l"/>
              </a:tabLst>
            </a:pPr>
            <a:r>
              <a:rPr lang="en-US" sz="2000" b="0" strike="noStrike" spc="-1" dirty="0">
                <a:solidFill>
                  <a:schemeClr val="dk1"/>
                </a:solidFill>
                <a:latin typeface="Times New Roman" panose="02020503050405090304"/>
                <a:ea typeface="Times New Roman" panose="02020503050405090304"/>
              </a:rPr>
              <a:t>Memory management is responsible for managing the system's memory (RAM) to ensure efficient use.</a:t>
            </a:r>
            <a:endParaRPr lang="en-US" sz="2000" b="0" strike="noStrike" spc="-1" dirty="0">
              <a:solidFill>
                <a:srgbClr val="000000"/>
              </a:solidFill>
              <a:latin typeface="Arial" panose="020B0604020202090204"/>
            </a:endParaRPr>
          </a:p>
          <a:p>
            <a:pPr marL="431800" indent="-127000" algn="just">
              <a:lnSpc>
                <a:spcPct val="100000"/>
              </a:lnSpc>
              <a:spcBef>
                <a:spcPts val="1000"/>
              </a:spcBef>
              <a:buClr>
                <a:srgbClr val="000000"/>
              </a:buClr>
              <a:buFont typeface="Times New Roman" panose="02020503050405090304"/>
              <a:buChar char="•"/>
              <a:tabLst>
                <a:tab pos="0" algn="l"/>
              </a:tabLst>
            </a:pPr>
            <a:r>
              <a:rPr lang="en-US" sz="2000" b="0" strike="noStrike" spc="-1" dirty="0">
                <a:solidFill>
                  <a:schemeClr val="dk1"/>
                </a:solidFill>
                <a:latin typeface="Times New Roman" panose="02020503050405090304"/>
                <a:ea typeface="Times New Roman" panose="02020503050405090304"/>
              </a:rPr>
              <a:t>It allocates and deallocates memory to processes, ensures that each process has enough memory to run, and prevents processes from accessing each other's memory (providing isolation).</a:t>
            </a:r>
            <a:endParaRPr lang="en-US" sz="2000" b="0" strike="noStrike" spc="-1" dirty="0">
              <a:solidFill>
                <a:srgbClr val="000000"/>
              </a:solidFill>
              <a:latin typeface="Arial" panose="020B0604020202090204"/>
            </a:endParaRPr>
          </a:p>
          <a:p>
            <a:pPr marL="431800" indent="-127000" algn="just">
              <a:lnSpc>
                <a:spcPct val="100000"/>
              </a:lnSpc>
              <a:spcBef>
                <a:spcPts val="1000"/>
              </a:spcBef>
              <a:buClr>
                <a:srgbClr val="000000"/>
              </a:buClr>
              <a:buFont typeface="Times New Roman" panose="02020503050405090304"/>
              <a:buChar char="•"/>
              <a:tabLst>
                <a:tab pos="0" algn="l"/>
              </a:tabLst>
            </a:pPr>
            <a:r>
              <a:rPr lang="en-US" sz="2000" b="0" strike="noStrike" spc="-1" dirty="0">
                <a:solidFill>
                  <a:schemeClr val="dk1"/>
                </a:solidFill>
                <a:latin typeface="Times New Roman" panose="02020503050405090304"/>
                <a:ea typeface="Times New Roman" panose="02020503050405090304"/>
              </a:rPr>
              <a:t>Key elements: Virtual memory, paging, segmentation, memory allocation, and garbage collection.</a:t>
            </a:r>
            <a:endParaRPr lang="en-US" sz="2800" b="0" strike="noStrike" spc="-1" dirty="0">
              <a:solidFill>
                <a:srgbClr val="000000"/>
              </a:solidFill>
              <a:latin typeface="Arial" panose="020B0604020202090204"/>
            </a:endParaRPr>
          </a:p>
          <a:p>
            <a:pPr marL="228600" indent="0" algn="just">
              <a:lnSpc>
                <a:spcPct val="100000"/>
              </a:lnSpc>
              <a:spcBef>
                <a:spcPts val="1000"/>
              </a:spcBef>
              <a:buNone/>
              <a:tabLst>
                <a:tab pos="0" algn="l"/>
              </a:tabLst>
            </a:pPr>
            <a:r>
              <a:rPr lang="en-US" sz="2800" b="1" strike="noStrike" spc="-1" dirty="0">
                <a:solidFill>
                  <a:schemeClr val="dk1"/>
                </a:solidFill>
                <a:latin typeface="Times New Roman" panose="02020503050405090304"/>
                <a:ea typeface="Times New Roman" panose="02020503050405090304"/>
              </a:rPr>
              <a:t>Storage Management</a:t>
            </a:r>
            <a:r>
              <a:rPr lang="en-US" sz="2800" b="0" strike="noStrike" spc="-1" dirty="0">
                <a:solidFill>
                  <a:schemeClr val="dk1"/>
                </a:solidFill>
                <a:latin typeface="Times New Roman" panose="02020503050405090304"/>
                <a:ea typeface="Times New Roman" panose="02020503050405090304"/>
              </a:rPr>
              <a:t>:</a:t>
            </a:r>
            <a:endParaRPr lang="en-US" sz="2000" b="0" strike="noStrike" spc="-1" dirty="0">
              <a:solidFill>
                <a:srgbClr val="000000"/>
              </a:solidFill>
              <a:latin typeface="Arial" panose="020B0604020202090204"/>
            </a:endParaRPr>
          </a:p>
          <a:p>
            <a:pPr marL="431800" indent="-127000" algn="just">
              <a:lnSpc>
                <a:spcPct val="100000"/>
              </a:lnSpc>
              <a:spcBef>
                <a:spcPts val="1000"/>
              </a:spcBef>
              <a:buClr>
                <a:srgbClr val="000000"/>
              </a:buClr>
              <a:buFont typeface="Times New Roman" panose="02020503050405090304"/>
              <a:buChar char="•"/>
              <a:tabLst>
                <a:tab pos="0" algn="l"/>
              </a:tabLst>
            </a:pPr>
            <a:r>
              <a:rPr lang="en-US" sz="2000" b="0" strike="noStrike" spc="-1" dirty="0">
                <a:solidFill>
                  <a:schemeClr val="dk1"/>
                </a:solidFill>
                <a:latin typeface="Times New Roman" panose="02020503050405090304"/>
                <a:ea typeface="Times New Roman" panose="02020503050405090304"/>
              </a:rPr>
              <a:t>This component is in charge of managing data storage, including both primary storage (RAM) and secondary storage (e.g., hard drives, SSDs).</a:t>
            </a:r>
            <a:endParaRPr lang="en-US" sz="2000" b="0" strike="noStrike" spc="-1" dirty="0">
              <a:solidFill>
                <a:srgbClr val="000000"/>
              </a:solidFill>
              <a:latin typeface="Arial" panose="020B0604020202090204"/>
            </a:endParaRPr>
          </a:p>
          <a:p>
            <a:pPr marL="431800" indent="-127000" algn="just">
              <a:lnSpc>
                <a:spcPct val="100000"/>
              </a:lnSpc>
              <a:spcBef>
                <a:spcPts val="1000"/>
              </a:spcBef>
              <a:buClr>
                <a:srgbClr val="000000"/>
              </a:buClr>
              <a:buFont typeface="Times New Roman" panose="02020503050405090304"/>
              <a:buChar char="•"/>
              <a:tabLst>
                <a:tab pos="0" algn="l"/>
              </a:tabLst>
            </a:pPr>
            <a:r>
              <a:rPr lang="en-US" sz="2000" b="0" strike="noStrike" spc="-1" dirty="0">
                <a:solidFill>
                  <a:schemeClr val="dk1"/>
                </a:solidFill>
                <a:latin typeface="Times New Roman" panose="02020503050405090304"/>
                <a:ea typeface="Times New Roman" panose="02020503050405090304"/>
              </a:rPr>
              <a:t>It ensures that data is stored efficiently and can be retrieved quickly and reliably when needed.</a:t>
            </a:r>
            <a:endParaRPr lang="en-US" sz="2000" b="0" strike="noStrike" spc="-1" dirty="0">
              <a:solidFill>
                <a:srgbClr val="000000"/>
              </a:solidFill>
              <a:latin typeface="Arial" panose="020B0604020202090204"/>
            </a:endParaRPr>
          </a:p>
          <a:p>
            <a:pPr marL="431800" indent="-127000" algn="just">
              <a:lnSpc>
                <a:spcPct val="100000"/>
              </a:lnSpc>
              <a:spcBef>
                <a:spcPts val="1000"/>
              </a:spcBef>
              <a:buClr>
                <a:srgbClr val="000000"/>
              </a:buClr>
              <a:buFont typeface="Times New Roman" panose="02020503050405090304"/>
              <a:buChar char="•"/>
              <a:tabLst>
                <a:tab pos="0" algn="l"/>
              </a:tabLst>
            </a:pPr>
            <a:r>
              <a:rPr lang="en-US" sz="2000" b="0" strike="noStrike" spc="-1" dirty="0">
                <a:solidFill>
                  <a:schemeClr val="dk1"/>
                </a:solidFill>
                <a:latin typeface="Times New Roman" panose="02020503050405090304"/>
                <a:ea typeface="Times New Roman" panose="02020503050405090304"/>
              </a:rPr>
              <a:t>Key elements: File systems, disk scheduling, disk management, and data backups.</a:t>
            </a:r>
            <a:endParaRPr lang="en-US" sz="2000" b="0" strike="noStrike" spc="-1" dirty="0">
              <a:solidFill>
                <a:srgbClr val="000000"/>
              </a:solidFill>
              <a:latin typeface="Arial" panose="020B0604020202090204"/>
            </a:endParaRPr>
          </a:p>
          <a:p>
            <a:pPr marL="228600" indent="0" algn="just">
              <a:lnSpc>
                <a:spcPct val="100000"/>
              </a:lnSpc>
              <a:spcBef>
                <a:spcPts val="1000"/>
              </a:spcBef>
              <a:buNone/>
              <a:tabLst>
                <a:tab pos="0" algn="l"/>
              </a:tabLst>
            </a:pPr>
            <a:endParaRPr lang="en-US" sz="2000" b="0" strike="noStrike" spc="-1" dirty="0">
              <a:solidFill>
                <a:srgbClr val="000000"/>
              </a:solidFill>
              <a:latin typeface="Arial" panose="020B060402020209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PlaceHolder 1"/>
          <p:cNvSpPr>
            <a:spLocks noGrp="1"/>
          </p:cNvSpPr>
          <p:nvPr>
            <p:ph type="title"/>
          </p:nvPr>
        </p:nvSpPr>
        <p:spPr>
          <a:xfrm>
            <a:off x="0" y="0"/>
            <a:ext cx="6476040" cy="837000"/>
          </a:xfrm>
          <a:prstGeom prst="rect">
            <a:avLst/>
          </a:prstGeom>
          <a:noFill/>
          <a:ln w="0">
            <a:noFill/>
          </a:ln>
        </p:spPr>
        <p:txBody>
          <a:bodyPr lIns="90000" tIns="45000" rIns="90000" bIns="45000" anchor="ctr">
            <a:noAutofit/>
          </a:bodyPr>
          <a:lstStyle/>
          <a:p>
            <a:pPr indent="0">
              <a:lnSpc>
                <a:spcPct val="100000"/>
              </a:lnSpc>
              <a:buNone/>
              <a:tabLst>
                <a:tab pos="0" algn="l"/>
              </a:tabLst>
            </a:pPr>
            <a:r>
              <a:rPr lang="en-US" sz="3000" b="0" strike="noStrike" spc="-1">
                <a:solidFill>
                  <a:schemeClr val="dk1"/>
                </a:solidFill>
                <a:latin typeface="Calibri"/>
                <a:ea typeface="Calibri"/>
              </a:rPr>
              <a:t>Cont….</a:t>
            </a:r>
            <a:endParaRPr lang="en-US" sz="3000" b="0" strike="noStrike" spc="-1">
              <a:solidFill>
                <a:srgbClr val="000000"/>
              </a:solidFill>
              <a:latin typeface="Arial" panose="020B0604020202090204"/>
            </a:endParaRPr>
          </a:p>
        </p:txBody>
      </p:sp>
      <p:sp>
        <p:nvSpPr>
          <p:cNvPr id="276" name="PlaceHolder 2"/>
          <p:cNvSpPr>
            <a:spLocks noGrp="1"/>
          </p:cNvSpPr>
          <p:nvPr>
            <p:ph/>
          </p:nvPr>
        </p:nvSpPr>
        <p:spPr>
          <a:xfrm>
            <a:off x="243720" y="1046520"/>
            <a:ext cx="8228520" cy="4524840"/>
          </a:xfrm>
          <a:prstGeom prst="rect">
            <a:avLst/>
          </a:prstGeom>
          <a:noFill/>
          <a:ln w="0">
            <a:noFill/>
          </a:ln>
        </p:spPr>
        <p:txBody>
          <a:bodyPr lIns="90000" tIns="45000" rIns="90000" bIns="45000" anchor="t">
            <a:noAutofit/>
          </a:bodyPr>
          <a:lstStyle/>
          <a:p>
            <a:pPr marL="114300" indent="0" algn="just">
              <a:lnSpc>
                <a:spcPct val="100000"/>
              </a:lnSpc>
              <a:spcBef>
                <a:spcPts val="360"/>
              </a:spcBef>
              <a:buNone/>
              <a:tabLst>
                <a:tab pos="0" algn="l"/>
              </a:tabLst>
            </a:pPr>
            <a:r>
              <a:rPr lang="en-US" sz="2800" b="1" strike="noStrike" spc="-1">
                <a:solidFill>
                  <a:schemeClr val="dk1"/>
                </a:solidFill>
                <a:latin typeface="Times New Roman" panose="02020503050405090304"/>
                <a:ea typeface="Times New Roman" panose="02020503050405090304"/>
              </a:rPr>
              <a:t>I/O Management</a:t>
            </a:r>
            <a:r>
              <a:rPr lang="en-US" sz="2800" b="0" strike="noStrike" spc="-1">
                <a:solidFill>
                  <a:schemeClr val="dk1"/>
                </a:solidFill>
                <a:latin typeface="Times New Roman" panose="02020503050405090304"/>
                <a:ea typeface="Times New Roman" panose="02020503050405090304"/>
              </a:rPr>
              <a:t>:</a:t>
            </a:r>
            <a:endParaRPr lang="en-US" sz="2800" b="0" strike="noStrike" spc="-1">
              <a:solidFill>
                <a:srgbClr val="000000"/>
              </a:solidFill>
              <a:latin typeface="Arial" panose="020B0604020202090204"/>
            </a:endParaRPr>
          </a:p>
          <a:p>
            <a:pPr marL="914400" lvl="1"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I/O management controls the input and output operations between the computer system and external devices like keyboards, mice, printers, displays, and storage devices.</a:t>
            </a:r>
            <a:endParaRPr lang="en-US" sz="2000" b="0" strike="noStrike" spc="-1">
              <a:solidFill>
                <a:srgbClr val="000000"/>
              </a:solidFill>
              <a:latin typeface="Arial" panose="020B0604020202090204"/>
            </a:endParaRPr>
          </a:p>
          <a:p>
            <a:pPr marL="914400" lvl="1"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It provides a mechanism for reading data from and writing data to I/O devices, handling data transfer between the system and peripherals.</a:t>
            </a:r>
            <a:endParaRPr lang="en-US" sz="2000" b="0" strike="noStrike" spc="-1">
              <a:solidFill>
                <a:srgbClr val="000000"/>
              </a:solidFill>
              <a:latin typeface="Arial" panose="020B0604020202090204"/>
            </a:endParaRPr>
          </a:p>
          <a:p>
            <a:pPr marL="914400" lvl="1"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Key elements: Device drivers, buffers, queues, and I/O scheduling.</a:t>
            </a:r>
            <a:endParaRPr lang="en-US" sz="2000" b="0" strike="noStrike" spc="-1">
              <a:solidFill>
                <a:srgbClr val="000000"/>
              </a:solidFill>
              <a:latin typeface="Arial" panose="020B0604020202090204"/>
            </a:endParaRPr>
          </a:p>
          <a:p>
            <a:pPr marL="114300" indent="0" algn="just">
              <a:lnSpc>
                <a:spcPct val="100000"/>
              </a:lnSpc>
              <a:spcBef>
                <a:spcPts val="360"/>
              </a:spcBef>
              <a:buNone/>
              <a:tabLst>
                <a:tab pos="0" algn="l"/>
              </a:tabLst>
            </a:pPr>
            <a:endParaRPr lang="en-US" sz="2000" b="0" strike="noStrike" spc="-1">
              <a:solidFill>
                <a:srgbClr val="000000"/>
              </a:solidFill>
              <a:latin typeface="Arial" panose="020B0604020202090204"/>
            </a:endParaRPr>
          </a:p>
          <a:p>
            <a:pPr marL="114300" indent="0" algn="just">
              <a:lnSpc>
                <a:spcPct val="100000"/>
              </a:lnSpc>
              <a:spcBef>
                <a:spcPts val="360"/>
              </a:spcBef>
              <a:buNone/>
              <a:tabLst>
                <a:tab pos="0" algn="l"/>
              </a:tabLst>
            </a:pPr>
            <a:r>
              <a:rPr lang="en-US" sz="2000" b="0" strike="noStrike" spc="-1">
                <a:solidFill>
                  <a:schemeClr val="dk1"/>
                </a:solidFill>
                <a:latin typeface="Times New Roman" panose="02020503050405090304"/>
                <a:ea typeface="Times New Roman" panose="02020503050405090304"/>
              </a:rPr>
              <a:t>These components work together to ensure that the operating system functions smoothly, providing an interface for users and managing the underlying hardware efficiently.</a:t>
            </a:r>
            <a:endParaRPr lang="en-US" sz="2000" b="0" strike="noStrike" spc="-1">
              <a:solidFill>
                <a:srgbClr val="000000"/>
              </a:solidFill>
              <a:latin typeface="Arial" panose="020B0604020202090204"/>
            </a:endParaRPr>
          </a:p>
          <a:p>
            <a:pPr marL="114300" indent="0">
              <a:lnSpc>
                <a:spcPct val="100000"/>
              </a:lnSpc>
              <a:spcBef>
                <a:spcPts val="360"/>
              </a:spcBef>
              <a:buNone/>
              <a:tabLst>
                <a:tab pos="0" algn="l"/>
              </a:tabLst>
            </a:pPr>
            <a:endParaRPr lang="en-US" sz="2000" b="0" strike="noStrike" spc="-1">
              <a:solidFill>
                <a:srgbClr val="000000"/>
              </a:solidFill>
              <a:latin typeface="Arial" panose="020B0604020202090204"/>
            </a:endParaRPr>
          </a:p>
        </p:txBody>
      </p:sp>
      <p:sp>
        <p:nvSpPr>
          <p:cNvPr id="277" name="PlaceHolder 3"/>
          <p:cNvSpPr>
            <a:spLocks noGrp="1"/>
          </p:cNvSpPr>
          <p:nvPr>
            <p:ph type="sldNum" idx="27"/>
          </p:nvPr>
        </p:nvSpPr>
        <p:spPr>
          <a:xfrm>
            <a:off x="6553080" y="6356520"/>
            <a:ext cx="2132640" cy="363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98989"/>
                </a:solidFill>
                <a:latin typeface="Calibri"/>
                <a:ea typeface="Calibri"/>
              </a:defRPr>
            </a:lvl1pPr>
          </a:lstStyle>
          <a:p>
            <a:pPr indent="0" algn="r">
              <a:lnSpc>
                <a:spcPct val="100000"/>
              </a:lnSpc>
              <a:buNone/>
              <a:tabLst>
                <a:tab pos="0" algn="l"/>
              </a:tabLst>
            </a:pPr>
            <a:fld id="{369F3284-4B38-4568-83F2-3DEF02625244}" type="slidenum">
              <a:rPr lang="en-US" sz="1200" b="0" strike="noStrike" spc="-1">
                <a:solidFill>
                  <a:srgbClr val="898989"/>
                </a:solidFill>
                <a:latin typeface="Calibri"/>
                <a:ea typeface="Calibri"/>
              </a:rPr>
              <a:t>32</a:t>
            </a:fld>
            <a:endParaRPr lang="en-IN" sz="1200" b="0" strike="noStrike" spc="-1">
              <a:solidFill>
                <a:srgbClr val="000000"/>
              </a:solidFill>
              <a:latin typeface="Times New Roman" panose="020205030504050903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4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285750" lvl="0" indent="-285750" algn="l" rtl="0">
              <a:lnSpc>
                <a:spcPct val="150000"/>
              </a:lnSpc>
              <a:spcBef>
                <a:spcPts val="0"/>
              </a:spcBef>
              <a:spcAft>
                <a:spcPts val="0"/>
              </a:spcAft>
              <a:buSzPts val="1400"/>
              <a:buNone/>
            </a:pPr>
            <a:r>
              <a:rPr lang="en-US" sz="3200">
                <a:latin typeface="Times New Roman"/>
                <a:ea typeface="Times New Roman"/>
                <a:cs typeface="Times New Roman"/>
                <a:sym typeface="Times New Roman"/>
              </a:rPr>
              <a:t>OS operations</a:t>
            </a:r>
            <a:endParaRPr/>
          </a:p>
        </p:txBody>
      </p:sp>
      <p:sp>
        <p:nvSpPr>
          <p:cNvPr id="331" name="Google Shape;331;p43"/>
          <p:cNvSpPr txBox="1">
            <a:spLocks noGrp="1"/>
          </p:cNvSpPr>
          <p:nvPr>
            <p:ph type="body" idx="1"/>
          </p:nvPr>
        </p:nvSpPr>
        <p:spPr>
          <a:xfrm>
            <a:off x="152400" y="944880"/>
            <a:ext cx="8707120" cy="5201920"/>
          </a:xfrm>
          <a:prstGeom prst="rect">
            <a:avLst/>
          </a:prstGeom>
          <a:noFill/>
          <a:ln>
            <a:noFill/>
          </a:ln>
        </p:spPr>
        <p:txBody>
          <a:bodyPr spcFirstLastPara="1" wrap="square" lIns="91425" tIns="45700" rIns="91425" bIns="45700" anchor="t" anchorCtr="0">
            <a:noAutofit/>
          </a:bodyPr>
          <a:lstStyle/>
          <a:p>
            <a:pPr marL="114300" lvl="0" indent="0" algn="just" rtl="0">
              <a:lnSpc>
                <a:spcPct val="100000"/>
              </a:lnSpc>
              <a:spcBef>
                <a:spcPts val="360"/>
              </a:spcBef>
              <a:spcAft>
                <a:spcPts val="0"/>
              </a:spcAft>
              <a:buSzPts val="1800"/>
              <a:buNone/>
            </a:pPr>
            <a:r>
              <a:rPr lang="en-US" sz="2000" dirty="0">
                <a:latin typeface="Times New Roman"/>
                <a:ea typeface="Times New Roman"/>
                <a:cs typeface="Times New Roman"/>
                <a:sym typeface="Times New Roman"/>
              </a:rPr>
              <a:t>An operating system (OS) is a system software that manages hardware, software resources, and provides services for computer programs. Its operations can be broadly categorized as follows:</a:t>
            </a:r>
            <a:endParaRPr dirty="0"/>
          </a:p>
          <a:p>
            <a:pPr marL="114300" lvl="0" indent="0" algn="just" rtl="0">
              <a:lnSpc>
                <a:spcPct val="100000"/>
              </a:lnSpc>
              <a:spcBef>
                <a:spcPts val="360"/>
              </a:spcBef>
              <a:spcAft>
                <a:spcPts val="0"/>
              </a:spcAft>
              <a:buSzPts val="1800"/>
              <a:buNone/>
            </a:pPr>
            <a:endParaRPr sz="2000" dirty="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800" b="1" dirty="0">
                <a:latin typeface="Times New Roman"/>
                <a:ea typeface="Times New Roman"/>
                <a:cs typeface="Times New Roman"/>
                <a:sym typeface="Times New Roman"/>
              </a:rPr>
              <a:t>1. Process Management</a:t>
            </a:r>
            <a:endParaRPr dirty="0"/>
          </a:p>
          <a:p>
            <a:pPr marL="457200" lvl="0" indent="-342900" algn="just" rtl="0">
              <a:lnSpc>
                <a:spcPct val="100000"/>
              </a:lnSpc>
              <a:spcBef>
                <a:spcPts val="360"/>
              </a:spcBef>
              <a:spcAft>
                <a:spcPts val="0"/>
              </a:spcAft>
              <a:buClr>
                <a:schemeClr val="dk1"/>
              </a:buClr>
              <a:buSzPts val="1800"/>
              <a:buChar char="•"/>
            </a:pPr>
            <a:r>
              <a:rPr lang="en-US" sz="2000" b="1" dirty="0">
                <a:latin typeface="Times New Roman"/>
                <a:ea typeface="Times New Roman"/>
                <a:cs typeface="Times New Roman"/>
                <a:sym typeface="Times New Roman"/>
              </a:rPr>
              <a:t>Objective:</a:t>
            </a:r>
            <a:r>
              <a:rPr lang="en-US" sz="2000" dirty="0">
                <a:latin typeface="Times New Roman"/>
                <a:ea typeface="Times New Roman"/>
                <a:cs typeface="Times New Roman"/>
                <a:sym typeface="Times New Roman"/>
              </a:rPr>
              <a:t> Manage processes (programs in execution), including their creation, scheduling, and termination.</a:t>
            </a:r>
            <a:endParaRPr dirty="0"/>
          </a:p>
          <a:p>
            <a:pPr marL="457200" lvl="0" indent="-342900" algn="just" rtl="0">
              <a:lnSpc>
                <a:spcPct val="100000"/>
              </a:lnSpc>
              <a:spcBef>
                <a:spcPts val="360"/>
              </a:spcBef>
              <a:spcAft>
                <a:spcPts val="0"/>
              </a:spcAft>
              <a:buClr>
                <a:schemeClr val="dk1"/>
              </a:buClr>
              <a:buSzPts val="1800"/>
              <a:buChar char="•"/>
            </a:pPr>
            <a:r>
              <a:rPr lang="en-US" sz="2000" b="1" dirty="0">
                <a:latin typeface="Times New Roman"/>
                <a:ea typeface="Times New Roman"/>
                <a:cs typeface="Times New Roman"/>
                <a:sym typeface="Times New Roman"/>
              </a:rPr>
              <a:t>Operations:</a:t>
            </a:r>
            <a:endParaRPr sz="2000" dirty="0">
              <a:latin typeface="Times New Roman"/>
              <a:ea typeface="Times New Roman"/>
              <a:cs typeface="Times New Roman"/>
              <a:sym typeface="Times New Roman"/>
            </a:endParaRPr>
          </a:p>
          <a:p>
            <a:pPr marL="914400" lvl="1"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Process creation and termination.</a:t>
            </a:r>
            <a:endParaRPr dirty="0"/>
          </a:p>
          <a:p>
            <a:pPr marL="914400" lvl="1"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CPU scheduling for efficient process execution.</a:t>
            </a:r>
            <a:endParaRPr dirty="0"/>
          </a:p>
          <a:p>
            <a:pPr marL="914400" lvl="1"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Synchronization and communication between processes.</a:t>
            </a:r>
            <a:endParaRPr dirty="0"/>
          </a:p>
          <a:p>
            <a:pPr marL="457200" lvl="0" indent="-342900" algn="just" rtl="0">
              <a:lnSpc>
                <a:spcPct val="100000"/>
              </a:lnSpc>
              <a:spcBef>
                <a:spcPts val="360"/>
              </a:spcBef>
              <a:spcAft>
                <a:spcPts val="0"/>
              </a:spcAft>
              <a:buClr>
                <a:schemeClr val="dk1"/>
              </a:buClr>
              <a:buSzPts val="1800"/>
              <a:buChar char="•"/>
            </a:pPr>
            <a:r>
              <a:rPr lang="en-US" sz="2000" b="1" dirty="0">
                <a:latin typeface="Times New Roman"/>
                <a:ea typeface="Times New Roman"/>
                <a:cs typeface="Times New Roman"/>
                <a:sym typeface="Times New Roman"/>
              </a:rPr>
              <a:t>Example:</a:t>
            </a:r>
            <a:r>
              <a:rPr lang="en-US" sz="2000" dirty="0">
                <a:latin typeface="Times New Roman"/>
                <a:ea typeface="Times New Roman"/>
                <a:cs typeface="Times New Roman"/>
                <a:sym typeface="Times New Roman"/>
              </a:rPr>
              <a:t> Allocating CPU time to multiple running applications, such as a browser and a video player.</a:t>
            </a:r>
            <a:endParaRPr dirty="0"/>
          </a:p>
          <a:p>
            <a:pPr marL="114300" lvl="0" indent="0" algn="just" rtl="0">
              <a:lnSpc>
                <a:spcPct val="100000"/>
              </a:lnSpc>
              <a:spcBef>
                <a:spcPts val="360"/>
              </a:spcBef>
              <a:spcAft>
                <a:spcPts val="0"/>
              </a:spcAft>
              <a:buSzPts val="1800"/>
              <a:buNone/>
            </a:pPr>
            <a:endParaRPr sz="2000" dirty="0">
              <a:latin typeface="Times New Roman"/>
              <a:ea typeface="Times New Roman"/>
              <a:cs typeface="Times New Roman"/>
              <a:sym typeface="Times New Roman"/>
            </a:endParaRPr>
          </a:p>
        </p:txBody>
      </p:sp>
      <p:sp>
        <p:nvSpPr>
          <p:cNvPr id="332" name="Google Shape;332;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4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Cont…..</a:t>
            </a:r>
            <a:endParaRPr/>
          </a:p>
        </p:txBody>
      </p:sp>
      <p:sp>
        <p:nvSpPr>
          <p:cNvPr id="338" name="Google Shape;338;p44"/>
          <p:cNvSpPr txBox="1">
            <a:spLocks noGrp="1"/>
          </p:cNvSpPr>
          <p:nvPr>
            <p:ph type="body" idx="1"/>
          </p:nvPr>
        </p:nvSpPr>
        <p:spPr>
          <a:xfrm>
            <a:off x="121920" y="838200"/>
            <a:ext cx="8671098" cy="4525963"/>
          </a:xfrm>
          <a:prstGeom prst="rect">
            <a:avLst/>
          </a:prstGeom>
          <a:noFill/>
          <a:ln>
            <a:noFill/>
          </a:ln>
        </p:spPr>
        <p:txBody>
          <a:bodyPr spcFirstLastPara="1" wrap="square" lIns="91425" tIns="45700" rIns="91425" bIns="45700" anchor="t" anchorCtr="0">
            <a:noAutofit/>
          </a:bodyPr>
          <a:lstStyle/>
          <a:p>
            <a:pPr marL="114300" lvl="0" indent="0" algn="just" rtl="0">
              <a:lnSpc>
                <a:spcPct val="100000"/>
              </a:lnSpc>
              <a:spcBef>
                <a:spcPts val="360"/>
              </a:spcBef>
              <a:spcAft>
                <a:spcPts val="0"/>
              </a:spcAft>
              <a:buSzPts val="1800"/>
              <a:buNone/>
            </a:pPr>
            <a:r>
              <a:rPr lang="en-US" sz="2800" b="1" dirty="0">
                <a:latin typeface="Times New Roman"/>
                <a:ea typeface="Times New Roman"/>
                <a:cs typeface="Times New Roman"/>
                <a:sym typeface="Times New Roman"/>
              </a:rPr>
              <a:t>2. Memory Management</a:t>
            </a:r>
            <a:endParaRPr dirty="0"/>
          </a:p>
          <a:p>
            <a:pPr marL="114300" lvl="0" indent="0" algn="just" rtl="0">
              <a:lnSpc>
                <a:spcPct val="100000"/>
              </a:lnSpc>
              <a:spcBef>
                <a:spcPts val="360"/>
              </a:spcBef>
              <a:spcAft>
                <a:spcPts val="0"/>
              </a:spcAft>
              <a:buSzPts val="1800"/>
              <a:buNone/>
            </a:pPr>
            <a:endParaRPr sz="2800" b="1" dirty="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000" b="1" dirty="0">
                <a:latin typeface="Times New Roman"/>
                <a:ea typeface="Times New Roman"/>
                <a:cs typeface="Times New Roman"/>
                <a:sym typeface="Times New Roman"/>
              </a:rPr>
              <a:t>Objective:</a:t>
            </a:r>
            <a:r>
              <a:rPr lang="en-US" sz="2000" dirty="0">
                <a:latin typeface="Times New Roman"/>
                <a:ea typeface="Times New Roman"/>
                <a:cs typeface="Times New Roman"/>
                <a:sym typeface="Times New Roman"/>
              </a:rPr>
              <a:t> Efficiently manage the computer's memory (RAM) for optimal performance.</a:t>
            </a:r>
            <a:endParaRPr dirty="0"/>
          </a:p>
          <a:p>
            <a:pPr marL="457200" lvl="0" indent="-342900" algn="just" rtl="0">
              <a:lnSpc>
                <a:spcPct val="100000"/>
              </a:lnSpc>
              <a:spcBef>
                <a:spcPts val="360"/>
              </a:spcBef>
              <a:spcAft>
                <a:spcPts val="0"/>
              </a:spcAft>
              <a:buSzPts val="1800"/>
              <a:buChar char="•"/>
            </a:pPr>
            <a:r>
              <a:rPr lang="en-US" sz="2000" b="1" dirty="0">
                <a:latin typeface="Times New Roman"/>
                <a:ea typeface="Times New Roman"/>
                <a:cs typeface="Times New Roman"/>
                <a:sym typeface="Times New Roman"/>
              </a:rPr>
              <a:t>Operations:</a:t>
            </a:r>
            <a:endParaRPr sz="2000" dirty="0">
              <a:latin typeface="Times New Roman"/>
              <a:ea typeface="Times New Roman"/>
              <a:cs typeface="Times New Roman"/>
              <a:sym typeface="Times New Roman"/>
            </a:endParaRPr>
          </a:p>
          <a:p>
            <a:pPr marL="914400" lvl="1"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Allocation and deallocation of memory space for programs.</a:t>
            </a:r>
            <a:endParaRPr dirty="0"/>
          </a:p>
          <a:p>
            <a:pPr marL="914400" lvl="1"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Paging and segmentation for memory organization.</a:t>
            </a:r>
            <a:endParaRPr dirty="0"/>
          </a:p>
          <a:p>
            <a:pPr marL="914400" lvl="1"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Managing virtual memory to extend RAM using disk space.</a:t>
            </a:r>
            <a:endParaRPr dirty="0"/>
          </a:p>
          <a:p>
            <a:pPr marL="457200" lvl="0" indent="-342900" algn="just" rtl="0">
              <a:lnSpc>
                <a:spcPct val="100000"/>
              </a:lnSpc>
              <a:spcBef>
                <a:spcPts val="360"/>
              </a:spcBef>
              <a:spcAft>
                <a:spcPts val="0"/>
              </a:spcAft>
              <a:buSzPts val="1800"/>
              <a:buChar char="•"/>
            </a:pPr>
            <a:r>
              <a:rPr lang="en-US" sz="2000" b="1" dirty="0">
                <a:latin typeface="Times New Roman"/>
                <a:ea typeface="Times New Roman"/>
                <a:cs typeface="Times New Roman"/>
                <a:sym typeface="Times New Roman"/>
              </a:rPr>
              <a:t>Example:</a:t>
            </a:r>
            <a:r>
              <a:rPr lang="en-US" sz="2000" dirty="0">
                <a:latin typeface="Times New Roman"/>
                <a:ea typeface="Times New Roman"/>
                <a:cs typeface="Times New Roman"/>
                <a:sym typeface="Times New Roman"/>
              </a:rPr>
              <a:t> Keeping multiple tabs open in a web browser without crashing the system.</a:t>
            </a:r>
            <a:endParaRPr dirty="0"/>
          </a:p>
          <a:p>
            <a:pPr marL="114300" lvl="0" indent="0" algn="l" rtl="0">
              <a:lnSpc>
                <a:spcPct val="100000"/>
              </a:lnSpc>
              <a:spcBef>
                <a:spcPts val="360"/>
              </a:spcBef>
              <a:spcAft>
                <a:spcPts val="0"/>
              </a:spcAft>
              <a:buSzPts val="1800"/>
              <a:buNone/>
            </a:pPr>
            <a:r>
              <a:rPr lang="en-US" sz="2000" dirty="0">
                <a:latin typeface="Times New Roman"/>
                <a:ea typeface="Times New Roman"/>
                <a:cs typeface="Times New Roman"/>
                <a:sym typeface="Times New Roman"/>
              </a:rPr>
              <a:t>.</a:t>
            </a:r>
            <a:endParaRPr sz="2000" dirty="0">
              <a:latin typeface="Times New Roman"/>
              <a:ea typeface="Times New Roman"/>
              <a:cs typeface="Times New Roman"/>
              <a:sym typeface="Times New Roman"/>
            </a:endParaRPr>
          </a:p>
          <a:p>
            <a:pPr marL="457200" lvl="0" indent="-228600" algn="just" rtl="0">
              <a:lnSpc>
                <a:spcPct val="100000"/>
              </a:lnSpc>
              <a:spcBef>
                <a:spcPts val="360"/>
              </a:spcBef>
              <a:spcAft>
                <a:spcPts val="0"/>
              </a:spcAft>
              <a:buSzPts val="1800"/>
              <a:buNone/>
            </a:pPr>
            <a:endParaRPr sz="2000" dirty="0">
              <a:latin typeface="Times New Roman"/>
              <a:ea typeface="Times New Roman"/>
              <a:cs typeface="Times New Roman"/>
              <a:sym typeface="Times New Roman"/>
            </a:endParaRPr>
          </a:p>
        </p:txBody>
      </p:sp>
      <p:sp>
        <p:nvSpPr>
          <p:cNvPr id="339" name="Google Shape;339;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Cont…..</a:t>
            </a:r>
            <a:endParaRPr/>
          </a:p>
        </p:txBody>
      </p:sp>
      <p:sp>
        <p:nvSpPr>
          <p:cNvPr id="345" name="Google Shape;345;p45"/>
          <p:cNvSpPr txBox="1">
            <a:spLocks noGrp="1"/>
          </p:cNvSpPr>
          <p:nvPr>
            <p:ph type="body" idx="1"/>
          </p:nvPr>
        </p:nvSpPr>
        <p:spPr>
          <a:xfrm>
            <a:off x="254000" y="1107440"/>
            <a:ext cx="8742218" cy="4525963"/>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sz="2800" b="1" dirty="0">
                <a:latin typeface="Times New Roman"/>
                <a:ea typeface="Times New Roman"/>
                <a:cs typeface="Times New Roman"/>
                <a:sym typeface="Times New Roman"/>
              </a:rPr>
              <a:t>3. File System Management</a:t>
            </a:r>
            <a:endParaRPr dirty="0"/>
          </a:p>
          <a:p>
            <a:pPr marL="114300" lvl="0" indent="0" algn="l" rtl="0">
              <a:lnSpc>
                <a:spcPct val="100000"/>
              </a:lnSpc>
              <a:spcBef>
                <a:spcPts val="360"/>
              </a:spcBef>
              <a:spcAft>
                <a:spcPts val="0"/>
              </a:spcAft>
              <a:buSzPts val="1800"/>
              <a:buNone/>
            </a:pPr>
            <a:endParaRPr sz="2800" b="1" dirty="0">
              <a:latin typeface="Times New Roman"/>
              <a:ea typeface="Times New Roman"/>
              <a:cs typeface="Times New Roman"/>
              <a:sym typeface="Times New Roman"/>
            </a:endParaRPr>
          </a:p>
          <a:p>
            <a:pPr marL="457200" lvl="0" indent="-342900" algn="just" rtl="0">
              <a:lnSpc>
                <a:spcPct val="100000"/>
              </a:lnSpc>
              <a:spcBef>
                <a:spcPts val="360"/>
              </a:spcBef>
              <a:spcAft>
                <a:spcPts val="0"/>
              </a:spcAft>
              <a:buClr>
                <a:schemeClr val="dk1"/>
              </a:buClr>
              <a:buSzPts val="1800"/>
              <a:buChar char="•"/>
            </a:pPr>
            <a:r>
              <a:rPr lang="en-US" sz="2000" b="1" dirty="0">
                <a:latin typeface="Times New Roman"/>
                <a:ea typeface="Times New Roman"/>
                <a:cs typeface="Times New Roman"/>
                <a:sym typeface="Times New Roman"/>
              </a:rPr>
              <a:t>Objective:</a:t>
            </a:r>
            <a:r>
              <a:rPr lang="en-US" sz="2000" dirty="0">
                <a:latin typeface="Times New Roman"/>
                <a:ea typeface="Times New Roman"/>
                <a:cs typeface="Times New Roman"/>
                <a:sym typeface="Times New Roman"/>
              </a:rPr>
              <a:t> Manage storage, organization, and retrieval of data in files and directories.</a:t>
            </a:r>
            <a:endParaRPr dirty="0"/>
          </a:p>
          <a:p>
            <a:pPr marL="457200" lvl="0" indent="-342900" algn="just" rtl="0">
              <a:lnSpc>
                <a:spcPct val="100000"/>
              </a:lnSpc>
              <a:spcBef>
                <a:spcPts val="360"/>
              </a:spcBef>
              <a:spcAft>
                <a:spcPts val="0"/>
              </a:spcAft>
              <a:buClr>
                <a:schemeClr val="dk1"/>
              </a:buClr>
              <a:buSzPts val="1800"/>
              <a:buChar char="•"/>
            </a:pPr>
            <a:r>
              <a:rPr lang="en-US" sz="2000" b="1" dirty="0">
                <a:latin typeface="Times New Roman"/>
                <a:ea typeface="Times New Roman"/>
                <a:cs typeface="Times New Roman"/>
                <a:sym typeface="Times New Roman"/>
              </a:rPr>
              <a:t>Operations:</a:t>
            </a:r>
            <a:endParaRPr sz="2000" dirty="0">
              <a:latin typeface="Times New Roman"/>
              <a:ea typeface="Times New Roman"/>
              <a:cs typeface="Times New Roman"/>
              <a:sym typeface="Times New Roman"/>
            </a:endParaRPr>
          </a:p>
          <a:p>
            <a:pPr marL="914400" lvl="1"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File creation, deletion, and modification.</a:t>
            </a:r>
            <a:endParaRPr dirty="0"/>
          </a:p>
          <a:p>
            <a:pPr marL="914400" lvl="1"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Managing access permissions for security.</a:t>
            </a:r>
            <a:endParaRPr dirty="0"/>
          </a:p>
          <a:p>
            <a:pPr marL="914400" lvl="1"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File organization in directories for easy navigation.</a:t>
            </a:r>
            <a:endParaRPr dirty="0"/>
          </a:p>
          <a:p>
            <a:pPr marL="457200" lvl="0" indent="-342900" algn="just" rtl="0">
              <a:lnSpc>
                <a:spcPct val="100000"/>
              </a:lnSpc>
              <a:spcBef>
                <a:spcPts val="360"/>
              </a:spcBef>
              <a:spcAft>
                <a:spcPts val="0"/>
              </a:spcAft>
              <a:buClr>
                <a:schemeClr val="dk1"/>
              </a:buClr>
              <a:buSzPts val="1800"/>
              <a:buChar char="•"/>
            </a:pPr>
            <a:r>
              <a:rPr lang="en-US" sz="2000" b="1" dirty="0">
                <a:latin typeface="Times New Roman"/>
                <a:ea typeface="Times New Roman"/>
                <a:cs typeface="Times New Roman"/>
                <a:sym typeface="Times New Roman"/>
              </a:rPr>
              <a:t>Example:</a:t>
            </a:r>
            <a:r>
              <a:rPr lang="en-US" sz="2000" dirty="0">
                <a:latin typeface="Times New Roman"/>
                <a:ea typeface="Times New Roman"/>
                <a:cs typeface="Times New Roman"/>
                <a:sym typeface="Times New Roman"/>
              </a:rPr>
              <a:t> Storing a Word document in a specific folder</a:t>
            </a:r>
            <a:endParaRPr dirty="0"/>
          </a:p>
        </p:txBody>
      </p:sp>
      <p:sp>
        <p:nvSpPr>
          <p:cNvPr id="346" name="Google Shape;346;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Cont……</a:t>
            </a:r>
            <a:endParaRPr/>
          </a:p>
        </p:txBody>
      </p:sp>
      <p:sp>
        <p:nvSpPr>
          <p:cNvPr id="352" name="Google Shape;352;p46"/>
          <p:cNvSpPr txBox="1">
            <a:spLocks noGrp="1"/>
          </p:cNvSpPr>
          <p:nvPr>
            <p:ph type="body" idx="1"/>
          </p:nvPr>
        </p:nvSpPr>
        <p:spPr>
          <a:xfrm>
            <a:off x="203199" y="1117600"/>
            <a:ext cx="8672945" cy="4525963"/>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sz="2800" b="1" dirty="0">
                <a:latin typeface="Times New Roman"/>
                <a:ea typeface="Times New Roman"/>
                <a:cs typeface="Times New Roman"/>
                <a:sym typeface="Times New Roman"/>
              </a:rPr>
              <a:t>4. Device Management</a:t>
            </a:r>
            <a:endParaRPr dirty="0"/>
          </a:p>
          <a:p>
            <a:pPr marL="457200" lvl="0" indent="-228600" algn="l" rtl="0">
              <a:lnSpc>
                <a:spcPct val="100000"/>
              </a:lnSpc>
              <a:spcBef>
                <a:spcPts val="360"/>
              </a:spcBef>
              <a:spcAft>
                <a:spcPts val="0"/>
              </a:spcAft>
              <a:buClr>
                <a:schemeClr val="dk1"/>
              </a:buClr>
              <a:buSzPts val="1800"/>
              <a:buNone/>
            </a:pPr>
            <a:endParaRPr sz="2000" b="1" dirty="0">
              <a:latin typeface="Times New Roman"/>
              <a:ea typeface="Times New Roman"/>
              <a:cs typeface="Times New Roman"/>
              <a:sym typeface="Times New Roman"/>
            </a:endParaRPr>
          </a:p>
          <a:p>
            <a:pPr marL="457200" lvl="0" indent="-342900" algn="just" rtl="0">
              <a:lnSpc>
                <a:spcPct val="100000"/>
              </a:lnSpc>
              <a:spcBef>
                <a:spcPts val="360"/>
              </a:spcBef>
              <a:spcAft>
                <a:spcPts val="0"/>
              </a:spcAft>
              <a:buClr>
                <a:schemeClr val="dk1"/>
              </a:buClr>
              <a:buSzPts val="1800"/>
              <a:buChar char="•"/>
            </a:pPr>
            <a:r>
              <a:rPr lang="en-US" sz="2000" b="1" dirty="0">
                <a:latin typeface="Times New Roman"/>
                <a:ea typeface="Times New Roman"/>
                <a:cs typeface="Times New Roman"/>
                <a:sym typeface="Times New Roman"/>
              </a:rPr>
              <a:t>Objective:</a:t>
            </a:r>
            <a:r>
              <a:rPr lang="en-US" sz="2000" dirty="0">
                <a:latin typeface="Times New Roman"/>
                <a:ea typeface="Times New Roman"/>
                <a:cs typeface="Times New Roman"/>
                <a:sym typeface="Times New Roman"/>
              </a:rPr>
              <a:t> Coordinate the use of input/output devices like keyboards, printers, and storage drives.</a:t>
            </a:r>
            <a:endParaRPr dirty="0"/>
          </a:p>
          <a:p>
            <a:pPr marL="457200" lvl="0" indent="-342900" algn="just" rtl="0">
              <a:lnSpc>
                <a:spcPct val="100000"/>
              </a:lnSpc>
              <a:spcBef>
                <a:spcPts val="360"/>
              </a:spcBef>
              <a:spcAft>
                <a:spcPts val="0"/>
              </a:spcAft>
              <a:buClr>
                <a:schemeClr val="dk1"/>
              </a:buClr>
              <a:buSzPts val="1800"/>
              <a:buChar char="•"/>
            </a:pPr>
            <a:r>
              <a:rPr lang="en-US" sz="2000" b="1" dirty="0">
                <a:latin typeface="Times New Roman"/>
                <a:ea typeface="Times New Roman"/>
                <a:cs typeface="Times New Roman"/>
                <a:sym typeface="Times New Roman"/>
              </a:rPr>
              <a:t>Operations:</a:t>
            </a:r>
            <a:endParaRPr sz="2000" dirty="0">
              <a:latin typeface="Times New Roman"/>
              <a:ea typeface="Times New Roman"/>
              <a:cs typeface="Times New Roman"/>
              <a:sym typeface="Times New Roman"/>
            </a:endParaRPr>
          </a:p>
          <a:p>
            <a:pPr marL="914400" lvl="1"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Managing device drivers for hardware interaction.</a:t>
            </a:r>
            <a:endParaRPr dirty="0"/>
          </a:p>
          <a:p>
            <a:pPr marL="914400" lvl="1"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Buffering and spooling for efficient data handling.</a:t>
            </a:r>
            <a:endParaRPr dirty="0"/>
          </a:p>
          <a:p>
            <a:pPr marL="914400" lvl="1"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Handling device communication via interrupt service routines (ISRs).</a:t>
            </a:r>
            <a:endParaRPr dirty="0"/>
          </a:p>
          <a:p>
            <a:pPr marL="457200" lvl="0" indent="-342900" algn="just" rtl="0">
              <a:lnSpc>
                <a:spcPct val="100000"/>
              </a:lnSpc>
              <a:spcBef>
                <a:spcPts val="360"/>
              </a:spcBef>
              <a:spcAft>
                <a:spcPts val="0"/>
              </a:spcAft>
              <a:buClr>
                <a:schemeClr val="dk1"/>
              </a:buClr>
              <a:buSzPts val="1800"/>
              <a:buChar char="•"/>
            </a:pPr>
            <a:r>
              <a:rPr lang="en-US" sz="2000" b="1" dirty="0">
                <a:latin typeface="Times New Roman"/>
                <a:ea typeface="Times New Roman"/>
                <a:cs typeface="Times New Roman"/>
                <a:sym typeface="Times New Roman"/>
              </a:rPr>
              <a:t>Example:</a:t>
            </a:r>
            <a:r>
              <a:rPr lang="en-US" sz="2000" dirty="0">
                <a:latin typeface="Times New Roman"/>
                <a:ea typeface="Times New Roman"/>
                <a:cs typeface="Times New Roman"/>
                <a:sym typeface="Times New Roman"/>
              </a:rPr>
              <a:t> Printing a document while continuing to work on other tasks.</a:t>
            </a:r>
            <a:endParaRPr dirty="0"/>
          </a:p>
        </p:txBody>
      </p:sp>
      <p:sp>
        <p:nvSpPr>
          <p:cNvPr id="353" name="Google Shape;353;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4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Cont……</a:t>
            </a:r>
            <a:endParaRPr/>
          </a:p>
        </p:txBody>
      </p:sp>
      <p:sp>
        <p:nvSpPr>
          <p:cNvPr id="359" name="Google Shape;359;p47"/>
          <p:cNvSpPr txBox="1">
            <a:spLocks noGrp="1"/>
          </p:cNvSpPr>
          <p:nvPr>
            <p:ph type="body" idx="1"/>
          </p:nvPr>
        </p:nvSpPr>
        <p:spPr>
          <a:xfrm>
            <a:off x="203199" y="1117600"/>
            <a:ext cx="8672945" cy="4525963"/>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sz="2800" b="1" dirty="0">
                <a:latin typeface="Times New Roman"/>
                <a:ea typeface="Times New Roman"/>
                <a:cs typeface="Times New Roman"/>
                <a:sym typeface="Times New Roman"/>
              </a:rPr>
              <a:t>5. User Interface Management</a:t>
            </a:r>
            <a:endParaRPr dirty="0"/>
          </a:p>
          <a:p>
            <a:pPr marL="114300" lvl="0" indent="0" algn="just" rtl="0">
              <a:lnSpc>
                <a:spcPct val="100000"/>
              </a:lnSpc>
              <a:spcBef>
                <a:spcPts val="360"/>
              </a:spcBef>
              <a:spcAft>
                <a:spcPts val="0"/>
              </a:spcAft>
              <a:buSzPts val="1800"/>
              <a:buNone/>
            </a:pPr>
            <a:endParaRPr sz="2000" b="1" dirty="0">
              <a:latin typeface="Times New Roman"/>
              <a:ea typeface="Times New Roman"/>
              <a:cs typeface="Times New Roman"/>
              <a:sym typeface="Times New Roman"/>
            </a:endParaRPr>
          </a:p>
          <a:p>
            <a:pPr marL="457200" lvl="0" indent="-342900" algn="just" rtl="0">
              <a:lnSpc>
                <a:spcPct val="100000"/>
              </a:lnSpc>
              <a:spcBef>
                <a:spcPts val="360"/>
              </a:spcBef>
              <a:spcAft>
                <a:spcPts val="0"/>
              </a:spcAft>
              <a:buClr>
                <a:schemeClr val="dk1"/>
              </a:buClr>
              <a:buSzPts val="1800"/>
              <a:buChar char="•"/>
            </a:pPr>
            <a:r>
              <a:rPr lang="en-US" sz="2000" b="1" dirty="0">
                <a:latin typeface="Times New Roman"/>
                <a:ea typeface="Times New Roman"/>
                <a:cs typeface="Times New Roman"/>
                <a:sym typeface="Times New Roman"/>
              </a:rPr>
              <a:t>Objective:</a:t>
            </a:r>
            <a:r>
              <a:rPr lang="en-US" sz="2000" dirty="0">
                <a:latin typeface="Times New Roman"/>
                <a:ea typeface="Times New Roman"/>
                <a:cs typeface="Times New Roman"/>
                <a:sym typeface="Times New Roman"/>
              </a:rPr>
              <a:t> Provide a user interface (UI) to interact with the system.</a:t>
            </a:r>
            <a:endParaRPr dirty="0"/>
          </a:p>
          <a:p>
            <a:pPr marL="457200" lvl="0" indent="-342900" algn="just" rtl="0">
              <a:lnSpc>
                <a:spcPct val="100000"/>
              </a:lnSpc>
              <a:spcBef>
                <a:spcPts val="360"/>
              </a:spcBef>
              <a:spcAft>
                <a:spcPts val="0"/>
              </a:spcAft>
              <a:buClr>
                <a:schemeClr val="dk1"/>
              </a:buClr>
              <a:buSzPts val="1800"/>
              <a:buChar char="•"/>
            </a:pPr>
            <a:r>
              <a:rPr lang="en-US" sz="2000" b="1" dirty="0">
                <a:latin typeface="Times New Roman"/>
                <a:ea typeface="Times New Roman"/>
                <a:cs typeface="Times New Roman"/>
                <a:sym typeface="Times New Roman"/>
              </a:rPr>
              <a:t>Operations:</a:t>
            </a:r>
            <a:endParaRPr sz="2000" dirty="0">
              <a:latin typeface="Times New Roman"/>
              <a:ea typeface="Times New Roman"/>
              <a:cs typeface="Times New Roman"/>
              <a:sym typeface="Times New Roman"/>
            </a:endParaRPr>
          </a:p>
          <a:p>
            <a:pPr marL="914400" lvl="1"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Graphical User Interface (GUI) or Command-Line Interface (CLI).</a:t>
            </a:r>
            <a:endParaRPr dirty="0"/>
          </a:p>
          <a:p>
            <a:pPr marL="914400" lvl="1"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Managing user sessions and input/output operations.</a:t>
            </a:r>
            <a:endParaRPr dirty="0"/>
          </a:p>
          <a:p>
            <a:pPr marL="457200" lvl="0" indent="-342900" algn="just" rtl="0">
              <a:lnSpc>
                <a:spcPct val="100000"/>
              </a:lnSpc>
              <a:spcBef>
                <a:spcPts val="360"/>
              </a:spcBef>
              <a:spcAft>
                <a:spcPts val="0"/>
              </a:spcAft>
              <a:buClr>
                <a:schemeClr val="dk1"/>
              </a:buClr>
              <a:buSzPts val="1800"/>
              <a:buChar char="•"/>
            </a:pPr>
            <a:r>
              <a:rPr lang="en-US" sz="2000" b="1" dirty="0">
                <a:latin typeface="Times New Roman"/>
                <a:ea typeface="Times New Roman"/>
                <a:cs typeface="Times New Roman"/>
                <a:sym typeface="Times New Roman"/>
              </a:rPr>
              <a:t>Example:</a:t>
            </a:r>
            <a:r>
              <a:rPr lang="en-US" sz="2000" dirty="0">
                <a:latin typeface="Times New Roman"/>
                <a:ea typeface="Times New Roman"/>
                <a:cs typeface="Times New Roman"/>
                <a:sym typeface="Times New Roman"/>
              </a:rPr>
              <a:t> Using the Windows Start menu or Linux Terminal to launch applications.</a:t>
            </a:r>
            <a:endParaRPr dirty="0"/>
          </a:p>
        </p:txBody>
      </p:sp>
      <p:sp>
        <p:nvSpPr>
          <p:cNvPr id="360" name="Google Shape;360;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Cont……</a:t>
            </a:r>
            <a:endParaRPr/>
          </a:p>
        </p:txBody>
      </p:sp>
      <p:sp>
        <p:nvSpPr>
          <p:cNvPr id="366" name="Google Shape;366;p48"/>
          <p:cNvSpPr txBox="1">
            <a:spLocks noGrp="1"/>
          </p:cNvSpPr>
          <p:nvPr>
            <p:ph type="body" idx="1"/>
          </p:nvPr>
        </p:nvSpPr>
        <p:spPr>
          <a:xfrm>
            <a:off x="203200" y="1117600"/>
            <a:ext cx="8229600" cy="4525963"/>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sz="2800" b="1" dirty="0">
                <a:latin typeface="Times New Roman"/>
                <a:ea typeface="Times New Roman"/>
                <a:cs typeface="Times New Roman"/>
                <a:sym typeface="Times New Roman"/>
              </a:rPr>
              <a:t>6. Security and Access Control</a:t>
            </a:r>
            <a:endParaRPr dirty="0"/>
          </a:p>
          <a:p>
            <a:pPr marL="114300" lvl="0" indent="0" algn="just" rtl="0">
              <a:lnSpc>
                <a:spcPct val="100000"/>
              </a:lnSpc>
              <a:spcBef>
                <a:spcPts val="360"/>
              </a:spcBef>
              <a:spcAft>
                <a:spcPts val="0"/>
              </a:spcAft>
              <a:buSzPts val="1800"/>
              <a:buNone/>
            </a:pPr>
            <a:endParaRPr sz="2000" b="1" dirty="0">
              <a:latin typeface="Times New Roman"/>
              <a:ea typeface="Times New Roman"/>
              <a:cs typeface="Times New Roman"/>
              <a:sym typeface="Times New Roman"/>
            </a:endParaRPr>
          </a:p>
          <a:p>
            <a:pPr marL="457200" lvl="0" indent="-342900" algn="just" rtl="0">
              <a:lnSpc>
                <a:spcPct val="100000"/>
              </a:lnSpc>
              <a:spcBef>
                <a:spcPts val="360"/>
              </a:spcBef>
              <a:spcAft>
                <a:spcPts val="0"/>
              </a:spcAft>
              <a:buClr>
                <a:schemeClr val="dk1"/>
              </a:buClr>
              <a:buSzPts val="1800"/>
              <a:buChar char="•"/>
            </a:pPr>
            <a:r>
              <a:rPr lang="en-US" sz="2000" b="1" dirty="0">
                <a:latin typeface="Times New Roman"/>
                <a:ea typeface="Times New Roman"/>
                <a:cs typeface="Times New Roman"/>
                <a:sym typeface="Times New Roman"/>
              </a:rPr>
              <a:t>Objective:</a:t>
            </a:r>
            <a:r>
              <a:rPr lang="en-US" sz="2000" dirty="0">
                <a:latin typeface="Times New Roman"/>
                <a:ea typeface="Times New Roman"/>
                <a:cs typeface="Times New Roman"/>
                <a:sym typeface="Times New Roman"/>
              </a:rPr>
              <a:t> Protect the system and data from unauthorized access or threats.</a:t>
            </a:r>
            <a:endParaRPr dirty="0"/>
          </a:p>
          <a:p>
            <a:pPr marL="457200" lvl="0" indent="-342900" algn="just" rtl="0">
              <a:lnSpc>
                <a:spcPct val="100000"/>
              </a:lnSpc>
              <a:spcBef>
                <a:spcPts val="360"/>
              </a:spcBef>
              <a:spcAft>
                <a:spcPts val="0"/>
              </a:spcAft>
              <a:buClr>
                <a:schemeClr val="dk1"/>
              </a:buClr>
              <a:buSzPts val="1800"/>
              <a:buChar char="•"/>
            </a:pPr>
            <a:r>
              <a:rPr lang="en-US" sz="2000" b="1" dirty="0">
                <a:latin typeface="Times New Roman"/>
                <a:ea typeface="Times New Roman"/>
                <a:cs typeface="Times New Roman"/>
                <a:sym typeface="Times New Roman"/>
              </a:rPr>
              <a:t>Operations:</a:t>
            </a:r>
            <a:endParaRPr sz="2000" dirty="0">
              <a:latin typeface="Times New Roman"/>
              <a:ea typeface="Times New Roman"/>
              <a:cs typeface="Times New Roman"/>
              <a:sym typeface="Times New Roman"/>
            </a:endParaRPr>
          </a:p>
          <a:p>
            <a:pPr marL="914400" lvl="1"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User authentication through passwords or biometrics.</a:t>
            </a:r>
            <a:endParaRPr dirty="0"/>
          </a:p>
          <a:p>
            <a:pPr marL="914400" lvl="1"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Access permissions for files and system resources.</a:t>
            </a:r>
            <a:endParaRPr dirty="0"/>
          </a:p>
          <a:p>
            <a:pPr marL="914400" lvl="1"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Protection against malware or unauthorized software.</a:t>
            </a:r>
            <a:endParaRPr dirty="0"/>
          </a:p>
          <a:p>
            <a:pPr marL="457200" lvl="0" indent="-342900" algn="just" rtl="0">
              <a:lnSpc>
                <a:spcPct val="100000"/>
              </a:lnSpc>
              <a:spcBef>
                <a:spcPts val="360"/>
              </a:spcBef>
              <a:spcAft>
                <a:spcPts val="0"/>
              </a:spcAft>
              <a:buClr>
                <a:schemeClr val="dk1"/>
              </a:buClr>
              <a:buSzPts val="1800"/>
              <a:buChar char="•"/>
            </a:pPr>
            <a:r>
              <a:rPr lang="en-US" sz="2000" b="1" dirty="0">
                <a:latin typeface="Times New Roman"/>
                <a:ea typeface="Times New Roman"/>
                <a:cs typeface="Times New Roman"/>
                <a:sym typeface="Times New Roman"/>
              </a:rPr>
              <a:t>Example:</a:t>
            </a:r>
            <a:r>
              <a:rPr lang="en-US" sz="2000" dirty="0">
                <a:latin typeface="Times New Roman"/>
                <a:ea typeface="Times New Roman"/>
                <a:cs typeface="Times New Roman"/>
                <a:sym typeface="Times New Roman"/>
              </a:rPr>
              <a:t> Restricting file access to specific users</a:t>
            </a:r>
            <a:endParaRPr dirty="0"/>
          </a:p>
          <a:p>
            <a:pPr marL="114300" lvl="0" indent="0" algn="l" rtl="0">
              <a:lnSpc>
                <a:spcPct val="100000"/>
              </a:lnSpc>
              <a:spcBef>
                <a:spcPts val="360"/>
              </a:spcBef>
              <a:spcAft>
                <a:spcPts val="0"/>
              </a:spcAft>
              <a:buSzPts val="1800"/>
              <a:buNone/>
            </a:pPr>
            <a:endParaRPr sz="2000" dirty="0">
              <a:latin typeface="Times New Roman"/>
              <a:ea typeface="Times New Roman"/>
              <a:cs typeface="Times New Roman"/>
              <a:sym typeface="Times New Roman"/>
            </a:endParaRPr>
          </a:p>
        </p:txBody>
      </p:sp>
      <p:sp>
        <p:nvSpPr>
          <p:cNvPr id="367" name="Google Shape;367;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4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Cont……</a:t>
            </a:r>
            <a:endParaRPr/>
          </a:p>
        </p:txBody>
      </p:sp>
      <p:sp>
        <p:nvSpPr>
          <p:cNvPr id="373" name="Google Shape;373;p49"/>
          <p:cNvSpPr txBox="1">
            <a:spLocks noGrp="1"/>
          </p:cNvSpPr>
          <p:nvPr>
            <p:ph type="body" idx="1"/>
          </p:nvPr>
        </p:nvSpPr>
        <p:spPr>
          <a:xfrm>
            <a:off x="203200" y="1117600"/>
            <a:ext cx="8746836" cy="4525963"/>
          </a:xfrm>
          <a:prstGeom prst="rect">
            <a:avLst/>
          </a:prstGeom>
          <a:noFill/>
          <a:ln>
            <a:noFill/>
          </a:ln>
        </p:spPr>
        <p:txBody>
          <a:bodyPr spcFirstLastPara="1" wrap="square" lIns="91425" tIns="45700" rIns="91425" bIns="45700" anchor="t" anchorCtr="0">
            <a:noAutofit/>
          </a:bodyPr>
          <a:lstStyle/>
          <a:p>
            <a:pPr marL="114300" lvl="0" indent="0" algn="just" rtl="0">
              <a:lnSpc>
                <a:spcPct val="100000"/>
              </a:lnSpc>
              <a:spcBef>
                <a:spcPts val="360"/>
              </a:spcBef>
              <a:spcAft>
                <a:spcPts val="0"/>
              </a:spcAft>
              <a:buSzPts val="1800"/>
              <a:buNone/>
            </a:pPr>
            <a:r>
              <a:rPr lang="en-US" sz="2800" b="1" dirty="0">
                <a:latin typeface="Times New Roman"/>
                <a:ea typeface="Times New Roman"/>
                <a:cs typeface="Times New Roman"/>
                <a:sym typeface="Times New Roman"/>
              </a:rPr>
              <a:t>7. Networking</a:t>
            </a:r>
            <a:endParaRPr dirty="0"/>
          </a:p>
          <a:p>
            <a:pPr marL="457200" lvl="0" indent="-228600" algn="just" rtl="0">
              <a:lnSpc>
                <a:spcPct val="100000"/>
              </a:lnSpc>
              <a:spcBef>
                <a:spcPts val="360"/>
              </a:spcBef>
              <a:spcAft>
                <a:spcPts val="0"/>
              </a:spcAft>
              <a:buSzPts val="1800"/>
              <a:buNone/>
            </a:pPr>
            <a:endParaRPr sz="2000" b="1" dirty="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000" b="1" dirty="0">
                <a:latin typeface="Times New Roman"/>
                <a:ea typeface="Times New Roman"/>
                <a:cs typeface="Times New Roman"/>
                <a:sym typeface="Times New Roman"/>
              </a:rPr>
              <a:t>Objective:</a:t>
            </a:r>
            <a:r>
              <a:rPr lang="en-US" sz="2000" dirty="0">
                <a:latin typeface="Times New Roman"/>
                <a:ea typeface="Times New Roman"/>
                <a:cs typeface="Times New Roman"/>
                <a:sym typeface="Times New Roman"/>
              </a:rPr>
              <a:t> Enable communication between computers in a network.</a:t>
            </a:r>
            <a:endParaRPr dirty="0"/>
          </a:p>
          <a:p>
            <a:pPr marL="457200" lvl="0" indent="-342900" algn="just" rtl="0">
              <a:lnSpc>
                <a:spcPct val="100000"/>
              </a:lnSpc>
              <a:spcBef>
                <a:spcPts val="360"/>
              </a:spcBef>
              <a:spcAft>
                <a:spcPts val="0"/>
              </a:spcAft>
              <a:buSzPts val="1800"/>
              <a:buChar char="•"/>
            </a:pPr>
            <a:r>
              <a:rPr lang="en-US" sz="2000" b="1" dirty="0">
                <a:latin typeface="Times New Roman"/>
                <a:ea typeface="Times New Roman"/>
                <a:cs typeface="Times New Roman"/>
                <a:sym typeface="Times New Roman"/>
              </a:rPr>
              <a:t>Operations:</a:t>
            </a:r>
            <a:endParaRPr sz="2000" dirty="0">
              <a:latin typeface="Times New Roman"/>
              <a:ea typeface="Times New Roman"/>
              <a:cs typeface="Times New Roman"/>
              <a:sym typeface="Times New Roman"/>
            </a:endParaRPr>
          </a:p>
          <a:p>
            <a:pPr marL="914400" lvl="1"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Managing network protocols like TCP/IP.</a:t>
            </a:r>
            <a:endParaRPr dirty="0"/>
          </a:p>
          <a:p>
            <a:pPr marL="914400" lvl="1"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Resource sharing, such as printers or files, over a network.</a:t>
            </a:r>
            <a:endParaRPr dirty="0"/>
          </a:p>
          <a:p>
            <a:pPr marL="914400" lvl="1" indent="-342900" algn="just"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Handling data transmission and reception efficiently.</a:t>
            </a:r>
            <a:endParaRPr dirty="0"/>
          </a:p>
          <a:p>
            <a:pPr marL="457200" lvl="0" indent="-342900" algn="just" rtl="0">
              <a:lnSpc>
                <a:spcPct val="100000"/>
              </a:lnSpc>
              <a:spcBef>
                <a:spcPts val="360"/>
              </a:spcBef>
              <a:spcAft>
                <a:spcPts val="0"/>
              </a:spcAft>
              <a:buSzPts val="1800"/>
              <a:buChar char="•"/>
            </a:pPr>
            <a:r>
              <a:rPr lang="en-US" sz="2000" b="1" dirty="0">
                <a:latin typeface="Times New Roman"/>
                <a:ea typeface="Times New Roman"/>
                <a:cs typeface="Times New Roman"/>
                <a:sym typeface="Times New Roman"/>
              </a:rPr>
              <a:t>Example:</a:t>
            </a:r>
            <a:r>
              <a:rPr lang="en-US" sz="2000" dirty="0">
                <a:latin typeface="Times New Roman"/>
                <a:ea typeface="Times New Roman"/>
                <a:cs typeface="Times New Roman"/>
                <a:sym typeface="Times New Roman"/>
              </a:rPr>
              <a:t> Accessing a shared printer or transferring files via FTP.</a:t>
            </a:r>
            <a:endParaRPr dirty="0"/>
          </a:p>
          <a:p>
            <a:pPr marL="114300" lvl="0" indent="0" algn="l" rtl="0">
              <a:lnSpc>
                <a:spcPct val="100000"/>
              </a:lnSpc>
              <a:spcBef>
                <a:spcPts val="360"/>
              </a:spcBef>
              <a:spcAft>
                <a:spcPts val="0"/>
              </a:spcAft>
              <a:buSzPts val="1800"/>
              <a:buNone/>
            </a:pPr>
            <a:endParaRPr sz="2000" dirty="0">
              <a:latin typeface="Times New Roman"/>
              <a:ea typeface="Times New Roman"/>
              <a:cs typeface="Times New Roman"/>
              <a:sym typeface="Times New Roman"/>
            </a:endParaRPr>
          </a:p>
        </p:txBody>
      </p:sp>
      <p:sp>
        <p:nvSpPr>
          <p:cNvPr id="374" name="Google Shape;374;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5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Cont……</a:t>
            </a:r>
            <a:endParaRPr/>
          </a:p>
        </p:txBody>
      </p:sp>
      <p:sp>
        <p:nvSpPr>
          <p:cNvPr id="380" name="Google Shape;380;p50"/>
          <p:cNvSpPr txBox="1">
            <a:spLocks noGrp="1"/>
          </p:cNvSpPr>
          <p:nvPr>
            <p:ph type="body" idx="1"/>
          </p:nvPr>
        </p:nvSpPr>
        <p:spPr>
          <a:xfrm>
            <a:off x="203199" y="1117600"/>
            <a:ext cx="8672945" cy="4525963"/>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sz="2800" b="1" dirty="0">
                <a:latin typeface="Times New Roman"/>
                <a:ea typeface="Times New Roman"/>
                <a:cs typeface="Times New Roman"/>
                <a:sym typeface="Times New Roman"/>
              </a:rPr>
              <a:t>8. System Performance Monitoring</a:t>
            </a:r>
            <a:endParaRPr dirty="0"/>
          </a:p>
          <a:p>
            <a:pPr marL="114300" lvl="0" indent="0" algn="l" rtl="0">
              <a:lnSpc>
                <a:spcPct val="100000"/>
              </a:lnSpc>
              <a:spcBef>
                <a:spcPts val="360"/>
              </a:spcBef>
              <a:spcAft>
                <a:spcPts val="0"/>
              </a:spcAft>
              <a:buSzPts val="1800"/>
              <a:buNone/>
            </a:pPr>
            <a:endParaRPr sz="2800" b="1" dirty="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sz="2000" b="1" dirty="0">
                <a:latin typeface="Times New Roman"/>
                <a:ea typeface="Times New Roman"/>
                <a:cs typeface="Times New Roman"/>
                <a:sym typeface="Times New Roman"/>
              </a:rPr>
              <a:t>Objective:</a:t>
            </a:r>
            <a:r>
              <a:rPr lang="en-US" sz="2000" dirty="0">
                <a:latin typeface="Times New Roman"/>
                <a:ea typeface="Times New Roman"/>
                <a:cs typeface="Times New Roman"/>
                <a:sym typeface="Times New Roman"/>
              </a:rPr>
              <a:t> Monitor and optimize system performance.</a:t>
            </a:r>
            <a:endParaRPr dirty="0"/>
          </a:p>
          <a:p>
            <a:pPr marL="457200" lvl="0" indent="-342900" algn="l" rtl="0">
              <a:lnSpc>
                <a:spcPct val="100000"/>
              </a:lnSpc>
              <a:spcBef>
                <a:spcPts val="360"/>
              </a:spcBef>
              <a:spcAft>
                <a:spcPts val="0"/>
              </a:spcAft>
              <a:buClr>
                <a:schemeClr val="dk1"/>
              </a:buClr>
              <a:buSzPts val="1800"/>
              <a:buChar char="•"/>
            </a:pPr>
            <a:r>
              <a:rPr lang="en-US" sz="2000" b="1" dirty="0">
                <a:latin typeface="Times New Roman"/>
                <a:ea typeface="Times New Roman"/>
                <a:cs typeface="Times New Roman"/>
                <a:sym typeface="Times New Roman"/>
              </a:rPr>
              <a:t>Operations:</a:t>
            </a:r>
            <a:endParaRPr sz="2000" dirty="0">
              <a:latin typeface="Times New Roman"/>
              <a:ea typeface="Times New Roman"/>
              <a:cs typeface="Times New Roman"/>
              <a:sym typeface="Times New Roman"/>
            </a:endParaRPr>
          </a:p>
          <a:p>
            <a:pPr marL="914400" lvl="1" indent="-342900" algn="l"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Tracking CPU and memory usage.</a:t>
            </a:r>
            <a:endParaRPr dirty="0"/>
          </a:p>
          <a:p>
            <a:pPr marL="914400" lvl="1" indent="-342900" algn="l"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Managing system logs and diagnostics.</a:t>
            </a:r>
            <a:endParaRPr dirty="0"/>
          </a:p>
          <a:p>
            <a:pPr marL="914400" lvl="1" indent="-342900" algn="l" rtl="0">
              <a:lnSpc>
                <a:spcPct val="100000"/>
              </a:lnSpc>
              <a:spcBef>
                <a:spcPts val="360"/>
              </a:spcBef>
              <a:spcAft>
                <a:spcPts val="0"/>
              </a:spcAft>
              <a:buSzPts val="1800"/>
              <a:buChar char="–"/>
            </a:pPr>
            <a:r>
              <a:rPr lang="en-US" sz="2000" dirty="0">
                <a:latin typeface="Times New Roman"/>
                <a:ea typeface="Times New Roman"/>
                <a:cs typeface="Times New Roman"/>
                <a:sym typeface="Times New Roman"/>
              </a:rPr>
              <a:t>Providing tools for troubleshooting and tuning.</a:t>
            </a:r>
            <a:endParaRPr dirty="0"/>
          </a:p>
          <a:p>
            <a:pPr marL="457200" lvl="0" indent="-342900" algn="l" rtl="0">
              <a:lnSpc>
                <a:spcPct val="100000"/>
              </a:lnSpc>
              <a:spcBef>
                <a:spcPts val="360"/>
              </a:spcBef>
              <a:spcAft>
                <a:spcPts val="0"/>
              </a:spcAft>
              <a:buClr>
                <a:schemeClr val="dk1"/>
              </a:buClr>
              <a:buSzPts val="1800"/>
              <a:buChar char="•"/>
            </a:pPr>
            <a:r>
              <a:rPr lang="en-US" sz="2000" b="1" dirty="0">
                <a:latin typeface="Times New Roman"/>
                <a:ea typeface="Times New Roman"/>
                <a:cs typeface="Times New Roman"/>
                <a:sym typeface="Times New Roman"/>
              </a:rPr>
              <a:t>Example:</a:t>
            </a:r>
            <a:r>
              <a:rPr lang="en-US" sz="2000" dirty="0">
                <a:latin typeface="Times New Roman"/>
                <a:ea typeface="Times New Roman"/>
                <a:cs typeface="Times New Roman"/>
                <a:sym typeface="Times New Roman"/>
              </a:rPr>
              <a:t> Task Manager in Windows showing running processes and their resource usage.</a:t>
            </a:r>
            <a:endParaRPr dirty="0"/>
          </a:p>
          <a:p>
            <a:pPr marL="114300" lvl="0" indent="0" algn="l" rtl="0">
              <a:lnSpc>
                <a:spcPct val="100000"/>
              </a:lnSpc>
              <a:spcBef>
                <a:spcPts val="360"/>
              </a:spcBef>
              <a:spcAft>
                <a:spcPts val="0"/>
              </a:spcAft>
              <a:buSzPts val="1800"/>
              <a:buNone/>
            </a:pPr>
            <a:endParaRPr sz="2000" dirty="0">
              <a:latin typeface="Times New Roman"/>
              <a:ea typeface="Times New Roman"/>
              <a:cs typeface="Times New Roman"/>
              <a:sym typeface="Times New Roman"/>
            </a:endParaRPr>
          </a:p>
        </p:txBody>
      </p:sp>
      <p:sp>
        <p:nvSpPr>
          <p:cNvPr id="381" name="Google Shape;381;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Cont……</a:t>
            </a:r>
            <a:endParaRPr/>
          </a:p>
        </p:txBody>
      </p:sp>
      <p:sp>
        <p:nvSpPr>
          <p:cNvPr id="387" name="Google Shape;387;p51"/>
          <p:cNvSpPr txBox="1">
            <a:spLocks noGrp="1"/>
          </p:cNvSpPr>
          <p:nvPr>
            <p:ph type="body" idx="1"/>
          </p:nvPr>
        </p:nvSpPr>
        <p:spPr>
          <a:xfrm>
            <a:off x="203200" y="1117600"/>
            <a:ext cx="8229600" cy="4525963"/>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360"/>
              </a:spcBef>
              <a:spcAft>
                <a:spcPts val="0"/>
              </a:spcAft>
              <a:buClr>
                <a:schemeClr val="dk1"/>
              </a:buClr>
              <a:buSzPts val="1800"/>
              <a:buChar char="•"/>
            </a:pPr>
            <a:r>
              <a:rPr lang="en-US" sz="2800" b="1">
                <a:latin typeface="Times New Roman"/>
                <a:ea typeface="Times New Roman"/>
                <a:cs typeface="Times New Roman"/>
                <a:sym typeface="Times New Roman"/>
              </a:rPr>
              <a:t>9. Multi-User and Multitasking Management</a:t>
            </a:r>
            <a:endParaRPr/>
          </a:p>
          <a:p>
            <a:pPr marL="457200" lvl="0" indent="-228600" algn="l" rtl="0">
              <a:lnSpc>
                <a:spcPct val="100000"/>
              </a:lnSpc>
              <a:spcBef>
                <a:spcPts val="360"/>
              </a:spcBef>
              <a:spcAft>
                <a:spcPts val="0"/>
              </a:spcAft>
              <a:buClr>
                <a:schemeClr val="dk1"/>
              </a:buClr>
              <a:buSzPts val="1800"/>
              <a:buNone/>
            </a:pPr>
            <a:endParaRPr sz="2000" b="1">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sz="2000" b="1">
                <a:latin typeface="Times New Roman"/>
                <a:ea typeface="Times New Roman"/>
                <a:cs typeface="Times New Roman"/>
                <a:sym typeface="Times New Roman"/>
              </a:rPr>
              <a:t>Objective:</a:t>
            </a:r>
            <a:r>
              <a:rPr lang="en-US" sz="2000">
                <a:latin typeface="Times New Roman"/>
                <a:ea typeface="Times New Roman"/>
                <a:cs typeface="Times New Roman"/>
                <a:sym typeface="Times New Roman"/>
              </a:rPr>
              <a:t> Support multiple users and multitasking efficiently.</a:t>
            </a:r>
            <a:endParaRPr/>
          </a:p>
          <a:p>
            <a:pPr marL="457200" lvl="0" indent="-342900" algn="l" rtl="0">
              <a:lnSpc>
                <a:spcPct val="100000"/>
              </a:lnSpc>
              <a:spcBef>
                <a:spcPts val="360"/>
              </a:spcBef>
              <a:spcAft>
                <a:spcPts val="0"/>
              </a:spcAft>
              <a:buClr>
                <a:schemeClr val="dk1"/>
              </a:buClr>
              <a:buSzPts val="1800"/>
              <a:buChar char="•"/>
            </a:pPr>
            <a:r>
              <a:rPr lang="en-US" sz="2000" b="1">
                <a:latin typeface="Times New Roman"/>
                <a:ea typeface="Times New Roman"/>
                <a:cs typeface="Times New Roman"/>
                <a:sym typeface="Times New Roman"/>
              </a:rPr>
              <a:t>Operations:</a:t>
            </a:r>
            <a:endParaRPr sz="2000">
              <a:latin typeface="Times New Roman"/>
              <a:ea typeface="Times New Roman"/>
              <a:cs typeface="Times New Roman"/>
              <a:sym typeface="Times New Roman"/>
            </a:endParaRPr>
          </a:p>
          <a:p>
            <a:pPr marL="914400" lvl="1" indent="-342900" algn="l"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Allocating resources fairly among users.</a:t>
            </a:r>
            <a:endParaRPr/>
          </a:p>
          <a:p>
            <a:pPr marL="914400" lvl="1" indent="-342900" algn="l"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Enabling multiple applications to run simultaneously.</a:t>
            </a:r>
            <a:endParaRPr/>
          </a:p>
          <a:p>
            <a:pPr marL="457200" lvl="0" indent="-342900" algn="l" rtl="0">
              <a:lnSpc>
                <a:spcPct val="100000"/>
              </a:lnSpc>
              <a:spcBef>
                <a:spcPts val="360"/>
              </a:spcBef>
              <a:spcAft>
                <a:spcPts val="0"/>
              </a:spcAft>
              <a:buClr>
                <a:schemeClr val="dk1"/>
              </a:buClr>
              <a:buSzPts val="1800"/>
              <a:buChar char="•"/>
            </a:pPr>
            <a:r>
              <a:rPr lang="en-US" sz="2000" b="1">
                <a:latin typeface="Times New Roman"/>
                <a:ea typeface="Times New Roman"/>
                <a:cs typeface="Times New Roman"/>
                <a:sym typeface="Times New Roman"/>
              </a:rPr>
              <a:t>Example:</a:t>
            </a:r>
            <a:r>
              <a:rPr lang="en-US" sz="2000">
                <a:latin typeface="Times New Roman"/>
                <a:ea typeface="Times New Roman"/>
                <a:cs typeface="Times New Roman"/>
                <a:sym typeface="Times New Roman"/>
              </a:rPr>
              <a:t> Running video editing software while browsing the web on a multi-user system.</a:t>
            </a:r>
            <a:endParaRPr/>
          </a:p>
          <a:p>
            <a:pPr marL="114300" lvl="0" indent="0" algn="l" rtl="0">
              <a:lnSpc>
                <a:spcPct val="100000"/>
              </a:lnSpc>
              <a:spcBef>
                <a:spcPts val="360"/>
              </a:spcBef>
              <a:spcAft>
                <a:spcPts val="0"/>
              </a:spcAft>
              <a:buSzPts val="1800"/>
              <a:buNone/>
            </a:pPr>
            <a:endParaRPr sz="2000">
              <a:latin typeface="Times New Roman"/>
              <a:ea typeface="Times New Roman"/>
              <a:cs typeface="Times New Roman"/>
              <a:sym typeface="Times New Roman"/>
            </a:endParaRPr>
          </a:p>
        </p:txBody>
      </p:sp>
      <p:sp>
        <p:nvSpPr>
          <p:cNvPr id="388" name="Google Shape;388;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5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Cont……</a:t>
            </a:r>
            <a:endParaRPr/>
          </a:p>
        </p:txBody>
      </p:sp>
      <p:sp>
        <p:nvSpPr>
          <p:cNvPr id="394" name="Google Shape;394;p52"/>
          <p:cNvSpPr txBox="1">
            <a:spLocks noGrp="1"/>
          </p:cNvSpPr>
          <p:nvPr>
            <p:ph type="body" idx="1"/>
          </p:nvPr>
        </p:nvSpPr>
        <p:spPr>
          <a:xfrm>
            <a:off x="203200" y="1117600"/>
            <a:ext cx="8229600" cy="4525963"/>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sz="2800" b="1">
                <a:latin typeface="Times New Roman"/>
                <a:ea typeface="Times New Roman"/>
                <a:cs typeface="Times New Roman"/>
                <a:sym typeface="Times New Roman"/>
              </a:rPr>
              <a:t>10. System Call Handling</a:t>
            </a:r>
            <a:endParaRPr/>
          </a:p>
          <a:p>
            <a:pPr marL="114300" lvl="0" indent="0" algn="l" rtl="0">
              <a:lnSpc>
                <a:spcPct val="100000"/>
              </a:lnSpc>
              <a:spcBef>
                <a:spcPts val="360"/>
              </a:spcBef>
              <a:spcAft>
                <a:spcPts val="0"/>
              </a:spcAft>
              <a:buSzPts val="1800"/>
              <a:buNone/>
            </a:pPr>
            <a:endParaRPr sz="2800" b="1">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sz="2000" b="1">
                <a:latin typeface="Times New Roman"/>
                <a:ea typeface="Times New Roman"/>
                <a:cs typeface="Times New Roman"/>
                <a:sym typeface="Times New Roman"/>
              </a:rPr>
              <a:t>Objective:</a:t>
            </a:r>
            <a:r>
              <a:rPr lang="en-US" sz="2000">
                <a:latin typeface="Times New Roman"/>
                <a:ea typeface="Times New Roman"/>
                <a:cs typeface="Times New Roman"/>
                <a:sym typeface="Times New Roman"/>
              </a:rPr>
              <a:t> Provide an interface for programs to request OS services.</a:t>
            </a:r>
            <a:endParaRPr/>
          </a:p>
          <a:p>
            <a:pPr marL="457200" lvl="0" indent="-342900" algn="l" rtl="0">
              <a:lnSpc>
                <a:spcPct val="100000"/>
              </a:lnSpc>
              <a:spcBef>
                <a:spcPts val="360"/>
              </a:spcBef>
              <a:spcAft>
                <a:spcPts val="0"/>
              </a:spcAft>
              <a:buClr>
                <a:schemeClr val="dk1"/>
              </a:buClr>
              <a:buSzPts val="1800"/>
              <a:buChar char="•"/>
            </a:pPr>
            <a:r>
              <a:rPr lang="en-US" sz="2000" b="1">
                <a:latin typeface="Times New Roman"/>
                <a:ea typeface="Times New Roman"/>
                <a:cs typeface="Times New Roman"/>
                <a:sym typeface="Times New Roman"/>
              </a:rPr>
              <a:t>Operations:</a:t>
            </a:r>
            <a:endParaRPr sz="2000">
              <a:latin typeface="Times New Roman"/>
              <a:ea typeface="Times New Roman"/>
              <a:cs typeface="Times New Roman"/>
              <a:sym typeface="Times New Roman"/>
            </a:endParaRPr>
          </a:p>
          <a:p>
            <a:pPr marL="914400" lvl="1" indent="-342900" algn="l"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Handling system calls like file operations, memory allocation, and process control.</a:t>
            </a:r>
            <a:endParaRPr/>
          </a:p>
          <a:p>
            <a:pPr marL="457200" lvl="0" indent="-342900" algn="l" rtl="0">
              <a:lnSpc>
                <a:spcPct val="100000"/>
              </a:lnSpc>
              <a:spcBef>
                <a:spcPts val="360"/>
              </a:spcBef>
              <a:spcAft>
                <a:spcPts val="0"/>
              </a:spcAft>
              <a:buClr>
                <a:schemeClr val="dk1"/>
              </a:buClr>
              <a:buSzPts val="1800"/>
              <a:buChar char="•"/>
            </a:pPr>
            <a:r>
              <a:rPr lang="en-US" sz="2000" b="1">
                <a:latin typeface="Times New Roman"/>
                <a:ea typeface="Times New Roman"/>
                <a:cs typeface="Times New Roman"/>
                <a:sym typeface="Times New Roman"/>
              </a:rPr>
              <a:t>Example:</a:t>
            </a:r>
            <a:r>
              <a:rPr lang="en-US" sz="2000">
                <a:latin typeface="Times New Roman"/>
                <a:ea typeface="Times New Roman"/>
                <a:cs typeface="Times New Roman"/>
                <a:sym typeface="Times New Roman"/>
              </a:rPr>
              <a:t> A program saving a file invokes a system call to access the file system.</a:t>
            </a:r>
            <a:endParaRPr/>
          </a:p>
          <a:p>
            <a:pPr marL="114300" lvl="0" indent="0" algn="just" rtl="0">
              <a:lnSpc>
                <a:spcPct val="100000"/>
              </a:lnSpc>
              <a:spcBef>
                <a:spcPts val="360"/>
              </a:spcBef>
              <a:spcAft>
                <a:spcPts val="0"/>
              </a:spcAft>
              <a:buSzPts val="1800"/>
              <a:buNone/>
            </a:pPr>
            <a:endParaRPr sz="2000"/>
          </a:p>
          <a:p>
            <a:pPr marL="114300" lvl="0" indent="0" algn="just" rtl="0">
              <a:lnSpc>
                <a:spcPct val="100000"/>
              </a:lnSpc>
              <a:spcBef>
                <a:spcPts val="360"/>
              </a:spcBef>
              <a:spcAft>
                <a:spcPts val="0"/>
              </a:spcAft>
              <a:buSzPts val="1800"/>
              <a:buNone/>
            </a:pPr>
            <a:r>
              <a:rPr lang="en-US" sz="2000"/>
              <a:t>These operations collectively ensure that the OS serves as a bridge between hardware and users, enabling seamless interaction and efficient resource management.</a:t>
            </a:r>
            <a:endParaRPr sz="2000">
              <a:latin typeface="Times New Roman"/>
              <a:ea typeface="Times New Roman"/>
              <a:cs typeface="Times New Roman"/>
              <a:sym typeface="Times New Roman"/>
            </a:endParaRPr>
          </a:p>
        </p:txBody>
      </p:sp>
      <p:sp>
        <p:nvSpPr>
          <p:cNvPr id="395" name="Google Shape;395;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4727" y="883216"/>
            <a:ext cx="8626764" cy="6247864"/>
          </a:xfrm>
          <a:prstGeom prst="rect">
            <a:avLst/>
          </a:prstGeom>
        </p:spPr>
        <p:txBody>
          <a:bodyPr wrap="square">
            <a:spAutoFit/>
          </a:bodyPr>
          <a:lstStyle/>
          <a:p>
            <a:r>
              <a:rPr lang="en-US" sz="1600" dirty="0"/>
              <a:t>Q1.Why does a single-processor system require </a:t>
            </a:r>
            <a:r>
              <a:rPr lang="en-US" sz="1600" b="1" dirty="0"/>
              <a:t>less complex synchronization mechanisms</a:t>
            </a:r>
            <a:r>
              <a:rPr lang="en-US" sz="1600" dirty="0"/>
              <a:t> compared to a multiprocessor system?</a:t>
            </a:r>
          </a:p>
          <a:p>
            <a:pPr marL="342900" lvl="2" indent="-342900">
              <a:buAutoNum type="alphaUcPeriod"/>
            </a:pPr>
            <a:r>
              <a:rPr lang="en-US" sz="1600" dirty="0"/>
              <a:t>No need for scheduling</a:t>
            </a:r>
          </a:p>
          <a:p>
            <a:pPr marL="342900" lvl="2" indent="-342900">
              <a:buAutoNum type="alphaUcPeriod"/>
            </a:pPr>
            <a:r>
              <a:rPr lang="en-US" sz="1600" dirty="0"/>
              <a:t>No concurrent execution of instructions</a:t>
            </a:r>
          </a:p>
          <a:p>
            <a:pPr marL="342900" lvl="2" indent="-342900">
              <a:buAutoNum type="alphaUcPeriod"/>
            </a:pPr>
            <a:r>
              <a:rPr lang="en-US" sz="1600" dirty="0"/>
              <a:t>Lower memory usage</a:t>
            </a:r>
          </a:p>
          <a:p>
            <a:pPr marL="342900" lvl="2" indent="-342900">
              <a:buAutoNum type="alphaUcPeriod"/>
            </a:pPr>
            <a:r>
              <a:rPr lang="en-US" sz="1600" dirty="0"/>
              <a:t>Fewer I/O devices</a:t>
            </a:r>
          </a:p>
          <a:p>
            <a:endParaRPr lang="en-US" sz="1600" dirty="0"/>
          </a:p>
          <a:p>
            <a:r>
              <a:rPr lang="en-US" sz="1600" b="1" dirty="0"/>
              <a:t>Answer:</a:t>
            </a:r>
            <a:r>
              <a:rPr lang="en-US" sz="1600" dirty="0"/>
              <a:t> B (Only one instruction executes at a time, avoiding race conditions.)</a:t>
            </a:r>
          </a:p>
          <a:p>
            <a:endParaRPr lang="en-US" sz="1600" dirty="0"/>
          </a:p>
          <a:p>
            <a:r>
              <a:rPr lang="en-IN" sz="1600" dirty="0"/>
              <a:t>Q2.Which property MOST distinguishes a clustered system from a multiprocessor system?</a:t>
            </a:r>
          </a:p>
          <a:p>
            <a:r>
              <a:rPr lang="en-IN" sz="1600" dirty="0"/>
              <a:t>A. Shared memory access</a:t>
            </a:r>
            <a:br>
              <a:rPr lang="en-IN" sz="1600" dirty="0"/>
            </a:br>
            <a:r>
              <a:rPr lang="en-IN" sz="1600" dirty="0"/>
              <a:t>B. High availability through redundancy</a:t>
            </a:r>
            <a:br>
              <a:rPr lang="en-IN" sz="1600" dirty="0"/>
            </a:br>
            <a:r>
              <a:rPr lang="en-IN" sz="1600" dirty="0"/>
              <a:t>C. Use of interrupts</a:t>
            </a:r>
            <a:br>
              <a:rPr lang="en-IN" sz="1600" dirty="0"/>
            </a:br>
            <a:r>
              <a:rPr lang="en-IN" sz="1600" dirty="0"/>
              <a:t>D. CPU scheduling algorithms</a:t>
            </a:r>
          </a:p>
          <a:p>
            <a:r>
              <a:rPr lang="en-IN" sz="1600" b="1" dirty="0"/>
              <a:t>Answer:</a:t>
            </a:r>
            <a:r>
              <a:rPr lang="en-IN" sz="1600" dirty="0"/>
              <a:t> B(Clustered systems emphasize fault tolerance and availability via multiple nodes.)</a:t>
            </a:r>
          </a:p>
          <a:p>
            <a:endParaRPr lang="en-US" sz="1600" dirty="0"/>
          </a:p>
          <a:p>
            <a:r>
              <a:rPr lang="en-IN" sz="1600" dirty="0"/>
              <a:t>Q3. Which OS structure BEST supports </a:t>
            </a:r>
            <a:r>
              <a:rPr lang="en-IN" sz="1600" b="1" dirty="0"/>
              <a:t>rapid evolution of services while minimizing kernel modifications</a:t>
            </a:r>
            <a:r>
              <a:rPr lang="en-IN" sz="1600" dirty="0"/>
              <a:t>?</a:t>
            </a:r>
          </a:p>
          <a:p>
            <a:r>
              <a:rPr lang="en-IN" sz="1600" dirty="0"/>
              <a:t>A. Monolithic</a:t>
            </a:r>
            <a:br>
              <a:rPr lang="en-IN" sz="1600" dirty="0"/>
            </a:br>
            <a:r>
              <a:rPr lang="en-IN" sz="1600" dirty="0"/>
              <a:t>B. Layered</a:t>
            </a:r>
            <a:br>
              <a:rPr lang="en-IN" sz="1600" dirty="0"/>
            </a:br>
            <a:r>
              <a:rPr lang="en-IN" sz="1600" dirty="0"/>
              <a:t>C. Microkernel</a:t>
            </a:r>
            <a:br>
              <a:rPr lang="en-IN" sz="1600" dirty="0"/>
            </a:br>
            <a:r>
              <a:rPr lang="en-IN" sz="1600" dirty="0"/>
              <a:t>D. Simple structure</a:t>
            </a:r>
          </a:p>
          <a:p>
            <a:r>
              <a:rPr lang="en-IN" sz="1600" b="1" dirty="0"/>
              <a:t>Answer:</a:t>
            </a:r>
            <a:r>
              <a:rPr lang="en-IN" sz="1600" dirty="0"/>
              <a:t> C (Microkernels move services to user space, enabling flexibility.)</a:t>
            </a:r>
          </a:p>
          <a:p>
            <a:endParaRPr lang="en-IN" sz="1600" dirty="0"/>
          </a:p>
          <a:p>
            <a:endParaRPr lang="en-US" sz="1600" dirty="0"/>
          </a:p>
        </p:txBody>
      </p:sp>
      <p:sp>
        <p:nvSpPr>
          <p:cNvPr id="3" name="Rectangle 2"/>
          <p:cNvSpPr/>
          <p:nvPr/>
        </p:nvSpPr>
        <p:spPr>
          <a:xfrm>
            <a:off x="660400" y="240146"/>
            <a:ext cx="4572000" cy="400110"/>
          </a:xfrm>
          <a:prstGeom prst="rect">
            <a:avLst/>
          </a:prstGeom>
        </p:spPr>
        <p:txBody>
          <a:bodyPr>
            <a:spAutoFit/>
          </a:bodyPr>
          <a:lstStyle/>
          <a:p>
            <a:pPr algn="ctr"/>
            <a:r>
              <a:rPr lang="en-US" sz="2000" b="1" dirty="0">
                <a:latin typeface="Arial" panose="020B0604020202020204" pitchFamily="34" charset="0"/>
                <a:cs typeface="Arial" panose="020B0604020202020204" pitchFamily="34" charset="0"/>
              </a:rPr>
              <a:t>Practice Questions</a:t>
            </a:r>
            <a:endParaRPr lang="en-IN"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652006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2437" y="898575"/>
            <a:ext cx="8358909" cy="6494085"/>
          </a:xfrm>
          <a:prstGeom prst="rect">
            <a:avLst/>
          </a:prstGeom>
        </p:spPr>
        <p:txBody>
          <a:bodyPr wrap="square">
            <a:spAutoFit/>
          </a:bodyPr>
          <a:lstStyle/>
          <a:p>
            <a:r>
              <a:rPr lang="en-IN" sz="1600" dirty="0"/>
              <a:t>Q4. An operating system switches from user mode to kernel mode when:</a:t>
            </a:r>
          </a:p>
          <a:p>
            <a:pPr marL="342900" indent="-342900">
              <a:buAutoNum type="alphaUcPeriod"/>
            </a:pPr>
            <a:r>
              <a:rPr lang="en-IN" sz="1600" dirty="0"/>
              <a:t>A process finishes execution</a:t>
            </a:r>
          </a:p>
          <a:p>
            <a:pPr marL="342900" indent="-342900">
              <a:buAutoNum type="alphaUcPeriod"/>
            </a:pPr>
            <a:r>
              <a:rPr lang="en-IN" sz="1600" dirty="0"/>
              <a:t>A system call is invoked</a:t>
            </a:r>
          </a:p>
          <a:p>
            <a:pPr marL="342900" indent="-342900">
              <a:buAutoNum type="alphaUcPeriod"/>
            </a:pPr>
            <a:r>
              <a:rPr lang="en-IN" sz="1600" dirty="0"/>
              <a:t>CPU cache misses occur</a:t>
            </a:r>
          </a:p>
          <a:p>
            <a:pPr marL="342900" indent="-342900">
              <a:buAutoNum type="alphaUcPeriod"/>
            </a:pPr>
            <a:r>
              <a:rPr lang="en-IN" sz="1600" dirty="0"/>
              <a:t>A context switch completes</a:t>
            </a:r>
          </a:p>
          <a:p>
            <a:endParaRPr lang="en-IN" sz="1600" dirty="0"/>
          </a:p>
          <a:p>
            <a:r>
              <a:rPr lang="en-IN" sz="1600" b="1" dirty="0"/>
              <a:t>Answer:</a:t>
            </a:r>
            <a:r>
              <a:rPr lang="en-IN" sz="1600" dirty="0"/>
              <a:t> B (System calls require privileged instructions.)</a:t>
            </a:r>
          </a:p>
          <a:p>
            <a:endParaRPr lang="en-US" sz="1600" dirty="0"/>
          </a:p>
          <a:p>
            <a:r>
              <a:rPr lang="en-IN" sz="1600" dirty="0"/>
              <a:t>Q5. Why do monolithic kernels often outperform microkernels?</a:t>
            </a:r>
          </a:p>
          <a:p>
            <a:r>
              <a:rPr lang="en-IN" sz="1600" dirty="0"/>
              <a:t>A. Fewer system calls</a:t>
            </a:r>
            <a:br>
              <a:rPr lang="en-IN" sz="1600" dirty="0"/>
            </a:br>
            <a:r>
              <a:rPr lang="en-IN" sz="1600" dirty="0"/>
              <a:t>B. Reduced context switches</a:t>
            </a:r>
            <a:br>
              <a:rPr lang="en-IN" sz="1600" dirty="0"/>
            </a:br>
            <a:r>
              <a:rPr lang="en-IN" sz="1600" dirty="0"/>
              <a:t>C. Better scheduling algorithms</a:t>
            </a:r>
            <a:br>
              <a:rPr lang="en-IN" sz="1600" dirty="0"/>
            </a:br>
            <a:r>
              <a:rPr lang="en-IN" sz="1600" dirty="0"/>
              <a:t>D. Less memory usage</a:t>
            </a:r>
          </a:p>
          <a:p>
            <a:endParaRPr lang="en-IN" sz="1600" b="1" dirty="0"/>
          </a:p>
          <a:p>
            <a:r>
              <a:rPr lang="en-IN" sz="1600" b="1" dirty="0"/>
              <a:t>Answer:</a:t>
            </a:r>
            <a:r>
              <a:rPr lang="en-IN" sz="1600" dirty="0"/>
              <a:t> B (Microkernels involve more user–kernel transitions.)</a:t>
            </a:r>
          </a:p>
          <a:p>
            <a:endParaRPr lang="en-US" sz="1600" dirty="0"/>
          </a:p>
          <a:p>
            <a:r>
              <a:rPr lang="en-US" sz="1600" dirty="0"/>
              <a:t>Q6. Which system is MOST suitable for high-performance scientific computations?</a:t>
            </a:r>
          </a:p>
          <a:p>
            <a:r>
              <a:rPr lang="en-US" sz="1600" dirty="0"/>
              <a:t>A. Single processor</a:t>
            </a:r>
            <a:br>
              <a:rPr lang="en-US" sz="1600" dirty="0"/>
            </a:br>
            <a:r>
              <a:rPr lang="en-US" sz="1600" dirty="0"/>
              <a:t>B. Clustered system</a:t>
            </a:r>
            <a:br>
              <a:rPr lang="en-US" sz="1600" dirty="0"/>
            </a:br>
            <a:r>
              <a:rPr lang="en-US" sz="1600" dirty="0"/>
              <a:t>C. Time-sharing system</a:t>
            </a:r>
            <a:br>
              <a:rPr lang="en-US" sz="1600" dirty="0"/>
            </a:br>
            <a:r>
              <a:rPr lang="en-US" sz="1600" dirty="0"/>
              <a:t>D. Embedded system</a:t>
            </a:r>
          </a:p>
          <a:p>
            <a:r>
              <a:rPr lang="en-US" sz="1600" b="1" dirty="0"/>
              <a:t>Answer:</a:t>
            </a:r>
            <a:r>
              <a:rPr lang="en-US" sz="1600" dirty="0"/>
              <a:t> B (Clusters offer scalability and parallelism.)</a:t>
            </a:r>
          </a:p>
          <a:p>
            <a:endParaRPr lang="en-IN" sz="1600" dirty="0"/>
          </a:p>
          <a:p>
            <a:endParaRPr lang="en-IN" sz="1600" dirty="0"/>
          </a:p>
          <a:p>
            <a:endParaRPr lang="en-US" sz="1600" dirty="0"/>
          </a:p>
          <a:p>
            <a:endParaRPr lang="en-IN" sz="1600" dirty="0"/>
          </a:p>
        </p:txBody>
      </p:sp>
    </p:spTree>
    <p:extLst>
      <p:ext uri="{BB962C8B-B14F-4D97-AF65-F5344CB8AC3E}">
        <p14:creationId xmlns:p14="http://schemas.microsoft.com/office/powerpoint/2010/main" val="178674478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285</TotalTime>
  <Words>3776</Words>
  <Application>Microsoft Office PowerPoint</Application>
  <PresentationFormat>On-screen Show (4:3)</PresentationFormat>
  <Paragraphs>404</Paragraphs>
  <Slides>44</Slides>
  <Notes>37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Calibri</vt:lpstr>
      <vt:lpstr>Helvetica Neue</vt:lpstr>
      <vt:lpstr>Times New Roman</vt:lpstr>
      <vt:lpstr>Office Theme</vt:lpstr>
      <vt:lpstr>PowerPoint Presentation</vt:lpstr>
      <vt:lpstr>Content</vt:lpstr>
      <vt:lpstr>Introduction to Operating systems</vt:lpstr>
      <vt:lpstr>Operating System role </vt:lpstr>
      <vt:lpstr>Cont……..</vt:lpstr>
      <vt:lpstr>Computer system architecture</vt:lpstr>
      <vt:lpstr>Cont…….</vt:lpstr>
      <vt:lpstr>Single Processor System</vt:lpstr>
      <vt:lpstr>PowerPoint Presentation</vt:lpstr>
      <vt:lpstr>Advantages of Single Processor Systems</vt:lpstr>
      <vt:lpstr>Disadvantages of Single Processor Systems</vt:lpstr>
      <vt:lpstr>Applications</vt:lpstr>
      <vt:lpstr>Multiprocessor Systems</vt:lpstr>
      <vt:lpstr>Working of Multi-Processing System</vt:lpstr>
      <vt:lpstr>Key Features of Multiprocessor OS Systems</vt:lpstr>
      <vt:lpstr>Advantages of Multiprocessor OS Systems</vt:lpstr>
      <vt:lpstr>Disadvantages of Multiprocessor OS Systems</vt:lpstr>
      <vt:lpstr>Applications of Multiprocessor OS Systems</vt:lpstr>
      <vt:lpstr>Clustered Systems</vt:lpstr>
      <vt:lpstr>Key Features of Clustered OS</vt:lpstr>
      <vt:lpstr>Types of Clustered OS</vt:lpstr>
      <vt:lpstr>Advantages of Clustered OS </vt:lpstr>
      <vt:lpstr>Disadvantages of Clustered OS</vt:lpstr>
      <vt:lpstr>Applications of Clustered OS</vt:lpstr>
      <vt:lpstr>Operating Systems Structure (multitask and multi program)</vt:lpstr>
      <vt:lpstr>PowerPoint Presentation</vt:lpstr>
      <vt:lpstr>Operating-System Operations</vt:lpstr>
      <vt:lpstr>Operating-System Operations (cont.)</vt:lpstr>
      <vt:lpstr>Transition from User to Kernel Mode</vt:lpstr>
      <vt:lpstr>Cont….</vt:lpstr>
      <vt:lpstr>Cont….</vt:lpstr>
      <vt:lpstr>Cont….</vt:lpstr>
      <vt:lpstr>OS operations</vt:lpstr>
      <vt:lpstr>Cont…..</vt:lpstr>
      <vt:lpstr>Cont…..</vt:lpstr>
      <vt:lpstr>Cont……</vt:lpstr>
      <vt:lpstr>Cont……</vt:lpstr>
      <vt:lpstr>Cont……</vt:lpstr>
      <vt:lpstr>Cont……</vt:lpstr>
      <vt:lpstr>Cont……</vt:lpstr>
      <vt:lpstr>Cont……</vt:lpstr>
      <vt:lpstr>Cont……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Tanish Singla</cp:lastModifiedBy>
  <cp:revision>23</cp:revision>
  <dcterms:created xsi:type="dcterms:W3CDTF">2010-04-09T07:36:00Z</dcterms:created>
  <dcterms:modified xsi:type="dcterms:W3CDTF">2026-03-05T08:22:29Z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77C75C994B4C446DB33EAD35C783E0D7_12</vt:lpwstr>
  </property>
  <property fmtid="{D5CDD505-2E9C-101B-9397-08002B2CF9AE}" pid="3" name="KSOProductBuildVer">
    <vt:lpwstr>1033-12.2.0.17153</vt:lpwstr>
  </property>
</Properties>
</file>