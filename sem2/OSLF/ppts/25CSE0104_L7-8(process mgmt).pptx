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58" r:id="rId3"/>
    <p:sldId id="259" r:id="rId4"/>
    <p:sldId id="260" r:id="rId5"/>
    <p:sldId id="261" r:id="rId6"/>
    <p:sldId id="262" r:id="rId7"/>
    <p:sldId id="263" r:id="rId8"/>
    <p:sldId id="294"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6858000" type="screen4x3"/>
  <p:notesSz cx="9144000" cy="6858000"/>
  <p:embeddedFontLst>
    <p:embeddedFont>
      <p:font typeface="Arial Black" panose="020B0A04020102020204" pitchFamily="34" charset="0"/>
      <p:regular r:id="rId41"/>
      <p:bold r:id="rId42"/>
    </p:embeddedFont>
    <p:embeddedFont>
      <p:font typeface="Noto Sans Symbols" panose="020B0604020202020204" charset="0"/>
      <p:regular r:id="rId43"/>
      <p:bold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jMZQfSplnTckPST1XnOpj5UgaCo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A88DC0-2467-4804-8F34-E6EC153716AA}">
  <a:tblStyle styleId="{75A88DC0-2467-4804-8F34-E6EC153716AA}"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1"/>
  </p:normalViewPr>
  <p:slideViewPr>
    <p:cSldViewPr snapToGrid="0">
      <p:cViewPr varScale="1">
        <p:scale>
          <a:sx n="78" d="100"/>
          <a:sy n="78" d="100"/>
        </p:scale>
        <p:origin x="1594"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94" name="Google Shape;294;p30: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3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3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3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8"/>
        <p:cNvGrpSpPr/>
        <p:nvPr/>
      </p:nvGrpSpPr>
      <p:grpSpPr>
        <a:xfrm>
          <a:off x="0" y="0"/>
          <a:ext cx="0" cy="0"/>
          <a:chOff x="0" y="0"/>
          <a:chExt cx="0" cy="0"/>
        </a:xfrm>
      </p:grpSpPr>
      <p:sp>
        <p:nvSpPr>
          <p:cNvPr id="29" name="Google Shape;29;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sz="1200"/>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32"/>
        <p:cNvGrpSpPr/>
        <p:nvPr/>
      </p:nvGrpSpPr>
      <p:grpSpPr>
        <a:xfrm>
          <a:off x="0" y="0"/>
          <a:ext cx="0" cy="0"/>
          <a:chOff x="0" y="0"/>
          <a:chExt cx="0" cy="0"/>
        </a:xfrm>
      </p:grpSpPr>
      <p:sp>
        <p:nvSpPr>
          <p:cNvPr id="33" name="Google Shape;33;p41"/>
          <p:cNvSpPr txBox="1">
            <a:spLocks noGrp="1"/>
          </p:cNvSpPr>
          <p:nvPr>
            <p:ph type="title"/>
          </p:nvPr>
        </p:nvSpPr>
        <p:spPr>
          <a:xfrm>
            <a:off x="0" y="0"/>
            <a:ext cx="6476760" cy="83772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SzPts val="2800"/>
              <a:buNone/>
              <a:defRPr sz="2000" b="1" i="0" u="sng">
                <a:solidFill>
                  <a:schemeClr val="dk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1"/>
          <p:cNvSpPr txBox="1">
            <a:spLocks noGrp="1"/>
          </p:cNvSpPr>
          <p:nvPr>
            <p:ph type="ftr" idx="11"/>
          </p:nvPr>
        </p:nvSpPr>
        <p:spPr>
          <a:xfrm>
            <a:off x="374573" y="6356350"/>
            <a:ext cx="8482988"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Clr>
                <a:schemeClr val="dk1"/>
              </a:buClr>
              <a:buSzPts val="1400"/>
              <a:buFont typeface="Arial Black"/>
              <a:buNone/>
              <a:defRPr sz="1800" b="0" i="0">
                <a:solidFill>
                  <a:schemeClr val="dk1"/>
                </a:solidFill>
                <a:latin typeface="Arial Black"/>
                <a:ea typeface="Arial Black"/>
                <a:cs typeface="Arial Black"/>
                <a:sym typeface="Arial Black"/>
              </a:defRPr>
            </a:lvl1pPr>
            <a:lvl2pPr lvl="1" algn="l">
              <a:spcBef>
                <a:spcPts val="0"/>
              </a:spcBef>
              <a:spcAft>
                <a:spcPts val="0"/>
              </a:spcAft>
              <a:buClr>
                <a:schemeClr val="dk1"/>
              </a:buClr>
              <a:buSzPts val="1400"/>
              <a:buNone/>
              <a:defRPr/>
            </a:lvl2pPr>
            <a:lvl3pPr lvl="2" algn="l">
              <a:spcBef>
                <a:spcPts val="0"/>
              </a:spcBef>
              <a:spcAft>
                <a:spcPts val="0"/>
              </a:spcAft>
              <a:buClr>
                <a:schemeClr val="dk1"/>
              </a:buClr>
              <a:buSzPts val="1400"/>
              <a:buNone/>
              <a:defRPr/>
            </a:lvl3pPr>
            <a:lvl4pPr lvl="3" algn="l">
              <a:spcBef>
                <a:spcPts val="0"/>
              </a:spcBef>
              <a:spcAft>
                <a:spcPts val="0"/>
              </a:spcAft>
              <a:buClr>
                <a:schemeClr val="dk1"/>
              </a:buClr>
              <a:buSzPts val="1400"/>
              <a:buNone/>
              <a:defRPr/>
            </a:lvl4pPr>
            <a:lvl5pPr lvl="4" algn="l">
              <a:spcBef>
                <a:spcPts val="0"/>
              </a:spcBef>
              <a:spcAft>
                <a:spcPts val="0"/>
              </a:spcAft>
              <a:buClr>
                <a:schemeClr val="dk1"/>
              </a:buClr>
              <a:buSzPts val="1400"/>
              <a:buNone/>
              <a:defRPr/>
            </a:lvl5pPr>
            <a:lvl6pPr lvl="5" algn="l">
              <a:spcBef>
                <a:spcPts val="0"/>
              </a:spcBef>
              <a:spcAft>
                <a:spcPts val="0"/>
              </a:spcAft>
              <a:buClr>
                <a:schemeClr val="dk1"/>
              </a:buClr>
              <a:buSzPts val="1400"/>
              <a:buNone/>
              <a:defRPr/>
            </a:lvl6pPr>
            <a:lvl7pPr lvl="6" algn="l">
              <a:spcBef>
                <a:spcPts val="0"/>
              </a:spcBef>
              <a:spcAft>
                <a:spcPts val="0"/>
              </a:spcAft>
              <a:buClr>
                <a:schemeClr val="dk1"/>
              </a:buClr>
              <a:buSzPts val="1400"/>
              <a:buNone/>
              <a:defRPr/>
            </a:lvl7pPr>
            <a:lvl8pPr lvl="7" algn="l">
              <a:spcBef>
                <a:spcPts val="0"/>
              </a:spcBef>
              <a:spcAft>
                <a:spcPts val="0"/>
              </a:spcAft>
              <a:buClr>
                <a:schemeClr val="dk1"/>
              </a:buClr>
              <a:buSzPts val="1400"/>
              <a:buNone/>
              <a:defRPr/>
            </a:lvl8pPr>
            <a:lvl9pPr lvl="8" algn="l">
              <a:spcBef>
                <a:spcPts val="0"/>
              </a:spcBef>
              <a:spcAft>
                <a:spcPts val="0"/>
              </a:spcAft>
              <a:buClr>
                <a:schemeClr val="dk1"/>
              </a:buClr>
              <a:buSzPts val="1400"/>
              <a:buNone/>
              <a:defRPr/>
            </a:lvl9pPr>
          </a:lstStyle>
          <a:p>
            <a:endParaRPr/>
          </a:p>
        </p:txBody>
      </p:sp>
      <p:sp>
        <p:nvSpPr>
          <p:cNvPr id="35" name="Google Shape;35;p41"/>
          <p:cNvSpPr txBox="1">
            <a:spLocks noGrp="1"/>
          </p:cNvSpPr>
          <p:nvPr>
            <p:ph type="dt" idx="10"/>
          </p:nvPr>
        </p:nvSpPr>
        <p:spPr>
          <a:xfrm>
            <a:off x="277368" y="6644430"/>
            <a:ext cx="8717915" cy="174625"/>
          </a:xfrm>
          <a:prstGeom prst="rect">
            <a:avLst/>
          </a:prstGeom>
          <a:noFill/>
          <a:ln>
            <a:noFill/>
          </a:ln>
        </p:spPr>
        <p:txBody>
          <a:bodyPr spcFirstLastPara="1" wrap="square" lIns="0" tIns="0" rIns="0" bIns="0" anchor="t" anchorCtr="0">
            <a:noAutofit/>
          </a:bodyPr>
          <a:lstStyle>
            <a:lvl1pPr lvl="0">
              <a:spcBef>
                <a:spcPts val="0"/>
              </a:spcBef>
              <a:spcAft>
                <a:spcPts val="0"/>
              </a:spcAft>
              <a:buSzPts val="1400"/>
              <a:buNone/>
              <a:defRPr sz="1000" b="1" i="0">
                <a:solidFill>
                  <a:srgbClr val="00669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4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no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37"/>
        <p:cNvGrpSpPr/>
        <p:nvPr/>
      </p:nvGrpSpPr>
      <p:grpSpPr>
        <a:xfrm>
          <a:off x="0" y="0"/>
          <a:ext cx="0" cy="0"/>
          <a:chOff x="0" y="0"/>
          <a:chExt cx="0" cy="0"/>
        </a:xfrm>
      </p:grpSpPr>
      <p:sp>
        <p:nvSpPr>
          <p:cNvPr id="38" name="Google Shape;38;p42"/>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70C0"/>
              </a:buClr>
              <a:buSzPts val="1400"/>
              <a:buFont typeface="Arial"/>
              <a:buNone/>
              <a:defRPr sz="1200">
                <a:solidFill>
                  <a:srgbClr val="0070C0"/>
                </a:solidFill>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9"/>
        <p:cNvGrpSpPr/>
        <p:nvPr/>
      </p:nvGrpSpPr>
      <p:grpSpPr>
        <a:xfrm>
          <a:off x="0" y="0"/>
          <a:ext cx="0" cy="0"/>
          <a:chOff x="0" y="0"/>
          <a:chExt cx="0" cy="0"/>
        </a:xfrm>
      </p:grpSpPr>
      <p:sp>
        <p:nvSpPr>
          <p:cNvPr id="40" name="Google Shape;40;p43"/>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3"/>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2"/>
        <p:cNvGrpSpPr/>
        <p:nvPr/>
      </p:nvGrpSpPr>
      <p:grpSpPr>
        <a:xfrm>
          <a:off x="0" y="0"/>
          <a:ext cx="0" cy="0"/>
          <a:chOff x="0" y="0"/>
          <a:chExt cx="0" cy="0"/>
        </a:xfrm>
      </p:grpSpPr>
      <p:sp>
        <p:nvSpPr>
          <p:cNvPr id="43" name="Google Shape;43;p4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4"/>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5" name="Google Shape;45;p44"/>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sz="1200"/>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4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5"/>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sz="1200"/>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9"/>
        <p:cNvGrpSpPr/>
        <p:nvPr/>
      </p:nvGrpSpPr>
      <p:grpSpPr>
        <a:xfrm>
          <a:off x="0" y="0"/>
          <a:ext cx="0" cy="0"/>
          <a:chOff x="0" y="0"/>
          <a:chExt cx="0" cy="0"/>
        </a:xfrm>
      </p:grpSpPr>
      <p:sp>
        <p:nvSpPr>
          <p:cNvPr id="50" name="Google Shape;50;p46"/>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1" name="Google Shape;51;p4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52"/>
        <p:cNvGrpSpPr/>
        <p:nvPr/>
      </p:nvGrpSpPr>
      <p:grpSpPr>
        <a:xfrm>
          <a:off x="0" y="0"/>
          <a:ext cx="0" cy="0"/>
          <a:chOff x="0" y="0"/>
          <a:chExt cx="0" cy="0"/>
        </a:xfrm>
      </p:grpSpPr>
      <p:sp>
        <p:nvSpPr>
          <p:cNvPr id="53" name="Google Shape;53;p4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47"/>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47"/>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8"/>
        <p:cNvGrpSpPr/>
        <p:nvPr/>
      </p:nvGrpSpPr>
      <p:grpSpPr>
        <a:xfrm>
          <a:off x="0" y="0"/>
          <a:ext cx="0" cy="0"/>
          <a:chOff x="0" y="0"/>
          <a:chExt cx="0" cy="0"/>
        </a:xfrm>
      </p:grpSpPr>
      <p:sp>
        <p:nvSpPr>
          <p:cNvPr id="59" name="Google Shape;59;p4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4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48"/>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4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4"/>
        <p:cNvGrpSpPr/>
        <p:nvPr/>
      </p:nvGrpSpPr>
      <p:grpSpPr>
        <a:xfrm>
          <a:off x="0" y="0"/>
          <a:ext cx="0" cy="0"/>
          <a:chOff x="0" y="0"/>
          <a:chExt cx="0" cy="0"/>
        </a:xfrm>
      </p:grpSpPr>
      <p:sp>
        <p:nvSpPr>
          <p:cNvPr id="65" name="Google Shape;65;p4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4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49"/>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4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70"/>
        <p:cNvGrpSpPr/>
        <p:nvPr/>
      </p:nvGrpSpPr>
      <p:grpSpPr>
        <a:xfrm>
          <a:off x="0" y="0"/>
          <a:ext cx="0" cy="0"/>
          <a:chOff x="0" y="0"/>
          <a:chExt cx="0" cy="0"/>
        </a:xfrm>
      </p:grpSpPr>
      <p:sp>
        <p:nvSpPr>
          <p:cNvPr id="71" name="Google Shape;71;p5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0"/>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0"/>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5"/>
        <p:cNvGrpSpPr/>
        <p:nvPr/>
      </p:nvGrpSpPr>
      <p:grpSpPr>
        <a:xfrm>
          <a:off x="0" y="0"/>
          <a:ext cx="0" cy="0"/>
          <a:chOff x="0" y="0"/>
          <a:chExt cx="0" cy="0"/>
        </a:xfrm>
      </p:grpSpPr>
      <p:sp>
        <p:nvSpPr>
          <p:cNvPr id="76" name="Google Shape;76;p5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1"/>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1"/>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type="blank">
  <p:cSld name="BLANK">
    <p:spTree>
      <p:nvGrpSpPr>
        <p:cNvPr id="1" name="Shape 82"/>
        <p:cNvGrpSpPr/>
        <p:nvPr/>
      </p:nvGrpSpPr>
      <p:grpSpPr>
        <a:xfrm>
          <a:off x="0" y="0"/>
          <a:ext cx="0" cy="0"/>
          <a:chOff x="0" y="0"/>
          <a:chExt cx="0" cy="0"/>
        </a:xfrm>
      </p:grpSpPr>
      <p:sp>
        <p:nvSpPr>
          <p:cNvPr id="83" name="Google Shape;83;p5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2"/>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2"/>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2"/>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2"/>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2"/>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52"/>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5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39"/>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SzPts val="1800"/>
              <a:buFont typeface="Arial"/>
              <a:buNone/>
            </a:pPr>
            <a:endParaRPr sz="1800"/>
          </a:p>
        </p:txBody>
      </p:sp>
      <p:sp>
        <p:nvSpPr>
          <p:cNvPr id="11" name="Google Shape;11;p39"/>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SzPts val="1800"/>
              <a:buFont typeface="Arial"/>
              <a:buNone/>
            </a:pPr>
            <a:endParaRPr sz="1800"/>
          </a:p>
        </p:txBody>
      </p:sp>
      <p:pic>
        <p:nvPicPr>
          <p:cNvPr id="12" name="Google Shape;12;p39"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39"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39"/>
          <p:cNvGrpSpPr/>
          <p:nvPr/>
        </p:nvGrpSpPr>
        <p:grpSpPr>
          <a:xfrm>
            <a:off x="6146640" y="0"/>
            <a:ext cx="2997000" cy="875880"/>
            <a:chOff x="6146640" y="0"/>
            <a:chExt cx="2997000" cy="875880"/>
          </a:xfrm>
        </p:grpSpPr>
        <p:sp>
          <p:nvSpPr>
            <p:cNvPr id="15" name="Google Shape;15;p39"/>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SzPts val="1800"/>
                <a:buFont typeface="Arial"/>
                <a:buNone/>
              </a:pPr>
              <a:endParaRPr sz="1800"/>
            </a:p>
          </p:txBody>
        </p:sp>
        <p:pic>
          <p:nvPicPr>
            <p:cNvPr id="16" name="Google Shape;16;p39"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39"/>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SzPts val="1800"/>
                <a:buFont typeface="Arial"/>
                <a:buNone/>
              </a:pPr>
              <a:endParaRPr sz="1800"/>
            </a:p>
          </p:txBody>
        </p:sp>
      </p:grpSp>
      <p:pic>
        <p:nvPicPr>
          <p:cNvPr id="18" name="Google Shape;18;p39"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39"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39"/>
          <p:cNvGrpSpPr/>
          <p:nvPr/>
        </p:nvGrpSpPr>
        <p:grpSpPr>
          <a:xfrm>
            <a:off x="6146640" y="0"/>
            <a:ext cx="2997000" cy="875880"/>
            <a:chOff x="6146640" y="0"/>
            <a:chExt cx="2997000" cy="875880"/>
          </a:xfrm>
        </p:grpSpPr>
        <p:sp>
          <p:nvSpPr>
            <p:cNvPr id="21" name="Google Shape;21;p39"/>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SzPts val="1800"/>
                <a:buFont typeface="Arial"/>
                <a:buNone/>
              </a:pPr>
              <a:endParaRPr sz="1800"/>
            </a:p>
          </p:txBody>
        </p:sp>
        <p:pic>
          <p:nvPicPr>
            <p:cNvPr id="22" name="Google Shape;22;p39"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39"/>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SzPts val="1800"/>
                <a:buFont typeface="Arial"/>
                <a:buNone/>
              </a:pPr>
              <a:endParaRPr sz="1800"/>
            </a:p>
          </p:txBody>
        </p:sp>
      </p:grpSp>
      <p:pic>
        <p:nvPicPr>
          <p:cNvPr id="24" name="Google Shape;24;p39"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39"/>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39"/>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400"/>
              <a:buFont typeface="Arial"/>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title"/>
          </p:nvPr>
        </p:nvSpPr>
        <p:spPr>
          <a:xfrm>
            <a:off x="838200" y="1433907"/>
            <a:ext cx="6552840" cy="5884544"/>
          </a:xfrm>
          <a:prstGeom prst="rect">
            <a:avLst/>
          </a:prstGeom>
          <a:noFill/>
          <a:ln>
            <a:noFill/>
          </a:ln>
        </p:spPr>
        <p:txBody>
          <a:bodyPr spcFirstLastPara="1" wrap="square" lIns="0" tIns="12050" rIns="0" bIns="0" anchor="ctr" anchorCtr="0">
            <a:spAutoFit/>
          </a:bodyPr>
          <a:lstStyle/>
          <a:p>
            <a:pPr marL="0" lvl="0" indent="0" algn="ctr" rtl="0">
              <a:lnSpc>
                <a:spcPct val="90000"/>
              </a:lnSpc>
              <a:spcBef>
                <a:spcPts val="0"/>
              </a:spcBef>
              <a:spcAft>
                <a:spcPts val="0"/>
              </a:spcAft>
              <a:buSzPts val="1800"/>
              <a:buNone/>
            </a:pPr>
            <a:r>
              <a:rPr lang="en-US" sz="3200" b="1" i="1" dirty="0">
                <a:latin typeface="Calibri"/>
                <a:ea typeface="Calibri"/>
                <a:cs typeface="Calibri"/>
                <a:sym typeface="Calibri"/>
              </a:rPr>
              <a:t>        </a:t>
            </a:r>
            <a:br>
              <a:rPr lang="en-US" sz="3200" b="1" i="1" dirty="0">
                <a:latin typeface="Calibri"/>
                <a:ea typeface="Calibri"/>
                <a:cs typeface="Calibri"/>
                <a:sym typeface="Calibri"/>
              </a:rPr>
            </a:br>
            <a:br>
              <a:rPr lang="en-US" sz="3200" b="1" i="1" dirty="0">
                <a:latin typeface="Calibri"/>
                <a:ea typeface="Calibri"/>
                <a:cs typeface="Calibri"/>
                <a:sym typeface="Calibri"/>
              </a:rPr>
            </a:br>
            <a:br>
              <a:rPr lang="en-US" sz="3200" b="1" i="1" dirty="0">
                <a:latin typeface="Calibri"/>
                <a:ea typeface="Calibri"/>
                <a:cs typeface="Calibri"/>
                <a:sym typeface="Calibri"/>
              </a:rPr>
            </a:br>
            <a:r>
              <a:rPr lang="en-US" sz="3200" b="1" i="1" dirty="0">
                <a:latin typeface="Calibri"/>
                <a:ea typeface="Calibri"/>
                <a:cs typeface="Calibri"/>
                <a:sym typeface="Calibri"/>
              </a:rPr>
              <a:t>Process &amp; IPC</a:t>
            </a:r>
            <a:br>
              <a:rPr lang="en-US" sz="3200" b="1" i="1" dirty="0">
                <a:latin typeface="Calibri"/>
                <a:ea typeface="Calibri"/>
                <a:cs typeface="Calibri"/>
                <a:sym typeface="Calibri"/>
              </a:rPr>
            </a:br>
            <a:br>
              <a:rPr lang="en-US" sz="3200" b="1" i="1" dirty="0">
                <a:latin typeface="Calibri"/>
                <a:ea typeface="Calibri"/>
                <a:cs typeface="Calibri"/>
                <a:sym typeface="Calibri"/>
              </a:rPr>
            </a:br>
            <a:br>
              <a:rPr lang="en-US" sz="2000" b="1" dirty="0">
                <a:latin typeface="Arial"/>
                <a:ea typeface="Arial"/>
                <a:cs typeface="Arial"/>
                <a:sym typeface="Arial"/>
              </a:rPr>
            </a:br>
            <a:br>
              <a:rPr lang="en-US" sz="2000" b="1" dirty="0">
                <a:latin typeface="Arial"/>
                <a:ea typeface="Arial"/>
                <a:cs typeface="Arial"/>
                <a:sym typeface="Arial"/>
              </a:rPr>
            </a:br>
            <a:br>
              <a:rPr lang="en-US" sz="2000" b="1" dirty="0">
                <a:latin typeface="Arial"/>
                <a:ea typeface="Arial"/>
                <a:cs typeface="Arial"/>
                <a:sym typeface="Arial"/>
              </a:rPr>
            </a:br>
            <a:br>
              <a:rPr lang="en-US" sz="2000" b="1" dirty="0">
                <a:latin typeface="Arial"/>
                <a:ea typeface="Arial"/>
                <a:cs typeface="Arial"/>
                <a:sym typeface="Arial"/>
              </a:rPr>
            </a:br>
            <a:r>
              <a:rPr lang="en-US" sz="2000" dirty="0"/>
              <a:t>Chitkara University Institute of Engineering and Technology</a:t>
            </a:r>
            <a:br>
              <a:rPr lang="en-US" sz="2000" dirty="0"/>
            </a:br>
            <a:r>
              <a:rPr lang="en-US" sz="2000" dirty="0"/>
              <a:t> Chitkara University, Punjab</a:t>
            </a:r>
            <a:br>
              <a:rPr lang="en-US" sz="2000" dirty="0"/>
            </a:br>
            <a:br>
              <a:rPr lang="en-US" sz="2000" dirty="0"/>
            </a:br>
            <a:br>
              <a:rPr lang="en-US" sz="2000" b="1" dirty="0">
                <a:latin typeface="Arial"/>
                <a:ea typeface="Arial"/>
                <a:cs typeface="Arial"/>
                <a:sym typeface="Arial"/>
              </a:rPr>
            </a:br>
            <a:br>
              <a:rPr lang="en-US" sz="2000" dirty="0">
                <a:latin typeface="Arial"/>
                <a:ea typeface="Arial"/>
                <a:cs typeface="Arial"/>
                <a:sym typeface="Arial"/>
              </a:rPr>
            </a:br>
            <a:br>
              <a:rPr lang="en-US" sz="2000" b="1" i="1" dirty="0">
                <a:latin typeface="Calibri"/>
                <a:ea typeface="Calibri"/>
                <a:cs typeface="Calibri"/>
                <a:sym typeface="Calibri"/>
              </a:rPr>
            </a:br>
            <a:br>
              <a:rPr lang="en-US" sz="3200" b="1" i="1" dirty="0">
                <a:latin typeface="Calibri"/>
                <a:ea typeface="Calibri"/>
                <a:cs typeface="Calibri"/>
                <a:sym typeface="Calibri"/>
              </a:rPr>
            </a:br>
            <a:endParaRPr sz="3200"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152400" y="228600"/>
            <a:ext cx="5333640" cy="517449"/>
          </a:xfrm>
          <a:prstGeom prst="rect">
            <a:avLst/>
          </a:prstGeom>
          <a:noFill/>
          <a:ln>
            <a:noFill/>
          </a:ln>
        </p:spPr>
        <p:txBody>
          <a:bodyPr spcFirstLastPara="1" wrap="square" lIns="0" tIns="12050" rIns="0" bIns="0" anchor="ctr" anchorCtr="0">
            <a:spAutoFit/>
          </a:bodyPr>
          <a:lstStyle/>
          <a:p>
            <a:pPr marL="0" marR="58419" lvl="0" indent="0" algn="ctr" rtl="0">
              <a:lnSpc>
                <a:spcPct val="100000"/>
              </a:lnSpc>
              <a:spcBef>
                <a:spcPts val="105"/>
              </a:spcBef>
              <a:spcAft>
                <a:spcPts val="0"/>
              </a:spcAft>
              <a:buSzPts val="1800"/>
              <a:buNone/>
            </a:pPr>
            <a:r>
              <a:rPr lang="en-US" sz="3200" b="1">
                <a:solidFill>
                  <a:schemeClr val="dk1"/>
                </a:solidFill>
                <a:latin typeface="Arial"/>
                <a:ea typeface="Arial"/>
                <a:cs typeface="Arial"/>
                <a:sym typeface="Arial"/>
              </a:rPr>
              <a:t>Processes</a:t>
            </a:r>
            <a:endParaRPr/>
          </a:p>
        </p:txBody>
      </p:sp>
      <p:sp>
        <p:nvSpPr>
          <p:cNvPr id="120" name="Google Shape;120;p3"/>
          <p:cNvSpPr/>
          <p:nvPr/>
        </p:nvSpPr>
        <p:spPr>
          <a:xfrm>
            <a:off x="609600" y="1219200"/>
            <a:ext cx="7391400" cy="2821285"/>
          </a:xfrm>
          <a:prstGeom prst="rect">
            <a:avLst/>
          </a:prstGeom>
          <a:noFill/>
          <a:ln>
            <a:noFill/>
          </a:ln>
        </p:spPr>
        <p:txBody>
          <a:bodyPr spcFirstLastPara="1" wrap="square" lIns="91425" tIns="45700" rIns="91425" bIns="45700" anchor="t" anchorCtr="0">
            <a:spAutoFit/>
          </a:bodyPr>
          <a:lstStyle/>
          <a:p>
            <a:pPr marL="354965" lvl="0" indent="-342265" algn="l" rtl="0">
              <a:lnSpc>
                <a:spcPct val="100000"/>
              </a:lnSpc>
              <a:spcBef>
                <a:spcPts val="0"/>
              </a:spcBef>
              <a:spcAft>
                <a:spcPts val="0"/>
              </a:spcAft>
              <a:buClr>
                <a:srgbClr val="FF0000"/>
              </a:buClr>
              <a:buSzPts val="2150"/>
              <a:buFont typeface="Noto Sans Symbols"/>
              <a:buChar char="✔"/>
            </a:pPr>
            <a:r>
              <a:rPr lang="en-US" sz="2400" b="1">
                <a:latin typeface="Calibri"/>
                <a:ea typeface="Calibri"/>
                <a:cs typeface="Calibri"/>
                <a:sym typeface="Calibri"/>
              </a:rPr>
              <a:t>Process Concept</a:t>
            </a:r>
            <a:r>
              <a:rPr lang="en-US" sz="2400">
                <a:latin typeface="Calibri"/>
                <a:ea typeface="Calibri"/>
                <a:cs typeface="Calibri"/>
                <a:sym typeface="Calibri"/>
              </a:rPr>
              <a:t>: Process scheduling,</a:t>
            </a:r>
            <a:endParaRPr sz="2400">
              <a:latin typeface="Calibri"/>
              <a:ea typeface="Calibri"/>
              <a:cs typeface="Calibri"/>
              <a:sym typeface="Calibri"/>
            </a:endParaRPr>
          </a:p>
          <a:p>
            <a:pPr marL="354965" lvl="0" indent="-342265" algn="l" rtl="0">
              <a:lnSpc>
                <a:spcPct val="100000"/>
              </a:lnSpc>
              <a:spcBef>
                <a:spcPts val="1010"/>
              </a:spcBef>
              <a:spcAft>
                <a:spcPts val="0"/>
              </a:spcAft>
              <a:buClr>
                <a:srgbClr val="FF0000"/>
              </a:buClr>
              <a:buSzPts val="2150"/>
              <a:buFont typeface="Noto Sans Symbols"/>
              <a:buChar char="✔"/>
            </a:pPr>
            <a:r>
              <a:rPr lang="en-US" sz="2400">
                <a:latin typeface="Calibri"/>
                <a:ea typeface="Calibri"/>
                <a:cs typeface="Calibri"/>
                <a:sym typeface="Calibri"/>
              </a:rPr>
              <a:t>Operations on processes,</a:t>
            </a:r>
            <a:endParaRPr sz="2400">
              <a:latin typeface="Calibri"/>
              <a:ea typeface="Calibri"/>
              <a:cs typeface="Calibri"/>
              <a:sym typeface="Calibri"/>
            </a:endParaRPr>
          </a:p>
          <a:p>
            <a:pPr marL="354965" lvl="0" indent="-342265" algn="l" rtl="0">
              <a:lnSpc>
                <a:spcPct val="100000"/>
              </a:lnSpc>
              <a:spcBef>
                <a:spcPts val="1010"/>
              </a:spcBef>
              <a:spcAft>
                <a:spcPts val="0"/>
              </a:spcAft>
              <a:buClr>
                <a:srgbClr val="FF0000"/>
              </a:buClr>
              <a:buSzPts val="2150"/>
              <a:buFont typeface="Noto Sans Symbols"/>
              <a:buChar char="✔"/>
            </a:pPr>
            <a:r>
              <a:rPr lang="en-US" sz="2400">
                <a:latin typeface="Calibri"/>
                <a:ea typeface="Calibri"/>
                <a:cs typeface="Calibri"/>
                <a:sym typeface="Calibri"/>
              </a:rPr>
              <a:t>Inter-process communication,</a:t>
            </a:r>
            <a:endParaRPr sz="2400">
              <a:latin typeface="Calibri"/>
              <a:ea typeface="Calibri"/>
              <a:cs typeface="Calibri"/>
              <a:sym typeface="Calibri"/>
            </a:endParaRPr>
          </a:p>
          <a:p>
            <a:pPr marL="354965" lvl="0" indent="-342265" algn="l" rtl="0">
              <a:lnSpc>
                <a:spcPct val="100000"/>
              </a:lnSpc>
              <a:spcBef>
                <a:spcPts val="1005"/>
              </a:spcBef>
              <a:spcAft>
                <a:spcPts val="0"/>
              </a:spcAft>
              <a:buClr>
                <a:srgbClr val="FF0000"/>
              </a:buClr>
              <a:buSzPts val="2150"/>
              <a:buFont typeface="Noto Sans Symbols"/>
              <a:buChar char="✔"/>
            </a:pPr>
            <a:r>
              <a:rPr lang="en-US" sz="2400">
                <a:latin typeface="Calibri"/>
                <a:ea typeface="Calibri"/>
                <a:cs typeface="Calibri"/>
                <a:sym typeface="Calibri"/>
              </a:rPr>
              <a:t>Communication in client server systems.</a:t>
            </a:r>
            <a:endParaRPr sz="2400">
              <a:latin typeface="Calibri"/>
              <a:ea typeface="Calibri"/>
              <a:cs typeface="Calibri"/>
              <a:sym typeface="Calibri"/>
            </a:endParaRPr>
          </a:p>
          <a:p>
            <a:pPr marL="354965" marR="5080" lvl="0" indent="-342900" algn="l" rtl="0">
              <a:lnSpc>
                <a:spcPct val="100000"/>
              </a:lnSpc>
              <a:spcBef>
                <a:spcPts val="1010"/>
              </a:spcBef>
              <a:spcAft>
                <a:spcPts val="0"/>
              </a:spcAft>
              <a:buClr>
                <a:srgbClr val="FF0000"/>
              </a:buClr>
              <a:buSzPts val="2150"/>
              <a:buFont typeface="Noto Sans Symbols"/>
              <a:buChar char="✔"/>
            </a:pPr>
            <a:r>
              <a:rPr lang="en-US" sz="2400">
                <a:latin typeface="Calibri"/>
                <a:ea typeface="Calibri"/>
                <a:cs typeface="Calibri"/>
                <a:sym typeface="Calibri"/>
              </a:rPr>
              <a:t>Multithreaded Programming: Multithreading models, Thread libraries, Threading issues, Examples.</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a:spLocks noGrp="1"/>
          </p:cNvSpPr>
          <p:nvPr>
            <p:ph type="title"/>
          </p:nvPr>
        </p:nvSpPr>
        <p:spPr>
          <a:xfrm>
            <a:off x="0" y="0"/>
            <a:ext cx="5486040" cy="754513"/>
          </a:xfrm>
          <a:prstGeom prst="rect">
            <a:avLst/>
          </a:prstGeom>
          <a:noFill/>
          <a:ln>
            <a:noFill/>
          </a:ln>
        </p:spPr>
        <p:txBody>
          <a:bodyPr spcFirstLastPara="1" wrap="square" lIns="0" tIns="246825" rIns="0" bIns="0" anchor="ctr" anchorCtr="0">
            <a:spAutoFit/>
          </a:bodyPr>
          <a:lstStyle/>
          <a:p>
            <a:pPr marL="2244725" lvl="0" indent="0" algn="l" rtl="0">
              <a:lnSpc>
                <a:spcPct val="100000"/>
              </a:lnSpc>
              <a:spcBef>
                <a:spcPts val="105"/>
              </a:spcBef>
              <a:spcAft>
                <a:spcPts val="0"/>
              </a:spcAft>
              <a:buSzPts val="1800"/>
              <a:buNone/>
            </a:pPr>
            <a:r>
              <a:rPr lang="en-US" sz="3200" u="none">
                <a:solidFill>
                  <a:schemeClr val="dk1"/>
                </a:solidFill>
                <a:latin typeface="Arial"/>
                <a:ea typeface="Arial"/>
                <a:cs typeface="Arial"/>
                <a:sym typeface="Arial"/>
              </a:rPr>
              <a:t>Objectives</a:t>
            </a:r>
            <a:endParaRPr sz="3200">
              <a:solidFill>
                <a:schemeClr val="dk1"/>
              </a:solidFill>
              <a:latin typeface="Arial"/>
              <a:ea typeface="Arial"/>
              <a:cs typeface="Arial"/>
              <a:sym typeface="Arial"/>
            </a:endParaRPr>
          </a:p>
        </p:txBody>
      </p:sp>
      <p:sp>
        <p:nvSpPr>
          <p:cNvPr id="126" name="Google Shape;126;p4"/>
          <p:cNvSpPr txBox="1"/>
          <p:nvPr/>
        </p:nvSpPr>
        <p:spPr>
          <a:xfrm>
            <a:off x="917244" y="1154683"/>
            <a:ext cx="7686040" cy="2480310"/>
          </a:xfrm>
          <a:prstGeom prst="rect">
            <a:avLst/>
          </a:prstGeom>
          <a:noFill/>
          <a:ln>
            <a:noFill/>
          </a:ln>
        </p:spPr>
        <p:txBody>
          <a:bodyPr spcFirstLastPara="1" wrap="square" lIns="0" tIns="13325" rIns="0" bIns="0" anchor="t" anchorCtr="0">
            <a:spAutoFit/>
          </a:bodyPr>
          <a:lstStyle/>
          <a:p>
            <a:pPr marL="354965" marR="5080" lvl="0" indent="-342900" algn="l" rtl="0">
              <a:lnSpc>
                <a:spcPct val="100000"/>
              </a:lnSpc>
              <a:spcBef>
                <a:spcPts val="0"/>
              </a:spcBef>
              <a:spcAft>
                <a:spcPts val="0"/>
              </a:spcAft>
              <a:buClr>
                <a:srgbClr val="993300"/>
              </a:buClr>
              <a:buSzPts val="1800"/>
              <a:buFont typeface="Noto Sans Symbols"/>
              <a:buChar char="■"/>
            </a:pPr>
            <a:r>
              <a:rPr lang="en-US" sz="2000">
                <a:latin typeface="Calibri"/>
                <a:ea typeface="Calibri"/>
                <a:cs typeface="Calibri"/>
                <a:sym typeface="Calibri"/>
              </a:rPr>
              <a:t>To introduce the notion of a process -- a program in execution, which forms the basis of all computation</a:t>
            </a:r>
            <a:endParaRPr sz="2000">
              <a:latin typeface="Calibri"/>
              <a:ea typeface="Calibri"/>
              <a:cs typeface="Calibri"/>
              <a:sym typeface="Calibri"/>
            </a:endParaRPr>
          </a:p>
          <a:p>
            <a:pPr marL="354965" marR="5080" lvl="0" indent="-342900" algn="l"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To describe the various features of processes, including scheduling, creation and termination, and communication</a:t>
            </a:r>
            <a:endParaRPr sz="2000">
              <a:latin typeface="Calibri"/>
              <a:ea typeface="Calibri"/>
              <a:cs typeface="Calibri"/>
              <a:sym typeface="Calibri"/>
            </a:endParaRPr>
          </a:p>
          <a:p>
            <a:pPr marL="354965" marR="5080" lvl="0" indent="-342900" algn="l" rtl="0">
              <a:lnSpc>
                <a:spcPct val="100000"/>
              </a:lnSpc>
              <a:spcBef>
                <a:spcPts val="845"/>
              </a:spcBef>
              <a:spcAft>
                <a:spcPts val="0"/>
              </a:spcAft>
              <a:buClr>
                <a:srgbClr val="993300"/>
              </a:buClr>
              <a:buSzPts val="1800"/>
              <a:buFont typeface="Noto Sans Symbols"/>
              <a:buChar char="■"/>
            </a:pPr>
            <a:r>
              <a:rPr lang="en-US" sz="2000">
                <a:latin typeface="Calibri"/>
                <a:ea typeface="Calibri"/>
                <a:cs typeface="Calibri"/>
                <a:sym typeface="Calibri"/>
              </a:rPr>
              <a:t>To explore inter-process communication using shared memory and message passing</a:t>
            </a:r>
            <a:endParaRPr sz="2000">
              <a:latin typeface="Calibri"/>
              <a:ea typeface="Calibri"/>
              <a:cs typeface="Calibri"/>
              <a:sym typeface="Calibri"/>
            </a:endParaRPr>
          </a:p>
          <a:p>
            <a:pPr marL="354965" lvl="0" indent="-342265" algn="l"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To describe communication in client-server systems</a:t>
            </a:r>
            <a:endParaRPr sz="20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829767" y="1086357"/>
            <a:ext cx="8045450" cy="4904105"/>
          </a:xfrm>
          <a:prstGeom prst="rect">
            <a:avLst/>
          </a:prstGeom>
          <a:noFill/>
          <a:ln>
            <a:noFill/>
          </a:ln>
        </p:spPr>
        <p:txBody>
          <a:bodyPr spcFirstLastPara="1" wrap="square" lIns="0" tIns="13325" rIns="0" bIns="0" anchor="t" anchorCtr="0">
            <a:spAutoFit/>
          </a:bodyPr>
          <a:lstStyle/>
          <a:p>
            <a:pPr marL="12700" marR="5080" lvl="0" indent="-104775" algn="l" rtl="0">
              <a:lnSpc>
                <a:spcPct val="100000"/>
              </a:lnSpc>
              <a:spcBef>
                <a:spcPts val="0"/>
              </a:spcBef>
              <a:spcAft>
                <a:spcPts val="0"/>
              </a:spcAft>
              <a:buSzPts val="1650"/>
              <a:buFont typeface="Arial"/>
              <a:buChar char="•"/>
            </a:pPr>
            <a:r>
              <a:rPr lang="en-US" sz="2000" b="1">
                <a:latin typeface="Calibri"/>
                <a:ea typeface="Calibri"/>
                <a:cs typeface="Calibri"/>
                <a:sym typeface="Calibri"/>
              </a:rPr>
              <a:t>	Process	</a:t>
            </a:r>
            <a:r>
              <a:rPr lang="en-US" sz="2000">
                <a:latin typeface="Calibri"/>
                <a:ea typeface="Calibri"/>
                <a:cs typeface="Calibri"/>
                <a:sym typeface="Calibri"/>
              </a:rPr>
              <a:t>–	a	program	in	execution;	process	execution	must	progress	in sequential fashion</a:t>
            </a:r>
            <a:endParaRPr sz="2000">
              <a:latin typeface="Calibri"/>
              <a:ea typeface="Calibri"/>
              <a:cs typeface="Calibri"/>
              <a:sym typeface="Calibri"/>
            </a:endParaRPr>
          </a:p>
          <a:p>
            <a:pPr marL="100330" lvl="0" indent="-104775" algn="l" rtl="0">
              <a:lnSpc>
                <a:spcPct val="100000"/>
              </a:lnSpc>
              <a:spcBef>
                <a:spcPts val="0"/>
              </a:spcBef>
              <a:spcAft>
                <a:spcPts val="0"/>
              </a:spcAft>
              <a:buSzPts val="1650"/>
              <a:buFont typeface="Arial"/>
              <a:buChar char="•"/>
            </a:pPr>
            <a:r>
              <a:rPr lang="en-US" sz="2000">
                <a:latin typeface="Calibri"/>
                <a:ea typeface="Calibri"/>
                <a:cs typeface="Calibri"/>
                <a:sym typeface="Calibri"/>
              </a:rPr>
              <a:t>Multiple parts</a:t>
            </a:r>
            <a:endParaRPr sz="2000">
              <a:latin typeface="Calibri"/>
              <a:ea typeface="Calibri"/>
              <a:cs typeface="Calibri"/>
              <a:sym typeface="Calibri"/>
            </a:endParaRPr>
          </a:p>
          <a:p>
            <a:pPr marL="668655" lvl="1" indent="-201295" algn="l" rtl="0">
              <a:lnSpc>
                <a:spcPct val="100000"/>
              </a:lnSpc>
              <a:spcBef>
                <a:spcPts val="0"/>
              </a:spcBef>
              <a:spcAft>
                <a:spcPts val="0"/>
              </a:spcAft>
              <a:buSzPts val="1850"/>
              <a:buFont typeface="Noto Sans Symbols"/>
              <a:buChar char="✔"/>
            </a:pPr>
            <a:r>
              <a:rPr lang="en-US" sz="2000">
                <a:latin typeface="Calibri"/>
                <a:ea typeface="Calibri"/>
                <a:cs typeface="Calibri"/>
                <a:sym typeface="Calibri"/>
              </a:rPr>
              <a:t>The program code, also called </a:t>
            </a:r>
            <a:r>
              <a:rPr lang="en-US" sz="2000" b="1">
                <a:latin typeface="Calibri"/>
                <a:ea typeface="Calibri"/>
                <a:cs typeface="Calibri"/>
                <a:sym typeface="Calibri"/>
              </a:rPr>
              <a:t>text section</a:t>
            </a:r>
            <a:endParaRPr sz="2000">
              <a:latin typeface="Calibri"/>
              <a:ea typeface="Calibri"/>
              <a:cs typeface="Calibri"/>
              <a:sym typeface="Calibri"/>
            </a:endParaRPr>
          </a:p>
          <a:p>
            <a:pPr marL="668655" lvl="1" indent="-201295" algn="l" rtl="0">
              <a:lnSpc>
                <a:spcPct val="100000"/>
              </a:lnSpc>
              <a:spcBef>
                <a:spcPts val="0"/>
              </a:spcBef>
              <a:spcAft>
                <a:spcPts val="0"/>
              </a:spcAft>
              <a:buSzPts val="1850"/>
              <a:buFont typeface="Noto Sans Symbols"/>
              <a:buChar char="✔"/>
            </a:pPr>
            <a:r>
              <a:rPr lang="en-US" sz="2000">
                <a:latin typeface="Calibri"/>
                <a:ea typeface="Calibri"/>
                <a:cs typeface="Calibri"/>
                <a:sym typeface="Calibri"/>
              </a:rPr>
              <a:t>Current activity including </a:t>
            </a:r>
            <a:r>
              <a:rPr lang="en-US" sz="2000" b="1">
                <a:latin typeface="Calibri"/>
                <a:ea typeface="Calibri"/>
                <a:cs typeface="Calibri"/>
                <a:sym typeface="Calibri"/>
              </a:rPr>
              <a:t>program counter</a:t>
            </a:r>
            <a:r>
              <a:rPr lang="en-US" sz="2000">
                <a:latin typeface="Calibri"/>
                <a:ea typeface="Calibri"/>
                <a:cs typeface="Calibri"/>
                <a:sym typeface="Calibri"/>
              </a:rPr>
              <a:t>, processor registers</a:t>
            </a:r>
            <a:endParaRPr sz="2000">
              <a:latin typeface="Calibri"/>
              <a:ea typeface="Calibri"/>
              <a:cs typeface="Calibri"/>
              <a:sym typeface="Calibri"/>
            </a:endParaRPr>
          </a:p>
          <a:p>
            <a:pPr marL="154305" lvl="0" indent="-141605" algn="l" rtl="0">
              <a:lnSpc>
                <a:spcPct val="100000"/>
              </a:lnSpc>
              <a:spcBef>
                <a:spcPts val="5"/>
              </a:spcBef>
              <a:spcAft>
                <a:spcPts val="0"/>
              </a:spcAft>
              <a:buSzPts val="1650"/>
              <a:buFont typeface="Arial"/>
              <a:buChar char="•"/>
            </a:pPr>
            <a:r>
              <a:rPr lang="en-US" sz="2000">
                <a:latin typeface="Calibri"/>
                <a:ea typeface="Calibri"/>
                <a:cs typeface="Calibri"/>
                <a:sym typeface="Calibri"/>
              </a:rPr>
              <a:t>Process includes :</a:t>
            </a:r>
            <a:endParaRPr sz="2000">
              <a:latin typeface="Calibri"/>
              <a:ea typeface="Calibri"/>
              <a:cs typeface="Calibri"/>
              <a:sym typeface="Calibri"/>
            </a:endParaRPr>
          </a:p>
          <a:p>
            <a:pPr marL="668655" lvl="1" indent="-201295" algn="l" rtl="0">
              <a:lnSpc>
                <a:spcPct val="100000"/>
              </a:lnSpc>
              <a:spcBef>
                <a:spcPts val="0"/>
              </a:spcBef>
              <a:spcAft>
                <a:spcPts val="0"/>
              </a:spcAft>
              <a:buSzPts val="1850"/>
              <a:buFont typeface="Noto Sans Symbols"/>
              <a:buChar char="✔"/>
            </a:pPr>
            <a:r>
              <a:rPr lang="en-US" sz="2000" b="1">
                <a:latin typeface="Calibri"/>
                <a:ea typeface="Calibri"/>
                <a:cs typeface="Calibri"/>
                <a:sym typeface="Calibri"/>
              </a:rPr>
              <a:t>Stack </a:t>
            </a:r>
            <a:r>
              <a:rPr lang="en-US" sz="2000">
                <a:latin typeface="Calibri"/>
                <a:ea typeface="Calibri"/>
                <a:cs typeface="Calibri"/>
                <a:sym typeface="Calibri"/>
              </a:rPr>
              <a:t>containing temporary data</a:t>
            </a:r>
            <a:endParaRPr sz="2000">
              <a:latin typeface="Calibri"/>
              <a:ea typeface="Calibri"/>
              <a:cs typeface="Calibri"/>
              <a:sym typeface="Calibri"/>
            </a:endParaRPr>
          </a:p>
          <a:p>
            <a:pPr marL="1125855" lvl="2" indent="-201294" algn="l" rtl="0">
              <a:lnSpc>
                <a:spcPct val="100000"/>
              </a:lnSpc>
              <a:spcBef>
                <a:spcPts val="0"/>
              </a:spcBef>
              <a:spcAft>
                <a:spcPts val="0"/>
              </a:spcAft>
              <a:buSzPts val="1900"/>
              <a:buFont typeface="Noto Sans Symbols"/>
              <a:buChar char="✔"/>
            </a:pPr>
            <a:r>
              <a:rPr lang="en-US" sz="2000">
                <a:latin typeface="Calibri"/>
                <a:ea typeface="Calibri"/>
                <a:cs typeface="Calibri"/>
                <a:sym typeface="Calibri"/>
              </a:rPr>
              <a:t>Function parameters, return addresses, local variables</a:t>
            </a:r>
            <a:endParaRPr sz="2000">
              <a:latin typeface="Calibri"/>
              <a:ea typeface="Calibri"/>
              <a:cs typeface="Calibri"/>
              <a:sym typeface="Calibri"/>
            </a:endParaRPr>
          </a:p>
          <a:p>
            <a:pPr marL="668655" lvl="1" indent="-201295" algn="l" rtl="0">
              <a:lnSpc>
                <a:spcPct val="100000"/>
              </a:lnSpc>
              <a:spcBef>
                <a:spcPts val="0"/>
              </a:spcBef>
              <a:spcAft>
                <a:spcPts val="0"/>
              </a:spcAft>
              <a:buSzPts val="1850"/>
              <a:buFont typeface="Noto Sans Symbols"/>
              <a:buChar char="✔"/>
            </a:pPr>
            <a:r>
              <a:rPr lang="en-US" sz="2000" b="1">
                <a:latin typeface="Calibri"/>
                <a:ea typeface="Calibri"/>
                <a:cs typeface="Calibri"/>
                <a:sym typeface="Calibri"/>
              </a:rPr>
              <a:t>Data section </a:t>
            </a:r>
            <a:r>
              <a:rPr lang="en-US" sz="2000">
                <a:latin typeface="Calibri"/>
                <a:ea typeface="Calibri"/>
                <a:cs typeface="Calibri"/>
                <a:sym typeface="Calibri"/>
              </a:rPr>
              <a:t>containing global variables</a:t>
            </a:r>
            <a:endParaRPr sz="2000">
              <a:latin typeface="Calibri"/>
              <a:ea typeface="Calibri"/>
              <a:cs typeface="Calibri"/>
              <a:sym typeface="Calibri"/>
            </a:endParaRPr>
          </a:p>
          <a:p>
            <a:pPr marL="669290" lvl="1" indent="-201930" algn="l" rtl="0">
              <a:lnSpc>
                <a:spcPct val="100000"/>
              </a:lnSpc>
              <a:spcBef>
                <a:spcPts val="0"/>
              </a:spcBef>
              <a:spcAft>
                <a:spcPts val="0"/>
              </a:spcAft>
              <a:buSzPts val="1850"/>
              <a:buFont typeface="Noto Sans Symbols"/>
              <a:buChar char="✔"/>
            </a:pPr>
            <a:r>
              <a:rPr lang="en-US" sz="2000" b="1">
                <a:latin typeface="Calibri"/>
                <a:ea typeface="Calibri"/>
                <a:cs typeface="Calibri"/>
                <a:sym typeface="Calibri"/>
              </a:rPr>
              <a:t>Heap </a:t>
            </a:r>
            <a:r>
              <a:rPr lang="en-US" sz="2000">
                <a:latin typeface="Calibri"/>
                <a:ea typeface="Calibri"/>
                <a:cs typeface="Calibri"/>
                <a:sym typeface="Calibri"/>
              </a:rPr>
              <a:t>containing memory dynamically allocated during run time</a:t>
            </a:r>
            <a:endParaRPr sz="2000">
              <a:latin typeface="Calibri"/>
              <a:ea typeface="Calibri"/>
              <a:cs typeface="Calibri"/>
              <a:sym typeface="Calibri"/>
            </a:endParaRPr>
          </a:p>
          <a:p>
            <a:pPr marL="87630" marR="365125" lvl="0" indent="-104775" algn="r" rtl="0">
              <a:lnSpc>
                <a:spcPct val="100000"/>
              </a:lnSpc>
              <a:spcBef>
                <a:spcPts val="0"/>
              </a:spcBef>
              <a:spcAft>
                <a:spcPts val="0"/>
              </a:spcAft>
              <a:buSzPts val="1650"/>
              <a:buFont typeface="Arial"/>
              <a:buChar char="•"/>
            </a:pPr>
            <a:r>
              <a:rPr lang="en-US" sz="2000">
                <a:latin typeface="Calibri"/>
                <a:ea typeface="Calibri"/>
                <a:cs typeface="Calibri"/>
                <a:sym typeface="Calibri"/>
              </a:rPr>
              <a:t>Program is passive entity stored on disk (executable file), process is active</a:t>
            </a:r>
            <a:endParaRPr sz="2000">
              <a:latin typeface="Calibri"/>
              <a:ea typeface="Calibri"/>
              <a:cs typeface="Calibri"/>
              <a:sym typeface="Calibri"/>
            </a:endParaRPr>
          </a:p>
          <a:p>
            <a:pPr marL="198755" marR="315595" lvl="1" indent="-198755" algn="r" rtl="0">
              <a:lnSpc>
                <a:spcPct val="100000"/>
              </a:lnSpc>
              <a:spcBef>
                <a:spcPts val="0"/>
              </a:spcBef>
              <a:spcAft>
                <a:spcPts val="0"/>
              </a:spcAft>
              <a:buSzPts val="1850"/>
              <a:buFont typeface="Noto Sans Symbols"/>
              <a:buChar char="✔"/>
            </a:pPr>
            <a:r>
              <a:rPr lang="en-US" sz="2000">
                <a:latin typeface="Calibri"/>
                <a:ea typeface="Calibri"/>
                <a:cs typeface="Calibri"/>
                <a:sym typeface="Calibri"/>
              </a:rPr>
              <a:t>Program becomes process when executable file loaded into memory</a:t>
            </a:r>
            <a:endParaRPr sz="2000">
              <a:latin typeface="Calibri"/>
              <a:ea typeface="Calibri"/>
              <a:cs typeface="Calibri"/>
              <a:sym typeface="Calibri"/>
            </a:endParaRPr>
          </a:p>
          <a:p>
            <a:pPr marL="100330" marR="5080" lvl="0" indent="-87630" algn="l" rtl="0">
              <a:lnSpc>
                <a:spcPct val="100000"/>
              </a:lnSpc>
              <a:spcBef>
                <a:spcPts val="0"/>
              </a:spcBef>
              <a:spcAft>
                <a:spcPts val="0"/>
              </a:spcAft>
              <a:buSzPts val="1650"/>
              <a:buFont typeface="Arial"/>
              <a:buChar char="•"/>
            </a:pPr>
            <a:r>
              <a:rPr lang="en-US" sz="2000">
                <a:latin typeface="Calibri"/>
                <a:ea typeface="Calibri"/>
                <a:cs typeface="Calibri"/>
                <a:sym typeface="Calibri"/>
              </a:rPr>
              <a:t>Execution of program started via GUI mouse clicks, command line entry of its name, etc</a:t>
            </a:r>
            <a:endParaRPr sz="2000">
              <a:latin typeface="Calibri"/>
              <a:ea typeface="Calibri"/>
              <a:cs typeface="Calibri"/>
              <a:sym typeface="Calibri"/>
            </a:endParaRPr>
          </a:p>
          <a:p>
            <a:pPr marL="100330" lvl="0" indent="-104775" algn="l" rtl="0">
              <a:lnSpc>
                <a:spcPct val="100000"/>
              </a:lnSpc>
              <a:spcBef>
                <a:spcPts val="5"/>
              </a:spcBef>
              <a:spcAft>
                <a:spcPts val="0"/>
              </a:spcAft>
              <a:buSzPts val="1650"/>
              <a:buFont typeface="Arial"/>
              <a:buChar char="•"/>
            </a:pPr>
            <a:r>
              <a:rPr lang="en-US" sz="2000">
                <a:latin typeface="Calibri"/>
                <a:ea typeface="Calibri"/>
                <a:cs typeface="Calibri"/>
                <a:sym typeface="Calibri"/>
              </a:rPr>
              <a:t>One program can be several processes</a:t>
            </a:r>
            <a:endParaRPr sz="2000">
              <a:latin typeface="Calibri"/>
              <a:ea typeface="Calibri"/>
              <a:cs typeface="Calibri"/>
              <a:sym typeface="Calibri"/>
            </a:endParaRPr>
          </a:p>
          <a:p>
            <a:pPr marL="668655" lvl="1" indent="-198755" algn="l" rtl="0">
              <a:lnSpc>
                <a:spcPct val="100000"/>
              </a:lnSpc>
              <a:spcBef>
                <a:spcPts val="0"/>
              </a:spcBef>
              <a:spcAft>
                <a:spcPts val="0"/>
              </a:spcAft>
              <a:buSzPts val="1850"/>
              <a:buFont typeface="Noto Sans Symbols"/>
              <a:buChar char="✔"/>
            </a:pPr>
            <a:r>
              <a:rPr lang="en-US" sz="2000">
                <a:latin typeface="Calibri"/>
                <a:ea typeface="Calibri"/>
                <a:cs typeface="Calibri"/>
                <a:sym typeface="Calibri"/>
              </a:rPr>
              <a:t>Consider multiple users executing the same program</a:t>
            </a:r>
            <a:endParaRPr sz="2000">
              <a:latin typeface="Calibri"/>
              <a:ea typeface="Calibri"/>
              <a:cs typeface="Calibri"/>
              <a:sym typeface="Calibri"/>
            </a:endParaRPr>
          </a:p>
        </p:txBody>
      </p:sp>
      <p:sp>
        <p:nvSpPr>
          <p:cNvPr id="132" name="Google Shape;132;p5"/>
          <p:cNvSpPr txBox="1">
            <a:spLocks noGrp="1"/>
          </p:cNvSpPr>
          <p:nvPr>
            <p:ph type="title"/>
          </p:nvPr>
        </p:nvSpPr>
        <p:spPr>
          <a:xfrm>
            <a:off x="0" y="0"/>
            <a:ext cx="6477000" cy="763670"/>
          </a:xfrm>
          <a:prstGeom prst="rect">
            <a:avLst/>
          </a:prstGeom>
          <a:noFill/>
          <a:ln>
            <a:noFill/>
          </a:ln>
        </p:spPr>
        <p:txBody>
          <a:bodyPr spcFirstLastPara="1" wrap="square" lIns="0" tIns="255900" rIns="0" bIns="0" anchor="ctr" anchorCtr="0">
            <a:spAutoFit/>
          </a:bodyPr>
          <a:lstStyle/>
          <a:p>
            <a:pPr marL="1684020" lvl="0" indent="0" algn="l" rtl="0">
              <a:lnSpc>
                <a:spcPct val="100000"/>
              </a:lnSpc>
              <a:spcBef>
                <a:spcPts val="100"/>
              </a:spcBef>
              <a:spcAft>
                <a:spcPts val="0"/>
              </a:spcAft>
              <a:buSzPts val="1800"/>
              <a:buNone/>
            </a:pPr>
            <a:r>
              <a:rPr lang="en-US" sz="3200" b="1" u="none">
                <a:solidFill>
                  <a:schemeClr val="dk1"/>
                </a:solidFill>
                <a:latin typeface="Arial"/>
                <a:ea typeface="Arial"/>
                <a:cs typeface="Arial"/>
                <a:sym typeface="Arial"/>
              </a:rPr>
              <a:t>PROCESS CONCEPT</a:t>
            </a:r>
            <a:endParaRPr sz="3200" b="1">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6"/>
          <p:cNvPicPr preferRelativeResize="0"/>
          <p:nvPr/>
        </p:nvPicPr>
        <p:blipFill rotWithShape="1">
          <a:blip r:embed="rId3">
            <a:alphaModFix/>
          </a:blip>
          <a:srcRect/>
          <a:stretch/>
        </p:blipFill>
        <p:spPr>
          <a:xfrm>
            <a:off x="4845329" y="1283514"/>
            <a:ext cx="2881096" cy="4542235"/>
          </a:xfrm>
          <a:prstGeom prst="rect">
            <a:avLst/>
          </a:prstGeom>
          <a:noFill/>
          <a:ln>
            <a:noFill/>
          </a:ln>
        </p:spPr>
      </p:pic>
      <p:sp>
        <p:nvSpPr>
          <p:cNvPr id="138" name="Google Shape;138;p6"/>
          <p:cNvSpPr txBox="1"/>
          <p:nvPr/>
        </p:nvSpPr>
        <p:spPr>
          <a:xfrm>
            <a:off x="1483867" y="2733294"/>
            <a:ext cx="244284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1">
                <a:solidFill>
                  <a:srgbClr val="006699"/>
                </a:solidFill>
                <a:latin typeface="Calibri"/>
                <a:ea typeface="Calibri"/>
                <a:cs typeface="Calibri"/>
                <a:sym typeface="Calibri"/>
              </a:rPr>
              <a:t>Process in Memory</a:t>
            </a:r>
            <a:endParaRPr sz="2400">
              <a:latin typeface="Calibri"/>
              <a:ea typeface="Calibri"/>
              <a:cs typeface="Calibri"/>
              <a:sym typeface="Calibri"/>
            </a:endParaRPr>
          </a:p>
        </p:txBody>
      </p:sp>
      <p:sp>
        <p:nvSpPr>
          <p:cNvPr id="139" name="Google Shape;139;p6"/>
          <p:cNvSpPr txBox="1">
            <a:spLocks noGrp="1"/>
          </p:cNvSpPr>
          <p:nvPr>
            <p:ph type="title"/>
          </p:nvPr>
        </p:nvSpPr>
        <p:spPr>
          <a:xfrm>
            <a:off x="0" y="0"/>
            <a:ext cx="5486040" cy="91404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rgbClr val="000099"/>
                </a:solidFill>
                <a:latin typeface="Calibri"/>
                <a:ea typeface="Calibri"/>
                <a:cs typeface="Calibri"/>
                <a:sym typeface="Calibri"/>
              </a:rPr>
              <a:t>CONTD..</a:t>
            </a:r>
            <a:endParaRPr sz="3200">
              <a:latin typeface="Calibri"/>
              <a:ea typeface="Calibri"/>
              <a:cs typeface="Calibri"/>
              <a:sym typeface="Calibri"/>
            </a:endParaRPr>
          </a:p>
        </p:txBody>
      </p:sp>
      <p:sp>
        <p:nvSpPr>
          <p:cNvPr id="140" name="Google Shape;140;p6"/>
          <p:cNvSpPr txBox="1">
            <a:spLocks noGrp="1"/>
          </p:cNvSpPr>
          <p:nvPr>
            <p:ph type="ftr" idx="11"/>
          </p:nvPr>
        </p:nvSpPr>
        <p:spPr>
          <a:xfrm>
            <a:off x="352540" y="6356520"/>
            <a:ext cx="8333900" cy="364680"/>
          </a:xfrm>
          <a:prstGeom prst="rect">
            <a:avLst/>
          </a:prstGeom>
          <a:noFill/>
          <a:ln>
            <a:noFill/>
          </a:ln>
        </p:spPr>
        <p:txBody>
          <a:bodyPr spcFirstLastPara="1" wrap="square" lIns="0" tIns="35550" rIns="0" bIns="0" anchor="ctr" anchorCtr="0">
            <a:spAutoFit/>
          </a:bodyPr>
          <a:lstStyle/>
          <a:p>
            <a:pPr marL="12700" lvl="0" indent="0" algn="ctr" rtl="0">
              <a:lnSpc>
                <a:spcPct val="100000"/>
              </a:lnSpc>
              <a:spcBef>
                <a:spcPts val="280"/>
              </a:spcBef>
              <a:spcAft>
                <a:spcPts val="0"/>
              </a:spcAft>
              <a:buClr>
                <a:srgbClr val="888888"/>
              </a:buClr>
              <a:buSzPts val="1400"/>
              <a:buFont typeface="Arial"/>
              <a:buNone/>
            </a:pPr>
            <a:r>
              <a:rPr lang="en-US"/>
              <a:t>RCEW, Pasupula (V), Nandikotkur Road,</a:t>
            </a:r>
            <a:endParaRPr/>
          </a:p>
          <a:p>
            <a:pPr marL="1990725" lvl="0" indent="0" algn="ctr" rtl="0">
              <a:lnSpc>
                <a:spcPct val="100000"/>
              </a:lnSpc>
              <a:spcBef>
                <a:spcPts val="0"/>
              </a:spcBef>
              <a:spcAft>
                <a:spcPts val="0"/>
              </a:spcAft>
              <a:buClr>
                <a:srgbClr val="888888"/>
              </a:buClr>
              <a:buSzPts val="1400"/>
              <a:buFont typeface="Arial"/>
              <a:buNone/>
            </a:pPr>
            <a:r>
              <a:rPr lang="en-US"/>
              <a:t>Near Venkayapalli, KURNOOL -2</a:t>
            </a:r>
            <a:endParaRPr/>
          </a:p>
        </p:txBody>
      </p:sp>
      <p:sp>
        <p:nvSpPr>
          <p:cNvPr id="141" name="Google Shape;141;p6"/>
          <p:cNvSpPr txBox="1">
            <a:spLocks noGrp="1"/>
          </p:cNvSpPr>
          <p:nvPr>
            <p:ph type="dt" idx="10"/>
          </p:nvPr>
        </p:nvSpPr>
        <p:spPr>
          <a:xfrm>
            <a:off x="427038" y="6643688"/>
            <a:ext cx="8716962" cy="174625"/>
          </a:xfrm>
          <a:prstGeom prst="rect">
            <a:avLst/>
          </a:prstGeom>
          <a:noFill/>
          <a:ln>
            <a:noFill/>
          </a:ln>
        </p:spPr>
        <p:txBody>
          <a:bodyPr spcFirstLastPara="1" wrap="square" lIns="0" tIns="20300" rIns="0" bIns="0" anchor="t" anchorCtr="0">
            <a:spAutoFit/>
          </a:bodyPr>
          <a:lstStyle/>
          <a:p>
            <a:pPr marL="0" lvl="0" indent="0" algn="l" rtl="0">
              <a:lnSpc>
                <a:spcPct val="100000"/>
              </a:lnSpc>
              <a:spcBef>
                <a:spcPts val="0"/>
              </a:spcBef>
              <a:spcAft>
                <a:spcPts val="0"/>
              </a:spcAft>
              <a:buNone/>
            </a:pPr>
            <a:r>
              <a:rPr lang="en-US" sz="1500" baseline="30000"/>
              <a:t>1.1	Silberschatz, Galvin and Gagne ©2011</a:t>
            </a:r>
            <a:r>
              <a:rPr lang="en-US" sz="1000"/>
              <a:t>Operating System Concepts Essentials – 8</a:t>
            </a:r>
            <a:r>
              <a:rPr lang="en-US" sz="975" baseline="30000"/>
              <a:t>th </a:t>
            </a:r>
            <a:r>
              <a:rPr lang="en-US" sz="1000"/>
              <a:t>Edition</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p:nvPr/>
        </p:nvSpPr>
        <p:spPr>
          <a:xfrm>
            <a:off x="953516" y="882070"/>
            <a:ext cx="6885305" cy="2887329"/>
          </a:xfrm>
          <a:prstGeom prst="rect">
            <a:avLst/>
          </a:prstGeom>
          <a:noFill/>
          <a:ln>
            <a:noFill/>
          </a:ln>
        </p:spPr>
        <p:txBody>
          <a:bodyPr spcFirstLastPara="1" wrap="square" lIns="0" tIns="128900" rIns="0" bIns="0" anchor="t" anchorCtr="0">
            <a:spAutoFit/>
          </a:bodyPr>
          <a:lstStyle/>
          <a:p>
            <a:pPr marL="342265" marR="2519045" lvl="0" indent="-227965" algn="r" rtl="0">
              <a:lnSpc>
                <a:spcPct val="100000"/>
              </a:lnSpc>
              <a:spcBef>
                <a:spcPts val="0"/>
              </a:spcBef>
              <a:spcAft>
                <a:spcPts val="0"/>
              </a:spcAft>
              <a:buClr>
                <a:srgbClr val="993300"/>
              </a:buClr>
              <a:buSzPts val="1800"/>
              <a:buFont typeface="Noto Sans Symbols"/>
              <a:buNone/>
            </a:pPr>
            <a:endParaRPr sz="2000">
              <a:latin typeface="Calibri"/>
              <a:ea typeface="Calibri"/>
              <a:cs typeface="Calibri"/>
              <a:sym typeface="Calibri"/>
            </a:endParaRPr>
          </a:p>
          <a:p>
            <a:pPr marL="342265" marR="2519045" lvl="0" indent="-342265" algn="r" rtl="0">
              <a:lnSpc>
                <a:spcPct val="100000"/>
              </a:lnSpc>
              <a:spcBef>
                <a:spcPts val="665"/>
              </a:spcBef>
              <a:spcAft>
                <a:spcPts val="0"/>
              </a:spcAft>
              <a:buClr>
                <a:srgbClr val="993300"/>
              </a:buClr>
              <a:buSzPts val="1800"/>
              <a:buFont typeface="Noto Sans Symbols"/>
              <a:buChar char="■"/>
            </a:pPr>
            <a:r>
              <a:rPr lang="en-US" sz="2000">
                <a:latin typeface="Calibri"/>
                <a:ea typeface="Calibri"/>
                <a:cs typeface="Calibri"/>
                <a:sym typeface="Calibri"/>
              </a:rPr>
              <a:t>As a process executes, it changes </a:t>
            </a:r>
            <a:r>
              <a:rPr lang="en-US" sz="2000" b="1">
                <a:solidFill>
                  <a:srgbClr val="3366FF"/>
                </a:solidFill>
                <a:latin typeface="Calibri"/>
                <a:ea typeface="Calibri"/>
                <a:cs typeface="Calibri"/>
                <a:sym typeface="Calibri"/>
              </a:rPr>
              <a:t>state</a:t>
            </a:r>
            <a:endParaRPr sz="2000">
              <a:latin typeface="Calibri"/>
              <a:ea typeface="Calibri"/>
              <a:cs typeface="Calibri"/>
              <a:sym typeface="Calibri"/>
            </a:endParaRPr>
          </a:p>
          <a:p>
            <a:pPr marL="286385" marR="2561590" lvl="1" indent="-286385" algn="r" rtl="0">
              <a:lnSpc>
                <a:spcPct val="100000"/>
              </a:lnSpc>
              <a:spcBef>
                <a:spcPts val="840"/>
              </a:spcBef>
              <a:spcAft>
                <a:spcPts val="0"/>
              </a:spcAft>
              <a:buClr>
                <a:srgbClr val="CC6600"/>
              </a:buClr>
              <a:buSzPts val="1600"/>
              <a:buFont typeface="Noto Sans Symbols"/>
              <a:buChar char="●"/>
            </a:pPr>
            <a:r>
              <a:rPr lang="en-US" sz="2000" b="1">
                <a:latin typeface="Calibri"/>
                <a:ea typeface="Calibri"/>
                <a:cs typeface="Calibri"/>
                <a:sym typeface="Calibri"/>
              </a:rPr>
              <a:t>new</a:t>
            </a:r>
            <a:r>
              <a:rPr lang="en-US" sz="2000">
                <a:latin typeface="Calibri"/>
                <a:ea typeface="Calibri"/>
                <a:cs typeface="Calibri"/>
                <a:sym typeface="Calibri"/>
              </a:rPr>
              <a:t>: The process is being created</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b="1">
                <a:latin typeface="Calibri"/>
                <a:ea typeface="Calibri"/>
                <a:cs typeface="Calibri"/>
                <a:sym typeface="Calibri"/>
              </a:rPr>
              <a:t>running</a:t>
            </a:r>
            <a:r>
              <a:rPr lang="en-US" sz="2000">
                <a:latin typeface="Calibri"/>
                <a:ea typeface="Calibri"/>
                <a:cs typeface="Calibri"/>
                <a:sym typeface="Calibri"/>
              </a:rPr>
              <a:t>: Instructions are being executed</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b="1">
                <a:latin typeface="Calibri"/>
                <a:ea typeface="Calibri"/>
                <a:cs typeface="Calibri"/>
                <a:sym typeface="Calibri"/>
              </a:rPr>
              <a:t>waiting</a:t>
            </a:r>
            <a:r>
              <a:rPr lang="en-US" sz="2000">
                <a:latin typeface="Calibri"/>
                <a:ea typeface="Calibri"/>
                <a:cs typeface="Calibri"/>
                <a:sym typeface="Calibri"/>
              </a:rPr>
              <a:t>: The process is waiting for some event to occur</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b="1">
                <a:latin typeface="Calibri"/>
                <a:ea typeface="Calibri"/>
                <a:cs typeface="Calibri"/>
                <a:sym typeface="Calibri"/>
              </a:rPr>
              <a:t>ready</a:t>
            </a:r>
            <a:r>
              <a:rPr lang="en-US" sz="2000">
                <a:latin typeface="Calibri"/>
                <a:ea typeface="Calibri"/>
                <a:cs typeface="Calibri"/>
                <a:sym typeface="Calibri"/>
              </a:rPr>
              <a:t>: The process is waiting to be assigned to a processor</a:t>
            </a:r>
            <a:endParaRPr sz="2000">
              <a:latin typeface="Calibri"/>
              <a:ea typeface="Calibri"/>
              <a:cs typeface="Calibri"/>
              <a:sym typeface="Calibri"/>
            </a:endParaRPr>
          </a:p>
          <a:p>
            <a:pPr marL="756285" lvl="1" indent="-286385" algn="l" rtl="0">
              <a:lnSpc>
                <a:spcPct val="100000"/>
              </a:lnSpc>
              <a:spcBef>
                <a:spcPts val="845"/>
              </a:spcBef>
              <a:spcAft>
                <a:spcPts val="0"/>
              </a:spcAft>
              <a:buClr>
                <a:srgbClr val="CC6600"/>
              </a:buClr>
              <a:buSzPts val="1600"/>
              <a:buFont typeface="Noto Sans Symbols"/>
              <a:buChar char="●"/>
            </a:pPr>
            <a:r>
              <a:rPr lang="en-US" sz="2000" b="1">
                <a:latin typeface="Calibri"/>
                <a:ea typeface="Calibri"/>
                <a:cs typeface="Calibri"/>
                <a:sym typeface="Calibri"/>
              </a:rPr>
              <a:t>terminated</a:t>
            </a:r>
            <a:r>
              <a:rPr lang="en-US" sz="2000">
                <a:latin typeface="Calibri"/>
                <a:ea typeface="Calibri"/>
                <a:cs typeface="Calibri"/>
                <a:sym typeface="Calibri"/>
              </a:rPr>
              <a:t>: The process has finished execution</a:t>
            </a:r>
            <a:endParaRPr sz="2000">
              <a:latin typeface="Calibri"/>
              <a:ea typeface="Calibri"/>
              <a:cs typeface="Calibri"/>
              <a:sym typeface="Calibri"/>
            </a:endParaRPr>
          </a:p>
        </p:txBody>
      </p:sp>
      <p:sp>
        <p:nvSpPr>
          <p:cNvPr id="147" name="Google Shape;147;p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br>
              <a:rPr lang="en-US" b="1">
                <a:solidFill>
                  <a:schemeClr val="dk1"/>
                </a:solidFill>
                <a:latin typeface="Arial"/>
                <a:ea typeface="Arial"/>
                <a:cs typeface="Arial"/>
                <a:sym typeface="Arial"/>
              </a:rPr>
            </a:br>
            <a:r>
              <a:rPr lang="en-US" b="1">
                <a:solidFill>
                  <a:schemeClr val="dk1"/>
                </a:solidFill>
                <a:latin typeface="Arial"/>
                <a:ea typeface="Arial"/>
                <a:cs typeface="Arial"/>
                <a:sym typeface="Arial"/>
              </a:rPr>
              <a:t>Process State</a:t>
            </a:r>
            <a:br>
              <a:rPr lang="en-US">
                <a:solidFill>
                  <a:schemeClr val="dk1"/>
                </a:solidFill>
                <a:latin typeface="Arial"/>
                <a:ea typeface="Arial"/>
                <a:cs typeface="Arial"/>
                <a:sym typeface="Arial"/>
              </a:rPr>
            </a:b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8"/>
          <p:cNvPicPr preferRelativeResize="0"/>
          <p:nvPr/>
        </p:nvPicPr>
        <p:blipFill rotWithShape="1">
          <a:blip r:embed="rId3">
            <a:alphaModFix/>
          </a:blip>
          <a:srcRect/>
          <a:stretch/>
        </p:blipFill>
        <p:spPr>
          <a:xfrm>
            <a:off x="1446275" y="2044573"/>
            <a:ext cx="6635750" cy="2628861"/>
          </a:xfrm>
          <a:prstGeom prst="rect">
            <a:avLst/>
          </a:prstGeom>
          <a:noFill/>
          <a:ln>
            <a:noFill/>
          </a:ln>
        </p:spPr>
      </p:pic>
      <p:sp>
        <p:nvSpPr>
          <p:cNvPr id="153" name="Google Shape;153;p8"/>
          <p:cNvSpPr txBox="1">
            <a:spLocks noGrp="1"/>
          </p:cNvSpPr>
          <p:nvPr>
            <p:ph type="title"/>
          </p:nvPr>
        </p:nvSpPr>
        <p:spPr>
          <a:xfrm>
            <a:off x="0" y="1"/>
            <a:ext cx="6553200" cy="88742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b="1">
                <a:solidFill>
                  <a:schemeClr val="dk1"/>
                </a:solidFill>
                <a:latin typeface="Arial"/>
                <a:ea typeface="Arial"/>
                <a:cs typeface="Arial"/>
                <a:sym typeface="Arial"/>
              </a:rPr>
              <a:t>Diagram of Process State Or Lifecycle of a Process</a:t>
            </a:r>
            <a:endParaRPr>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4FAA-02F5-3A83-12FD-A44BD351D55A}"/>
              </a:ext>
            </a:extLst>
          </p:cNvPr>
          <p:cNvSpPr>
            <a:spLocks noGrp="1"/>
          </p:cNvSpPr>
          <p:nvPr>
            <p:ph type="title"/>
          </p:nvPr>
        </p:nvSpPr>
        <p:spPr/>
        <p:txBody>
          <a:bodyPr/>
          <a:lstStyle/>
          <a:p>
            <a:endParaRPr lang="en-IN"/>
          </a:p>
        </p:txBody>
      </p:sp>
      <p:pic>
        <p:nvPicPr>
          <p:cNvPr id="4" name="Picture 3" descr="A diagram of a process&#10;&#10;Description automatically generated">
            <a:extLst>
              <a:ext uri="{FF2B5EF4-FFF2-40B4-BE49-F238E27FC236}">
                <a16:creationId xmlns:a16="http://schemas.microsoft.com/office/drawing/2014/main" id="{602AC744-5166-ACA1-5A08-6583EAE66BC8}"/>
              </a:ext>
            </a:extLst>
          </p:cNvPr>
          <p:cNvPicPr>
            <a:picLocks noChangeAspect="1"/>
          </p:cNvPicPr>
          <p:nvPr/>
        </p:nvPicPr>
        <p:blipFill>
          <a:blip r:embed="rId2"/>
          <a:stretch>
            <a:fillRect/>
          </a:stretch>
        </p:blipFill>
        <p:spPr>
          <a:xfrm>
            <a:off x="33337" y="1081087"/>
            <a:ext cx="9077325" cy="4695825"/>
          </a:xfrm>
          <a:prstGeom prst="rect">
            <a:avLst/>
          </a:prstGeom>
        </p:spPr>
      </p:pic>
    </p:spTree>
    <p:extLst>
      <p:ext uri="{BB962C8B-B14F-4D97-AF65-F5344CB8AC3E}">
        <p14:creationId xmlns:p14="http://schemas.microsoft.com/office/powerpoint/2010/main" val="3462713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9"/>
          <p:cNvPicPr preferRelativeResize="0"/>
          <p:nvPr/>
        </p:nvPicPr>
        <p:blipFill rotWithShape="1">
          <a:blip r:embed="rId3">
            <a:alphaModFix/>
          </a:blip>
          <a:srcRect/>
          <a:stretch/>
        </p:blipFill>
        <p:spPr>
          <a:xfrm>
            <a:off x="6764401" y="2621026"/>
            <a:ext cx="1892300" cy="3332099"/>
          </a:xfrm>
          <a:prstGeom prst="rect">
            <a:avLst/>
          </a:prstGeom>
          <a:noFill/>
          <a:ln>
            <a:noFill/>
          </a:ln>
        </p:spPr>
      </p:pic>
      <p:sp>
        <p:nvSpPr>
          <p:cNvPr id="159" name="Google Shape;159;p9"/>
          <p:cNvSpPr txBox="1"/>
          <p:nvPr/>
        </p:nvSpPr>
        <p:spPr>
          <a:xfrm>
            <a:off x="550265" y="925829"/>
            <a:ext cx="8024495" cy="4247317"/>
          </a:xfrm>
          <a:prstGeom prst="rect">
            <a:avLst/>
          </a:prstGeom>
          <a:noFill/>
          <a:ln>
            <a:noFill/>
          </a:ln>
        </p:spPr>
        <p:txBody>
          <a:bodyPr spcFirstLastPara="1" wrap="square" lIns="0" tIns="12700" rIns="0" bIns="0" anchor="t" anchorCtr="0">
            <a:spAutoFit/>
          </a:bodyPr>
          <a:lstStyle/>
          <a:p>
            <a:pPr marL="91440" lvl="0" indent="-107949" algn="l" rtl="0">
              <a:lnSpc>
                <a:spcPct val="100000"/>
              </a:lnSpc>
              <a:spcBef>
                <a:spcPts val="0"/>
              </a:spcBef>
              <a:spcAft>
                <a:spcPts val="0"/>
              </a:spcAft>
              <a:buSzPts val="1700"/>
              <a:buFont typeface="Arial"/>
              <a:buChar char="•"/>
            </a:pPr>
            <a:r>
              <a:rPr lang="en-US" sz="1800">
                <a:latin typeface="Calibri"/>
                <a:ea typeface="Calibri"/>
                <a:cs typeface="Calibri"/>
                <a:sym typeface="Calibri"/>
              </a:rPr>
              <a:t>A </a:t>
            </a:r>
            <a:r>
              <a:rPr lang="en-US" sz="1800" b="1">
                <a:latin typeface="Calibri"/>
                <a:ea typeface="Calibri"/>
                <a:cs typeface="Calibri"/>
                <a:sym typeface="Calibri"/>
              </a:rPr>
              <a:t>process control block (PCB) </a:t>
            </a:r>
            <a:r>
              <a:rPr lang="en-US" sz="1800">
                <a:latin typeface="Calibri"/>
                <a:ea typeface="Calibri"/>
                <a:cs typeface="Calibri"/>
                <a:sym typeface="Calibri"/>
              </a:rPr>
              <a:t>is a data structure used by computer operating</a:t>
            </a:r>
            <a:endParaRPr sz="1800">
              <a:latin typeface="Calibri"/>
              <a:ea typeface="Calibri"/>
              <a:cs typeface="Calibri"/>
              <a:sym typeface="Calibri"/>
            </a:endParaRPr>
          </a:p>
          <a:p>
            <a:pPr marL="12700" lvl="0" indent="0" algn="l" rtl="0">
              <a:lnSpc>
                <a:spcPct val="100000"/>
              </a:lnSpc>
              <a:spcBef>
                <a:spcPts val="5"/>
              </a:spcBef>
              <a:spcAft>
                <a:spcPts val="0"/>
              </a:spcAft>
              <a:buNone/>
            </a:pPr>
            <a:r>
              <a:rPr lang="en-US" sz="1800">
                <a:latin typeface="Calibri"/>
                <a:ea typeface="Calibri"/>
                <a:cs typeface="Calibri"/>
                <a:sym typeface="Calibri"/>
              </a:rPr>
              <a:t>systems to store all the information about a process.</a:t>
            </a:r>
            <a:endParaRPr sz="1800">
              <a:latin typeface="Calibri"/>
              <a:ea typeface="Calibri"/>
              <a:cs typeface="Calibri"/>
              <a:sym typeface="Calibri"/>
            </a:endParaRPr>
          </a:p>
          <a:p>
            <a:pPr marL="12700" marR="5080" lvl="0" indent="-107949" algn="l" rtl="0">
              <a:lnSpc>
                <a:spcPct val="100000"/>
              </a:lnSpc>
              <a:spcBef>
                <a:spcPts val="2160"/>
              </a:spcBef>
              <a:spcAft>
                <a:spcPts val="0"/>
              </a:spcAft>
              <a:buSzPts val="1700"/>
              <a:buFont typeface="Arial"/>
              <a:buChar char="•"/>
            </a:pPr>
            <a:r>
              <a:rPr lang="en-US" sz="1800">
                <a:latin typeface="Calibri"/>
                <a:ea typeface="Calibri"/>
                <a:cs typeface="Calibri"/>
                <a:sym typeface="Calibri"/>
              </a:rPr>
              <a:t>	When a process is created (initialized or installed), the operating system creates a corresponding process control block.</a:t>
            </a:r>
            <a:endParaRPr sz="1800">
              <a:latin typeface="Calibri"/>
              <a:ea typeface="Calibri"/>
              <a:cs typeface="Calibri"/>
              <a:sym typeface="Calibri"/>
            </a:endParaRPr>
          </a:p>
          <a:p>
            <a:pPr marL="0" lvl="0" indent="0" algn="l" rtl="0">
              <a:lnSpc>
                <a:spcPct val="100000"/>
              </a:lnSpc>
              <a:spcBef>
                <a:spcPts val="540"/>
              </a:spcBef>
              <a:spcAft>
                <a:spcPts val="0"/>
              </a:spcAft>
              <a:buSzPts val="1800"/>
              <a:buFont typeface="Arial"/>
              <a:buNone/>
            </a:pPr>
            <a:endParaRPr sz="1800">
              <a:latin typeface="Calibri"/>
              <a:ea typeface="Calibri"/>
              <a:cs typeface="Calibri"/>
              <a:sym typeface="Calibri"/>
            </a:endParaRPr>
          </a:p>
          <a:p>
            <a:pPr marL="25400" marR="2301240" lvl="0" indent="-107949" algn="l" rtl="0">
              <a:lnSpc>
                <a:spcPct val="100000"/>
              </a:lnSpc>
              <a:spcBef>
                <a:spcPts val="0"/>
              </a:spcBef>
              <a:spcAft>
                <a:spcPts val="0"/>
              </a:spcAft>
              <a:buSzPts val="1700"/>
              <a:buFont typeface="Arial"/>
              <a:buChar char="•"/>
            </a:pPr>
            <a:r>
              <a:rPr lang="en-US" sz="1800">
                <a:latin typeface="Calibri"/>
                <a:ea typeface="Calibri"/>
                <a:cs typeface="Calibri"/>
                <a:sym typeface="Calibri"/>
              </a:rPr>
              <a:t>	Process control block includes CPU scheduling, I/O resource management, file management information etc.</a:t>
            </a:r>
            <a:endParaRPr sz="1800">
              <a:latin typeface="Calibri"/>
              <a:ea typeface="Calibri"/>
              <a:cs typeface="Calibri"/>
              <a:sym typeface="Calibri"/>
            </a:endParaRPr>
          </a:p>
          <a:p>
            <a:pPr marL="25400" marR="2299335" lvl="0" indent="-107949" algn="just" rtl="0">
              <a:lnSpc>
                <a:spcPct val="100000"/>
              </a:lnSpc>
              <a:spcBef>
                <a:spcPts val="2160"/>
              </a:spcBef>
              <a:spcAft>
                <a:spcPts val="0"/>
              </a:spcAft>
              <a:buSzPts val="1700"/>
              <a:buFont typeface="Arial"/>
              <a:buChar char="•"/>
            </a:pPr>
            <a:r>
              <a:rPr lang="en-US" sz="1800">
                <a:latin typeface="Calibri"/>
                <a:ea typeface="Calibri"/>
                <a:cs typeface="Calibri"/>
                <a:sym typeface="Calibri"/>
              </a:rPr>
              <a:t>	If that process gets suspended, the contents of the registers are saved on a stack and the pointer to the particular stack frame is stored in the PCB.</a:t>
            </a:r>
            <a:endParaRPr sz="1800">
              <a:latin typeface="Calibri"/>
              <a:ea typeface="Calibri"/>
              <a:cs typeface="Calibri"/>
              <a:sym typeface="Calibri"/>
            </a:endParaRPr>
          </a:p>
          <a:p>
            <a:pPr marL="25400" marR="2298700" lvl="0" indent="-107949" algn="just" rtl="0">
              <a:lnSpc>
                <a:spcPct val="100000"/>
              </a:lnSpc>
              <a:spcBef>
                <a:spcPts val="2165"/>
              </a:spcBef>
              <a:spcAft>
                <a:spcPts val="0"/>
              </a:spcAft>
              <a:buSzPts val="1700"/>
              <a:buFont typeface="Arial"/>
              <a:buChar char="•"/>
            </a:pPr>
            <a:r>
              <a:rPr lang="en-US" sz="1800">
                <a:latin typeface="Calibri"/>
                <a:ea typeface="Calibri"/>
                <a:cs typeface="Calibri"/>
                <a:sym typeface="Calibri"/>
              </a:rPr>
              <a:t>	By this technique, the hardware state can be restored so that the process can be scheduled to run again.</a:t>
            </a:r>
            <a:endParaRPr sz="1800">
              <a:latin typeface="Calibri"/>
              <a:ea typeface="Calibri"/>
              <a:cs typeface="Calibri"/>
              <a:sym typeface="Calibri"/>
            </a:endParaRPr>
          </a:p>
        </p:txBody>
      </p:sp>
      <p:sp>
        <p:nvSpPr>
          <p:cNvPr id="160" name="Google Shape;160;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solidFill>
                  <a:schemeClr val="dk1"/>
                </a:solidFill>
                <a:latin typeface="Arial"/>
                <a:ea typeface="Arial"/>
                <a:cs typeface="Arial"/>
                <a:sym typeface="Arial"/>
              </a:rPr>
              <a:t>Process Control Block (PCB)</a:t>
            </a:r>
            <a:br>
              <a:rPr lang="en-US">
                <a:solidFill>
                  <a:schemeClr val="dk1"/>
                </a:solidFill>
                <a:latin typeface="Arial"/>
                <a:ea typeface="Arial"/>
                <a:cs typeface="Arial"/>
                <a:sym typeface="Arial"/>
              </a:rPr>
            </a:b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10"/>
          <p:cNvPicPr preferRelativeResize="0"/>
          <p:nvPr/>
        </p:nvPicPr>
        <p:blipFill rotWithShape="1">
          <a:blip r:embed="rId3">
            <a:alphaModFix/>
          </a:blip>
          <a:srcRect/>
          <a:stretch/>
        </p:blipFill>
        <p:spPr>
          <a:xfrm>
            <a:off x="6781800" y="1600200"/>
            <a:ext cx="1892300" cy="3332099"/>
          </a:xfrm>
          <a:prstGeom prst="rect">
            <a:avLst/>
          </a:prstGeom>
          <a:noFill/>
          <a:ln>
            <a:noFill/>
          </a:ln>
        </p:spPr>
      </p:pic>
      <p:sp>
        <p:nvSpPr>
          <p:cNvPr id="166" name="Google Shape;166;p10"/>
          <p:cNvSpPr txBox="1"/>
          <p:nvPr/>
        </p:nvSpPr>
        <p:spPr>
          <a:xfrm>
            <a:off x="533400" y="1447800"/>
            <a:ext cx="5717540" cy="2494915"/>
          </a:xfrm>
          <a:prstGeom prst="rect">
            <a:avLst/>
          </a:prstGeom>
          <a:noFill/>
          <a:ln>
            <a:noFill/>
          </a:ln>
        </p:spPr>
        <p:txBody>
          <a:bodyPr spcFirstLastPara="1" wrap="square" lIns="0" tIns="12700" rIns="0" bIns="0" anchor="t" anchorCtr="0">
            <a:spAutoFit/>
          </a:bodyPr>
          <a:lstStyle/>
          <a:p>
            <a:pPr marL="12700" marR="6985" lvl="0" indent="-107949" algn="just" rtl="0">
              <a:lnSpc>
                <a:spcPct val="100000"/>
              </a:lnSpc>
              <a:spcBef>
                <a:spcPts val="0"/>
              </a:spcBef>
              <a:spcAft>
                <a:spcPts val="0"/>
              </a:spcAft>
              <a:buSzPts val="1700"/>
              <a:buFont typeface="Arial"/>
              <a:buChar char="•"/>
            </a:pPr>
            <a:r>
              <a:rPr lang="en-US" sz="1800">
                <a:latin typeface="Calibri"/>
                <a:ea typeface="Calibri"/>
                <a:cs typeface="Calibri"/>
                <a:sym typeface="Calibri"/>
              </a:rPr>
              <a:t>	Process control block includes CPU scheduling, I/O resource management, file management information etc.</a:t>
            </a:r>
            <a:endParaRPr sz="1800">
              <a:latin typeface="Calibri"/>
              <a:ea typeface="Calibri"/>
              <a:cs typeface="Calibri"/>
              <a:sym typeface="Calibri"/>
            </a:endParaRPr>
          </a:p>
          <a:p>
            <a:pPr marL="12700" marR="5080" lvl="0" indent="-107949" algn="just" rtl="0">
              <a:lnSpc>
                <a:spcPct val="100000"/>
              </a:lnSpc>
              <a:spcBef>
                <a:spcPts val="2160"/>
              </a:spcBef>
              <a:spcAft>
                <a:spcPts val="0"/>
              </a:spcAft>
              <a:buSzPts val="1700"/>
              <a:buFont typeface="Arial"/>
              <a:buChar char="•"/>
            </a:pPr>
            <a:r>
              <a:rPr lang="en-US" sz="1800">
                <a:latin typeface="Calibri"/>
                <a:ea typeface="Calibri"/>
                <a:cs typeface="Calibri"/>
                <a:sym typeface="Calibri"/>
              </a:rPr>
              <a:t>	If that process gets suspended, the contents of the registers are saved on a stack and the pointer to the particular stack frame is stored in the PCB.</a:t>
            </a:r>
            <a:endParaRPr sz="1800">
              <a:latin typeface="Calibri"/>
              <a:ea typeface="Calibri"/>
              <a:cs typeface="Calibri"/>
              <a:sym typeface="Calibri"/>
            </a:endParaRPr>
          </a:p>
          <a:p>
            <a:pPr marL="12700" marR="5080" lvl="0" indent="-107949" algn="just" rtl="0">
              <a:lnSpc>
                <a:spcPct val="100000"/>
              </a:lnSpc>
              <a:spcBef>
                <a:spcPts val="2165"/>
              </a:spcBef>
              <a:spcAft>
                <a:spcPts val="0"/>
              </a:spcAft>
              <a:buSzPts val="1700"/>
              <a:buFont typeface="Arial"/>
              <a:buChar char="•"/>
            </a:pPr>
            <a:r>
              <a:rPr lang="en-US" sz="1800">
                <a:latin typeface="Calibri"/>
                <a:ea typeface="Calibri"/>
                <a:cs typeface="Calibri"/>
                <a:sym typeface="Calibri"/>
              </a:rPr>
              <a:t>	By this technique, the hardware state can be restored so that the process can be scheduled to run again.</a:t>
            </a:r>
            <a:endParaRPr sz="1800">
              <a:latin typeface="Calibri"/>
              <a:ea typeface="Calibri"/>
              <a:cs typeface="Calibri"/>
              <a:sym typeface="Calibri"/>
            </a:endParaRPr>
          </a:p>
        </p:txBody>
      </p:sp>
      <p:sp>
        <p:nvSpPr>
          <p:cNvPr id="167" name="Google Shape;167;p1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br>
              <a:rPr lang="en-US" b="1">
                <a:solidFill>
                  <a:schemeClr val="dk1"/>
                </a:solidFill>
                <a:latin typeface="Arial"/>
                <a:ea typeface="Arial"/>
                <a:cs typeface="Arial"/>
                <a:sym typeface="Arial"/>
              </a:rPr>
            </a:br>
            <a:r>
              <a:rPr lang="en-US" b="1">
                <a:solidFill>
                  <a:schemeClr val="dk1"/>
                </a:solidFill>
                <a:latin typeface="Arial"/>
                <a:ea typeface="Arial"/>
                <a:cs typeface="Arial"/>
                <a:sym typeface="Arial"/>
              </a:rPr>
              <a:t>Process Control Block (PCB)</a:t>
            </a:r>
            <a:br>
              <a:rPr lang="en-US">
                <a:solidFill>
                  <a:schemeClr val="dk1"/>
                </a:solidFill>
                <a:latin typeface="Arial"/>
                <a:ea typeface="Arial"/>
                <a:cs typeface="Arial"/>
                <a:sym typeface="Arial"/>
              </a:rPr>
            </a:b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txBox="1"/>
          <p:nvPr/>
        </p:nvSpPr>
        <p:spPr>
          <a:xfrm>
            <a:off x="533400" y="1371600"/>
            <a:ext cx="8023225" cy="2523127"/>
          </a:xfrm>
          <a:prstGeom prst="rect">
            <a:avLst/>
          </a:prstGeom>
          <a:noFill/>
          <a:ln>
            <a:noFill/>
          </a:ln>
        </p:spPr>
        <p:txBody>
          <a:bodyPr spcFirstLastPara="1" wrap="square" lIns="0" tIns="200025" rIns="0" bIns="0" anchor="t" anchorCtr="0">
            <a:spAutoFit/>
          </a:bodyPr>
          <a:lstStyle/>
          <a:p>
            <a:pPr marL="12700" marR="5080" lvl="0" indent="-152400" algn="just" rtl="0">
              <a:lnSpc>
                <a:spcPct val="100000"/>
              </a:lnSpc>
              <a:spcBef>
                <a:spcPts val="0"/>
              </a:spcBef>
              <a:spcAft>
                <a:spcPts val="0"/>
              </a:spcAft>
              <a:buSzPts val="2400"/>
              <a:buFont typeface="Noto Sans Symbols"/>
              <a:buChar char="▪"/>
            </a:pPr>
            <a:r>
              <a:rPr lang="en-US" sz="2500">
                <a:latin typeface="Times New Roman"/>
                <a:ea typeface="Times New Roman"/>
                <a:cs typeface="Times New Roman"/>
                <a:sym typeface="Times New Roman"/>
              </a:rPr>
              <a:t>	A Process Control Block is a data structure maintained by the Operating System for every process.</a:t>
            </a:r>
            <a:endParaRPr sz="2500">
              <a:latin typeface="Times New Roman"/>
              <a:ea typeface="Times New Roman"/>
              <a:cs typeface="Times New Roman"/>
              <a:sym typeface="Times New Roman"/>
            </a:endParaRPr>
          </a:p>
          <a:p>
            <a:pPr marL="0" lvl="0" indent="0" algn="l" rtl="0">
              <a:lnSpc>
                <a:spcPct val="100000"/>
              </a:lnSpc>
              <a:spcBef>
                <a:spcPts val="130"/>
              </a:spcBef>
              <a:spcAft>
                <a:spcPts val="0"/>
              </a:spcAft>
              <a:buSzPts val="2500"/>
              <a:buFont typeface="Noto Sans Symbols"/>
              <a:buNone/>
            </a:pPr>
            <a:endParaRPr sz="2500">
              <a:latin typeface="Times New Roman"/>
              <a:ea typeface="Times New Roman"/>
              <a:cs typeface="Times New Roman"/>
              <a:sym typeface="Times New Roman"/>
            </a:endParaRPr>
          </a:p>
          <a:p>
            <a:pPr marL="12700" marR="5080" lvl="0" indent="-152400" algn="just" rtl="0">
              <a:lnSpc>
                <a:spcPct val="100000"/>
              </a:lnSpc>
              <a:spcBef>
                <a:spcPts val="0"/>
              </a:spcBef>
              <a:spcAft>
                <a:spcPts val="0"/>
              </a:spcAft>
              <a:buSzPts val="2400"/>
              <a:buFont typeface="Noto Sans Symbols"/>
              <a:buChar char="▪"/>
            </a:pPr>
            <a:r>
              <a:rPr lang="en-US" sz="2500">
                <a:latin typeface="Times New Roman"/>
                <a:ea typeface="Times New Roman"/>
                <a:cs typeface="Times New Roman"/>
                <a:sym typeface="Times New Roman"/>
              </a:rPr>
              <a:t>	The PCB is identified by an integer process ID (PID). A PCB keeps all the information needed to keep track of a process as listed below in the table −</a:t>
            </a:r>
            <a:endParaRPr sz="2500">
              <a:latin typeface="Times New Roman"/>
              <a:ea typeface="Times New Roman"/>
              <a:cs typeface="Times New Roman"/>
              <a:sym typeface="Times New Roman"/>
            </a:endParaRPr>
          </a:p>
        </p:txBody>
      </p:sp>
      <p:sp>
        <p:nvSpPr>
          <p:cNvPr id="173" name="Google Shape;173;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solidFill>
                  <a:schemeClr val="dk1"/>
                </a:solidFill>
                <a:latin typeface="Arial"/>
                <a:ea typeface="Arial"/>
                <a:cs typeface="Arial"/>
                <a:sym typeface="Arial"/>
              </a:rPr>
              <a:t>Process Control Block (PCB)</a:t>
            </a:r>
            <a:br>
              <a:rPr lang="en-US">
                <a:solidFill>
                  <a:schemeClr val="dk1"/>
                </a:solidFill>
                <a:latin typeface="Arial"/>
                <a:ea typeface="Arial"/>
                <a:cs typeface="Arial"/>
                <a:sym typeface="Arial"/>
              </a:rPr>
            </a:b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2"/>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graphicFrame>
        <p:nvGraphicFramePr>
          <p:cNvPr id="179" name="Google Shape;179;p12"/>
          <p:cNvGraphicFramePr/>
          <p:nvPr/>
        </p:nvGraphicFramePr>
        <p:xfrm>
          <a:off x="271462" y="963675"/>
          <a:ext cx="8867150" cy="4936400"/>
        </p:xfrm>
        <a:graphic>
          <a:graphicData uri="http://schemas.openxmlformats.org/drawingml/2006/table">
            <a:tbl>
              <a:tblPr firstRow="1" bandRow="1">
                <a:noFill/>
                <a:tableStyleId>{75A88DC0-2467-4804-8F34-E6EC153716AA}</a:tableStyleId>
              </a:tblPr>
              <a:tblGrid>
                <a:gridCol w="431175">
                  <a:extLst>
                    <a:ext uri="{9D8B030D-6E8A-4147-A177-3AD203B41FA5}">
                      <a16:colId xmlns:a16="http://schemas.microsoft.com/office/drawing/2014/main" val="20000"/>
                    </a:ext>
                  </a:extLst>
                </a:gridCol>
                <a:gridCol w="8435975">
                  <a:extLst>
                    <a:ext uri="{9D8B030D-6E8A-4147-A177-3AD203B41FA5}">
                      <a16:colId xmlns:a16="http://schemas.microsoft.com/office/drawing/2014/main" val="20001"/>
                    </a:ext>
                  </a:extLst>
                </a:gridCol>
              </a:tblGrid>
              <a:tr h="257800">
                <a:tc>
                  <a:txBody>
                    <a:bodyPr/>
                    <a:lstStyle/>
                    <a:p>
                      <a:pPr marL="8763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S.N.</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a:txBody>
                    <a:bodyPr/>
                    <a:lstStyle/>
                    <a:p>
                      <a:pPr marL="0" marR="0" lvl="0" indent="0" algn="ctr" rtl="0">
                        <a:lnSpc>
                          <a:spcPct val="100000"/>
                        </a:lnSpc>
                        <a:spcBef>
                          <a:spcPts val="0"/>
                        </a:spcBef>
                        <a:spcAft>
                          <a:spcPts val="0"/>
                        </a:spcAft>
                        <a:buNone/>
                      </a:pPr>
                      <a:r>
                        <a:rPr lang="en-US" sz="1200" b="1" u="none" strike="noStrike" cap="none">
                          <a:latin typeface="Calibri"/>
                          <a:ea typeface="Calibri"/>
                          <a:cs typeface="Calibri"/>
                          <a:sym typeface="Calibri"/>
                        </a:rPr>
                        <a:t>Information &amp; Description</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extLst>
                  <a:ext uri="{0D108BD9-81ED-4DB2-BD59-A6C34878D82A}">
                    <a16:rowId xmlns:a16="http://schemas.microsoft.com/office/drawing/2014/main" val="10000"/>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1</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Process State</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The current state of the process i.e., whether it is ready, running, waiting, or whatever.</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2</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Process privileges</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This is required to allow/disallow access to system resources.</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3</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Process ID</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Unique identification for each of the process in the operating system.</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4</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Pointer</a:t>
                      </a:r>
                      <a:endParaRPr sz="1200" u="none" strike="noStrike" cap="none">
                        <a:latin typeface="Calibri"/>
                        <a:ea typeface="Calibri"/>
                        <a:cs typeface="Calibri"/>
                        <a:sym typeface="Calibri"/>
                      </a:endParaRPr>
                    </a:p>
                    <a:p>
                      <a:pPr marL="22860" marR="0" lvl="0" indent="0" algn="l" rtl="0">
                        <a:lnSpc>
                          <a:spcPct val="100000"/>
                        </a:lnSpc>
                        <a:spcBef>
                          <a:spcPts val="219"/>
                        </a:spcBef>
                        <a:spcAft>
                          <a:spcPts val="0"/>
                        </a:spcAft>
                        <a:buNone/>
                      </a:pPr>
                      <a:r>
                        <a:rPr lang="en-US" sz="1200" b="1" u="none" strike="noStrike" cap="none">
                          <a:latin typeface="Calibri"/>
                          <a:ea typeface="Calibri"/>
                          <a:cs typeface="Calibri"/>
                          <a:sym typeface="Calibri"/>
                        </a:rPr>
                        <a:t>A pointer to parent process.</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5</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Program Counter</a:t>
                      </a:r>
                      <a:endParaRPr sz="1200" u="none" strike="noStrike" cap="none">
                        <a:latin typeface="Calibri"/>
                        <a:ea typeface="Calibri"/>
                        <a:cs typeface="Calibri"/>
                        <a:sym typeface="Calibri"/>
                      </a:endParaRPr>
                    </a:p>
                    <a:p>
                      <a:pPr marL="22860" marR="0" lvl="0" indent="0" algn="l" rtl="0">
                        <a:lnSpc>
                          <a:spcPct val="100000"/>
                        </a:lnSpc>
                        <a:spcBef>
                          <a:spcPts val="219"/>
                        </a:spcBef>
                        <a:spcAft>
                          <a:spcPts val="0"/>
                        </a:spcAft>
                        <a:buNone/>
                      </a:pPr>
                      <a:r>
                        <a:rPr lang="en-US" sz="1200" b="1" u="none" strike="noStrike" cap="none">
                          <a:latin typeface="Calibri"/>
                          <a:ea typeface="Calibri"/>
                          <a:cs typeface="Calibri"/>
                          <a:sym typeface="Calibri"/>
                        </a:rPr>
                        <a:t>Program Counter is a pointer to the address of the next instruction to be executed for this process.</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66725">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6</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CPU registers</a:t>
                      </a:r>
                      <a:endParaRPr sz="1200" u="none" strike="noStrike" cap="none">
                        <a:latin typeface="Calibri"/>
                        <a:ea typeface="Calibri"/>
                        <a:cs typeface="Calibri"/>
                        <a:sym typeface="Calibri"/>
                      </a:endParaRPr>
                    </a:p>
                    <a:p>
                      <a:pPr marL="22860" marR="0" lvl="0" indent="0" algn="l" rtl="0">
                        <a:lnSpc>
                          <a:spcPct val="100000"/>
                        </a:lnSpc>
                        <a:spcBef>
                          <a:spcPts val="219"/>
                        </a:spcBef>
                        <a:spcAft>
                          <a:spcPts val="0"/>
                        </a:spcAft>
                        <a:buNone/>
                      </a:pPr>
                      <a:r>
                        <a:rPr lang="en-US" sz="1200" b="1" u="none" strike="noStrike" cap="none">
                          <a:latin typeface="Calibri"/>
                          <a:ea typeface="Calibri"/>
                          <a:cs typeface="Calibri"/>
                          <a:sym typeface="Calibri"/>
                        </a:rPr>
                        <a:t>Various CPU registers where process need to be stored for execution for running state.</a:t>
                      </a:r>
                      <a:endParaRPr sz="1200" u="none" strike="noStrike" cap="none">
                        <a:latin typeface="Calibri"/>
                        <a:ea typeface="Calibri"/>
                        <a:cs typeface="Calibri"/>
                        <a:sym typeface="Calibri"/>
                      </a:endParaRPr>
                    </a:p>
                  </a:txBody>
                  <a:tcPr marL="0" marR="0" marT="298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66725">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7</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CPU Scheduling Information</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Process priority and other scheduling information which is required to schedule the process.</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7370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8</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Memory management information</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This includes the information of page table, memory limits, Segment table depending on memory used by the operating system.</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9</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Accounting information</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This includes the amount of CPU used for process execution, time limits, execution ID etc.</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67350">
                <a:tc>
                  <a:txBody>
                    <a:bodyPr/>
                    <a:lstStyle/>
                    <a:p>
                      <a:pPr marL="22860" marR="0" lvl="0" indent="0" algn="l" rtl="0">
                        <a:lnSpc>
                          <a:spcPct val="100000"/>
                        </a:lnSpc>
                        <a:spcBef>
                          <a:spcPts val="0"/>
                        </a:spcBef>
                        <a:spcAft>
                          <a:spcPts val="0"/>
                        </a:spcAft>
                        <a:buNone/>
                      </a:pPr>
                      <a:r>
                        <a:rPr lang="en-US" sz="1200" u="none" strike="noStrike" cap="none">
                          <a:latin typeface="Calibri"/>
                          <a:ea typeface="Calibri"/>
                          <a:cs typeface="Calibri"/>
                          <a:sym typeface="Calibri"/>
                        </a:rPr>
                        <a:t>10</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IO status information</a:t>
                      </a:r>
                      <a:endParaRPr sz="1200" u="none" strike="noStrike" cap="none">
                        <a:latin typeface="Calibri"/>
                        <a:ea typeface="Calibri"/>
                        <a:cs typeface="Calibri"/>
                        <a:sym typeface="Calibri"/>
                      </a:endParaRPr>
                    </a:p>
                    <a:p>
                      <a:pPr marL="22860" marR="0" lvl="0" indent="0" algn="l" rtl="0">
                        <a:lnSpc>
                          <a:spcPct val="100000"/>
                        </a:lnSpc>
                        <a:spcBef>
                          <a:spcPts val="215"/>
                        </a:spcBef>
                        <a:spcAft>
                          <a:spcPts val="0"/>
                        </a:spcAft>
                        <a:buNone/>
                      </a:pPr>
                      <a:r>
                        <a:rPr lang="en-US" sz="1200" b="1" u="none" strike="noStrike" cap="none">
                          <a:latin typeface="Calibri"/>
                          <a:ea typeface="Calibri"/>
                          <a:cs typeface="Calibri"/>
                          <a:sym typeface="Calibri"/>
                        </a:rPr>
                        <a:t>This includes a list of I/O devices allocated to the process.</a:t>
                      </a:r>
                      <a:endParaRPr sz="1200" u="none" strike="noStrike" cap="none">
                        <a:latin typeface="Calibri"/>
                        <a:ea typeface="Calibri"/>
                        <a:cs typeface="Calibri"/>
                        <a:sym typeface="Calibri"/>
                      </a:endParaRPr>
                    </a:p>
                  </a:txBody>
                  <a:tcPr marL="0" marR="0" marT="304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3"/>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
        <p:nvSpPr>
          <p:cNvPr id="185" name="Google Shape;185;p13"/>
          <p:cNvSpPr txBox="1"/>
          <p:nvPr/>
        </p:nvSpPr>
        <p:spPr>
          <a:xfrm>
            <a:off x="424992" y="1068704"/>
            <a:ext cx="8637905" cy="935513"/>
          </a:xfrm>
          <a:prstGeom prst="rect">
            <a:avLst/>
          </a:prstGeom>
          <a:noFill/>
          <a:ln>
            <a:noFill/>
          </a:ln>
        </p:spPr>
        <p:txBody>
          <a:bodyPr spcFirstLastPara="1" wrap="square" lIns="0" tIns="12050" rIns="0" bIns="0" anchor="t" anchorCtr="0">
            <a:spAutoFit/>
          </a:bodyPr>
          <a:lstStyle/>
          <a:p>
            <a:pPr marL="12700" marR="5080" lvl="0" indent="0" algn="l" rtl="0">
              <a:lnSpc>
                <a:spcPct val="100000"/>
              </a:lnSpc>
              <a:spcBef>
                <a:spcPts val="0"/>
              </a:spcBef>
              <a:spcAft>
                <a:spcPts val="0"/>
              </a:spcAft>
              <a:buNone/>
            </a:pPr>
            <a:r>
              <a:rPr lang="en-US" sz="2000">
                <a:latin typeface="Times New Roman"/>
                <a:ea typeface="Times New Roman"/>
                <a:cs typeface="Times New Roman"/>
                <a:sym typeface="Times New Roman"/>
              </a:rPr>
              <a:t>The architecture of a PCB is completely dependent on Operating System and may contain different information in different operating systems. Here is a simplified diagram of a PCB −</a:t>
            </a:r>
            <a:endParaRPr sz="2000">
              <a:latin typeface="Times New Roman"/>
              <a:ea typeface="Times New Roman"/>
              <a:cs typeface="Times New Roman"/>
              <a:sym typeface="Times New Roman"/>
            </a:endParaRPr>
          </a:p>
        </p:txBody>
      </p:sp>
      <p:sp>
        <p:nvSpPr>
          <p:cNvPr id="186" name="Google Shape;186;p13"/>
          <p:cNvSpPr txBox="1"/>
          <p:nvPr/>
        </p:nvSpPr>
        <p:spPr>
          <a:xfrm>
            <a:off x="424992" y="5702604"/>
            <a:ext cx="8453755" cy="627736"/>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000">
                <a:latin typeface="Times New Roman"/>
                <a:ea typeface="Times New Roman"/>
                <a:cs typeface="Times New Roman"/>
                <a:sym typeface="Times New Roman"/>
              </a:rPr>
              <a:t>The PCB is maintained for a process throughout its lifetime, and is deleted once the process terminates.</a:t>
            </a:r>
            <a:endParaRPr sz="2000">
              <a:latin typeface="Times New Roman"/>
              <a:ea typeface="Times New Roman"/>
              <a:cs typeface="Times New Roman"/>
              <a:sym typeface="Times New Roman"/>
            </a:endParaRPr>
          </a:p>
        </p:txBody>
      </p:sp>
      <p:pic>
        <p:nvPicPr>
          <p:cNvPr id="187" name="Google Shape;187;p13"/>
          <p:cNvPicPr preferRelativeResize="0"/>
          <p:nvPr/>
        </p:nvPicPr>
        <p:blipFill rotWithShape="1">
          <a:blip r:embed="rId3">
            <a:alphaModFix/>
          </a:blip>
          <a:srcRect/>
          <a:stretch/>
        </p:blipFill>
        <p:spPr>
          <a:xfrm>
            <a:off x="2875026" y="2068959"/>
            <a:ext cx="2295525" cy="3287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4"/>
          <p:cNvSpPr txBox="1"/>
          <p:nvPr/>
        </p:nvSpPr>
        <p:spPr>
          <a:xfrm>
            <a:off x="1956307" y="932179"/>
            <a:ext cx="549084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1">
                <a:solidFill>
                  <a:srgbClr val="006699"/>
                </a:solidFill>
                <a:latin typeface="Arial"/>
                <a:ea typeface="Arial"/>
                <a:cs typeface="Arial"/>
                <a:sym typeface="Arial"/>
              </a:rPr>
              <a:t>CPU Switch From Process to Process</a:t>
            </a:r>
            <a:endParaRPr sz="2400">
              <a:latin typeface="Arial"/>
              <a:ea typeface="Arial"/>
              <a:cs typeface="Arial"/>
              <a:sym typeface="Arial"/>
            </a:endParaRPr>
          </a:p>
        </p:txBody>
      </p:sp>
      <p:pic>
        <p:nvPicPr>
          <p:cNvPr id="193" name="Google Shape;193;p14"/>
          <p:cNvPicPr preferRelativeResize="0"/>
          <p:nvPr/>
        </p:nvPicPr>
        <p:blipFill rotWithShape="1">
          <a:blip r:embed="rId3">
            <a:alphaModFix/>
          </a:blip>
          <a:srcRect/>
          <a:stretch/>
        </p:blipFill>
        <p:spPr>
          <a:xfrm>
            <a:off x="1907283" y="1535881"/>
            <a:ext cx="4992608" cy="4087206"/>
          </a:xfrm>
          <a:prstGeom prst="rect">
            <a:avLst/>
          </a:prstGeom>
          <a:noFill/>
          <a:ln>
            <a:noFill/>
          </a:ln>
        </p:spPr>
      </p:pic>
      <p:sp>
        <p:nvSpPr>
          <p:cNvPr id="194" name="Google Shape;194;p14"/>
          <p:cNvSpPr txBox="1">
            <a:spLocks noGrp="1"/>
          </p:cNvSpPr>
          <p:nvPr>
            <p:ph type="title"/>
          </p:nvPr>
        </p:nvSpPr>
        <p:spPr>
          <a:xfrm>
            <a:off x="0" y="0"/>
            <a:ext cx="5486040" cy="518091"/>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5"/>
          <p:cNvSpPr txBox="1">
            <a:spLocks noGrp="1"/>
          </p:cNvSpPr>
          <p:nvPr>
            <p:ph type="title"/>
          </p:nvPr>
        </p:nvSpPr>
        <p:spPr>
          <a:xfrm>
            <a:off x="0" y="228600"/>
            <a:ext cx="6761480" cy="4565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b="1" u="none"/>
              <a:t>Operating System - Process Scheduling</a:t>
            </a:r>
            <a:endParaRPr b="1"/>
          </a:p>
        </p:txBody>
      </p:sp>
      <p:sp>
        <p:nvSpPr>
          <p:cNvPr id="200" name="Google Shape;200;p15"/>
          <p:cNvSpPr txBox="1">
            <a:spLocks noGrp="1"/>
          </p:cNvSpPr>
          <p:nvPr>
            <p:ph type="body" idx="1"/>
          </p:nvPr>
        </p:nvSpPr>
        <p:spPr>
          <a:xfrm>
            <a:off x="457200" y="1604520"/>
            <a:ext cx="8229240" cy="3977280"/>
          </a:xfrm>
          <a:prstGeom prst="rect">
            <a:avLst/>
          </a:prstGeom>
          <a:noFill/>
          <a:ln>
            <a:noFill/>
          </a:ln>
        </p:spPr>
        <p:txBody>
          <a:bodyPr spcFirstLastPara="1" wrap="square" lIns="0" tIns="12050" rIns="0" bIns="0" anchor="t" anchorCtr="0">
            <a:spAutoFit/>
          </a:bodyPr>
          <a:lstStyle/>
          <a:p>
            <a:pPr marL="12700" lvl="0" indent="-12700" algn="l" rtl="0">
              <a:lnSpc>
                <a:spcPct val="100000"/>
              </a:lnSpc>
              <a:spcBef>
                <a:spcPts val="95"/>
              </a:spcBef>
              <a:spcAft>
                <a:spcPts val="0"/>
              </a:spcAft>
              <a:buSzPts val="1800"/>
              <a:buChar char="•"/>
            </a:pPr>
            <a:r>
              <a:rPr lang="en-US"/>
              <a:t>Definition</a:t>
            </a:r>
            <a:endParaRPr/>
          </a:p>
          <a:p>
            <a:pPr marL="12700" marR="5080" lvl="0" indent="-12700" algn="just" rtl="0">
              <a:lnSpc>
                <a:spcPct val="100000"/>
              </a:lnSpc>
              <a:spcBef>
                <a:spcPts val="5"/>
              </a:spcBef>
              <a:spcAft>
                <a:spcPts val="0"/>
              </a:spcAft>
              <a:buSzPts val="1800"/>
              <a:buChar char="•"/>
            </a:pPr>
            <a:r>
              <a:rPr lang="en-US" b="0">
                <a:latin typeface="Calibri"/>
                <a:ea typeface="Calibri"/>
                <a:cs typeface="Calibri"/>
                <a:sym typeface="Calibri"/>
              </a:rPr>
              <a:t>The process scheduling is the activity of the process manager that handles the removal of the running process from the CPU and the selection of another process on the basis of a particular strategy.</a:t>
            </a:r>
            <a:endParaRPr/>
          </a:p>
          <a:p>
            <a:pPr marL="12700" marR="5080" lvl="0" indent="-12700" algn="just" rtl="0">
              <a:lnSpc>
                <a:spcPct val="100000"/>
              </a:lnSpc>
              <a:spcBef>
                <a:spcPts val="2640"/>
              </a:spcBef>
              <a:spcAft>
                <a:spcPts val="0"/>
              </a:spcAft>
              <a:buSzPts val="1800"/>
              <a:buChar char="•"/>
            </a:pPr>
            <a:r>
              <a:rPr lang="en-US" b="0">
                <a:latin typeface="Calibri"/>
                <a:ea typeface="Calibri"/>
                <a:cs typeface="Calibri"/>
                <a:sym typeface="Calibri"/>
              </a:rPr>
              <a:t>Process scheduling is an essential part of a Multiprogramming operating systems. Such operating systems allow more than one process to be loaded into the executable memory at a time and the loaded process shares the CPU using time multiplexing.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6"/>
          <p:cNvSpPr txBox="1"/>
          <p:nvPr/>
        </p:nvSpPr>
        <p:spPr>
          <a:xfrm>
            <a:off x="777341" y="908050"/>
            <a:ext cx="7507605" cy="5085715"/>
          </a:xfrm>
          <a:prstGeom prst="rect">
            <a:avLst/>
          </a:prstGeom>
          <a:noFill/>
          <a:ln>
            <a:noFill/>
          </a:ln>
        </p:spPr>
        <p:txBody>
          <a:bodyPr spcFirstLastPara="1" wrap="square" lIns="0" tIns="12700" rIns="0" bIns="0" anchor="t" anchorCtr="0">
            <a:spAutoFit/>
          </a:bodyPr>
          <a:lstStyle/>
          <a:p>
            <a:pPr marL="591185" lvl="0" indent="0" algn="ctr" rtl="0">
              <a:lnSpc>
                <a:spcPct val="120000"/>
              </a:lnSpc>
              <a:spcBef>
                <a:spcPts val="0"/>
              </a:spcBef>
              <a:spcAft>
                <a:spcPts val="0"/>
              </a:spcAft>
              <a:buNone/>
            </a:pPr>
            <a:r>
              <a:rPr lang="en-US" sz="2400" b="1">
                <a:latin typeface="Verdana"/>
                <a:ea typeface="Verdana"/>
                <a:cs typeface="Verdana"/>
                <a:sym typeface="Verdana"/>
              </a:rPr>
              <a:t>Process Scheduling Queues</a:t>
            </a:r>
            <a:endParaRPr sz="2400">
              <a:latin typeface="Verdana"/>
              <a:ea typeface="Verdana"/>
              <a:cs typeface="Verdana"/>
              <a:sym typeface="Verdana"/>
            </a:endParaRPr>
          </a:p>
          <a:p>
            <a:pPr marL="12700" marR="5080" lvl="0" indent="0" algn="just" rtl="0">
              <a:lnSpc>
                <a:spcPct val="120000"/>
              </a:lnSpc>
              <a:spcBef>
                <a:spcPts val="85"/>
              </a:spcBef>
              <a:spcAft>
                <a:spcPts val="0"/>
              </a:spcAft>
              <a:buNone/>
            </a:pPr>
            <a:r>
              <a:rPr lang="en-US" sz="2200">
                <a:latin typeface="Calibri"/>
                <a:ea typeface="Calibri"/>
                <a:cs typeface="Calibri"/>
                <a:sym typeface="Calibri"/>
              </a:rPr>
              <a:t>The OS maintains all PCBs in Process Scheduling Queues. The OS maintains a separate queue for each of the process states and</a:t>
            </a:r>
            <a:endParaRPr sz="2200">
              <a:latin typeface="Calibri"/>
              <a:ea typeface="Calibri"/>
              <a:cs typeface="Calibri"/>
              <a:sym typeface="Calibri"/>
            </a:endParaRPr>
          </a:p>
          <a:p>
            <a:pPr marL="12700" marR="6985" lvl="0" indent="0" algn="just" rtl="0">
              <a:lnSpc>
                <a:spcPct val="120000"/>
              </a:lnSpc>
              <a:spcBef>
                <a:spcPts val="0"/>
              </a:spcBef>
              <a:spcAft>
                <a:spcPts val="0"/>
              </a:spcAft>
              <a:buNone/>
            </a:pPr>
            <a:r>
              <a:rPr lang="en-US" sz="2200">
                <a:latin typeface="Calibri"/>
                <a:ea typeface="Calibri"/>
                <a:cs typeface="Calibri"/>
                <a:sym typeface="Calibri"/>
              </a:rPr>
              <a:t>PCBs of all processes in the same execution state are placed in the same queue. When the state of a process is changed, its PCB is unlinked from its current queue and  moved  to  its  new state queue.</a:t>
            </a:r>
            <a:endParaRPr sz="2200">
              <a:latin typeface="Calibri"/>
              <a:ea typeface="Calibri"/>
              <a:cs typeface="Calibri"/>
              <a:sym typeface="Calibri"/>
            </a:endParaRPr>
          </a:p>
          <a:p>
            <a:pPr marL="12700" lvl="0" indent="0" algn="just" rtl="0">
              <a:lnSpc>
                <a:spcPct val="116136"/>
              </a:lnSpc>
              <a:spcBef>
                <a:spcPts val="0"/>
              </a:spcBef>
              <a:spcAft>
                <a:spcPts val="0"/>
              </a:spcAft>
              <a:buNone/>
            </a:pPr>
            <a:r>
              <a:rPr lang="en-US" sz="2200">
                <a:latin typeface="Calibri"/>
                <a:ea typeface="Calibri"/>
                <a:cs typeface="Calibri"/>
                <a:sym typeface="Calibri"/>
              </a:rPr>
              <a:t>The Operating System maintains the following important process</a:t>
            </a:r>
            <a:endParaRPr sz="2200">
              <a:latin typeface="Calibri"/>
              <a:ea typeface="Calibri"/>
              <a:cs typeface="Calibri"/>
              <a:sym typeface="Calibri"/>
            </a:endParaRPr>
          </a:p>
          <a:p>
            <a:pPr marL="12700" lvl="0" indent="0" algn="l" rtl="0">
              <a:lnSpc>
                <a:spcPct val="100000"/>
              </a:lnSpc>
              <a:spcBef>
                <a:spcPts val="5"/>
              </a:spcBef>
              <a:spcAft>
                <a:spcPts val="0"/>
              </a:spcAft>
              <a:buNone/>
            </a:pPr>
            <a:r>
              <a:rPr lang="en-US" sz="2200">
                <a:latin typeface="Calibri"/>
                <a:ea typeface="Calibri"/>
                <a:cs typeface="Calibri"/>
                <a:sym typeface="Calibri"/>
              </a:rPr>
              <a:t>scheduling queues −</a:t>
            </a:r>
            <a:endParaRPr sz="2200">
              <a:latin typeface="Calibri"/>
              <a:ea typeface="Calibri"/>
              <a:cs typeface="Calibri"/>
              <a:sym typeface="Calibri"/>
            </a:endParaRPr>
          </a:p>
          <a:p>
            <a:pPr marL="12700" marR="6350" lvl="0" indent="0" algn="l" rtl="0">
              <a:lnSpc>
                <a:spcPct val="100000"/>
              </a:lnSpc>
              <a:spcBef>
                <a:spcPts val="0"/>
              </a:spcBef>
              <a:spcAft>
                <a:spcPts val="0"/>
              </a:spcAft>
              <a:buNone/>
            </a:pPr>
            <a:r>
              <a:rPr lang="en-US" sz="2200" b="1">
                <a:latin typeface="Calibri"/>
                <a:ea typeface="Calibri"/>
                <a:cs typeface="Calibri"/>
                <a:sym typeface="Calibri"/>
              </a:rPr>
              <a:t>Job queue </a:t>
            </a:r>
            <a:r>
              <a:rPr lang="en-US" sz="2200">
                <a:latin typeface="Calibri"/>
                <a:ea typeface="Calibri"/>
                <a:cs typeface="Calibri"/>
                <a:sym typeface="Calibri"/>
              </a:rPr>
              <a:t>− This queue keeps all the processes in the system. </a:t>
            </a:r>
            <a:r>
              <a:rPr lang="en-US" sz="2200" b="1">
                <a:latin typeface="Calibri"/>
                <a:ea typeface="Calibri"/>
                <a:cs typeface="Calibri"/>
                <a:sym typeface="Calibri"/>
              </a:rPr>
              <a:t>Ready queue </a:t>
            </a:r>
            <a:r>
              <a:rPr lang="en-US" sz="2200">
                <a:latin typeface="Calibri"/>
                <a:ea typeface="Calibri"/>
                <a:cs typeface="Calibri"/>
                <a:sym typeface="Calibri"/>
              </a:rPr>
              <a:t>− This queue keeps a set of all processes residing in main memory, ready and waiting to execute. A new process is always put in this queue.</a:t>
            </a:r>
            <a:endParaRPr sz="2200">
              <a:latin typeface="Calibri"/>
              <a:ea typeface="Calibri"/>
              <a:cs typeface="Calibri"/>
              <a:sym typeface="Calibri"/>
            </a:endParaRPr>
          </a:p>
          <a:p>
            <a:pPr marL="12700" marR="10160" lvl="0" indent="0" algn="l" rtl="0">
              <a:lnSpc>
                <a:spcPct val="100000"/>
              </a:lnSpc>
              <a:spcBef>
                <a:spcPts val="0"/>
              </a:spcBef>
              <a:spcAft>
                <a:spcPts val="0"/>
              </a:spcAft>
              <a:buNone/>
            </a:pPr>
            <a:r>
              <a:rPr lang="en-US" sz="2200" b="1">
                <a:latin typeface="Calibri"/>
                <a:ea typeface="Calibri"/>
                <a:cs typeface="Calibri"/>
                <a:sym typeface="Calibri"/>
              </a:rPr>
              <a:t>Device	queues	</a:t>
            </a:r>
            <a:r>
              <a:rPr lang="en-US" sz="2200">
                <a:latin typeface="Calibri"/>
                <a:ea typeface="Calibri"/>
                <a:cs typeface="Calibri"/>
                <a:sym typeface="Calibri"/>
              </a:rPr>
              <a:t>−	The	processes	which	are	blocked	due	to unavailability of an I/O device constitute this queue.</a:t>
            </a:r>
            <a:endParaRPr sz="2200">
              <a:latin typeface="Calibri"/>
              <a:ea typeface="Calibri"/>
              <a:cs typeface="Calibri"/>
              <a:sym typeface="Calibri"/>
            </a:endParaRPr>
          </a:p>
        </p:txBody>
      </p:sp>
      <p:sp>
        <p:nvSpPr>
          <p:cNvPr id="206" name="Google Shape;206;p16"/>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7"/>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2800"/>
              <a:buNone/>
            </a:pPr>
            <a:r>
              <a:rPr lang="en-US" sz="3200" u="none">
                <a:latin typeface="Calibri"/>
                <a:ea typeface="Calibri"/>
                <a:cs typeface="Calibri"/>
                <a:sym typeface="Calibri"/>
              </a:rPr>
              <a:t>CONTD..</a:t>
            </a:r>
            <a:endParaRPr sz="3200">
              <a:latin typeface="Calibri"/>
              <a:ea typeface="Calibri"/>
              <a:cs typeface="Calibri"/>
              <a:sym typeface="Calibri"/>
            </a:endParaRPr>
          </a:p>
        </p:txBody>
      </p:sp>
      <p:pic>
        <p:nvPicPr>
          <p:cNvPr id="212" name="Google Shape;212;p17"/>
          <p:cNvPicPr preferRelativeResize="0"/>
          <p:nvPr/>
        </p:nvPicPr>
        <p:blipFill rotWithShape="1">
          <a:blip r:embed="rId3">
            <a:alphaModFix/>
          </a:blip>
          <a:srcRect/>
          <a:stretch/>
        </p:blipFill>
        <p:spPr>
          <a:xfrm>
            <a:off x="1473200" y="1444625"/>
            <a:ext cx="6359144" cy="4095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8"/>
          <p:cNvSpPr txBox="1"/>
          <p:nvPr/>
        </p:nvSpPr>
        <p:spPr>
          <a:xfrm>
            <a:off x="304800" y="1045210"/>
            <a:ext cx="8093811" cy="1701800"/>
          </a:xfrm>
          <a:prstGeom prst="rect">
            <a:avLst/>
          </a:prstGeom>
          <a:noFill/>
          <a:ln>
            <a:noFill/>
          </a:ln>
        </p:spPr>
        <p:txBody>
          <a:bodyPr spcFirstLastPara="1" wrap="square" lIns="0" tIns="12050" rIns="0" bIns="0" anchor="t" anchorCtr="0">
            <a:spAutoFit/>
          </a:bodyPr>
          <a:lstStyle/>
          <a:p>
            <a:pPr marL="355600" marR="5080" lvl="0" indent="-342900" algn="just" rtl="0">
              <a:lnSpc>
                <a:spcPct val="100000"/>
              </a:lnSpc>
              <a:spcBef>
                <a:spcPts val="0"/>
              </a:spcBef>
              <a:spcAft>
                <a:spcPts val="0"/>
              </a:spcAft>
              <a:buNone/>
            </a:pPr>
            <a:r>
              <a:rPr lang="en-US" sz="2200">
                <a:latin typeface="Calibri"/>
                <a:ea typeface="Calibri"/>
                <a:cs typeface="Calibri"/>
                <a:sym typeface="Calibri"/>
              </a:rPr>
              <a:t>    The OS can use different policies to manage each queue (FIFO, Round Robin, Priority, etc.). The OS scheduler determines how to move processes between the ready and run queues which can only have one entry per processor core on the system; in the above diagram, it has been merged with the CPU.</a:t>
            </a:r>
            <a:endParaRPr sz="2200">
              <a:latin typeface="Calibri"/>
              <a:ea typeface="Calibri"/>
              <a:cs typeface="Calibri"/>
              <a:sym typeface="Calibri"/>
            </a:endParaRPr>
          </a:p>
        </p:txBody>
      </p:sp>
      <p:sp>
        <p:nvSpPr>
          <p:cNvPr id="218" name="Google Shape;218;p18"/>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9"/>
          <p:cNvSpPr txBox="1"/>
          <p:nvPr/>
        </p:nvSpPr>
        <p:spPr>
          <a:xfrm>
            <a:off x="1107744" y="1123950"/>
            <a:ext cx="7506334" cy="1536700"/>
          </a:xfrm>
          <a:prstGeom prst="rect">
            <a:avLst/>
          </a:prstGeom>
          <a:noFill/>
          <a:ln>
            <a:noFill/>
          </a:ln>
        </p:spPr>
        <p:txBody>
          <a:bodyPr spcFirstLastPara="1" wrap="square" lIns="0" tIns="12700" rIns="0" bIns="0" anchor="t" anchorCtr="0">
            <a:spAutoFit/>
          </a:bodyPr>
          <a:lstStyle/>
          <a:p>
            <a:pPr marL="34925" lvl="0" indent="0" algn="ctr" rtl="0">
              <a:lnSpc>
                <a:spcPct val="100000"/>
              </a:lnSpc>
              <a:spcBef>
                <a:spcPts val="0"/>
              </a:spcBef>
              <a:spcAft>
                <a:spcPts val="0"/>
              </a:spcAft>
              <a:buNone/>
            </a:pPr>
            <a:r>
              <a:rPr lang="en-US" sz="2400" b="1">
                <a:latin typeface="Verdana"/>
                <a:ea typeface="Verdana"/>
                <a:cs typeface="Verdana"/>
                <a:sym typeface="Verdana"/>
              </a:rPr>
              <a:t>Two-State Process Model</a:t>
            </a:r>
            <a:endParaRPr sz="2400">
              <a:latin typeface="Verdana"/>
              <a:ea typeface="Verdana"/>
              <a:cs typeface="Verdana"/>
              <a:sym typeface="Verdana"/>
            </a:endParaRPr>
          </a:p>
          <a:p>
            <a:pPr marL="0" lvl="0" indent="0" algn="l" rtl="0">
              <a:lnSpc>
                <a:spcPct val="100000"/>
              </a:lnSpc>
              <a:spcBef>
                <a:spcPts val="1295"/>
              </a:spcBef>
              <a:spcAft>
                <a:spcPts val="0"/>
              </a:spcAft>
              <a:buNone/>
            </a:pPr>
            <a:endParaRPr sz="2400">
              <a:latin typeface="Verdana"/>
              <a:ea typeface="Verdana"/>
              <a:cs typeface="Verdana"/>
              <a:sym typeface="Verdana"/>
            </a:endParaRPr>
          </a:p>
          <a:p>
            <a:pPr marL="0" lvl="0" indent="0" algn="ctr" rtl="0">
              <a:lnSpc>
                <a:spcPct val="100000"/>
              </a:lnSpc>
              <a:spcBef>
                <a:spcPts val="0"/>
              </a:spcBef>
              <a:spcAft>
                <a:spcPts val="0"/>
              </a:spcAft>
              <a:buNone/>
            </a:pPr>
            <a:r>
              <a:rPr lang="en-US" sz="2000">
                <a:latin typeface="Verdana"/>
                <a:ea typeface="Verdana"/>
                <a:cs typeface="Verdana"/>
                <a:sym typeface="Verdana"/>
              </a:rPr>
              <a:t>Two-state	process	model	refers	to	running	and	non-</a:t>
            </a:r>
            <a:endParaRPr sz="2000">
              <a:latin typeface="Verdana"/>
              <a:ea typeface="Verdana"/>
              <a:cs typeface="Verdana"/>
              <a:sym typeface="Verdana"/>
            </a:endParaRPr>
          </a:p>
          <a:p>
            <a:pPr marL="354965" lvl="0" indent="0" algn="l" rtl="0">
              <a:lnSpc>
                <a:spcPct val="100000"/>
              </a:lnSpc>
              <a:spcBef>
                <a:spcPts val="5"/>
              </a:spcBef>
              <a:spcAft>
                <a:spcPts val="0"/>
              </a:spcAft>
              <a:buNone/>
            </a:pPr>
            <a:r>
              <a:rPr lang="en-US" sz="2000">
                <a:latin typeface="Verdana"/>
                <a:ea typeface="Verdana"/>
                <a:cs typeface="Verdana"/>
                <a:sym typeface="Verdana"/>
              </a:rPr>
              <a:t>running states which are described below −</a:t>
            </a:r>
            <a:endParaRPr sz="2000">
              <a:latin typeface="Verdana"/>
              <a:ea typeface="Verdana"/>
              <a:cs typeface="Verdana"/>
              <a:sym typeface="Verdana"/>
            </a:endParaRPr>
          </a:p>
        </p:txBody>
      </p:sp>
      <p:sp>
        <p:nvSpPr>
          <p:cNvPr id="224" name="Google Shape;224;p19"/>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graphicFrame>
        <p:nvGraphicFramePr>
          <p:cNvPr id="225" name="Google Shape;225;p19"/>
          <p:cNvGraphicFramePr/>
          <p:nvPr/>
        </p:nvGraphicFramePr>
        <p:xfrm>
          <a:off x="935037" y="2847975"/>
          <a:ext cx="7581250" cy="2850500"/>
        </p:xfrm>
        <a:graphic>
          <a:graphicData uri="http://schemas.openxmlformats.org/drawingml/2006/table">
            <a:tbl>
              <a:tblPr firstRow="1" bandRow="1">
                <a:noFill/>
                <a:tableStyleId>{75A88DC0-2467-4804-8F34-E6EC153716AA}</a:tableStyleId>
              </a:tblPr>
              <a:tblGrid>
                <a:gridCol w="697225">
                  <a:extLst>
                    <a:ext uri="{9D8B030D-6E8A-4147-A177-3AD203B41FA5}">
                      <a16:colId xmlns:a16="http://schemas.microsoft.com/office/drawing/2014/main" val="20000"/>
                    </a:ext>
                  </a:extLst>
                </a:gridCol>
                <a:gridCol w="6884025">
                  <a:extLst>
                    <a:ext uri="{9D8B030D-6E8A-4147-A177-3AD203B41FA5}">
                      <a16:colId xmlns:a16="http://schemas.microsoft.com/office/drawing/2014/main" val="20001"/>
                    </a:ext>
                  </a:extLst>
                </a:gridCol>
              </a:tblGrid>
              <a:tr h="330825">
                <a:tc>
                  <a:txBody>
                    <a:bodyPr/>
                    <a:lstStyle/>
                    <a:p>
                      <a:pPr marL="188595" marR="0" lvl="0" indent="0" algn="l" rtl="0">
                        <a:lnSpc>
                          <a:spcPct val="100000"/>
                        </a:lnSpc>
                        <a:spcBef>
                          <a:spcPts val="0"/>
                        </a:spcBef>
                        <a:spcAft>
                          <a:spcPts val="0"/>
                        </a:spcAft>
                        <a:buNone/>
                      </a:pPr>
                      <a:r>
                        <a:rPr lang="en-US" sz="1100" b="1" u="none" strike="noStrike" cap="none">
                          <a:latin typeface="Times New Roman"/>
                          <a:ea typeface="Times New Roman"/>
                          <a:cs typeface="Times New Roman"/>
                          <a:sym typeface="Times New Roman"/>
                        </a:rPr>
                        <a:t>S.No.</a:t>
                      </a:r>
                      <a:endParaRPr sz="1100" u="none" strike="noStrike" cap="none">
                        <a:latin typeface="Times New Roman"/>
                        <a:ea typeface="Times New Roman"/>
                        <a:cs typeface="Times New Roman"/>
                        <a:sym typeface="Times New Roman"/>
                      </a:endParaRPr>
                    </a:p>
                  </a:txBody>
                  <a:tcPr marL="0" marR="0" marT="749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tc>
                  <a:txBody>
                    <a:bodyPr/>
                    <a:lstStyle/>
                    <a:p>
                      <a:pPr marL="635" marR="0" lvl="0" indent="0" algn="ctr" rtl="0">
                        <a:lnSpc>
                          <a:spcPct val="100000"/>
                        </a:lnSpc>
                        <a:spcBef>
                          <a:spcPts val="0"/>
                        </a:spcBef>
                        <a:spcAft>
                          <a:spcPts val="0"/>
                        </a:spcAft>
                        <a:buNone/>
                      </a:pPr>
                      <a:r>
                        <a:rPr lang="en-US" sz="1100" b="1" u="none" strike="noStrike" cap="none">
                          <a:latin typeface="Times New Roman"/>
                          <a:ea typeface="Times New Roman"/>
                          <a:cs typeface="Times New Roman"/>
                          <a:sym typeface="Times New Roman"/>
                        </a:rPr>
                        <a:t>State &amp; Description</a:t>
                      </a:r>
                      <a:endParaRPr sz="1100" u="none" strike="noStrike" cap="none">
                        <a:latin typeface="Times New Roman"/>
                        <a:ea typeface="Times New Roman"/>
                        <a:cs typeface="Times New Roman"/>
                        <a:sym typeface="Times New Roman"/>
                      </a:endParaRPr>
                    </a:p>
                  </a:txBody>
                  <a:tcPr marL="0" marR="0" marT="749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DEDED"/>
                    </a:solidFill>
                  </a:tcPr>
                </a:tc>
                <a:extLst>
                  <a:ext uri="{0D108BD9-81ED-4DB2-BD59-A6C34878D82A}">
                    <a16:rowId xmlns:a16="http://schemas.microsoft.com/office/drawing/2014/main" val="10000"/>
                  </a:ext>
                </a:extLst>
              </a:tr>
              <a:tr h="699125">
                <a:tc>
                  <a:txBody>
                    <a:bodyPr/>
                    <a:lstStyle/>
                    <a:p>
                      <a:pPr marL="69215" marR="0" lvl="0" indent="0" algn="l" rtl="0">
                        <a:lnSpc>
                          <a:spcPct val="100000"/>
                        </a:lnSpc>
                        <a:spcBef>
                          <a:spcPts val="0"/>
                        </a:spcBef>
                        <a:spcAft>
                          <a:spcPts val="0"/>
                        </a:spcAft>
                        <a:buNone/>
                      </a:pPr>
                      <a:r>
                        <a:rPr lang="en-US" sz="1100" u="none" strike="noStrike" cap="none">
                          <a:latin typeface="Times New Roman"/>
                          <a:ea typeface="Times New Roman"/>
                          <a:cs typeface="Times New Roman"/>
                          <a:sym typeface="Times New Roman"/>
                        </a:rPr>
                        <a:t>1</a:t>
                      </a:r>
                      <a:endParaRPr sz="1100" u="none" strike="noStrike" cap="none">
                        <a:latin typeface="Times New Roman"/>
                        <a:ea typeface="Times New Roman"/>
                        <a:cs typeface="Times New Roman"/>
                        <a:sym typeface="Times New Roman"/>
                      </a:endParaRPr>
                    </a:p>
                  </a:txBody>
                  <a:tcPr marL="0" marR="0" marT="749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9695" marR="60960" lvl="0" indent="0" algn="l" rtl="0">
                        <a:lnSpc>
                          <a:spcPct val="114999"/>
                        </a:lnSpc>
                        <a:spcBef>
                          <a:spcPts val="0"/>
                        </a:spcBef>
                        <a:spcAft>
                          <a:spcPts val="0"/>
                        </a:spcAft>
                        <a:buNone/>
                      </a:pPr>
                      <a:r>
                        <a:rPr lang="en-US" sz="1600" b="1" u="none" strike="noStrike" cap="none">
                          <a:latin typeface="Calibri"/>
                          <a:ea typeface="Calibri"/>
                          <a:cs typeface="Calibri"/>
                          <a:sym typeface="Calibri"/>
                        </a:rPr>
                        <a:t>Running: </a:t>
                      </a:r>
                      <a:r>
                        <a:rPr lang="en-US" sz="1600" u="none" strike="noStrike" cap="none">
                          <a:latin typeface="Calibri"/>
                          <a:ea typeface="Calibri"/>
                          <a:cs typeface="Calibri"/>
                          <a:sym typeface="Calibri"/>
                        </a:rPr>
                        <a:t>When a new process is created, it enters into the system as in the running state.</a:t>
                      </a:r>
                      <a:endParaRPr sz="1600" u="none" strike="noStrike" cap="none">
                        <a:latin typeface="Calibri"/>
                        <a:ea typeface="Calibri"/>
                        <a:cs typeface="Calibri"/>
                        <a:sym typeface="Calibri"/>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820550">
                <a:tc>
                  <a:txBody>
                    <a:bodyPr/>
                    <a:lstStyle/>
                    <a:p>
                      <a:pPr marL="69215" marR="0" lvl="0" indent="0" algn="l" rtl="0">
                        <a:lnSpc>
                          <a:spcPct val="100000"/>
                        </a:lnSpc>
                        <a:spcBef>
                          <a:spcPts val="0"/>
                        </a:spcBef>
                        <a:spcAft>
                          <a:spcPts val="0"/>
                        </a:spcAft>
                        <a:buNone/>
                      </a:pPr>
                      <a:r>
                        <a:rPr lang="en-US" sz="1100" u="none" strike="noStrike" cap="none">
                          <a:latin typeface="Times New Roman"/>
                          <a:ea typeface="Times New Roman"/>
                          <a:cs typeface="Times New Roman"/>
                          <a:sym typeface="Times New Roman"/>
                        </a:rPr>
                        <a:t>2</a:t>
                      </a:r>
                      <a:endParaRPr sz="1100" u="none" strike="noStrike" cap="none">
                        <a:latin typeface="Times New Roman"/>
                        <a:ea typeface="Times New Roman"/>
                        <a:cs typeface="Times New Roman"/>
                        <a:sym typeface="Times New Roman"/>
                      </a:endParaRPr>
                    </a:p>
                  </a:txBody>
                  <a:tcPr marL="0" marR="0" marT="749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9695" marR="59689" lvl="0" indent="0" algn="just" rtl="0">
                        <a:lnSpc>
                          <a:spcPct val="114999"/>
                        </a:lnSpc>
                        <a:spcBef>
                          <a:spcPts val="0"/>
                        </a:spcBef>
                        <a:spcAft>
                          <a:spcPts val="0"/>
                        </a:spcAft>
                        <a:buNone/>
                      </a:pPr>
                      <a:r>
                        <a:rPr lang="en-US" sz="1600" b="1" u="none" strike="noStrike" cap="none">
                          <a:latin typeface="Calibri"/>
                          <a:ea typeface="Calibri"/>
                          <a:cs typeface="Calibri"/>
                          <a:sym typeface="Calibri"/>
                        </a:rPr>
                        <a:t>Not Running: </a:t>
                      </a:r>
                      <a:r>
                        <a:rPr lang="en-US" sz="1600" u="none" strike="noStrike" cap="none">
                          <a:latin typeface="Calibri"/>
                          <a:ea typeface="Calibri"/>
                          <a:cs typeface="Calibri"/>
                          <a:sym typeface="Calibri"/>
                        </a:rPr>
                        <a:t>Processes that are not running are kept in queue, waiting for their turn to execute. Each entry in the queue is a pointer to a particular process. Queue is implemented by using linked list. Use of dispatcher is as follows. When a process is interrupted, that process is transferred in the waiting queue. If the process has completed or aborted, the process is discarded. In either case, the dispatcher then selects a process from the queue to execute.</a:t>
                      </a:r>
                      <a:endParaRPr sz="1600" u="none" strike="noStrike" cap="none">
                        <a:latin typeface="Calibri"/>
                        <a:ea typeface="Calibri"/>
                        <a:cs typeface="Calibri"/>
                        <a:sym typeface="Calibri"/>
                      </a:endParaRPr>
                    </a:p>
                  </a:txBody>
                  <a:tcPr marL="0" marR="0" marT="406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0"/>
          <p:cNvSpPr txBox="1"/>
          <p:nvPr/>
        </p:nvSpPr>
        <p:spPr>
          <a:xfrm>
            <a:off x="1107744" y="1123950"/>
            <a:ext cx="7505700" cy="4680769"/>
          </a:xfrm>
          <a:prstGeom prst="rect">
            <a:avLst/>
          </a:prstGeom>
          <a:noFill/>
          <a:ln>
            <a:noFill/>
          </a:ln>
        </p:spPr>
        <p:txBody>
          <a:bodyPr spcFirstLastPara="1" wrap="square" lIns="0" tIns="12700" rIns="0" bIns="0" anchor="t" anchorCtr="0">
            <a:spAutoFit/>
          </a:bodyPr>
          <a:lstStyle/>
          <a:p>
            <a:pPr marL="0" lvl="0" indent="0" algn="just" rtl="0">
              <a:lnSpc>
                <a:spcPct val="100000"/>
              </a:lnSpc>
              <a:spcBef>
                <a:spcPts val="0"/>
              </a:spcBef>
              <a:spcAft>
                <a:spcPts val="0"/>
              </a:spcAft>
              <a:buNone/>
            </a:pPr>
            <a:endParaRPr sz="2000">
              <a:latin typeface="Times New Roman"/>
              <a:ea typeface="Times New Roman"/>
              <a:cs typeface="Times New Roman"/>
              <a:sym typeface="Times New Roman"/>
            </a:endParaRPr>
          </a:p>
          <a:p>
            <a:pPr marL="0" lvl="0" indent="0" algn="just" rtl="0">
              <a:spcBef>
                <a:spcPts val="0"/>
              </a:spcBef>
              <a:spcAft>
                <a:spcPts val="0"/>
              </a:spcAft>
              <a:buNone/>
            </a:pPr>
            <a:r>
              <a:rPr lang="en-US" sz="2000">
                <a:latin typeface="Times New Roman"/>
                <a:ea typeface="Times New Roman"/>
                <a:cs typeface="Times New Roman"/>
                <a:sym typeface="Times New Roman"/>
              </a:rPr>
              <a:t>A </a:t>
            </a:r>
            <a:r>
              <a:rPr lang="en-US" sz="2000" b="1">
                <a:latin typeface="Times New Roman"/>
                <a:ea typeface="Times New Roman"/>
                <a:cs typeface="Times New Roman"/>
                <a:sym typeface="Times New Roman"/>
              </a:rPr>
              <a:t>scheduler</a:t>
            </a:r>
            <a:r>
              <a:rPr lang="en-US" sz="2000">
                <a:latin typeface="Times New Roman"/>
                <a:ea typeface="Times New Roman"/>
                <a:cs typeface="Times New Roman"/>
                <a:sym typeface="Times New Roman"/>
              </a:rPr>
              <a:t> in an Operating System (OS) is responsible for selecting which processes will run on the CPU and for how long. The main goal of a scheduler is to optimize system performance, maximize CPU utilization, and ensure fairness among processes.</a:t>
            </a:r>
            <a:endParaRPr/>
          </a:p>
          <a:p>
            <a:pPr marL="0" lvl="0" indent="0" algn="just" rtl="0">
              <a:spcBef>
                <a:spcPts val="0"/>
              </a:spcBef>
              <a:spcAft>
                <a:spcPts val="0"/>
              </a:spcAft>
              <a:buNone/>
            </a:pPr>
            <a:r>
              <a:rPr lang="en-US" sz="2000" b="1">
                <a:latin typeface="Times New Roman"/>
                <a:ea typeface="Times New Roman"/>
                <a:cs typeface="Times New Roman"/>
                <a:sym typeface="Times New Roman"/>
              </a:rPr>
              <a:t>Types of Schedulers in an OS</a:t>
            </a:r>
            <a:endParaRPr/>
          </a:p>
          <a:p>
            <a:pPr marL="0" lvl="0" indent="0" algn="just" rtl="0">
              <a:spcBef>
                <a:spcPts val="0"/>
              </a:spcBef>
              <a:spcAft>
                <a:spcPts val="0"/>
              </a:spcAft>
              <a:buNone/>
            </a:pPr>
            <a:r>
              <a:rPr lang="en-US" sz="2000">
                <a:latin typeface="Times New Roman"/>
                <a:ea typeface="Times New Roman"/>
                <a:cs typeface="Times New Roman"/>
                <a:sym typeface="Times New Roman"/>
              </a:rPr>
              <a:t>Schedulers are categorized based on their roles and the type of decisions they make. The three primary types are:</a:t>
            </a:r>
            <a:endParaRPr/>
          </a:p>
          <a:p>
            <a:pPr marL="12700" lvl="0" indent="0" algn="just" rtl="0">
              <a:lnSpc>
                <a:spcPct val="100000"/>
              </a:lnSpc>
              <a:spcBef>
                <a:spcPts val="2640"/>
              </a:spcBef>
              <a:spcAft>
                <a:spcPts val="0"/>
              </a:spcAft>
              <a:buNone/>
            </a:pPr>
            <a:r>
              <a:rPr lang="en-US" sz="2000" b="1">
                <a:latin typeface="Times New Roman"/>
                <a:ea typeface="Times New Roman"/>
                <a:cs typeface="Times New Roman"/>
                <a:sym typeface="Times New Roman"/>
              </a:rPr>
              <a:t>Schedulers are of three types −</a:t>
            </a:r>
            <a:endParaRPr sz="2000">
              <a:latin typeface="Times New Roman"/>
              <a:ea typeface="Times New Roman"/>
              <a:cs typeface="Times New Roman"/>
              <a:sym typeface="Times New Roman"/>
            </a:endParaRPr>
          </a:p>
          <a:p>
            <a:pPr marL="567690" lvl="0" indent="-121226" algn="just" rtl="0">
              <a:lnSpc>
                <a:spcPct val="100000"/>
              </a:lnSpc>
              <a:spcBef>
                <a:spcPts val="2645"/>
              </a:spcBef>
              <a:spcAft>
                <a:spcPts val="0"/>
              </a:spcAft>
              <a:buSzPts val="1909"/>
              <a:buFont typeface="Arial"/>
              <a:buChar char="•"/>
            </a:pPr>
            <a:r>
              <a:rPr lang="en-US" sz="2000">
                <a:latin typeface="Times New Roman"/>
                <a:ea typeface="Times New Roman"/>
                <a:cs typeface="Times New Roman"/>
                <a:sym typeface="Times New Roman"/>
              </a:rPr>
              <a:t>Long-Term Scheduler</a:t>
            </a:r>
            <a:endParaRPr sz="2000">
              <a:latin typeface="Times New Roman"/>
              <a:ea typeface="Times New Roman"/>
              <a:cs typeface="Times New Roman"/>
              <a:sym typeface="Times New Roman"/>
            </a:endParaRPr>
          </a:p>
          <a:p>
            <a:pPr marL="567690" lvl="0" indent="-121226" algn="just" rtl="0">
              <a:lnSpc>
                <a:spcPct val="100000"/>
              </a:lnSpc>
              <a:spcBef>
                <a:spcPts val="0"/>
              </a:spcBef>
              <a:spcAft>
                <a:spcPts val="0"/>
              </a:spcAft>
              <a:buSzPts val="1909"/>
              <a:buFont typeface="Arial"/>
              <a:buChar char="•"/>
            </a:pPr>
            <a:r>
              <a:rPr lang="en-US" sz="2000">
                <a:latin typeface="Times New Roman"/>
                <a:ea typeface="Times New Roman"/>
                <a:cs typeface="Times New Roman"/>
                <a:sym typeface="Times New Roman"/>
              </a:rPr>
              <a:t>Medium-Term Scheduler</a:t>
            </a:r>
            <a:endParaRPr sz="2000">
              <a:latin typeface="Times New Roman"/>
              <a:ea typeface="Times New Roman"/>
              <a:cs typeface="Times New Roman"/>
              <a:sym typeface="Times New Roman"/>
            </a:endParaRPr>
          </a:p>
          <a:p>
            <a:pPr marL="567690" lvl="0" indent="-121226" algn="just" rtl="0">
              <a:spcBef>
                <a:spcPts val="0"/>
              </a:spcBef>
              <a:spcAft>
                <a:spcPts val="0"/>
              </a:spcAft>
              <a:buSzPts val="1909"/>
              <a:buFont typeface="Arial"/>
              <a:buChar char="•"/>
            </a:pPr>
            <a:r>
              <a:rPr lang="en-US" sz="2000">
                <a:latin typeface="Times New Roman"/>
                <a:ea typeface="Times New Roman"/>
                <a:cs typeface="Times New Roman"/>
                <a:sym typeface="Times New Roman"/>
              </a:rPr>
              <a:t>Short-Term Scheduler</a:t>
            </a:r>
            <a:endParaRPr sz="2000">
              <a:latin typeface="Times New Roman"/>
              <a:ea typeface="Times New Roman"/>
              <a:cs typeface="Times New Roman"/>
              <a:sym typeface="Times New Roman"/>
            </a:endParaRPr>
          </a:p>
          <a:p>
            <a:pPr marL="567690" lvl="0" indent="-106045" algn="just" rtl="0">
              <a:lnSpc>
                <a:spcPct val="100000"/>
              </a:lnSpc>
              <a:spcBef>
                <a:spcPts val="0"/>
              </a:spcBef>
              <a:spcAft>
                <a:spcPts val="0"/>
              </a:spcAft>
              <a:buNone/>
            </a:pPr>
            <a:endParaRPr sz="2000">
              <a:latin typeface="Times New Roman"/>
              <a:ea typeface="Times New Roman"/>
              <a:cs typeface="Times New Roman"/>
              <a:sym typeface="Times New Roman"/>
            </a:endParaRPr>
          </a:p>
        </p:txBody>
      </p:sp>
      <p:sp>
        <p:nvSpPr>
          <p:cNvPr id="231" name="Google Shape;231;p20"/>
          <p:cNvSpPr txBox="1">
            <a:spLocks noGrp="1"/>
          </p:cNvSpPr>
          <p:nvPr>
            <p:ph type="title"/>
          </p:nvPr>
        </p:nvSpPr>
        <p:spPr>
          <a:xfrm>
            <a:off x="1938020" y="288163"/>
            <a:ext cx="2633980" cy="518091"/>
          </a:xfrm>
          <a:prstGeom prst="rect">
            <a:avLst/>
          </a:prstGeom>
          <a:noFill/>
          <a:ln>
            <a:noFill/>
          </a:ln>
        </p:spPr>
        <p:txBody>
          <a:bodyPr spcFirstLastPara="1" wrap="square" lIns="0" tIns="12700" rIns="0" bIns="0" anchor="ctr" anchorCtr="0">
            <a:spAutoFit/>
          </a:bodyPr>
          <a:lstStyle/>
          <a:p>
            <a:pPr marL="36830" lvl="0" indent="0" algn="l" rtl="0">
              <a:lnSpc>
                <a:spcPct val="100000"/>
              </a:lnSpc>
              <a:spcBef>
                <a:spcPts val="100"/>
              </a:spcBef>
              <a:spcAft>
                <a:spcPts val="0"/>
              </a:spcAft>
              <a:buSzPts val="1800"/>
              <a:buNone/>
            </a:pPr>
            <a:r>
              <a:rPr lang="en-US" sz="3200" b="1">
                <a:latin typeface="Times New Roman"/>
                <a:ea typeface="Times New Roman"/>
                <a:cs typeface="Times New Roman"/>
                <a:sym typeface="Times New Roman"/>
              </a:rPr>
              <a:t>Schedulers</a:t>
            </a:r>
            <a:endParaRPr sz="32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1"/>
          <p:cNvSpPr/>
          <p:nvPr/>
        </p:nvSpPr>
        <p:spPr>
          <a:xfrm>
            <a:off x="685800" y="1600200"/>
            <a:ext cx="8077200" cy="4708981"/>
          </a:xfrm>
          <a:prstGeom prst="rect">
            <a:avLst/>
          </a:prstGeom>
          <a:noFill/>
          <a:ln>
            <a:noFill/>
          </a:ln>
        </p:spPr>
        <p:txBody>
          <a:bodyPr spcFirstLastPara="1" wrap="square" lIns="91425" tIns="45700" rIns="91425" bIns="45700" anchor="t" anchorCtr="0">
            <a:spAutoFit/>
          </a:bodyPr>
          <a:lstStyle/>
          <a:p>
            <a:pPr marL="342900" lvl="0" indent="-342900" algn="l" rtl="0">
              <a:spcBef>
                <a:spcPts val="0"/>
              </a:spcBef>
              <a:spcAft>
                <a:spcPts val="0"/>
              </a:spcAft>
              <a:buSzPts val="2000"/>
              <a:buFont typeface="Arial"/>
              <a:buAutoNum type="arabicPeriod"/>
            </a:pPr>
            <a:r>
              <a:rPr lang="en-US" sz="2000" b="1"/>
              <a:t>Long-Term Scheduler (Job Scheduler)</a:t>
            </a:r>
            <a:endParaRPr/>
          </a:p>
          <a:p>
            <a:pPr marL="342900" lvl="0" indent="-342900" algn="l" rtl="0">
              <a:spcBef>
                <a:spcPts val="0"/>
              </a:spcBef>
              <a:spcAft>
                <a:spcPts val="0"/>
              </a:spcAft>
              <a:buNone/>
            </a:pPr>
            <a:endParaRPr sz="2000" b="1"/>
          </a:p>
          <a:p>
            <a:pPr marL="0" lvl="0" indent="0" algn="l" rtl="0">
              <a:spcBef>
                <a:spcPts val="0"/>
              </a:spcBef>
              <a:spcAft>
                <a:spcPts val="0"/>
              </a:spcAft>
              <a:buNone/>
            </a:pPr>
            <a:r>
              <a:rPr lang="en-US" sz="2000" b="1"/>
              <a:t>Purpose</a:t>
            </a:r>
            <a:r>
              <a:rPr lang="en-US" sz="2000"/>
              <a:t>: Controls the degree of multiprogramming by deciding which jobs or processes are admitted into the system for processing.</a:t>
            </a:r>
            <a:endParaRPr/>
          </a:p>
          <a:p>
            <a:pPr marL="0" lvl="0" indent="0" algn="l" rtl="0">
              <a:spcBef>
                <a:spcPts val="0"/>
              </a:spcBef>
              <a:spcAft>
                <a:spcPts val="0"/>
              </a:spcAft>
              <a:buNone/>
            </a:pPr>
            <a:r>
              <a:rPr lang="en-US" sz="2000" b="1"/>
              <a:t>Role</a:t>
            </a:r>
            <a:r>
              <a:rPr lang="en-US" sz="2000"/>
              <a:t>:</a:t>
            </a:r>
            <a:endParaRPr/>
          </a:p>
          <a:p>
            <a:pPr marL="0" lvl="1" indent="0" algn="l" rtl="0">
              <a:spcBef>
                <a:spcPts val="0"/>
              </a:spcBef>
              <a:spcAft>
                <a:spcPts val="0"/>
              </a:spcAft>
              <a:buNone/>
            </a:pPr>
            <a:r>
              <a:rPr lang="en-US" sz="2000"/>
              <a:t>Selects processes from the job queue (stored in secondary storage).</a:t>
            </a:r>
            <a:endParaRPr/>
          </a:p>
          <a:p>
            <a:pPr marL="0" lvl="1" indent="0" algn="l" rtl="0">
              <a:spcBef>
                <a:spcPts val="0"/>
              </a:spcBef>
              <a:spcAft>
                <a:spcPts val="0"/>
              </a:spcAft>
              <a:buNone/>
            </a:pPr>
            <a:r>
              <a:rPr lang="en-US" sz="2000"/>
              <a:t>Loads selected processes into the ready queue (main memory) for execution.</a:t>
            </a:r>
            <a:endParaRPr/>
          </a:p>
          <a:p>
            <a:pPr marL="0" lvl="1" indent="0" algn="l" rtl="0">
              <a:spcBef>
                <a:spcPts val="0"/>
              </a:spcBef>
              <a:spcAft>
                <a:spcPts val="0"/>
              </a:spcAft>
              <a:buNone/>
            </a:pPr>
            <a:r>
              <a:rPr lang="en-US" sz="2000"/>
              <a:t>Balances the mix of CPU-bound and I/O-bound processes to optimize performance.</a:t>
            </a:r>
            <a:endParaRPr/>
          </a:p>
          <a:p>
            <a:pPr marL="0" lvl="0" indent="0" algn="l" rtl="0">
              <a:spcBef>
                <a:spcPts val="0"/>
              </a:spcBef>
              <a:spcAft>
                <a:spcPts val="0"/>
              </a:spcAft>
              <a:buNone/>
            </a:pPr>
            <a:r>
              <a:rPr lang="en-US" sz="2000" b="1"/>
              <a:t>Frequency</a:t>
            </a:r>
            <a:r>
              <a:rPr lang="en-US" sz="2000"/>
              <a:t>: Infrequently invoked (seconds to minutes).</a:t>
            </a:r>
            <a:endParaRPr/>
          </a:p>
          <a:p>
            <a:pPr marL="0" lvl="0" indent="0" algn="l" rtl="0">
              <a:spcBef>
                <a:spcPts val="0"/>
              </a:spcBef>
              <a:spcAft>
                <a:spcPts val="0"/>
              </a:spcAft>
              <a:buNone/>
            </a:pPr>
            <a:r>
              <a:rPr lang="en-US" sz="2000" b="1"/>
              <a:t>Example</a:t>
            </a:r>
            <a:r>
              <a:rPr lang="en-US" sz="2000"/>
              <a:t>: Batch processing systems where new jobs are added periodically.</a:t>
            </a:r>
            <a:endParaRPr/>
          </a:p>
          <a:p>
            <a:pPr marL="0" lvl="0" indent="0" algn="l" rtl="0">
              <a:spcBef>
                <a:spcPts val="0"/>
              </a:spcBef>
              <a:spcAft>
                <a:spcPts val="0"/>
              </a:spcAft>
              <a:buNone/>
            </a:pPr>
            <a:r>
              <a:rPr lang="en-US" sz="2000" b="1"/>
              <a:t>Key Consideration</a:t>
            </a:r>
            <a:r>
              <a:rPr lang="en-US" sz="2000"/>
              <a:t>: Ensures the system doesn't get overwhelmed by too many processes, which could lead to thrashing.</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2"/>
          <p:cNvSpPr txBox="1"/>
          <p:nvPr/>
        </p:nvSpPr>
        <p:spPr>
          <a:xfrm>
            <a:off x="609600" y="1123950"/>
            <a:ext cx="8004478" cy="4013919"/>
          </a:xfrm>
          <a:prstGeom prst="rect">
            <a:avLst/>
          </a:prstGeom>
          <a:noFill/>
          <a:ln>
            <a:noFill/>
          </a:ln>
        </p:spPr>
        <p:txBody>
          <a:bodyPr spcFirstLastPara="1" wrap="square" lIns="0" tIns="12700" rIns="0" bIns="0" anchor="t" anchorCtr="0">
            <a:spAutoFit/>
          </a:bodyPr>
          <a:lstStyle/>
          <a:p>
            <a:pPr marL="0" lvl="0" indent="0" algn="just" rtl="0">
              <a:spcBef>
                <a:spcPts val="0"/>
              </a:spcBef>
              <a:spcAft>
                <a:spcPts val="0"/>
              </a:spcAft>
              <a:buNone/>
            </a:pPr>
            <a:r>
              <a:rPr lang="en-US" sz="2000" b="1"/>
              <a:t>2. Medium-Term Scheduler</a:t>
            </a:r>
            <a:endParaRPr/>
          </a:p>
          <a:p>
            <a:pPr marL="0" lvl="0" indent="0" algn="just" rtl="0">
              <a:spcBef>
                <a:spcPts val="0"/>
              </a:spcBef>
              <a:spcAft>
                <a:spcPts val="0"/>
              </a:spcAft>
              <a:buNone/>
            </a:pPr>
            <a:endParaRPr sz="2000" b="1"/>
          </a:p>
          <a:p>
            <a:pPr marL="0" lvl="0" indent="0" algn="just" rtl="0">
              <a:spcBef>
                <a:spcPts val="0"/>
              </a:spcBef>
              <a:spcAft>
                <a:spcPts val="0"/>
              </a:spcAft>
              <a:buNone/>
            </a:pPr>
            <a:r>
              <a:rPr lang="en-US" sz="2000" b="1"/>
              <a:t>Purpose</a:t>
            </a:r>
            <a:r>
              <a:rPr lang="en-US" sz="2000"/>
              <a:t>: Manages processes in memory and optimizes resource allocation by swapping processes in and out of memory.</a:t>
            </a:r>
            <a:endParaRPr/>
          </a:p>
          <a:p>
            <a:pPr marL="0" lvl="0" indent="0" algn="just" rtl="0">
              <a:spcBef>
                <a:spcPts val="0"/>
              </a:spcBef>
              <a:spcAft>
                <a:spcPts val="0"/>
              </a:spcAft>
              <a:buNone/>
            </a:pPr>
            <a:r>
              <a:rPr lang="en-US" sz="2000" b="1"/>
              <a:t>Role</a:t>
            </a:r>
            <a:r>
              <a:rPr lang="en-US" sz="2000"/>
              <a:t>:</a:t>
            </a:r>
            <a:endParaRPr/>
          </a:p>
          <a:p>
            <a:pPr marL="0" lvl="1" indent="0" algn="just" rtl="0">
              <a:spcBef>
                <a:spcPts val="0"/>
              </a:spcBef>
              <a:spcAft>
                <a:spcPts val="0"/>
              </a:spcAft>
              <a:buNone/>
            </a:pPr>
            <a:r>
              <a:rPr lang="en-US" sz="2000"/>
              <a:t>Suspends processes (moves them to secondary storage) to free up memory during heavy loads.</a:t>
            </a:r>
            <a:endParaRPr/>
          </a:p>
          <a:p>
            <a:pPr marL="0" lvl="1" indent="0" algn="just" rtl="0">
              <a:spcBef>
                <a:spcPts val="0"/>
              </a:spcBef>
              <a:spcAft>
                <a:spcPts val="0"/>
              </a:spcAft>
              <a:buNone/>
            </a:pPr>
            <a:r>
              <a:rPr lang="en-US" sz="2000"/>
              <a:t>Resumes suspended processes when resources are available.</a:t>
            </a:r>
            <a:endParaRPr/>
          </a:p>
          <a:p>
            <a:pPr marL="0" lvl="1" indent="0" algn="just" rtl="0">
              <a:spcBef>
                <a:spcPts val="0"/>
              </a:spcBef>
              <a:spcAft>
                <a:spcPts val="0"/>
              </a:spcAft>
              <a:buNone/>
            </a:pPr>
            <a:r>
              <a:rPr lang="en-US" sz="2000"/>
              <a:t>Facilitates better memory utilization and system responsiveness.</a:t>
            </a:r>
            <a:endParaRPr/>
          </a:p>
          <a:p>
            <a:pPr marL="0" lvl="0" indent="0" algn="just" rtl="0">
              <a:spcBef>
                <a:spcPts val="0"/>
              </a:spcBef>
              <a:spcAft>
                <a:spcPts val="0"/>
              </a:spcAft>
              <a:buNone/>
            </a:pPr>
            <a:r>
              <a:rPr lang="en-US" sz="2000" b="1"/>
              <a:t>Frequency</a:t>
            </a:r>
            <a:r>
              <a:rPr lang="en-US" sz="2000"/>
              <a:t>: Invoked occasionally, depending on system load.</a:t>
            </a:r>
            <a:endParaRPr/>
          </a:p>
          <a:p>
            <a:pPr marL="0" lvl="0" indent="0" algn="just" rtl="0">
              <a:spcBef>
                <a:spcPts val="0"/>
              </a:spcBef>
              <a:spcAft>
                <a:spcPts val="0"/>
              </a:spcAft>
              <a:buNone/>
            </a:pPr>
            <a:r>
              <a:rPr lang="en-US" sz="2000" b="1"/>
              <a:t>Example</a:t>
            </a:r>
            <a:r>
              <a:rPr lang="en-US" sz="2000"/>
              <a:t>: In a time-sharing system, a process that hasn’t been active for a while may be swapped out to accommodate a more active process.</a:t>
            </a:r>
            <a:endParaRPr sz="2000"/>
          </a:p>
        </p:txBody>
      </p:sp>
      <p:sp>
        <p:nvSpPr>
          <p:cNvPr id="242" name="Google Shape;242;p22"/>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3"/>
          <p:cNvSpPr txBox="1"/>
          <p:nvPr/>
        </p:nvSpPr>
        <p:spPr>
          <a:xfrm>
            <a:off x="685800" y="971132"/>
            <a:ext cx="7942681" cy="3860031"/>
          </a:xfrm>
          <a:prstGeom prst="rect">
            <a:avLst/>
          </a:prstGeom>
          <a:noFill/>
          <a:ln>
            <a:noFill/>
          </a:ln>
        </p:spPr>
        <p:txBody>
          <a:bodyPr spcFirstLastPara="1" wrap="square" lIns="0" tIns="165100" rIns="0" bIns="0" anchor="t" anchorCtr="0">
            <a:spAutoFit/>
          </a:bodyPr>
          <a:lstStyle/>
          <a:p>
            <a:pPr marL="0" lvl="0" indent="0" algn="just" rtl="0">
              <a:spcBef>
                <a:spcPts val="0"/>
              </a:spcBef>
              <a:spcAft>
                <a:spcPts val="0"/>
              </a:spcAft>
              <a:buNone/>
            </a:pPr>
            <a:r>
              <a:rPr lang="en-US" sz="2000" b="1"/>
              <a:t>3. Short-Term Scheduler (CPU Scheduler)</a:t>
            </a:r>
            <a:endParaRPr/>
          </a:p>
          <a:p>
            <a:pPr marL="0" lvl="0" indent="0" algn="just" rtl="0">
              <a:spcBef>
                <a:spcPts val="0"/>
              </a:spcBef>
              <a:spcAft>
                <a:spcPts val="0"/>
              </a:spcAft>
              <a:buNone/>
            </a:pPr>
            <a:endParaRPr sz="2000" b="1"/>
          </a:p>
          <a:p>
            <a:pPr marL="0" lvl="0" indent="0" algn="just" rtl="0">
              <a:spcBef>
                <a:spcPts val="0"/>
              </a:spcBef>
              <a:spcAft>
                <a:spcPts val="0"/>
              </a:spcAft>
              <a:buNone/>
            </a:pPr>
            <a:r>
              <a:rPr lang="en-US" sz="2000" b="1"/>
              <a:t>Purpose</a:t>
            </a:r>
            <a:r>
              <a:rPr lang="en-US" sz="2000"/>
              <a:t>: Decides which process in the ready queue will get the CPU next.</a:t>
            </a:r>
            <a:endParaRPr/>
          </a:p>
          <a:p>
            <a:pPr marL="0" lvl="0" indent="0" algn="just" rtl="0">
              <a:spcBef>
                <a:spcPts val="0"/>
              </a:spcBef>
              <a:spcAft>
                <a:spcPts val="0"/>
              </a:spcAft>
              <a:buNone/>
            </a:pPr>
            <a:r>
              <a:rPr lang="en-US" sz="2000" b="1"/>
              <a:t>Role</a:t>
            </a:r>
            <a:r>
              <a:rPr lang="en-US" sz="2000"/>
              <a:t>:</a:t>
            </a:r>
            <a:endParaRPr/>
          </a:p>
          <a:p>
            <a:pPr marL="0" lvl="1" indent="0" algn="just" rtl="0">
              <a:spcBef>
                <a:spcPts val="0"/>
              </a:spcBef>
              <a:spcAft>
                <a:spcPts val="0"/>
              </a:spcAft>
              <a:buNone/>
            </a:pPr>
            <a:r>
              <a:rPr lang="en-US" sz="2000"/>
              <a:t>Executes most frequently (milliseconds to microseconds).</a:t>
            </a:r>
            <a:endParaRPr/>
          </a:p>
          <a:p>
            <a:pPr marL="0" lvl="1" indent="0" algn="just" rtl="0">
              <a:spcBef>
                <a:spcPts val="0"/>
              </a:spcBef>
              <a:spcAft>
                <a:spcPts val="0"/>
              </a:spcAft>
              <a:buNone/>
            </a:pPr>
            <a:r>
              <a:rPr lang="en-US" sz="2000"/>
              <a:t>Responsible for context switching between processes.</a:t>
            </a:r>
            <a:endParaRPr/>
          </a:p>
          <a:p>
            <a:pPr marL="0" lvl="1" indent="0" algn="just" rtl="0">
              <a:spcBef>
                <a:spcPts val="0"/>
              </a:spcBef>
              <a:spcAft>
                <a:spcPts val="0"/>
              </a:spcAft>
              <a:buNone/>
            </a:pPr>
            <a:r>
              <a:rPr lang="en-US" sz="2000"/>
              <a:t>Implements scheduling algorithms to ensure efficient CPU usage.</a:t>
            </a:r>
            <a:endParaRPr/>
          </a:p>
          <a:p>
            <a:pPr marL="0" lvl="0" indent="0" algn="just" rtl="0">
              <a:spcBef>
                <a:spcPts val="0"/>
              </a:spcBef>
              <a:spcAft>
                <a:spcPts val="0"/>
              </a:spcAft>
              <a:buNone/>
            </a:pPr>
            <a:r>
              <a:rPr lang="en-US" sz="2000" b="1"/>
              <a:t>Frequency</a:t>
            </a:r>
            <a:r>
              <a:rPr lang="en-US" sz="2000"/>
              <a:t>: Invoked frequently (whenever the CPU is idle or a process needs to be preempted).</a:t>
            </a:r>
            <a:endParaRPr/>
          </a:p>
          <a:p>
            <a:pPr marL="0" lvl="0" indent="0" algn="just" rtl="0">
              <a:spcBef>
                <a:spcPts val="0"/>
              </a:spcBef>
              <a:spcAft>
                <a:spcPts val="0"/>
              </a:spcAft>
              <a:buNone/>
            </a:pPr>
            <a:r>
              <a:rPr lang="en-US" sz="2000" b="1"/>
              <a:t>Example</a:t>
            </a:r>
            <a:r>
              <a:rPr lang="en-US" sz="2000"/>
              <a:t>: In a multitasking OS, this scheduler selects the next process for execution after a time slice expires.</a:t>
            </a:r>
            <a:endParaRPr sz="2000"/>
          </a:p>
        </p:txBody>
      </p:sp>
      <p:sp>
        <p:nvSpPr>
          <p:cNvPr id="248" name="Google Shape;248;p23"/>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4"/>
          <p:cNvSpPr txBox="1"/>
          <p:nvPr/>
        </p:nvSpPr>
        <p:spPr>
          <a:xfrm>
            <a:off x="886460" y="775927"/>
            <a:ext cx="6528434" cy="1031240"/>
          </a:xfrm>
          <a:prstGeom prst="rect">
            <a:avLst/>
          </a:prstGeom>
          <a:noFill/>
          <a:ln>
            <a:noFill/>
          </a:ln>
        </p:spPr>
        <p:txBody>
          <a:bodyPr spcFirstLastPara="1" wrap="square" lIns="0" tIns="221600" rIns="0" bIns="0" anchor="t" anchorCtr="0">
            <a:spAutoFit/>
          </a:bodyPr>
          <a:lstStyle/>
          <a:p>
            <a:pPr marL="1765935" lvl="0" indent="0" algn="l" rtl="0">
              <a:lnSpc>
                <a:spcPct val="100000"/>
              </a:lnSpc>
              <a:spcBef>
                <a:spcPts val="0"/>
              </a:spcBef>
              <a:spcAft>
                <a:spcPts val="0"/>
              </a:spcAft>
              <a:buNone/>
            </a:pPr>
            <a:r>
              <a:rPr lang="en-US" sz="2400" b="1">
                <a:solidFill>
                  <a:srgbClr val="006699"/>
                </a:solidFill>
                <a:latin typeface="Calibri"/>
                <a:ea typeface="Calibri"/>
                <a:cs typeface="Calibri"/>
                <a:sym typeface="Calibri"/>
              </a:rPr>
              <a:t>Representation of Process Scheduling</a:t>
            </a:r>
            <a:endParaRPr sz="2400">
              <a:latin typeface="Calibri"/>
              <a:ea typeface="Calibri"/>
              <a:cs typeface="Calibri"/>
              <a:sym typeface="Calibri"/>
            </a:endParaRPr>
          </a:p>
          <a:p>
            <a:pPr marL="501650" lvl="0" indent="-488950" algn="l" rtl="0">
              <a:lnSpc>
                <a:spcPct val="100000"/>
              </a:lnSpc>
              <a:spcBef>
                <a:spcPts val="1235"/>
              </a:spcBef>
              <a:spcAft>
                <a:spcPts val="0"/>
              </a:spcAft>
              <a:buClr>
                <a:srgbClr val="993300"/>
              </a:buClr>
              <a:buSzPts val="1600"/>
              <a:buFont typeface="Noto Sans Symbols"/>
              <a:buChar char="■"/>
            </a:pPr>
            <a:r>
              <a:rPr lang="en-US" sz="1800" b="1">
                <a:solidFill>
                  <a:srgbClr val="3366FF"/>
                </a:solidFill>
                <a:latin typeface="Arial"/>
                <a:ea typeface="Arial"/>
                <a:cs typeface="Arial"/>
                <a:sym typeface="Arial"/>
              </a:rPr>
              <a:t>Queueing diagram </a:t>
            </a:r>
            <a:r>
              <a:rPr lang="en-US" sz="1800">
                <a:latin typeface="Arial"/>
                <a:ea typeface="Arial"/>
                <a:cs typeface="Arial"/>
                <a:sym typeface="Arial"/>
              </a:rPr>
              <a:t>represents queues, resources, flows</a:t>
            </a:r>
            <a:endParaRPr sz="1800">
              <a:latin typeface="Arial"/>
              <a:ea typeface="Arial"/>
              <a:cs typeface="Arial"/>
              <a:sym typeface="Arial"/>
            </a:endParaRPr>
          </a:p>
        </p:txBody>
      </p:sp>
      <p:pic>
        <p:nvPicPr>
          <p:cNvPr id="254" name="Google Shape;254;p24"/>
          <p:cNvPicPr preferRelativeResize="0"/>
          <p:nvPr/>
        </p:nvPicPr>
        <p:blipFill rotWithShape="1">
          <a:blip r:embed="rId3">
            <a:alphaModFix/>
          </a:blip>
          <a:srcRect/>
          <a:stretch/>
        </p:blipFill>
        <p:spPr>
          <a:xfrm>
            <a:off x="1487550" y="1966912"/>
            <a:ext cx="6546850" cy="3781425"/>
          </a:xfrm>
          <a:prstGeom prst="rect">
            <a:avLst/>
          </a:prstGeom>
          <a:noFill/>
          <a:ln>
            <a:noFill/>
          </a:ln>
        </p:spPr>
      </p:pic>
      <p:sp>
        <p:nvSpPr>
          <p:cNvPr id="255" name="Google Shape;255;p24"/>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5"/>
          <p:cNvSpPr txBox="1"/>
          <p:nvPr/>
        </p:nvSpPr>
        <p:spPr>
          <a:xfrm>
            <a:off x="933094" y="874903"/>
            <a:ext cx="7795259" cy="4777740"/>
          </a:xfrm>
          <a:prstGeom prst="rect">
            <a:avLst/>
          </a:prstGeom>
          <a:noFill/>
          <a:ln>
            <a:noFill/>
          </a:ln>
        </p:spPr>
        <p:txBody>
          <a:bodyPr spcFirstLastPara="1" wrap="square" lIns="0" tIns="12700" rIns="0" bIns="0" anchor="t" anchorCtr="0">
            <a:spAutoFit/>
          </a:bodyPr>
          <a:lstStyle/>
          <a:p>
            <a:pPr marL="0" marR="509269" lvl="0" indent="0" algn="ctr" rtl="0">
              <a:lnSpc>
                <a:spcPct val="100000"/>
              </a:lnSpc>
              <a:spcBef>
                <a:spcPts val="0"/>
              </a:spcBef>
              <a:spcAft>
                <a:spcPts val="0"/>
              </a:spcAft>
              <a:buNone/>
            </a:pPr>
            <a:r>
              <a:rPr lang="en-US" sz="2400" b="1">
                <a:solidFill>
                  <a:srgbClr val="006699"/>
                </a:solidFill>
                <a:latin typeface="Arial"/>
                <a:ea typeface="Arial"/>
                <a:cs typeface="Arial"/>
                <a:sym typeface="Arial"/>
              </a:rPr>
              <a:t>Context Switch</a:t>
            </a:r>
            <a:endParaRPr sz="2400">
              <a:latin typeface="Arial"/>
              <a:ea typeface="Arial"/>
              <a:cs typeface="Arial"/>
              <a:sym typeface="Arial"/>
            </a:endParaRPr>
          </a:p>
          <a:p>
            <a:pPr marL="0" lvl="0" indent="0" algn="l" rtl="0">
              <a:lnSpc>
                <a:spcPct val="100000"/>
              </a:lnSpc>
              <a:spcBef>
                <a:spcPts val="1170"/>
              </a:spcBef>
              <a:spcAft>
                <a:spcPts val="0"/>
              </a:spcAft>
              <a:buNone/>
            </a:pPr>
            <a:endParaRPr sz="2400">
              <a:latin typeface="Arial"/>
              <a:ea typeface="Arial"/>
              <a:cs typeface="Arial"/>
              <a:sym typeface="Arial"/>
            </a:endParaRPr>
          </a:p>
          <a:p>
            <a:pPr marL="354965" marR="5080" lvl="0" indent="-342900" algn="l" rtl="0">
              <a:lnSpc>
                <a:spcPct val="100000"/>
              </a:lnSpc>
              <a:spcBef>
                <a:spcPts val="0"/>
              </a:spcBef>
              <a:spcAft>
                <a:spcPts val="0"/>
              </a:spcAft>
              <a:buClr>
                <a:srgbClr val="993300"/>
              </a:buClr>
              <a:buSzPts val="1800"/>
              <a:buFont typeface="Noto Sans Symbols"/>
              <a:buChar char="■"/>
            </a:pPr>
            <a:r>
              <a:rPr lang="en-US" sz="2000">
                <a:latin typeface="Calibri"/>
                <a:ea typeface="Calibri"/>
                <a:cs typeface="Calibri"/>
                <a:sym typeface="Calibri"/>
              </a:rPr>
              <a:t>When CPU switches to another process, the system must </a:t>
            </a:r>
            <a:r>
              <a:rPr lang="en-US" sz="2000" b="1">
                <a:solidFill>
                  <a:srgbClr val="3366FF"/>
                </a:solidFill>
                <a:latin typeface="Calibri"/>
                <a:ea typeface="Calibri"/>
                <a:cs typeface="Calibri"/>
                <a:sym typeface="Calibri"/>
              </a:rPr>
              <a:t>save the state </a:t>
            </a:r>
            <a:r>
              <a:rPr lang="en-US" sz="2000">
                <a:latin typeface="Calibri"/>
                <a:ea typeface="Calibri"/>
                <a:cs typeface="Calibri"/>
                <a:sym typeface="Calibri"/>
              </a:rPr>
              <a:t>of the old process and load the </a:t>
            </a:r>
            <a:r>
              <a:rPr lang="en-US" sz="2000" b="1">
                <a:solidFill>
                  <a:srgbClr val="3366FF"/>
                </a:solidFill>
                <a:latin typeface="Calibri"/>
                <a:ea typeface="Calibri"/>
                <a:cs typeface="Calibri"/>
                <a:sym typeface="Calibri"/>
              </a:rPr>
              <a:t>saved state </a:t>
            </a:r>
            <a:r>
              <a:rPr lang="en-US" sz="2000">
                <a:latin typeface="Calibri"/>
                <a:ea typeface="Calibri"/>
                <a:cs typeface="Calibri"/>
                <a:sym typeface="Calibri"/>
              </a:rPr>
              <a:t>for the new process via a </a:t>
            </a:r>
            <a:r>
              <a:rPr lang="en-US" sz="2000" b="1">
                <a:solidFill>
                  <a:srgbClr val="3366FF"/>
                </a:solidFill>
                <a:latin typeface="Calibri"/>
                <a:ea typeface="Calibri"/>
                <a:cs typeface="Calibri"/>
                <a:sym typeface="Calibri"/>
              </a:rPr>
              <a:t>context switch</a:t>
            </a:r>
            <a:endParaRPr sz="2000">
              <a:latin typeface="Calibri"/>
              <a:ea typeface="Calibri"/>
              <a:cs typeface="Calibri"/>
              <a:sym typeface="Calibri"/>
            </a:endParaRPr>
          </a:p>
          <a:p>
            <a:pPr marL="354965" lvl="0" indent="-342265" algn="l" rtl="0">
              <a:lnSpc>
                <a:spcPct val="100000"/>
              </a:lnSpc>
              <a:spcBef>
                <a:spcPts val="840"/>
              </a:spcBef>
              <a:spcAft>
                <a:spcPts val="0"/>
              </a:spcAft>
              <a:buClr>
                <a:srgbClr val="993300"/>
              </a:buClr>
              <a:buSzPts val="1800"/>
              <a:buFont typeface="Noto Sans Symbols"/>
              <a:buChar char="■"/>
            </a:pPr>
            <a:r>
              <a:rPr lang="en-US" sz="2000" b="1">
                <a:solidFill>
                  <a:srgbClr val="3366FF"/>
                </a:solidFill>
                <a:latin typeface="Calibri"/>
                <a:ea typeface="Calibri"/>
                <a:cs typeface="Calibri"/>
                <a:sym typeface="Calibri"/>
              </a:rPr>
              <a:t>Context </a:t>
            </a:r>
            <a:r>
              <a:rPr lang="en-US" sz="2000">
                <a:latin typeface="Calibri"/>
                <a:ea typeface="Calibri"/>
                <a:cs typeface="Calibri"/>
                <a:sym typeface="Calibri"/>
              </a:rPr>
              <a:t>of a process represented in the PCB</a:t>
            </a:r>
            <a:endParaRPr sz="2000">
              <a:latin typeface="Calibri"/>
              <a:ea typeface="Calibri"/>
              <a:cs typeface="Calibri"/>
              <a:sym typeface="Calibri"/>
            </a:endParaRPr>
          </a:p>
          <a:p>
            <a:pPr marL="354965" lvl="0" indent="-342265" algn="l"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Context-switch time is overhead; the system does no useful work while</a:t>
            </a:r>
            <a:endParaRPr sz="2000">
              <a:latin typeface="Calibri"/>
              <a:ea typeface="Calibri"/>
              <a:cs typeface="Calibri"/>
              <a:sym typeface="Calibri"/>
            </a:endParaRPr>
          </a:p>
          <a:p>
            <a:pPr marL="354965" lvl="0" indent="0" algn="l" rtl="0">
              <a:lnSpc>
                <a:spcPct val="100000"/>
              </a:lnSpc>
              <a:spcBef>
                <a:spcPts val="0"/>
              </a:spcBef>
              <a:spcAft>
                <a:spcPts val="0"/>
              </a:spcAft>
              <a:buNone/>
            </a:pPr>
            <a:r>
              <a:rPr lang="en-US" sz="2000">
                <a:latin typeface="Calibri"/>
                <a:ea typeface="Calibri"/>
                <a:cs typeface="Calibri"/>
                <a:sym typeface="Calibri"/>
              </a:rPr>
              <a:t>switching</a:t>
            </a:r>
            <a:endParaRPr sz="2000">
              <a:latin typeface="Calibri"/>
              <a:ea typeface="Calibri"/>
              <a:cs typeface="Calibri"/>
              <a:sym typeface="Calibri"/>
            </a:endParaRPr>
          </a:p>
          <a:p>
            <a:pPr marL="756285" marR="355600" lvl="1" indent="-287019" algn="l" rtl="0">
              <a:lnSpc>
                <a:spcPct val="119500"/>
              </a:lnSpc>
              <a:spcBef>
                <a:spcPts val="940"/>
              </a:spcBef>
              <a:spcAft>
                <a:spcPts val="0"/>
              </a:spcAft>
              <a:buClr>
                <a:srgbClr val="CC6600"/>
              </a:buClr>
              <a:buSzPts val="1600"/>
              <a:buFont typeface="Noto Sans Symbols"/>
              <a:buChar char="●"/>
            </a:pPr>
            <a:r>
              <a:rPr lang="en-US" sz="2000">
                <a:latin typeface="Calibri"/>
                <a:ea typeface="Calibri"/>
                <a:cs typeface="Calibri"/>
                <a:sym typeface="Calibri"/>
              </a:rPr>
              <a:t>The more complex the OS and the PCB </a:t>
            </a:r>
            <a:r>
              <a:rPr lang="en-US" sz="2000">
                <a:latin typeface="Noto Sans Symbols"/>
                <a:ea typeface="Noto Sans Symbols"/>
                <a:cs typeface="Noto Sans Symbols"/>
                <a:sym typeface="Noto Sans Symbols"/>
              </a:rPr>
              <a:t>🡺</a:t>
            </a:r>
            <a:r>
              <a:rPr lang="en-US" sz="2000">
                <a:latin typeface="Times New Roman"/>
                <a:ea typeface="Times New Roman"/>
                <a:cs typeface="Times New Roman"/>
                <a:sym typeface="Times New Roman"/>
              </a:rPr>
              <a:t> </a:t>
            </a:r>
            <a:r>
              <a:rPr lang="en-US" sz="2000">
                <a:latin typeface="Calibri"/>
                <a:ea typeface="Calibri"/>
                <a:cs typeface="Calibri"/>
                <a:sym typeface="Calibri"/>
              </a:rPr>
              <a:t>the longer the context switch</a:t>
            </a:r>
            <a:endParaRPr sz="2000">
              <a:latin typeface="Calibri"/>
              <a:ea typeface="Calibri"/>
              <a:cs typeface="Calibri"/>
              <a:sym typeface="Calibri"/>
            </a:endParaRPr>
          </a:p>
          <a:p>
            <a:pPr marL="354965" lvl="0" indent="-342265" algn="l" rtl="0">
              <a:lnSpc>
                <a:spcPct val="100000"/>
              </a:lnSpc>
              <a:spcBef>
                <a:spcPts val="765"/>
              </a:spcBef>
              <a:spcAft>
                <a:spcPts val="0"/>
              </a:spcAft>
              <a:buClr>
                <a:srgbClr val="993300"/>
              </a:buClr>
              <a:buSzPts val="1800"/>
              <a:buFont typeface="Noto Sans Symbols"/>
              <a:buChar char="■"/>
            </a:pPr>
            <a:r>
              <a:rPr lang="en-US" sz="2000">
                <a:latin typeface="Calibri"/>
                <a:ea typeface="Calibri"/>
                <a:cs typeface="Calibri"/>
                <a:sym typeface="Calibri"/>
              </a:rPr>
              <a:t>Time dependent on hardware support</a:t>
            </a:r>
            <a:endParaRPr sz="2000">
              <a:latin typeface="Calibri"/>
              <a:ea typeface="Calibri"/>
              <a:cs typeface="Calibri"/>
              <a:sym typeface="Calibri"/>
            </a:endParaRPr>
          </a:p>
          <a:p>
            <a:pPr marL="756285" lvl="1" indent="-287019" algn="l" rtl="0">
              <a:lnSpc>
                <a:spcPct val="119750"/>
              </a:lnSpc>
              <a:spcBef>
                <a:spcPts val="850"/>
              </a:spcBef>
              <a:spcAft>
                <a:spcPts val="0"/>
              </a:spcAft>
              <a:buClr>
                <a:srgbClr val="CC6600"/>
              </a:buClr>
              <a:buSzPts val="1600"/>
              <a:buFont typeface="Noto Sans Symbols"/>
              <a:buChar char="●"/>
            </a:pPr>
            <a:r>
              <a:rPr lang="en-US" sz="2000">
                <a:latin typeface="Calibri"/>
                <a:ea typeface="Calibri"/>
                <a:cs typeface="Calibri"/>
                <a:sym typeface="Calibri"/>
              </a:rPr>
              <a:t>Some hardware provides multiple sets of registers per CPU </a:t>
            </a:r>
            <a:r>
              <a:rPr lang="en-US" sz="2000">
                <a:latin typeface="Noto Sans Symbols"/>
                <a:ea typeface="Noto Sans Symbols"/>
                <a:cs typeface="Noto Sans Symbols"/>
                <a:sym typeface="Noto Sans Symbols"/>
              </a:rPr>
              <a:t>🡺</a:t>
            </a:r>
            <a:endParaRPr sz="2000">
              <a:latin typeface="Noto Sans Symbols"/>
              <a:ea typeface="Noto Sans Symbols"/>
              <a:cs typeface="Noto Sans Symbols"/>
              <a:sym typeface="Noto Sans Symbols"/>
            </a:endParaRPr>
          </a:p>
          <a:p>
            <a:pPr marL="756285" lvl="0" indent="0" algn="l" rtl="0">
              <a:lnSpc>
                <a:spcPct val="119750"/>
              </a:lnSpc>
              <a:spcBef>
                <a:spcPts val="0"/>
              </a:spcBef>
              <a:spcAft>
                <a:spcPts val="0"/>
              </a:spcAft>
              <a:buNone/>
            </a:pPr>
            <a:r>
              <a:rPr lang="en-US" sz="2000">
                <a:latin typeface="Calibri"/>
                <a:ea typeface="Calibri"/>
                <a:cs typeface="Calibri"/>
                <a:sym typeface="Calibri"/>
              </a:rPr>
              <a:t>multiple contexts loaded at once</a:t>
            </a:r>
            <a:endParaRPr sz="2000">
              <a:latin typeface="Calibri"/>
              <a:ea typeface="Calibri"/>
              <a:cs typeface="Calibri"/>
              <a:sym typeface="Calibri"/>
            </a:endParaRPr>
          </a:p>
        </p:txBody>
      </p:sp>
      <p:sp>
        <p:nvSpPr>
          <p:cNvPr id="261" name="Google Shape;261;p25"/>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6"/>
          <p:cNvSpPr txBox="1">
            <a:spLocks noGrp="1"/>
          </p:cNvSpPr>
          <p:nvPr>
            <p:ph type="title"/>
          </p:nvPr>
        </p:nvSpPr>
        <p:spPr>
          <a:xfrm>
            <a:off x="0" y="0"/>
            <a:ext cx="6477000" cy="763670"/>
          </a:xfrm>
          <a:prstGeom prst="rect">
            <a:avLst/>
          </a:prstGeom>
          <a:noFill/>
          <a:ln>
            <a:noFill/>
          </a:ln>
        </p:spPr>
        <p:txBody>
          <a:bodyPr spcFirstLastPara="1" wrap="square" lIns="0" tIns="255900" rIns="0" bIns="0" anchor="ctr" anchorCtr="0">
            <a:spAutoFit/>
          </a:bodyPr>
          <a:lstStyle/>
          <a:p>
            <a:pPr marL="701675" lvl="0" indent="0" algn="l" rtl="0">
              <a:lnSpc>
                <a:spcPct val="100000"/>
              </a:lnSpc>
              <a:spcBef>
                <a:spcPts val="100"/>
              </a:spcBef>
              <a:spcAft>
                <a:spcPts val="0"/>
              </a:spcAft>
              <a:buSzPts val="1800"/>
              <a:buNone/>
            </a:pPr>
            <a:r>
              <a:rPr lang="en-US" sz="3200" b="1" u="none">
                <a:solidFill>
                  <a:schemeClr val="dk1"/>
                </a:solidFill>
                <a:latin typeface="Arial"/>
                <a:ea typeface="Arial"/>
                <a:cs typeface="Arial"/>
                <a:sym typeface="Arial"/>
              </a:rPr>
              <a:t>Operations on </a:t>
            </a:r>
            <a:r>
              <a:rPr lang="en-US" sz="3200" b="1">
                <a:solidFill>
                  <a:schemeClr val="dk1"/>
                </a:solidFill>
                <a:latin typeface="Arial"/>
                <a:ea typeface="Arial"/>
                <a:cs typeface="Arial"/>
                <a:sym typeface="Arial"/>
              </a:rPr>
              <a:t>P</a:t>
            </a:r>
            <a:r>
              <a:rPr lang="en-US" sz="3200" b="1" u="none">
                <a:solidFill>
                  <a:schemeClr val="dk1"/>
                </a:solidFill>
                <a:latin typeface="Arial"/>
                <a:ea typeface="Arial"/>
                <a:cs typeface="Arial"/>
                <a:sym typeface="Arial"/>
              </a:rPr>
              <a:t>rocesses</a:t>
            </a:r>
            <a:endParaRPr sz="3200" b="1">
              <a:solidFill>
                <a:schemeClr val="dk1"/>
              </a:solidFill>
              <a:latin typeface="Arial"/>
              <a:ea typeface="Arial"/>
              <a:cs typeface="Arial"/>
              <a:sym typeface="Arial"/>
            </a:endParaRPr>
          </a:p>
        </p:txBody>
      </p:sp>
      <p:sp>
        <p:nvSpPr>
          <p:cNvPr id="267" name="Google Shape;267;p26"/>
          <p:cNvSpPr txBox="1"/>
          <p:nvPr/>
        </p:nvSpPr>
        <p:spPr>
          <a:xfrm>
            <a:off x="885240" y="1143990"/>
            <a:ext cx="4313555" cy="1260475"/>
          </a:xfrm>
          <a:prstGeom prst="rect">
            <a:avLst/>
          </a:prstGeom>
          <a:noFill/>
          <a:ln>
            <a:noFill/>
          </a:ln>
        </p:spPr>
        <p:txBody>
          <a:bodyPr spcFirstLastPara="1" wrap="square" lIns="0" tIns="119375" rIns="0" bIns="0" anchor="t" anchorCtr="0">
            <a:spAutoFit/>
          </a:bodyPr>
          <a:lstStyle/>
          <a:p>
            <a:pPr marL="354965" lvl="0" indent="-342265" algn="l" rtl="0">
              <a:lnSpc>
                <a:spcPct val="100000"/>
              </a:lnSpc>
              <a:spcBef>
                <a:spcPts val="0"/>
              </a:spcBef>
              <a:spcAft>
                <a:spcPts val="0"/>
              </a:spcAft>
              <a:buClr>
                <a:srgbClr val="993300"/>
              </a:buClr>
              <a:buSzPts val="1800"/>
              <a:buFont typeface="Noto Sans Symbols"/>
              <a:buChar char="■"/>
            </a:pPr>
            <a:r>
              <a:rPr lang="en-US" sz="2000">
                <a:latin typeface="Calibri"/>
                <a:ea typeface="Calibri"/>
                <a:cs typeface="Calibri"/>
                <a:sym typeface="Calibri"/>
              </a:rPr>
              <a:t>System must provide mechanisms for:</a:t>
            </a:r>
            <a:endParaRPr sz="2000">
              <a:latin typeface="Calibri"/>
              <a:ea typeface="Calibri"/>
              <a:cs typeface="Calibri"/>
              <a:sym typeface="Calibri"/>
            </a:endParaRPr>
          </a:p>
          <a:p>
            <a:pPr marL="811530" lvl="1" indent="-341630"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process creation,</a:t>
            </a:r>
            <a:endParaRPr sz="2000">
              <a:latin typeface="Calibri"/>
              <a:ea typeface="Calibri"/>
              <a:cs typeface="Calibri"/>
              <a:sym typeface="Calibri"/>
            </a:endParaRPr>
          </a:p>
          <a:p>
            <a:pPr marL="811530" lvl="1" indent="-341630"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process termination</a:t>
            </a:r>
            <a:endParaRPr sz="20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7"/>
          <p:cNvSpPr txBox="1"/>
          <p:nvPr/>
        </p:nvSpPr>
        <p:spPr>
          <a:xfrm>
            <a:off x="850493" y="1055878"/>
            <a:ext cx="7915909" cy="4084320"/>
          </a:xfrm>
          <a:prstGeom prst="rect">
            <a:avLst/>
          </a:prstGeom>
          <a:noFill/>
          <a:ln>
            <a:noFill/>
          </a:ln>
        </p:spPr>
        <p:txBody>
          <a:bodyPr spcFirstLastPara="1" wrap="square" lIns="0" tIns="12700" rIns="0" bIns="0" anchor="t" anchorCtr="0">
            <a:spAutoFit/>
          </a:bodyPr>
          <a:lstStyle/>
          <a:p>
            <a:pPr marL="0" marR="299085" lvl="0" indent="0" algn="ctr" rtl="0">
              <a:lnSpc>
                <a:spcPct val="100000"/>
              </a:lnSpc>
              <a:spcBef>
                <a:spcPts val="0"/>
              </a:spcBef>
              <a:spcAft>
                <a:spcPts val="0"/>
              </a:spcAft>
              <a:buNone/>
            </a:pPr>
            <a:r>
              <a:rPr lang="en-US" sz="2400" b="1">
                <a:solidFill>
                  <a:srgbClr val="006699"/>
                </a:solidFill>
                <a:latin typeface="Arial"/>
                <a:ea typeface="Arial"/>
                <a:cs typeface="Arial"/>
                <a:sym typeface="Arial"/>
              </a:rPr>
              <a:t>Process Creation</a:t>
            </a:r>
            <a:endParaRPr sz="2400">
              <a:latin typeface="Arial"/>
              <a:ea typeface="Arial"/>
              <a:cs typeface="Arial"/>
              <a:sym typeface="Arial"/>
            </a:endParaRPr>
          </a:p>
          <a:p>
            <a:pPr marL="354965" lvl="0" indent="-342265" algn="l" rtl="0">
              <a:lnSpc>
                <a:spcPct val="100000"/>
              </a:lnSpc>
              <a:spcBef>
                <a:spcPts val="1590"/>
              </a:spcBef>
              <a:spcAft>
                <a:spcPts val="0"/>
              </a:spcAft>
              <a:buClr>
                <a:srgbClr val="993300"/>
              </a:buClr>
              <a:buSzPts val="1800"/>
              <a:buFont typeface="Noto Sans Symbols"/>
              <a:buChar char="■"/>
            </a:pPr>
            <a:r>
              <a:rPr lang="en-US" sz="2000" b="1">
                <a:solidFill>
                  <a:srgbClr val="3366FF"/>
                </a:solidFill>
                <a:latin typeface="Calibri"/>
                <a:ea typeface="Calibri"/>
                <a:cs typeface="Calibri"/>
                <a:sym typeface="Calibri"/>
              </a:rPr>
              <a:t>Parent </a:t>
            </a:r>
            <a:r>
              <a:rPr lang="en-US" sz="2000">
                <a:latin typeface="Calibri"/>
                <a:ea typeface="Calibri"/>
                <a:cs typeface="Calibri"/>
                <a:sym typeface="Calibri"/>
              </a:rPr>
              <a:t>process create </a:t>
            </a:r>
            <a:r>
              <a:rPr lang="en-US" sz="2000" b="1">
                <a:solidFill>
                  <a:srgbClr val="3366FF"/>
                </a:solidFill>
                <a:latin typeface="Calibri"/>
                <a:ea typeface="Calibri"/>
                <a:cs typeface="Calibri"/>
                <a:sym typeface="Calibri"/>
              </a:rPr>
              <a:t>children </a:t>
            </a:r>
            <a:r>
              <a:rPr lang="en-US" sz="2000">
                <a:latin typeface="Calibri"/>
                <a:ea typeface="Calibri"/>
                <a:cs typeface="Calibri"/>
                <a:sym typeface="Calibri"/>
              </a:rPr>
              <a:t>processes, which, in turn create other</a:t>
            </a:r>
            <a:endParaRPr sz="2000">
              <a:latin typeface="Calibri"/>
              <a:ea typeface="Calibri"/>
              <a:cs typeface="Calibri"/>
              <a:sym typeface="Calibri"/>
            </a:endParaRPr>
          </a:p>
          <a:p>
            <a:pPr marL="355600" lvl="0" indent="0" algn="l" rtl="0">
              <a:lnSpc>
                <a:spcPct val="100000"/>
              </a:lnSpc>
              <a:spcBef>
                <a:spcPts val="0"/>
              </a:spcBef>
              <a:spcAft>
                <a:spcPts val="0"/>
              </a:spcAft>
              <a:buNone/>
            </a:pPr>
            <a:r>
              <a:rPr lang="en-US" sz="2000">
                <a:latin typeface="Calibri"/>
                <a:ea typeface="Calibri"/>
                <a:cs typeface="Calibri"/>
                <a:sym typeface="Calibri"/>
              </a:rPr>
              <a:t>processes, forming a </a:t>
            </a:r>
            <a:r>
              <a:rPr lang="en-US" sz="2000" b="1">
                <a:solidFill>
                  <a:srgbClr val="3366FF"/>
                </a:solidFill>
                <a:latin typeface="Calibri"/>
                <a:ea typeface="Calibri"/>
                <a:cs typeface="Calibri"/>
                <a:sym typeface="Calibri"/>
              </a:rPr>
              <a:t>tree </a:t>
            </a:r>
            <a:r>
              <a:rPr lang="en-US" sz="2000">
                <a:latin typeface="Calibri"/>
                <a:ea typeface="Calibri"/>
                <a:cs typeface="Calibri"/>
                <a:sym typeface="Calibri"/>
              </a:rPr>
              <a:t>of processes</a:t>
            </a:r>
            <a:endParaRPr sz="2000">
              <a:latin typeface="Calibri"/>
              <a:ea typeface="Calibri"/>
              <a:cs typeface="Calibri"/>
              <a:sym typeface="Calibri"/>
            </a:endParaRPr>
          </a:p>
          <a:p>
            <a:pPr marL="354965" lvl="0" indent="-342265" algn="l"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Generally, process identified and managed via a </a:t>
            </a:r>
            <a:r>
              <a:rPr lang="en-US" sz="2000" b="1">
                <a:solidFill>
                  <a:srgbClr val="3366FF"/>
                </a:solidFill>
                <a:latin typeface="Calibri"/>
                <a:ea typeface="Calibri"/>
                <a:cs typeface="Calibri"/>
                <a:sym typeface="Calibri"/>
              </a:rPr>
              <a:t>process identifier </a:t>
            </a:r>
            <a:r>
              <a:rPr lang="en-US" sz="2000">
                <a:latin typeface="Calibri"/>
                <a:ea typeface="Calibri"/>
                <a:cs typeface="Calibri"/>
                <a:sym typeface="Calibri"/>
              </a:rPr>
              <a:t>(</a:t>
            </a:r>
            <a:r>
              <a:rPr lang="en-US" sz="2000" b="1">
                <a:solidFill>
                  <a:srgbClr val="3366FF"/>
                </a:solidFill>
                <a:latin typeface="Calibri"/>
                <a:ea typeface="Calibri"/>
                <a:cs typeface="Calibri"/>
                <a:sym typeface="Calibri"/>
              </a:rPr>
              <a:t>pid</a:t>
            </a:r>
            <a:r>
              <a:rPr lang="en-US" sz="2000">
                <a:latin typeface="Calibri"/>
                <a:ea typeface="Calibri"/>
                <a:cs typeface="Calibri"/>
                <a:sym typeface="Calibri"/>
              </a:rPr>
              <a:t>)</a:t>
            </a:r>
            <a:endParaRPr sz="2000">
              <a:latin typeface="Calibri"/>
              <a:ea typeface="Calibri"/>
              <a:cs typeface="Calibri"/>
              <a:sym typeface="Calibri"/>
            </a:endParaRPr>
          </a:p>
          <a:p>
            <a:pPr marL="354965" lvl="0" indent="-342265" algn="l"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Resource sharing options</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Parent and children share all resources</a:t>
            </a:r>
            <a:endParaRPr sz="2000">
              <a:latin typeface="Calibri"/>
              <a:ea typeface="Calibri"/>
              <a:cs typeface="Calibri"/>
              <a:sym typeface="Calibri"/>
            </a:endParaRPr>
          </a:p>
          <a:p>
            <a:pPr marL="756285" lvl="1" indent="-286385" algn="l" rtl="0">
              <a:lnSpc>
                <a:spcPct val="100000"/>
              </a:lnSpc>
              <a:spcBef>
                <a:spcPts val="880"/>
              </a:spcBef>
              <a:spcAft>
                <a:spcPts val="0"/>
              </a:spcAft>
              <a:buClr>
                <a:srgbClr val="CC6600"/>
              </a:buClr>
              <a:buSzPts val="1600"/>
              <a:buFont typeface="Noto Sans Symbols"/>
              <a:buChar char="●"/>
            </a:pPr>
            <a:r>
              <a:rPr lang="en-US" sz="2000">
                <a:latin typeface="Calibri"/>
                <a:ea typeface="Calibri"/>
                <a:cs typeface="Calibri"/>
                <a:sym typeface="Calibri"/>
              </a:rPr>
              <a:t>Children share subset of parent</a:t>
            </a:r>
            <a:r>
              <a:rPr lang="en-US" sz="2000">
                <a:latin typeface="MS PGothic"/>
                <a:ea typeface="MS PGothic"/>
                <a:cs typeface="MS PGothic"/>
                <a:sym typeface="MS PGothic"/>
              </a:rPr>
              <a:t>’</a:t>
            </a:r>
            <a:r>
              <a:rPr lang="en-US" sz="2000">
                <a:latin typeface="Calibri"/>
                <a:ea typeface="Calibri"/>
                <a:cs typeface="Calibri"/>
                <a:sym typeface="Calibri"/>
              </a:rPr>
              <a:t>s resources</a:t>
            </a:r>
            <a:endParaRPr sz="2000">
              <a:latin typeface="Calibri"/>
              <a:ea typeface="Calibri"/>
              <a:cs typeface="Calibri"/>
              <a:sym typeface="Calibri"/>
            </a:endParaRPr>
          </a:p>
          <a:p>
            <a:pPr marL="354965" lvl="0" indent="-342265" algn="l" rtl="0">
              <a:lnSpc>
                <a:spcPct val="100000"/>
              </a:lnSpc>
              <a:spcBef>
                <a:spcPts val="805"/>
              </a:spcBef>
              <a:spcAft>
                <a:spcPts val="0"/>
              </a:spcAft>
              <a:buClr>
                <a:srgbClr val="993300"/>
              </a:buClr>
              <a:buSzPts val="1800"/>
              <a:buFont typeface="Noto Sans Symbols"/>
              <a:buChar char="■"/>
            </a:pPr>
            <a:r>
              <a:rPr lang="en-US" sz="2000">
                <a:latin typeface="Calibri"/>
                <a:ea typeface="Calibri"/>
                <a:cs typeface="Calibri"/>
                <a:sym typeface="Calibri"/>
              </a:rPr>
              <a:t>Execution options</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Parent and children execute concurrently</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Parent waits until children terminate</a:t>
            </a:r>
            <a:endParaRPr sz="2000">
              <a:latin typeface="Calibri"/>
              <a:ea typeface="Calibri"/>
              <a:cs typeface="Calibri"/>
              <a:sym typeface="Calibri"/>
            </a:endParaRPr>
          </a:p>
        </p:txBody>
      </p:sp>
      <p:sp>
        <p:nvSpPr>
          <p:cNvPr id="273" name="Google Shape;273;p27"/>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p:nvPr/>
        </p:nvSpPr>
        <p:spPr>
          <a:xfrm>
            <a:off x="948944" y="970889"/>
            <a:ext cx="7860030" cy="2799715"/>
          </a:xfrm>
          <a:prstGeom prst="rect">
            <a:avLst/>
          </a:prstGeom>
          <a:noFill/>
          <a:ln>
            <a:noFill/>
          </a:ln>
        </p:spPr>
        <p:txBody>
          <a:bodyPr spcFirstLastPara="1" wrap="square" lIns="0" tIns="119375" rIns="0" bIns="0" anchor="t" anchorCtr="0">
            <a:spAutoFit/>
          </a:bodyPr>
          <a:lstStyle/>
          <a:p>
            <a:pPr marL="354965" lvl="0" indent="-342265" algn="l" rtl="0">
              <a:lnSpc>
                <a:spcPct val="100000"/>
              </a:lnSpc>
              <a:spcBef>
                <a:spcPts val="0"/>
              </a:spcBef>
              <a:spcAft>
                <a:spcPts val="0"/>
              </a:spcAft>
              <a:buClr>
                <a:srgbClr val="993300"/>
              </a:buClr>
              <a:buSzPts val="1800"/>
              <a:buFont typeface="Noto Sans Symbols"/>
              <a:buChar char="■"/>
            </a:pPr>
            <a:r>
              <a:rPr lang="en-US" sz="2000">
                <a:latin typeface="Calibri"/>
                <a:ea typeface="Calibri"/>
                <a:cs typeface="Calibri"/>
                <a:sym typeface="Calibri"/>
              </a:rPr>
              <a:t>Address space</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Child duplicate of parent</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Child has a program loaded into it</a:t>
            </a:r>
            <a:endParaRPr sz="2000">
              <a:latin typeface="Calibri"/>
              <a:ea typeface="Calibri"/>
              <a:cs typeface="Calibri"/>
              <a:sym typeface="Calibri"/>
            </a:endParaRPr>
          </a:p>
          <a:p>
            <a:pPr marL="354965" lvl="0" indent="-342265" algn="l"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UNIX examples</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b="1">
                <a:latin typeface="Calibri"/>
                <a:ea typeface="Calibri"/>
                <a:cs typeface="Calibri"/>
                <a:sym typeface="Calibri"/>
              </a:rPr>
              <a:t>fork() </a:t>
            </a:r>
            <a:r>
              <a:rPr lang="en-US" sz="2000">
                <a:latin typeface="Calibri"/>
                <a:ea typeface="Calibri"/>
                <a:cs typeface="Calibri"/>
                <a:sym typeface="Calibri"/>
              </a:rPr>
              <a:t>system call creates new process</a:t>
            </a:r>
            <a:endParaRPr sz="2000">
              <a:latin typeface="Calibri"/>
              <a:ea typeface="Calibri"/>
              <a:cs typeface="Calibri"/>
              <a:sym typeface="Calibri"/>
            </a:endParaRPr>
          </a:p>
          <a:p>
            <a:pPr marL="756285" lvl="1" indent="-286385" algn="l" rtl="0">
              <a:lnSpc>
                <a:spcPct val="119000"/>
              </a:lnSpc>
              <a:spcBef>
                <a:spcPts val="880"/>
              </a:spcBef>
              <a:spcAft>
                <a:spcPts val="0"/>
              </a:spcAft>
              <a:buClr>
                <a:srgbClr val="CC6600"/>
              </a:buClr>
              <a:buSzPts val="1600"/>
              <a:buFont typeface="Noto Sans Symbols"/>
              <a:buChar char="●"/>
            </a:pPr>
            <a:r>
              <a:rPr lang="en-US" sz="2000" b="1">
                <a:latin typeface="Calibri"/>
                <a:ea typeface="Calibri"/>
                <a:cs typeface="Calibri"/>
                <a:sym typeface="Calibri"/>
              </a:rPr>
              <a:t>exec()	</a:t>
            </a:r>
            <a:r>
              <a:rPr lang="en-US" sz="2000">
                <a:latin typeface="Calibri"/>
                <a:ea typeface="Calibri"/>
                <a:cs typeface="Calibri"/>
                <a:sym typeface="Calibri"/>
              </a:rPr>
              <a:t>system	call	used	after	a	</a:t>
            </a:r>
            <a:r>
              <a:rPr lang="en-US" sz="2000" b="1">
                <a:latin typeface="Calibri"/>
                <a:ea typeface="Calibri"/>
                <a:cs typeface="Calibri"/>
                <a:sym typeface="Calibri"/>
              </a:rPr>
              <a:t>fork()	</a:t>
            </a:r>
            <a:r>
              <a:rPr lang="en-US" sz="2000">
                <a:latin typeface="Calibri"/>
                <a:ea typeface="Calibri"/>
                <a:cs typeface="Calibri"/>
                <a:sym typeface="Calibri"/>
              </a:rPr>
              <a:t>to	replace	the	process</a:t>
            </a:r>
            <a:r>
              <a:rPr lang="en-US" sz="2000">
                <a:latin typeface="MS PGothic"/>
                <a:ea typeface="MS PGothic"/>
                <a:cs typeface="MS PGothic"/>
                <a:sym typeface="MS PGothic"/>
              </a:rPr>
              <a:t>’</a:t>
            </a:r>
            <a:endParaRPr sz="2000">
              <a:latin typeface="MS PGothic"/>
              <a:ea typeface="MS PGothic"/>
              <a:cs typeface="MS PGothic"/>
              <a:sym typeface="MS PGothic"/>
            </a:endParaRPr>
          </a:p>
          <a:p>
            <a:pPr marL="756285" lvl="0" indent="0" algn="l" rtl="0">
              <a:lnSpc>
                <a:spcPct val="119000"/>
              </a:lnSpc>
              <a:spcBef>
                <a:spcPts val="0"/>
              </a:spcBef>
              <a:spcAft>
                <a:spcPts val="0"/>
              </a:spcAft>
              <a:buNone/>
            </a:pPr>
            <a:r>
              <a:rPr lang="en-US" sz="2000">
                <a:latin typeface="Calibri"/>
                <a:ea typeface="Calibri"/>
                <a:cs typeface="Calibri"/>
                <a:sym typeface="Calibri"/>
              </a:rPr>
              <a:t>memory space with a new program</a:t>
            </a:r>
            <a:endParaRPr sz="2000">
              <a:latin typeface="Calibri"/>
              <a:ea typeface="Calibri"/>
              <a:cs typeface="Calibri"/>
              <a:sym typeface="Calibri"/>
            </a:endParaRPr>
          </a:p>
        </p:txBody>
      </p:sp>
      <p:pic>
        <p:nvPicPr>
          <p:cNvPr id="279" name="Google Shape;279;p28"/>
          <p:cNvPicPr preferRelativeResize="0"/>
          <p:nvPr/>
        </p:nvPicPr>
        <p:blipFill rotWithShape="1">
          <a:blip r:embed="rId3">
            <a:alphaModFix/>
          </a:blip>
          <a:srcRect/>
          <a:stretch/>
        </p:blipFill>
        <p:spPr>
          <a:xfrm>
            <a:off x="1497075" y="3989387"/>
            <a:ext cx="6419850" cy="1616075"/>
          </a:xfrm>
          <a:prstGeom prst="rect">
            <a:avLst/>
          </a:prstGeom>
          <a:noFill/>
          <a:ln>
            <a:noFill/>
          </a:ln>
        </p:spPr>
      </p:pic>
      <p:sp>
        <p:nvSpPr>
          <p:cNvPr id="280" name="Google Shape;280;p28"/>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9"/>
          <p:cNvSpPr txBox="1"/>
          <p:nvPr/>
        </p:nvSpPr>
        <p:spPr>
          <a:xfrm>
            <a:off x="885240" y="1070228"/>
            <a:ext cx="7811770" cy="206756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en-US" sz="2400" b="1">
                <a:solidFill>
                  <a:srgbClr val="006699"/>
                </a:solidFill>
                <a:latin typeface="Arial"/>
                <a:ea typeface="Arial"/>
                <a:cs typeface="Arial"/>
                <a:sym typeface="Arial"/>
              </a:rPr>
              <a:t>Process Termination</a:t>
            </a:r>
            <a:endParaRPr sz="2400">
              <a:latin typeface="Arial"/>
              <a:ea typeface="Arial"/>
              <a:cs typeface="Arial"/>
              <a:sym typeface="Arial"/>
            </a:endParaRPr>
          </a:p>
          <a:p>
            <a:pPr marL="355600" marR="5080" lvl="0" indent="-342900" algn="l" rtl="0">
              <a:lnSpc>
                <a:spcPct val="100000"/>
              </a:lnSpc>
              <a:spcBef>
                <a:spcPts val="1875"/>
              </a:spcBef>
              <a:spcAft>
                <a:spcPts val="0"/>
              </a:spcAft>
              <a:buClr>
                <a:srgbClr val="993300"/>
              </a:buClr>
              <a:buSzPts val="1800"/>
              <a:buFont typeface="Noto Sans Symbols"/>
              <a:buChar char="■"/>
            </a:pPr>
            <a:r>
              <a:rPr lang="en-US" sz="2000">
                <a:latin typeface="Calibri"/>
                <a:ea typeface="Calibri"/>
                <a:cs typeface="Calibri"/>
                <a:sym typeface="Calibri"/>
              </a:rPr>
              <a:t>Process executes last statement and then asks the operating system to delete it using the </a:t>
            </a:r>
            <a:r>
              <a:rPr lang="en-US" sz="2000" b="1">
                <a:latin typeface="Calibri"/>
                <a:ea typeface="Calibri"/>
                <a:cs typeface="Calibri"/>
                <a:sym typeface="Calibri"/>
              </a:rPr>
              <a:t>exit() </a:t>
            </a:r>
            <a:r>
              <a:rPr lang="en-US" sz="2000">
                <a:latin typeface="Calibri"/>
                <a:ea typeface="Calibri"/>
                <a:cs typeface="Calibri"/>
                <a:sym typeface="Calibri"/>
              </a:rPr>
              <a:t>system call.</a:t>
            </a:r>
            <a:endParaRPr sz="2000">
              <a:latin typeface="Calibri"/>
              <a:ea typeface="Calibri"/>
              <a:cs typeface="Calibri"/>
              <a:sym typeface="Calibri"/>
            </a:endParaRPr>
          </a:p>
          <a:p>
            <a:pPr marL="756285" lvl="1" indent="-286385" algn="l" rtl="0">
              <a:lnSpc>
                <a:spcPct val="100000"/>
              </a:lnSpc>
              <a:spcBef>
                <a:spcPts val="844"/>
              </a:spcBef>
              <a:spcAft>
                <a:spcPts val="0"/>
              </a:spcAft>
              <a:buClr>
                <a:srgbClr val="CC6600"/>
              </a:buClr>
              <a:buSzPts val="1600"/>
              <a:buFont typeface="Noto Sans Symbols"/>
              <a:buChar char="●"/>
            </a:pPr>
            <a:r>
              <a:rPr lang="en-US" sz="2000">
                <a:latin typeface="Calibri"/>
                <a:ea typeface="Calibri"/>
                <a:cs typeface="Calibri"/>
                <a:sym typeface="Calibri"/>
              </a:rPr>
              <a:t>Returns status data from child to parent (via </a:t>
            </a:r>
            <a:r>
              <a:rPr lang="en-US" sz="2000" b="1">
                <a:latin typeface="Calibri"/>
                <a:ea typeface="Calibri"/>
                <a:cs typeface="Calibri"/>
                <a:sym typeface="Calibri"/>
              </a:rPr>
              <a:t>wait()</a:t>
            </a:r>
            <a:r>
              <a:rPr lang="en-US" sz="2000">
                <a:latin typeface="Calibri"/>
                <a:ea typeface="Calibri"/>
                <a:cs typeface="Calibri"/>
                <a:sym typeface="Calibri"/>
              </a:rPr>
              <a:t>)</a:t>
            </a:r>
            <a:endParaRPr sz="2000">
              <a:latin typeface="Calibri"/>
              <a:ea typeface="Calibri"/>
              <a:cs typeface="Calibri"/>
              <a:sym typeface="Calibri"/>
            </a:endParaRPr>
          </a:p>
          <a:p>
            <a:pPr marL="756285" lvl="1" indent="-286385" algn="l" rtl="0">
              <a:lnSpc>
                <a:spcPct val="100000"/>
              </a:lnSpc>
              <a:spcBef>
                <a:spcPts val="875"/>
              </a:spcBef>
              <a:spcAft>
                <a:spcPts val="0"/>
              </a:spcAft>
              <a:buClr>
                <a:srgbClr val="CC6600"/>
              </a:buClr>
              <a:buSzPts val="1600"/>
              <a:buFont typeface="Noto Sans Symbols"/>
              <a:buChar char="●"/>
            </a:pPr>
            <a:r>
              <a:rPr lang="en-US" sz="2000">
                <a:latin typeface="Calibri"/>
                <a:ea typeface="Calibri"/>
                <a:cs typeface="Calibri"/>
                <a:sym typeface="Calibri"/>
              </a:rPr>
              <a:t>Process</a:t>
            </a:r>
            <a:r>
              <a:rPr lang="en-US" sz="2000">
                <a:latin typeface="MS PGothic"/>
                <a:ea typeface="MS PGothic"/>
                <a:cs typeface="MS PGothic"/>
                <a:sym typeface="MS PGothic"/>
              </a:rPr>
              <a:t>’ </a:t>
            </a:r>
            <a:r>
              <a:rPr lang="en-US" sz="2000">
                <a:latin typeface="Calibri"/>
                <a:ea typeface="Calibri"/>
                <a:cs typeface="Calibri"/>
                <a:sym typeface="Calibri"/>
              </a:rPr>
              <a:t>resources are deallocated by operating system</a:t>
            </a:r>
            <a:endParaRPr sz="2000">
              <a:latin typeface="Calibri"/>
              <a:ea typeface="Calibri"/>
              <a:cs typeface="Calibri"/>
              <a:sym typeface="Calibri"/>
            </a:endParaRPr>
          </a:p>
        </p:txBody>
      </p:sp>
      <p:sp>
        <p:nvSpPr>
          <p:cNvPr id="286" name="Google Shape;286;p29"/>
          <p:cNvSpPr txBox="1">
            <a:spLocks noGrp="1"/>
          </p:cNvSpPr>
          <p:nvPr>
            <p:ph type="title"/>
          </p:nvPr>
        </p:nvSpPr>
        <p:spPr>
          <a:xfrm>
            <a:off x="1938020" y="31521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
        <p:nvSpPr>
          <p:cNvPr id="287" name="Google Shape;287;p29"/>
          <p:cNvSpPr txBox="1">
            <a:spLocks noGrp="1"/>
          </p:cNvSpPr>
          <p:nvPr>
            <p:ph type="dt" idx="10"/>
          </p:nvPr>
        </p:nvSpPr>
        <p:spPr>
          <a:xfrm>
            <a:off x="427038" y="6643688"/>
            <a:ext cx="8716962" cy="174625"/>
          </a:xfrm>
          <a:prstGeom prst="rect">
            <a:avLst/>
          </a:prstGeom>
          <a:noFill/>
          <a:ln>
            <a:noFill/>
          </a:ln>
        </p:spPr>
        <p:txBody>
          <a:bodyPr spcFirstLastPara="1" wrap="square" lIns="0" tIns="20300" rIns="0" bIns="0" anchor="t" anchorCtr="0">
            <a:spAutoFit/>
          </a:bodyPr>
          <a:lstStyle/>
          <a:p>
            <a:pPr marL="0" lvl="0" indent="0" algn="l" rtl="0">
              <a:lnSpc>
                <a:spcPct val="100000"/>
              </a:lnSpc>
              <a:spcBef>
                <a:spcPts val="0"/>
              </a:spcBef>
              <a:spcAft>
                <a:spcPts val="0"/>
              </a:spcAft>
              <a:buNone/>
            </a:pPr>
            <a:r>
              <a:rPr lang="en-US" sz="1500" baseline="30000"/>
              <a:t>1.1	Silberschatz, Galvin and Gagne ©2011</a:t>
            </a:r>
            <a:r>
              <a:rPr lang="en-US" sz="1000"/>
              <a:t>Operating System Concepts Essentials – 8</a:t>
            </a:r>
            <a:r>
              <a:rPr lang="en-US" sz="975" baseline="30000"/>
              <a:t>th </a:t>
            </a:r>
            <a:r>
              <a:rPr lang="en-US" sz="1000"/>
              <a:t>Edition</a:t>
            </a:r>
            <a:endParaRPr sz="1000"/>
          </a:p>
        </p:txBody>
      </p:sp>
      <p:sp>
        <p:nvSpPr>
          <p:cNvPr id="288" name="Google Shape;288;p29"/>
          <p:cNvSpPr txBox="1"/>
          <p:nvPr/>
        </p:nvSpPr>
        <p:spPr>
          <a:xfrm>
            <a:off x="885240" y="3213607"/>
            <a:ext cx="6631940" cy="1459230"/>
          </a:xfrm>
          <a:prstGeom prst="rect">
            <a:avLst/>
          </a:prstGeom>
          <a:noFill/>
          <a:ln>
            <a:noFill/>
          </a:ln>
        </p:spPr>
        <p:txBody>
          <a:bodyPr spcFirstLastPara="1" wrap="square" lIns="0" tIns="13325" rIns="0" bIns="0" anchor="t" anchorCtr="0">
            <a:spAutoFit/>
          </a:bodyPr>
          <a:lstStyle/>
          <a:p>
            <a:pPr marL="354965" lvl="0" indent="-342265" algn="l" rtl="0">
              <a:lnSpc>
                <a:spcPct val="100000"/>
              </a:lnSpc>
              <a:spcBef>
                <a:spcPts val="0"/>
              </a:spcBef>
              <a:spcAft>
                <a:spcPts val="0"/>
              </a:spcAft>
              <a:buClr>
                <a:srgbClr val="993300"/>
              </a:buClr>
              <a:buSzPts val="1800"/>
              <a:buFont typeface="Noto Sans Symbols"/>
              <a:buChar char="■"/>
            </a:pPr>
            <a:r>
              <a:rPr lang="en-US" sz="2000">
                <a:latin typeface="Calibri"/>
                <a:ea typeface="Calibri"/>
                <a:cs typeface="Calibri"/>
                <a:sym typeface="Calibri"/>
              </a:rPr>
              <a:t>Parent may terminate the execution of children processes</a:t>
            </a:r>
            <a:endParaRPr sz="2000">
              <a:latin typeface="Calibri"/>
              <a:ea typeface="Calibri"/>
              <a:cs typeface="Calibri"/>
              <a:sym typeface="Calibri"/>
            </a:endParaRPr>
          </a:p>
          <a:p>
            <a:pPr marL="355600" lvl="0" indent="0" algn="l" rtl="0">
              <a:lnSpc>
                <a:spcPct val="100000"/>
              </a:lnSpc>
              <a:spcBef>
                <a:spcPts val="0"/>
              </a:spcBef>
              <a:spcAft>
                <a:spcPts val="0"/>
              </a:spcAft>
              <a:buNone/>
            </a:pPr>
            <a:r>
              <a:rPr lang="en-US" sz="2000" b="1">
                <a:latin typeface="Calibri"/>
                <a:ea typeface="Calibri"/>
                <a:cs typeface="Calibri"/>
                <a:sym typeface="Calibri"/>
              </a:rPr>
              <a:t>abort() </a:t>
            </a:r>
            <a:r>
              <a:rPr lang="en-US" sz="2000">
                <a:latin typeface="Calibri"/>
                <a:ea typeface="Calibri"/>
                <a:cs typeface="Calibri"/>
                <a:sym typeface="Calibri"/>
              </a:rPr>
              <a:t>system call. Some reasons for doing so:</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Child has exceeded allocated resources</a:t>
            </a:r>
            <a:endParaRPr sz="2000">
              <a:latin typeface="Calibri"/>
              <a:ea typeface="Calibri"/>
              <a:cs typeface="Calibri"/>
              <a:sym typeface="Calibri"/>
            </a:endParaRPr>
          </a:p>
          <a:p>
            <a:pPr marL="756285" lvl="1" indent="-286385" algn="l"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Task assigned to child is no longer required</a:t>
            </a:r>
            <a:endParaRPr sz="2000">
              <a:latin typeface="Calibri"/>
              <a:ea typeface="Calibri"/>
              <a:cs typeface="Calibri"/>
              <a:sym typeface="Calibri"/>
            </a:endParaRPr>
          </a:p>
        </p:txBody>
      </p:sp>
      <p:sp>
        <p:nvSpPr>
          <p:cNvPr id="289" name="Google Shape;289;p29"/>
          <p:cNvSpPr txBox="1"/>
          <p:nvPr/>
        </p:nvSpPr>
        <p:spPr>
          <a:xfrm>
            <a:off x="7683500" y="3213607"/>
            <a:ext cx="1013460" cy="33083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000">
                <a:latin typeface="Calibri"/>
                <a:ea typeface="Calibri"/>
                <a:cs typeface="Calibri"/>
                <a:sym typeface="Calibri"/>
              </a:rPr>
              <a:t>using the</a:t>
            </a:r>
            <a:endParaRPr sz="2000">
              <a:latin typeface="Calibri"/>
              <a:ea typeface="Calibri"/>
              <a:cs typeface="Calibri"/>
              <a:sym typeface="Calibri"/>
            </a:endParaRPr>
          </a:p>
        </p:txBody>
      </p:sp>
      <p:sp>
        <p:nvSpPr>
          <p:cNvPr id="290" name="Google Shape;290;p29"/>
          <p:cNvSpPr txBox="1"/>
          <p:nvPr/>
        </p:nvSpPr>
        <p:spPr>
          <a:xfrm>
            <a:off x="1342771" y="4753102"/>
            <a:ext cx="7355205" cy="636270"/>
          </a:xfrm>
          <a:prstGeom prst="rect">
            <a:avLst/>
          </a:prstGeom>
          <a:noFill/>
          <a:ln>
            <a:noFill/>
          </a:ln>
        </p:spPr>
        <p:txBody>
          <a:bodyPr spcFirstLastPara="1" wrap="square" lIns="0" tIns="12700" rIns="0" bIns="0" anchor="t" anchorCtr="0">
            <a:spAutoFit/>
          </a:bodyPr>
          <a:lstStyle/>
          <a:p>
            <a:pPr marL="299085" lvl="0" indent="-286385" algn="l" rtl="0">
              <a:lnSpc>
                <a:spcPct val="100000"/>
              </a:lnSpc>
              <a:spcBef>
                <a:spcPts val="0"/>
              </a:spcBef>
              <a:spcAft>
                <a:spcPts val="0"/>
              </a:spcAft>
              <a:buClr>
                <a:srgbClr val="CC6600"/>
              </a:buClr>
              <a:buSzPts val="1600"/>
              <a:buFont typeface="Noto Sans Symbols"/>
              <a:buChar char="●"/>
            </a:pPr>
            <a:r>
              <a:rPr lang="en-US" sz="2000">
                <a:latin typeface="Calibri"/>
                <a:ea typeface="Calibri"/>
                <a:cs typeface="Calibri"/>
                <a:sym typeface="Calibri"/>
              </a:rPr>
              <a:t>The parent is exiting and the operating systems does not allow	a</a:t>
            </a:r>
            <a:endParaRPr sz="2000">
              <a:latin typeface="Calibri"/>
              <a:ea typeface="Calibri"/>
              <a:cs typeface="Calibri"/>
              <a:sym typeface="Calibri"/>
            </a:endParaRPr>
          </a:p>
          <a:p>
            <a:pPr marL="299085" lvl="0" indent="0" algn="l" rtl="0">
              <a:lnSpc>
                <a:spcPct val="100000"/>
              </a:lnSpc>
              <a:spcBef>
                <a:spcPts val="0"/>
              </a:spcBef>
              <a:spcAft>
                <a:spcPts val="0"/>
              </a:spcAft>
              <a:buNone/>
            </a:pPr>
            <a:r>
              <a:rPr lang="en-US" sz="2000">
                <a:latin typeface="Calibri"/>
                <a:ea typeface="Calibri"/>
                <a:cs typeface="Calibri"/>
                <a:sym typeface="Calibri"/>
              </a:rPr>
              <a:t>child to continue if its parent terminates</a:t>
            </a:r>
            <a:endParaRPr sz="20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0"/>
          <p:cNvSpPr txBox="1"/>
          <p:nvPr/>
        </p:nvSpPr>
        <p:spPr>
          <a:xfrm>
            <a:off x="910844" y="1471040"/>
            <a:ext cx="7801609" cy="4324985"/>
          </a:xfrm>
          <a:prstGeom prst="rect">
            <a:avLst/>
          </a:prstGeom>
          <a:noFill/>
          <a:ln>
            <a:noFill/>
          </a:ln>
        </p:spPr>
        <p:txBody>
          <a:bodyPr spcFirstLastPara="1" wrap="square" lIns="0" tIns="13325" rIns="0" bIns="0" anchor="t" anchorCtr="0">
            <a:spAutoFit/>
          </a:bodyPr>
          <a:lstStyle/>
          <a:p>
            <a:pPr marL="355600" marR="5080" lvl="0" indent="-342900" algn="just" rtl="0">
              <a:lnSpc>
                <a:spcPct val="100000"/>
              </a:lnSpc>
              <a:spcBef>
                <a:spcPts val="0"/>
              </a:spcBef>
              <a:spcAft>
                <a:spcPts val="0"/>
              </a:spcAft>
              <a:buClr>
                <a:srgbClr val="993300"/>
              </a:buClr>
              <a:buSzPts val="1800"/>
              <a:buFont typeface="Noto Sans Symbols"/>
              <a:buChar char="■"/>
            </a:pPr>
            <a:r>
              <a:rPr lang="en-US" sz="2000">
                <a:latin typeface="Calibri"/>
                <a:ea typeface="Calibri"/>
                <a:cs typeface="Calibri"/>
                <a:sym typeface="Calibri"/>
              </a:rPr>
              <a:t>Some operating systems do not allow child to exists if its parent has terminated.  If a process terminates, then all its children must also be terminated.</a:t>
            </a:r>
            <a:endParaRPr sz="2000">
              <a:latin typeface="Calibri"/>
              <a:ea typeface="Calibri"/>
              <a:cs typeface="Calibri"/>
              <a:sym typeface="Calibri"/>
            </a:endParaRPr>
          </a:p>
          <a:p>
            <a:pPr marL="755015" marR="6350" lvl="1" indent="-285750" algn="just" rtl="0">
              <a:lnSpc>
                <a:spcPct val="100000"/>
              </a:lnSpc>
              <a:spcBef>
                <a:spcPts val="840"/>
              </a:spcBef>
              <a:spcAft>
                <a:spcPts val="0"/>
              </a:spcAft>
              <a:buClr>
                <a:srgbClr val="CC6600"/>
              </a:buClr>
              <a:buSzPts val="1600"/>
              <a:buFont typeface="Noto Sans Symbols"/>
              <a:buChar char="●"/>
            </a:pPr>
            <a:r>
              <a:rPr lang="en-US" sz="2000" b="1">
                <a:latin typeface="Calibri"/>
                <a:ea typeface="Calibri"/>
                <a:cs typeface="Calibri"/>
                <a:sym typeface="Calibri"/>
              </a:rPr>
              <a:t>cascading  termination.   </a:t>
            </a:r>
            <a:r>
              <a:rPr lang="en-US" sz="2000">
                <a:latin typeface="Calibri"/>
                <a:ea typeface="Calibri"/>
                <a:cs typeface="Calibri"/>
                <a:sym typeface="Calibri"/>
              </a:rPr>
              <a:t>All  children,  grandchildren,  etc.   are 	terminated.</a:t>
            </a:r>
            <a:endParaRPr sz="2000">
              <a:latin typeface="Calibri"/>
              <a:ea typeface="Calibri"/>
              <a:cs typeface="Calibri"/>
              <a:sym typeface="Calibri"/>
            </a:endParaRPr>
          </a:p>
          <a:p>
            <a:pPr marL="755650" lvl="1" indent="-285750" algn="just" rtl="0">
              <a:lnSpc>
                <a:spcPct val="100000"/>
              </a:lnSpc>
              <a:spcBef>
                <a:spcPts val="840"/>
              </a:spcBef>
              <a:spcAft>
                <a:spcPts val="0"/>
              </a:spcAft>
              <a:buClr>
                <a:srgbClr val="CC6600"/>
              </a:buClr>
              <a:buSzPts val="1600"/>
              <a:buFont typeface="Noto Sans Symbols"/>
              <a:buChar char="●"/>
            </a:pPr>
            <a:r>
              <a:rPr lang="en-US" sz="2000">
                <a:latin typeface="Calibri"/>
                <a:ea typeface="Calibri"/>
                <a:cs typeface="Calibri"/>
                <a:sym typeface="Calibri"/>
              </a:rPr>
              <a:t>The termination is initiated by the operating system.</a:t>
            </a:r>
            <a:endParaRPr sz="2000">
              <a:latin typeface="Calibri"/>
              <a:ea typeface="Calibri"/>
              <a:cs typeface="Calibri"/>
              <a:sym typeface="Calibri"/>
            </a:endParaRPr>
          </a:p>
          <a:p>
            <a:pPr marL="355600" marR="5715" lvl="0" indent="-342900" algn="just" rtl="0">
              <a:lnSpc>
                <a:spcPct val="100000"/>
              </a:lnSpc>
              <a:spcBef>
                <a:spcPts val="845"/>
              </a:spcBef>
              <a:spcAft>
                <a:spcPts val="0"/>
              </a:spcAft>
              <a:buClr>
                <a:srgbClr val="993300"/>
              </a:buClr>
              <a:buSzPts val="1800"/>
              <a:buFont typeface="Noto Sans Symbols"/>
              <a:buChar char="■"/>
            </a:pPr>
            <a:r>
              <a:rPr lang="en-US" sz="2000">
                <a:latin typeface="Calibri"/>
                <a:ea typeface="Calibri"/>
                <a:cs typeface="Calibri"/>
                <a:sym typeface="Calibri"/>
              </a:rPr>
              <a:t>The parent process may wait for termination of a child process by using the </a:t>
            </a:r>
            <a:r>
              <a:rPr lang="en-US" sz="2000" b="1">
                <a:latin typeface="Calibri"/>
                <a:ea typeface="Calibri"/>
                <a:cs typeface="Calibri"/>
                <a:sym typeface="Calibri"/>
              </a:rPr>
              <a:t>wait()</a:t>
            </a:r>
            <a:r>
              <a:rPr lang="en-US" sz="2000">
                <a:latin typeface="Calibri"/>
                <a:ea typeface="Calibri"/>
                <a:cs typeface="Calibri"/>
                <a:sym typeface="Calibri"/>
              </a:rPr>
              <a:t>system call</a:t>
            </a:r>
            <a:r>
              <a:rPr lang="en-US" sz="2000" b="1">
                <a:latin typeface="Calibri"/>
                <a:ea typeface="Calibri"/>
                <a:cs typeface="Calibri"/>
                <a:sym typeface="Calibri"/>
              </a:rPr>
              <a:t>. </a:t>
            </a:r>
            <a:r>
              <a:rPr lang="en-US" sz="2000">
                <a:latin typeface="Calibri"/>
                <a:ea typeface="Calibri"/>
                <a:cs typeface="Calibri"/>
                <a:sym typeface="Calibri"/>
              </a:rPr>
              <a:t>The call returns status information and the pid of the terminated process</a:t>
            </a:r>
            <a:endParaRPr sz="2000">
              <a:latin typeface="Calibri"/>
              <a:ea typeface="Calibri"/>
              <a:cs typeface="Calibri"/>
              <a:sym typeface="Calibri"/>
            </a:endParaRPr>
          </a:p>
          <a:p>
            <a:pPr marL="353695" lvl="0" indent="0" algn="just" rtl="0">
              <a:lnSpc>
                <a:spcPct val="100000"/>
              </a:lnSpc>
              <a:spcBef>
                <a:spcPts val="840"/>
              </a:spcBef>
              <a:spcAft>
                <a:spcPts val="0"/>
              </a:spcAft>
              <a:buNone/>
            </a:pPr>
            <a:r>
              <a:rPr lang="en-US" sz="2000" b="1">
                <a:latin typeface="Calibri"/>
                <a:ea typeface="Calibri"/>
                <a:cs typeface="Calibri"/>
                <a:sym typeface="Calibri"/>
              </a:rPr>
              <a:t>pid = wait(&amp;status);</a:t>
            </a:r>
            <a:endParaRPr sz="2000">
              <a:latin typeface="Calibri"/>
              <a:ea typeface="Calibri"/>
              <a:cs typeface="Calibri"/>
              <a:sym typeface="Calibri"/>
            </a:endParaRPr>
          </a:p>
          <a:p>
            <a:pPr marL="354965" lvl="0" indent="-342265" algn="just"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If no parent waiting (did not invoke </a:t>
            </a:r>
            <a:r>
              <a:rPr lang="en-US" sz="2000" b="1">
                <a:latin typeface="Calibri"/>
                <a:ea typeface="Calibri"/>
                <a:cs typeface="Calibri"/>
                <a:sym typeface="Calibri"/>
              </a:rPr>
              <a:t>wait()</a:t>
            </a:r>
            <a:r>
              <a:rPr lang="en-US" sz="2000">
                <a:latin typeface="Calibri"/>
                <a:ea typeface="Calibri"/>
                <a:cs typeface="Calibri"/>
                <a:sym typeface="Calibri"/>
              </a:rPr>
              <a:t>) process is a </a:t>
            </a:r>
            <a:r>
              <a:rPr lang="en-US" sz="2000" b="1">
                <a:solidFill>
                  <a:srgbClr val="3366FF"/>
                </a:solidFill>
                <a:latin typeface="Calibri"/>
                <a:ea typeface="Calibri"/>
                <a:cs typeface="Calibri"/>
                <a:sym typeface="Calibri"/>
              </a:rPr>
              <a:t>zombie</a:t>
            </a:r>
            <a:endParaRPr sz="2000">
              <a:latin typeface="Calibri"/>
              <a:ea typeface="Calibri"/>
              <a:cs typeface="Calibri"/>
              <a:sym typeface="Calibri"/>
            </a:endParaRPr>
          </a:p>
          <a:p>
            <a:pPr marL="354965" lvl="0" indent="-342265" algn="just" rtl="0">
              <a:lnSpc>
                <a:spcPct val="100000"/>
              </a:lnSpc>
              <a:spcBef>
                <a:spcPts val="840"/>
              </a:spcBef>
              <a:spcAft>
                <a:spcPts val="0"/>
              </a:spcAft>
              <a:buClr>
                <a:srgbClr val="993300"/>
              </a:buClr>
              <a:buSzPts val="1800"/>
              <a:buFont typeface="Noto Sans Symbols"/>
              <a:buChar char="■"/>
            </a:pPr>
            <a:r>
              <a:rPr lang="en-US" sz="2000">
                <a:latin typeface="Calibri"/>
                <a:ea typeface="Calibri"/>
                <a:cs typeface="Calibri"/>
                <a:sym typeface="Calibri"/>
              </a:rPr>
              <a:t>If parent terminated without invoking </a:t>
            </a:r>
            <a:r>
              <a:rPr lang="en-US" sz="2000" b="1">
                <a:latin typeface="Calibri"/>
                <a:ea typeface="Calibri"/>
                <a:cs typeface="Calibri"/>
                <a:sym typeface="Calibri"/>
              </a:rPr>
              <a:t>wait </a:t>
            </a:r>
            <a:r>
              <a:rPr lang="en-US" sz="2000">
                <a:latin typeface="Calibri"/>
                <a:ea typeface="Calibri"/>
                <a:cs typeface="Calibri"/>
                <a:sym typeface="Calibri"/>
              </a:rPr>
              <a:t>, process is an </a:t>
            </a:r>
            <a:r>
              <a:rPr lang="en-US" sz="2000" b="1">
                <a:solidFill>
                  <a:srgbClr val="3366FF"/>
                </a:solidFill>
                <a:latin typeface="Calibri"/>
                <a:ea typeface="Calibri"/>
                <a:cs typeface="Calibri"/>
                <a:sym typeface="Calibri"/>
              </a:rPr>
              <a:t>orphan</a:t>
            </a:r>
            <a:endParaRPr sz="2000">
              <a:latin typeface="Calibri"/>
              <a:ea typeface="Calibri"/>
              <a:cs typeface="Calibri"/>
              <a:sym typeface="Calibri"/>
            </a:endParaRPr>
          </a:p>
        </p:txBody>
      </p:sp>
      <p:sp>
        <p:nvSpPr>
          <p:cNvPr id="297" name="Google Shape;297;p30"/>
          <p:cNvSpPr txBox="1">
            <a:spLocks noGrp="1"/>
          </p:cNvSpPr>
          <p:nvPr>
            <p:ph type="title"/>
          </p:nvPr>
        </p:nvSpPr>
        <p:spPr>
          <a:xfrm>
            <a:off x="1938020" y="288163"/>
            <a:ext cx="1446530" cy="51371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100"/>
              </a:spcBef>
              <a:spcAft>
                <a:spcPts val="0"/>
              </a:spcAft>
              <a:buSzPts val="1800"/>
              <a:buNone/>
            </a:pPr>
            <a:r>
              <a:rPr lang="en-US" sz="3200" u="none">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1"/>
          <p:cNvSpPr txBox="1">
            <a:spLocks noGrp="1"/>
          </p:cNvSpPr>
          <p:nvPr>
            <p:ph type="title"/>
          </p:nvPr>
        </p:nvSpPr>
        <p:spPr>
          <a:xfrm>
            <a:off x="-533400" y="0"/>
            <a:ext cx="7010400" cy="723993"/>
          </a:xfrm>
          <a:prstGeom prst="rect">
            <a:avLst/>
          </a:prstGeom>
          <a:noFill/>
          <a:ln>
            <a:noFill/>
          </a:ln>
        </p:spPr>
        <p:txBody>
          <a:bodyPr spcFirstLastPara="1" wrap="square" lIns="0" tIns="216600" rIns="0" bIns="0" anchor="ctr" anchorCtr="0">
            <a:spAutoFit/>
          </a:bodyPr>
          <a:lstStyle/>
          <a:p>
            <a:pPr marL="725805" lvl="0" indent="0" algn="l" rtl="0">
              <a:lnSpc>
                <a:spcPct val="100000"/>
              </a:lnSpc>
              <a:spcBef>
                <a:spcPts val="105"/>
              </a:spcBef>
              <a:spcAft>
                <a:spcPts val="0"/>
              </a:spcAft>
              <a:buSzPts val="1800"/>
              <a:buNone/>
            </a:pPr>
            <a:r>
              <a:rPr lang="en-US" sz="3200" b="1" u="none">
                <a:solidFill>
                  <a:schemeClr val="dk1"/>
                </a:solidFill>
                <a:latin typeface="Arial"/>
                <a:ea typeface="Arial"/>
                <a:cs typeface="Arial"/>
                <a:sym typeface="Arial"/>
              </a:rPr>
              <a:t>Interprocess Communication</a:t>
            </a:r>
            <a:endParaRPr sz="3200" b="1">
              <a:solidFill>
                <a:schemeClr val="dk1"/>
              </a:solidFill>
              <a:latin typeface="Arial"/>
              <a:ea typeface="Arial"/>
              <a:cs typeface="Arial"/>
              <a:sym typeface="Arial"/>
            </a:endParaRPr>
          </a:p>
        </p:txBody>
      </p:sp>
      <p:sp>
        <p:nvSpPr>
          <p:cNvPr id="303" name="Google Shape;303;p31"/>
          <p:cNvSpPr txBox="1"/>
          <p:nvPr/>
        </p:nvSpPr>
        <p:spPr>
          <a:xfrm>
            <a:off x="686816" y="1002283"/>
            <a:ext cx="8102600" cy="124587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000" b="1">
                <a:latin typeface="Calibri"/>
                <a:ea typeface="Calibri"/>
                <a:cs typeface="Calibri"/>
                <a:sym typeface="Calibri"/>
              </a:rPr>
              <a:t>Inter process communication (IPC) </a:t>
            </a:r>
            <a:r>
              <a:rPr lang="en-US" sz="2000">
                <a:latin typeface="Calibri"/>
                <a:ea typeface="Calibri"/>
                <a:cs typeface="Calibri"/>
                <a:sym typeface="Calibri"/>
              </a:rPr>
              <a:t>is a mechanism which allows processes to</a:t>
            </a:r>
            <a:endParaRPr sz="2000">
              <a:latin typeface="Calibri"/>
              <a:ea typeface="Calibri"/>
              <a:cs typeface="Calibri"/>
              <a:sym typeface="Calibri"/>
            </a:endParaRPr>
          </a:p>
          <a:p>
            <a:pPr marL="12700" lvl="0" indent="0" algn="l" rtl="0">
              <a:lnSpc>
                <a:spcPct val="100000"/>
              </a:lnSpc>
              <a:spcBef>
                <a:spcPts val="0"/>
              </a:spcBef>
              <a:spcAft>
                <a:spcPts val="0"/>
              </a:spcAft>
              <a:buNone/>
            </a:pPr>
            <a:r>
              <a:rPr lang="en-US" sz="2000">
                <a:latin typeface="Calibri"/>
                <a:ea typeface="Calibri"/>
                <a:cs typeface="Calibri"/>
                <a:sym typeface="Calibri"/>
              </a:rPr>
              <a:t>communicate with each other and synchronize their actions.</a:t>
            </a:r>
            <a:endParaRPr sz="2000">
              <a:latin typeface="Calibri"/>
              <a:ea typeface="Calibri"/>
              <a:cs typeface="Calibri"/>
              <a:sym typeface="Calibri"/>
            </a:endParaRPr>
          </a:p>
          <a:p>
            <a:pPr marL="12700" lvl="0" indent="0" algn="l" rtl="0">
              <a:lnSpc>
                <a:spcPct val="100000"/>
              </a:lnSpc>
              <a:spcBef>
                <a:spcPts val="0"/>
              </a:spcBef>
              <a:spcAft>
                <a:spcPts val="0"/>
              </a:spcAft>
              <a:buNone/>
            </a:pPr>
            <a:r>
              <a:rPr lang="en-US" sz="2000">
                <a:latin typeface="Calibri"/>
                <a:ea typeface="Calibri"/>
                <a:cs typeface="Calibri"/>
                <a:sym typeface="Calibri"/>
              </a:rPr>
              <a:t>Processes within a system may be:</a:t>
            </a:r>
            <a:endParaRPr sz="2000">
              <a:latin typeface="Calibri"/>
              <a:ea typeface="Calibri"/>
              <a:cs typeface="Calibri"/>
              <a:sym typeface="Calibri"/>
            </a:endParaRPr>
          </a:p>
          <a:p>
            <a:pPr marL="12700" lvl="0" indent="0" algn="l" rtl="0">
              <a:lnSpc>
                <a:spcPct val="100000"/>
              </a:lnSpc>
              <a:spcBef>
                <a:spcPts val="0"/>
              </a:spcBef>
              <a:spcAft>
                <a:spcPts val="0"/>
              </a:spcAft>
              <a:buNone/>
            </a:pPr>
            <a:r>
              <a:rPr lang="en-US" sz="2000" b="1">
                <a:latin typeface="Calibri"/>
                <a:ea typeface="Calibri"/>
                <a:cs typeface="Calibri"/>
                <a:sym typeface="Calibri"/>
              </a:rPr>
              <a:t>1.	Independent Process	2. Co-operating Process</a:t>
            </a:r>
            <a:endParaRPr sz="2000">
              <a:latin typeface="Calibri"/>
              <a:ea typeface="Calibri"/>
              <a:cs typeface="Calibri"/>
              <a:sym typeface="Calibri"/>
            </a:endParaRPr>
          </a:p>
        </p:txBody>
      </p:sp>
      <p:sp>
        <p:nvSpPr>
          <p:cNvPr id="304" name="Google Shape;304;p31"/>
          <p:cNvSpPr txBox="1"/>
          <p:nvPr/>
        </p:nvSpPr>
        <p:spPr>
          <a:xfrm>
            <a:off x="686816" y="4355972"/>
            <a:ext cx="3654425" cy="155067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Calibri"/>
                <a:ea typeface="Calibri"/>
                <a:cs typeface="Calibri"/>
                <a:sym typeface="Calibri"/>
              </a:rPr>
              <a:t>Reasons for cooperating processes:</a:t>
            </a:r>
            <a:endParaRPr sz="2000">
              <a:latin typeface="Calibri"/>
              <a:ea typeface="Calibri"/>
              <a:cs typeface="Calibri"/>
              <a:sym typeface="Calibri"/>
            </a:endParaRPr>
          </a:p>
          <a:p>
            <a:pPr marL="668655" lvl="0" indent="-201295" algn="l" rtl="0">
              <a:lnSpc>
                <a:spcPct val="100000"/>
              </a:lnSpc>
              <a:spcBef>
                <a:spcPts val="0"/>
              </a:spcBef>
              <a:spcAft>
                <a:spcPts val="0"/>
              </a:spcAft>
              <a:buSzPts val="1900"/>
              <a:buFont typeface="Noto Sans Symbols"/>
              <a:buChar char="✔"/>
            </a:pPr>
            <a:r>
              <a:rPr lang="en-US" sz="2000">
                <a:latin typeface="Calibri"/>
                <a:ea typeface="Calibri"/>
                <a:cs typeface="Calibri"/>
                <a:sym typeface="Calibri"/>
              </a:rPr>
              <a:t>Information sharing</a:t>
            </a:r>
            <a:endParaRPr sz="2000">
              <a:latin typeface="Calibri"/>
              <a:ea typeface="Calibri"/>
              <a:cs typeface="Calibri"/>
              <a:sym typeface="Calibri"/>
            </a:endParaRPr>
          </a:p>
          <a:p>
            <a:pPr marL="668655" lvl="0" indent="-201295" algn="l" rtl="0">
              <a:lnSpc>
                <a:spcPct val="100000"/>
              </a:lnSpc>
              <a:spcBef>
                <a:spcPts val="0"/>
              </a:spcBef>
              <a:spcAft>
                <a:spcPts val="0"/>
              </a:spcAft>
              <a:buSzPts val="1900"/>
              <a:buFont typeface="Noto Sans Symbols"/>
              <a:buChar char="✔"/>
            </a:pPr>
            <a:r>
              <a:rPr lang="en-US" sz="2000">
                <a:latin typeface="Calibri"/>
                <a:ea typeface="Calibri"/>
                <a:cs typeface="Calibri"/>
                <a:sym typeface="Calibri"/>
              </a:rPr>
              <a:t>Computation speedup</a:t>
            </a:r>
            <a:endParaRPr sz="2000">
              <a:latin typeface="Calibri"/>
              <a:ea typeface="Calibri"/>
              <a:cs typeface="Calibri"/>
              <a:sym typeface="Calibri"/>
            </a:endParaRPr>
          </a:p>
          <a:p>
            <a:pPr marL="669290" lvl="0" indent="-201930" algn="l" rtl="0">
              <a:lnSpc>
                <a:spcPct val="100000"/>
              </a:lnSpc>
              <a:spcBef>
                <a:spcPts val="0"/>
              </a:spcBef>
              <a:spcAft>
                <a:spcPts val="0"/>
              </a:spcAft>
              <a:buSzPts val="1900"/>
              <a:buFont typeface="Noto Sans Symbols"/>
              <a:buChar char="✔"/>
            </a:pPr>
            <a:r>
              <a:rPr lang="en-US" sz="2000">
                <a:latin typeface="Calibri"/>
                <a:ea typeface="Calibri"/>
                <a:cs typeface="Calibri"/>
                <a:sym typeface="Calibri"/>
              </a:rPr>
              <a:t>Modularity</a:t>
            </a:r>
            <a:endParaRPr sz="2000">
              <a:latin typeface="Calibri"/>
              <a:ea typeface="Calibri"/>
              <a:cs typeface="Calibri"/>
              <a:sym typeface="Calibri"/>
            </a:endParaRPr>
          </a:p>
          <a:p>
            <a:pPr marL="668655" lvl="0" indent="-201295" algn="l" rtl="0">
              <a:lnSpc>
                <a:spcPct val="100000"/>
              </a:lnSpc>
              <a:spcBef>
                <a:spcPts val="5"/>
              </a:spcBef>
              <a:spcAft>
                <a:spcPts val="0"/>
              </a:spcAft>
              <a:buSzPts val="1900"/>
              <a:buFont typeface="Noto Sans Symbols"/>
              <a:buChar char="✔"/>
            </a:pPr>
            <a:r>
              <a:rPr lang="en-US" sz="2000">
                <a:latin typeface="Calibri"/>
                <a:ea typeface="Calibri"/>
                <a:cs typeface="Calibri"/>
                <a:sym typeface="Calibri"/>
              </a:rPr>
              <a:t>Convenience</a:t>
            </a:r>
            <a:endParaRPr sz="2000">
              <a:latin typeface="Calibri"/>
              <a:ea typeface="Calibri"/>
              <a:cs typeface="Calibri"/>
              <a:sym typeface="Calibri"/>
            </a:endParaRPr>
          </a:p>
        </p:txBody>
      </p:sp>
      <p:graphicFrame>
        <p:nvGraphicFramePr>
          <p:cNvPr id="305" name="Google Shape;305;p31"/>
          <p:cNvGraphicFramePr/>
          <p:nvPr/>
        </p:nvGraphicFramePr>
        <p:xfrm>
          <a:off x="703262" y="2362200"/>
          <a:ext cx="7834650" cy="1924675"/>
        </p:xfrm>
        <a:graphic>
          <a:graphicData uri="http://schemas.openxmlformats.org/drawingml/2006/table">
            <a:tbl>
              <a:tblPr firstRow="1" bandRow="1">
                <a:noFill/>
                <a:tableStyleId>{75A88DC0-2467-4804-8F34-E6EC153716AA}</a:tableStyleId>
              </a:tblPr>
              <a:tblGrid>
                <a:gridCol w="3917325">
                  <a:extLst>
                    <a:ext uri="{9D8B030D-6E8A-4147-A177-3AD203B41FA5}">
                      <a16:colId xmlns:a16="http://schemas.microsoft.com/office/drawing/2014/main" val="20000"/>
                    </a:ext>
                  </a:extLst>
                </a:gridCol>
                <a:gridCol w="3917325">
                  <a:extLst>
                    <a:ext uri="{9D8B030D-6E8A-4147-A177-3AD203B41FA5}">
                      <a16:colId xmlns:a16="http://schemas.microsoft.com/office/drawing/2014/main" val="20001"/>
                    </a:ext>
                  </a:extLst>
                </a:gridCol>
              </a:tblGrid>
              <a:tr h="370200">
                <a:tc>
                  <a:txBody>
                    <a:bodyPr/>
                    <a:lstStyle/>
                    <a:p>
                      <a:pPr marL="966469"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Independent Process</a:t>
                      </a:r>
                      <a:endParaRPr sz="1800" u="none" strike="noStrike" cap="none">
                        <a:latin typeface="Calibri"/>
                        <a:ea typeface="Calibri"/>
                        <a:cs typeface="Calibri"/>
                        <a:sym typeface="Calibri"/>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9CC00"/>
                    </a:solidFill>
                  </a:tcPr>
                </a:tc>
                <a:tc>
                  <a:txBody>
                    <a:bodyPr/>
                    <a:lstStyle/>
                    <a:p>
                      <a:pPr marL="962660"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Co-operating Process</a:t>
                      </a:r>
                      <a:endParaRPr sz="1800" u="none" strike="noStrike" cap="none">
                        <a:latin typeface="Calibri"/>
                        <a:ea typeface="Calibri"/>
                        <a:cs typeface="Calibri"/>
                        <a:sym typeface="Calibri"/>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9CC00"/>
                    </a:solidFill>
                  </a:tcPr>
                </a:tc>
                <a:extLst>
                  <a:ext uri="{0D108BD9-81ED-4DB2-BD59-A6C34878D82A}">
                    <a16:rowId xmlns:a16="http://schemas.microsoft.com/office/drawing/2014/main" val="10000"/>
                  </a:ext>
                </a:extLst>
              </a:tr>
              <a:tr h="914400">
                <a:tc>
                  <a:txBody>
                    <a:bodyPr/>
                    <a:lstStyle/>
                    <a:p>
                      <a:pPr marL="91440" marR="84455" lvl="0" indent="0" algn="just" rtl="0">
                        <a:lnSpc>
                          <a:spcPct val="100600"/>
                        </a:lnSpc>
                        <a:spcBef>
                          <a:spcPts val="0"/>
                        </a:spcBef>
                        <a:spcAft>
                          <a:spcPts val="0"/>
                        </a:spcAft>
                        <a:buNone/>
                      </a:pPr>
                      <a:r>
                        <a:rPr lang="en-US" sz="1800" u="none" strike="noStrike" cap="none">
                          <a:latin typeface="Calibri"/>
                          <a:ea typeface="Calibri"/>
                          <a:cs typeface="Calibri"/>
                          <a:sym typeface="Calibri"/>
                        </a:rPr>
                        <a:t>1. A process is </a:t>
                      </a:r>
                      <a:r>
                        <a:rPr lang="en-US" sz="1800" b="1" u="none" strike="noStrike" cap="none">
                          <a:latin typeface="Calibri"/>
                          <a:ea typeface="Calibri"/>
                          <a:cs typeface="Calibri"/>
                          <a:sym typeface="Calibri"/>
                        </a:rPr>
                        <a:t>independent </a:t>
                      </a:r>
                      <a:r>
                        <a:rPr lang="en-US" sz="1800" u="none" strike="noStrike" cap="none">
                          <a:latin typeface="Calibri"/>
                          <a:ea typeface="Calibri"/>
                          <a:cs typeface="Calibri"/>
                          <a:sym typeface="Calibri"/>
                        </a:rPr>
                        <a:t>if it cannot affect  or  be  affected  by  the other processes executing in the system</a:t>
                      </a:r>
                      <a:endParaRPr sz="1800" u="none" strike="noStrike" cap="none">
                        <a:latin typeface="Calibri"/>
                        <a:ea typeface="Calibri"/>
                        <a:cs typeface="Calibri"/>
                        <a:sym typeface="Calibri"/>
                      </a:endParaRPr>
                    </a:p>
                  </a:txBody>
                  <a:tcPr marL="0" marR="0" marT="292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EEBCA"/>
                    </a:solidFill>
                  </a:tcPr>
                </a:tc>
                <a:tc>
                  <a:txBody>
                    <a:bodyPr/>
                    <a:lstStyle/>
                    <a:p>
                      <a:pPr marL="92075" marR="83820" lvl="0" indent="0" algn="just" rtl="0">
                        <a:lnSpc>
                          <a:spcPct val="100000"/>
                        </a:lnSpc>
                        <a:spcBef>
                          <a:spcPts val="0"/>
                        </a:spcBef>
                        <a:spcAft>
                          <a:spcPts val="0"/>
                        </a:spcAft>
                        <a:buNone/>
                      </a:pPr>
                      <a:r>
                        <a:rPr lang="en-US" sz="1800" u="none" strike="noStrike" cap="none">
                          <a:latin typeface="Calibri"/>
                          <a:ea typeface="Calibri"/>
                          <a:cs typeface="Calibri"/>
                          <a:sym typeface="Calibri"/>
                        </a:rPr>
                        <a:t>1. A process is </a:t>
                      </a:r>
                      <a:r>
                        <a:rPr lang="en-US" sz="1800" b="1" u="none" strike="noStrike" cap="none">
                          <a:latin typeface="Calibri"/>
                          <a:ea typeface="Calibri"/>
                          <a:cs typeface="Calibri"/>
                          <a:sym typeface="Calibri"/>
                        </a:rPr>
                        <a:t>co-operating </a:t>
                      </a:r>
                      <a:r>
                        <a:rPr lang="en-US" sz="1800" u="none" strike="noStrike" cap="none">
                          <a:latin typeface="Calibri"/>
                          <a:ea typeface="Calibri"/>
                          <a:cs typeface="Calibri"/>
                          <a:sym typeface="Calibri"/>
                        </a:rPr>
                        <a:t>if it can affect  or  be  affected  by  the other processes executing in the system.</a:t>
                      </a:r>
                      <a:endParaRPr sz="18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EEBCA"/>
                    </a:solidFill>
                  </a:tcPr>
                </a:tc>
                <a:extLst>
                  <a:ext uri="{0D108BD9-81ED-4DB2-BD59-A6C34878D82A}">
                    <a16:rowId xmlns:a16="http://schemas.microsoft.com/office/drawing/2014/main" val="10001"/>
                  </a:ext>
                </a:extLst>
              </a:tr>
              <a:tr h="640075">
                <a:tc>
                  <a:txBody>
                    <a:bodyPr/>
                    <a:lstStyle/>
                    <a:p>
                      <a:pPr marL="91440" marR="83820" lvl="0" indent="0" algn="l" rtl="0">
                        <a:lnSpc>
                          <a:spcPct val="100000"/>
                        </a:lnSpc>
                        <a:spcBef>
                          <a:spcPts val="0"/>
                        </a:spcBef>
                        <a:spcAft>
                          <a:spcPts val="0"/>
                        </a:spcAft>
                        <a:buNone/>
                      </a:pPr>
                      <a:r>
                        <a:rPr lang="en-US" sz="1800" u="none" strike="noStrike" cap="none">
                          <a:latin typeface="Calibri"/>
                          <a:ea typeface="Calibri"/>
                          <a:cs typeface="Calibri"/>
                          <a:sym typeface="Calibri"/>
                        </a:rPr>
                        <a:t>2. Any process that does not share data with any other process is IP</a:t>
                      </a:r>
                      <a:endParaRPr sz="18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6E7"/>
                    </a:solidFill>
                  </a:tcPr>
                </a:tc>
                <a:tc>
                  <a:txBody>
                    <a:bodyPr/>
                    <a:lstStyle/>
                    <a:p>
                      <a:pPr marL="92075" marR="82550" lvl="0" indent="0" algn="l" rtl="0">
                        <a:lnSpc>
                          <a:spcPct val="100000"/>
                        </a:lnSpc>
                        <a:spcBef>
                          <a:spcPts val="0"/>
                        </a:spcBef>
                        <a:spcAft>
                          <a:spcPts val="0"/>
                        </a:spcAft>
                        <a:buNone/>
                      </a:pPr>
                      <a:r>
                        <a:rPr lang="en-US" sz="1800" u="none" strike="noStrike" cap="none">
                          <a:latin typeface="Calibri"/>
                          <a:ea typeface="Calibri"/>
                          <a:cs typeface="Calibri"/>
                          <a:sym typeface="Calibri"/>
                        </a:rPr>
                        <a:t>2. Any process that share data with any other process is CP</a:t>
                      </a:r>
                      <a:endParaRPr sz="1800" u="none" strike="noStrike" cap="none">
                        <a:latin typeface="Calibri"/>
                        <a:ea typeface="Calibri"/>
                        <a:cs typeface="Calibri"/>
                        <a:sym typeface="Calibri"/>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F6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2"/>
          <p:cNvSpPr txBox="1"/>
          <p:nvPr/>
        </p:nvSpPr>
        <p:spPr>
          <a:xfrm>
            <a:off x="0" y="0"/>
            <a:ext cx="7066915" cy="6412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latin typeface="Verdana"/>
                <a:ea typeface="Verdana"/>
                <a:cs typeface="Verdana"/>
                <a:sym typeface="Verdana"/>
              </a:rPr>
              <a:t>Operating Systems Client/Server </a:t>
            </a:r>
            <a:endParaRPr sz="2000" b="1">
              <a:latin typeface="Verdana"/>
              <a:ea typeface="Verdana"/>
              <a:cs typeface="Verdana"/>
              <a:sym typeface="Verdana"/>
            </a:endParaRPr>
          </a:p>
          <a:p>
            <a:pPr marL="12700" lvl="0" indent="0" algn="l" rtl="0">
              <a:lnSpc>
                <a:spcPct val="100000"/>
              </a:lnSpc>
              <a:spcBef>
                <a:spcPts val="100"/>
              </a:spcBef>
              <a:spcAft>
                <a:spcPts val="0"/>
              </a:spcAft>
              <a:buNone/>
            </a:pPr>
            <a:r>
              <a:rPr lang="en-US" sz="2000" b="1">
                <a:latin typeface="Verdana"/>
                <a:ea typeface="Verdana"/>
                <a:cs typeface="Verdana"/>
                <a:sym typeface="Verdana"/>
              </a:rPr>
              <a:t>Communication</a:t>
            </a:r>
            <a:endParaRPr sz="2000">
              <a:latin typeface="Verdana"/>
              <a:ea typeface="Verdana"/>
              <a:cs typeface="Verdana"/>
              <a:sym typeface="Verdana"/>
            </a:endParaRPr>
          </a:p>
        </p:txBody>
      </p:sp>
      <p:sp>
        <p:nvSpPr>
          <p:cNvPr id="311" name="Google Shape;311;p32"/>
          <p:cNvSpPr txBox="1">
            <a:spLocks noGrp="1"/>
          </p:cNvSpPr>
          <p:nvPr>
            <p:ph type="title"/>
          </p:nvPr>
        </p:nvSpPr>
        <p:spPr>
          <a:xfrm>
            <a:off x="685800" y="990600"/>
            <a:ext cx="8104505" cy="1366520"/>
          </a:xfrm>
          <a:prstGeom prst="rect">
            <a:avLst/>
          </a:prstGeom>
          <a:noFill/>
          <a:ln>
            <a:noFill/>
          </a:ln>
        </p:spPr>
        <p:txBody>
          <a:bodyPr spcFirstLastPara="1" wrap="square" lIns="0" tIns="12050" rIns="0" bIns="0" anchor="ctr" anchorCtr="0">
            <a:spAutoFit/>
          </a:bodyPr>
          <a:lstStyle/>
          <a:p>
            <a:pPr marL="12700" marR="5080" lvl="0" indent="0" algn="just" rtl="0">
              <a:lnSpc>
                <a:spcPct val="100000"/>
              </a:lnSpc>
              <a:spcBef>
                <a:spcPts val="95"/>
              </a:spcBef>
              <a:spcAft>
                <a:spcPts val="0"/>
              </a:spcAft>
              <a:buSzPts val="1800"/>
              <a:buNone/>
            </a:pPr>
            <a:r>
              <a:rPr lang="en-US" sz="2200" b="0" u="none">
                <a:latin typeface="Calibri"/>
                <a:ea typeface="Calibri"/>
                <a:cs typeface="Calibri"/>
                <a:sym typeface="Calibri"/>
              </a:rPr>
              <a:t>Client/Server  communication  involves  two  components,  namely  a client and a server. They are usually multiple clients in communication with a single server. The clients send requests to the server and the server responds to the client requests.</a:t>
            </a:r>
            <a:endParaRPr sz="2200">
              <a:latin typeface="Calibri"/>
              <a:ea typeface="Calibri"/>
              <a:cs typeface="Calibri"/>
              <a:sym typeface="Calibri"/>
            </a:endParaRPr>
          </a:p>
        </p:txBody>
      </p:sp>
      <p:sp>
        <p:nvSpPr>
          <p:cNvPr id="312" name="Google Shape;312;p32"/>
          <p:cNvSpPr txBox="1"/>
          <p:nvPr/>
        </p:nvSpPr>
        <p:spPr>
          <a:xfrm>
            <a:off x="686816" y="2679014"/>
            <a:ext cx="8106409" cy="170243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latin typeface="Calibri"/>
                <a:ea typeface="Calibri"/>
                <a:cs typeface="Calibri"/>
                <a:sym typeface="Calibri"/>
              </a:rPr>
              <a:t>There are three main methods to client/server communication. These</a:t>
            </a:r>
            <a:endParaRPr sz="2200">
              <a:latin typeface="Calibri"/>
              <a:ea typeface="Calibri"/>
              <a:cs typeface="Calibri"/>
              <a:sym typeface="Calibri"/>
            </a:endParaRPr>
          </a:p>
          <a:p>
            <a:pPr marL="12700" lvl="0" indent="0" algn="l" rtl="0">
              <a:lnSpc>
                <a:spcPct val="100000"/>
              </a:lnSpc>
              <a:spcBef>
                <a:spcPts val="0"/>
              </a:spcBef>
              <a:spcAft>
                <a:spcPts val="0"/>
              </a:spcAft>
              <a:buNone/>
            </a:pPr>
            <a:r>
              <a:rPr lang="en-US" sz="2200">
                <a:latin typeface="Calibri"/>
                <a:ea typeface="Calibri"/>
                <a:cs typeface="Calibri"/>
                <a:sym typeface="Calibri"/>
              </a:rPr>
              <a:t>are given as follows −</a:t>
            </a:r>
            <a:endParaRPr sz="2200">
              <a:latin typeface="Calibri"/>
              <a:ea typeface="Calibri"/>
              <a:cs typeface="Calibri"/>
              <a:sym typeface="Calibri"/>
            </a:endParaRPr>
          </a:p>
          <a:p>
            <a:pPr marL="1025525" lvl="0" indent="-133349" algn="l" rtl="0">
              <a:lnSpc>
                <a:spcPct val="100000"/>
              </a:lnSpc>
              <a:spcBef>
                <a:spcPts val="0"/>
              </a:spcBef>
              <a:spcAft>
                <a:spcPts val="0"/>
              </a:spcAft>
              <a:buSzPts val="2100"/>
              <a:buFont typeface="Arial"/>
              <a:buChar char="•"/>
            </a:pPr>
            <a:r>
              <a:rPr lang="en-US" sz="2200" b="1">
                <a:latin typeface="Calibri"/>
                <a:ea typeface="Calibri"/>
                <a:cs typeface="Calibri"/>
                <a:sym typeface="Calibri"/>
              </a:rPr>
              <a:t>Sockets</a:t>
            </a:r>
            <a:endParaRPr sz="2200">
              <a:latin typeface="Calibri"/>
              <a:ea typeface="Calibri"/>
              <a:cs typeface="Calibri"/>
              <a:sym typeface="Calibri"/>
            </a:endParaRPr>
          </a:p>
          <a:p>
            <a:pPr marL="1025525" lvl="0" indent="-133349" algn="l" rtl="0">
              <a:lnSpc>
                <a:spcPct val="100000"/>
              </a:lnSpc>
              <a:spcBef>
                <a:spcPts val="0"/>
              </a:spcBef>
              <a:spcAft>
                <a:spcPts val="0"/>
              </a:spcAft>
              <a:buSzPts val="2100"/>
              <a:buFont typeface="Arial"/>
              <a:buChar char="•"/>
            </a:pPr>
            <a:r>
              <a:rPr lang="en-US" sz="2200" b="1">
                <a:latin typeface="Calibri"/>
                <a:ea typeface="Calibri"/>
                <a:cs typeface="Calibri"/>
                <a:sym typeface="Calibri"/>
              </a:rPr>
              <a:t>Remote Procedure Calls</a:t>
            </a:r>
            <a:endParaRPr sz="2200">
              <a:latin typeface="Calibri"/>
              <a:ea typeface="Calibri"/>
              <a:cs typeface="Calibri"/>
              <a:sym typeface="Calibri"/>
            </a:endParaRPr>
          </a:p>
          <a:p>
            <a:pPr marL="1025525" lvl="0" indent="-133349" algn="l" rtl="0">
              <a:lnSpc>
                <a:spcPct val="100000"/>
              </a:lnSpc>
              <a:spcBef>
                <a:spcPts val="5"/>
              </a:spcBef>
              <a:spcAft>
                <a:spcPts val="0"/>
              </a:spcAft>
              <a:buSzPts val="2100"/>
              <a:buFont typeface="Arial"/>
              <a:buChar char="•"/>
            </a:pPr>
            <a:r>
              <a:rPr lang="en-US" sz="2200" b="1">
                <a:latin typeface="Calibri"/>
                <a:ea typeface="Calibri"/>
                <a:cs typeface="Calibri"/>
                <a:sym typeface="Calibri"/>
              </a:rPr>
              <a:t>Pipes</a:t>
            </a:r>
            <a:endParaRPr sz="22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3"/>
          <p:cNvSpPr txBox="1">
            <a:spLocks noGrp="1"/>
          </p:cNvSpPr>
          <p:nvPr>
            <p:ph type="title"/>
          </p:nvPr>
        </p:nvSpPr>
        <p:spPr>
          <a:xfrm>
            <a:off x="0" y="1"/>
            <a:ext cx="6553200" cy="609525"/>
          </a:xfrm>
          <a:prstGeom prst="rect">
            <a:avLst/>
          </a:prstGeom>
          <a:noFill/>
          <a:ln>
            <a:noFill/>
          </a:ln>
        </p:spPr>
        <p:txBody>
          <a:bodyPr spcFirstLastPara="1" wrap="square" lIns="0" tIns="225150" rIns="0" bIns="0" anchor="ctr" anchorCtr="0">
            <a:spAutoFit/>
          </a:bodyPr>
          <a:lstStyle/>
          <a:p>
            <a:pPr marL="12700" lvl="0" indent="0" algn="l" rtl="0">
              <a:lnSpc>
                <a:spcPct val="100000"/>
              </a:lnSpc>
              <a:spcBef>
                <a:spcPts val="100"/>
              </a:spcBef>
              <a:spcAft>
                <a:spcPts val="0"/>
              </a:spcAft>
              <a:buSzPts val="1800"/>
              <a:buNone/>
            </a:pPr>
            <a:r>
              <a:rPr lang="en-US" sz="2400" b="1" u="none"/>
              <a:t>Operating Systems Client/Server Communication</a:t>
            </a:r>
            <a:endParaRPr/>
          </a:p>
        </p:txBody>
      </p:sp>
      <p:sp>
        <p:nvSpPr>
          <p:cNvPr id="318" name="Google Shape;318;p33"/>
          <p:cNvSpPr txBox="1"/>
          <p:nvPr/>
        </p:nvSpPr>
        <p:spPr>
          <a:xfrm>
            <a:off x="381000" y="990600"/>
            <a:ext cx="8106409" cy="2394886"/>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endParaRPr sz="2200" b="1">
              <a:latin typeface="Calibri"/>
              <a:ea typeface="Calibri"/>
              <a:cs typeface="Calibri"/>
              <a:sym typeface="Calibri"/>
            </a:endParaRPr>
          </a:p>
          <a:p>
            <a:pPr marL="12700" lvl="0" indent="0" algn="l" rtl="0">
              <a:lnSpc>
                <a:spcPct val="100000"/>
              </a:lnSpc>
              <a:spcBef>
                <a:spcPts val="95"/>
              </a:spcBef>
              <a:spcAft>
                <a:spcPts val="0"/>
              </a:spcAft>
              <a:buNone/>
            </a:pPr>
            <a:r>
              <a:rPr lang="en-US" sz="2200" b="1">
                <a:latin typeface="Calibri"/>
                <a:ea typeface="Calibri"/>
                <a:cs typeface="Calibri"/>
                <a:sym typeface="Calibri"/>
              </a:rPr>
              <a:t>SOCKET:</a:t>
            </a:r>
            <a:endParaRPr sz="2200">
              <a:latin typeface="Calibri"/>
              <a:ea typeface="Calibri"/>
              <a:cs typeface="Calibri"/>
              <a:sym typeface="Calibri"/>
            </a:endParaRPr>
          </a:p>
          <a:p>
            <a:pPr marL="12700" marR="5080" lvl="0" indent="0" algn="just" rtl="0">
              <a:lnSpc>
                <a:spcPct val="100000"/>
              </a:lnSpc>
              <a:spcBef>
                <a:spcPts val="0"/>
              </a:spcBef>
              <a:spcAft>
                <a:spcPts val="0"/>
              </a:spcAft>
              <a:buNone/>
            </a:pPr>
            <a:r>
              <a:rPr lang="en-US" sz="2200">
                <a:latin typeface="Calibri"/>
                <a:ea typeface="Calibri"/>
                <a:cs typeface="Calibri"/>
                <a:sym typeface="Calibri"/>
              </a:rPr>
              <a:t>Sockets facilitate communication between two processes on the same machine  or  different  machines.  They  are  used  in  a  client/server framework  and  consist  of  the  IP  address  and  port  number.  Many application protocols use sockets for data connection and data transfer between a client and a server.</a:t>
            </a:r>
            <a:endParaRPr sz="2200">
              <a:latin typeface="Calibri"/>
              <a:ea typeface="Calibri"/>
              <a:cs typeface="Calibri"/>
              <a:sym typeface="Calibri"/>
            </a:endParaRPr>
          </a:p>
        </p:txBody>
      </p:sp>
      <p:pic>
        <p:nvPicPr>
          <p:cNvPr id="319" name="Google Shape;319;p33"/>
          <p:cNvPicPr preferRelativeResize="0"/>
          <p:nvPr/>
        </p:nvPicPr>
        <p:blipFill rotWithShape="1">
          <a:blip r:embed="rId3">
            <a:alphaModFix/>
          </a:blip>
          <a:srcRect/>
          <a:stretch/>
        </p:blipFill>
        <p:spPr>
          <a:xfrm>
            <a:off x="1635402" y="3498850"/>
            <a:ext cx="5155655" cy="1295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4"/>
          <p:cNvSpPr txBox="1">
            <a:spLocks noGrp="1"/>
          </p:cNvSpPr>
          <p:nvPr>
            <p:ph type="title"/>
          </p:nvPr>
        </p:nvSpPr>
        <p:spPr>
          <a:xfrm>
            <a:off x="0" y="-304800"/>
            <a:ext cx="6477000" cy="1101967"/>
          </a:xfrm>
          <a:prstGeom prst="rect">
            <a:avLst/>
          </a:prstGeom>
          <a:noFill/>
          <a:ln>
            <a:noFill/>
          </a:ln>
        </p:spPr>
        <p:txBody>
          <a:bodyPr spcFirstLastPara="1" wrap="square" lIns="0" tIns="225150" rIns="0" bIns="0" anchor="ctr" anchorCtr="0">
            <a:spAutoFit/>
          </a:bodyPr>
          <a:lstStyle/>
          <a:p>
            <a:pPr marL="12700" lvl="0" indent="0" algn="l" rtl="0">
              <a:lnSpc>
                <a:spcPct val="100000"/>
              </a:lnSpc>
              <a:spcBef>
                <a:spcPts val="100"/>
              </a:spcBef>
              <a:spcAft>
                <a:spcPts val="0"/>
              </a:spcAft>
              <a:buSzPts val="1800"/>
              <a:buNone/>
            </a:pPr>
            <a:r>
              <a:rPr lang="en-US" b="1" u="none"/>
              <a:t>Operating Systems Client/Server Communication</a:t>
            </a:r>
            <a:endParaRPr/>
          </a:p>
        </p:txBody>
      </p:sp>
      <p:sp>
        <p:nvSpPr>
          <p:cNvPr id="325" name="Google Shape;325;p34"/>
          <p:cNvSpPr txBox="1"/>
          <p:nvPr/>
        </p:nvSpPr>
        <p:spPr>
          <a:xfrm>
            <a:off x="686816" y="1002283"/>
            <a:ext cx="8107045" cy="2160270"/>
          </a:xfrm>
          <a:prstGeom prst="rect">
            <a:avLst/>
          </a:prstGeom>
          <a:noFill/>
          <a:ln>
            <a:noFill/>
          </a:ln>
        </p:spPr>
        <p:txBody>
          <a:bodyPr spcFirstLastPara="1" wrap="square" lIns="0" tIns="13325" rIns="0" bIns="0" anchor="t" anchorCtr="0">
            <a:spAutoFit/>
          </a:bodyPr>
          <a:lstStyle/>
          <a:p>
            <a:pPr marL="12700" lvl="0" indent="0" algn="just" rtl="0">
              <a:lnSpc>
                <a:spcPct val="100000"/>
              </a:lnSpc>
              <a:spcBef>
                <a:spcPts val="0"/>
              </a:spcBef>
              <a:spcAft>
                <a:spcPts val="0"/>
              </a:spcAft>
              <a:buNone/>
            </a:pPr>
            <a:r>
              <a:rPr lang="en-US" sz="2000" b="1">
                <a:latin typeface="Calibri"/>
                <a:ea typeface="Calibri"/>
                <a:cs typeface="Calibri"/>
                <a:sym typeface="Calibri"/>
              </a:rPr>
              <a:t>Remote Procedure Calls</a:t>
            </a:r>
            <a:endParaRPr sz="2000">
              <a:latin typeface="Calibri"/>
              <a:ea typeface="Calibri"/>
              <a:cs typeface="Calibri"/>
              <a:sym typeface="Calibri"/>
            </a:endParaRPr>
          </a:p>
          <a:p>
            <a:pPr marL="12700" marR="6350" lvl="0" indent="-120650" algn="just" rtl="0">
              <a:lnSpc>
                <a:spcPct val="100000"/>
              </a:lnSpc>
              <a:spcBef>
                <a:spcPts val="0"/>
              </a:spcBef>
              <a:spcAft>
                <a:spcPts val="0"/>
              </a:spcAft>
              <a:buSzPts val="1900"/>
              <a:buFont typeface="Arial"/>
              <a:buChar char="•"/>
            </a:pPr>
            <a:r>
              <a:rPr lang="en-US" sz="2000">
                <a:latin typeface="Calibri"/>
                <a:ea typeface="Calibri"/>
                <a:cs typeface="Calibri"/>
                <a:sym typeface="Calibri"/>
              </a:rPr>
              <a:t>	These are interprocess communication techniques that are used for client- server  based  applications.  A  remote  procedure  call  is  also  known  as  a subroutine call or a function call.</a:t>
            </a:r>
            <a:endParaRPr sz="2000">
              <a:latin typeface="Calibri"/>
              <a:ea typeface="Calibri"/>
              <a:cs typeface="Calibri"/>
              <a:sym typeface="Calibri"/>
            </a:endParaRPr>
          </a:p>
          <a:p>
            <a:pPr marL="12700" marR="5080" lvl="0" indent="-120650" algn="just" rtl="0">
              <a:lnSpc>
                <a:spcPct val="100000"/>
              </a:lnSpc>
              <a:spcBef>
                <a:spcPts val="0"/>
              </a:spcBef>
              <a:spcAft>
                <a:spcPts val="0"/>
              </a:spcAft>
              <a:buSzPts val="1900"/>
              <a:buFont typeface="Arial"/>
              <a:buChar char="•"/>
            </a:pPr>
            <a:r>
              <a:rPr lang="en-US" sz="2000">
                <a:latin typeface="Calibri"/>
                <a:ea typeface="Calibri"/>
                <a:cs typeface="Calibri"/>
                <a:sym typeface="Calibri"/>
              </a:rPr>
              <a:t>	A client has a request that the RPC translates and sends to the server. This request may be a procedure or a function call to a remote server. When the server receives the request, it sends the required response back to the client.</a:t>
            </a:r>
            <a:endParaRPr sz="2000">
              <a:latin typeface="Calibri"/>
              <a:ea typeface="Calibri"/>
              <a:cs typeface="Calibri"/>
              <a:sym typeface="Calibri"/>
            </a:endParaRPr>
          </a:p>
        </p:txBody>
      </p:sp>
      <p:pic>
        <p:nvPicPr>
          <p:cNvPr id="326" name="Google Shape;326;p34"/>
          <p:cNvPicPr preferRelativeResize="0"/>
          <p:nvPr/>
        </p:nvPicPr>
        <p:blipFill rotWithShape="1">
          <a:blip r:embed="rId3">
            <a:alphaModFix/>
          </a:blip>
          <a:srcRect/>
          <a:stretch/>
        </p:blipFill>
        <p:spPr>
          <a:xfrm>
            <a:off x="1271650" y="3136900"/>
            <a:ext cx="6092825" cy="3048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0" y="-228600"/>
            <a:ext cx="5486040" cy="1101967"/>
          </a:xfrm>
          <a:prstGeom prst="rect">
            <a:avLst/>
          </a:prstGeom>
          <a:noFill/>
          <a:ln>
            <a:noFill/>
          </a:ln>
        </p:spPr>
        <p:txBody>
          <a:bodyPr spcFirstLastPara="1" wrap="square" lIns="0" tIns="225150" rIns="0" bIns="0" anchor="ctr" anchorCtr="0">
            <a:spAutoFit/>
          </a:bodyPr>
          <a:lstStyle/>
          <a:p>
            <a:pPr marL="12700" lvl="0" indent="0" algn="l" rtl="0">
              <a:lnSpc>
                <a:spcPct val="100000"/>
              </a:lnSpc>
              <a:spcBef>
                <a:spcPts val="100"/>
              </a:spcBef>
              <a:spcAft>
                <a:spcPts val="0"/>
              </a:spcAft>
              <a:buSzPts val="1800"/>
              <a:buNone/>
            </a:pPr>
            <a:r>
              <a:rPr lang="en-US" b="1" u="none"/>
              <a:t>Operating Systems Client/Server Communication</a:t>
            </a:r>
            <a:endParaRPr/>
          </a:p>
        </p:txBody>
      </p:sp>
      <p:sp>
        <p:nvSpPr>
          <p:cNvPr id="332" name="Google Shape;332;p35"/>
          <p:cNvSpPr txBox="1"/>
          <p:nvPr/>
        </p:nvSpPr>
        <p:spPr>
          <a:xfrm>
            <a:off x="686816" y="1002283"/>
            <a:ext cx="8107680" cy="307467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000" b="1">
                <a:latin typeface="Calibri"/>
                <a:ea typeface="Calibri"/>
                <a:cs typeface="Calibri"/>
                <a:sym typeface="Calibri"/>
              </a:rPr>
              <a:t>Pipes</a:t>
            </a:r>
            <a:endParaRPr sz="2000">
              <a:latin typeface="Calibri"/>
              <a:ea typeface="Calibri"/>
              <a:cs typeface="Calibri"/>
              <a:sym typeface="Calibri"/>
            </a:endParaRPr>
          </a:p>
          <a:p>
            <a:pPr marL="12700" marR="6350" lvl="0" indent="0" algn="just" rtl="0">
              <a:lnSpc>
                <a:spcPct val="100000"/>
              </a:lnSpc>
              <a:spcBef>
                <a:spcPts val="0"/>
              </a:spcBef>
              <a:spcAft>
                <a:spcPts val="0"/>
              </a:spcAft>
              <a:buNone/>
            </a:pPr>
            <a:r>
              <a:rPr lang="en-US" sz="2000">
                <a:latin typeface="Calibri"/>
                <a:ea typeface="Calibri"/>
                <a:cs typeface="Calibri"/>
                <a:sym typeface="Calibri"/>
              </a:rPr>
              <a:t>These are interprocess communication methods that contain two end points. Data is entered from one end of the pipe by a process and consumed from the other end by the other process.</a:t>
            </a:r>
            <a:endParaRPr sz="2000">
              <a:latin typeface="Calibri"/>
              <a:ea typeface="Calibri"/>
              <a:cs typeface="Calibri"/>
              <a:sym typeface="Calibri"/>
            </a:endParaRPr>
          </a:p>
          <a:p>
            <a:pPr marL="12700" marR="5080" lvl="0" indent="0" algn="just" rtl="0">
              <a:lnSpc>
                <a:spcPct val="100000"/>
              </a:lnSpc>
              <a:spcBef>
                <a:spcPts val="2400"/>
              </a:spcBef>
              <a:spcAft>
                <a:spcPts val="0"/>
              </a:spcAft>
              <a:buNone/>
            </a:pPr>
            <a:r>
              <a:rPr lang="en-US" sz="2000">
                <a:latin typeface="Calibri"/>
                <a:ea typeface="Calibri"/>
                <a:cs typeface="Calibri"/>
                <a:sym typeface="Calibri"/>
              </a:rPr>
              <a:t>The two different types of pipes are ordinary pipes and named pipes. Ordinary pipes only allow one way communication. For two way communication, two pipes are required. Ordinary pipes have a parent child relationship between the processes as the pipes can only be accessed by processes that created or inherited them</a:t>
            </a:r>
            <a:endParaRPr sz="2000">
              <a:latin typeface="Calibri"/>
              <a:ea typeface="Calibri"/>
              <a:cs typeface="Calibri"/>
              <a:sym typeface="Calibri"/>
            </a:endParaRPr>
          </a:p>
        </p:txBody>
      </p:sp>
      <p:pic>
        <p:nvPicPr>
          <p:cNvPr id="333" name="Google Shape;333;p35"/>
          <p:cNvPicPr preferRelativeResize="0"/>
          <p:nvPr/>
        </p:nvPicPr>
        <p:blipFill rotWithShape="1">
          <a:blip r:embed="rId3">
            <a:alphaModFix/>
          </a:blip>
          <a:srcRect/>
          <a:stretch/>
        </p:blipFill>
        <p:spPr>
          <a:xfrm>
            <a:off x="2761680" y="4706069"/>
            <a:ext cx="3712799" cy="58923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6"/>
          <p:cNvSpPr txBox="1">
            <a:spLocks noGrp="1"/>
          </p:cNvSpPr>
          <p:nvPr>
            <p:ph type="title"/>
          </p:nvPr>
        </p:nvSpPr>
        <p:spPr>
          <a:xfrm>
            <a:off x="-914400" y="0"/>
            <a:ext cx="7391400" cy="671080"/>
          </a:xfrm>
          <a:prstGeom prst="rect">
            <a:avLst/>
          </a:prstGeom>
          <a:noFill/>
          <a:ln>
            <a:noFill/>
          </a:ln>
        </p:spPr>
        <p:txBody>
          <a:bodyPr spcFirstLastPara="1" wrap="square" lIns="0" tIns="225150" rIns="0" bIns="0" anchor="ctr" anchorCtr="0">
            <a:spAutoFit/>
          </a:bodyPr>
          <a:lstStyle/>
          <a:p>
            <a:pPr marL="1325245" lvl="0" indent="0" algn="l" rtl="0">
              <a:lnSpc>
                <a:spcPct val="100000"/>
              </a:lnSpc>
              <a:spcBef>
                <a:spcPts val="100"/>
              </a:spcBef>
              <a:spcAft>
                <a:spcPts val="0"/>
              </a:spcAft>
              <a:buSzPts val="1800"/>
              <a:buNone/>
            </a:pPr>
            <a:r>
              <a:rPr lang="en-US" b="1" u="none"/>
              <a:t>Process Scheduling Algorithms</a:t>
            </a:r>
            <a:endParaRPr/>
          </a:p>
        </p:txBody>
      </p:sp>
      <p:sp>
        <p:nvSpPr>
          <p:cNvPr id="339" name="Google Shape;339;p36"/>
          <p:cNvSpPr txBox="1"/>
          <p:nvPr/>
        </p:nvSpPr>
        <p:spPr>
          <a:xfrm>
            <a:off x="304800" y="1002284"/>
            <a:ext cx="8534400" cy="4426212"/>
          </a:xfrm>
          <a:prstGeom prst="rect">
            <a:avLst/>
          </a:prstGeom>
          <a:noFill/>
          <a:ln>
            <a:noFill/>
          </a:ln>
        </p:spPr>
        <p:txBody>
          <a:bodyPr spcFirstLastPara="1" wrap="square" lIns="0" tIns="12050" rIns="0" bIns="0" anchor="t" anchorCtr="0">
            <a:spAutoFit/>
          </a:bodyPr>
          <a:lstStyle/>
          <a:p>
            <a:pPr marL="12700" marR="5080" lvl="0" indent="0" algn="just" rtl="0">
              <a:lnSpc>
                <a:spcPct val="100000"/>
              </a:lnSpc>
              <a:spcBef>
                <a:spcPts val="0"/>
              </a:spcBef>
              <a:spcAft>
                <a:spcPts val="0"/>
              </a:spcAft>
              <a:buNone/>
            </a:pPr>
            <a:r>
              <a:rPr lang="en-US" sz="2200">
                <a:latin typeface="Calibri"/>
                <a:ea typeface="Calibri"/>
                <a:cs typeface="Calibri"/>
                <a:sym typeface="Calibri"/>
              </a:rPr>
              <a:t>A Process Scheduler schedules different processes to be assigned to the  CPU  based  on  particular  scheduling  algorithms.  There  are  six popular process scheduling algorithms</a:t>
            </a:r>
            <a:endParaRPr sz="2200">
              <a:latin typeface="Calibri"/>
              <a:ea typeface="Calibri"/>
              <a:cs typeface="Calibri"/>
              <a:sym typeface="Calibri"/>
            </a:endParaRPr>
          </a:p>
          <a:p>
            <a:pPr marL="12700" marR="5080" lvl="0" indent="0" algn="just" rtl="0">
              <a:lnSpc>
                <a:spcPct val="100000"/>
              </a:lnSpc>
              <a:spcBef>
                <a:spcPts val="95"/>
              </a:spcBef>
              <a:spcAft>
                <a:spcPts val="0"/>
              </a:spcAft>
              <a:buNone/>
            </a:pPr>
            <a:endParaRPr sz="2200">
              <a:latin typeface="Calibri"/>
              <a:ea typeface="Calibri"/>
              <a:cs typeface="Calibri"/>
              <a:sym typeface="Calibri"/>
            </a:endParaRPr>
          </a:p>
          <a:p>
            <a:pPr marL="1108075" lvl="0" indent="-184150" algn="l" rtl="0">
              <a:lnSpc>
                <a:spcPct val="100000"/>
              </a:lnSpc>
              <a:spcBef>
                <a:spcPts val="15"/>
              </a:spcBef>
              <a:spcAft>
                <a:spcPts val="0"/>
              </a:spcAft>
              <a:buSzPts val="1700"/>
              <a:buFont typeface="Noto Sans Symbols"/>
              <a:buChar char="⮚"/>
            </a:pPr>
            <a:r>
              <a:rPr lang="en-US" sz="1800" b="1">
                <a:latin typeface="Calibri"/>
                <a:ea typeface="Calibri"/>
                <a:cs typeface="Calibri"/>
                <a:sym typeface="Calibri"/>
              </a:rPr>
              <a:t>First-Come, First-Served (FCFS) Scheduling-</a:t>
            </a:r>
            <a:r>
              <a:rPr lang="en-US" sz="1800">
                <a:latin typeface="Calibri"/>
                <a:ea typeface="Calibri"/>
                <a:cs typeface="Calibri"/>
                <a:sym typeface="Calibri"/>
              </a:rPr>
              <a:t>In this	Process which requests</a:t>
            </a:r>
            <a:endParaRPr sz="1800">
              <a:latin typeface="Calibri"/>
              <a:ea typeface="Calibri"/>
              <a:cs typeface="Calibri"/>
              <a:sym typeface="Calibri"/>
            </a:endParaRPr>
          </a:p>
          <a:p>
            <a:pPr marL="927100" lvl="0" indent="0" algn="l" rtl="0">
              <a:lnSpc>
                <a:spcPct val="100000"/>
              </a:lnSpc>
              <a:spcBef>
                <a:spcPts val="5"/>
              </a:spcBef>
              <a:spcAft>
                <a:spcPts val="0"/>
              </a:spcAft>
              <a:buNone/>
            </a:pPr>
            <a:r>
              <a:rPr lang="en-US" sz="1800">
                <a:latin typeface="Calibri"/>
                <a:ea typeface="Calibri"/>
                <a:cs typeface="Calibri"/>
                <a:sym typeface="Calibri"/>
              </a:rPr>
              <a:t>the cpu gets the cpu allocation first</a:t>
            </a:r>
            <a:endParaRPr sz="1800">
              <a:latin typeface="Calibri"/>
              <a:ea typeface="Calibri"/>
              <a:cs typeface="Calibri"/>
              <a:sym typeface="Calibri"/>
            </a:endParaRPr>
          </a:p>
          <a:p>
            <a:pPr marL="927100" marR="7620" lvl="0" indent="-107949" algn="l" rtl="0">
              <a:lnSpc>
                <a:spcPct val="100000"/>
              </a:lnSpc>
              <a:spcBef>
                <a:spcPts val="0"/>
              </a:spcBef>
              <a:spcAft>
                <a:spcPts val="0"/>
              </a:spcAft>
              <a:buSzPts val="1700"/>
              <a:buFont typeface="Noto Sans Symbols"/>
              <a:buChar char="⮚"/>
            </a:pPr>
            <a:r>
              <a:rPr lang="en-US" sz="1800" b="1">
                <a:latin typeface="Calibri"/>
                <a:ea typeface="Calibri"/>
                <a:cs typeface="Calibri"/>
                <a:sym typeface="Calibri"/>
              </a:rPr>
              <a:t>	Shortest-Job-Next (SJN) Scheduling—</a:t>
            </a:r>
            <a:r>
              <a:rPr lang="en-US" sz="1800">
                <a:latin typeface="Calibri"/>
                <a:ea typeface="Calibri"/>
                <a:cs typeface="Calibri"/>
                <a:sym typeface="Calibri"/>
              </a:rPr>
              <a:t>Execution time should be selected for execution next</a:t>
            </a:r>
            <a:endParaRPr sz="1800">
              <a:latin typeface="Calibri"/>
              <a:ea typeface="Calibri"/>
              <a:cs typeface="Calibri"/>
              <a:sym typeface="Calibri"/>
            </a:endParaRPr>
          </a:p>
          <a:p>
            <a:pPr marL="1108075" lvl="0" indent="-184150" algn="l" rtl="0">
              <a:lnSpc>
                <a:spcPct val="100000"/>
              </a:lnSpc>
              <a:spcBef>
                <a:spcPts val="0"/>
              </a:spcBef>
              <a:spcAft>
                <a:spcPts val="0"/>
              </a:spcAft>
              <a:buSzPts val="1700"/>
              <a:buFont typeface="Noto Sans Symbols"/>
              <a:buChar char="⮚"/>
            </a:pPr>
            <a:r>
              <a:rPr lang="en-US" sz="1800" b="1">
                <a:latin typeface="Calibri"/>
                <a:ea typeface="Calibri"/>
                <a:cs typeface="Calibri"/>
                <a:sym typeface="Calibri"/>
              </a:rPr>
              <a:t>Priority Scheduling-</a:t>
            </a:r>
            <a:r>
              <a:rPr lang="en-US" sz="1800">
                <a:latin typeface="Calibri"/>
                <a:ea typeface="Calibri"/>
                <a:cs typeface="Calibri"/>
                <a:sym typeface="Calibri"/>
              </a:rPr>
              <a:t>it selects the tasks to work as per the priority</a:t>
            </a:r>
            <a:endParaRPr sz="1800">
              <a:latin typeface="Calibri"/>
              <a:ea typeface="Calibri"/>
              <a:cs typeface="Calibri"/>
              <a:sym typeface="Calibri"/>
            </a:endParaRPr>
          </a:p>
          <a:p>
            <a:pPr marL="1108075" lvl="0" indent="-184150" algn="l" rtl="0">
              <a:lnSpc>
                <a:spcPct val="100000"/>
              </a:lnSpc>
              <a:spcBef>
                <a:spcPts val="0"/>
              </a:spcBef>
              <a:spcAft>
                <a:spcPts val="0"/>
              </a:spcAft>
              <a:buSzPts val="1700"/>
              <a:buFont typeface="Noto Sans Symbols"/>
              <a:buChar char="⮚"/>
            </a:pPr>
            <a:r>
              <a:rPr lang="en-US" sz="1800" b="1">
                <a:latin typeface="Calibri"/>
                <a:ea typeface="Calibri"/>
                <a:cs typeface="Calibri"/>
                <a:sym typeface="Calibri"/>
              </a:rPr>
              <a:t>Shortest Remaining Time-</a:t>
            </a:r>
            <a:r>
              <a:rPr lang="en-US" sz="1800">
                <a:latin typeface="Calibri"/>
                <a:ea typeface="Calibri"/>
                <a:cs typeface="Calibri"/>
                <a:sym typeface="Calibri"/>
              </a:rPr>
              <a:t>The process will be allocated to the task, which</a:t>
            </a:r>
            <a:endParaRPr sz="1800">
              <a:latin typeface="Calibri"/>
              <a:ea typeface="Calibri"/>
              <a:cs typeface="Calibri"/>
              <a:sym typeface="Calibri"/>
            </a:endParaRPr>
          </a:p>
          <a:p>
            <a:pPr marL="927100" lvl="0" indent="0" algn="l" rtl="0">
              <a:lnSpc>
                <a:spcPct val="100000"/>
              </a:lnSpc>
              <a:spcBef>
                <a:spcPts val="0"/>
              </a:spcBef>
              <a:spcAft>
                <a:spcPts val="0"/>
              </a:spcAft>
              <a:buNone/>
            </a:pPr>
            <a:r>
              <a:rPr lang="en-US" sz="1800">
                <a:latin typeface="Calibri"/>
                <a:ea typeface="Calibri"/>
                <a:cs typeface="Calibri"/>
                <a:sym typeface="Calibri"/>
              </a:rPr>
              <a:t>is closest to its completion.</a:t>
            </a:r>
            <a:endParaRPr sz="1800">
              <a:latin typeface="Calibri"/>
              <a:ea typeface="Calibri"/>
              <a:cs typeface="Calibri"/>
              <a:sym typeface="Calibri"/>
            </a:endParaRPr>
          </a:p>
          <a:p>
            <a:pPr marL="927100" marR="5080" lvl="0" indent="-107949" algn="l" rtl="0">
              <a:lnSpc>
                <a:spcPct val="100000"/>
              </a:lnSpc>
              <a:spcBef>
                <a:spcPts val="0"/>
              </a:spcBef>
              <a:spcAft>
                <a:spcPts val="0"/>
              </a:spcAft>
              <a:buSzPts val="1700"/>
              <a:buFont typeface="Noto Sans Symbols"/>
              <a:buChar char="⮚"/>
            </a:pPr>
            <a:r>
              <a:rPr lang="en-US" sz="1800" b="1">
                <a:latin typeface="Calibri"/>
                <a:ea typeface="Calibri"/>
                <a:cs typeface="Calibri"/>
                <a:sym typeface="Calibri"/>
              </a:rPr>
              <a:t>	Round Robin(RR) Scheduling-</a:t>
            </a:r>
            <a:r>
              <a:rPr lang="en-US" sz="1800">
                <a:latin typeface="Calibri"/>
                <a:ea typeface="Calibri"/>
                <a:cs typeface="Calibri"/>
                <a:sym typeface="Calibri"/>
              </a:rPr>
              <a:t>it works on principle, where each person gets an equal share of something in turn(change the position)</a:t>
            </a:r>
            <a:endParaRPr sz="1800">
              <a:latin typeface="Calibri"/>
              <a:ea typeface="Calibri"/>
              <a:cs typeface="Calibri"/>
              <a:sym typeface="Calibri"/>
            </a:endParaRPr>
          </a:p>
          <a:p>
            <a:pPr marL="927100" marR="6350" lvl="0" indent="-107949" algn="l" rtl="0">
              <a:lnSpc>
                <a:spcPct val="100000"/>
              </a:lnSpc>
              <a:spcBef>
                <a:spcPts val="0"/>
              </a:spcBef>
              <a:spcAft>
                <a:spcPts val="0"/>
              </a:spcAft>
              <a:buSzPts val="1700"/>
              <a:buFont typeface="Noto Sans Symbols"/>
              <a:buChar char="⮚"/>
            </a:pPr>
            <a:r>
              <a:rPr lang="en-US" sz="1800" b="1">
                <a:latin typeface="Calibri"/>
                <a:ea typeface="Calibri"/>
                <a:cs typeface="Calibri"/>
                <a:sym typeface="Calibri"/>
              </a:rPr>
              <a:t>	Multiple-Level Queues Scheduling-i</a:t>
            </a:r>
            <a:r>
              <a:rPr lang="en-US" sz="1800">
                <a:latin typeface="Calibri"/>
                <a:ea typeface="Calibri"/>
                <a:cs typeface="Calibri"/>
                <a:sym typeface="Calibri"/>
              </a:rPr>
              <a:t>t separate the queues. In this method processes are assigned to a queue based on a specific properity</a:t>
            </a:r>
            <a:endParaRPr sz="180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a:t> </a:t>
            </a:r>
            <a:r>
              <a:rPr lang="en-US" b="1"/>
              <a:t>MCQs</a:t>
            </a:r>
            <a:endParaRPr b="1"/>
          </a:p>
        </p:txBody>
      </p:sp>
      <p:sp>
        <p:nvSpPr>
          <p:cNvPr id="345" name="Google Shape;345;p3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SzPts val="1800"/>
              <a:buNone/>
            </a:pPr>
            <a:r>
              <a:rPr lang="en-US"/>
              <a:t>Q.1. 1. A Process Control Block(PCB) does not contain which of the following?</a:t>
            </a:r>
            <a:br>
              <a:rPr lang="en-US"/>
            </a:br>
            <a:r>
              <a:rPr lang="en-US"/>
              <a:t>a) Code</a:t>
            </a:r>
            <a:br>
              <a:rPr lang="en-US"/>
            </a:br>
            <a:r>
              <a:rPr lang="en-US"/>
              <a:t>b) Stack</a:t>
            </a:r>
            <a:br>
              <a:rPr lang="en-US"/>
            </a:br>
            <a:r>
              <a:rPr lang="en-US"/>
              <a:t>c) Bootstrap program</a:t>
            </a:r>
            <a:br>
              <a:rPr lang="en-US"/>
            </a:br>
            <a:r>
              <a:rPr lang="en-US"/>
              <a:t>d) Data</a:t>
            </a:r>
            <a:endParaRPr/>
          </a:p>
          <a:p>
            <a:pPr marL="457200" lvl="0" indent="-342900" algn="l" rtl="0">
              <a:lnSpc>
                <a:spcPct val="90000"/>
              </a:lnSpc>
              <a:spcBef>
                <a:spcPts val="1000"/>
              </a:spcBef>
              <a:spcAft>
                <a:spcPts val="0"/>
              </a:spcAft>
              <a:buSzPts val="1800"/>
              <a:buNone/>
            </a:pPr>
            <a:r>
              <a:rPr lang="en-US"/>
              <a:t>       Answer: c</a:t>
            </a:r>
            <a:endParaRPr/>
          </a:p>
          <a:p>
            <a:pPr marL="457200" lvl="0" indent="-342900" algn="l" rtl="0">
              <a:lnSpc>
                <a:spcPct val="90000"/>
              </a:lnSpc>
              <a:spcBef>
                <a:spcPts val="1000"/>
              </a:spcBef>
              <a:spcAft>
                <a:spcPts val="0"/>
              </a:spcAft>
              <a:buSzPts val="1800"/>
              <a:buNone/>
            </a:pPr>
            <a:r>
              <a:rPr lang="en-US"/>
              <a:t>Q.2. The state of a process is defined by __________</a:t>
            </a:r>
            <a:br>
              <a:rPr lang="en-US"/>
            </a:br>
            <a:r>
              <a:rPr lang="en-US"/>
              <a:t>a) the final activity of the process</a:t>
            </a:r>
            <a:br>
              <a:rPr lang="en-US"/>
            </a:br>
            <a:r>
              <a:rPr lang="en-US"/>
              <a:t>b) the activity just executed by the process</a:t>
            </a:r>
            <a:br>
              <a:rPr lang="en-US"/>
            </a:br>
            <a:r>
              <a:rPr lang="en-US"/>
              <a:t>c) the activity to next be executed by the process</a:t>
            </a:r>
            <a:br>
              <a:rPr lang="en-US"/>
            </a:br>
            <a:r>
              <a:rPr lang="en-US"/>
              <a:t>d) the current activity of the process</a:t>
            </a:r>
            <a:endParaRPr/>
          </a:p>
          <a:p>
            <a:pPr marL="457200" lvl="0" indent="-342900" algn="l" rtl="0">
              <a:lnSpc>
                <a:spcPct val="90000"/>
              </a:lnSpc>
              <a:spcBef>
                <a:spcPts val="1000"/>
              </a:spcBef>
              <a:spcAft>
                <a:spcPts val="0"/>
              </a:spcAft>
              <a:buSzPts val="1800"/>
              <a:buNone/>
            </a:pPr>
            <a:r>
              <a:rPr lang="en-US"/>
              <a:t>       Answer: 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t> CONTD..</a:t>
            </a:r>
            <a:endParaRPr b="1"/>
          </a:p>
        </p:txBody>
      </p:sp>
      <p:sp>
        <p:nvSpPr>
          <p:cNvPr id="351" name="Google Shape;351;p38"/>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SzPts val="1800"/>
              <a:buNone/>
            </a:pPr>
            <a:r>
              <a:rPr lang="en-US"/>
              <a:t>Q.3. What is a Process Control Block?</a:t>
            </a:r>
            <a:br>
              <a:rPr lang="en-US"/>
            </a:br>
            <a:r>
              <a:rPr lang="en-US"/>
              <a:t>a) Process type variable</a:t>
            </a:r>
            <a:br>
              <a:rPr lang="en-US"/>
            </a:br>
            <a:r>
              <a:rPr lang="en-US"/>
              <a:t>b) Data Structure</a:t>
            </a:r>
            <a:br>
              <a:rPr lang="en-US"/>
            </a:br>
            <a:r>
              <a:rPr lang="en-US"/>
              <a:t>c) A secondary storage section</a:t>
            </a:r>
            <a:br>
              <a:rPr lang="en-US"/>
            </a:br>
            <a:r>
              <a:rPr lang="en-US"/>
              <a:t>d) A Block in memory</a:t>
            </a:r>
            <a:endParaRPr/>
          </a:p>
          <a:p>
            <a:pPr marL="457200" lvl="0" indent="-342900" algn="l" rtl="0">
              <a:lnSpc>
                <a:spcPct val="90000"/>
              </a:lnSpc>
              <a:spcBef>
                <a:spcPts val="1000"/>
              </a:spcBef>
              <a:spcAft>
                <a:spcPts val="0"/>
              </a:spcAft>
              <a:buSzPts val="1800"/>
              <a:buNone/>
            </a:pPr>
            <a:r>
              <a:rPr lang="en-US"/>
              <a:t>      Answer: b</a:t>
            </a:r>
            <a:endParaRPr/>
          </a:p>
          <a:p>
            <a:pPr marL="457200" lvl="0" indent="-342900" algn="l" rtl="0">
              <a:lnSpc>
                <a:spcPct val="90000"/>
              </a:lnSpc>
              <a:spcBef>
                <a:spcPts val="1000"/>
              </a:spcBef>
              <a:spcAft>
                <a:spcPts val="0"/>
              </a:spcAft>
              <a:buSzPts val="1800"/>
              <a:buNone/>
            </a:pPr>
            <a:r>
              <a:rPr lang="en-US"/>
              <a:t>Q.4. Which of the following is not the state of a process?</a:t>
            </a:r>
            <a:br>
              <a:rPr lang="en-US"/>
            </a:br>
            <a:r>
              <a:rPr lang="en-US"/>
              <a:t>a) New</a:t>
            </a:r>
            <a:br>
              <a:rPr lang="en-US"/>
            </a:br>
            <a:r>
              <a:rPr lang="en-US"/>
              <a:t>b) Old</a:t>
            </a:r>
            <a:br>
              <a:rPr lang="en-US"/>
            </a:br>
            <a:r>
              <a:rPr lang="en-US"/>
              <a:t>c) Waiting</a:t>
            </a:r>
            <a:br>
              <a:rPr lang="en-US"/>
            </a:br>
            <a:r>
              <a:rPr lang="en-US"/>
              <a:t>d) Running</a:t>
            </a:r>
            <a:endParaRPr/>
          </a:p>
          <a:p>
            <a:pPr marL="457200" lvl="0" indent="-342900" algn="l" rtl="0">
              <a:lnSpc>
                <a:spcPct val="90000"/>
              </a:lnSpc>
              <a:spcBef>
                <a:spcPts val="1000"/>
              </a:spcBef>
              <a:spcAft>
                <a:spcPts val="0"/>
              </a:spcAft>
              <a:buSzPts val="1800"/>
              <a:buNone/>
            </a:pPr>
            <a:r>
              <a:rPr lang="en-US"/>
              <a:t>      Answer: b</a:t>
            </a:r>
            <a:endParaRPr/>
          </a:p>
        </p:txBody>
      </p:sp>
    </p:spTree>
  </p:cSld>
  <p:clrMapOvr>
    <a:masterClrMapping/>
  </p:clrMapOvr>
</p:sld>
</file>

<file path=ppt/theme/theme1.xml><?xml version="1.0" encoding="utf-8"?>
<a:theme xmlns:a="http://schemas.openxmlformats.org/drawingml/2006/main" name="chitkar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2920</Words>
  <Application>Microsoft Office PowerPoint</Application>
  <PresentationFormat>On-screen Show (4:3)</PresentationFormat>
  <Paragraphs>276</Paragraphs>
  <Slides>38</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Calibri</vt:lpstr>
      <vt:lpstr>Times New Roman</vt:lpstr>
      <vt:lpstr>Verdana</vt:lpstr>
      <vt:lpstr>Arial</vt:lpstr>
      <vt:lpstr>Arial Black</vt:lpstr>
      <vt:lpstr>MS PGothic</vt:lpstr>
      <vt:lpstr>Noto Sans Symbols</vt:lpstr>
      <vt:lpstr>chitkara</vt:lpstr>
      <vt:lpstr>           Process &amp; IPC      Chitkara University Institute of Engineering and Technology  Chitkara University, Punjab      </vt:lpstr>
      <vt:lpstr>Processes</vt:lpstr>
      <vt:lpstr>Objectives</vt:lpstr>
      <vt:lpstr>PROCESS CONCEPT</vt:lpstr>
      <vt:lpstr>CONTD..</vt:lpstr>
      <vt:lpstr> Process State </vt:lpstr>
      <vt:lpstr>Diagram of Process State Or Lifecycle of a Process</vt:lpstr>
      <vt:lpstr>PowerPoint Presentation</vt:lpstr>
      <vt:lpstr>Process Control Block (PCB) </vt:lpstr>
      <vt:lpstr> Process Control Block (PCB) </vt:lpstr>
      <vt:lpstr>Process Control Block (PCB) </vt:lpstr>
      <vt:lpstr>CONTD..</vt:lpstr>
      <vt:lpstr>CONTD..</vt:lpstr>
      <vt:lpstr>CONTD..</vt:lpstr>
      <vt:lpstr>Operating System - Process Scheduling</vt:lpstr>
      <vt:lpstr>CONTD..</vt:lpstr>
      <vt:lpstr>CONTD..</vt:lpstr>
      <vt:lpstr>CONTD..</vt:lpstr>
      <vt:lpstr>CONTD..</vt:lpstr>
      <vt:lpstr>Schedulers</vt:lpstr>
      <vt:lpstr>PowerPoint Presentation</vt:lpstr>
      <vt:lpstr>CONTD..</vt:lpstr>
      <vt:lpstr>CONTD..</vt:lpstr>
      <vt:lpstr>CONTD..</vt:lpstr>
      <vt:lpstr>CONTD..</vt:lpstr>
      <vt:lpstr>Operations on Processes</vt:lpstr>
      <vt:lpstr>CONTD..</vt:lpstr>
      <vt:lpstr>CONTD..</vt:lpstr>
      <vt:lpstr>CONTD..</vt:lpstr>
      <vt:lpstr>CONTD..</vt:lpstr>
      <vt:lpstr>Interprocess Communication</vt:lpstr>
      <vt:lpstr>Client/Server  communication  involves  two  components,  namely  a client and a server. They are usually multiple clients in communication with a single server. The clients send requests to the server and the server responds to the client requests.</vt:lpstr>
      <vt:lpstr>Operating Systems Client/Server Communication</vt:lpstr>
      <vt:lpstr>Operating Systems Client/Server Communication</vt:lpstr>
      <vt:lpstr>Operating Systems Client/Server Communication</vt:lpstr>
      <vt:lpstr>Process Scheduling Algorithms</vt:lpstr>
      <vt:lpstr> MCQs</vt:lpstr>
      <vt:lpstr>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&amp; IPC      Chitkara University Institute of Engineering and Technology  Chitkara University, Punjab</dc:title>
  <dc:creator>Lucent End User</dc:creator>
  <cp:lastModifiedBy>Tanish Singla</cp:lastModifiedBy>
  <cp:revision>3</cp:revision>
  <dcterms:created xsi:type="dcterms:W3CDTF">2024-12-27T09:43:41Z</dcterms:created>
  <dcterms:modified xsi:type="dcterms:W3CDTF">2026-03-05T08:26:10Z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2021-08-11T00:00:00Z</vt:filetime>
  </property>
  <property fmtid="{D5CDD505-2E9C-101B-9397-08002B2CF9AE}" pid="3" name="Creator">
    <vt:lpwstr>Microsoft® Office PowerPoint® 2007</vt:lpwstr>
  </property>
  <property fmtid="{D5CDD505-2E9C-101B-9397-08002B2CF9AE}" pid="4" name="LastSaved">
    <vt:filetime>2024-12-27T00:00:00Z</vt:filetime>
  </property>
  <property fmtid="{D5CDD505-2E9C-101B-9397-08002B2CF9AE}" pid="5" name="Producer">
    <vt:lpwstr>Microsoft® Office PowerPoint® 2007</vt:lpwstr>
  </property>
</Properties>
</file>