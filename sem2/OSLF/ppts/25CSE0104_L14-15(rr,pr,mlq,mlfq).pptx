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</p:sldIdLst>
  <p:sldSz cx="9144000" cy="6858000" type="screen4x3"/>
  <p:notesSz cx="6858000" cy="9144000"/>
  <p:embeddedFontLst>
    <p:embeddedFont>
      <p:font typeface="Noto Sans Symbols" panose="020B0604020202020204" charset="0"/>
      <p:regular r:id="rId19"/>
      <p:bold r:id="rId20"/>
    </p:embeddedFon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dIxaxsfELYUXJoLwODqouslE3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1C2321-23FC-48FD-B82A-C5DD011F1FAA}">
  <a:tblStyle styleId="{EE1C2321-23FC-48FD-B82A-C5DD011F1FA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514"/>
  </p:normalViewPr>
  <p:slideViewPr>
    <p:cSldViewPr snapToGrid="0">
      <p:cViewPr varScale="1">
        <p:scale>
          <a:sx n="78" d="100"/>
          <a:sy n="78" d="100"/>
        </p:scale>
        <p:origin x="1517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1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3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3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3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3" descr="LOGO.gif"/>
            <p:cNvPicPr preferRelativeResize="0"/>
            <p:nvPr/>
          </p:nvPicPr>
          <p:blipFill rotWithShape="1">
            <a:blip r:embed="rId3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3" descr="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/>
          <p:nvPr/>
        </p:nvSpPr>
        <p:spPr>
          <a:xfrm>
            <a:off x="1066800" y="2582562"/>
            <a:ext cx="655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Scheduling</a:t>
            </a:r>
            <a:endParaRPr dirty="0"/>
          </a:p>
        </p:txBody>
      </p:sp>
      <p:sp>
        <p:nvSpPr>
          <p:cNvPr id="42" name="Google Shape;42;p1"/>
          <p:cNvSpPr txBox="1"/>
          <p:nvPr/>
        </p:nvSpPr>
        <p:spPr>
          <a:xfrm>
            <a:off x="350729" y="5253590"/>
            <a:ext cx="8617907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 University Institute of Engineering and Technology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 University, Punjab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Priority-based (PB) Scheduling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535940" y="1049781"/>
            <a:ext cx="8072755" cy="300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priority number (integer) is associated with each process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4965" marR="0" lvl="0" indent="-342265" algn="l" rtl="0">
              <a:lnSpc>
                <a:spcPct val="1143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	CPU	is	allocated	to	the	process	with	the	highest	priority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143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(smallest integer </a:t>
            </a:r>
            <a:r>
              <a:rPr lang="en-US" sz="22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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highest priority).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Preemptive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Non-preemptive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SJF is a priority scheme with the priority the remaining time.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Example for Priority-based Scheduling (Non-preemptive)</a:t>
            </a:r>
            <a:endParaRPr/>
          </a:p>
        </p:txBody>
      </p:sp>
      <p:graphicFrame>
        <p:nvGraphicFramePr>
          <p:cNvPr id="208" name="Google Shape;208;p25"/>
          <p:cNvGraphicFramePr/>
          <p:nvPr>
            <p:extLst>
              <p:ext uri="{D42A27DB-BD31-4B8C-83A1-F6EECF244321}">
                <p14:modId xmlns:p14="http://schemas.microsoft.com/office/powerpoint/2010/main" val="1506904729"/>
              </p:ext>
            </p:extLst>
          </p:nvPr>
        </p:nvGraphicFramePr>
        <p:xfrm>
          <a:off x="831850" y="1426210"/>
          <a:ext cx="7641600" cy="267905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102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22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22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568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Burst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435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22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22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22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22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304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9" name="Google Shape;209;p25"/>
          <p:cNvGraphicFramePr/>
          <p:nvPr/>
        </p:nvGraphicFramePr>
        <p:xfrm>
          <a:off x="1517650" y="4946650"/>
          <a:ext cx="6120775" cy="53340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55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1466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504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" name="Google Shape;210;p25"/>
          <p:cNvSpPr txBox="1"/>
          <p:nvPr/>
        </p:nvSpPr>
        <p:spPr>
          <a:xfrm>
            <a:off x="1723770" y="4581525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2638170" y="4581525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4543805" y="45815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6476491" y="4581525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7290561" y="4581525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25"/>
          <p:cNvGraphicFramePr/>
          <p:nvPr/>
        </p:nvGraphicFramePr>
        <p:xfrm>
          <a:off x="1279144" y="5610682"/>
          <a:ext cx="6649700" cy="28956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47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623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293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9253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1959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6" name="Google Shape;216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Example for Priority-based Scheduling (Preemptive)</a:t>
            </a:r>
            <a:endParaRPr/>
          </a:p>
        </p:txBody>
      </p:sp>
      <p:graphicFrame>
        <p:nvGraphicFramePr>
          <p:cNvPr id="222" name="Google Shape;222;p26"/>
          <p:cNvGraphicFramePr/>
          <p:nvPr>
            <p:extLst>
              <p:ext uri="{D42A27DB-BD31-4B8C-83A1-F6EECF244321}">
                <p14:modId xmlns:p14="http://schemas.microsoft.com/office/powerpoint/2010/main" val="3838886937"/>
              </p:ext>
            </p:extLst>
          </p:nvPr>
        </p:nvGraphicFramePr>
        <p:xfrm>
          <a:off x="527050" y="1517650"/>
          <a:ext cx="8308975" cy="267905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102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06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Arrival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01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663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Burst Time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816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90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3" name="Google Shape;223;p26"/>
          <p:cNvSpPr txBox="1"/>
          <p:nvPr/>
        </p:nvSpPr>
        <p:spPr>
          <a:xfrm>
            <a:off x="2351913" y="4265167"/>
            <a:ext cx="44373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(Higher number represents higher priority)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26"/>
          <p:cNvGraphicFramePr/>
          <p:nvPr/>
        </p:nvGraphicFramePr>
        <p:xfrm>
          <a:off x="858837" y="5295646"/>
          <a:ext cx="7210450" cy="532775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82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2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52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" name="Google Shape;225;p26"/>
          <p:cNvGraphicFramePr/>
          <p:nvPr/>
        </p:nvGraphicFramePr>
        <p:xfrm>
          <a:off x="745490" y="5899022"/>
          <a:ext cx="7569250" cy="28956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0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1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6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marR="0" lvl="0" indent="0" algn="ct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147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87655" lvl="0" indent="0" algn="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275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065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6244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6" name="Google Shape;226;p26"/>
          <p:cNvGraphicFramePr/>
          <p:nvPr/>
        </p:nvGraphicFramePr>
        <p:xfrm>
          <a:off x="1183487" y="4959350"/>
          <a:ext cx="6462375" cy="28956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50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marR="0" lvl="0" indent="0" algn="ct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147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8180" marR="0" lvl="0" indent="0" algn="l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54610" lvl="0" indent="0" algn="ct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4130" lvl="0" indent="0" algn="r" rtl="0">
                        <a:lnSpc>
                          <a:spcPct val="95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Google Shape;227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Advantages and Disadvantages of PB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535940" y="1083310"/>
            <a:ext cx="8084184" cy="461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2325" marR="0" lvl="1" indent="-342900" algn="l" rtl="0">
              <a:lnSpc>
                <a:spcPct val="100000"/>
              </a:lnSpc>
              <a:spcBef>
                <a:spcPts val="15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a good mechanism where the relative importance of each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23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maybe precisely defined.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755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Disadvantages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30580" marR="5080" lvl="1" indent="-341630" algn="just" rtl="0">
              <a:lnSpc>
                <a:spcPct val="1000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high priority processes use up a lot of CPU time, lower priority 	processes may starve and be postponed indefinitely. The situation 	where a process never gets scheduled to run is called starvation.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89685" marR="6985" lvl="2" indent="-342900" algn="l" rtl="0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Solution:	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Aging	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	as	time	progresses,	increase	the	priority	of	the processes that wait in the system for a long time.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32485" marR="0" lvl="1" indent="-343535" algn="l" rtl="0">
              <a:lnSpc>
                <a:spcPct val="100000"/>
              </a:lnSpc>
              <a:spcBef>
                <a:spcPts val="11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Another problem is deciding which process gets which priority level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324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assigned to it.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Round Robin (RR) Scheduling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497840" y="1049781"/>
            <a:ext cx="8162925" cy="496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930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process gets a small unit of CPU time (time quantum).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4385" marR="0" lvl="1" indent="-286385" algn="l" rtl="0">
              <a:lnSpc>
                <a:spcPct val="114000"/>
              </a:lnSpc>
              <a:spcBef>
                <a:spcPts val="20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this time has elapsed, the process is preempted and added to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4385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end of the ready queue.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3700" marR="59055" lvl="0" indent="-342900" algn="l" rtl="0">
              <a:lnSpc>
                <a:spcPct val="108181"/>
              </a:lnSpc>
              <a:spcBef>
                <a:spcPts val="235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Newly-arriving processes	(and processes	that	complete	their I/O bursts) are added to the end of the ready queue.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3065" marR="0" lvl="0" indent="-342265" algn="l" rtl="0">
              <a:lnSpc>
                <a:spcPct val="114090"/>
              </a:lnSpc>
              <a:spcBef>
                <a:spcPts val="2035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there are 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in the ready queue and the time quantum is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3700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then no process waits more than 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</a:t>
            </a: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</a:t>
            </a:r>
            <a:r>
              <a:rPr lang="en-US" sz="22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	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units.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93065" marR="0" lvl="0" indent="-342265" algn="l" rtl="0">
              <a:lnSpc>
                <a:spcPct val="100000"/>
              </a:lnSpc>
              <a:spcBef>
                <a:spcPts val="205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4385" marR="0" lvl="1" indent="-286385" algn="l" rtl="0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 FCFS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1210" marR="55880" lvl="1" indent="-283844" algn="just" rtl="0">
              <a:lnSpc>
                <a:spcPct val="108000"/>
              </a:lnSpc>
              <a:spcBef>
                <a:spcPts val="111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=&gt;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Processor Sharing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(The system appears to the users as 	though each of the 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 has its own processor running at the 	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(1/</a:t>
            </a:r>
            <a:r>
              <a:rPr lang="en-US" sz="20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1950" b="0" i="1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the speed of the real processor)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for Round-Robin</a:t>
            </a:r>
            <a:endParaRPr/>
          </a:p>
        </p:txBody>
      </p:sp>
      <p:graphicFrame>
        <p:nvGraphicFramePr>
          <p:cNvPr id="247" name="Google Shape;247;p29"/>
          <p:cNvGraphicFramePr/>
          <p:nvPr>
            <p:extLst>
              <p:ext uri="{D42A27DB-BD31-4B8C-83A1-F6EECF244321}">
                <p14:modId xmlns:p14="http://schemas.microsoft.com/office/powerpoint/2010/main" val="2242527730"/>
              </p:ext>
            </p:extLst>
          </p:nvPr>
        </p:nvGraphicFramePr>
        <p:xfrm>
          <a:off x="1136650" y="1136650"/>
          <a:ext cx="6828800" cy="197865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102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588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Burst Time</a:t>
                      </a:r>
                      <a:endParaRPr sz="2000" b="1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37147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W.T.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33020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39687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2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33020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33020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20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98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8" name="Google Shape;248;p29"/>
          <p:cNvSpPr txBox="1"/>
          <p:nvPr/>
        </p:nvSpPr>
        <p:spPr>
          <a:xfrm>
            <a:off x="1227836" y="3274567"/>
            <a:ext cx="241935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Quantum (</a:t>
            </a:r>
            <a:r>
              <a:rPr lang="en-US" sz="20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= 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29"/>
          <p:cNvGraphicFramePr/>
          <p:nvPr/>
        </p:nvGraphicFramePr>
        <p:xfrm>
          <a:off x="374650" y="4718050"/>
          <a:ext cx="8303850" cy="533400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9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2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9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0" name="Google Shape;250;p29"/>
          <p:cNvSpPr txBox="1"/>
          <p:nvPr/>
        </p:nvSpPr>
        <p:spPr>
          <a:xfrm>
            <a:off x="699312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1622297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2545207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3468115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4391405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5314315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6302755" y="4352925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7160132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9"/>
          <p:cNvSpPr txBox="1"/>
          <p:nvPr/>
        </p:nvSpPr>
        <p:spPr>
          <a:xfrm>
            <a:off x="8083422" y="4352925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29"/>
          <p:cNvGraphicFramePr/>
          <p:nvPr/>
        </p:nvGraphicFramePr>
        <p:xfrm>
          <a:off x="212089" y="5354320"/>
          <a:ext cx="8639775" cy="257874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54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31750" marR="0" lvl="0" indent="0" algn="l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 marR="0" lvl="0" indent="0" algn="ctr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0995" marR="0" lvl="0" indent="0" algn="l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3210" marR="0" lvl="0" indent="0" algn="l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1310" marR="0" lvl="0" indent="0" algn="l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7009" marR="0" lvl="0" indent="0" algn="l" rtl="0">
                        <a:lnSpc>
                          <a:spcPct val="9444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0" name="Google Shape;26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Advantages and Disadvantages of RR</a:t>
            </a:r>
            <a:endParaRPr/>
          </a:p>
        </p:txBody>
      </p:sp>
      <p:sp>
        <p:nvSpPr>
          <p:cNvPr id="266" name="Google Shape;266;p30"/>
          <p:cNvSpPr txBox="1"/>
          <p:nvPr/>
        </p:nvSpPr>
        <p:spPr>
          <a:xfrm>
            <a:off x="535940" y="1083310"/>
            <a:ext cx="8082915" cy="360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2325" marR="0" lvl="1" indent="-342900" algn="l" rtl="0">
              <a:lnSpc>
                <a:spcPct val="100000"/>
              </a:lnSpc>
              <a:spcBef>
                <a:spcPts val="15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Every process gets an equal share of the CPU.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22325" marR="0" lvl="1" indent="-342900" algn="l" rtl="0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RR is cyclic in nature, so there is no starvation.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US" sz="22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Disadvantages</a:t>
            </a: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30580" marR="5080" lvl="1" indent="-341630" algn="just" rtl="0">
              <a:lnSpc>
                <a:spcPct val="100000"/>
              </a:lnSpc>
              <a:spcBef>
                <a:spcPts val="157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Setting the quantum too short, increases the overhead and lowers 	the CPU efficiency, but setting it too long may cause poor response to 	short processes.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32485" marR="0" lvl="1" indent="-34353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waiting time under the RR policy is often long.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Multilevel Queue (MLQ) Scheduling</a:t>
            </a:r>
            <a:endParaRPr/>
          </a:p>
        </p:txBody>
      </p:sp>
      <p:pic>
        <p:nvPicPr>
          <p:cNvPr id="273" name="Google Shape;27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1066800"/>
            <a:ext cx="6233786" cy="27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1"/>
          <p:cNvSpPr txBox="1"/>
          <p:nvPr/>
        </p:nvSpPr>
        <p:spPr>
          <a:xfrm>
            <a:off x="535940" y="4258310"/>
            <a:ext cx="760285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Ready queue is divided into various queues that are called subqueues.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535940" y="4791405"/>
            <a:ext cx="4827270" cy="33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54965" marR="0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Processes	are	permanently	assigned	to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5509640" y="4791405"/>
            <a:ext cx="3096895" cy="33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subqueues	based	on	some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878839" y="5096840"/>
            <a:ext cx="47034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property,	such	as	memory	size,	process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5742813" y="5096840"/>
            <a:ext cx="2864485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priority,	or	process	type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607240" y="5715315"/>
            <a:ext cx="50667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(background or foreground process).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4965" marR="0" lvl="0" indent="-342265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queue has its own scheduling algorithm.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of MLQ</a:t>
            </a:r>
            <a:endParaRPr/>
          </a:p>
        </p:txBody>
      </p:sp>
      <p:sp>
        <p:nvSpPr>
          <p:cNvPr id="286" name="Google Shape;286;p32"/>
          <p:cNvSpPr txBox="1"/>
          <p:nvPr/>
        </p:nvSpPr>
        <p:spPr>
          <a:xfrm>
            <a:off x="535940" y="1056487"/>
            <a:ext cx="8072755" cy="269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2425" marR="5080" lvl="0" indent="-339725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 a system with 6 processes where multilevel queue scheduling 	has been deployed using three queues labelled as Q1, Q2 and Q3, with 	priorities of queues are like, Q1 &gt; Q2 &gt; Q3. The Q1, Q2, and Q3 queues use 	the shortest remaining time first (SRTF),  first come first serve (FCFS), and 	round robin (RR) scheduling with 2 ms time quantum, respectively. The 	arrival time (ms), burst time (ms), and execution queues of the processes 	are given in table below.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7" name="Google Shape;287;p32"/>
          <p:cNvGraphicFramePr/>
          <p:nvPr/>
        </p:nvGraphicFramePr>
        <p:xfrm>
          <a:off x="1697354" y="4084828"/>
          <a:ext cx="5748025" cy="2360225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141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 Id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Arrival Time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Burst Time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 No.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8" name="Google Shape;28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of MLQ</a:t>
            </a:r>
            <a:endParaRPr/>
          </a:p>
        </p:txBody>
      </p:sp>
      <p:sp>
        <p:nvSpPr>
          <p:cNvPr id="294" name="Google Shape;294;p33"/>
          <p:cNvSpPr txBox="1"/>
          <p:nvPr/>
        </p:nvSpPr>
        <p:spPr>
          <a:xfrm>
            <a:off x="535940" y="1056487"/>
            <a:ext cx="8075295" cy="43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889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Considering scheduling and context switching overhead as negligible, answer the following: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23900" marR="6350" lvl="0" indent="-349250" algn="just" rtl="0">
              <a:lnSpc>
                <a:spcPct val="125000"/>
              </a:lnSpc>
              <a:spcBef>
                <a:spcPts val="22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Draw the  Gantt  chart  showing the  sequence of execution  for the 	processes involved in the system, and also specify the status of Q1, Q2, 	and Q3 at time instance t=20, i.e. the processes that reside in the said 	queues.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25805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turn-around time of processes P4 and P6?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25805" marR="0" lvl="0" indent="-3505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	are	the	number	context	of	switches	after	execution	of	all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25805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process?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 of MLQ</a:t>
            </a:r>
            <a:endParaRPr/>
          </a:p>
        </p:txBody>
      </p:sp>
      <p:graphicFrame>
        <p:nvGraphicFramePr>
          <p:cNvPr id="301" name="Google Shape;301;p34"/>
          <p:cNvGraphicFramePr/>
          <p:nvPr/>
        </p:nvGraphicFramePr>
        <p:xfrm>
          <a:off x="1697354" y="988441"/>
          <a:ext cx="5748025" cy="2360225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141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 Id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Arrival Time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Burst Time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Queue No.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7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75"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6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2" name="Google Shape;302;p34"/>
          <p:cNvGraphicFramePr/>
          <p:nvPr/>
        </p:nvGraphicFramePr>
        <p:xfrm>
          <a:off x="749223" y="4142767"/>
          <a:ext cx="7635300" cy="368925"/>
        </p:xfrm>
        <a:graphic>
          <a:graphicData uri="http://schemas.openxmlformats.org/drawingml/2006/table">
            <a:tbl>
              <a:tblPr firstRow="1" bandRow="1">
                <a:noFill/>
                <a:tableStyleId>{EE1C2321-23FC-48FD-B82A-C5DD011F1FAA}</a:tableStyleId>
              </a:tblPr>
              <a:tblGrid>
                <a:gridCol w="95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P3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P4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P6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39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3" name="Google Shape;303;p34"/>
          <p:cNvSpPr txBox="1"/>
          <p:nvPr/>
        </p:nvSpPr>
        <p:spPr>
          <a:xfrm>
            <a:off x="2108454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4"/>
          <p:cNvSpPr txBox="1"/>
          <p:nvPr/>
        </p:nvSpPr>
        <p:spPr>
          <a:xfrm>
            <a:off x="3062097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4"/>
          <p:cNvSpPr txBox="1"/>
          <p:nvPr/>
        </p:nvSpPr>
        <p:spPr>
          <a:xfrm>
            <a:off x="4015866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4"/>
          <p:cNvSpPr txBox="1"/>
          <p:nvPr/>
        </p:nvSpPr>
        <p:spPr>
          <a:xfrm>
            <a:off x="4970145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/>
          <p:cNvSpPr txBox="1"/>
          <p:nvPr/>
        </p:nvSpPr>
        <p:spPr>
          <a:xfrm>
            <a:off x="5925058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4"/>
          <p:cNvSpPr txBox="1"/>
          <p:nvPr/>
        </p:nvSpPr>
        <p:spPr>
          <a:xfrm>
            <a:off x="6879717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4"/>
          <p:cNvSpPr txBox="1"/>
          <p:nvPr/>
        </p:nvSpPr>
        <p:spPr>
          <a:xfrm>
            <a:off x="7834376" y="3806853"/>
            <a:ext cx="15494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4"/>
          <p:cNvSpPr txBox="1"/>
          <p:nvPr/>
        </p:nvSpPr>
        <p:spPr>
          <a:xfrm>
            <a:off x="690473" y="3501916"/>
            <a:ext cx="116967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Gantt Chart: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78740" lvl="0" indent="0" algn="ctr" rtl="0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159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3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4"/>
          <p:cNvSpPr txBox="1"/>
          <p:nvPr/>
        </p:nvSpPr>
        <p:spPr>
          <a:xfrm>
            <a:off x="2611882" y="4475889"/>
            <a:ext cx="309372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	10	15	17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6428994" y="4475889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4"/>
          <p:cNvSpPr txBox="1"/>
          <p:nvPr/>
        </p:nvSpPr>
        <p:spPr>
          <a:xfrm>
            <a:off x="7293356" y="4475889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4"/>
          <p:cNvSpPr txBox="1"/>
          <p:nvPr/>
        </p:nvSpPr>
        <p:spPr>
          <a:xfrm>
            <a:off x="8243443" y="4475889"/>
            <a:ext cx="284480" cy="330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4"/>
          <p:cNvSpPr txBox="1"/>
          <p:nvPr/>
        </p:nvSpPr>
        <p:spPr>
          <a:xfrm>
            <a:off x="690473" y="4803472"/>
            <a:ext cx="5626100" cy="185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100" rIns="0" bIns="0" anchor="t" anchorCtr="0">
            <a:spAutoFit/>
          </a:bodyPr>
          <a:lstStyle/>
          <a:p>
            <a:pPr marL="469265" marR="0" lvl="0" indent="-456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time instance t = 20 : Q1, Q2, Q3 will be empty.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265" marR="0" lvl="0" indent="-45656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Turnaround time of process P4 = 18-6 =12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Turnaround time of process P6 = 21- 5 = 16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265" marR="0" lvl="0" indent="-45656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 startAt="3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of context switches = 7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Advantages and Disadvantages of MLQ</a:t>
            </a:r>
            <a:endParaRPr/>
          </a:p>
        </p:txBody>
      </p:sp>
      <p:sp>
        <p:nvSpPr>
          <p:cNvPr id="327" name="Google Shape;32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97D2E2-1F88-C048-A839-A302B709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96963"/>
              </p:ext>
            </p:extLst>
          </p:nvPr>
        </p:nvGraphicFramePr>
        <p:xfrm>
          <a:off x="738052" y="1293625"/>
          <a:ext cx="7648302" cy="4885107"/>
        </p:xfrm>
        <a:graphic>
          <a:graphicData uri="http://schemas.openxmlformats.org/drawingml/2006/table">
            <a:tbl>
              <a:tblPr/>
              <a:tblGrid>
                <a:gridCol w="3926177">
                  <a:extLst>
                    <a:ext uri="{9D8B030D-6E8A-4147-A177-3AD203B41FA5}">
                      <a16:colId xmlns:a16="http://schemas.microsoft.com/office/drawing/2014/main" val="1515042705"/>
                    </a:ext>
                  </a:extLst>
                </a:gridCol>
                <a:gridCol w="3722125">
                  <a:extLst>
                    <a:ext uri="{9D8B030D-6E8A-4147-A177-3AD203B41FA5}">
                      <a16:colId xmlns:a16="http://schemas.microsoft.com/office/drawing/2014/main" val="422271264"/>
                    </a:ext>
                  </a:extLst>
                </a:gridCol>
              </a:tblGrid>
              <a:tr h="236627"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1" dirty="0">
                          <a:effectLst/>
                          <a:latin typeface="Nunito" pitchFamily="2" charset="77"/>
                        </a:rPr>
                        <a:t>Advantages</a:t>
                      </a:r>
                      <a:endParaRPr lang="en-IN" sz="1200" b="0" dirty="0">
                        <a:effectLst/>
                        <a:latin typeface="Nunito" pitchFamily="2" charset="77"/>
                      </a:endParaRP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1">
                          <a:effectLst/>
                          <a:latin typeface="Nunito" pitchFamily="2" charset="77"/>
                        </a:rPr>
                        <a:t>Disadvantages</a:t>
                      </a:r>
                      <a:endParaRPr lang="en-IN" sz="1200" b="0">
                        <a:effectLst/>
                        <a:latin typeface="Nunito" pitchFamily="2" charset="77"/>
                      </a:endParaRP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14190"/>
                  </a:ext>
                </a:extLst>
              </a:tr>
              <a:tr h="1041495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Separates processes (e.g., system, interactive, batch) into distinct queues, making management more organized.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Nunito" pitchFamily="2" charset="77"/>
                        </a:rPr>
                        <a:t>If high-priority queues are underloaded, CPU may stay idle while lower-priority processes wait.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47535"/>
                  </a:ext>
                </a:extLst>
              </a:tr>
              <a:tr h="1100336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Since queue priorities are fixed, system administrators can easily predict how processes will be scheduled.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Once placed in a queue, processes cannot move between queues, leading to inefficiency if workload type changes.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720660"/>
                  </a:ext>
                </a:extLst>
              </a:tr>
              <a:tr h="717867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Nunito" pitchFamily="2" charset="77"/>
                        </a:rPr>
                        <a:t>Interactive and system processes get higher priority, leading to improved response times for user-centric tasks.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Handling multiple queues requires more bookkeeping and resources.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310640"/>
                  </a:ext>
                </a:extLst>
              </a:tr>
              <a:tr h="717867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>
                          <a:effectLst/>
                          <a:latin typeface="Nunito" pitchFamily="2" charset="77"/>
                        </a:rPr>
                        <a:t>Suitable for systems handling a wide variety of process types, as multiple queues can be designed for different workloads.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Some queues may dominate CPU time while others rarely get a chance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110366"/>
                  </a:ext>
                </a:extLst>
              </a:tr>
              <a:tr h="1070915"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Ensures critical processes are not delayed behind non-essential tasks.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In real-world workloads where process </a:t>
                      </a:r>
                      <a:r>
                        <a:rPr lang="en-IN" sz="1200" b="0" dirty="0" err="1">
                          <a:effectLst/>
                          <a:latin typeface="Nunito" pitchFamily="2" charset="77"/>
                        </a:rPr>
                        <a:t>behavior</a:t>
                      </a: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 changes, fixed queues reduce flexibility and adaptability.</a:t>
                      </a:r>
                    </a:p>
                  </a:txBody>
                  <a:tcPr marL="13765" marR="13765" marT="19271" marB="19271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107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1FA8-A579-D7EF-CAAC-0E93C477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161211" cy="838200"/>
          </a:xfrm>
        </p:spPr>
        <p:txBody>
          <a:bodyPr/>
          <a:lstStyle/>
          <a:p>
            <a:r>
              <a:rPr lang="en-US" dirty="0"/>
              <a:t>MCQs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38A85-C56C-5C32-58AE-404A31C82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05840"/>
            <a:ext cx="8229600" cy="4525963"/>
          </a:xfrm>
        </p:spPr>
        <p:txBody>
          <a:bodyPr/>
          <a:lstStyle/>
          <a:p>
            <a:pPr marL="114300" indent="0">
              <a:buNone/>
            </a:pPr>
            <a:r>
              <a:rPr lang="en-US" sz="1400" dirty="0"/>
              <a:t>Q1. </a:t>
            </a:r>
            <a:r>
              <a:rPr lang="en-IN" sz="1400" dirty="0"/>
              <a:t>If the CPU scheduling policy is priority non-</a:t>
            </a:r>
            <a:r>
              <a:rPr lang="en-IN" sz="1400" dirty="0" err="1"/>
              <a:t>preemptive</a:t>
            </a:r>
            <a:r>
              <a:rPr lang="en-IN" sz="1400" dirty="0"/>
              <a:t>, calculate the average waiting time and average turn around time. (Higher number represents higher priority)</a:t>
            </a:r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>
              <a:buNone/>
            </a:pPr>
            <a:endParaRPr lang="en-IN" sz="1400" dirty="0"/>
          </a:p>
          <a:p>
            <a:pPr marL="114300" indent="0" fontAlgn="base">
              <a:buNone/>
            </a:pPr>
            <a:r>
              <a:rPr lang="en-IN" sz="1400" dirty="0"/>
              <a:t>Answer: </a:t>
            </a:r>
          </a:p>
          <a:p>
            <a:pPr marL="114300" indent="0" fontAlgn="base">
              <a:buNone/>
            </a:pPr>
            <a:r>
              <a:rPr lang="en-IN" sz="1400" dirty="0"/>
              <a:t>Average Turn Around time = 8.2 units</a:t>
            </a:r>
          </a:p>
          <a:p>
            <a:pPr marL="114300" indent="0" fontAlgn="base">
              <a:buNone/>
            </a:pPr>
            <a:r>
              <a:rPr lang="en-IN" sz="1400" dirty="0"/>
              <a:t>Average waiting time = 5.2 units</a:t>
            </a:r>
          </a:p>
          <a:p>
            <a:pPr marL="114300" indent="0">
              <a:buNone/>
            </a:pPr>
            <a:endParaRPr lang="en-US" sz="1400" dirty="0"/>
          </a:p>
          <a:p>
            <a:endParaRPr lang="en-US" sz="1400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118AA2-378D-0E8A-22D6-F4885E57B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93734"/>
              </p:ext>
            </p:extLst>
          </p:nvPr>
        </p:nvGraphicFramePr>
        <p:xfrm>
          <a:off x="996638" y="1625078"/>
          <a:ext cx="6628209" cy="2164080"/>
        </p:xfrm>
        <a:graphic>
          <a:graphicData uri="http://schemas.openxmlformats.org/drawingml/2006/table">
            <a:tbl>
              <a:tblPr/>
              <a:tblGrid>
                <a:gridCol w="1982191">
                  <a:extLst>
                    <a:ext uri="{9D8B030D-6E8A-4147-A177-3AD203B41FA5}">
                      <a16:colId xmlns:a16="http://schemas.microsoft.com/office/drawing/2014/main" val="768608295"/>
                    </a:ext>
                  </a:extLst>
                </a:gridCol>
                <a:gridCol w="1680749">
                  <a:extLst>
                    <a:ext uri="{9D8B030D-6E8A-4147-A177-3AD203B41FA5}">
                      <a16:colId xmlns:a16="http://schemas.microsoft.com/office/drawing/2014/main" val="828532057"/>
                    </a:ext>
                  </a:extLst>
                </a:gridCol>
                <a:gridCol w="1556669">
                  <a:extLst>
                    <a:ext uri="{9D8B030D-6E8A-4147-A177-3AD203B41FA5}">
                      <a16:colId xmlns:a16="http://schemas.microsoft.com/office/drawing/2014/main" val="868605721"/>
                    </a:ext>
                  </a:extLst>
                </a:gridCol>
                <a:gridCol w="1408600">
                  <a:extLst>
                    <a:ext uri="{9D8B030D-6E8A-4147-A177-3AD203B41FA5}">
                      <a16:colId xmlns:a16="http://schemas.microsoft.com/office/drawing/2014/main" val="324920075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Process Id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Arrival time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Burst time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 Priority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58418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5947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P2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8816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9140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5175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9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54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6561D-870F-C8AD-A842-0F343E029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71154"/>
            <a:ext cx="8229600" cy="4525963"/>
          </a:xfrm>
        </p:spPr>
        <p:txBody>
          <a:bodyPr/>
          <a:lstStyle/>
          <a:p>
            <a:pPr marL="114300" indent="0" fontAlgn="base">
              <a:buNone/>
            </a:pPr>
            <a:r>
              <a:rPr lang="en-US" sz="1400" dirty="0"/>
              <a:t>Q2. </a:t>
            </a:r>
            <a:r>
              <a:rPr lang="en-IN" sz="1400" dirty="0"/>
              <a:t>Consider the set of 5 processes whose arrival time and burst time are given below. If the CPU scheduling policy is Round Robin with time quantum = 2 unit, calculate the average waiting time and average turn around time.</a:t>
            </a:r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endParaRPr lang="en-IN" sz="1400" dirty="0"/>
          </a:p>
          <a:p>
            <a:pPr marL="114300" indent="0" fontAlgn="base">
              <a:buNone/>
            </a:pPr>
            <a:r>
              <a:rPr lang="en-IN" sz="1400" dirty="0"/>
              <a:t>Answer: </a:t>
            </a:r>
          </a:p>
          <a:p>
            <a:pPr marL="114300" indent="0" fontAlgn="base">
              <a:buNone/>
            </a:pPr>
            <a:r>
              <a:rPr lang="en-IN" sz="1400" dirty="0"/>
              <a:t>Average Turn Around time = 8.6 unit</a:t>
            </a:r>
          </a:p>
          <a:p>
            <a:pPr marL="114300" indent="0" fontAlgn="base">
              <a:buNone/>
            </a:pPr>
            <a:r>
              <a:rPr lang="en-IN" sz="1400" dirty="0"/>
              <a:t>Average waiting time = 5.8 unit</a:t>
            </a:r>
          </a:p>
          <a:p>
            <a:pPr marL="114300" indent="0" fontAlgn="base">
              <a:buNone/>
            </a:pPr>
            <a:br>
              <a:rPr lang="en-IN" sz="1400" dirty="0"/>
            </a:br>
            <a:r>
              <a:rPr lang="en-US" dirty="0"/>
              <a:t>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5F4CBE5-525C-9131-39CA-5710A51E42E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161211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MCQs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718BE2-62E9-C0E0-3A96-809CFD294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31301"/>
              </p:ext>
            </p:extLst>
          </p:nvPr>
        </p:nvGraphicFramePr>
        <p:xfrm>
          <a:off x="1781175" y="1899398"/>
          <a:ext cx="5581650" cy="2164080"/>
        </p:xfrm>
        <a:graphic>
          <a:graphicData uri="http://schemas.openxmlformats.org/drawingml/2006/table">
            <a:tbl>
              <a:tblPr/>
              <a:tblGrid>
                <a:gridCol w="1860550">
                  <a:extLst>
                    <a:ext uri="{9D8B030D-6E8A-4147-A177-3AD203B41FA5}">
                      <a16:colId xmlns:a16="http://schemas.microsoft.com/office/drawing/2014/main" val="2701380142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1408617271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358908831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Process Id</a:t>
                      </a:r>
                      <a:endParaRPr lang="en-IN" dirty="0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Arrival time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Burst time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2986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8670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3839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3316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255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89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15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189F-2398-D24B-ED1F-0ABA6D67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461657" cy="838200"/>
          </a:xfrm>
        </p:spPr>
        <p:txBody>
          <a:bodyPr/>
          <a:lstStyle/>
          <a:p>
            <a:r>
              <a:rPr lang="en-US" dirty="0"/>
              <a:t>MCQs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1B467-D098-575A-0DBF-79FEA35F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8091"/>
            <a:ext cx="8229600" cy="4525963"/>
          </a:xfrm>
        </p:spPr>
        <p:txBody>
          <a:bodyPr/>
          <a:lstStyle/>
          <a:p>
            <a:pPr marL="114300" indent="0" fontAlgn="base">
              <a:buNone/>
            </a:pPr>
            <a:r>
              <a:rPr lang="en-US" sz="1400" dirty="0"/>
              <a:t>Q3. </a:t>
            </a:r>
            <a:r>
              <a:rPr lang="en-IN" sz="1400" dirty="0"/>
              <a:t>Consider the set of 6 processes whose arrival time and burst time are given below. If the CPU scheduling policy is Round Robin with time quantum = 3, calculate the average waiting time and average turn around time.</a:t>
            </a:r>
            <a:br>
              <a:rPr lang="en-IN" sz="1400" dirty="0"/>
            </a:br>
            <a:r>
              <a:rPr lang="en-US" sz="1400" dirty="0"/>
              <a:t> </a:t>
            </a:r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endParaRPr lang="en-US" sz="1400" dirty="0"/>
          </a:p>
          <a:p>
            <a:pPr marL="114300" indent="0" fontAlgn="base">
              <a:buNone/>
            </a:pPr>
            <a:r>
              <a:rPr lang="en-US" sz="1400" dirty="0"/>
              <a:t>Answer: </a:t>
            </a:r>
          </a:p>
          <a:p>
            <a:pPr marL="114300" indent="0" fontAlgn="base">
              <a:buNone/>
            </a:pPr>
            <a:r>
              <a:rPr lang="en-IN" sz="1400" dirty="0"/>
              <a:t>Average Turn Around time = 21.33 unit</a:t>
            </a:r>
          </a:p>
          <a:p>
            <a:pPr marL="114300" indent="0" fontAlgn="base">
              <a:buNone/>
            </a:pPr>
            <a:r>
              <a:rPr lang="en-IN" sz="1400" dirty="0"/>
              <a:t>Average waiting time = 16 unit</a:t>
            </a:r>
          </a:p>
          <a:p>
            <a:pPr marL="114300" indent="0" fontAlgn="base">
              <a:buNone/>
            </a:pPr>
            <a:endParaRPr lang="en-US" sz="14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7C47EC-A833-AEB7-2C73-3934D1F31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847045"/>
              </p:ext>
            </p:extLst>
          </p:nvPr>
        </p:nvGraphicFramePr>
        <p:xfrm>
          <a:off x="1781175" y="1951650"/>
          <a:ext cx="5581650" cy="2529840"/>
        </p:xfrm>
        <a:graphic>
          <a:graphicData uri="http://schemas.openxmlformats.org/drawingml/2006/table">
            <a:tbl>
              <a:tblPr/>
              <a:tblGrid>
                <a:gridCol w="1860550">
                  <a:extLst>
                    <a:ext uri="{9D8B030D-6E8A-4147-A177-3AD203B41FA5}">
                      <a16:colId xmlns:a16="http://schemas.microsoft.com/office/drawing/2014/main" val="3399559809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18801119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4168328214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Process Id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effectLst/>
                        </a:rPr>
                        <a:t>Arrival time</a:t>
                      </a:r>
                      <a:endParaRPr lang="en-IN" dirty="0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>
                          <a:effectLst/>
                        </a:rPr>
                        <a:t>Burst time</a:t>
                      </a:r>
                      <a:endParaRPr lang="en-IN">
                        <a:effectLst/>
                      </a:endParaRP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617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8029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8693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7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80752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P4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9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0899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P5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9917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P6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effectLst/>
                        </a:rPr>
                        <a:t>3</a:t>
                      </a:r>
                    </a:p>
                  </a:txBody>
                  <a:tcPr marL="95250" marR="95250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147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93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1495</Words>
  <Application>Microsoft Office PowerPoint</Application>
  <PresentationFormat>On-screen Show (4:3)</PresentationFormat>
  <Paragraphs>473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Nunito</vt:lpstr>
      <vt:lpstr>Calibri</vt:lpstr>
      <vt:lpstr>Noto Sans Symbols</vt:lpstr>
      <vt:lpstr>Times New Roman</vt:lpstr>
      <vt:lpstr>Arial</vt:lpstr>
      <vt:lpstr>Office Theme</vt:lpstr>
      <vt:lpstr>PowerPoint Presentation</vt:lpstr>
      <vt:lpstr>Priority-based (PB) Scheduling</vt:lpstr>
      <vt:lpstr>Example for Priority-based Scheduling (Non-preemptive)</vt:lpstr>
      <vt:lpstr>Example for Priority-based Scheduling (Preemptive)</vt:lpstr>
      <vt:lpstr>Advantages and Disadvantages of PB</vt:lpstr>
      <vt:lpstr>Round Robin (RR) Scheduling</vt:lpstr>
      <vt:lpstr>Example for Round-Robin</vt:lpstr>
      <vt:lpstr>Advantages and Disadvantages of RR</vt:lpstr>
      <vt:lpstr>Multilevel Queue (MLQ) Scheduling</vt:lpstr>
      <vt:lpstr>Example of MLQ</vt:lpstr>
      <vt:lpstr>Example of MLQ</vt:lpstr>
      <vt:lpstr>Example of MLQ</vt:lpstr>
      <vt:lpstr>Advantages and Disadvantages of MLQ</vt:lpstr>
      <vt:lpstr>MCQs</vt:lpstr>
      <vt:lpstr>PowerPoint Presentation</vt:lpstr>
      <vt:lpstr>MCQs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Tanish Singla</cp:lastModifiedBy>
  <cp:revision>3</cp:revision>
  <dcterms:created xsi:type="dcterms:W3CDTF">2010-04-09T07:36:00Z</dcterms:created>
  <dcterms:modified xsi:type="dcterms:W3CDTF">2026-03-05T08:28:53Z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77C75C994B4C446DB33EAD35C783E0D7_12</vt:lpwstr>
  </property>
  <property fmtid="{D5CDD505-2E9C-101B-9397-08002B2CF9AE}" pid="3" name="KSOProductBuildVer">
    <vt:lpwstr>1033-12.2.0.17153</vt:lpwstr>
  </property>
</Properties>
</file>