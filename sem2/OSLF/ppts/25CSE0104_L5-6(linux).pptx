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317" r:id="rId10"/>
    <p:sldId id="318" r:id="rId11"/>
    <p:sldId id="319" r:id="rId12"/>
    <p:sldId id="320" r:id="rId13"/>
    <p:sldId id="321" r:id="rId14"/>
    <p:sldId id="323" r:id="rId15"/>
    <p:sldId id="267" r:id="rId16"/>
    <p:sldId id="268" r:id="rId17"/>
    <p:sldId id="269" r:id="rId18"/>
    <p:sldId id="325" r:id="rId19"/>
    <p:sldId id="315" r:id="rId20"/>
    <p:sldId id="316" r:id="rId21"/>
    <p:sldId id="326" r:id="rId2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gJf16mY+BAXz102EpJGrGpyQf9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/>
    <p:restoredTop sz="94671"/>
  </p:normalViewPr>
  <p:slideViewPr>
    <p:cSldViewPr snapToGrid="0">
      <p:cViewPr varScale="1">
        <p:scale>
          <a:sx n="78" d="100"/>
          <a:sy n="78" d="100"/>
        </p:scale>
        <p:origin x="1238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6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7474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73" name="Google Shape;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36DEA2B-79CE-01F1-02C2-EB909BA7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CC726C3C-D3B6-79BB-2F3C-C10E0BEBD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B175BE74-95D9-F6D9-30F6-434DCD518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19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21689E0-C3CA-C80D-3EA9-C68A5F25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9F0EB1A9-ED9F-1DAA-854C-6D3EA6DFA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386B57F2-70D2-205B-A5E2-0DD839FA09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140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C70FBF9-6510-299B-49F7-7345A041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D281098E-5CB4-CF9D-929C-0FF107F79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7B646C9D-4B55-8C81-A09C-301431D02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4393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8BE76AD-3631-90A8-0566-04F086AC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ED94BF64-75CC-AE05-85A2-5AD8C8A157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F53C1829-7FC3-1B57-40D9-9ED227395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4523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F4D0E9E-A001-CF3A-9BA5-7F3896F0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5528E0A-9023-9D58-613D-9A4492C1C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7548D40E-6EE7-DE17-96CC-239C5DAF0B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4496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3B071F90-8BE7-0BEE-B95F-33A37883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:notes">
            <a:extLst>
              <a:ext uri="{FF2B5EF4-FFF2-40B4-BE49-F238E27FC236}">
                <a16:creationId xmlns:a16="http://schemas.microsoft.com/office/drawing/2014/main" id="{89E16FA3-EB03-E8FE-AA01-7E55970C6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7:notes">
            <a:extLst>
              <a:ext uri="{FF2B5EF4-FFF2-40B4-BE49-F238E27FC236}">
                <a16:creationId xmlns:a16="http://schemas.microsoft.com/office/drawing/2014/main" id="{9B5B3FCA-E5E6-B297-B4B8-06B22044B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6631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4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1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7" name="Google Shape;27;p1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14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" name="Google Shape;30;p14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91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3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3"/>
          <p:cNvSpPr/>
          <p:nvPr/>
        </p:nvSpPr>
        <p:spPr>
          <a:xfrm rot="10800000" flipH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1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3" descr="LOGO.gif"/>
          <p:cNvPicPr preferRelativeResize="0"/>
          <p:nvPr/>
        </p:nvPicPr>
        <p:blipFill rotWithShape="1">
          <a:blip r:embed="rId4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13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0" name="Google Shape;20;p13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13" descr="LOGO.gif"/>
            <p:cNvPicPr preferRelativeResize="0"/>
            <p:nvPr/>
          </p:nvPicPr>
          <p:blipFill rotWithShape="1">
            <a:blip r:embed="rId4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13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" name="Google Shape;23;p13" descr="logo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"/>
          <p:cNvSpPr txBox="1"/>
          <p:nvPr/>
        </p:nvSpPr>
        <p:spPr>
          <a:xfrm>
            <a:off x="1219200" y="1889661"/>
            <a:ext cx="6553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lvl="0" algn="ctr">
              <a:buSzPts val="3600"/>
            </a:pPr>
            <a:r>
              <a:rPr lang="en-IN" sz="3200" b="1" dirty="0"/>
              <a:t>Introduction to Linux OS</a:t>
            </a:r>
            <a:endParaRPr sz="3200" b="1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42" name="Google Shape;42;p1"/>
          <p:cNvSpPr txBox="1"/>
          <p:nvPr/>
        </p:nvSpPr>
        <p:spPr>
          <a:xfrm>
            <a:off x="1621155" y="4764062"/>
            <a:ext cx="6739074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University Institute of Engineering and Technology,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Chitkara</a:t>
            </a:r>
            <a:r>
              <a:rPr lang="en-US" sz="18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University, Punjab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/>
              <a:t>Content</a:t>
            </a:r>
            <a:endParaRPr dirty="0"/>
          </a:p>
        </p:txBody>
      </p:sp>
      <p:sp>
        <p:nvSpPr>
          <p:cNvPr id="48" name="Google Shape;48;p2"/>
          <p:cNvSpPr txBox="1">
            <a:spLocks noGrp="1"/>
          </p:cNvSpPr>
          <p:nvPr>
            <p:ph type="body" idx="1"/>
          </p:nvPr>
        </p:nvSpPr>
        <p:spPr>
          <a:xfrm>
            <a:off x="457200" y="1083501"/>
            <a:ext cx="8229600" cy="5404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Times New Roman"/>
                <a:cs typeface="Times New Roman"/>
              </a:rPr>
              <a:t>Introduction to Linux OS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Times New Roman"/>
                <a:cs typeface="Times New Roman"/>
              </a:rPr>
              <a:t>History of Linux OS</a:t>
            </a: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Times New Roman"/>
                <a:cs typeface="Times New Roman"/>
              </a:rPr>
              <a:t> Philosophy of Linux OS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Times New Roman"/>
                <a:cs typeface="Times New Roman"/>
              </a:rPr>
              <a:t>Distributions of Linux OS</a:t>
            </a:r>
          </a:p>
          <a:p>
            <a:pPr marL="285750" lvl="0" indent="-285750" algn="just">
              <a:lnSpc>
                <a:spcPct val="150000"/>
              </a:lnSpc>
              <a:spcBef>
                <a:spcPts val="0"/>
              </a:spcBef>
            </a:pPr>
            <a:r>
              <a:rPr lang="en-IN" sz="2400" dirty="0">
                <a:latin typeface="Times New Roman"/>
                <a:cs typeface="Times New Roman"/>
              </a:rPr>
              <a:t>Overview of Linux architecture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endParaRPr dirty="0"/>
          </a:p>
        </p:txBody>
      </p:sp>
      <p:sp>
        <p:nvSpPr>
          <p:cNvPr id="49" name="Google Shape;49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F97A8-E74E-8883-9A1D-9642300333C2}"/>
              </a:ext>
            </a:extLst>
          </p:cNvPr>
          <p:cNvSpPr txBox="1"/>
          <p:nvPr/>
        </p:nvSpPr>
        <p:spPr>
          <a:xfrm>
            <a:off x="-1569308" y="275555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  <a:t>Introduction to Linux OS</a:t>
            </a:r>
            <a:endParaRPr dirty="0"/>
          </a:p>
        </p:txBody>
      </p:sp>
      <p:sp>
        <p:nvSpPr>
          <p:cNvPr id="55" name="Google Shape;55;p3"/>
          <p:cNvSpPr txBox="1">
            <a:spLocks noGrp="1"/>
          </p:cNvSpPr>
          <p:nvPr>
            <p:ph type="body" idx="1"/>
          </p:nvPr>
        </p:nvSpPr>
        <p:spPr>
          <a:xfrm>
            <a:off x="269250" y="1165847"/>
            <a:ext cx="8605500" cy="5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open-source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system (OS) used to run computers, servers, and devices.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based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architecture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is known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stability, security, and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widely used in: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&amp; Cloud platforms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(AWS, Azure, Google Cloud)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&amp; Automation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Supercomputers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devices (Android is Linux-based)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comes in different versions called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 (Distros)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Ubuntu, CentOS, RHEL, Debian, Fedora, Kali Linux</a:t>
            </a: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56" name="Google Shape;5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6200" y="303877"/>
            <a:ext cx="6477000" cy="44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br>
              <a:rPr lang="en-US" sz="32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290944" y="1147156"/>
            <a:ext cx="8502073" cy="5120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Advantages of Linux:</a:t>
            </a:r>
          </a:p>
          <a:p>
            <a:pPr marL="114300" lv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anyone can use, modify, and share it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Multiuser &amp; Multitasking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multiple users and tasks can run at the same time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Secure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fewer viruses, strong permissions (user/group access)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&amp; Reliable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best for long-running servers and production workloads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Power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fast management using terminal commands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Customizable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you can change UI, tools, services as per requirement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real world for: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hosting, databases, CI/CD pipelines, Docker, Kubernetes</a:t>
            </a:r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/>
          </a:p>
          <a:p>
            <a:pPr marL="114300" lvl="0" indent="0" algn="just">
              <a:buNone/>
            </a:pPr>
            <a:endParaRPr lang="en-IN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4300" lvl="0" indent="0" algn="just"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LINUX OS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Google Shape;69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body" idx="1"/>
          </p:nvPr>
        </p:nvSpPr>
        <p:spPr>
          <a:xfrm>
            <a:off x="142240" y="1038178"/>
            <a:ext cx="8544560" cy="4534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 of Linux – Origin</a:t>
            </a:r>
          </a:p>
          <a:p>
            <a:pPr marL="11430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and open-source operating system kernel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Linus Torvalds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Started as a personal project to build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Unix-like OS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Linus shared the first version on the internet for public use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later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tools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form a complete OS (GNU/Linux)</a:t>
            </a:r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 algn="l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dirty="0"/>
          </a:p>
        </p:txBody>
      </p:sp>
      <p:sp>
        <p:nvSpPr>
          <p:cNvPr id="76" name="Google Shape;76;p6"/>
          <p:cNvSpPr txBox="1">
            <a:spLocks noGrp="1"/>
          </p:cNvSpPr>
          <p:nvPr>
            <p:ph type="body" idx="1"/>
          </p:nvPr>
        </p:nvSpPr>
        <p:spPr>
          <a:xfrm>
            <a:off x="370840" y="1141730"/>
            <a:ext cx="8229600" cy="498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 in Linux Evolution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1970s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Unix OS became popular in universities &amp; research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1983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Richard Stallman started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GNU Project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Linux kernel first released by Linus Torvalds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Linux licensed under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GPL (General Public License)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2000s–Today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Linux became dominant in: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Servers, cloud, supercomputers, smartphones (Android)</a:t>
            </a:r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1"/>
          </p:nvPr>
        </p:nvSpPr>
        <p:spPr>
          <a:xfrm>
            <a:off x="337127" y="1186873"/>
            <a:ext cx="8229600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in Modern Computing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powers most of the internet infrastructure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(AWS EC2 Linux, Google Linux servers)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 &amp; DevOps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(Docker, Kubernetes)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tools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(Kali Linux)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Embedded systems</a:t>
            </a:r>
          </a:p>
          <a:p>
            <a:pPr marL="5715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because it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stable, scalable, and cost-effective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PHILOSOPHY OF LINUX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83308" y="1186873"/>
            <a:ext cx="8465127" cy="5169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follows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Source philosophy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is available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can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use, modify, and distribute</a:t>
            </a:r>
          </a:p>
          <a:p>
            <a:pPr marL="5715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community collaboration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to be: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stable, and powerful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both beginners and professionals</a:t>
            </a: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6C21332-E214-2D1E-61FF-81D3A6E9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>
            <a:extLst>
              <a:ext uri="{FF2B5EF4-FFF2-40B4-BE49-F238E27FC236}">
                <a16:creationId xmlns:a16="http://schemas.microsoft.com/office/drawing/2014/main" id="{29744595-D13B-A601-F5CA-E7699BE7D9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5A5D90F1-F636-14C2-110F-1F1D6E080A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7127" y="1186873"/>
            <a:ext cx="8229600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Design Principles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one thing and do it well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(small tools, powerful output)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is treated as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Devices, folders, processes etc.</a:t>
            </a:r>
          </a:p>
          <a:p>
            <a:pPr marL="5715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strong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permissions and ownership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Group, Others</a:t>
            </a:r>
          </a:p>
          <a:p>
            <a:pPr marL="5715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automation using: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 scripting + command line tools</a:t>
            </a: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>
            <a:extLst>
              <a:ext uri="{FF2B5EF4-FFF2-40B4-BE49-F238E27FC236}">
                <a16:creationId xmlns:a16="http://schemas.microsoft.com/office/drawing/2014/main" id="{DE330006-9D89-6725-E508-A6A6B1895C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52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7CD6497A-52E2-C59C-F4F8-18275836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>
            <a:extLst>
              <a:ext uri="{FF2B5EF4-FFF2-40B4-BE49-F238E27FC236}">
                <a16:creationId xmlns:a16="http://schemas.microsoft.com/office/drawing/2014/main" id="{77068FA4-4D11-8583-355D-C4DD525EA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D7FE1FF4-D507-FA34-30A2-2D4C3E0CD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273" y="838200"/>
            <a:ext cx="8229600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Linux is Preferred in Industry?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Freedom &amp; Flexibility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GUI, server tools, desktop environment</a:t>
            </a:r>
          </a:p>
          <a:p>
            <a:pPr marL="57150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run for months/years without restart</a:t>
            </a:r>
          </a:p>
          <a:p>
            <a:pPr marL="57150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access control and quick security updates</a:t>
            </a:r>
          </a:p>
          <a:p>
            <a:pPr marL="57150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optimized for servers</a:t>
            </a:r>
          </a:p>
          <a:p>
            <a:pPr marL="57150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Support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developers continuously improving Linux</a:t>
            </a: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>
            <a:extLst>
              <a:ext uri="{FF2B5EF4-FFF2-40B4-BE49-F238E27FC236}">
                <a16:creationId xmlns:a16="http://schemas.microsoft.com/office/drawing/2014/main" id="{EF73F6F7-6D1B-E7AD-E5CE-C4A23E915D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172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88DD5BDF-E54C-AC37-0BF0-8AEBC4ED3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>
            <a:extLst>
              <a:ext uri="{FF2B5EF4-FFF2-40B4-BE49-F238E27FC236}">
                <a16:creationId xmlns:a16="http://schemas.microsoft.com/office/drawing/2014/main" id="{C593AF1D-FD72-4ED3-5D8F-06E1D07C44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DISTRIBUTIONS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6067256D-4AD4-4AC4-8559-46811B3B7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273" y="838200"/>
            <a:ext cx="8229600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Linux Distributions (Distros)?</a:t>
            </a:r>
          </a:p>
          <a:p>
            <a:pPr marL="11430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 + software packages =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Distribution</a:t>
            </a:r>
          </a:p>
          <a:p>
            <a:pPr marL="11430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Distros include: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Kernel, package manager, desktop environment, utilities</a:t>
            </a:r>
          </a:p>
          <a:p>
            <a:pPr marL="571500" lvl="1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distros are made for different use cases: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Desktop, server, security, development</a:t>
            </a: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>
            <a:extLst>
              <a:ext uri="{FF2B5EF4-FFF2-40B4-BE49-F238E27FC236}">
                <a16:creationId xmlns:a16="http://schemas.microsoft.com/office/drawing/2014/main" id="{A68D802C-E984-FA6A-C364-D74D593844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280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11285C0-D9BE-55D6-4C5D-50D0C829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>
            <a:extLst>
              <a:ext uri="{FF2B5EF4-FFF2-40B4-BE49-F238E27FC236}">
                <a16:creationId xmlns:a16="http://schemas.microsoft.com/office/drawing/2014/main" id="{543BBEE5-2813-6EEA-EC0F-6E6028B5B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52A16606-C661-3987-BF8D-C7658B7EB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273" y="838200"/>
            <a:ext cx="8229600" cy="524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Linux Distributions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Beginner-friendly, widely used in cloud &amp; DevOps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CentOS / Rocky Linux: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Server-focused, RHEL compatible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 Hat Enterprise Linux (RHEL)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support and stability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Debian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stable, foundation of Ubuntu</a:t>
            </a:r>
          </a:p>
          <a:p>
            <a:pPr marL="11430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 Linux 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penetration testing and cybersecurity</a:t>
            </a: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>
            <a:extLst>
              <a:ext uri="{FF2B5EF4-FFF2-40B4-BE49-F238E27FC236}">
                <a16:creationId xmlns:a16="http://schemas.microsoft.com/office/drawing/2014/main" id="{EDD0E178-418E-10D3-DB82-B6BA0386D2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8836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EA02A86D-F717-E10C-C035-83455064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>
            <a:extLst>
              <a:ext uri="{FF2B5EF4-FFF2-40B4-BE49-F238E27FC236}">
                <a16:creationId xmlns:a16="http://schemas.microsoft.com/office/drawing/2014/main" id="{03F4973E-1B02-79C7-EC93-071515E65A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/>
            <a:r>
              <a:rPr lang="en-IN" sz="3200" dirty="0"/>
              <a:t>LINUX ARCHITECTURE OVERVIEW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E79E8ADC-6AE8-E77A-1645-75902D206A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273" y="838200"/>
            <a:ext cx="8229600" cy="551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Architecture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how Linux OS is structured internally and how it interacts with hardware and users.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follows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layer-based architecture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divided into: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Layer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Layer (Core)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 Layer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Utilities &amp; Applications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architecture makes it: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286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7">
            <a:extLst>
              <a:ext uri="{FF2B5EF4-FFF2-40B4-BE49-F238E27FC236}">
                <a16:creationId xmlns:a16="http://schemas.microsoft.com/office/drawing/2014/main" id="{BEA088E4-A6D1-AF19-1287-F27F8637FE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9283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7">
            <a:extLst>
              <a:ext uri="{FF2B5EF4-FFF2-40B4-BE49-F238E27FC236}">
                <a16:creationId xmlns:a16="http://schemas.microsoft.com/office/drawing/2014/main" id="{1EF17E9E-D23C-5028-DB68-059D93A924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189B3C-2299-30C5-20B3-72EC0B79FFA6}"/>
              </a:ext>
            </a:extLst>
          </p:cNvPr>
          <p:cNvSpPr txBox="1"/>
          <p:nvPr/>
        </p:nvSpPr>
        <p:spPr>
          <a:xfrm>
            <a:off x="196381" y="1045488"/>
            <a:ext cx="863737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Layer &amp; Kernel Layer (Core of Linux)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Hardware Layer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physical part of the system: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(Processor)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(Memory)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Disk/SSD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Card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Devices, Printer, etc.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Kernel Layer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is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of Linux OS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interacts directly with hardware and manages system resources.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Kernel Responsibilities: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(running programs)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(RAM usage)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(hardware communication)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(files &amp; directories)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(communication via IP/TCP)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1F875-7DB1-63AE-A90A-2CBDF4085C82}"/>
              </a:ext>
            </a:extLst>
          </p:cNvPr>
          <p:cNvSpPr txBox="1"/>
          <p:nvPr/>
        </p:nvSpPr>
        <p:spPr>
          <a:xfrm>
            <a:off x="8833754" y="640080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2147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24" name="Google Shape;124;p12"/>
          <p:cNvSpPr txBox="1">
            <a:spLocks noGrp="1"/>
          </p:cNvSpPr>
          <p:nvPr>
            <p:ph type="body" idx="1"/>
          </p:nvPr>
        </p:nvSpPr>
        <p:spPr>
          <a:xfrm>
            <a:off x="25863" y="1099810"/>
            <a:ext cx="9118137" cy="611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Shell – User Interface (Command Interpreter)</a:t>
            </a:r>
          </a:p>
          <a:p>
            <a:pPr marL="11430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Shell?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 is the interface between: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↔ Kernel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accepts commands from the user and sends them to the kernel for execution.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Shells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(Most common)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Zsh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Ksh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Csh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Shell Features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user commands like: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cd,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touch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scripting for automation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powerful text processing</a:t>
            </a:r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endParaRPr dirty="0"/>
          </a:p>
        </p:txBody>
      </p:sp>
      <p:sp>
        <p:nvSpPr>
          <p:cNvPr id="2" name="Google Shape;84;p7">
            <a:extLst>
              <a:ext uri="{FF2B5EF4-FFF2-40B4-BE49-F238E27FC236}">
                <a16:creationId xmlns:a16="http://schemas.microsoft.com/office/drawing/2014/main" id="{9B31EFF4-A8CF-B288-BEB7-63B5CA7BE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254000" y="1357652"/>
            <a:ext cx="8646160" cy="4431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 &amp; System Utilities</a:t>
            </a:r>
          </a:p>
          <a:p>
            <a:pPr marL="11430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Libraries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functions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applications use to interact with the kernel.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Libraries: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glibc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(GNU C Library)</a:t>
            </a:r>
          </a:p>
          <a:p>
            <a:pPr marL="114300" indent="0"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operations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operations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</a:p>
          <a:p>
            <a:pPr marL="0" marR="0" lvl="0" indent="-127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endParaRPr dirty="0"/>
          </a:p>
        </p:txBody>
      </p:sp>
      <p:sp>
        <p:nvSpPr>
          <p:cNvPr id="6" name="Google Shape;84;p7">
            <a:extLst>
              <a:ext uri="{FF2B5EF4-FFF2-40B4-BE49-F238E27FC236}">
                <a16:creationId xmlns:a16="http://schemas.microsoft.com/office/drawing/2014/main" id="{B254DDC3-4AFC-670C-3D2F-E8019AACB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 vs Kernel Space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architecture is mainly divided into two parts: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Space (High Privilege)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runs here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critical operations like: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allocation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</a:t>
            </a:r>
          </a:p>
          <a:p>
            <a:pPr marL="11430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Space (Normal Privilege)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applications run here: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tools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</a:t>
            </a:r>
          </a:p>
          <a:p>
            <a:pPr marL="457200" lvl="0" indent="-34290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4" name="Google Shape;84;p7">
            <a:extLst>
              <a:ext uri="{FF2B5EF4-FFF2-40B4-BE49-F238E27FC236}">
                <a16:creationId xmlns:a16="http://schemas.microsoft.com/office/drawing/2014/main" id="{149F8BAC-22C1-4E24-15EB-A6D911BFCF9B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952F0C12-0EA1-AA18-FEA7-2AB6D5A72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>
            <a:extLst>
              <a:ext uri="{FF2B5EF4-FFF2-40B4-BE49-F238E27FC236}">
                <a16:creationId xmlns:a16="http://schemas.microsoft.com/office/drawing/2014/main" id="{2787BCFC-156E-2F3E-417C-30B667308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2913" y="2261790"/>
            <a:ext cx="6596743" cy="300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just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ysClr val="windowText" lastClr="00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7">
            <a:extLst>
              <a:ext uri="{FF2B5EF4-FFF2-40B4-BE49-F238E27FC236}">
                <a16:creationId xmlns:a16="http://schemas.microsoft.com/office/drawing/2014/main" id="{BEF63844-C256-A87E-382E-98B2F4B38C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4" name="Google Shape;84;p7">
            <a:extLst>
              <a:ext uri="{FF2B5EF4-FFF2-40B4-BE49-F238E27FC236}">
                <a16:creationId xmlns:a16="http://schemas.microsoft.com/office/drawing/2014/main" id="{7F6C4BB4-F4A6-38FF-82B3-9A9489378FB8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Cont.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Introduction to Linux Operating System - GeeksforGeeks">
            <a:extLst>
              <a:ext uri="{FF2B5EF4-FFF2-40B4-BE49-F238E27FC236}">
                <a16:creationId xmlns:a16="http://schemas.microsoft.com/office/drawing/2014/main" id="{0A8BABB0-D7A1-3313-6FD3-79AB4FDC4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654" y="889000"/>
            <a:ext cx="7320710" cy="500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E9EB8C-E124-F965-BB05-6EF178BD480E}"/>
              </a:ext>
            </a:extLst>
          </p:cNvPr>
          <p:cNvSpPr txBox="1"/>
          <p:nvPr/>
        </p:nvSpPr>
        <p:spPr>
          <a:xfrm>
            <a:off x="2906486" y="6188529"/>
            <a:ext cx="3597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1: Linux Operating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5485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4727" y="964861"/>
            <a:ext cx="8626764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1) What is the core component (heart) of the Linux Operating System?</a:t>
            </a:r>
          </a:p>
          <a:p>
            <a:r>
              <a:rPr lang="en-IN" sz="1600" dirty="0"/>
              <a:t>A. Shell</a:t>
            </a:r>
            <a:br>
              <a:rPr lang="en-IN" sz="1600" dirty="0"/>
            </a:br>
            <a:r>
              <a:rPr lang="en-IN" sz="1600" dirty="0"/>
              <a:t>B. Kernel</a:t>
            </a:r>
            <a:br>
              <a:rPr lang="en-IN" sz="1600" dirty="0"/>
            </a:br>
            <a:r>
              <a:rPr lang="en-IN" sz="1600" dirty="0"/>
              <a:t>C. Applications</a:t>
            </a:r>
            <a:br>
              <a:rPr lang="en-IN" sz="1600" dirty="0"/>
            </a:br>
            <a:r>
              <a:rPr lang="en-IN" sz="1600" dirty="0"/>
              <a:t>D. Hardware</a:t>
            </a:r>
            <a:br>
              <a:rPr lang="en-IN" sz="1600" dirty="0"/>
            </a:br>
            <a:r>
              <a:rPr lang="en-IN" sz="1600" b="1" dirty="0"/>
              <a:t>Answer: B. Kernel</a:t>
            </a: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2) Which layer directly interacts with the computer hardware in Linux?</a:t>
            </a:r>
          </a:p>
          <a:p>
            <a:r>
              <a:rPr lang="en-IN" sz="1600" dirty="0"/>
              <a:t>A. Applications</a:t>
            </a:r>
            <a:br>
              <a:rPr lang="en-IN" sz="1600" dirty="0"/>
            </a:br>
            <a:r>
              <a:rPr lang="en-IN" sz="1600" dirty="0"/>
              <a:t>B. Shell</a:t>
            </a:r>
            <a:br>
              <a:rPr lang="en-IN" sz="1600" dirty="0"/>
            </a:br>
            <a:r>
              <a:rPr lang="en-IN" sz="1600" dirty="0"/>
              <a:t>C. Kernel</a:t>
            </a:r>
            <a:br>
              <a:rPr lang="en-IN" sz="1600" dirty="0"/>
            </a:br>
            <a:r>
              <a:rPr lang="en-IN" sz="1600" dirty="0"/>
              <a:t>D. System Utilities</a:t>
            </a:r>
            <a:br>
              <a:rPr lang="en-IN" sz="1600" dirty="0"/>
            </a:br>
            <a:r>
              <a:rPr lang="en-IN" sz="1600" b="1" dirty="0"/>
              <a:t>Answer: C. Kernel</a:t>
            </a: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3) Which of the following is NOT a function of the Linux Kernel?</a:t>
            </a:r>
          </a:p>
          <a:p>
            <a:r>
              <a:rPr lang="en-IN" sz="1600" dirty="0"/>
              <a:t>A. Memory Management</a:t>
            </a:r>
            <a:br>
              <a:rPr lang="en-IN" sz="1600" dirty="0"/>
            </a:br>
            <a:r>
              <a:rPr lang="en-IN" sz="1600" dirty="0"/>
              <a:t>B. Process Management</a:t>
            </a:r>
            <a:br>
              <a:rPr lang="en-IN" sz="1600" dirty="0"/>
            </a:br>
            <a:r>
              <a:rPr lang="en-IN" sz="1600" dirty="0"/>
              <a:t>C. Web Browsing</a:t>
            </a:r>
            <a:br>
              <a:rPr lang="en-IN" sz="1600" dirty="0"/>
            </a:br>
            <a:r>
              <a:rPr lang="en-IN" sz="1600" dirty="0"/>
              <a:t>D. Device Management</a:t>
            </a:r>
            <a:br>
              <a:rPr lang="en-IN" sz="1600" dirty="0"/>
            </a:br>
            <a:r>
              <a:rPr lang="en-IN" sz="1600" b="1" dirty="0"/>
              <a:t>Answer: C. Web Browsing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</p:txBody>
      </p:sp>
      <p:sp>
        <p:nvSpPr>
          <p:cNvPr id="3" name="Rectangle 2"/>
          <p:cNvSpPr/>
          <p:nvPr/>
        </p:nvSpPr>
        <p:spPr>
          <a:xfrm>
            <a:off x="660400" y="24014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200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437" y="898575"/>
            <a:ext cx="835890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4) Which layer provides an interface between the user and the kernel?</a:t>
            </a:r>
          </a:p>
          <a:p>
            <a:r>
              <a:rPr lang="en-IN" sz="1600" dirty="0"/>
              <a:t>A. Hardware</a:t>
            </a:r>
            <a:br>
              <a:rPr lang="en-IN" sz="1600" dirty="0"/>
            </a:br>
            <a:r>
              <a:rPr lang="en-IN" sz="1600" dirty="0"/>
              <a:t>B. Shell</a:t>
            </a:r>
            <a:br>
              <a:rPr lang="en-IN" sz="1600" dirty="0"/>
            </a:br>
            <a:r>
              <a:rPr lang="en-IN" sz="1600" dirty="0"/>
              <a:t>C. System Libraries</a:t>
            </a:r>
            <a:br>
              <a:rPr lang="en-IN" sz="1600" dirty="0"/>
            </a:br>
            <a:r>
              <a:rPr lang="en-IN" sz="1600" dirty="0"/>
              <a:t>D. CPU</a:t>
            </a:r>
            <a:br>
              <a:rPr lang="en-IN" sz="1600" dirty="0"/>
            </a:br>
            <a:r>
              <a:rPr lang="en-IN" sz="1600" b="1" dirty="0"/>
              <a:t>Answer: B. Shell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5) What is the main purpose of System Libraries in Linux?</a:t>
            </a:r>
          </a:p>
          <a:p>
            <a:r>
              <a:rPr lang="en-IN" sz="1600" dirty="0"/>
              <a:t>A. Store hardware drivers</a:t>
            </a:r>
            <a:br>
              <a:rPr lang="en-IN" sz="1600" dirty="0"/>
            </a:br>
            <a:r>
              <a:rPr lang="en-IN" sz="1600" dirty="0"/>
              <a:t>B. Provide APIs/functions for applications</a:t>
            </a:r>
            <a:br>
              <a:rPr lang="en-IN" sz="1600" dirty="0"/>
            </a:br>
            <a:r>
              <a:rPr lang="en-IN" sz="1600" dirty="0"/>
              <a:t>C. Replace the kernel</a:t>
            </a:r>
            <a:br>
              <a:rPr lang="en-IN" sz="1600" dirty="0"/>
            </a:br>
            <a:r>
              <a:rPr lang="en-IN" sz="1600" dirty="0"/>
              <a:t>D. Create user accounts only</a:t>
            </a:r>
          </a:p>
          <a:p>
            <a:r>
              <a:rPr lang="en-IN" sz="1600" b="1" dirty="0"/>
              <a:t>Answer: B. Provide APIs/functions for applications</a:t>
            </a:r>
          </a:p>
          <a:p>
            <a:endParaRPr lang="en-IN" sz="1600" b="1" dirty="0"/>
          </a:p>
          <a:p>
            <a:r>
              <a:rPr lang="en-IN" sz="1600" b="1" dirty="0"/>
              <a:t>6) Which of the following runs in User Space?</a:t>
            </a:r>
          </a:p>
          <a:p>
            <a:r>
              <a:rPr lang="en-IN" sz="1600" dirty="0"/>
              <a:t>A. Linux Kernel</a:t>
            </a:r>
            <a:br>
              <a:rPr lang="en-IN" sz="1600" dirty="0"/>
            </a:br>
            <a:r>
              <a:rPr lang="en-IN" sz="1600" dirty="0"/>
              <a:t>B. Device Drivers</a:t>
            </a:r>
            <a:br>
              <a:rPr lang="en-IN" sz="1600" dirty="0"/>
            </a:br>
            <a:r>
              <a:rPr lang="en-IN" sz="1600" dirty="0"/>
              <a:t>C. User Applications</a:t>
            </a:r>
            <a:br>
              <a:rPr lang="en-IN" sz="1600" dirty="0"/>
            </a:br>
            <a:r>
              <a:rPr lang="en-IN" sz="1600" dirty="0"/>
              <a:t>D. System Calls</a:t>
            </a:r>
            <a:br>
              <a:rPr lang="en-IN" sz="1600"/>
            </a:br>
            <a:r>
              <a:rPr lang="en-IN" sz="1600"/>
              <a:t> </a:t>
            </a:r>
            <a:r>
              <a:rPr lang="en-IN" sz="1600" b="1" dirty="0"/>
              <a:t>Answer: C. User Applications</a:t>
            </a: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  <a:p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42612-28DC-15EC-722D-2EB5785440B4}"/>
              </a:ext>
            </a:extLst>
          </p:cNvPr>
          <p:cNvSpPr/>
          <p:nvPr/>
        </p:nvSpPr>
        <p:spPr>
          <a:xfrm>
            <a:off x="660400" y="24014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744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747B-7D61-01F5-2FF8-ACA7125A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B5A3CC-9BE0-6C8E-00E0-830AB0A3F852}"/>
              </a:ext>
            </a:extLst>
          </p:cNvPr>
          <p:cNvSpPr/>
          <p:nvPr/>
        </p:nvSpPr>
        <p:spPr>
          <a:xfrm>
            <a:off x="212437" y="898575"/>
            <a:ext cx="8358909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7) Kernel Space has ______ privileges compared to User Space.</a:t>
            </a:r>
          </a:p>
          <a:p>
            <a:r>
              <a:rPr lang="en-IN" sz="1600" dirty="0"/>
              <a:t>A. Lower</a:t>
            </a:r>
            <a:br>
              <a:rPr lang="en-IN" sz="1600" dirty="0"/>
            </a:br>
            <a:r>
              <a:rPr lang="en-IN" sz="1600" dirty="0"/>
              <a:t>B. Equal</a:t>
            </a:r>
            <a:br>
              <a:rPr lang="en-IN" sz="1600" dirty="0"/>
            </a:br>
            <a:r>
              <a:rPr lang="en-IN" sz="1600" dirty="0"/>
              <a:t>C. Higher</a:t>
            </a:r>
            <a:br>
              <a:rPr lang="en-IN" sz="1600" dirty="0"/>
            </a:br>
            <a:r>
              <a:rPr lang="en-IN" sz="1600" dirty="0"/>
              <a:t>D. No privileges</a:t>
            </a:r>
            <a:br>
              <a:rPr lang="en-IN" sz="1600" dirty="0"/>
            </a:br>
            <a:r>
              <a:rPr lang="en-IN" sz="1600" b="1" dirty="0"/>
              <a:t>Answer: C. Higher</a:t>
            </a: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8) System calls are used to:</a:t>
            </a:r>
          </a:p>
          <a:p>
            <a:r>
              <a:rPr lang="en-IN" sz="1600" dirty="0"/>
              <a:t>A. Install Linux distributions</a:t>
            </a:r>
            <a:br>
              <a:rPr lang="en-IN" sz="1600" dirty="0"/>
            </a:br>
            <a:r>
              <a:rPr lang="en-IN" sz="1600" dirty="0"/>
              <a:t>B. Communicate between User Space and Kernel Space</a:t>
            </a:r>
            <a:br>
              <a:rPr lang="en-IN" sz="1600" dirty="0"/>
            </a:br>
            <a:r>
              <a:rPr lang="en-IN" sz="1600" dirty="0"/>
              <a:t>C. Delete kernel files</a:t>
            </a:r>
            <a:br>
              <a:rPr lang="en-IN" sz="1600" dirty="0"/>
            </a:br>
            <a:r>
              <a:rPr lang="en-IN" sz="1600" dirty="0"/>
              <a:t>D. Create hardware components</a:t>
            </a:r>
            <a:br>
              <a:rPr lang="en-IN" sz="1600" dirty="0"/>
            </a:br>
            <a:r>
              <a:rPr lang="en-IN" sz="1600" b="1" dirty="0"/>
              <a:t>Answer: B. Communicate between User Space and Kernel Space</a:t>
            </a:r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9) Which one is an example of a Linux Shell?</a:t>
            </a:r>
          </a:p>
          <a:p>
            <a:r>
              <a:rPr lang="en-IN" sz="1600" dirty="0"/>
              <a:t>A. </a:t>
            </a:r>
            <a:r>
              <a:rPr lang="en-IN" sz="1600" dirty="0" err="1"/>
              <a:t>glibc</a:t>
            </a:r>
            <a:br>
              <a:rPr lang="en-IN" sz="1600" dirty="0"/>
            </a:br>
            <a:r>
              <a:rPr lang="en-IN" sz="1600" dirty="0"/>
              <a:t>B. Bash</a:t>
            </a:r>
            <a:br>
              <a:rPr lang="en-IN" sz="1600" dirty="0"/>
            </a:br>
            <a:r>
              <a:rPr lang="en-IN" sz="1600" dirty="0"/>
              <a:t>C. Kernel</a:t>
            </a:r>
            <a:br>
              <a:rPr lang="en-IN" sz="1600" dirty="0"/>
            </a:br>
            <a:r>
              <a:rPr lang="en-IN" sz="1600" dirty="0"/>
              <a:t>D. RAM</a:t>
            </a:r>
            <a:br>
              <a:rPr lang="en-IN" sz="1600" dirty="0"/>
            </a:br>
            <a:r>
              <a:rPr lang="en-IN" sz="1600" dirty="0"/>
              <a:t> </a:t>
            </a:r>
            <a:r>
              <a:rPr lang="en-IN" sz="1600" b="1" dirty="0"/>
              <a:t>Answer: B. Bash</a:t>
            </a:r>
            <a:endParaRPr lang="en-IN" sz="1600" dirty="0"/>
          </a:p>
          <a:p>
            <a:endParaRPr lang="en-IN" sz="1600" dirty="0"/>
          </a:p>
          <a:p>
            <a:endParaRPr lang="en-US" sz="1600" dirty="0"/>
          </a:p>
          <a:p>
            <a:endParaRPr lang="en-IN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06D3C3-413A-F84A-F1BD-FF4152436A7B}"/>
              </a:ext>
            </a:extLst>
          </p:cNvPr>
          <p:cNvSpPr/>
          <p:nvPr/>
        </p:nvSpPr>
        <p:spPr>
          <a:xfrm>
            <a:off x="660400" y="240146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Questions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26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1382</Words>
  <Application>Microsoft Office PowerPoint</Application>
  <PresentationFormat>On-screen Show (4:3)</PresentationFormat>
  <Paragraphs>275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Content</vt:lpstr>
      <vt:lpstr>Introduction to Linux OS</vt:lpstr>
      <vt:lpstr>Cont. </vt:lpstr>
      <vt:lpstr>HISTORY OF LINUX OS</vt:lpstr>
      <vt:lpstr>Cont.</vt:lpstr>
      <vt:lpstr>Cont.</vt:lpstr>
      <vt:lpstr>PHILOSOPHY OF LINUX</vt:lpstr>
      <vt:lpstr>Cont.</vt:lpstr>
      <vt:lpstr>Cont.</vt:lpstr>
      <vt:lpstr>LINUX DISTRIBUTIONS</vt:lpstr>
      <vt:lpstr>Cont.</vt:lpstr>
      <vt:lpstr>LINUX ARCHITECTURE OVERVIEW</vt:lpstr>
      <vt:lpstr>PowerPoint Presentation</vt:lpstr>
      <vt:lpstr>Cont.</vt:lpstr>
      <vt:lpstr>Cont.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Tanish Singla</cp:lastModifiedBy>
  <cp:revision>60</cp:revision>
  <dcterms:created xsi:type="dcterms:W3CDTF">2010-04-09T07:36:00Z</dcterms:created>
  <dcterms:modified xsi:type="dcterms:W3CDTF">2026-03-05T08:23:19Z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77C75C994B4C446DB33EAD35C783E0D7_12</vt:lpwstr>
  </property>
  <property fmtid="{D5CDD505-2E9C-101B-9397-08002B2CF9AE}" pid="3" name="KSOProductBuildVer">
    <vt:lpwstr>1033-12.2.0.17153</vt:lpwstr>
  </property>
</Properties>
</file>