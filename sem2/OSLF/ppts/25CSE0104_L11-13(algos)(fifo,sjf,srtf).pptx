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2" r:id="rId2"/>
    <p:sldId id="257" r:id="rId3"/>
    <p:sldId id="312" r:id="rId4"/>
    <p:sldId id="355" r:id="rId5"/>
    <p:sldId id="354" r:id="rId6"/>
    <p:sldId id="353" r:id="rId7"/>
    <p:sldId id="356" r:id="rId8"/>
    <p:sldId id="357" r:id="rId9"/>
    <p:sldId id="358" r:id="rId10"/>
    <p:sldId id="359" r:id="rId11"/>
    <p:sldId id="360" r:id="rId12"/>
    <p:sldId id="361" r:id="rId13"/>
    <p:sldId id="368" r:id="rId14"/>
    <p:sldId id="369" r:id="rId15"/>
    <p:sldId id="363" r:id="rId16"/>
    <p:sldId id="364" r:id="rId17"/>
    <p:sldId id="371" r:id="rId18"/>
    <p:sldId id="372" r:id="rId19"/>
    <p:sldId id="373" r:id="rId20"/>
    <p:sldId id="370" r:id="rId21"/>
    <p:sldId id="374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979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55891"/>
            <a:ext cx="8993886" cy="10134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55891"/>
            <a:ext cx="8993886" cy="10134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146291" y="0"/>
            <a:ext cx="2997835" cy="838200"/>
          </a:xfrm>
          <a:custGeom>
            <a:avLst/>
            <a:gdLst/>
            <a:ahLst/>
            <a:cxnLst/>
            <a:rect l="l" t="t" r="r" b="b"/>
            <a:pathLst>
              <a:path w="2997834" h="838200">
                <a:moveTo>
                  <a:pt x="2997708" y="0"/>
                </a:moveTo>
                <a:lnTo>
                  <a:pt x="0" y="0"/>
                </a:lnTo>
                <a:lnTo>
                  <a:pt x="0" y="838200"/>
                </a:lnTo>
                <a:lnTo>
                  <a:pt x="2997708" y="838200"/>
                </a:lnTo>
                <a:lnTo>
                  <a:pt x="2997708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27291" y="190500"/>
            <a:ext cx="2077720" cy="685800"/>
          </a:xfrm>
          <a:custGeom>
            <a:avLst/>
            <a:gdLst/>
            <a:ahLst/>
            <a:cxnLst/>
            <a:rect l="l" t="t" r="r" b="b"/>
            <a:pathLst>
              <a:path w="2077720" h="685800">
                <a:moveTo>
                  <a:pt x="2077211" y="0"/>
                </a:moveTo>
                <a:lnTo>
                  <a:pt x="0" y="0"/>
                </a:lnTo>
                <a:lnTo>
                  <a:pt x="0" y="685800"/>
                </a:lnTo>
                <a:lnTo>
                  <a:pt x="2077211" y="685800"/>
                </a:lnTo>
                <a:lnTo>
                  <a:pt x="20772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92377"/>
            <a:ext cx="5281930" cy="139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4765857"/>
            <a:ext cx="8686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735" marR="5080" lvl="0" indent="-1042669" algn="ctr">
              <a:buClr>
                <a:srgbClr val="000000"/>
              </a:buClr>
              <a:buSzPts val="1800"/>
            </a:pPr>
            <a:r>
              <a:rPr lang="en-GB" sz="2400" b="1" spc="-5" dirty="0">
                <a:latin typeface="Times New Roman"/>
                <a:cs typeface="Times New Roman"/>
                <a:sym typeface="Arial"/>
              </a:rPr>
              <a:t>Chitkara University Institute of Engineering and Technology</a:t>
            </a:r>
            <a:r>
              <a:rPr sz="2400" b="1" spc="-5" dirty="0">
                <a:latin typeface="Times New Roman"/>
                <a:cs typeface="Times New Roman"/>
              </a:rPr>
              <a:t>  </a:t>
            </a:r>
            <a:endParaRPr lang="en-GB" sz="2400" b="1" spc="-5" dirty="0">
              <a:latin typeface="Times New Roman"/>
              <a:cs typeface="Times New Roman"/>
            </a:endParaRPr>
          </a:p>
          <a:p>
            <a:pPr marL="1054735" marR="5080" indent="-1042669" algn="ctr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Chitkara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University,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Punjab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6" name="Google Shape;40;p1"/>
          <p:cNvSpPr txBox="1"/>
          <p:nvPr/>
        </p:nvSpPr>
        <p:spPr>
          <a:xfrm>
            <a:off x="1117600" y="1821872"/>
            <a:ext cx="655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4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CPU Scheduling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US" sz="4000" b="1" dirty="0">
              <a:solidFill>
                <a:srgbClr val="3A30FA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421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61" y="144131"/>
            <a:ext cx="22227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3400" y="1218818"/>
            <a:ext cx="7696200" cy="5029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6575" indent="-523875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Scheduling: Basic Concepts</a:t>
            </a:r>
          </a:p>
          <a:p>
            <a:pPr marL="536575" indent="-523875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Scheduling Criteria </a:t>
            </a:r>
          </a:p>
          <a:p>
            <a:pPr marL="536575" indent="-523875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 -</a:t>
            </a:r>
          </a:p>
          <a:p>
            <a:pPr marL="1976438" indent="-809625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 In first Out </a:t>
            </a:r>
          </a:p>
          <a:p>
            <a:pPr marL="1976438" indent="-809625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Shortest Job First </a:t>
            </a:r>
          </a:p>
          <a:p>
            <a:pPr marL="1976438" indent="-809625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</a:t>
            </a:r>
          </a:p>
          <a:p>
            <a:pPr marL="1976438" indent="-809625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Round-robin Scheduling 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76438" indent="-809625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GB" sz="32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Scheduling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1548" y="1258040"/>
            <a:ext cx="8534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single-processor system,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process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at a time. Others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wait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the CPU is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CPU then just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sits idle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154238" indent="-630238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is wasted; </a:t>
            </a:r>
          </a:p>
          <a:p>
            <a:pPr marL="2154238" indent="-630238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useful work is accomplished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multiprogramming, Several processes are kept in memory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time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process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to wait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OS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away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that process and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CPU to another process. This pattern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0606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CPU Scheduling</a:t>
            </a:r>
            <a:endParaRPr sz="3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1177160"/>
            <a:ext cx="84582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200" i="1" dirty="0"/>
              <a:t>CPU scheduling is the </a:t>
            </a:r>
            <a:r>
              <a:rPr lang="en-GB" sz="2200" i="1" dirty="0">
                <a:solidFill>
                  <a:srgbClr val="FF0000"/>
                </a:solidFill>
              </a:rPr>
              <a:t>process of deciding </a:t>
            </a:r>
            <a:r>
              <a:rPr lang="en-GB" sz="2200" i="1" dirty="0"/>
              <a:t>which process will </a:t>
            </a:r>
            <a:r>
              <a:rPr lang="en-GB" sz="2200" i="1" dirty="0">
                <a:solidFill>
                  <a:srgbClr val="FF0000"/>
                </a:solidFill>
              </a:rPr>
              <a:t>own the CPU </a:t>
            </a:r>
            <a:r>
              <a:rPr lang="en-GB" sz="2200" i="1" dirty="0"/>
              <a:t>to use while another process is on hold. </a:t>
            </a:r>
          </a:p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200" i="1" dirty="0"/>
              <a:t>The </a:t>
            </a:r>
            <a:r>
              <a:rPr lang="en-GB" sz="2200" i="1" dirty="0">
                <a:solidFill>
                  <a:srgbClr val="FF0000"/>
                </a:solidFill>
              </a:rPr>
              <a:t>objectives</a:t>
            </a:r>
            <a:r>
              <a:rPr lang="en-GB" sz="2200" i="1" dirty="0"/>
              <a:t> of </a:t>
            </a:r>
            <a:r>
              <a:rPr lang="en-GB" sz="2200" i="1" dirty="0">
                <a:solidFill>
                  <a:srgbClr val="FF0000"/>
                </a:solidFill>
              </a:rPr>
              <a:t>CPU Scheduling </a:t>
            </a:r>
            <a:r>
              <a:rPr lang="en-GB" sz="2200" i="1" dirty="0"/>
              <a:t>are;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200" i="1" dirty="0"/>
              <a:t>Process execution consists of a </a:t>
            </a:r>
            <a:r>
              <a:rPr lang="en-GB" sz="2200" b="1" i="1" dirty="0"/>
              <a:t>cycle</a:t>
            </a:r>
            <a:r>
              <a:rPr lang="en-GB" sz="2200" i="1" dirty="0"/>
              <a:t> of </a:t>
            </a:r>
            <a:r>
              <a:rPr lang="en-GB" sz="2200" i="1" dirty="0">
                <a:solidFill>
                  <a:srgbClr val="FF0000"/>
                </a:solidFill>
              </a:rPr>
              <a:t>CPU execution</a:t>
            </a:r>
            <a:r>
              <a:rPr lang="en-GB" sz="2200" i="1" dirty="0"/>
              <a:t> and </a:t>
            </a:r>
            <a:r>
              <a:rPr lang="en-GB" sz="2200" i="1" dirty="0">
                <a:solidFill>
                  <a:srgbClr val="FF0000"/>
                </a:solidFill>
              </a:rPr>
              <a:t>I/O wait</a:t>
            </a:r>
            <a:r>
              <a:rPr lang="en-GB" sz="2200" i="1" dirty="0"/>
              <a:t>. </a:t>
            </a:r>
          </a:p>
          <a:p>
            <a:pPr marL="457200" indent="-457200" algn="just">
              <a:spcAft>
                <a:spcPts val="1200"/>
              </a:spcAft>
              <a:buFont typeface="Wingdings" pitchFamily="2" charset="2"/>
              <a:buChar char="v"/>
            </a:pPr>
            <a:r>
              <a:rPr lang="en-GB" sz="2200" i="1" dirty="0"/>
              <a:t>Processes </a:t>
            </a:r>
            <a:r>
              <a:rPr lang="en-GB" sz="2200" i="1" dirty="0">
                <a:solidFill>
                  <a:srgbClr val="FF0000"/>
                </a:solidFill>
              </a:rPr>
              <a:t>alternate</a:t>
            </a:r>
            <a:r>
              <a:rPr lang="en-GB" sz="2200" i="1" dirty="0"/>
              <a:t> between these </a:t>
            </a:r>
            <a:r>
              <a:rPr lang="en-GB" sz="2200" i="1" dirty="0">
                <a:solidFill>
                  <a:srgbClr val="FF0000"/>
                </a:solidFill>
              </a:rPr>
              <a:t>two states</a:t>
            </a:r>
            <a:r>
              <a:rPr lang="en-GB" sz="2200" i="1" dirty="0"/>
              <a:t>. 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2577318"/>
            <a:ext cx="5486400" cy="27935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817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CPU Scheduling</a:t>
            </a:r>
            <a:endParaRPr sz="3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905000"/>
            <a:ext cx="495300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360"/>
              </a:spcBef>
              <a:spcAft>
                <a:spcPts val="1200"/>
              </a:spcAft>
              <a:buSzPts val="1800"/>
              <a:buFont typeface="Wingdings" pitchFamily="2" charset="2"/>
              <a:buChar char="v"/>
            </a:pPr>
            <a:r>
              <a:rPr lang="en-GB" sz="2400" i="1" dirty="0"/>
              <a:t>Process </a:t>
            </a:r>
            <a:r>
              <a:rPr lang="en-GB" sz="2400" i="1" dirty="0">
                <a:solidFill>
                  <a:srgbClr val="FF0000"/>
                </a:solidFill>
              </a:rPr>
              <a:t>execution</a:t>
            </a:r>
            <a:r>
              <a:rPr lang="en-GB" sz="2400" i="1" dirty="0"/>
              <a:t> begins with a </a:t>
            </a:r>
            <a:r>
              <a:rPr lang="en-GB" sz="2400" i="1" dirty="0">
                <a:solidFill>
                  <a:srgbClr val="FF0000"/>
                </a:solidFill>
              </a:rPr>
              <a:t>CPU burst</a:t>
            </a:r>
            <a:r>
              <a:rPr lang="en-GB" sz="2400" i="1" dirty="0"/>
              <a:t>, followed by an </a:t>
            </a:r>
            <a:r>
              <a:rPr lang="en-GB" sz="2400" i="1" dirty="0">
                <a:solidFill>
                  <a:srgbClr val="FF0000"/>
                </a:solidFill>
              </a:rPr>
              <a:t>I/O burst</a:t>
            </a:r>
            <a:r>
              <a:rPr lang="en-GB" sz="2400" i="1" dirty="0"/>
              <a:t> and </a:t>
            </a:r>
            <a:r>
              <a:rPr lang="en-GB" sz="2400" i="1" dirty="0">
                <a:solidFill>
                  <a:srgbClr val="FF0000"/>
                </a:solidFill>
              </a:rPr>
              <a:t>so on</a:t>
            </a:r>
            <a:r>
              <a:rPr lang="en-GB" sz="2400" i="1" dirty="0"/>
              <a:t>.</a:t>
            </a:r>
          </a:p>
          <a:p>
            <a:pPr marL="457200" lvl="0" indent="-457200" algn="just">
              <a:spcBef>
                <a:spcPts val="360"/>
              </a:spcBef>
              <a:spcAft>
                <a:spcPts val="1200"/>
              </a:spcAft>
              <a:buSzPts val="1800"/>
              <a:buFont typeface="Wingdings" pitchFamily="2" charset="2"/>
              <a:buChar char="v"/>
            </a:pPr>
            <a:r>
              <a:rPr lang="en-GB" sz="2400" i="1" dirty="0"/>
              <a:t>In a multi-programmed computer system, multiple process </a:t>
            </a:r>
            <a:r>
              <a:rPr lang="en-GB" sz="2400" i="1" dirty="0">
                <a:solidFill>
                  <a:srgbClr val="FF0000"/>
                </a:solidFill>
              </a:rPr>
              <a:t>compete</a:t>
            </a:r>
            <a:r>
              <a:rPr lang="en-GB" sz="2400" i="1" dirty="0"/>
              <a:t> for the </a:t>
            </a:r>
            <a:r>
              <a:rPr lang="en-GB" sz="2400" i="1" dirty="0">
                <a:solidFill>
                  <a:srgbClr val="FF0000"/>
                </a:solidFill>
              </a:rPr>
              <a:t>CPU</a:t>
            </a:r>
            <a:r>
              <a:rPr lang="en-GB" sz="2400" i="1" dirty="0"/>
              <a:t> at a given time, to </a:t>
            </a:r>
            <a:r>
              <a:rPr lang="en-GB" sz="2400" i="1" dirty="0">
                <a:solidFill>
                  <a:srgbClr val="FF0000"/>
                </a:solidFill>
              </a:rPr>
              <a:t>complete</a:t>
            </a:r>
            <a:r>
              <a:rPr lang="en-GB" sz="2400" i="1" dirty="0"/>
              <a:t> their current </a:t>
            </a:r>
            <a:r>
              <a:rPr lang="en-GB" sz="2400" i="1" dirty="0">
                <a:solidFill>
                  <a:srgbClr val="FF0000"/>
                </a:solidFill>
              </a:rPr>
              <a:t>CPU bursts.</a:t>
            </a: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9" t="4142" b="1979"/>
          <a:stretch/>
        </p:blipFill>
        <p:spPr>
          <a:xfrm>
            <a:off x="5333999" y="1143000"/>
            <a:ext cx="3606235" cy="533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499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When to Schedule ??</a:t>
            </a:r>
            <a:endParaRPr sz="3200" dirty="0">
              <a:latin typeface="+mn-lt"/>
            </a:endParaRPr>
          </a:p>
        </p:txBody>
      </p:sp>
      <p:pic>
        <p:nvPicPr>
          <p:cNvPr id="5" name="Google Shape;65;p6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114800" y="3657600"/>
            <a:ext cx="4800600" cy="2895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381000" y="1098330"/>
            <a:ext cx="8534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2200" i="1" u="sng" dirty="0"/>
              <a:t>Four conditions under which CPU Scheduling decisions are taken: 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n-GB" sz="2200" i="1" dirty="0"/>
              <a:t>If a process is switching from </a:t>
            </a:r>
            <a:r>
              <a:rPr lang="en-GB" sz="2200" i="1" dirty="0">
                <a:solidFill>
                  <a:srgbClr val="FF0000"/>
                </a:solidFill>
              </a:rPr>
              <a:t>running </a:t>
            </a:r>
            <a:r>
              <a:rPr lang="en-GB" sz="2200" i="1" dirty="0"/>
              <a:t>to </a:t>
            </a:r>
            <a:r>
              <a:rPr lang="en-GB" sz="2200" i="1" dirty="0">
                <a:solidFill>
                  <a:srgbClr val="FF0000"/>
                </a:solidFill>
              </a:rPr>
              <a:t>waiting state. </a:t>
            </a:r>
            <a:r>
              <a:rPr lang="en-GB" sz="2200" i="1" dirty="0"/>
              <a:t>(may be for an </a:t>
            </a:r>
            <a:r>
              <a:rPr lang="en-GB" sz="2200" i="1" dirty="0">
                <a:solidFill>
                  <a:srgbClr val="FF0000"/>
                </a:solidFill>
              </a:rPr>
              <a:t>I/O request</a:t>
            </a:r>
            <a:r>
              <a:rPr lang="en-GB" sz="2200" i="1" dirty="0"/>
              <a:t>, or for </a:t>
            </a:r>
            <a:r>
              <a:rPr lang="en-GB" sz="2200" i="1" dirty="0">
                <a:solidFill>
                  <a:srgbClr val="FF0000"/>
                </a:solidFill>
              </a:rPr>
              <a:t>wait()</a:t>
            </a:r>
            <a:r>
              <a:rPr lang="en-GB" sz="2200" i="1" dirty="0"/>
              <a:t> operation).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n-GB" sz="2200" i="1" dirty="0"/>
              <a:t>If a process is switching from </a:t>
            </a:r>
            <a:r>
              <a:rPr lang="en-GB" sz="2200" i="1" dirty="0">
                <a:solidFill>
                  <a:srgbClr val="FF0000"/>
                </a:solidFill>
              </a:rPr>
              <a:t>running </a:t>
            </a:r>
            <a:r>
              <a:rPr lang="en-GB" sz="2200" i="1" dirty="0"/>
              <a:t>to </a:t>
            </a:r>
            <a:r>
              <a:rPr lang="en-GB" sz="2200" i="1" dirty="0">
                <a:solidFill>
                  <a:srgbClr val="FF0000"/>
                </a:solidFill>
              </a:rPr>
              <a:t>ready state </a:t>
            </a:r>
            <a:r>
              <a:rPr lang="en-GB" sz="2200" i="1" dirty="0"/>
              <a:t>(when an </a:t>
            </a:r>
            <a:r>
              <a:rPr lang="en-GB" sz="2200" i="1" dirty="0">
                <a:solidFill>
                  <a:srgbClr val="FF0000"/>
                </a:solidFill>
              </a:rPr>
              <a:t>interrupt </a:t>
            </a:r>
            <a:r>
              <a:rPr lang="en-GB" sz="2200" i="1" dirty="0"/>
              <a:t>occurs). 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n-GB" sz="2200" i="1" dirty="0"/>
              <a:t>If a process is switching from </a:t>
            </a:r>
            <a:r>
              <a:rPr lang="en-GB" sz="2200" i="1" dirty="0">
                <a:solidFill>
                  <a:srgbClr val="FF0000"/>
                </a:solidFill>
              </a:rPr>
              <a:t>waiting</a:t>
            </a:r>
            <a:r>
              <a:rPr lang="en-GB" sz="2200" i="1" dirty="0"/>
              <a:t> to </a:t>
            </a:r>
            <a:r>
              <a:rPr lang="en-GB" sz="2200" i="1" dirty="0">
                <a:solidFill>
                  <a:srgbClr val="FF0000"/>
                </a:solidFill>
              </a:rPr>
              <a:t>ready state </a:t>
            </a:r>
            <a:r>
              <a:rPr lang="en-GB" sz="2200" i="1" dirty="0"/>
              <a:t>(when its </a:t>
            </a:r>
            <a:r>
              <a:rPr lang="en-GB" sz="2200" i="1" dirty="0">
                <a:solidFill>
                  <a:srgbClr val="FF0000"/>
                </a:solidFill>
              </a:rPr>
              <a:t>I/O request </a:t>
            </a:r>
            <a:r>
              <a:rPr lang="en-GB" sz="2200" i="1" dirty="0"/>
              <a:t>is completed). 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n-GB" sz="2200" i="1" dirty="0"/>
              <a:t>If a process </a:t>
            </a:r>
            <a:r>
              <a:rPr lang="en-GB" sz="2200" i="1" dirty="0">
                <a:solidFill>
                  <a:srgbClr val="FF0000"/>
                </a:solidFill>
              </a:rPr>
              <a:t>terminates</a:t>
            </a:r>
            <a:r>
              <a:rPr lang="en-GB" sz="2200" i="1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54684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Types of Scheduling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181835"/>
            <a:ext cx="8458200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2400" b="1" i="1" u="sng" dirty="0"/>
              <a:t>Non Pre-emptive Scheduling:</a:t>
            </a:r>
            <a:r>
              <a:rPr lang="en-GB" sz="2400" b="1" i="1" dirty="0"/>
              <a:t> </a:t>
            </a:r>
            <a:r>
              <a:rPr lang="en-GB" sz="2400" i="1" dirty="0"/>
              <a:t>new process can executed </a:t>
            </a:r>
            <a:r>
              <a:rPr lang="en-GB" sz="2400" i="1" dirty="0">
                <a:solidFill>
                  <a:srgbClr val="FF0000"/>
                </a:solidFill>
              </a:rPr>
              <a:t>only after </a:t>
            </a:r>
            <a:r>
              <a:rPr lang="en-GB" sz="2400" i="1" dirty="0"/>
              <a:t>the current process has </a:t>
            </a:r>
            <a:r>
              <a:rPr lang="en-GB" sz="2400" i="1" dirty="0">
                <a:solidFill>
                  <a:srgbClr val="FF0000"/>
                </a:solidFill>
              </a:rPr>
              <a:t>completed </a:t>
            </a:r>
            <a:r>
              <a:rPr lang="en-GB" sz="2400" i="1" dirty="0"/>
              <a:t>its </a:t>
            </a:r>
            <a:r>
              <a:rPr lang="en-GB" sz="2400" i="1" dirty="0">
                <a:solidFill>
                  <a:srgbClr val="FF0000"/>
                </a:solidFill>
              </a:rPr>
              <a:t>execution</a:t>
            </a:r>
            <a:r>
              <a:rPr lang="en-GB" sz="2400" i="1" dirty="0"/>
              <a:t>. The process </a:t>
            </a:r>
            <a:r>
              <a:rPr lang="en-GB" sz="2400" i="1" dirty="0">
                <a:solidFill>
                  <a:srgbClr val="FF0000"/>
                </a:solidFill>
              </a:rPr>
              <a:t>holds </a:t>
            </a:r>
            <a:r>
              <a:rPr lang="en-GB" sz="2400" i="1" dirty="0"/>
              <a:t>the resources of the CPU </a:t>
            </a:r>
            <a:r>
              <a:rPr lang="en-GB" sz="2400" i="1" dirty="0">
                <a:solidFill>
                  <a:srgbClr val="FF0000"/>
                </a:solidFill>
              </a:rPr>
              <a:t>till</a:t>
            </a:r>
            <a:r>
              <a:rPr lang="en-GB" sz="2400" i="1" dirty="0"/>
              <a:t> its </a:t>
            </a:r>
            <a:r>
              <a:rPr lang="en-GB" sz="2400" i="1" dirty="0">
                <a:solidFill>
                  <a:srgbClr val="FF0000"/>
                </a:solidFill>
              </a:rPr>
              <a:t>state</a:t>
            </a:r>
            <a:r>
              <a:rPr lang="en-GB" sz="2400" i="1" dirty="0"/>
              <a:t> changes to </a:t>
            </a:r>
            <a:r>
              <a:rPr lang="en-GB" sz="2400" i="1" dirty="0">
                <a:solidFill>
                  <a:srgbClr val="FF0000"/>
                </a:solidFill>
              </a:rPr>
              <a:t>terminated</a:t>
            </a:r>
            <a:r>
              <a:rPr lang="en-GB" sz="2400" i="1" dirty="0"/>
              <a:t> or is pushed to </a:t>
            </a:r>
            <a:r>
              <a:rPr lang="en-GB" sz="2400" i="1" dirty="0">
                <a:solidFill>
                  <a:srgbClr val="FF0000"/>
                </a:solidFill>
              </a:rPr>
              <a:t>waiting state</a:t>
            </a:r>
            <a:r>
              <a:rPr lang="en-GB" sz="2400" i="1" dirty="0"/>
              <a:t>. 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2400" b="1" i="1" u="sng" dirty="0"/>
              <a:t>Pre-emptive Scheduling:</a:t>
            </a:r>
            <a:r>
              <a:rPr lang="en-GB" sz="2400" i="1" dirty="0"/>
              <a:t> </a:t>
            </a:r>
            <a:r>
              <a:rPr lang="en-GB" sz="2200" i="1" dirty="0"/>
              <a:t>some processes </a:t>
            </a:r>
            <a:r>
              <a:rPr lang="en-GB" sz="2200" i="1" dirty="0">
                <a:solidFill>
                  <a:srgbClr val="FF0000"/>
                </a:solidFill>
              </a:rPr>
              <a:t>may have higher priority </a:t>
            </a:r>
            <a:r>
              <a:rPr lang="en-GB" sz="2200" i="1" dirty="0"/>
              <a:t>and hence </a:t>
            </a:r>
            <a:r>
              <a:rPr lang="en-GB" sz="2200" i="1" dirty="0">
                <a:solidFill>
                  <a:srgbClr val="FF0000"/>
                </a:solidFill>
              </a:rPr>
              <a:t>must be executed </a:t>
            </a:r>
            <a:r>
              <a:rPr lang="en-GB" sz="2200" i="1" dirty="0"/>
              <a:t>before the processes that have </a:t>
            </a:r>
            <a:r>
              <a:rPr lang="en-GB" sz="2200" i="1" dirty="0">
                <a:solidFill>
                  <a:srgbClr val="FF0000"/>
                </a:solidFill>
              </a:rPr>
              <a:t>lower priority</a:t>
            </a:r>
            <a:r>
              <a:rPr lang="en-GB" sz="2200" i="1" dirty="0"/>
              <a:t>. CPU resource is </a:t>
            </a:r>
            <a:r>
              <a:rPr lang="en-GB" sz="2200" i="1" dirty="0">
                <a:solidFill>
                  <a:srgbClr val="FF0000"/>
                </a:solidFill>
              </a:rPr>
              <a:t>allocated</a:t>
            </a:r>
            <a:r>
              <a:rPr lang="en-GB" sz="2200" i="1" dirty="0"/>
              <a:t> to a process for </a:t>
            </a:r>
            <a:r>
              <a:rPr lang="en-GB" sz="2200" i="1" dirty="0">
                <a:solidFill>
                  <a:srgbClr val="FF0000"/>
                </a:solidFill>
              </a:rPr>
              <a:t>only a limited period of time</a:t>
            </a:r>
            <a:r>
              <a:rPr lang="en-GB" sz="2200" i="1" dirty="0"/>
              <a:t>.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2" t="9586" r="1236" b="6414"/>
          <a:stretch/>
        </p:blipFill>
        <p:spPr>
          <a:xfrm>
            <a:off x="1391118" y="1037900"/>
            <a:ext cx="6640284" cy="193675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215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Scheduling Terminologies</a:t>
            </a:r>
            <a:endParaRPr sz="3200" dirty="0">
              <a:latin typeface="+mn-lt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371600"/>
            <a:ext cx="8382000" cy="4800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727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Scheduling Criteria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1143000"/>
            <a:ext cx="8839200" cy="4714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lvl="0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CPU utilization:</a:t>
            </a:r>
            <a:r>
              <a:rPr lang="en-GB" sz="2200" i="1" dirty="0"/>
              <a:t> keep the CPU as busy as possible.</a:t>
            </a:r>
          </a:p>
          <a:p>
            <a:pPr marL="357188" lvl="0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Throughput</a:t>
            </a:r>
            <a:r>
              <a:rPr lang="en-GB" sz="2200" i="1" dirty="0"/>
              <a:t>: </a:t>
            </a:r>
            <a:r>
              <a:rPr lang="en-GB" sz="2200" i="1" dirty="0">
                <a:solidFill>
                  <a:srgbClr val="FF0000"/>
                </a:solidFill>
              </a:rPr>
              <a:t>No. of processes </a:t>
            </a:r>
            <a:r>
              <a:rPr lang="en-GB" sz="2200" i="1" dirty="0"/>
              <a:t>completed their execution </a:t>
            </a:r>
            <a:r>
              <a:rPr lang="en-GB" sz="2200" i="1" dirty="0">
                <a:solidFill>
                  <a:srgbClr val="FF0000"/>
                </a:solidFill>
              </a:rPr>
              <a:t>per unit time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Arrival time:</a:t>
            </a:r>
            <a:r>
              <a:rPr lang="en-GB" sz="2200" i="1" dirty="0"/>
              <a:t> </a:t>
            </a:r>
            <a:r>
              <a:rPr lang="en-GB" sz="2200" i="1" dirty="0">
                <a:solidFill>
                  <a:srgbClr val="FF0000"/>
                </a:solidFill>
              </a:rPr>
              <a:t>time</a:t>
            </a:r>
            <a:r>
              <a:rPr lang="en-GB" sz="2200" i="1" dirty="0"/>
              <a:t> at which a process </a:t>
            </a:r>
            <a:r>
              <a:rPr lang="en-GB" sz="2200" i="1" dirty="0">
                <a:solidFill>
                  <a:srgbClr val="FF0000"/>
                </a:solidFill>
              </a:rPr>
              <a:t>arrives</a:t>
            </a:r>
            <a:r>
              <a:rPr lang="en-GB" sz="2200" i="1" dirty="0"/>
              <a:t> at the </a:t>
            </a:r>
            <a:r>
              <a:rPr lang="en-GB" sz="2200" i="1" dirty="0">
                <a:solidFill>
                  <a:srgbClr val="FF0000"/>
                </a:solidFill>
              </a:rPr>
              <a:t>ready queue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Burst Time:</a:t>
            </a:r>
            <a:r>
              <a:rPr lang="en-GB" sz="2200" i="1" dirty="0"/>
              <a:t> </a:t>
            </a:r>
            <a:r>
              <a:rPr lang="en-GB" sz="2200" i="1" dirty="0">
                <a:solidFill>
                  <a:srgbClr val="FF0000"/>
                </a:solidFill>
              </a:rPr>
              <a:t>time</a:t>
            </a:r>
            <a:r>
              <a:rPr lang="en-GB" sz="2200" i="1" dirty="0"/>
              <a:t> required by process to </a:t>
            </a:r>
            <a:r>
              <a:rPr lang="en-GB" sz="2200" i="1" dirty="0">
                <a:solidFill>
                  <a:srgbClr val="FF0000"/>
                </a:solidFill>
              </a:rPr>
              <a:t>complete</a:t>
            </a:r>
            <a:r>
              <a:rPr lang="en-GB" sz="2200" i="1" dirty="0"/>
              <a:t> its </a:t>
            </a:r>
            <a:r>
              <a:rPr lang="en-GB" sz="2200" i="1" dirty="0">
                <a:solidFill>
                  <a:srgbClr val="FF0000"/>
                </a:solidFill>
              </a:rPr>
              <a:t>execution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Completion Time:</a:t>
            </a:r>
            <a:r>
              <a:rPr lang="en-GB" sz="2200" b="1" i="1" dirty="0"/>
              <a:t> </a:t>
            </a:r>
            <a:r>
              <a:rPr lang="en-GB" sz="2200" i="1" dirty="0">
                <a:solidFill>
                  <a:srgbClr val="FF0000"/>
                </a:solidFill>
              </a:rPr>
              <a:t>time</a:t>
            </a:r>
            <a:r>
              <a:rPr lang="en-GB" sz="2200" i="1" dirty="0"/>
              <a:t> at when a process </a:t>
            </a:r>
            <a:r>
              <a:rPr lang="en-GB" sz="2200" i="1" dirty="0">
                <a:solidFill>
                  <a:srgbClr val="FF0000"/>
                </a:solidFill>
              </a:rPr>
              <a:t>completes</a:t>
            </a:r>
            <a:r>
              <a:rPr lang="en-GB" sz="2200" i="1" dirty="0"/>
              <a:t> its </a:t>
            </a:r>
            <a:r>
              <a:rPr lang="en-GB" sz="2200" i="1" dirty="0">
                <a:solidFill>
                  <a:srgbClr val="FF0000"/>
                </a:solidFill>
              </a:rPr>
              <a:t>execution</a:t>
            </a:r>
            <a:r>
              <a:rPr lang="en-GB" sz="2200" i="1" dirty="0"/>
              <a:t>. 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Turn-Around Time (TAT):</a:t>
            </a:r>
            <a:r>
              <a:rPr lang="en-GB" sz="2200" i="1" dirty="0"/>
              <a:t> difference between </a:t>
            </a:r>
            <a:r>
              <a:rPr lang="en-GB" sz="2200" i="1" dirty="0">
                <a:solidFill>
                  <a:srgbClr val="FF0000"/>
                </a:solidFill>
              </a:rPr>
              <a:t>completion time </a:t>
            </a:r>
            <a:r>
              <a:rPr lang="en-GB" sz="2200" i="1" dirty="0"/>
              <a:t>and </a:t>
            </a:r>
            <a:r>
              <a:rPr lang="en-GB" sz="2200" i="1" dirty="0">
                <a:solidFill>
                  <a:srgbClr val="FF0000"/>
                </a:solidFill>
              </a:rPr>
              <a:t>arrival time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Waiting Time:</a:t>
            </a:r>
            <a:r>
              <a:rPr lang="en-GB" sz="2200" i="1" dirty="0"/>
              <a:t> amount of time a process </a:t>
            </a:r>
            <a:r>
              <a:rPr lang="en-GB" sz="2200" i="1" dirty="0">
                <a:solidFill>
                  <a:srgbClr val="FF0000"/>
                </a:solidFill>
              </a:rPr>
              <a:t>waits to get </a:t>
            </a:r>
            <a:r>
              <a:rPr lang="en-GB" sz="2200" i="1" dirty="0"/>
              <a:t>CPU resources in the </a:t>
            </a:r>
            <a:r>
              <a:rPr lang="en-GB" sz="2200" i="1" dirty="0">
                <a:solidFill>
                  <a:srgbClr val="FF0000"/>
                </a:solidFill>
              </a:rPr>
              <a:t>ready queue</a:t>
            </a:r>
            <a:r>
              <a:rPr lang="en-GB" sz="2200" i="1" dirty="0"/>
              <a:t>. (difference between </a:t>
            </a:r>
            <a:r>
              <a:rPr lang="en-GB" sz="2200" i="1" dirty="0">
                <a:solidFill>
                  <a:srgbClr val="FF0000"/>
                </a:solidFill>
              </a:rPr>
              <a:t>turn around time </a:t>
            </a:r>
            <a:r>
              <a:rPr lang="en-GB" sz="2200" i="1" dirty="0"/>
              <a:t>and </a:t>
            </a:r>
            <a:r>
              <a:rPr lang="en-GB" sz="2200" i="1" dirty="0">
                <a:solidFill>
                  <a:srgbClr val="FF0000"/>
                </a:solidFill>
              </a:rPr>
              <a:t>burst time</a:t>
            </a:r>
            <a:r>
              <a:rPr lang="en-GB" sz="2200" i="1" dirty="0"/>
              <a:t>).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b="1" i="1" u="sng" dirty="0"/>
              <a:t>Response Time:</a:t>
            </a:r>
            <a:r>
              <a:rPr lang="en-GB" sz="2200" i="1" dirty="0"/>
              <a:t> time from the </a:t>
            </a:r>
            <a:r>
              <a:rPr lang="en-GB" sz="2200" i="1" dirty="0">
                <a:solidFill>
                  <a:srgbClr val="FF0000"/>
                </a:solidFill>
              </a:rPr>
              <a:t>submission of a request </a:t>
            </a:r>
            <a:r>
              <a:rPr lang="en-GB" sz="2200" i="1" dirty="0"/>
              <a:t>until the </a:t>
            </a:r>
            <a:r>
              <a:rPr lang="en-GB" sz="2200" i="1" dirty="0">
                <a:solidFill>
                  <a:srgbClr val="FF0000"/>
                </a:solidFill>
              </a:rPr>
              <a:t>first response is produced</a:t>
            </a:r>
            <a:r>
              <a:rPr lang="en-GB" sz="2200" i="1" dirty="0"/>
              <a:t>, not it takes to </a:t>
            </a:r>
            <a:r>
              <a:rPr lang="en-GB" sz="2200" i="1" dirty="0">
                <a:solidFill>
                  <a:srgbClr val="FF0000"/>
                </a:solidFill>
              </a:rPr>
              <a:t>output the response</a:t>
            </a:r>
            <a:r>
              <a:rPr lang="en-GB" sz="2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28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Scheduling Optimization Criteria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1524000"/>
            <a:ext cx="74676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Ø"/>
            </a:pPr>
            <a:r>
              <a:rPr lang="en-GB" sz="2800" b="1" i="1" dirty="0"/>
              <a:t>Maximize </a:t>
            </a:r>
          </a:p>
          <a:p>
            <a:pPr marL="2517775" lvl="0" indent="-4572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800" b="1" i="1" dirty="0"/>
              <a:t>the </a:t>
            </a:r>
            <a:r>
              <a:rPr lang="en-GB" sz="2800" b="1" i="1" dirty="0">
                <a:solidFill>
                  <a:srgbClr val="FF0000"/>
                </a:solidFill>
              </a:rPr>
              <a:t>CPU utilization</a:t>
            </a:r>
          </a:p>
          <a:p>
            <a:pPr marL="2517775" lvl="0" indent="-4572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800" b="1" i="1" dirty="0"/>
              <a:t>the </a:t>
            </a:r>
            <a:r>
              <a:rPr lang="en-GB" sz="2800" b="1" i="1" dirty="0">
                <a:solidFill>
                  <a:srgbClr val="FF0000"/>
                </a:solidFill>
              </a:rPr>
              <a:t>throughput</a:t>
            </a:r>
          </a:p>
          <a:p>
            <a:pPr marL="457200" lvl="0" indent="-3429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Ø"/>
            </a:pPr>
            <a:r>
              <a:rPr lang="en-GB" sz="2800" b="1" i="1" dirty="0"/>
              <a:t>Minimize </a:t>
            </a:r>
          </a:p>
          <a:p>
            <a:pPr marL="2433638" lvl="0" indent="-4572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800" b="1" i="1" dirty="0"/>
              <a:t>the (average) </a:t>
            </a:r>
            <a:r>
              <a:rPr lang="en-GB" sz="2800" b="1" i="1" dirty="0">
                <a:solidFill>
                  <a:srgbClr val="FF0000"/>
                </a:solidFill>
              </a:rPr>
              <a:t>turnaround time</a:t>
            </a:r>
          </a:p>
          <a:p>
            <a:pPr marL="2433638" lvl="0" indent="-4572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800" b="1" i="1" dirty="0"/>
              <a:t>the (average) </a:t>
            </a:r>
            <a:r>
              <a:rPr lang="en-GB" sz="2800" b="1" i="1" dirty="0">
                <a:solidFill>
                  <a:srgbClr val="FF0000"/>
                </a:solidFill>
              </a:rPr>
              <a:t>waiting time</a:t>
            </a:r>
          </a:p>
          <a:p>
            <a:pPr marL="2433638" lvl="0" indent="-457200" algn="just">
              <a:spcAft>
                <a:spcPts val="12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800" b="1" i="1" dirty="0"/>
              <a:t>the (average) </a:t>
            </a:r>
            <a:r>
              <a:rPr lang="en-GB" sz="2800" b="1" i="1" dirty="0">
                <a:solidFill>
                  <a:srgbClr val="FF0000"/>
                </a:solidFill>
              </a:rPr>
              <a:t>response time</a:t>
            </a:r>
          </a:p>
        </p:txBody>
      </p:sp>
    </p:spTree>
    <p:extLst>
      <p:ext uri="{BB962C8B-B14F-4D97-AF65-F5344CB8AC3E}">
        <p14:creationId xmlns:p14="http://schemas.microsoft.com/office/powerpoint/2010/main" val="4165903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Scheduling Algorithms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1295400"/>
            <a:ext cx="7162800" cy="46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457200">
              <a:lnSpc>
                <a:spcPct val="20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Come, First Serve (FCFS) Scheduling</a:t>
            </a:r>
          </a:p>
          <a:p>
            <a:pPr marL="571500" lvl="0" indent="-457200">
              <a:lnSpc>
                <a:spcPct val="20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Shortest Job First (SJF) Scheduling</a:t>
            </a:r>
          </a:p>
          <a:p>
            <a:pPr marL="571500" lvl="0" indent="-457200">
              <a:lnSpc>
                <a:spcPct val="20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 Scheduling</a:t>
            </a:r>
          </a:p>
          <a:p>
            <a:pPr marL="571500" lvl="0" indent="-457200">
              <a:lnSpc>
                <a:spcPct val="20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Round Robin (RR) Scheduling</a:t>
            </a:r>
          </a:p>
          <a:p>
            <a:pPr marL="571500" indent="-457200">
              <a:lnSpc>
                <a:spcPct val="20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8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Verdana"/>
              </a:rPr>
              <a:t>Multilevel Queue Scheduling</a:t>
            </a:r>
          </a:p>
        </p:txBody>
      </p:sp>
    </p:spTree>
    <p:extLst>
      <p:ext uri="{BB962C8B-B14F-4D97-AF65-F5344CB8AC3E}">
        <p14:creationId xmlns:p14="http://schemas.microsoft.com/office/powerpoint/2010/main" val="397607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FCFS Scheduling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046749"/>
            <a:ext cx="84582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FCFS is </a:t>
            </a:r>
            <a:r>
              <a:rPr lang="en-GB" sz="2200" i="1" dirty="0">
                <a:solidFill>
                  <a:srgbClr val="FF0000"/>
                </a:solidFill>
              </a:rPr>
              <a:t>simplest </a:t>
            </a:r>
            <a:r>
              <a:rPr lang="en-GB" sz="2200" i="1" dirty="0"/>
              <a:t>to</a:t>
            </a:r>
            <a:r>
              <a:rPr lang="en-GB" sz="2200" i="1" dirty="0">
                <a:solidFill>
                  <a:srgbClr val="FF0000"/>
                </a:solidFill>
              </a:rPr>
              <a:t> implement </a:t>
            </a:r>
            <a:r>
              <a:rPr lang="en-GB" sz="2200" i="1" dirty="0"/>
              <a:t>and</a:t>
            </a:r>
            <a:r>
              <a:rPr lang="en-GB" sz="2200" i="1" dirty="0">
                <a:solidFill>
                  <a:srgbClr val="FF0000"/>
                </a:solidFill>
              </a:rPr>
              <a:t> understand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Easily managed with a </a:t>
            </a:r>
            <a:r>
              <a:rPr lang="en-GB" sz="2200" i="1" dirty="0">
                <a:solidFill>
                  <a:srgbClr val="FF0000"/>
                </a:solidFill>
              </a:rPr>
              <a:t>FIFO queue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FCFS scheduling algorithm is </a:t>
            </a:r>
            <a:r>
              <a:rPr lang="en-GB" sz="2200" i="1" dirty="0">
                <a:solidFill>
                  <a:srgbClr val="FF0000"/>
                </a:solidFill>
              </a:rPr>
              <a:t>non pre-emptive</a:t>
            </a:r>
            <a:r>
              <a:rPr lang="en-GB" sz="2200" i="1" dirty="0"/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>
                <a:solidFill>
                  <a:srgbClr val="FF0000"/>
                </a:solidFill>
              </a:rPr>
              <a:t>Average waiting time </a:t>
            </a:r>
            <a:r>
              <a:rPr lang="en-GB" sz="2200" i="1" dirty="0"/>
              <a:t>depends on the </a:t>
            </a:r>
            <a:r>
              <a:rPr lang="en-GB" sz="2200" i="1" dirty="0">
                <a:solidFill>
                  <a:srgbClr val="FF0000"/>
                </a:solidFill>
              </a:rPr>
              <a:t>order</a:t>
            </a:r>
            <a:r>
              <a:rPr lang="en-GB" sz="2200" i="1" dirty="0"/>
              <a:t> of processes enter the system.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3505200"/>
            <a:ext cx="8458200" cy="123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b="1" i="1" u="sng" dirty="0"/>
              <a:t>Example;</a:t>
            </a:r>
          </a:p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Consider the following set of processes that arrive at time 0, with the length of the CPU burst given in milliseconds: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411"/>
          <a:stretch/>
        </p:blipFill>
        <p:spPr>
          <a:xfrm>
            <a:off x="3074256" y="4741436"/>
            <a:ext cx="2987253" cy="165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2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FCFS Scheduling (Example)</a:t>
            </a:r>
            <a:endParaRPr sz="3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319" y="1066800"/>
            <a:ext cx="8610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If the processes arrive in the order P1, P2, P3, the resulting Gantt chart is;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49" y="1559545"/>
            <a:ext cx="7353715" cy="10169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50" y="2873946"/>
            <a:ext cx="7405014" cy="19301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1552040" y="5029200"/>
            <a:ext cx="6077157" cy="1364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response time: (0 + 24 + 27)/3 = 17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waiting time: (0 + 24 + 27)/3 = 17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turnaround time: (24 + 27 + 30)/3 = 27</a:t>
            </a:r>
          </a:p>
        </p:txBody>
      </p:sp>
    </p:spTree>
    <p:extLst>
      <p:ext uri="{BB962C8B-B14F-4D97-AF65-F5344CB8AC3E}">
        <p14:creationId xmlns:p14="http://schemas.microsoft.com/office/powerpoint/2010/main" val="246179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FCFS Scheduling (Example contd..)</a:t>
            </a:r>
            <a:endParaRPr sz="3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3920" y="999825"/>
            <a:ext cx="8610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If the processes arrive in the order P2, P3, P1, the resulting Gantt chart is;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600" y="2837850"/>
            <a:ext cx="7657240" cy="18716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" t="5536"/>
          <a:stretch/>
        </p:blipFill>
        <p:spPr>
          <a:xfrm>
            <a:off x="782721" y="1511723"/>
            <a:ext cx="8072997" cy="10717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809320" y="5029200"/>
            <a:ext cx="6019800" cy="1364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response time: (6 + 0 + 3)/3 = 3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waiting time: (6+ 0 + 3)/3 = 3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turnaround time: (30 + 3 + 6)/3 = 13</a:t>
            </a:r>
          </a:p>
        </p:txBody>
      </p:sp>
    </p:spTree>
    <p:extLst>
      <p:ext uri="{BB962C8B-B14F-4D97-AF65-F5344CB8AC3E}">
        <p14:creationId xmlns:p14="http://schemas.microsoft.com/office/powerpoint/2010/main" val="418768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FCFS Scheduling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1143000"/>
            <a:ext cx="8229600" cy="5519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b="1" i="1" u="sng" dirty="0"/>
              <a:t>Advantages:</a:t>
            </a:r>
            <a:endParaRPr lang="en-GB" sz="2200" i="1" dirty="0"/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It is </a:t>
            </a:r>
            <a:r>
              <a:rPr lang="en-GB" sz="2200" i="1" dirty="0">
                <a:solidFill>
                  <a:srgbClr val="FF0000"/>
                </a:solidFill>
              </a:rPr>
              <a:t>simplest</a:t>
            </a:r>
            <a:r>
              <a:rPr lang="en-GB" sz="2200" i="1" dirty="0"/>
              <a:t> and </a:t>
            </a:r>
            <a:r>
              <a:rPr lang="en-GB" sz="2200" i="1" dirty="0">
                <a:solidFill>
                  <a:srgbClr val="FF0000"/>
                </a:solidFill>
              </a:rPr>
              <a:t>basic form </a:t>
            </a:r>
            <a:r>
              <a:rPr lang="en-GB" sz="2200" i="1" dirty="0"/>
              <a:t>of scheduling algorithms.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It is </a:t>
            </a:r>
            <a:r>
              <a:rPr lang="en-GB" sz="2200" i="1" dirty="0">
                <a:solidFill>
                  <a:srgbClr val="FF0000"/>
                </a:solidFill>
              </a:rPr>
              <a:t>easy to implement</a:t>
            </a:r>
            <a:r>
              <a:rPr lang="en-GB" sz="2200" i="1" dirty="0"/>
              <a:t>, it doesn’t require complex data structures.</a:t>
            </a:r>
          </a:p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Since processes are </a:t>
            </a:r>
            <a:r>
              <a:rPr lang="en-GB" sz="2200" i="1" dirty="0">
                <a:solidFill>
                  <a:srgbClr val="FF0000"/>
                </a:solidFill>
              </a:rPr>
              <a:t>executed in order </a:t>
            </a:r>
            <a:r>
              <a:rPr lang="en-GB" sz="2200" i="1" dirty="0"/>
              <a:t>they arrive, there’s </a:t>
            </a:r>
            <a:r>
              <a:rPr lang="en-GB" sz="2200" i="1" dirty="0">
                <a:solidFill>
                  <a:srgbClr val="FF0000"/>
                </a:solidFill>
              </a:rPr>
              <a:t>no risk </a:t>
            </a:r>
            <a:r>
              <a:rPr lang="en-GB" sz="2200" i="1" dirty="0"/>
              <a:t>of</a:t>
            </a:r>
            <a:r>
              <a:rPr lang="en-GB" sz="2200" i="1" dirty="0">
                <a:solidFill>
                  <a:srgbClr val="FF0000"/>
                </a:solidFill>
              </a:rPr>
              <a:t> </a:t>
            </a:r>
            <a:r>
              <a:rPr lang="en-GB" sz="2200" b="1" i="1" dirty="0">
                <a:solidFill>
                  <a:srgbClr val="FF0000"/>
                </a:solidFill>
              </a:rPr>
              <a:t>starvation</a:t>
            </a:r>
            <a:r>
              <a:rPr lang="en-GB" sz="2200" i="1" dirty="0"/>
              <a:t>.</a:t>
            </a:r>
          </a:p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endParaRPr lang="en-GB" sz="1100" b="1" i="1" u="sng" dirty="0"/>
          </a:p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b="1" i="1" u="sng" dirty="0"/>
              <a:t>Disadvantages:</a:t>
            </a:r>
            <a:endParaRPr lang="en-GB" sz="2200" i="1" dirty="0"/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As it is a </a:t>
            </a:r>
            <a:r>
              <a:rPr lang="en-GB" sz="2200" i="1" dirty="0">
                <a:solidFill>
                  <a:srgbClr val="FF0000"/>
                </a:solidFill>
              </a:rPr>
              <a:t>Non pre-emptive </a:t>
            </a:r>
            <a:r>
              <a:rPr lang="en-GB" sz="2200" i="1" dirty="0"/>
              <a:t>Scheduling Algorithm, it can result in </a:t>
            </a:r>
            <a:r>
              <a:rPr lang="en-GB" sz="2200" i="1" dirty="0">
                <a:solidFill>
                  <a:srgbClr val="FF0000"/>
                </a:solidFill>
              </a:rPr>
              <a:t>long waiting times</a:t>
            </a:r>
            <a:r>
              <a:rPr lang="en-GB" sz="2200" i="1" dirty="0"/>
              <a:t>.</a:t>
            </a:r>
          </a:p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If a long process arrives before a shorter one. </a:t>
            </a:r>
            <a:r>
              <a:rPr lang="en-GB" sz="2200" i="1" dirty="0">
                <a:sym typeface="Calibri"/>
              </a:rPr>
              <a:t>Then other processes will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have to wait </a:t>
            </a:r>
            <a:r>
              <a:rPr lang="en-GB" sz="2200" i="1" dirty="0">
                <a:sym typeface="Calibri"/>
              </a:rPr>
              <a:t>more, this will result in more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average waiting time</a:t>
            </a:r>
            <a:r>
              <a:rPr lang="en-GB" sz="2200" i="1" dirty="0">
                <a:sym typeface="Calibri"/>
              </a:rPr>
              <a:t>.</a:t>
            </a:r>
            <a:r>
              <a:rPr lang="en-GB" sz="2200" i="1" dirty="0"/>
              <a:t> i.e.; known as </a:t>
            </a:r>
            <a:r>
              <a:rPr lang="en-GB" sz="2200" b="1" i="1" dirty="0">
                <a:solidFill>
                  <a:srgbClr val="FF0000"/>
                </a:solidFill>
              </a:rPr>
              <a:t>convoy effect</a:t>
            </a:r>
            <a:r>
              <a:rPr lang="en-GB" sz="2200" i="1" dirty="0"/>
              <a:t>.</a:t>
            </a:r>
          </a:p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It is </a:t>
            </a:r>
            <a:r>
              <a:rPr lang="en-GB" sz="2200" i="1" dirty="0">
                <a:solidFill>
                  <a:srgbClr val="FF0000"/>
                </a:solidFill>
              </a:rPr>
              <a:t>not suitable </a:t>
            </a:r>
            <a:r>
              <a:rPr lang="en-GB" sz="2200" i="1" dirty="0"/>
              <a:t>for </a:t>
            </a:r>
            <a:r>
              <a:rPr lang="en-GB" sz="2200" i="1" dirty="0">
                <a:solidFill>
                  <a:srgbClr val="FF0000"/>
                </a:solidFill>
              </a:rPr>
              <a:t>time-sharing</a:t>
            </a:r>
            <a:r>
              <a:rPr lang="en-GB" sz="2200" i="1" dirty="0"/>
              <a:t> OS.</a:t>
            </a:r>
          </a:p>
        </p:txBody>
      </p:sp>
    </p:spTree>
    <p:extLst>
      <p:ext uri="{BB962C8B-B14F-4D97-AF65-F5344CB8AC3E}">
        <p14:creationId xmlns:p14="http://schemas.microsoft.com/office/powerpoint/2010/main" val="298211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SJF Scheduling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1526" y="1447800"/>
            <a:ext cx="8257674" cy="392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lnSpc>
                <a:spcPct val="150000"/>
              </a:lnSpc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400" i="1" dirty="0">
                <a:sym typeface="Calibri"/>
              </a:rPr>
              <a:t>It associates each process with the </a:t>
            </a:r>
            <a:r>
              <a:rPr lang="en-GB" sz="2400" i="1" dirty="0">
                <a:solidFill>
                  <a:srgbClr val="FF0000"/>
                </a:solidFill>
                <a:sym typeface="Calibri"/>
              </a:rPr>
              <a:t>length</a:t>
            </a:r>
            <a:r>
              <a:rPr lang="en-GB" sz="2400" i="1" dirty="0">
                <a:sym typeface="Calibri"/>
              </a:rPr>
              <a:t> of next </a:t>
            </a:r>
            <a:r>
              <a:rPr lang="en-GB" sz="2400" i="1" dirty="0">
                <a:solidFill>
                  <a:srgbClr val="FF0000"/>
                </a:solidFill>
                <a:sym typeface="Calibri"/>
              </a:rPr>
              <a:t>CPU burst</a:t>
            </a:r>
            <a:r>
              <a:rPr lang="en-GB" sz="2400" i="1" dirty="0">
                <a:sym typeface="Calibri"/>
              </a:rPr>
              <a:t>. </a:t>
            </a:r>
          </a:p>
          <a:p>
            <a:pPr marL="357188" indent="-357188" algn="just">
              <a:lnSpc>
                <a:spcPct val="150000"/>
              </a:lnSpc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400" i="1" dirty="0">
                <a:sym typeface="Calibri"/>
              </a:rPr>
              <a:t>Also known as</a:t>
            </a:r>
            <a:r>
              <a:rPr lang="en-GB" sz="2400" i="1" dirty="0"/>
              <a:t> </a:t>
            </a:r>
            <a:r>
              <a:rPr lang="en-GB" sz="2400" i="1" dirty="0">
                <a:solidFill>
                  <a:srgbClr val="FF0000"/>
                </a:solidFill>
              </a:rPr>
              <a:t>Shortest Job Next</a:t>
            </a:r>
            <a:r>
              <a:rPr lang="en-GB" sz="2400" i="1" dirty="0"/>
              <a:t>.</a:t>
            </a:r>
          </a:p>
          <a:p>
            <a:pPr marL="357188" indent="-357188" algn="just">
              <a:lnSpc>
                <a:spcPct val="150000"/>
              </a:lnSpc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400" i="1" dirty="0">
                <a:sym typeface="Calibri"/>
              </a:rPr>
              <a:t>The CPU is assigned to the process with the </a:t>
            </a:r>
            <a:r>
              <a:rPr lang="en-GB" sz="2400" i="1" dirty="0">
                <a:solidFill>
                  <a:srgbClr val="FF0000"/>
                </a:solidFill>
                <a:sym typeface="Calibri"/>
              </a:rPr>
              <a:t>smallest CPU burst</a:t>
            </a:r>
            <a:r>
              <a:rPr lang="en-GB" sz="2400" i="1" dirty="0">
                <a:sym typeface="Calibri"/>
              </a:rPr>
              <a:t>.</a:t>
            </a:r>
          </a:p>
          <a:p>
            <a:pPr marL="357188" indent="-357188" algn="just">
              <a:lnSpc>
                <a:spcPct val="150000"/>
              </a:lnSpc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400" i="1" dirty="0">
                <a:sym typeface="Calibri"/>
              </a:rPr>
              <a:t>FCFS can be used to break ties.</a:t>
            </a:r>
          </a:p>
          <a:p>
            <a:pPr marL="357188" indent="-357188" algn="just">
              <a:lnSpc>
                <a:spcPct val="150000"/>
              </a:lnSpc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400" i="1" dirty="0"/>
              <a:t>It </a:t>
            </a:r>
            <a:r>
              <a:rPr lang="en-GB" sz="2400" i="1" dirty="0">
                <a:solidFill>
                  <a:srgbClr val="FF0000"/>
                </a:solidFill>
              </a:rPr>
              <a:t>may</a:t>
            </a:r>
            <a:r>
              <a:rPr lang="en-GB" sz="2400" i="1" dirty="0"/>
              <a:t> or </a:t>
            </a:r>
            <a:r>
              <a:rPr lang="en-GB" sz="2400" i="1" dirty="0">
                <a:solidFill>
                  <a:srgbClr val="FF0000"/>
                </a:solidFill>
              </a:rPr>
              <a:t>may not </a:t>
            </a:r>
            <a:r>
              <a:rPr lang="en-GB" sz="2400" i="1" dirty="0"/>
              <a:t>be </a:t>
            </a:r>
            <a:r>
              <a:rPr lang="en-GB" sz="2400" i="1" dirty="0">
                <a:solidFill>
                  <a:srgbClr val="FF0000"/>
                </a:solidFill>
              </a:rPr>
              <a:t>pre-emptive</a:t>
            </a:r>
            <a:r>
              <a:rPr lang="en-GB" sz="2400" i="1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710860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SJF Scheduling (Example)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3481" y="3455916"/>
            <a:ext cx="8534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Sort all the processes according to the </a:t>
            </a:r>
            <a:r>
              <a:rPr lang="en-GB" sz="2200" i="1" dirty="0">
                <a:solidFill>
                  <a:srgbClr val="FF0000"/>
                </a:solidFill>
              </a:rPr>
              <a:t>minimum Burst time</a:t>
            </a:r>
            <a:r>
              <a:rPr lang="en-GB" sz="2200" i="1" dirty="0"/>
              <a:t>.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225" y="5638800"/>
            <a:ext cx="7418016" cy="89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Average waiting time: (3 + 16 + 9 + 0)/4 = </a:t>
            </a:r>
            <a:r>
              <a:rPr lang="en-GB" sz="2200" b="1" i="1" dirty="0"/>
              <a:t>7 </a:t>
            </a:r>
            <a:r>
              <a:rPr lang="en-GB" sz="2200" b="1" i="1" dirty="0" err="1"/>
              <a:t>ms</a:t>
            </a:r>
            <a:r>
              <a:rPr lang="en-GB" sz="2200" b="1" i="1" dirty="0"/>
              <a:t>.</a:t>
            </a:r>
          </a:p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In comparison with  FCFS, the </a:t>
            </a:r>
            <a:r>
              <a:rPr lang="en-GB" sz="2200" i="1" dirty="0">
                <a:solidFill>
                  <a:srgbClr val="FF0000"/>
                </a:solidFill>
              </a:rPr>
              <a:t>average waiting time </a:t>
            </a:r>
            <a:r>
              <a:rPr lang="en-GB" sz="2200" i="1" dirty="0"/>
              <a:t>= </a:t>
            </a:r>
            <a:r>
              <a:rPr lang="en-GB" sz="2200" b="1" i="1" dirty="0"/>
              <a:t>10.25 </a:t>
            </a:r>
            <a:r>
              <a:rPr lang="en-GB" sz="2200" b="1" i="1" dirty="0" err="1"/>
              <a:t>ms</a:t>
            </a:r>
            <a:r>
              <a:rPr lang="en-GB" sz="2200" b="1" i="1" dirty="0"/>
              <a:t>.</a:t>
            </a:r>
            <a:endParaRPr lang="en-GB" sz="2200" i="1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25" y="4227698"/>
            <a:ext cx="8054231" cy="10702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032" y="1636542"/>
            <a:ext cx="2708615" cy="1881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3482" y="1108240"/>
            <a:ext cx="84257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Consider the following set of processes with the length of the CPU burst given in milliseconds:</a:t>
            </a:r>
          </a:p>
        </p:txBody>
      </p:sp>
    </p:spTree>
    <p:extLst>
      <p:ext uri="{BB962C8B-B14F-4D97-AF65-F5344CB8AC3E}">
        <p14:creationId xmlns:p14="http://schemas.microsoft.com/office/powerpoint/2010/main" val="266224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Non Pre-emptive SJF (Example)</a:t>
            </a:r>
            <a:endParaRPr sz="32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004904"/>
            <a:ext cx="84257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Consider the following set of processes with the length of the CPU burst given in milliseconds: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19"/>
          <a:stretch/>
        </p:blipFill>
        <p:spPr>
          <a:xfrm>
            <a:off x="3093481" y="1377541"/>
            <a:ext cx="4176802" cy="15180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0" y="3129563"/>
            <a:ext cx="6798097" cy="9282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37" y="4299599"/>
            <a:ext cx="7894242" cy="229461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0345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Pre-emptive SJF (SRTF) Example</a:t>
            </a:r>
            <a:endParaRPr sz="32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004904"/>
            <a:ext cx="84257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i="1" dirty="0"/>
              <a:t>Consider the following set of processes with the length of the CPU burst given in milliseconds: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19"/>
          <a:stretch/>
        </p:blipFill>
        <p:spPr>
          <a:xfrm>
            <a:off x="3093481" y="1377541"/>
            <a:ext cx="4176802" cy="1518059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62" y="4419600"/>
            <a:ext cx="7547675" cy="21409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41" y="3087413"/>
            <a:ext cx="7401518" cy="107156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045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GB" sz="3200" dirty="0">
                <a:latin typeface="+mn-lt"/>
              </a:rPr>
              <a:t>SJF Scheduling</a:t>
            </a:r>
            <a:endParaRPr sz="32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277752"/>
            <a:ext cx="8229600" cy="4503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b="1" i="1" u="sng" dirty="0"/>
              <a:t>Advantages:</a:t>
            </a:r>
            <a:r>
              <a:rPr lang="en-GB" sz="2200" i="1" dirty="0"/>
              <a:t> </a:t>
            </a:r>
          </a:p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SJF is </a:t>
            </a:r>
            <a:r>
              <a:rPr lang="en-GB" sz="2200" i="1" dirty="0">
                <a:solidFill>
                  <a:srgbClr val="FF0000"/>
                </a:solidFill>
              </a:rPr>
              <a:t>better than </a:t>
            </a:r>
            <a:r>
              <a:rPr lang="en-GB" sz="2200" i="1" dirty="0"/>
              <a:t>the FCFS as it </a:t>
            </a:r>
            <a:r>
              <a:rPr lang="en-GB" sz="2200" i="1" dirty="0">
                <a:solidFill>
                  <a:srgbClr val="FF0000"/>
                </a:solidFill>
              </a:rPr>
              <a:t>reduces</a:t>
            </a:r>
            <a:r>
              <a:rPr lang="en-GB" sz="2200" i="1" dirty="0"/>
              <a:t> the average waiting time.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>
                <a:sym typeface="Calibri"/>
              </a:rPr>
              <a:t>Frequently used for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long term scheduling</a:t>
            </a:r>
            <a:r>
              <a:rPr lang="en-GB" sz="2200" i="1" dirty="0">
                <a:sym typeface="Calibri"/>
              </a:rPr>
              <a:t>.</a:t>
            </a:r>
          </a:p>
          <a:p>
            <a:pPr marL="357188" indent="-357188" algn="just" fontAlgn="base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r>
              <a:rPr lang="en-GB" sz="2200" i="1" dirty="0"/>
              <a:t>Suitable for </a:t>
            </a:r>
            <a:r>
              <a:rPr lang="en-GB" sz="2200" i="1" dirty="0">
                <a:solidFill>
                  <a:srgbClr val="FF0000"/>
                </a:solidFill>
              </a:rPr>
              <a:t>jobs </a:t>
            </a:r>
            <a:r>
              <a:rPr lang="en-GB" sz="2200" i="1" dirty="0"/>
              <a:t>running in </a:t>
            </a:r>
            <a:r>
              <a:rPr lang="en-GB" sz="2200" i="1" dirty="0">
                <a:solidFill>
                  <a:srgbClr val="FF0000"/>
                </a:solidFill>
              </a:rPr>
              <a:t>batches</a:t>
            </a:r>
            <a:r>
              <a:rPr lang="en-GB" sz="2200" i="1" dirty="0"/>
              <a:t>, where </a:t>
            </a:r>
            <a:r>
              <a:rPr lang="en-GB" sz="2200" i="1" dirty="0">
                <a:solidFill>
                  <a:srgbClr val="FF0000"/>
                </a:solidFill>
              </a:rPr>
              <a:t>run times </a:t>
            </a:r>
            <a:r>
              <a:rPr lang="en-GB" sz="2200" i="1" dirty="0"/>
              <a:t>are </a:t>
            </a:r>
            <a:r>
              <a:rPr lang="en-GB" sz="2200" i="1" dirty="0">
                <a:solidFill>
                  <a:srgbClr val="FF0000"/>
                </a:solidFill>
              </a:rPr>
              <a:t>already known</a:t>
            </a:r>
            <a:r>
              <a:rPr lang="en-GB" sz="2200" i="1" dirty="0"/>
              <a:t>.</a:t>
            </a:r>
          </a:p>
          <a:p>
            <a:pPr marL="357188" lvl="0" indent="-357188" algn="just">
              <a:spcBef>
                <a:spcPts val="360"/>
              </a:spcBef>
              <a:spcAft>
                <a:spcPts val="600"/>
              </a:spcAft>
              <a:buSzPts val="1800"/>
              <a:buFont typeface="Wingdings" panose="05000000000000000000" pitchFamily="2" charset="2"/>
              <a:buChar char="v"/>
            </a:pPr>
            <a:endParaRPr lang="en-GB" sz="2200" b="1" i="1" u="sng" dirty="0"/>
          </a:p>
          <a:p>
            <a:pPr lvl="0" algn="just">
              <a:spcBef>
                <a:spcPts val="360"/>
              </a:spcBef>
              <a:spcAft>
                <a:spcPts val="600"/>
              </a:spcAft>
              <a:buSzPts val="1800"/>
            </a:pPr>
            <a:r>
              <a:rPr lang="en-GB" sz="2200" b="1" i="1" u="sng" dirty="0"/>
              <a:t>Disadvantages:</a:t>
            </a:r>
            <a:r>
              <a:rPr lang="en-GB" sz="2200" i="1" dirty="0"/>
              <a:t> 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200" i="1" dirty="0">
                <a:sym typeface="Calibri"/>
              </a:rPr>
              <a:t>Job completion time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must be known earlier</a:t>
            </a:r>
            <a:r>
              <a:rPr lang="en-GB" sz="2200" i="1" dirty="0">
                <a:sym typeface="Calibri"/>
              </a:rPr>
              <a:t>, but it is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hard to predict</a:t>
            </a:r>
            <a:r>
              <a:rPr lang="en-GB" sz="2200" i="1" dirty="0">
                <a:sym typeface="Calibri"/>
              </a:rPr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200" i="1" dirty="0">
                <a:sym typeface="Calibri"/>
              </a:rPr>
              <a:t>May cause </a:t>
            </a:r>
            <a:r>
              <a:rPr lang="en-GB" sz="2200" b="1" i="1" dirty="0">
                <a:solidFill>
                  <a:srgbClr val="FF0000"/>
                </a:solidFill>
                <a:sym typeface="Calibri"/>
              </a:rPr>
              <a:t>starvation</a:t>
            </a:r>
            <a:r>
              <a:rPr lang="en-GB" sz="2200" i="1" dirty="0">
                <a:sym typeface="Calibri"/>
              </a:rPr>
              <a:t>, if shorter processes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keep coming</a:t>
            </a:r>
            <a:r>
              <a:rPr lang="en-GB" sz="2200" i="1" dirty="0">
                <a:sym typeface="Calibri"/>
              </a:rPr>
              <a:t>.</a:t>
            </a:r>
          </a:p>
          <a:p>
            <a:pPr marL="357188" indent="-357188" algn="just"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v"/>
            </a:pPr>
            <a:r>
              <a:rPr lang="en-GB" sz="2200" i="1" dirty="0">
                <a:sym typeface="Calibri"/>
              </a:rPr>
              <a:t>Cannot be implemented at the level of </a:t>
            </a:r>
            <a:r>
              <a:rPr lang="en-GB" sz="2200" i="1" dirty="0">
                <a:solidFill>
                  <a:srgbClr val="FF0000"/>
                </a:solidFill>
                <a:sym typeface="Calibri"/>
              </a:rPr>
              <a:t>short term scheduling</a:t>
            </a:r>
            <a:r>
              <a:rPr lang="en-GB" sz="2200" i="1" dirty="0"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255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838200"/>
            <a:ext cx="8839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Q1.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Consider three processes:</a:t>
            </a:r>
            <a:b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P1 arrives at time 0 with a burst time of 5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P2 arrives at time 1 with a burst time of 3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P3 arrives at time 5 with a burst time of 8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Calculate the average waiting time.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TT Time = 7.66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Average Waiting Time = 2.33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four processes with burst times: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= 6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P2 = 2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P3 = 6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P4 = 3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all arrive at time 0. Find the average waiting time using SJF scheduling.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TT Time = (2+5+11+17)/4 = 8.75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Average Waiting Time =  4.5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P1 = (Arrival = 1, Burst = 8ms)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P2 = (Arrival = 2, Burst = 4ms)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P3 = (Arrival = 3, Burst = 2ms)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P4 = (Arrival = 4, Burst = 1ms)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average turnaround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for SRTF.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TT Time = 6.5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Average Waiting Time = 2.75ms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240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8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3759</TotalTime>
  <Words>1323</Words>
  <Application>Microsoft Office PowerPoint</Application>
  <PresentationFormat>On-screen Show (4:3)</PresentationFormat>
  <Paragraphs>128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Times New Roman</vt:lpstr>
      <vt:lpstr>Verdana</vt:lpstr>
      <vt:lpstr>Wingdings</vt:lpstr>
      <vt:lpstr>Office Theme</vt:lpstr>
      <vt:lpstr>PowerPoint Presentation</vt:lpstr>
      <vt:lpstr>Contents</vt:lpstr>
      <vt:lpstr>Overview of Scheduling</vt:lpstr>
      <vt:lpstr>CPU Scheduling</vt:lpstr>
      <vt:lpstr>CPU Scheduling</vt:lpstr>
      <vt:lpstr>When to Schedule ??</vt:lpstr>
      <vt:lpstr>Types of Scheduling</vt:lpstr>
      <vt:lpstr>Scheduling Terminologies</vt:lpstr>
      <vt:lpstr>Scheduling Criteria</vt:lpstr>
      <vt:lpstr>Scheduling Optimization Criteria</vt:lpstr>
      <vt:lpstr>Scheduling Algorithms</vt:lpstr>
      <vt:lpstr>FCFS Scheduling</vt:lpstr>
      <vt:lpstr>FCFS Scheduling (Example)</vt:lpstr>
      <vt:lpstr>FCFS Scheduling (Example contd..)</vt:lpstr>
      <vt:lpstr>FCFS Scheduling</vt:lpstr>
      <vt:lpstr>SJF Scheduling</vt:lpstr>
      <vt:lpstr>SJF Scheduling (Example)</vt:lpstr>
      <vt:lpstr>Non Pre-emptive SJF (Example)</vt:lpstr>
      <vt:lpstr>Pre-emptive SJF (SRTF) Example</vt:lpstr>
      <vt:lpstr>SJF Scheduling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Tanish Singla</cp:lastModifiedBy>
  <cp:revision>187</cp:revision>
  <dcterms:created xsi:type="dcterms:W3CDTF">2023-08-17T13:43:22Z</dcterms:created>
  <dcterms:modified xsi:type="dcterms:W3CDTF">2026-03-05T08:28:06Z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2023-08-17T00:00:00Z</vt:filetime>
  </property>
</Properties>
</file>