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513" r:id="rId2"/>
    <p:sldId id="257" r:id="rId3"/>
    <p:sldId id="514" r:id="rId4"/>
    <p:sldId id="515" r:id="rId5"/>
    <p:sldId id="516" r:id="rId6"/>
    <p:sldId id="331" r:id="rId7"/>
    <p:sldId id="517" r:id="rId8"/>
    <p:sldId id="518" r:id="rId9"/>
    <p:sldId id="519" r:id="rId10"/>
    <p:sldId id="536" r:id="rId11"/>
    <p:sldId id="537" r:id="rId12"/>
    <p:sldId id="538" r:id="rId13"/>
    <p:sldId id="539" r:id="rId14"/>
    <p:sldId id="540" r:id="rId15"/>
    <p:sldId id="541" r:id="rId16"/>
    <p:sldId id="542" r:id="rId17"/>
    <p:sldId id="543" r:id="rId18"/>
    <p:sldId id="544" r:id="rId19"/>
    <p:sldId id="522" r:id="rId20"/>
    <p:sldId id="523" r:id="rId21"/>
    <p:sldId id="524" r:id="rId22"/>
    <p:sldId id="525" r:id="rId23"/>
    <p:sldId id="526" r:id="rId24"/>
    <p:sldId id="529" r:id="rId25"/>
    <p:sldId id="530" r:id="rId26"/>
    <p:sldId id="531" r:id="rId27"/>
    <p:sldId id="532" r:id="rId28"/>
    <p:sldId id="533" r:id="rId29"/>
    <p:sldId id="535" r:id="rId30"/>
    <p:sldId id="534" r:id="rId31"/>
    <p:sldId id="545" r:id="rId32"/>
    <p:sldId id="546" r:id="rId33"/>
    <p:sldId id="547" r:id="rId34"/>
    <p:sldId id="548" r:id="rId35"/>
    <p:sldId id="550" r:id="rId36"/>
    <p:sldId id="551" r:id="rId37"/>
    <p:sldId id="552" r:id="rId38"/>
    <p:sldId id="553" r:id="rId39"/>
    <p:sldId id="554" r:id="rId40"/>
    <p:sldId id="342" r:id="rId41"/>
    <p:sldId id="343" r:id="rId42"/>
    <p:sldId id="527" r:id="rId43"/>
    <p:sldId id="528" r:id="rId44"/>
    <p:sldId id="466" r:id="rId45"/>
    <p:sldId id="483" r:id="rId46"/>
    <p:sldId id="549" r:id="rId47"/>
    <p:sldId id="467" r:id="rId48"/>
    <p:sldId id="481" r:id="rId49"/>
    <p:sldId id="555"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C9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60" autoAdjust="0"/>
    <p:restoredTop sz="94660"/>
  </p:normalViewPr>
  <p:slideViewPr>
    <p:cSldViewPr snapToGrid="0">
      <p:cViewPr varScale="1">
        <p:scale>
          <a:sx n="62" d="100"/>
          <a:sy n="62" d="100"/>
        </p:scale>
        <p:origin x="94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8D2997-5E15-4282-84D1-2765017CD559}" type="datetimeFigureOut">
              <a:rPr lang="en-IN" smtClean="0"/>
              <a:t>10-12-2024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D3BBD-AEDA-4A06-978E-432988C26784}" type="slidenum">
              <a:rPr lang="en-IN" smtClean="0"/>
              <a:t>‹#›</a:t>
            </a:fld>
            <a:endParaRPr lang="en-IN"/>
          </a:p>
        </p:txBody>
      </p:sp>
    </p:spTree>
    <p:extLst>
      <p:ext uri="{BB962C8B-B14F-4D97-AF65-F5344CB8AC3E}">
        <p14:creationId xmlns:p14="http://schemas.microsoft.com/office/powerpoint/2010/main" val="921744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3D3BBD-AEDA-4A06-978E-432988C26784}" type="slidenum">
              <a:rPr lang="en-IN" smtClean="0"/>
              <a:t>41</a:t>
            </a:fld>
            <a:endParaRPr lang="en-IN"/>
          </a:p>
        </p:txBody>
      </p:sp>
    </p:spTree>
    <p:extLst>
      <p:ext uri="{BB962C8B-B14F-4D97-AF65-F5344CB8AC3E}">
        <p14:creationId xmlns:p14="http://schemas.microsoft.com/office/powerpoint/2010/main" val="160710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3D3BBD-AEDA-4A06-978E-432988C26784}" type="slidenum">
              <a:rPr lang="en-IN" smtClean="0"/>
              <a:t>42</a:t>
            </a:fld>
            <a:endParaRPr lang="en-IN"/>
          </a:p>
        </p:txBody>
      </p:sp>
    </p:spTree>
    <p:extLst>
      <p:ext uri="{BB962C8B-B14F-4D97-AF65-F5344CB8AC3E}">
        <p14:creationId xmlns:p14="http://schemas.microsoft.com/office/powerpoint/2010/main" val="2639628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3D3BBD-AEDA-4A06-978E-432988C26784}" type="slidenum">
              <a:rPr lang="en-IN" smtClean="0"/>
              <a:t>43</a:t>
            </a:fld>
            <a:endParaRPr lang="en-IN"/>
          </a:p>
        </p:txBody>
      </p:sp>
    </p:spTree>
    <p:extLst>
      <p:ext uri="{BB962C8B-B14F-4D97-AF65-F5344CB8AC3E}">
        <p14:creationId xmlns:p14="http://schemas.microsoft.com/office/powerpoint/2010/main" val="3775940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3D3BBD-AEDA-4A06-978E-432988C26784}" type="slidenum">
              <a:rPr lang="en-IN" smtClean="0"/>
              <a:t>47</a:t>
            </a:fld>
            <a:endParaRPr lang="en-IN"/>
          </a:p>
        </p:txBody>
      </p:sp>
    </p:spTree>
    <p:extLst>
      <p:ext uri="{BB962C8B-B14F-4D97-AF65-F5344CB8AC3E}">
        <p14:creationId xmlns:p14="http://schemas.microsoft.com/office/powerpoint/2010/main" val="3829092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3D3BBD-AEDA-4A06-978E-432988C26784}" type="slidenum">
              <a:rPr lang="en-IN" smtClean="0"/>
              <a:t>48</a:t>
            </a:fld>
            <a:endParaRPr lang="en-IN"/>
          </a:p>
        </p:txBody>
      </p:sp>
    </p:spTree>
    <p:extLst>
      <p:ext uri="{BB962C8B-B14F-4D97-AF65-F5344CB8AC3E}">
        <p14:creationId xmlns:p14="http://schemas.microsoft.com/office/powerpoint/2010/main" val="908180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3D3BBD-AEDA-4A06-978E-432988C26784}" type="slidenum">
              <a:rPr lang="en-IN" smtClean="0"/>
              <a:t>49</a:t>
            </a:fld>
            <a:endParaRPr lang="en-IN"/>
          </a:p>
        </p:txBody>
      </p:sp>
    </p:spTree>
    <p:extLst>
      <p:ext uri="{BB962C8B-B14F-4D97-AF65-F5344CB8AC3E}">
        <p14:creationId xmlns:p14="http://schemas.microsoft.com/office/powerpoint/2010/main" val="366478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338D3F6-C5B7-4F4C-98A6-B97B0FA094A0}"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1384473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338D3F6-C5B7-4F4C-98A6-B97B0FA094A0}"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102828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338D3F6-C5B7-4F4C-98A6-B97B0FA094A0}"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74440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338D3F6-C5B7-4F4C-98A6-B97B0FA094A0}" type="datetimeFigureOut">
              <a:rPr lang="en-IN" smtClean="0"/>
              <a:t>10-12-2024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686426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338D3F6-C5B7-4F4C-98A6-B97B0FA094A0}" type="datetimeFigureOut">
              <a:rPr lang="en-IN" smtClean="0"/>
              <a:t>10-12-2024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3073941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338D3F6-C5B7-4F4C-98A6-B97B0FA094A0}" type="datetimeFigureOut">
              <a:rPr lang="en-IN" smtClean="0"/>
              <a:t>10-12-2024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1743228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38D3F6-C5B7-4F4C-98A6-B97B0FA094A0}" type="datetimeFigureOut">
              <a:rPr lang="en-IN" smtClean="0"/>
              <a:t>10-12-2024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2632940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338D3F6-C5B7-4F4C-98A6-B97B0FA094A0}" type="datetimeFigureOut">
              <a:rPr lang="en-IN" smtClean="0"/>
              <a:t>10-12-2024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3532167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338D3F6-C5B7-4F4C-98A6-B97B0FA094A0}" type="datetimeFigureOut">
              <a:rPr lang="en-IN" smtClean="0"/>
              <a:t>10-12-2024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1842519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338D3F6-C5B7-4F4C-98A6-B97B0FA094A0}"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158442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338D3F6-C5B7-4F4C-98A6-B97B0FA094A0}"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111903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38D3F6-C5B7-4F4C-98A6-B97B0FA094A0}" type="datetimeFigureOut">
              <a:rPr lang="en-IN" smtClean="0"/>
              <a:t>10-12-2024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6E8DAF-430C-4D85-A1A7-2E0CA47A6485}" type="slidenum">
              <a:rPr lang="en-IN" smtClean="0"/>
              <a:t>‹#›</a:t>
            </a:fld>
            <a:endParaRPr lang="en-IN"/>
          </a:p>
        </p:txBody>
      </p:sp>
    </p:spTree>
    <p:extLst>
      <p:ext uri="{BB962C8B-B14F-4D97-AF65-F5344CB8AC3E}">
        <p14:creationId xmlns:p14="http://schemas.microsoft.com/office/powerpoint/2010/main" val="1948885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CODE/11%20-%20Pointer/QUIZ/1%20-%20Quiz%20-%201.cp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hyperlink" Target="CODE/11%20-%20Pointer/QUIZ/2%20-%20Quiz%20-%202.cpp"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hyperlink" Target="CODE/11%20-%20Pointer/QUIZ/2%20-%20Quiz%20-%202.cpp"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hyperlink" Target="CODE/11%20-%20Pointer/QUESTIONS/1%20-%20Question%20-%201.cpp" TargetMode="Externa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hyperlink" Target="CODE/11%20-%20Pointer/QUESTIONS/1%20-%20Question%20-%201.cpp" TargetMode="Externa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hyperlink" Target="CODE/QUIZ-03/Quiz%20-%204.cpp"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CODE/09%20Function/Questions/Odd%20Even%20Function.cpp" TargetMode="External"/><Relationship Id="rId4" Type="http://schemas.openxmlformats.org/officeDocument/2006/relationships/hyperlink" Target="CODE/09%20Function/Character%20Function/MyIsalpha.cpp"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046" y="407963"/>
            <a:ext cx="11626487" cy="6061625"/>
          </a:xfrm>
          <a:prstGeom prst="rect">
            <a:avLst/>
          </a:prstGeom>
        </p:spPr>
      </p:pic>
    </p:spTree>
    <p:extLst>
      <p:ext uri="{BB962C8B-B14F-4D97-AF65-F5344CB8AC3E}">
        <p14:creationId xmlns:p14="http://schemas.microsoft.com/office/powerpoint/2010/main" val="3717977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201150"/>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Pointer is a special type of variable that is used to store address of a variable. When we declare a variable it is preceded by </a:t>
            </a:r>
            <a:r>
              <a:rPr lang="en-US" sz="2400" b="1" dirty="0">
                <a:latin typeface="Verdana" panose="020B0604030504040204" pitchFamily="34" charset="0"/>
                <a:ea typeface="Verdana" panose="020B0604030504040204" pitchFamily="34" charset="0"/>
              </a:rPr>
              <a:t>asterisk (*)</a:t>
            </a:r>
            <a:r>
              <a:rPr lang="en-US" sz="2400" dirty="0">
                <a:latin typeface="Verdana" panose="020B0604030504040204" pitchFamily="34" charset="0"/>
                <a:ea typeface="Verdana" panose="020B0604030504040204" pitchFamily="34" charset="0"/>
              </a:rPr>
              <a:t>. While storing address of variable a variable is preceded by </a:t>
            </a:r>
            <a:r>
              <a:rPr lang="en-US" sz="2400" b="1" dirty="0">
                <a:latin typeface="Verdana" panose="020B0604030504040204" pitchFamily="34" charset="0"/>
                <a:ea typeface="Verdana" panose="020B0604030504040204" pitchFamily="34" charset="0"/>
              </a:rPr>
              <a:t>ampersand (&amp;)</a:t>
            </a:r>
            <a:r>
              <a:rPr lang="en-US" sz="2400" dirty="0">
                <a:latin typeface="Verdana" panose="020B0604030504040204" pitchFamily="34" charset="0"/>
                <a:ea typeface="Verdana" panose="020B0604030504040204" pitchFamily="34" charset="0"/>
              </a:rPr>
              <a:t>.</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A pointer can be incremented / decremented, i.e., to point to the next /  previous memory location. The purpose of pointer is to save memory space and achieve faster execution time.</a:t>
            </a:r>
            <a:endParaRPr lang="en-IN" sz="2400" dirty="0">
              <a:latin typeface="Verdana" panose="020B0604030504040204" pitchFamily="34" charset="0"/>
              <a:ea typeface="Verdana" panose="020B0604030504040204" pitchFamily="34" charset="0"/>
            </a:endParaRP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18968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309146"/>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marL="457200" indent="-457200" fontAlgn="base">
              <a:lnSpc>
                <a:spcPct val="150000"/>
              </a:lnSpc>
              <a:buFont typeface="+mj-lt"/>
              <a:buAutoNum type="arabicParenR"/>
            </a:pPr>
            <a:r>
              <a:rPr lang="en-US" sz="2400" dirty="0">
                <a:latin typeface="Verdana" panose="020B0604030504040204" pitchFamily="34" charset="0"/>
                <a:ea typeface="Verdana" panose="020B0604030504040204" pitchFamily="34" charset="0"/>
              </a:rPr>
              <a:t>Normal variable stores the value whereas pointer variable stores the address of the variable.</a:t>
            </a:r>
          </a:p>
          <a:p>
            <a:pPr marL="457200" indent="-457200" fontAlgn="base">
              <a:lnSpc>
                <a:spcPct val="150000"/>
              </a:lnSpc>
              <a:buFont typeface="+mj-lt"/>
              <a:buAutoNum type="arabicParenR"/>
            </a:pPr>
            <a:r>
              <a:rPr lang="en-US" sz="2400" dirty="0">
                <a:latin typeface="Verdana" panose="020B0604030504040204" pitchFamily="34" charset="0"/>
                <a:ea typeface="Verdana" panose="020B0604030504040204" pitchFamily="34" charset="0"/>
              </a:rPr>
              <a:t>The content of the C pointer always be a whole number i.e. address.</a:t>
            </a:r>
          </a:p>
          <a:p>
            <a:pPr marL="457200" indent="-457200" fontAlgn="base">
              <a:lnSpc>
                <a:spcPct val="150000"/>
              </a:lnSpc>
              <a:buFont typeface="+mj-lt"/>
              <a:buAutoNum type="arabicParenR"/>
            </a:pPr>
            <a:r>
              <a:rPr lang="en-US" sz="2400" dirty="0">
                <a:latin typeface="Verdana" panose="020B0604030504040204" pitchFamily="34" charset="0"/>
                <a:ea typeface="Verdana" panose="020B0604030504040204" pitchFamily="34" charset="0"/>
              </a:rPr>
              <a:t>Always C pointer is initialized to null, i.e. </a:t>
            </a:r>
            <a:r>
              <a:rPr lang="en-US" sz="2400" dirty="0" err="1">
                <a:latin typeface="Verdana" panose="020B0604030504040204" pitchFamily="34" charset="0"/>
                <a:ea typeface="Verdana" panose="020B0604030504040204" pitchFamily="34" charset="0"/>
              </a:rPr>
              <a:t>int</a:t>
            </a:r>
            <a:r>
              <a:rPr lang="en-US" sz="2400" dirty="0">
                <a:latin typeface="Verdana" panose="020B0604030504040204" pitchFamily="34" charset="0"/>
                <a:ea typeface="Verdana" panose="020B0604030504040204" pitchFamily="34" charset="0"/>
              </a:rPr>
              <a:t> *</a:t>
            </a:r>
            <a:r>
              <a:rPr lang="en-US" sz="2400">
                <a:latin typeface="Verdana" panose="020B0604030504040204" pitchFamily="34" charset="0"/>
                <a:ea typeface="Verdana" panose="020B0604030504040204" pitchFamily="34" charset="0"/>
              </a:rPr>
              <a:t>p = NULL.</a:t>
            </a:r>
            <a:endParaRPr lang="en-US" sz="2400" dirty="0">
              <a:latin typeface="Verdana" panose="020B0604030504040204" pitchFamily="34" charset="0"/>
              <a:ea typeface="Verdana" panose="020B0604030504040204" pitchFamily="34" charset="0"/>
            </a:endParaRPr>
          </a:p>
          <a:p>
            <a:pPr marL="457200" indent="-457200" fontAlgn="base">
              <a:lnSpc>
                <a:spcPct val="150000"/>
              </a:lnSpc>
              <a:buFont typeface="+mj-lt"/>
              <a:buAutoNum type="arabicParenR"/>
            </a:pPr>
            <a:r>
              <a:rPr lang="en-US" sz="2400" dirty="0">
                <a:latin typeface="Verdana" panose="020B0604030504040204" pitchFamily="34" charset="0"/>
                <a:ea typeface="Verdana" panose="020B0604030504040204" pitchFamily="34" charset="0"/>
              </a:rPr>
              <a:t>The value of null pointer is 0.</a:t>
            </a:r>
          </a:p>
          <a:p>
            <a:pPr marL="457200" indent="-457200" fontAlgn="base">
              <a:lnSpc>
                <a:spcPct val="150000"/>
              </a:lnSpc>
              <a:buFont typeface="+mj-lt"/>
              <a:buAutoNum type="arabicParenR"/>
            </a:pPr>
            <a:r>
              <a:rPr lang="en-US" sz="2400" dirty="0">
                <a:latin typeface="Verdana" panose="020B0604030504040204" pitchFamily="34" charset="0"/>
                <a:ea typeface="Verdana" panose="020B0604030504040204" pitchFamily="34" charset="0"/>
              </a:rPr>
              <a:t>&amp; symbol is used to get the address of the variable.</a:t>
            </a:r>
          </a:p>
          <a:p>
            <a:pPr marL="457200" indent="-457200" fontAlgn="base">
              <a:lnSpc>
                <a:spcPct val="150000"/>
              </a:lnSpc>
              <a:buFont typeface="+mj-lt"/>
              <a:buAutoNum type="arabicParenR"/>
            </a:pPr>
            <a:r>
              <a:rPr lang="en-US" sz="2400" dirty="0">
                <a:latin typeface="Verdana" panose="020B0604030504040204" pitchFamily="34" charset="0"/>
                <a:ea typeface="Verdana" panose="020B0604030504040204" pitchFamily="34" charset="0"/>
              </a:rPr>
              <a:t>* symbol is used to get the value of the variable that the pointer is pointing to.</a:t>
            </a:r>
          </a:p>
          <a:p>
            <a:pPr marL="457200" indent="-457200" fontAlgn="base">
              <a:lnSpc>
                <a:spcPct val="150000"/>
              </a:lnSpc>
              <a:buFont typeface="+mj-lt"/>
              <a:buAutoNum type="arabicParenR"/>
            </a:pPr>
            <a:r>
              <a:rPr lang="en-US" sz="2400" dirty="0">
                <a:latin typeface="Verdana" panose="020B0604030504040204" pitchFamily="34" charset="0"/>
                <a:ea typeface="Verdana" panose="020B0604030504040204" pitchFamily="34" charset="0"/>
              </a:rPr>
              <a:t>If a pointer in C is assigned to NULL, it means it is pointing to nothing.</a:t>
            </a: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1997612"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Key Points</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533774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985980"/>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endParaRPr lang="en-US" sz="1000" dirty="0">
              <a:latin typeface="Verdana" panose="020B0604030504040204" pitchFamily="34" charset="0"/>
              <a:ea typeface="Verdana" panose="020B0604030504040204" pitchFamily="34" charset="0"/>
            </a:endParaRPr>
          </a:p>
          <a:p>
            <a:pPr marL="457200" indent="-457200" fontAlgn="base">
              <a:lnSpc>
                <a:spcPct val="150000"/>
              </a:lnSpc>
              <a:buFont typeface="+mj-lt"/>
              <a:buAutoNum type="arabicParenR" startAt="8"/>
            </a:pPr>
            <a:r>
              <a:rPr lang="en-US" sz="2400" dirty="0">
                <a:latin typeface="Verdana" panose="020B0604030504040204" pitchFamily="34" charset="0"/>
                <a:ea typeface="Verdana" panose="020B0604030504040204" pitchFamily="34" charset="0"/>
              </a:rPr>
              <a:t>Two pointers can be subtracted to know how many elements are available between these two pointers.</a:t>
            </a:r>
          </a:p>
          <a:p>
            <a:pPr marL="457200" indent="-457200" fontAlgn="base">
              <a:lnSpc>
                <a:spcPct val="150000"/>
              </a:lnSpc>
              <a:buFont typeface="+mj-lt"/>
              <a:buAutoNum type="arabicParenR" startAt="8"/>
            </a:pPr>
            <a:r>
              <a:rPr lang="en-US" sz="2400" dirty="0">
                <a:latin typeface="Verdana" panose="020B0604030504040204" pitchFamily="34" charset="0"/>
                <a:ea typeface="Verdana" panose="020B0604030504040204" pitchFamily="34" charset="0"/>
              </a:rPr>
              <a:t>But, Pointer addition, multiplication, division are not allowed.</a:t>
            </a:r>
          </a:p>
          <a:p>
            <a:pPr marL="457200" indent="-457200" fontAlgn="base">
              <a:lnSpc>
                <a:spcPct val="150000"/>
              </a:lnSpc>
              <a:buFont typeface="+mj-lt"/>
              <a:buAutoNum type="arabicParenR" startAt="8"/>
            </a:pPr>
            <a:r>
              <a:rPr lang="en-US" sz="2400" dirty="0">
                <a:latin typeface="Verdana" panose="020B0604030504040204" pitchFamily="34" charset="0"/>
                <a:ea typeface="Verdana" panose="020B0604030504040204" pitchFamily="34" charset="0"/>
              </a:rPr>
              <a:t>The size of any pointer is 4 byte (for 64 bit compiler).</a:t>
            </a:r>
          </a:p>
          <a:p>
            <a:pPr marL="457200" indent="-457200" fontAlgn="base">
              <a:lnSpc>
                <a:spcPct val="150000"/>
              </a:lnSpc>
              <a:buFont typeface="+mj-lt"/>
              <a:buAutoNum type="arabicParenR" startAt="8"/>
            </a:pPr>
            <a:endParaRPr lang="en-US" sz="2400" dirty="0">
              <a:latin typeface="Verdana" panose="020B0604030504040204" pitchFamily="34" charset="0"/>
              <a:ea typeface="Verdana" panose="020B0604030504040204" pitchFamily="34" charset="0"/>
            </a:endParaRPr>
          </a:p>
          <a:p>
            <a:pPr fontAlgn="base">
              <a:lnSpc>
                <a:spcPct val="150000"/>
              </a:lnSpc>
            </a:pPr>
            <a:endParaRPr lang="en-US" sz="2400" dirty="0">
              <a:latin typeface="Verdana" panose="020B0604030504040204" pitchFamily="34" charset="0"/>
              <a:ea typeface="Verdana" panose="020B0604030504040204" pitchFamily="34" charset="0"/>
            </a:endParaRPr>
          </a:p>
          <a:p>
            <a:pPr fontAlgn="base">
              <a:lnSpc>
                <a:spcPct val="150000"/>
              </a:lnSpc>
            </a:pPr>
            <a:r>
              <a:rPr lang="en-US" sz="2400" b="1" dirty="0">
                <a:latin typeface="Verdana" panose="020B0604030504040204" pitchFamily="34" charset="0"/>
                <a:ea typeface="Verdana" panose="020B0604030504040204" pitchFamily="34" charset="0"/>
              </a:rPr>
              <a:t>NOTE: </a:t>
            </a:r>
            <a:r>
              <a:rPr lang="en-US" sz="2400" dirty="0">
                <a:latin typeface="Verdana" panose="020B0604030504040204" pitchFamily="34" charset="0"/>
                <a:ea typeface="Verdana" panose="020B0604030504040204" pitchFamily="34" charset="0"/>
              </a:rPr>
              <a:t>Using pointer we can find address of a variable as well as value of variable.</a:t>
            </a:r>
            <a:endParaRPr lang="en-US" sz="2400" b="1" dirty="0">
              <a:latin typeface="Verdana" panose="020B0604030504040204" pitchFamily="34" charset="0"/>
              <a:ea typeface="Verdana" panose="020B0604030504040204" pitchFamily="34" charset="0"/>
            </a:endParaRP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1997612"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Key Points</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419378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662815"/>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lvl="3" algn="just">
              <a:lnSpc>
                <a:spcPct val="150000"/>
              </a:lnSpc>
            </a:pPr>
            <a:r>
              <a:rPr lang="en-US" sz="2400" dirty="0" err="1">
                <a:latin typeface="Verdana" panose="020B0604030504040204" pitchFamily="34" charset="0"/>
                <a:ea typeface="Verdana" panose="020B0604030504040204" pitchFamily="34" charset="0"/>
              </a:rPr>
              <a:t>Data_Type</a:t>
            </a:r>
            <a:r>
              <a:rPr lang="en-US" sz="2400" dirty="0">
                <a:latin typeface="Verdana" panose="020B0604030504040204" pitchFamily="34" charset="0"/>
                <a:ea typeface="Verdana" panose="020B0604030504040204" pitchFamily="34" charset="0"/>
              </a:rPr>
              <a:t> *</a:t>
            </a:r>
            <a:r>
              <a:rPr lang="en-US" sz="2400" dirty="0" err="1">
                <a:latin typeface="Verdana" panose="020B0604030504040204" pitchFamily="34" charset="0"/>
                <a:ea typeface="Verdana" panose="020B0604030504040204" pitchFamily="34" charset="0"/>
              </a:rPr>
              <a:t>Pointer_Name</a:t>
            </a:r>
            <a:r>
              <a:rPr lang="en-US" sz="2400" dirty="0">
                <a:latin typeface="Verdana" panose="020B0604030504040204" pitchFamily="34" charset="0"/>
                <a:ea typeface="Verdana" panose="020B0604030504040204" pitchFamily="34" charset="0"/>
              </a:rPr>
              <a:t>;</a:t>
            </a:r>
          </a:p>
          <a:p>
            <a:pPr lvl="3" algn="just">
              <a:lnSpc>
                <a:spcPct val="150000"/>
              </a:lnSpc>
            </a:pPr>
            <a:endParaRPr lang="en-US" sz="1000" dirty="0">
              <a:latin typeface="Verdana" panose="020B0604030504040204" pitchFamily="34" charset="0"/>
              <a:ea typeface="Verdana" panose="020B0604030504040204" pitchFamily="34" charset="0"/>
            </a:endParaRPr>
          </a:p>
          <a:p>
            <a:pPr lvl="1" algn="just">
              <a:lnSpc>
                <a:spcPct val="150000"/>
              </a:lnSpc>
            </a:pPr>
            <a:r>
              <a:rPr lang="en-US" sz="2400" b="1" dirty="0">
                <a:latin typeface="Verdana" panose="020B0604030504040204" pitchFamily="34" charset="0"/>
                <a:ea typeface="Verdana" panose="020B0604030504040204" pitchFamily="34" charset="0"/>
              </a:rPr>
              <a:t>Example:</a:t>
            </a:r>
          </a:p>
          <a:p>
            <a:pPr lvl="1" algn="just">
              <a:lnSpc>
                <a:spcPct val="150000"/>
              </a:lnSpc>
            </a:pPr>
            <a:endParaRPr lang="en-US" sz="1000" dirty="0">
              <a:latin typeface="Verdana" panose="020B0604030504040204" pitchFamily="34" charset="0"/>
              <a:ea typeface="Verdana" panose="020B0604030504040204" pitchFamily="34" charset="0"/>
            </a:endParaRPr>
          </a:p>
          <a:p>
            <a:pPr lvl="3" algn="just">
              <a:lnSpc>
                <a:spcPct val="150000"/>
              </a:lnSpc>
            </a:pPr>
            <a:r>
              <a:rPr lang="en-US" sz="2400" dirty="0" err="1">
                <a:latin typeface="Verdana" panose="020B0604030504040204" pitchFamily="34" charset="0"/>
                <a:ea typeface="Verdana" panose="020B0604030504040204" pitchFamily="34" charset="0"/>
              </a:rPr>
              <a:t>int</a:t>
            </a:r>
            <a:r>
              <a:rPr lang="en-US" sz="2400" dirty="0">
                <a:latin typeface="Verdana" panose="020B0604030504040204" pitchFamily="34" charset="0"/>
                <a:ea typeface="Verdana" panose="020B0604030504040204" pitchFamily="34" charset="0"/>
              </a:rPr>
              <a:t> *</a:t>
            </a:r>
            <a:r>
              <a:rPr lang="en-US" sz="2400" dirty="0" err="1">
                <a:latin typeface="Verdana" panose="020B0604030504040204" pitchFamily="34" charset="0"/>
                <a:ea typeface="Verdana" panose="020B0604030504040204" pitchFamily="34" charset="0"/>
              </a:rPr>
              <a:t>ptr</a:t>
            </a:r>
            <a:r>
              <a:rPr lang="en-US" sz="2400" dirty="0">
                <a:latin typeface="Verdana" panose="020B0604030504040204" pitchFamily="34" charset="0"/>
                <a:ea typeface="Verdana" panose="020B0604030504040204" pitchFamily="34" charset="0"/>
              </a:rPr>
              <a:t>;</a:t>
            </a:r>
          </a:p>
          <a:p>
            <a:pPr lvl="3" algn="just">
              <a:lnSpc>
                <a:spcPct val="150000"/>
              </a:lnSpc>
            </a:pPr>
            <a:endParaRPr lang="en-US" sz="2400" dirty="0">
              <a:latin typeface="Verdana" panose="020B0604030504040204" pitchFamily="34" charset="0"/>
              <a:ea typeface="Verdana" panose="020B0604030504040204" pitchFamily="34" charset="0"/>
            </a:endParaRPr>
          </a:p>
          <a:p>
            <a:pPr lvl="1" algn="just">
              <a:lnSpc>
                <a:spcPct val="150000"/>
              </a:lnSpc>
            </a:pPr>
            <a:endParaRPr lang="en-US" sz="2400" dirty="0">
              <a:latin typeface="Verdana" panose="020B0604030504040204" pitchFamily="34" charset="0"/>
              <a:ea typeface="Verdana" panose="020B0604030504040204" pitchFamily="34" charset="0"/>
            </a:endParaRPr>
          </a:p>
          <a:p>
            <a:pPr lvl="2" algn="just">
              <a:lnSpc>
                <a:spcPct val="150000"/>
              </a:lnSpc>
            </a:pPr>
            <a:r>
              <a:rPr lang="en-US" sz="2400" dirty="0" err="1">
                <a:latin typeface="Verdana" panose="020B0604030504040204" pitchFamily="34" charset="0"/>
                <a:ea typeface="Verdana" panose="020B0604030504040204" pitchFamily="34" charset="0"/>
              </a:rPr>
              <a:t>int</a:t>
            </a:r>
            <a:r>
              <a:rPr lang="en-US" sz="2400" dirty="0">
                <a:latin typeface="Verdana" panose="020B0604030504040204" pitchFamily="34" charset="0"/>
                <a:ea typeface="Verdana" panose="020B0604030504040204" pitchFamily="34" charset="0"/>
              </a:rPr>
              <a:t> x;						</a:t>
            </a:r>
            <a:r>
              <a:rPr lang="en-US" sz="2400" dirty="0" err="1">
                <a:latin typeface="Verdana" panose="020B0604030504040204" pitchFamily="34" charset="0"/>
                <a:ea typeface="Verdana" panose="020B0604030504040204" pitchFamily="34" charset="0"/>
              </a:rPr>
              <a:t>int</a:t>
            </a:r>
            <a:r>
              <a:rPr lang="en-US" sz="2400" dirty="0">
                <a:latin typeface="Verdana" panose="020B0604030504040204" pitchFamily="34" charset="0"/>
                <a:ea typeface="Verdana" panose="020B0604030504040204" pitchFamily="34" charset="0"/>
              </a:rPr>
              <a:t> x = 10;</a:t>
            </a:r>
          </a:p>
          <a:p>
            <a:pPr lvl="2" algn="just">
              <a:lnSpc>
                <a:spcPct val="150000"/>
              </a:lnSpc>
            </a:pPr>
            <a:r>
              <a:rPr lang="en-US" sz="2400" dirty="0" err="1">
                <a:latin typeface="Verdana" panose="020B0604030504040204" pitchFamily="34" charset="0"/>
                <a:ea typeface="Verdana" panose="020B0604030504040204" pitchFamily="34" charset="0"/>
              </a:rPr>
              <a:t>ptr</a:t>
            </a:r>
            <a:r>
              <a:rPr lang="en-US" sz="2400" dirty="0">
                <a:latin typeface="Verdana" panose="020B0604030504040204" pitchFamily="34" charset="0"/>
                <a:ea typeface="Verdana" panose="020B0604030504040204" pitchFamily="34" charset="0"/>
              </a:rPr>
              <a:t> = &amp;x; 					</a:t>
            </a:r>
            <a:r>
              <a:rPr lang="en-US" sz="2400" dirty="0" err="1">
                <a:latin typeface="Verdana" panose="020B0604030504040204" pitchFamily="34" charset="0"/>
                <a:ea typeface="Verdana" panose="020B0604030504040204" pitchFamily="34" charset="0"/>
              </a:rPr>
              <a:t>int</a:t>
            </a:r>
            <a:r>
              <a:rPr lang="en-US" sz="2400" dirty="0">
                <a:latin typeface="Verdana" panose="020B0604030504040204" pitchFamily="34" charset="0"/>
                <a:ea typeface="Verdana" panose="020B0604030504040204" pitchFamily="34" charset="0"/>
              </a:rPr>
              <a:t> *</a:t>
            </a:r>
            <a:r>
              <a:rPr lang="en-US" sz="2400" dirty="0" err="1">
                <a:latin typeface="Verdana" panose="020B0604030504040204" pitchFamily="34" charset="0"/>
                <a:ea typeface="Verdana" panose="020B0604030504040204" pitchFamily="34" charset="0"/>
              </a:rPr>
              <a:t>ptr</a:t>
            </a:r>
            <a:r>
              <a:rPr lang="en-US" sz="2400" dirty="0">
                <a:latin typeface="Verdana" panose="020B0604030504040204" pitchFamily="34" charset="0"/>
                <a:ea typeface="Verdana" panose="020B0604030504040204" pitchFamily="34" charset="0"/>
              </a:rPr>
              <a:t> = &amp;x;</a:t>
            </a: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09336"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Declaration</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Rectangle 6"/>
          <p:cNvSpPr/>
          <p:nvPr/>
        </p:nvSpPr>
        <p:spPr>
          <a:xfrm>
            <a:off x="11723" y="3824067"/>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8" name="Rounded Rectangle 7"/>
          <p:cNvSpPr/>
          <p:nvPr/>
        </p:nvSpPr>
        <p:spPr>
          <a:xfrm>
            <a:off x="1997612" y="3824067"/>
            <a:ext cx="2734545"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Storing Address</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872600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7524292" cy="4755148"/>
          </a:xfrm>
          <a:prstGeom prst="rect">
            <a:avLst/>
          </a:prstGeom>
          <a:noFill/>
        </p:spPr>
        <p:txBody>
          <a:bodyPr wrap="square" rtlCol="0">
            <a:spAutoFit/>
          </a:bodyPr>
          <a:lstStyle/>
          <a:p>
            <a:pPr algn="just">
              <a:lnSpc>
                <a:spcPct val="150000"/>
              </a:lnSpc>
            </a:pPr>
            <a:endParaRPr lang="en-US" sz="10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 = 20;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("Address of a = %u\</a:t>
            </a:r>
            <a:r>
              <a:rPr lang="en-US" sz="2400" b="1" dirty="0" err="1">
                <a:latin typeface="Courier New" panose="02070309020205020404" pitchFamily="49" charset="0"/>
                <a:ea typeface="Verdana" panose="020B0604030504040204" pitchFamily="34" charset="0"/>
                <a:cs typeface="Courier New" panose="02070309020205020404" pitchFamily="49" charset="0"/>
              </a:rPr>
              <a:t>n",&amp;a</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("Value of a = %</a:t>
            </a:r>
            <a:r>
              <a:rPr lang="en-US" sz="2400" b="1" dirty="0" err="1">
                <a:latin typeface="Courier New" panose="02070309020205020404" pitchFamily="49" charset="0"/>
                <a:ea typeface="Verdana" panose="020B0604030504040204" pitchFamily="34" charset="0"/>
                <a:cs typeface="Courier New" panose="02070309020205020404" pitchFamily="49" charset="0"/>
              </a:rPr>
              <a:t>d",a</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return 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NOTE: Address without pointer</a:t>
            </a:r>
          </a:p>
        </p:txBody>
      </p:sp>
      <p:sp>
        <p:nvSpPr>
          <p:cNvPr id="7" name="TextBox 6"/>
          <p:cNvSpPr txBox="1"/>
          <p:nvPr/>
        </p:nvSpPr>
        <p:spPr>
          <a:xfrm>
            <a:off x="7835705" y="1111348"/>
            <a:ext cx="4044830" cy="2308324"/>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ea typeface="Verdana" panose="020B0604030504040204" pitchFamily="34" charset="0"/>
                <a:cs typeface="Courier New" panose="02070309020205020404" pitchFamily="49" charset="0"/>
              </a:rPr>
              <a:t>Address of a = 648758</a:t>
            </a:r>
          </a:p>
          <a:p>
            <a:r>
              <a:rPr lang="en-US" sz="2400" b="1" dirty="0">
                <a:latin typeface="Courier New" panose="02070309020205020404" pitchFamily="49" charset="0"/>
                <a:ea typeface="Verdana" panose="020B0604030504040204" pitchFamily="34" charset="0"/>
                <a:cs typeface="Courier New" panose="02070309020205020404" pitchFamily="49" charset="0"/>
              </a:rPr>
              <a:t>Value of a = 20</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11" name="Rectangle 10"/>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12" name="Rounded Rectangle 11"/>
          <p:cNvSpPr/>
          <p:nvPr/>
        </p:nvSpPr>
        <p:spPr>
          <a:xfrm>
            <a:off x="1997612"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786742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8888858" cy="5124480"/>
          </a:xfrm>
          <a:prstGeom prst="rect">
            <a:avLst/>
          </a:prstGeom>
          <a:noFill/>
        </p:spPr>
        <p:txBody>
          <a:bodyPr wrap="square" rtlCol="0">
            <a:spAutoFit/>
          </a:bodyPr>
          <a:lstStyle/>
          <a:p>
            <a:pPr algn="just">
              <a:lnSpc>
                <a:spcPct val="150000"/>
              </a:lnSpc>
            </a:pPr>
            <a:endParaRPr lang="en-US" sz="1000" b="1" dirty="0">
              <a:latin typeface="Courier New" panose="02070309020205020404" pitchFamily="49" charset="0"/>
              <a:ea typeface="Verdana" panose="020B0604030504040204" pitchFamily="34" charset="0"/>
              <a:cs typeface="Courier New" panose="02070309020205020404" pitchFamily="49" charset="0"/>
            </a:endParaRP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 q;</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q = 50;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 = &amp;q;</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("Value of q = %d\</a:t>
            </a:r>
            <a:r>
              <a:rPr lang="en-US" sz="2400" b="1" dirty="0" err="1">
                <a:latin typeface="Courier New" panose="02070309020205020404" pitchFamily="49" charset="0"/>
                <a:ea typeface="Verdana" panose="020B0604030504040204" pitchFamily="34" charset="0"/>
                <a:cs typeface="Courier New" panose="02070309020205020404" pitchFamily="49" charset="0"/>
              </a:rPr>
              <a:t>n",q</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("Address of q = %d\n",</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("Value of q by pointer = %d",*</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return 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7" name="TextBox 6"/>
          <p:cNvSpPr txBox="1"/>
          <p:nvPr/>
        </p:nvSpPr>
        <p:spPr>
          <a:xfrm>
            <a:off x="5781822" y="1111348"/>
            <a:ext cx="6098713" cy="2677656"/>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ea typeface="Verdana" panose="020B0604030504040204" pitchFamily="34" charset="0"/>
                <a:cs typeface="Courier New" panose="02070309020205020404" pitchFamily="49" charset="0"/>
              </a:rPr>
              <a:t>Value of q = 50</a:t>
            </a:r>
          </a:p>
          <a:p>
            <a:r>
              <a:rPr lang="en-US" sz="2400" b="1" dirty="0">
                <a:latin typeface="Courier New" panose="02070309020205020404" pitchFamily="49" charset="0"/>
                <a:ea typeface="Verdana" panose="020B0604030504040204" pitchFamily="34" charset="0"/>
                <a:cs typeface="Courier New" panose="02070309020205020404" pitchFamily="49" charset="0"/>
              </a:rPr>
              <a:t>Address of q = 648758</a:t>
            </a:r>
          </a:p>
          <a:p>
            <a:r>
              <a:rPr lang="en-US" sz="2400" b="1" dirty="0">
                <a:latin typeface="Courier New" panose="02070309020205020404" pitchFamily="49" charset="0"/>
                <a:ea typeface="Verdana" panose="020B0604030504040204" pitchFamily="34" charset="0"/>
                <a:cs typeface="Courier New" panose="02070309020205020404" pitchFamily="49" charset="0"/>
              </a:rPr>
              <a:t>Value of q by pointer = 50</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11" name="Rectangle 10"/>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12" name="Rounded Rectangle 11"/>
          <p:cNvSpPr/>
          <p:nvPr/>
        </p:nvSpPr>
        <p:spPr>
          <a:xfrm>
            <a:off x="1997612" y="52801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- 2</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44656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 - Pointers and Variables - C Programming - DYclassroom | Have fun  learning :-)"/>
          <p:cNvPicPr>
            <a:picLocks noChangeAspect="1" noChangeArrowheads="1"/>
          </p:cNvPicPr>
          <p:nvPr/>
        </p:nvPicPr>
        <p:blipFill rotWithShape="1">
          <a:blip r:embed="rId2">
            <a:extLst>
              <a:ext uri="{28A0092B-C50C-407E-A947-70E740481C1C}">
                <a14:useLocalDpi xmlns:a14="http://schemas.microsoft.com/office/drawing/2010/main" val="0"/>
              </a:ext>
            </a:extLst>
          </a:blip>
          <a:srcRect l="3630" t="7245" r="3222" b="6336"/>
          <a:stretch/>
        </p:blipFill>
        <p:spPr bwMode="auto">
          <a:xfrm>
            <a:off x="254046" y="1153550"/>
            <a:ext cx="11626487" cy="549079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6" name="Rounded Rectangle 5"/>
          <p:cNvSpPr/>
          <p:nvPr/>
        </p:nvSpPr>
        <p:spPr>
          <a:xfrm>
            <a:off x="1997612" y="52801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Graphical</a:t>
            </a:r>
            <a:endParaRPr lang="en-IN" sz="2000" b="1" dirty="0">
              <a:solidFill>
                <a:prstClr val="black"/>
              </a:solidFill>
              <a:latin typeface="Verdana" panose="020B0604030504040204" pitchFamily="34" charset="0"/>
              <a:ea typeface="Verdana" panose="020B0604030504040204" pitchFamily="34" charset="0"/>
            </a:endParaRPr>
          </a:p>
        </p:txBody>
      </p:sp>
      <p:sp>
        <p:nvSpPr>
          <p:cNvPr id="3" name="Rectangle 2"/>
          <p:cNvSpPr/>
          <p:nvPr/>
        </p:nvSpPr>
        <p:spPr>
          <a:xfrm>
            <a:off x="254045" y="1194806"/>
            <a:ext cx="11626487" cy="571631"/>
          </a:xfrm>
          <a:prstGeom prst="rect">
            <a:avLst/>
          </a:prstGeom>
        </p:spPr>
        <p:txBody>
          <a:bodyPr wrap="square">
            <a:spAutoFit/>
          </a:bodyPr>
          <a:lstStyle/>
          <a:p>
            <a:pPr fontAlgn="base">
              <a:lnSpc>
                <a:spcPct val="150000"/>
              </a:lnSpc>
            </a:pPr>
            <a:r>
              <a:rPr lang="en-US" sz="2400" b="1" dirty="0">
                <a:latin typeface="Verdana" panose="020B0604030504040204" pitchFamily="34" charset="0"/>
                <a:ea typeface="Verdana" panose="020B0604030504040204" pitchFamily="34" charset="0"/>
              </a:rPr>
              <a:t>We can change the value of variable using address.</a:t>
            </a:r>
          </a:p>
        </p:txBody>
      </p:sp>
    </p:spTree>
    <p:extLst>
      <p:ext uri="{BB962C8B-B14F-4D97-AF65-F5344CB8AC3E}">
        <p14:creationId xmlns:p14="http://schemas.microsoft.com/office/powerpoint/2010/main" val="1714359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8" y="964114"/>
            <a:ext cx="10591049" cy="4755148"/>
          </a:xfrm>
          <a:prstGeom prst="rect">
            <a:avLst/>
          </a:prstGeom>
          <a:noFill/>
        </p:spPr>
        <p:txBody>
          <a:bodyPr wrap="square" rtlCol="0">
            <a:spAutoFit/>
          </a:bodyPr>
          <a:lstStyle/>
          <a:p>
            <a:pPr algn="just">
              <a:lnSpc>
                <a:spcPct val="150000"/>
              </a:lnSpc>
            </a:pPr>
            <a:endParaRPr lang="en-US" sz="10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 </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num</a:t>
            </a:r>
            <a:r>
              <a:rPr lang="en-US" sz="2400" b="1" dirty="0">
                <a:latin typeface="Courier New" panose="02070309020205020404" pitchFamily="49" charset="0"/>
                <a:ea typeface="Verdana" panose="020B0604030504040204" pitchFamily="34" charset="0"/>
                <a:cs typeface="Courier New" panose="02070309020205020404" pitchFamily="49" charset="0"/>
              </a:rPr>
              <a:t> = 10;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 = &amp;</a:t>
            </a:r>
            <a:r>
              <a:rPr lang="en-US" sz="2400" b="1" dirty="0" err="1">
                <a:latin typeface="Courier New" panose="02070309020205020404" pitchFamily="49" charset="0"/>
                <a:ea typeface="Verdana" panose="020B0604030504040204" pitchFamily="34" charset="0"/>
                <a:cs typeface="Courier New" panose="02070309020205020404" pitchFamily="49" charset="0"/>
              </a:rPr>
              <a:t>num</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("value of </a:t>
            </a:r>
            <a:r>
              <a:rPr lang="en-US" sz="2400" b="1" dirty="0" err="1">
                <a:latin typeface="Courier New" panose="02070309020205020404" pitchFamily="49" charset="0"/>
                <a:ea typeface="Verdana" panose="020B0604030504040204" pitchFamily="34" charset="0"/>
                <a:cs typeface="Courier New" panose="02070309020205020404" pitchFamily="49" charset="0"/>
              </a:rPr>
              <a:t>num</a:t>
            </a:r>
            <a:r>
              <a:rPr lang="en-US" sz="2400" b="1" dirty="0">
                <a:latin typeface="Courier New" panose="02070309020205020404" pitchFamily="49" charset="0"/>
                <a:ea typeface="Verdana" panose="020B0604030504040204" pitchFamily="34" charset="0"/>
                <a:cs typeface="Courier New" panose="02070309020205020404" pitchFamily="49" charset="0"/>
              </a:rPr>
              <a:t>: %d\n", </a:t>
            </a:r>
            <a:r>
              <a:rPr lang="en-US" sz="2400" b="1" dirty="0" err="1">
                <a:latin typeface="Courier New" panose="02070309020205020404" pitchFamily="49" charset="0"/>
                <a:ea typeface="Verdana" panose="020B0604030504040204" pitchFamily="34" charset="0"/>
                <a:cs typeface="Courier New" panose="02070309020205020404" pitchFamily="49" charset="0"/>
              </a:rPr>
              <a:t>num</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("value of </a:t>
            </a:r>
            <a:r>
              <a:rPr lang="en-US" sz="2400" b="1" dirty="0" err="1">
                <a:latin typeface="Courier New" panose="02070309020205020404" pitchFamily="49" charset="0"/>
                <a:ea typeface="Verdana" panose="020B0604030504040204" pitchFamily="34" charset="0"/>
                <a:cs typeface="Courier New" panose="02070309020205020404" pitchFamily="49" charset="0"/>
              </a:rPr>
              <a:t>num</a:t>
            </a:r>
            <a:r>
              <a:rPr lang="en-US" sz="2400" b="1" dirty="0">
                <a:latin typeface="Courier New" panose="02070309020205020404" pitchFamily="49" charset="0"/>
                <a:ea typeface="Verdana" panose="020B0604030504040204" pitchFamily="34" charset="0"/>
                <a:cs typeface="Courier New" panose="02070309020205020404" pitchFamily="49" charset="0"/>
              </a:rPr>
              <a:t>: (using pointer): %d\n", *</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 = 20;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("value of </a:t>
            </a:r>
            <a:r>
              <a:rPr lang="en-US" sz="2400" b="1" dirty="0" err="1">
                <a:latin typeface="Courier New" panose="02070309020205020404" pitchFamily="49" charset="0"/>
                <a:ea typeface="Verdana" panose="020B0604030504040204" pitchFamily="34" charset="0"/>
                <a:cs typeface="Courier New" panose="02070309020205020404" pitchFamily="49" charset="0"/>
              </a:rPr>
              <a:t>num</a:t>
            </a:r>
            <a:r>
              <a:rPr lang="en-US" sz="2400" b="1" dirty="0">
                <a:latin typeface="Courier New" panose="02070309020205020404" pitchFamily="49" charset="0"/>
                <a:ea typeface="Verdana" panose="020B0604030504040204" pitchFamily="34" charset="0"/>
                <a:cs typeface="Courier New" panose="02070309020205020404" pitchFamily="49" charset="0"/>
              </a:rPr>
              <a:t>: %d\n", </a:t>
            </a:r>
            <a:r>
              <a:rPr lang="en-US" sz="2400" b="1" dirty="0" err="1">
                <a:latin typeface="Courier New" panose="02070309020205020404" pitchFamily="49" charset="0"/>
                <a:ea typeface="Verdana" panose="020B0604030504040204" pitchFamily="34" charset="0"/>
                <a:cs typeface="Courier New" panose="02070309020205020404" pitchFamily="49" charset="0"/>
              </a:rPr>
              <a:t>num</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("value of </a:t>
            </a:r>
            <a:r>
              <a:rPr lang="en-US" sz="2400" b="1" dirty="0" err="1">
                <a:latin typeface="Courier New" panose="02070309020205020404" pitchFamily="49" charset="0"/>
                <a:ea typeface="Verdana" panose="020B0604030504040204" pitchFamily="34" charset="0"/>
                <a:cs typeface="Courier New" panose="02070309020205020404" pitchFamily="49" charset="0"/>
              </a:rPr>
              <a:t>num</a:t>
            </a:r>
            <a:r>
              <a:rPr lang="en-US" sz="2400" b="1" dirty="0">
                <a:latin typeface="Courier New" panose="02070309020205020404" pitchFamily="49" charset="0"/>
                <a:ea typeface="Verdana" panose="020B0604030504040204" pitchFamily="34" charset="0"/>
                <a:cs typeface="Courier New" panose="02070309020205020404" pitchFamily="49" charset="0"/>
              </a:rPr>
              <a:t> (using pointer): %d\n", *</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return 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7" name="TextBox 6"/>
          <p:cNvSpPr txBox="1"/>
          <p:nvPr/>
        </p:nvSpPr>
        <p:spPr>
          <a:xfrm>
            <a:off x="5641145" y="225083"/>
            <a:ext cx="6084645" cy="2677656"/>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ea typeface="Verdana" panose="020B0604030504040204" pitchFamily="34" charset="0"/>
                <a:cs typeface="Courier New" panose="02070309020205020404" pitchFamily="49" charset="0"/>
              </a:rPr>
              <a:t>Value of </a:t>
            </a:r>
            <a:r>
              <a:rPr lang="en-US" sz="2400" b="1" dirty="0" err="1">
                <a:latin typeface="Courier New" panose="02070309020205020404" pitchFamily="49" charset="0"/>
                <a:ea typeface="Verdana" panose="020B0604030504040204" pitchFamily="34" charset="0"/>
                <a:cs typeface="Courier New" panose="02070309020205020404" pitchFamily="49" charset="0"/>
              </a:rPr>
              <a:t>num</a:t>
            </a:r>
            <a:r>
              <a:rPr lang="en-US" sz="2400" b="1" dirty="0">
                <a:latin typeface="Courier New" panose="02070309020205020404" pitchFamily="49" charset="0"/>
                <a:ea typeface="Verdana" panose="020B0604030504040204" pitchFamily="34" charset="0"/>
                <a:cs typeface="Courier New" panose="02070309020205020404" pitchFamily="49" charset="0"/>
              </a:rPr>
              <a:t> = 10</a:t>
            </a:r>
          </a:p>
          <a:p>
            <a:r>
              <a:rPr lang="en-US" sz="2400" b="1" dirty="0">
                <a:latin typeface="Courier New" panose="02070309020205020404" pitchFamily="49" charset="0"/>
                <a:ea typeface="Verdana" panose="020B0604030504040204" pitchFamily="34" charset="0"/>
                <a:cs typeface="Courier New" panose="02070309020205020404" pitchFamily="49" charset="0"/>
              </a:rPr>
              <a:t>Value of </a:t>
            </a:r>
            <a:r>
              <a:rPr lang="en-US" sz="2400" b="1" dirty="0" err="1">
                <a:latin typeface="Courier New" panose="02070309020205020404" pitchFamily="49" charset="0"/>
                <a:ea typeface="Verdana" panose="020B0604030504040204" pitchFamily="34" charset="0"/>
                <a:cs typeface="Courier New" panose="02070309020205020404" pitchFamily="49" charset="0"/>
              </a:rPr>
              <a:t>num</a:t>
            </a:r>
            <a:r>
              <a:rPr lang="en-US" sz="2400" b="1" dirty="0">
                <a:latin typeface="Courier New" panose="02070309020205020404" pitchFamily="49" charset="0"/>
                <a:ea typeface="Verdana" panose="020B0604030504040204" pitchFamily="34" charset="0"/>
                <a:cs typeface="Courier New" panose="02070309020205020404" pitchFamily="49" charset="0"/>
              </a:rPr>
              <a:t> (using pointer = 10</a:t>
            </a:r>
          </a:p>
          <a:p>
            <a:r>
              <a:rPr lang="en-US" sz="2400" b="1" dirty="0">
                <a:latin typeface="Courier New" panose="02070309020205020404" pitchFamily="49" charset="0"/>
                <a:ea typeface="Verdana" panose="020B0604030504040204" pitchFamily="34" charset="0"/>
                <a:cs typeface="Courier New" panose="02070309020205020404" pitchFamily="49" charset="0"/>
              </a:rPr>
              <a:t>Value of </a:t>
            </a:r>
            <a:r>
              <a:rPr lang="en-US" sz="2400" b="1" dirty="0" err="1">
                <a:latin typeface="Courier New" panose="02070309020205020404" pitchFamily="49" charset="0"/>
                <a:ea typeface="Verdana" panose="020B0604030504040204" pitchFamily="34" charset="0"/>
                <a:cs typeface="Courier New" panose="02070309020205020404" pitchFamily="49" charset="0"/>
              </a:rPr>
              <a:t>num</a:t>
            </a:r>
            <a:r>
              <a:rPr lang="en-US" sz="2400" b="1" dirty="0">
                <a:latin typeface="Courier New" panose="02070309020205020404" pitchFamily="49" charset="0"/>
                <a:ea typeface="Verdana" panose="020B0604030504040204" pitchFamily="34" charset="0"/>
                <a:cs typeface="Courier New" panose="02070309020205020404" pitchFamily="49" charset="0"/>
              </a:rPr>
              <a:t> = 20</a:t>
            </a:r>
          </a:p>
          <a:p>
            <a:r>
              <a:rPr lang="en-US" sz="2400" b="1" dirty="0">
                <a:latin typeface="Courier New" panose="02070309020205020404" pitchFamily="49" charset="0"/>
                <a:ea typeface="Verdana" panose="020B0604030504040204" pitchFamily="34" charset="0"/>
                <a:cs typeface="Courier New" panose="02070309020205020404" pitchFamily="49" charset="0"/>
              </a:rPr>
              <a:t>Value of </a:t>
            </a:r>
            <a:r>
              <a:rPr lang="en-US" sz="2400" b="1" dirty="0" err="1">
                <a:latin typeface="Courier New" panose="02070309020205020404" pitchFamily="49" charset="0"/>
                <a:ea typeface="Verdana" panose="020B0604030504040204" pitchFamily="34" charset="0"/>
                <a:cs typeface="Courier New" panose="02070309020205020404" pitchFamily="49" charset="0"/>
              </a:rPr>
              <a:t>num</a:t>
            </a:r>
            <a:r>
              <a:rPr lang="en-US" sz="2400" b="1" dirty="0">
                <a:latin typeface="Courier New" panose="02070309020205020404" pitchFamily="49" charset="0"/>
                <a:ea typeface="Verdana" panose="020B0604030504040204" pitchFamily="34" charset="0"/>
                <a:cs typeface="Courier New" panose="02070309020205020404" pitchFamily="49" charset="0"/>
              </a:rPr>
              <a:t> (using pointer = 20</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11" name="Rectangle 10"/>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12" name="Rounded Rectangle 11"/>
          <p:cNvSpPr/>
          <p:nvPr/>
        </p:nvSpPr>
        <p:spPr>
          <a:xfrm>
            <a:off x="1997612" y="52801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- 2</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62411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3323987"/>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There are eight different types of pointers which are as follows −</a:t>
            </a:r>
          </a:p>
          <a:p>
            <a:pPr algn="just">
              <a:lnSpc>
                <a:spcPct val="150000"/>
              </a:lnSpc>
            </a:pPr>
            <a:endParaRPr lang="en-US" sz="1000" dirty="0">
              <a:latin typeface="Verdana" panose="020B0604030504040204" pitchFamily="34" charset="0"/>
              <a:ea typeface="Verdana" panose="020B0604030504040204" pitchFamily="34" charset="0"/>
            </a:endParaRPr>
          </a:p>
          <a:p>
            <a:pPr marL="800100" lvl="1" indent="-342900">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Null pointer</a:t>
            </a:r>
          </a:p>
          <a:p>
            <a:pPr marL="800100" lvl="1" indent="-342900">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Void pointer</a:t>
            </a:r>
          </a:p>
          <a:p>
            <a:pPr marL="800100" lvl="1" indent="-342900">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Wild pointer</a:t>
            </a:r>
          </a:p>
          <a:p>
            <a:pPr marL="800100" lvl="1" indent="-342900">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Dangling pointer</a:t>
            </a: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1997612"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Types</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75962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3093154"/>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You create a null pointer by assigning the NULL value at the time of pointer declaration.</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This method is useful when you do not assign any address to the pointer. A null pointer always contains value 0.</a:t>
            </a: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1997612" y="520502"/>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Null Pointer</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994100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8" y="964114"/>
            <a:ext cx="7636833" cy="4154984"/>
          </a:xfrm>
          <a:prstGeom prst="rect">
            <a:avLst/>
          </a:prstGeom>
          <a:noFill/>
        </p:spPr>
        <p:txBody>
          <a:bodyPr wrap="square" rtlCol="0">
            <a:spAutoFit/>
          </a:bodyPr>
          <a:lstStyle/>
          <a:p>
            <a:pPr algn="just">
              <a:lnSpc>
                <a:spcPct val="150000"/>
              </a:lnSpc>
            </a:pPr>
            <a:endParaRPr lang="en-US" sz="1000" b="1" dirty="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 = NULL; //null pointer</a:t>
            </a:r>
          </a:p>
          <a:p>
            <a:pPr lvl="1" algn="just">
              <a:lnSpc>
                <a:spcPct val="150000"/>
              </a:lnSpc>
            </a:pP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("The value of </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 is: %d",</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return 0;</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7" name="TextBox 6"/>
          <p:cNvSpPr txBox="1"/>
          <p:nvPr/>
        </p:nvSpPr>
        <p:spPr>
          <a:xfrm>
            <a:off x="7666892" y="942532"/>
            <a:ext cx="4227709" cy="1938992"/>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ea typeface="Verdana" panose="020B0604030504040204" pitchFamily="34" charset="0"/>
                <a:cs typeface="Courier New" panose="02070309020205020404" pitchFamily="49" charset="0"/>
              </a:rPr>
              <a:t>The value of </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 is: 0</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11" name="Rectangle 10"/>
          <p:cNvSpPr/>
          <p:nvPr/>
        </p:nvSpPr>
        <p:spPr>
          <a:xfrm>
            <a:off x="-1" y="520503"/>
            <a:ext cx="2658795"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Null 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12" name="Rounded Rectangle 11"/>
          <p:cNvSpPr/>
          <p:nvPr/>
        </p:nvSpPr>
        <p:spPr>
          <a:xfrm>
            <a:off x="2669797" y="520501"/>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374578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3647152"/>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It is a pointer that has no associated data type with it. A void pointer can hold addresses of any type and can be typecast to any type.</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It is also called a generic pointer and does not have any standard data type. It is created by using the keyword </a:t>
            </a:r>
            <a:r>
              <a:rPr lang="en-US" sz="2400" b="1" dirty="0">
                <a:latin typeface="Verdana" panose="020B0604030504040204" pitchFamily="34" charset="0"/>
                <a:ea typeface="Verdana" panose="020B0604030504040204" pitchFamily="34" charset="0"/>
              </a:rPr>
              <a:t>void</a:t>
            </a:r>
            <a:r>
              <a:rPr lang="en-US" sz="2400" dirty="0">
                <a:latin typeface="Verdana" panose="020B0604030504040204" pitchFamily="34" charset="0"/>
                <a:ea typeface="Verdana" panose="020B0604030504040204" pitchFamily="34" charset="0"/>
              </a:rPr>
              <a:t>.</a:t>
            </a:r>
          </a:p>
          <a:p>
            <a:pPr algn="just">
              <a:lnSpc>
                <a:spcPct val="150000"/>
              </a:lnSpc>
            </a:pPr>
            <a:endParaRPr lang="en-US" sz="2400" dirty="0">
              <a:latin typeface="Verdana" panose="020B0604030504040204" pitchFamily="34" charset="0"/>
              <a:ea typeface="Verdana" panose="020B0604030504040204" pitchFamily="34" charset="0"/>
            </a:endParaRP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1997612" y="520502"/>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Void Pointer</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1193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8" y="964114"/>
            <a:ext cx="8241745" cy="5401479"/>
          </a:xfrm>
          <a:prstGeom prst="rect">
            <a:avLst/>
          </a:prstGeom>
          <a:noFill/>
        </p:spPr>
        <p:txBody>
          <a:bodyPr wrap="square" rtlCol="0">
            <a:spAutoFit/>
          </a:bodyPr>
          <a:lstStyle/>
          <a:p>
            <a:pPr algn="just">
              <a:lnSpc>
                <a:spcPct val="150000"/>
              </a:lnSpc>
            </a:pPr>
            <a:endParaRPr lang="en-US" sz="10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200" b="1" dirty="0">
                <a:latin typeface="Courier New" panose="02070309020205020404" pitchFamily="49" charset="0"/>
                <a:ea typeface="Verdana" panose="020B0604030504040204" pitchFamily="34" charset="0"/>
                <a:cs typeface="Courier New" panose="02070309020205020404" pitchFamily="49" charset="0"/>
              </a:rPr>
              <a:t>#include&lt;</a:t>
            </a:r>
            <a:r>
              <a:rPr lang="en-US" sz="2200" b="1" dirty="0" err="1">
                <a:latin typeface="Courier New" panose="02070309020205020404" pitchFamily="49" charset="0"/>
                <a:ea typeface="Verdana" panose="020B0604030504040204" pitchFamily="34" charset="0"/>
                <a:cs typeface="Courier New" panose="02070309020205020404" pitchFamily="49" charset="0"/>
              </a:rPr>
              <a:t>stdio.h</a:t>
            </a:r>
            <a:r>
              <a:rPr lang="en-US" sz="22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200" b="1" dirty="0" err="1">
                <a:latin typeface="Courier New" panose="02070309020205020404" pitchFamily="49" charset="0"/>
                <a:ea typeface="Verdana" panose="020B0604030504040204" pitchFamily="34" charset="0"/>
                <a:cs typeface="Courier New" panose="02070309020205020404" pitchFamily="49" charset="0"/>
              </a:rPr>
              <a:t>int</a:t>
            </a:r>
            <a:r>
              <a:rPr lang="en-US" sz="22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2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200" b="1" dirty="0" err="1">
                <a:latin typeface="Courier New" panose="02070309020205020404" pitchFamily="49" charset="0"/>
                <a:ea typeface="Verdana" panose="020B0604030504040204" pitchFamily="34" charset="0"/>
                <a:cs typeface="Courier New" panose="02070309020205020404" pitchFamily="49" charset="0"/>
              </a:rPr>
              <a:t>int</a:t>
            </a:r>
            <a:r>
              <a:rPr lang="en-US" sz="2200" b="1" dirty="0">
                <a:latin typeface="Courier New" panose="02070309020205020404" pitchFamily="49" charset="0"/>
                <a:ea typeface="Verdana" panose="020B0604030504040204" pitchFamily="34" charset="0"/>
                <a:cs typeface="Courier New" panose="02070309020205020404" pitchFamily="49" charset="0"/>
              </a:rPr>
              <a:t> a = 2;</a:t>
            </a:r>
          </a:p>
          <a:p>
            <a:pPr lvl="1" algn="just"/>
            <a:r>
              <a:rPr lang="en-US" sz="2200" b="1" dirty="0">
                <a:latin typeface="Courier New" panose="02070309020205020404" pitchFamily="49" charset="0"/>
                <a:ea typeface="Verdana" panose="020B0604030504040204" pitchFamily="34" charset="0"/>
                <a:cs typeface="Courier New" panose="02070309020205020404" pitchFamily="49" charset="0"/>
              </a:rPr>
              <a:t>char b = 'A';</a:t>
            </a:r>
          </a:p>
          <a:p>
            <a:pPr lvl="1" algn="just"/>
            <a:r>
              <a:rPr lang="en-US" sz="2200" b="1" dirty="0">
                <a:latin typeface="Courier New" panose="02070309020205020404" pitchFamily="49" charset="0"/>
                <a:ea typeface="Verdana" panose="020B0604030504040204" pitchFamily="34" charset="0"/>
                <a:cs typeface="Courier New" panose="02070309020205020404" pitchFamily="49" charset="0"/>
              </a:rPr>
              <a:t>float f = 3.5f;</a:t>
            </a:r>
          </a:p>
          <a:p>
            <a:pPr lvl="1" algn="just"/>
            <a:r>
              <a:rPr lang="en-US" sz="2200" b="1" dirty="0">
                <a:latin typeface="Courier New" panose="02070309020205020404" pitchFamily="49" charset="0"/>
                <a:ea typeface="Verdana" panose="020B0604030504040204" pitchFamily="34" charset="0"/>
                <a:cs typeface="Courier New" panose="02070309020205020404" pitchFamily="49" charset="0"/>
              </a:rPr>
              <a:t>void *</a:t>
            </a:r>
            <a:r>
              <a:rPr lang="en-US" sz="2200" b="1" dirty="0" err="1">
                <a:latin typeface="Courier New" panose="02070309020205020404" pitchFamily="49" charset="0"/>
                <a:ea typeface="Verdana" panose="020B0604030504040204" pitchFamily="34" charset="0"/>
                <a:cs typeface="Courier New" panose="02070309020205020404" pitchFamily="49" charset="0"/>
              </a:rPr>
              <a:t>ptr</a:t>
            </a:r>
            <a:r>
              <a:rPr lang="en-US" sz="22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200" b="1" dirty="0" err="1">
                <a:latin typeface="Courier New" panose="02070309020205020404" pitchFamily="49" charset="0"/>
                <a:ea typeface="Verdana" panose="020B0604030504040204" pitchFamily="34" charset="0"/>
                <a:cs typeface="Courier New" panose="02070309020205020404" pitchFamily="49" charset="0"/>
              </a:rPr>
              <a:t>ptr</a:t>
            </a:r>
            <a:r>
              <a:rPr lang="en-US" sz="2200" b="1" dirty="0">
                <a:latin typeface="Courier New" panose="02070309020205020404" pitchFamily="49" charset="0"/>
                <a:ea typeface="Verdana" panose="020B0604030504040204" pitchFamily="34" charset="0"/>
                <a:cs typeface="Courier New" panose="02070309020205020404" pitchFamily="49" charset="0"/>
              </a:rPr>
              <a:t> = &amp;a;</a:t>
            </a:r>
          </a:p>
          <a:p>
            <a:pPr lvl="1" algn="just"/>
            <a:r>
              <a:rPr lang="en-US" sz="2200" b="1" dirty="0" err="1">
                <a:latin typeface="Courier New" panose="02070309020205020404" pitchFamily="49" charset="0"/>
                <a:ea typeface="Verdana" panose="020B0604030504040204" pitchFamily="34" charset="0"/>
                <a:cs typeface="Courier New" panose="02070309020205020404" pitchFamily="49" charset="0"/>
              </a:rPr>
              <a:t>printf</a:t>
            </a:r>
            <a:r>
              <a:rPr lang="en-US" sz="2200" b="1" dirty="0">
                <a:latin typeface="Courier New" panose="02070309020205020404" pitchFamily="49" charset="0"/>
                <a:ea typeface="Verdana" panose="020B0604030504040204" pitchFamily="34" charset="0"/>
                <a:cs typeface="Courier New" panose="02070309020205020404" pitchFamily="49" charset="0"/>
              </a:rPr>
              <a:t>("Typecasting a = %d\n", *(</a:t>
            </a:r>
            <a:r>
              <a:rPr lang="en-US" sz="2200" b="1" dirty="0" err="1">
                <a:latin typeface="Courier New" panose="02070309020205020404" pitchFamily="49" charset="0"/>
                <a:ea typeface="Verdana" panose="020B0604030504040204" pitchFamily="34" charset="0"/>
                <a:cs typeface="Courier New" panose="02070309020205020404" pitchFamily="49" charset="0"/>
              </a:rPr>
              <a:t>int</a:t>
            </a:r>
            <a:r>
              <a:rPr lang="en-US" sz="2200" b="1" dirty="0">
                <a:latin typeface="Courier New" panose="02070309020205020404" pitchFamily="49" charset="0"/>
                <a:ea typeface="Verdana" panose="020B0604030504040204" pitchFamily="34" charset="0"/>
                <a:cs typeface="Courier New" panose="02070309020205020404" pitchFamily="49" charset="0"/>
              </a:rPr>
              <a:t> *)</a:t>
            </a:r>
            <a:r>
              <a:rPr lang="en-US" sz="2200" b="1" dirty="0" err="1">
                <a:latin typeface="Courier New" panose="02070309020205020404" pitchFamily="49" charset="0"/>
                <a:ea typeface="Verdana" panose="020B0604030504040204" pitchFamily="34" charset="0"/>
                <a:cs typeface="Courier New" panose="02070309020205020404" pitchFamily="49" charset="0"/>
              </a:rPr>
              <a:t>ptr</a:t>
            </a:r>
            <a:r>
              <a:rPr lang="en-US" sz="22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200" b="1" dirty="0" err="1">
                <a:latin typeface="Courier New" panose="02070309020205020404" pitchFamily="49" charset="0"/>
                <a:ea typeface="Verdana" panose="020B0604030504040204" pitchFamily="34" charset="0"/>
                <a:cs typeface="Courier New" panose="02070309020205020404" pitchFamily="49" charset="0"/>
              </a:rPr>
              <a:t>ptr</a:t>
            </a:r>
            <a:r>
              <a:rPr lang="en-US" sz="2200" b="1" dirty="0">
                <a:latin typeface="Courier New" panose="02070309020205020404" pitchFamily="49" charset="0"/>
                <a:ea typeface="Verdana" panose="020B0604030504040204" pitchFamily="34" charset="0"/>
                <a:cs typeface="Courier New" panose="02070309020205020404" pitchFamily="49" charset="0"/>
              </a:rPr>
              <a:t>= &amp;b;</a:t>
            </a:r>
          </a:p>
          <a:p>
            <a:pPr lvl="1" algn="just"/>
            <a:r>
              <a:rPr lang="en-US" sz="2200" b="1" dirty="0" err="1">
                <a:latin typeface="Courier New" panose="02070309020205020404" pitchFamily="49" charset="0"/>
                <a:ea typeface="Verdana" panose="020B0604030504040204" pitchFamily="34" charset="0"/>
                <a:cs typeface="Courier New" panose="02070309020205020404" pitchFamily="49" charset="0"/>
              </a:rPr>
              <a:t>printf</a:t>
            </a:r>
            <a:r>
              <a:rPr lang="en-US" sz="2200" b="1" dirty="0">
                <a:latin typeface="Courier New" panose="02070309020205020404" pitchFamily="49" charset="0"/>
                <a:ea typeface="Verdana" panose="020B0604030504040204" pitchFamily="34" charset="0"/>
                <a:cs typeface="Courier New" panose="02070309020205020404" pitchFamily="49" charset="0"/>
              </a:rPr>
              <a:t>("Typecasting b = %c\n", *(char *)</a:t>
            </a:r>
            <a:r>
              <a:rPr lang="en-US" sz="2200" b="1" dirty="0" err="1">
                <a:latin typeface="Courier New" panose="02070309020205020404" pitchFamily="49" charset="0"/>
                <a:ea typeface="Verdana" panose="020B0604030504040204" pitchFamily="34" charset="0"/>
                <a:cs typeface="Courier New" panose="02070309020205020404" pitchFamily="49" charset="0"/>
              </a:rPr>
              <a:t>ptr</a:t>
            </a:r>
            <a:r>
              <a:rPr lang="en-US" sz="22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200" b="1" dirty="0" err="1">
                <a:latin typeface="Courier New" panose="02070309020205020404" pitchFamily="49" charset="0"/>
                <a:ea typeface="Verdana" panose="020B0604030504040204" pitchFamily="34" charset="0"/>
                <a:cs typeface="Courier New" panose="02070309020205020404" pitchFamily="49" charset="0"/>
              </a:rPr>
              <a:t>ptr</a:t>
            </a:r>
            <a:r>
              <a:rPr lang="en-US" sz="2200" b="1" dirty="0">
                <a:latin typeface="Courier New" panose="02070309020205020404" pitchFamily="49" charset="0"/>
                <a:ea typeface="Verdana" panose="020B0604030504040204" pitchFamily="34" charset="0"/>
                <a:cs typeface="Courier New" panose="02070309020205020404" pitchFamily="49" charset="0"/>
              </a:rPr>
              <a:t> = &amp;f;</a:t>
            </a:r>
          </a:p>
          <a:p>
            <a:pPr lvl="1" algn="just"/>
            <a:r>
              <a:rPr lang="en-US" sz="2200" b="1" dirty="0" err="1">
                <a:latin typeface="Courier New" panose="02070309020205020404" pitchFamily="49" charset="0"/>
                <a:ea typeface="Verdana" panose="020B0604030504040204" pitchFamily="34" charset="0"/>
                <a:cs typeface="Courier New" panose="02070309020205020404" pitchFamily="49" charset="0"/>
              </a:rPr>
              <a:t>printf</a:t>
            </a:r>
            <a:r>
              <a:rPr lang="en-US" sz="2200" b="1" dirty="0">
                <a:latin typeface="Courier New" panose="02070309020205020404" pitchFamily="49" charset="0"/>
                <a:ea typeface="Verdana" panose="020B0604030504040204" pitchFamily="34" charset="0"/>
                <a:cs typeface="Courier New" panose="02070309020205020404" pitchFamily="49" charset="0"/>
              </a:rPr>
              <a:t>("Typecasting f = %f", *(float *)</a:t>
            </a:r>
            <a:r>
              <a:rPr lang="en-US" sz="2200" b="1" dirty="0" err="1">
                <a:latin typeface="Courier New" panose="02070309020205020404" pitchFamily="49" charset="0"/>
                <a:ea typeface="Verdana" panose="020B0604030504040204" pitchFamily="34" charset="0"/>
                <a:cs typeface="Courier New" panose="02070309020205020404" pitchFamily="49" charset="0"/>
              </a:rPr>
              <a:t>ptr</a:t>
            </a:r>
            <a:r>
              <a:rPr lang="en-US" sz="22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200" b="1" dirty="0">
                <a:latin typeface="Courier New" panose="02070309020205020404" pitchFamily="49" charset="0"/>
                <a:ea typeface="Verdana" panose="020B0604030504040204" pitchFamily="34" charset="0"/>
                <a:cs typeface="Courier New" panose="02070309020205020404" pitchFamily="49" charset="0"/>
              </a:rPr>
              <a:t>return 0;</a:t>
            </a:r>
          </a:p>
          <a:p>
            <a:pPr algn="just"/>
            <a:r>
              <a:rPr lang="en-US" sz="22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7" name="TextBox 6"/>
          <p:cNvSpPr txBox="1"/>
          <p:nvPr/>
        </p:nvSpPr>
        <p:spPr>
          <a:xfrm>
            <a:off x="7666892" y="942532"/>
            <a:ext cx="4227709" cy="2677656"/>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ea typeface="Verdana" panose="020B0604030504040204" pitchFamily="34" charset="0"/>
                <a:cs typeface="Courier New" panose="02070309020205020404" pitchFamily="49" charset="0"/>
              </a:rPr>
              <a:t>Typecasting a = 2</a:t>
            </a:r>
          </a:p>
          <a:p>
            <a:r>
              <a:rPr lang="en-US" sz="2400" b="1" dirty="0">
                <a:latin typeface="Courier New" panose="02070309020205020404" pitchFamily="49" charset="0"/>
                <a:ea typeface="Verdana" panose="020B0604030504040204" pitchFamily="34" charset="0"/>
                <a:cs typeface="Courier New" panose="02070309020205020404" pitchFamily="49" charset="0"/>
              </a:rPr>
              <a:t>Typecasting b = A</a:t>
            </a:r>
          </a:p>
          <a:p>
            <a:r>
              <a:rPr lang="en-US" sz="2400" b="1" dirty="0">
                <a:latin typeface="Courier New" panose="02070309020205020404" pitchFamily="49" charset="0"/>
                <a:ea typeface="Verdana" panose="020B0604030504040204" pitchFamily="34" charset="0"/>
                <a:cs typeface="Courier New" panose="02070309020205020404" pitchFamily="49" charset="0"/>
              </a:rPr>
              <a:t>Typecasting f = 3.500</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11" name="Rectangle 10"/>
          <p:cNvSpPr/>
          <p:nvPr/>
        </p:nvSpPr>
        <p:spPr>
          <a:xfrm>
            <a:off x="-1" y="520503"/>
            <a:ext cx="2658795"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Void 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12" name="Rounded Rectangle 11"/>
          <p:cNvSpPr/>
          <p:nvPr/>
        </p:nvSpPr>
        <p:spPr>
          <a:xfrm>
            <a:off x="2669797" y="520501"/>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332962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1356462"/>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If a pointer isn't initialized to anything, it's called a wild pointer. Wild pointers are also called uninitialized pointers.</a:t>
            </a: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1997612" y="520502"/>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Wild Pointer</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182073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7453954" cy="4201150"/>
          </a:xfrm>
          <a:prstGeom prst="rect">
            <a:avLst/>
          </a:prstGeom>
          <a:noFill/>
        </p:spPr>
        <p:txBody>
          <a:bodyPr wrap="square" rtlCol="0">
            <a:spAutoFit/>
          </a:bodyPr>
          <a:lstStyle/>
          <a:p>
            <a:pPr algn="just">
              <a:lnSpc>
                <a:spcPct val="150000"/>
              </a:lnSpc>
            </a:pPr>
            <a:endParaRPr lang="en-US" sz="1000" b="1" dirty="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*p; //wild pointer</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("%d",*p);</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   	return 0;</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7" name="TextBox 6"/>
          <p:cNvSpPr txBox="1"/>
          <p:nvPr/>
        </p:nvSpPr>
        <p:spPr>
          <a:xfrm>
            <a:off x="7666892" y="942532"/>
            <a:ext cx="4227709" cy="1938992"/>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ea typeface="Verdana" panose="020B0604030504040204" pitchFamily="34" charset="0"/>
                <a:cs typeface="Courier New" panose="02070309020205020404" pitchFamily="49" charset="0"/>
              </a:rPr>
              <a:t>Segmentation fault</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11" name="Rectangle 10"/>
          <p:cNvSpPr/>
          <p:nvPr/>
        </p:nvSpPr>
        <p:spPr>
          <a:xfrm>
            <a:off x="-1" y="520503"/>
            <a:ext cx="279947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Wild 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12" name="Rounded Rectangle 11"/>
          <p:cNvSpPr/>
          <p:nvPr/>
        </p:nvSpPr>
        <p:spPr>
          <a:xfrm>
            <a:off x="2810475" y="520501"/>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880717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1356462"/>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A dangling pointer is a pointer that refers to a memory location that has been released or deleted.</a:t>
            </a: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1997612" y="520502"/>
            <a:ext cx="2816607"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Dangling Pointer</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326672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8" y="964114"/>
            <a:ext cx="9367159" cy="5124480"/>
          </a:xfrm>
          <a:prstGeom prst="rect">
            <a:avLst/>
          </a:prstGeom>
          <a:noFill/>
        </p:spPr>
        <p:txBody>
          <a:bodyPr wrap="square" rtlCol="0">
            <a:spAutoFit/>
          </a:bodyPr>
          <a:lstStyle/>
          <a:p>
            <a:pPr algn="just">
              <a:lnSpc>
                <a:spcPct val="150000"/>
              </a:lnSpc>
            </a:pPr>
            <a:endParaRPr lang="en-US" sz="1000" b="1" dirty="0">
              <a:latin typeface="Courier New" panose="02070309020205020404" pitchFamily="49" charset="0"/>
              <a:ea typeface="Verdana" panose="020B0604030504040204" pitchFamily="34" charset="0"/>
              <a:cs typeface="Courier New" panose="02070309020205020404" pitchFamily="49" charset="0"/>
            </a:endParaRP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stdlib.h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 </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 = (</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malloc</a:t>
            </a:r>
            <a:r>
              <a:rPr lang="en-US" sz="2400" b="1" dirty="0">
                <a:latin typeface="Courier New" panose="02070309020205020404" pitchFamily="49" charset="0"/>
                <a:ea typeface="Verdana" panose="020B0604030504040204" pitchFamily="34" charset="0"/>
                <a:cs typeface="Courier New" panose="02070309020205020404" pitchFamily="49" charset="0"/>
              </a:rPr>
              <a:t>(</a:t>
            </a:r>
            <a:r>
              <a:rPr lang="en-US" sz="2400" b="1" dirty="0" err="1">
                <a:latin typeface="Courier New" panose="02070309020205020404" pitchFamily="49" charset="0"/>
                <a:ea typeface="Verdana" panose="020B0604030504040204" pitchFamily="34" charset="0"/>
                <a:cs typeface="Courier New" panose="02070309020205020404" pitchFamily="49" charset="0"/>
              </a:rPr>
              <a:t>sizeof</a:t>
            </a:r>
            <a:r>
              <a:rPr lang="en-US" sz="2400" b="1" dirty="0">
                <a:latin typeface="Courier New" panose="02070309020205020404" pitchFamily="49" charset="0"/>
                <a:ea typeface="Verdana" panose="020B0604030504040204" pitchFamily="34" charset="0"/>
                <a:cs typeface="Courier New" panose="02070309020205020404" pitchFamily="49" charset="0"/>
              </a:rPr>
              <a:t>(</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("Size of *</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 is : %d\n",</a:t>
            </a:r>
            <a:r>
              <a:rPr lang="en-US" sz="2400" b="1" dirty="0" err="1">
                <a:latin typeface="Courier New" panose="02070309020205020404" pitchFamily="49" charset="0"/>
                <a:ea typeface="Verdana" panose="020B0604030504040204" pitchFamily="34" charset="0"/>
                <a:cs typeface="Courier New" panose="02070309020205020404" pitchFamily="49" charset="0"/>
              </a:rPr>
              <a:t>sizeof</a:t>
            </a:r>
            <a:r>
              <a:rPr lang="en-US" sz="2400" b="1" dirty="0">
                <a:latin typeface="Courier New" panose="02070309020205020404" pitchFamily="49" charset="0"/>
                <a:ea typeface="Verdana" panose="020B0604030504040204" pitchFamily="34" charset="0"/>
                <a:cs typeface="Courier New" panose="02070309020205020404" pitchFamily="49" charset="0"/>
              </a:rPr>
              <a:t>(</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a:latin typeface="Courier New" panose="02070309020205020404" pitchFamily="49" charset="0"/>
                <a:ea typeface="Verdana" panose="020B0604030504040204" pitchFamily="34" charset="0"/>
                <a:cs typeface="Courier New" panose="02070309020205020404" pitchFamily="49" charset="0"/>
              </a:rPr>
              <a:t>free(</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("Value of *</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 is %d ", *</a:t>
            </a:r>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ptr</a:t>
            </a:r>
            <a:r>
              <a:rPr lang="en-US" sz="2400" b="1" dirty="0">
                <a:latin typeface="Courier New" panose="02070309020205020404" pitchFamily="49" charset="0"/>
                <a:ea typeface="Verdana" panose="020B0604030504040204" pitchFamily="34" charset="0"/>
                <a:cs typeface="Courier New" panose="02070309020205020404" pitchFamily="49" charset="0"/>
              </a:rPr>
              <a:t> = NULL;</a:t>
            </a:r>
          </a:p>
          <a:p>
            <a:pPr lvl="1" algn="just"/>
            <a:r>
              <a:rPr lang="en-US" sz="2400" b="1" dirty="0">
                <a:latin typeface="Courier New" panose="02070309020205020404" pitchFamily="49" charset="0"/>
                <a:ea typeface="Verdana" panose="020B0604030504040204" pitchFamily="34" charset="0"/>
                <a:cs typeface="Courier New" panose="02070309020205020404" pitchFamily="49" charset="0"/>
              </a:rPr>
              <a:t>return 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7" name="TextBox 6"/>
          <p:cNvSpPr txBox="1"/>
          <p:nvPr/>
        </p:nvSpPr>
        <p:spPr>
          <a:xfrm>
            <a:off x="7666892" y="942532"/>
            <a:ext cx="4227709" cy="1938992"/>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ea typeface="Verdana" panose="020B0604030504040204" pitchFamily="34" charset="0"/>
                <a:cs typeface="Courier New" panose="02070309020205020404" pitchFamily="49" charset="0"/>
              </a:rPr>
              <a:t>Segmentation fault</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11" name="Rectangle 10"/>
          <p:cNvSpPr/>
          <p:nvPr/>
        </p:nvSpPr>
        <p:spPr>
          <a:xfrm>
            <a:off x="-2" y="520503"/>
            <a:ext cx="3545059"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Dangling 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12" name="Rounded Rectangle 11"/>
          <p:cNvSpPr/>
          <p:nvPr/>
        </p:nvSpPr>
        <p:spPr>
          <a:xfrm>
            <a:off x="3545057" y="520501"/>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29453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201150"/>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Functions can be invoked in two ways: </a:t>
            </a:r>
            <a:r>
              <a:rPr lang="en-US" sz="2400" b="1" dirty="0">
                <a:latin typeface="Verdana" panose="020B0604030504040204" pitchFamily="34" charset="0"/>
                <a:ea typeface="Verdana" panose="020B0604030504040204" pitchFamily="34" charset="0"/>
              </a:rPr>
              <a:t>Call by Value</a:t>
            </a:r>
            <a:r>
              <a:rPr lang="en-US" sz="2400" dirty="0">
                <a:latin typeface="Verdana" panose="020B0604030504040204" pitchFamily="34" charset="0"/>
                <a:ea typeface="Verdana" panose="020B0604030504040204" pitchFamily="34" charset="0"/>
              </a:rPr>
              <a:t> or </a:t>
            </a:r>
            <a:r>
              <a:rPr lang="en-US" sz="2400" b="1" dirty="0">
                <a:latin typeface="Verdana" panose="020B0604030504040204" pitchFamily="34" charset="0"/>
                <a:ea typeface="Verdana" panose="020B0604030504040204" pitchFamily="34" charset="0"/>
              </a:rPr>
              <a:t>Call by Reference</a:t>
            </a:r>
            <a:r>
              <a:rPr lang="en-US" sz="2400" dirty="0">
                <a:latin typeface="Verdana" panose="020B0604030504040204" pitchFamily="34" charset="0"/>
                <a:ea typeface="Verdana" panose="020B0604030504040204" pitchFamily="34" charset="0"/>
              </a:rPr>
              <a:t>. These two ways are generally differentiated by the type of values passed to them as parameters.</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The parameters passed to function are called </a:t>
            </a:r>
            <a:r>
              <a:rPr lang="en-US" sz="2400" b="1" i="1" dirty="0">
                <a:latin typeface="Verdana" panose="020B0604030504040204" pitchFamily="34" charset="0"/>
                <a:ea typeface="Verdana" panose="020B0604030504040204" pitchFamily="34" charset="0"/>
              </a:rPr>
              <a:t>actual parameters</a:t>
            </a:r>
            <a:r>
              <a:rPr lang="en-US" sz="2400" dirty="0">
                <a:latin typeface="Verdana" panose="020B0604030504040204" pitchFamily="34" charset="0"/>
                <a:ea typeface="Verdana" panose="020B0604030504040204" pitchFamily="34" charset="0"/>
              </a:rPr>
              <a:t> whereas the parameters received by function are called </a:t>
            </a:r>
            <a:r>
              <a:rPr lang="en-US" sz="2400" b="1" i="1" dirty="0">
                <a:latin typeface="Verdana" panose="020B0604030504040204" pitchFamily="34" charset="0"/>
                <a:ea typeface="Verdana" panose="020B0604030504040204" pitchFamily="34" charset="0"/>
              </a:rPr>
              <a:t>formal parameters</a:t>
            </a:r>
            <a:r>
              <a:rPr lang="en-US" sz="2400" dirty="0">
                <a:latin typeface="Verdana" panose="020B0604030504040204" pitchFamily="34" charset="0"/>
                <a:ea typeface="Verdana" panose="020B0604030504040204" pitchFamily="34" charset="0"/>
              </a:rPr>
              <a:t>.</a:t>
            </a:r>
            <a:endParaRPr lang="en-IN" sz="2400" dirty="0">
              <a:latin typeface="Verdana" panose="020B0604030504040204" pitchFamily="34" charset="0"/>
              <a:ea typeface="Verdana" panose="020B0604030504040204" pitchFamily="34" charset="0"/>
            </a:endParaRPr>
          </a:p>
        </p:txBody>
      </p:sp>
      <p:sp>
        <p:nvSpPr>
          <p:cNvPr id="4" name="Rectangle 3"/>
          <p:cNvSpPr/>
          <p:nvPr/>
        </p:nvSpPr>
        <p:spPr>
          <a:xfrm>
            <a:off x="-1" y="520503"/>
            <a:ext cx="654147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Call by Value and Call by Reference</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96354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2464457"/>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In this parameter passing method, values of actual parameters are copied to function’s formal parameters and the two types of parameters are stored in different memory locations. So any changes made inside functions are not reflected in actual parameters of the caller.</a:t>
            </a:r>
            <a:endParaRPr lang="en-IN" sz="2400" dirty="0">
              <a:latin typeface="Verdana" panose="020B0604030504040204" pitchFamily="34" charset="0"/>
              <a:ea typeface="Verdana" panose="020B0604030504040204" pitchFamily="34" charset="0"/>
            </a:endParaRPr>
          </a:p>
        </p:txBody>
      </p:sp>
      <p:sp>
        <p:nvSpPr>
          <p:cNvPr id="4" name="Rectangle 3"/>
          <p:cNvSpPr/>
          <p:nvPr/>
        </p:nvSpPr>
        <p:spPr>
          <a:xfrm>
            <a:off x="-1" y="520503"/>
            <a:ext cx="29120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Call By Value</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5635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5611086" cy="5816977"/>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void swap(</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x, </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y)</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t;</a:t>
            </a:r>
          </a:p>
          <a:p>
            <a:pPr lvl="1"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t = x;</a:t>
            </a:r>
          </a:p>
          <a:p>
            <a:pPr lvl="1"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x = y;</a:t>
            </a:r>
          </a:p>
          <a:p>
            <a:pPr lvl="1"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y = t;</a:t>
            </a:r>
          </a:p>
          <a:p>
            <a:pPr lvl="1" algn="just">
              <a:lnSpc>
                <a:spcPct val="150000"/>
              </a:lnSpc>
            </a:pP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("x = %d\</a:t>
            </a:r>
            <a:r>
              <a:rPr lang="en-US" sz="2400" b="1" dirty="0" err="1">
                <a:latin typeface="Courier New" panose="02070309020205020404" pitchFamily="49" charset="0"/>
                <a:ea typeface="Verdana" panose="020B0604030504040204" pitchFamily="34" charset="0"/>
                <a:cs typeface="Courier New" panose="02070309020205020404" pitchFamily="49" charset="0"/>
              </a:rPr>
              <a:t>n”,x</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(“y = %d\</a:t>
            </a:r>
            <a:r>
              <a:rPr lang="en-US" sz="2400" b="1" dirty="0" err="1">
                <a:latin typeface="Courier New" panose="02070309020205020404" pitchFamily="49" charset="0"/>
                <a:ea typeface="Verdana" panose="020B0604030504040204" pitchFamily="34" charset="0"/>
                <a:cs typeface="Courier New" panose="02070309020205020404" pitchFamily="49" charset="0"/>
              </a:rPr>
              <a:t>n",y</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endParaRPr lang="en-IN"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1" y="520503"/>
            <a:ext cx="29120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Call By Value</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912012"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
        <p:nvSpPr>
          <p:cNvPr id="6" name="TextBox 5"/>
          <p:cNvSpPr txBox="1"/>
          <p:nvPr/>
        </p:nvSpPr>
        <p:spPr>
          <a:xfrm>
            <a:off x="5824025" y="3305905"/>
            <a:ext cx="5611086" cy="3046988"/>
          </a:xfrm>
          <a:prstGeom prst="rect">
            <a:avLst/>
          </a:prstGeom>
          <a:noFill/>
        </p:spPr>
        <p:txBody>
          <a:bodyPr wrap="square" rtlCol="0">
            <a:spAutoFit/>
          </a:bodyPr>
          <a:lstStyle/>
          <a:p>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 = 10, b = 20;</a:t>
            </a:r>
          </a:p>
          <a:p>
            <a:pPr lvl="1"/>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("a = %d\</a:t>
            </a:r>
            <a:r>
              <a:rPr lang="en-US" sz="2400" b="1" dirty="0" err="1">
                <a:latin typeface="Courier New" panose="02070309020205020404" pitchFamily="49" charset="0"/>
                <a:ea typeface="Verdana" panose="020B0604030504040204" pitchFamily="34" charset="0"/>
                <a:cs typeface="Courier New" panose="02070309020205020404" pitchFamily="49" charset="0"/>
              </a:rPr>
              <a:t>n”,a</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(“b = %d\</a:t>
            </a:r>
            <a:r>
              <a:rPr lang="en-US" sz="2400" b="1" dirty="0" err="1">
                <a:latin typeface="Courier New" panose="02070309020205020404" pitchFamily="49" charset="0"/>
                <a:ea typeface="Verdana" panose="020B0604030504040204" pitchFamily="34" charset="0"/>
                <a:cs typeface="Courier New" panose="02070309020205020404" pitchFamily="49" charset="0"/>
              </a:rPr>
              <a:t>n“,b</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r>
              <a:rPr lang="en-US" sz="2400" b="1" dirty="0">
                <a:latin typeface="Courier New" panose="02070309020205020404" pitchFamily="49" charset="0"/>
                <a:ea typeface="Verdana" panose="020B0604030504040204" pitchFamily="34" charset="0"/>
                <a:cs typeface="Courier New" panose="02070309020205020404" pitchFamily="49" charset="0"/>
              </a:rPr>
              <a:t>swap(a, b);</a:t>
            </a:r>
          </a:p>
          <a:p>
            <a:pPr lvl="1"/>
            <a:r>
              <a:rPr lang="en-US" sz="2400" b="1" dirty="0">
                <a:latin typeface="Courier New" panose="02070309020205020404" pitchFamily="49" charset="0"/>
                <a:ea typeface="Verdana" panose="020B0604030504040204" pitchFamily="34" charset="0"/>
                <a:cs typeface="Courier New" panose="02070309020205020404" pitchFamily="49" charset="0"/>
              </a:rPr>
              <a:t>return 0;</a:t>
            </a:r>
          </a:p>
          <a:p>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cxnSp>
        <p:nvCxnSpPr>
          <p:cNvPr id="7" name="Straight Connector 6"/>
          <p:cNvCxnSpPr/>
          <p:nvPr/>
        </p:nvCxnSpPr>
        <p:spPr>
          <a:xfrm>
            <a:off x="5581199" y="1083212"/>
            <a:ext cx="0" cy="5472333"/>
          </a:xfrm>
          <a:prstGeom prst="line">
            <a:avLst/>
          </a:prstGeom>
          <a:ln w="28575">
            <a:solidFill>
              <a:schemeClr val="accent6">
                <a:lumMod val="75000"/>
              </a:schemeClr>
            </a:solidFill>
          </a:ln>
        </p:spPr>
        <p:style>
          <a:lnRef idx="3">
            <a:schemeClr val="dk1"/>
          </a:lnRef>
          <a:fillRef idx="0">
            <a:schemeClr val="dk1"/>
          </a:fillRef>
          <a:effectRef idx="2">
            <a:schemeClr val="dk1"/>
          </a:effectRef>
          <a:fontRef idx="minor">
            <a:schemeClr val="tx1"/>
          </a:fontRef>
        </p:style>
      </p:cxnSp>
      <p:sp>
        <p:nvSpPr>
          <p:cNvPr id="8" name="TextBox 7"/>
          <p:cNvSpPr txBox="1"/>
          <p:nvPr/>
        </p:nvSpPr>
        <p:spPr>
          <a:xfrm>
            <a:off x="7807570" y="819068"/>
            <a:ext cx="4044830" cy="2308324"/>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dirty="0">
                <a:latin typeface="Courier New" panose="02070309020205020404" pitchFamily="49" charset="0"/>
                <a:ea typeface="Verdana" panose="020B0604030504040204" pitchFamily="34" charset="0"/>
                <a:cs typeface="Courier New" panose="02070309020205020404" pitchFamily="49" charset="0"/>
              </a:rPr>
              <a:t>a = 10	b = 20</a:t>
            </a:r>
          </a:p>
          <a:p>
            <a:pPr algn="ctr"/>
            <a:r>
              <a:rPr lang="en-US" sz="2400" b="1" dirty="0">
                <a:latin typeface="Courier New" panose="02070309020205020404" pitchFamily="49" charset="0"/>
                <a:ea typeface="Verdana" panose="020B0604030504040204" pitchFamily="34" charset="0"/>
                <a:cs typeface="Courier New" panose="02070309020205020404" pitchFamily="49" charset="0"/>
              </a:rPr>
              <a:t>x = 20	y = 10</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3819780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800" decel="100000"/>
                                        <p:tgtEl>
                                          <p:spTgt spid="8"/>
                                        </p:tgtEl>
                                      </p:cBhvr>
                                    </p:animEffect>
                                    <p:anim calcmode="lin" valueType="num">
                                      <p:cBhvr>
                                        <p:cTn id="8" dur="800" decel="100000" fill="hold"/>
                                        <p:tgtEl>
                                          <p:spTgt spid="8"/>
                                        </p:tgtEl>
                                        <p:attrNameLst>
                                          <p:attrName>style.rotation</p:attrName>
                                        </p:attrNameLst>
                                      </p:cBhvr>
                                      <p:tavLst>
                                        <p:tav tm="0">
                                          <p:val>
                                            <p:fltVal val="-90"/>
                                          </p:val>
                                        </p:tav>
                                        <p:tav tm="100000">
                                          <p:val>
                                            <p:fltVal val="0"/>
                                          </p:val>
                                        </p:tav>
                                      </p:tavLst>
                                    </p:anim>
                                    <p:anim calcmode="lin" valueType="num">
                                      <p:cBhvr>
                                        <p:cTn id="9" dur="800" decel="100000" fill="hold"/>
                                        <p:tgtEl>
                                          <p:spTgt spid="8"/>
                                        </p:tgtEl>
                                        <p:attrNameLst>
                                          <p:attrName>ppt_x</p:attrName>
                                        </p:attrNameLst>
                                      </p:cBhvr>
                                      <p:tavLst>
                                        <p:tav tm="0">
                                          <p:val>
                                            <p:strVal val="#ppt_x+0.4"/>
                                          </p:val>
                                        </p:tav>
                                        <p:tav tm="100000">
                                          <p:val>
                                            <p:strVal val="#ppt_x-0.05"/>
                                          </p:val>
                                        </p:tav>
                                      </p:tavLst>
                                    </p:anim>
                                    <p:anim calcmode="lin" valueType="num">
                                      <p:cBhvr>
                                        <p:cTn id="10" dur="800" decel="100000" fill="hold"/>
                                        <p:tgtEl>
                                          <p:spTgt spid="8"/>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8"/>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8"/>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1910459"/>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Both the actual and formal parameters refer to the same locations, so any changes made inside the function are actually reflected in actual parameters of the caller.</a:t>
            </a:r>
            <a:endParaRPr lang="en-IN" sz="2400" dirty="0">
              <a:latin typeface="Verdana" panose="020B0604030504040204" pitchFamily="34" charset="0"/>
              <a:ea typeface="Verdana" panose="020B0604030504040204" pitchFamily="34" charset="0"/>
            </a:endParaRPr>
          </a:p>
        </p:txBody>
      </p:sp>
      <p:sp>
        <p:nvSpPr>
          <p:cNvPr id="4" name="Rectangle 3"/>
          <p:cNvSpPr/>
          <p:nvPr/>
        </p:nvSpPr>
        <p:spPr>
          <a:xfrm>
            <a:off x="-1" y="520503"/>
            <a:ext cx="3699804"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Call By Reference</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890081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5611086" cy="5816977"/>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void swap(</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*x, </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*y)</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t;</a:t>
            </a:r>
          </a:p>
          <a:p>
            <a:pPr lvl="1"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t = *x;</a:t>
            </a:r>
          </a:p>
          <a:p>
            <a:pPr lvl="1"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*x = *y;</a:t>
            </a:r>
          </a:p>
          <a:p>
            <a:pPr lvl="1"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*y = t;</a:t>
            </a:r>
          </a:p>
          <a:p>
            <a:pPr lvl="1" algn="just">
              <a:lnSpc>
                <a:spcPct val="150000"/>
              </a:lnSpc>
            </a:pP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("x = %d\</a:t>
            </a:r>
            <a:r>
              <a:rPr lang="en-US" sz="2400" b="1" dirty="0" err="1">
                <a:latin typeface="Courier New" panose="02070309020205020404" pitchFamily="49" charset="0"/>
                <a:ea typeface="Verdana" panose="020B0604030504040204" pitchFamily="34" charset="0"/>
                <a:cs typeface="Courier New" panose="02070309020205020404" pitchFamily="49" charset="0"/>
              </a:rPr>
              <a:t>n”,x</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(“y = %d\</a:t>
            </a:r>
            <a:r>
              <a:rPr lang="en-US" sz="2400" b="1" dirty="0" err="1">
                <a:latin typeface="Courier New" panose="02070309020205020404" pitchFamily="49" charset="0"/>
                <a:ea typeface="Verdana" panose="020B0604030504040204" pitchFamily="34" charset="0"/>
                <a:cs typeface="Courier New" panose="02070309020205020404" pitchFamily="49" charset="0"/>
              </a:rPr>
              <a:t>n",y</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endParaRPr lang="en-IN"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1" y="520503"/>
            <a:ext cx="362946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Call By Reference</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654525" y="534569"/>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
        <p:nvSpPr>
          <p:cNvPr id="6" name="TextBox 5"/>
          <p:cNvSpPr txBox="1"/>
          <p:nvPr/>
        </p:nvSpPr>
        <p:spPr>
          <a:xfrm>
            <a:off x="5824025" y="3305905"/>
            <a:ext cx="6150724" cy="3046988"/>
          </a:xfrm>
          <a:prstGeom prst="rect">
            <a:avLst/>
          </a:prstGeom>
          <a:noFill/>
        </p:spPr>
        <p:txBody>
          <a:bodyPr wrap="square" rtlCol="0">
            <a:spAutoFit/>
          </a:bodyPr>
          <a:lstStyle/>
          <a:p>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 = 10, b = 20;</a:t>
            </a:r>
          </a:p>
          <a:p>
            <a:pPr lvl="1"/>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("a = %d\</a:t>
            </a:r>
            <a:r>
              <a:rPr lang="en-US" sz="2400" b="1" dirty="0" err="1">
                <a:latin typeface="Courier New" panose="02070309020205020404" pitchFamily="49" charset="0"/>
                <a:ea typeface="Verdana" panose="020B0604030504040204" pitchFamily="34" charset="0"/>
                <a:cs typeface="Courier New" panose="02070309020205020404" pitchFamily="49" charset="0"/>
              </a:rPr>
              <a:t>n”,a</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(“b = %d\</a:t>
            </a:r>
            <a:r>
              <a:rPr lang="en-US" sz="2400" b="1" dirty="0" err="1">
                <a:latin typeface="Courier New" panose="02070309020205020404" pitchFamily="49" charset="0"/>
                <a:ea typeface="Verdana" panose="020B0604030504040204" pitchFamily="34" charset="0"/>
                <a:cs typeface="Courier New" panose="02070309020205020404" pitchFamily="49" charset="0"/>
              </a:rPr>
              <a:t>n“,b</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r>
              <a:rPr lang="en-US" sz="2400" b="1" dirty="0">
                <a:latin typeface="Courier New" panose="02070309020205020404" pitchFamily="49" charset="0"/>
                <a:ea typeface="Verdana" panose="020B0604030504040204" pitchFamily="34" charset="0"/>
                <a:cs typeface="Courier New" panose="02070309020205020404" pitchFamily="49" charset="0"/>
              </a:rPr>
              <a:t>swap(&amp;a, &amp;b);</a:t>
            </a:r>
          </a:p>
          <a:p>
            <a:pPr lvl="1"/>
            <a:r>
              <a:rPr lang="en-US" sz="2400" b="1" dirty="0">
                <a:latin typeface="Courier New" panose="02070309020205020404" pitchFamily="49" charset="0"/>
                <a:ea typeface="Verdana" panose="020B0604030504040204" pitchFamily="34" charset="0"/>
                <a:cs typeface="Courier New" panose="02070309020205020404" pitchFamily="49" charset="0"/>
              </a:rPr>
              <a:t>return 0;</a:t>
            </a:r>
          </a:p>
          <a:p>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cxnSp>
        <p:nvCxnSpPr>
          <p:cNvPr id="7" name="Straight Connector 6"/>
          <p:cNvCxnSpPr/>
          <p:nvPr/>
        </p:nvCxnSpPr>
        <p:spPr>
          <a:xfrm>
            <a:off x="5581199" y="1083212"/>
            <a:ext cx="0" cy="5472333"/>
          </a:xfrm>
          <a:prstGeom prst="line">
            <a:avLst/>
          </a:prstGeom>
          <a:ln w="28575">
            <a:solidFill>
              <a:schemeClr val="accent6">
                <a:lumMod val="75000"/>
              </a:schemeClr>
            </a:solidFill>
          </a:ln>
        </p:spPr>
        <p:style>
          <a:lnRef idx="3">
            <a:schemeClr val="dk1"/>
          </a:lnRef>
          <a:fillRef idx="0">
            <a:schemeClr val="dk1"/>
          </a:fillRef>
          <a:effectRef idx="2">
            <a:schemeClr val="dk1"/>
          </a:effectRef>
          <a:fontRef idx="minor">
            <a:schemeClr val="tx1"/>
          </a:fontRef>
        </p:style>
      </p:cxnSp>
      <p:sp>
        <p:nvSpPr>
          <p:cNvPr id="8" name="TextBox 7"/>
          <p:cNvSpPr txBox="1"/>
          <p:nvPr/>
        </p:nvSpPr>
        <p:spPr>
          <a:xfrm>
            <a:off x="7807570" y="819068"/>
            <a:ext cx="4044830" cy="2308324"/>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endParaRPr lang="en-US" sz="2400" b="1"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ea typeface="Verdana" panose="020B0604030504040204" pitchFamily="34" charset="0"/>
                <a:cs typeface="Courier New" panose="02070309020205020404" pitchFamily="49" charset="0"/>
              </a:rPr>
              <a:t>x = 20	y = 10</a:t>
            </a:r>
          </a:p>
          <a:p>
            <a:r>
              <a:rPr lang="en-US" sz="2400" b="1" dirty="0">
                <a:latin typeface="Courier New" panose="02070309020205020404" pitchFamily="49" charset="0"/>
                <a:ea typeface="Verdana" panose="020B0604030504040204" pitchFamily="34" charset="0"/>
                <a:cs typeface="Courier New" panose="02070309020205020404" pitchFamily="49" charset="0"/>
              </a:rPr>
              <a:t>a = 20	b = 10</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2" name="Left Brace 1"/>
          <p:cNvSpPr/>
          <p:nvPr/>
        </p:nvSpPr>
        <p:spPr>
          <a:xfrm rot="16200000">
            <a:off x="3212631" y="1327558"/>
            <a:ext cx="393895" cy="2381117"/>
          </a:xfrm>
          <a:prstGeom prst="leftBrac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 name="TextBox 2"/>
          <p:cNvSpPr txBox="1"/>
          <p:nvPr/>
        </p:nvSpPr>
        <p:spPr>
          <a:xfrm>
            <a:off x="2264881" y="2833083"/>
            <a:ext cx="2518133" cy="369332"/>
          </a:xfrm>
          <a:prstGeom prst="rect">
            <a:avLst/>
          </a:prstGeom>
          <a:noFill/>
        </p:spPr>
        <p:txBody>
          <a:bodyPr wrap="square" rtlCol="0">
            <a:spAutoFit/>
          </a:bodyPr>
          <a:lstStyle/>
          <a:p>
            <a:r>
              <a:rPr lang="en-US" b="1" dirty="0">
                <a:latin typeface="Verdana" panose="020B0604030504040204" pitchFamily="34" charset="0"/>
                <a:ea typeface="Verdana" panose="020B0604030504040204" pitchFamily="34" charset="0"/>
              </a:rPr>
              <a:t>Formal Parameter</a:t>
            </a:r>
            <a:endParaRPr lang="en-IN"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100187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800" decel="100000"/>
                                        <p:tgtEl>
                                          <p:spTgt spid="8"/>
                                        </p:tgtEl>
                                      </p:cBhvr>
                                    </p:animEffect>
                                    <p:anim calcmode="lin" valueType="num">
                                      <p:cBhvr>
                                        <p:cTn id="8" dur="800" decel="100000" fill="hold"/>
                                        <p:tgtEl>
                                          <p:spTgt spid="8"/>
                                        </p:tgtEl>
                                        <p:attrNameLst>
                                          <p:attrName>style.rotation</p:attrName>
                                        </p:attrNameLst>
                                      </p:cBhvr>
                                      <p:tavLst>
                                        <p:tav tm="0">
                                          <p:val>
                                            <p:fltVal val="-90"/>
                                          </p:val>
                                        </p:tav>
                                        <p:tav tm="100000">
                                          <p:val>
                                            <p:fltVal val="0"/>
                                          </p:val>
                                        </p:tav>
                                      </p:tavLst>
                                    </p:anim>
                                    <p:anim calcmode="lin" valueType="num">
                                      <p:cBhvr>
                                        <p:cTn id="9" dur="800" decel="100000" fill="hold"/>
                                        <p:tgtEl>
                                          <p:spTgt spid="8"/>
                                        </p:tgtEl>
                                        <p:attrNameLst>
                                          <p:attrName>ppt_x</p:attrName>
                                        </p:attrNameLst>
                                      </p:cBhvr>
                                      <p:tavLst>
                                        <p:tav tm="0">
                                          <p:val>
                                            <p:strVal val="#ppt_x+0.4"/>
                                          </p:val>
                                        </p:tav>
                                        <p:tav tm="100000">
                                          <p:val>
                                            <p:strVal val="#ppt_x-0.05"/>
                                          </p:val>
                                        </p:tav>
                                      </p:tavLst>
                                    </p:anim>
                                    <p:anim calcmode="lin" valueType="num">
                                      <p:cBhvr>
                                        <p:cTn id="10" dur="800" decel="100000" fill="hold"/>
                                        <p:tgtEl>
                                          <p:spTgt spid="8"/>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8"/>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8"/>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539978"/>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We can perform arithmetic operations on the pointers like addition, subtraction, etc. In pointer-from-pointer subtraction, the result will be an integer value. Following arithmetic operations are possible on the pointer in C language:</a:t>
            </a:r>
          </a:p>
          <a:p>
            <a:pPr algn="just">
              <a:lnSpc>
                <a:spcPct val="150000"/>
              </a:lnSpc>
            </a:pPr>
            <a:endParaRPr lang="en-US" sz="1000" dirty="0">
              <a:latin typeface="Verdana" panose="020B0604030504040204" pitchFamily="34" charset="0"/>
              <a:ea typeface="Verdana" panose="020B0604030504040204" pitchFamily="34" charset="0"/>
            </a:endParaRPr>
          </a:p>
          <a:p>
            <a:pPr marL="800100" lvl="1" indent="-342900">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Increment</a:t>
            </a:r>
          </a:p>
          <a:p>
            <a:pPr marL="800100" lvl="1" indent="-342900">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Decrement</a:t>
            </a:r>
          </a:p>
          <a:p>
            <a:pPr marL="800100" lvl="1" indent="-342900">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Addition</a:t>
            </a:r>
          </a:p>
          <a:p>
            <a:pPr marL="800100" lvl="1" indent="-342900">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Subtraction</a:t>
            </a:r>
          </a:p>
          <a:p>
            <a:pPr marL="800100" lvl="1" indent="-342900">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Comparison</a:t>
            </a: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08611" y="534569"/>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Arithmetic</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0550668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539978"/>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If we increment a pointer by 1, the pointer will start pointing to the immediate next location. This is somewhat different from the general arithmetic since the value of the pointer will get increased by the size of the data type to which the pointer is pointing.</a:t>
            </a:r>
          </a:p>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The Rule to increment the pointer is given below:</a:t>
            </a:r>
          </a:p>
          <a:p>
            <a:pPr algn="just">
              <a:lnSpc>
                <a:spcPct val="150000"/>
              </a:lnSpc>
            </a:pPr>
            <a:endParaRPr lang="en-US" sz="2400" dirty="0">
              <a:latin typeface="Verdana" panose="020B0604030504040204" pitchFamily="34" charset="0"/>
              <a:ea typeface="Verdana" panose="020B0604030504040204" pitchFamily="34" charset="0"/>
            </a:endParaRPr>
          </a:p>
          <a:p>
            <a:pPr algn="ctr">
              <a:lnSpc>
                <a:spcPct val="150000"/>
              </a:lnSpc>
            </a:pPr>
            <a:r>
              <a:rPr lang="en-US" sz="2400" b="1" dirty="0" err="1">
                <a:latin typeface="Verdana" panose="020B0604030504040204" pitchFamily="34" charset="0"/>
                <a:ea typeface="Verdana" panose="020B0604030504040204" pitchFamily="34" charset="0"/>
              </a:rPr>
              <a:t>new_address</a:t>
            </a:r>
            <a:r>
              <a:rPr lang="en-US" sz="2400" b="1" dirty="0">
                <a:latin typeface="Verdana" panose="020B0604030504040204" pitchFamily="34" charset="0"/>
                <a:ea typeface="Verdana" panose="020B0604030504040204" pitchFamily="34" charset="0"/>
              </a:rPr>
              <a:t>= </a:t>
            </a:r>
            <a:r>
              <a:rPr lang="en-US" sz="2400" b="1" dirty="0" err="1">
                <a:latin typeface="Verdana" panose="020B0604030504040204" pitchFamily="34" charset="0"/>
                <a:ea typeface="Verdana" panose="020B0604030504040204" pitchFamily="34" charset="0"/>
              </a:rPr>
              <a:t>current_address</a:t>
            </a:r>
            <a:r>
              <a:rPr lang="en-US" sz="2400" b="1" dirty="0">
                <a:latin typeface="Verdana" panose="020B0604030504040204" pitchFamily="34" charset="0"/>
                <a:ea typeface="Verdana" panose="020B0604030504040204" pitchFamily="34" charset="0"/>
              </a:rPr>
              <a:t> + </a:t>
            </a:r>
            <a:r>
              <a:rPr lang="en-US" sz="2400" b="1" dirty="0" err="1">
                <a:latin typeface="Verdana" panose="020B0604030504040204" pitchFamily="34" charset="0"/>
                <a:ea typeface="Verdana" panose="020B0604030504040204" pitchFamily="34" charset="0"/>
              </a:rPr>
              <a:t>i</a:t>
            </a:r>
            <a:r>
              <a:rPr lang="en-US" sz="2400" b="1" dirty="0">
                <a:latin typeface="Verdana" panose="020B0604030504040204" pitchFamily="34" charset="0"/>
                <a:ea typeface="Verdana" panose="020B0604030504040204" pitchFamily="34" charset="0"/>
              </a:rPr>
              <a:t> * </a:t>
            </a:r>
            <a:r>
              <a:rPr lang="en-US" sz="2400" b="1" dirty="0" err="1">
                <a:latin typeface="Verdana" panose="020B0604030504040204" pitchFamily="34" charset="0"/>
                <a:ea typeface="Verdana" panose="020B0604030504040204" pitchFamily="34" charset="0"/>
              </a:rPr>
              <a:t>size_of</a:t>
            </a:r>
            <a:r>
              <a:rPr lang="en-US" sz="2400" b="1" dirty="0">
                <a:latin typeface="Verdana" panose="020B0604030504040204" pitchFamily="34" charset="0"/>
                <a:ea typeface="Verdana" panose="020B0604030504040204" pitchFamily="34" charset="0"/>
              </a:rPr>
              <a:t>(data type)  </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NOTE: Where </a:t>
            </a:r>
            <a:r>
              <a:rPr lang="en-US" sz="2400" dirty="0" err="1">
                <a:latin typeface="Verdana" panose="020B0604030504040204" pitchFamily="34" charset="0"/>
                <a:ea typeface="Verdana" panose="020B0604030504040204" pitchFamily="34" charset="0"/>
              </a:rPr>
              <a:t>i</a:t>
            </a:r>
            <a:r>
              <a:rPr lang="en-US" sz="2400" dirty="0">
                <a:latin typeface="Verdana" panose="020B0604030504040204" pitchFamily="34" charset="0"/>
                <a:ea typeface="Verdana" panose="020B0604030504040204" pitchFamily="34" charset="0"/>
              </a:rPr>
              <a:t> is the number by which the pointer get increased.</a:t>
            </a: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08611" y="534569"/>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Incrementing</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2008617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6750569" cy="4755148"/>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r>
              <a:rPr lang="en-US" sz="2400" b="1" dirty="0">
                <a:latin typeface="Courier New" panose="02070309020205020404" pitchFamily="49" charset="0"/>
                <a:cs typeface="Courier New" panose="02070309020205020404" pitchFamily="49" charset="0"/>
              </a:rPr>
              <a:t>#include&lt;</a:t>
            </a:r>
            <a:r>
              <a:rPr lang="en-US" sz="2400" b="1" dirty="0" err="1">
                <a:latin typeface="Courier New" panose="02070309020205020404" pitchFamily="49" charset="0"/>
                <a:cs typeface="Courier New" panose="02070309020205020404" pitchFamily="49" charset="0"/>
              </a:rPr>
              <a:t>stdio.h</a:t>
            </a:r>
            <a:r>
              <a:rPr lang="en-US" sz="2400" b="1" dirty="0">
                <a:latin typeface="Courier New" panose="02070309020205020404" pitchFamily="49" charset="0"/>
                <a:cs typeface="Courier New" panose="02070309020205020404" pitchFamily="49" charset="0"/>
              </a:rPr>
              <a:t>&gt;  </a:t>
            </a:r>
          </a:p>
          <a:p>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main()</a:t>
            </a:r>
          </a:p>
          <a:p>
            <a:r>
              <a:rPr lang="en-US" sz="2400" b="1" dirty="0">
                <a:latin typeface="Courier New" panose="02070309020205020404" pitchFamily="49" charset="0"/>
                <a:cs typeface="Courier New" panose="02070309020205020404" pitchFamily="49" charset="0"/>
              </a:rPr>
              <a:t>{  </a:t>
            </a:r>
          </a:p>
          <a:p>
            <a:pPr lvl="1"/>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number=50;</a:t>
            </a:r>
          </a:p>
          <a:p>
            <a:pPr lvl="1"/>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*p;</a:t>
            </a:r>
          </a:p>
          <a:p>
            <a:pPr lvl="1"/>
            <a:r>
              <a:rPr lang="en-US" sz="2400" b="1" dirty="0">
                <a:latin typeface="Courier New" panose="02070309020205020404" pitchFamily="49" charset="0"/>
                <a:cs typeface="Courier New" panose="02070309020205020404" pitchFamily="49" charset="0"/>
              </a:rPr>
              <a:t>p=&amp;number;</a:t>
            </a:r>
          </a:p>
          <a:p>
            <a:pPr lvl="1"/>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("Address of p = %</a:t>
            </a:r>
            <a:r>
              <a:rPr lang="en-US" sz="2400" b="1" dirty="0" err="1">
                <a:latin typeface="Courier New" panose="02070309020205020404" pitchFamily="49" charset="0"/>
                <a:cs typeface="Courier New" panose="02070309020205020404" pitchFamily="49" charset="0"/>
              </a:rPr>
              <a:t>u",p</a:t>
            </a:r>
            <a:r>
              <a:rPr lang="en-US" sz="2400" b="1" dirty="0">
                <a:latin typeface="Courier New" panose="02070309020205020404" pitchFamily="49" charset="0"/>
                <a:cs typeface="Courier New" panose="02070309020205020404" pitchFamily="49" charset="0"/>
              </a:rPr>
              <a:t>);</a:t>
            </a:r>
          </a:p>
          <a:p>
            <a:pPr lvl="1"/>
            <a:r>
              <a:rPr lang="en-US" sz="2400" b="1" dirty="0">
                <a:latin typeface="Courier New" panose="02070309020205020404" pitchFamily="49" charset="0"/>
                <a:cs typeface="Courier New" panose="02070309020205020404" pitchFamily="49" charset="0"/>
              </a:rPr>
              <a:t>p = p + 1;</a:t>
            </a:r>
          </a:p>
          <a:p>
            <a:pPr lvl="1"/>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("After increment:”);</a:t>
            </a:r>
          </a:p>
          <a:p>
            <a:pPr lvl="1"/>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(“Address of p = %u \</a:t>
            </a:r>
            <a:r>
              <a:rPr lang="en-US" sz="2400" b="1" dirty="0" err="1">
                <a:latin typeface="Courier New" panose="02070309020205020404" pitchFamily="49" charset="0"/>
                <a:cs typeface="Courier New" panose="02070309020205020404" pitchFamily="49" charset="0"/>
              </a:rPr>
              <a:t>n",p</a:t>
            </a:r>
            <a:r>
              <a:rPr lang="en-US" sz="2400" b="1" dirty="0">
                <a:latin typeface="Courier New" panose="02070309020205020404" pitchFamily="49" charset="0"/>
                <a:cs typeface="Courier New" panose="02070309020205020404" pitchFamily="49" charset="0"/>
              </a:rPr>
              <a:t>);</a:t>
            </a:r>
          </a:p>
          <a:p>
            <a:pPr lvl="1"/>
            <a:r>
              <a:rPr lang="en-US" sz="2400" b="1" dirty="0">
                <a:latin typeface="Courier New" panose="02070309020205020404" pitchFamily="49" charset="0"/>
                <a:cs typeface="Courier New" panose="02070309020205020404" pitchFamily="49" charset="0"/>
              </a:rPr>
              <a:t>return 0;</a:t>
            </a:r>
          </a:p>
          <a:p>
            <a:r>
              <a:rPr lang="en-US" sz="2400" b="1" dirty="0">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   </a:t>
            </a:r>
          </a:p>
        </p:txBody>
      </p:sp>
      <p:sp>
        <p:nvSpPr>
          <p:cNvPr id="4" name="Rectangle 3"/>
          <p:cNvSpPr/>
          <p:nvPr/>
        </p:nvSpPr>
        <p:spPr>
          <a:xfrm>
            <a:off x="-2" y="520503"/>
            <a:ext cx="4414187"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 Incrementing</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4414186" y="534569"/>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
        <p:nvSpPr>
          <p:cNvPr id="6" name="TextBox 5"/>
          <p:cNvSpPr txBox="1"/>
          <p:nvPr/>
        </p:nvSpPr>
        <p:spPr>
          <a:xfrm>
            <a:off x="7877908" y="1153550"/>
            <a:ext cx="3904154" cy="2677656"/>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ea typeface="Verdana" panose="020B0604030504040204" pitchFamily="34" charset="0"/>
                <a:cs typeface="Courier New" panose="02070309020205020404" pitchFamily="49" charset="0"/>
              </a:rPr>
              <a:t>Address of p = 32100</a:t>
            </a:r>
          </a:p>
          <a:p>
            <a:r>
              <a:rPr lang="en-US" sz="2400" b="1" dirty="0">
                <a:latin typeface="Courier New" panose="02070309020205020404" pitchFamily="49" charset="0"/>
                <a:ea typeface="Verdana" panose="020B0604030504040204" pitchFamily="34" charset="0"/>
                <a:cs typeface="Courier New" panose="02070309020205020404" pitchFamily="49" charset="0"/>
              </a:rPr>
              <a:t>After increment:</a:t>
            </a:r>
          </a:p>
          <a:p>
            <a:r>
              <a:rPr lang="en-US" sz="2400" b="1" dirty="0">
                <a:latin typeface="Courier New" panose="02070309020205020404" pitchFamily="49" charset="0"/>
                <a:ea typeface="Verdana" panose="020B0604030504040204" pitchFamily="34" charset="0"/>
                <a:cs typeface="Courier New" panose="02070309020205020404" pitchFamily="49" charset="0"/>
              </a:rPr>
              <a:t>Address of p = 32104</a:t>
            </a:r>
          </a:p>
          <a:p>
            <a:pPr algn="ctr"/>
            <a:r>
              <a:rPr lang="en-US" sz="2400" b="1" dirty="0">
                <a:latin typeface="Courier New" panose="02070309020205020404" pitchFamily="49" charset="0"/>
                <a:ea typeface="Verdana" panose="020B0604030504040204" pitchFamily="34" charset="0"/>
                <a:cs typeface="Courier New" panose="02070309020205020404" pitchFamily="49" charset="0"/>
              </a:rPr>
              <a:t> </a:t>
            </a:r>
          </a:p>
        </p:txBody>
      </p:sp>
    </p:spTree>
    <p:extLst>
      <p:ext uri="{BB962C8B-B14F-4D97-AF65-F5344CB8AC3E}">
        <p14:creationId xmlns:p14="http://schemas.microsoft.com/office/powerpoint/2010/main" val="1649624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6417141"/>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Like increment, we can decrement a pointer variable. If we decrement a pointer, it will start pointing to the previous location. The formula of decrementing the pointer is given below:</a:t>
            </a:r>
          </a:p>
          <a:p>
            <a:pPr algn="just">
              <a:lnSpc>
                <a:spcPct val="150000"/>
              </a:lnSpc>
            </a:pPr>
            <a:endParaRPr lang="en-US" sz="2400" dirty="0">
              <a:latin typeface="Verdana" panose="020B0604030504040204" pitchFamily="34" charset="0"/>
              <a:ea typeface="Verdana" panose="020B0604030504040204" pitchFamily="34" charset="0"/>
            </a:endParaRPr>
          </a:p>
          <a:p>
            <a:pPr algn="ctr">
              <a:lnSpc>
                <a:spcPct val="150000"/>
              </a:lnSpc>
            </a:pPr>
            <a:endParaRPr lang="en-US" sz="2400" b="1" dirty="0">
              <a:latin typeface="Verdana" panose="020B0604030504040204" pitchFamily="34" charset="0"/>
              <a:ea typeface="Verdana" panose="020B0604030504040204" pitchFamily="34" charset="0"/>
            </a:endParaRPr>
          </a:p>
          <a:p>
            <a:pPr algn="ctr">
              <a:lnSpc>
                <a:spcPct val="150000"/>
              </a:lnSpc>
            </a:pPr>
            <a:r>
              <a:rPr lang="en-US" sz="2400" b="1" dirty="0" err="1">
                <a:latin typeface="Verdana" panose="020B0604030504040204" pitchFamily="34" charset="0"/>
                <a:ea typeface="Verdana" panose="020B0604030504040204" pitchFamily="34" charset="0"/>
              </a:rPr>
              <a:t>new_address</a:t>
            </a:r>
            <a:r>
              <a:rPr lang="en-US" sz="2400" b="1" dirty="0">
                <a:latin typeface="Verdana" panose="020B0604030504040204" pitchFamily="34" charset="0"/>
                <a:ea typeface="Verdana" panose="020B0604030504040204" pitchFamily="34" charset="0"/>
              </a:rPr>
              <a:t>= </a:t>
            </a:r>
            <a:r>
              <a:rPr lang="en-US" sz="2400" b="1" dirty="0" err="1">
                <a:latin typeface="Verdana" panose="020B0604030504040204" pitchFamily="34" charset="0"/>
                <a:ea typeface="Verdana" panose="020B0604030504040204" pitchFamily="34" charset="0"/>
              </a:rPr>
              <a:t>current_address</a:t>
            </a:r>
            <a:r>
              <a:rPr lang="en-US" sz="2400" b="1" dirty="0">
                <a:latin typeface="Verdana" panose="020B0604030504040204" pitchFamily="34" charset="0"/>
                <a:ea typeface="Verdana" panose="020B0604030504040204" pitchFamily="34" charset="0"/>
              </a:rPr>
              <a:t> - </a:t>
            </a:r>
            <a:r>
              <a:rPr lang="en-US" sz="2400" b="1" dirty="0" err="1">
                <a:latin typeface="Verdana" panose="020B0604030504040204" pitchFamily="34" charset="0"/>
                <a:ea typeface="Verdana" panose="020B0604030504040204" pitchFamily="34" charset="0"/>
              </a:rPr>
              <a:t>i</a:t>
            </a:r>
            <a:r>
              <a:rPr lang="en-US" sz="2400" b="1" dirty="0">
                <a:latin typeface="Verdana" panose="020B0604030504040204" pitchFamily="34" charset="0"/>
                <a:ea typeface="Verdana" panose="020B0604030504040204" pitchFamily="34" charset="0"/>
              </a:rPr>
              <a:t> * </a:t>
            </a:r>
            <a:r>
              <a:rPr lang="en-US" sz="2400" b="1" dirty="0" err="1">
                <a:latin typeface="Verdana" panose="020B0604030504040204" pitchFamily="34" charset="0"/>
                <a:ea typeface="Verdana" panose="020B0604030504040204" pitchFamily="34" charset="0"/>
              </a:rPr>
              <a:t>size_of</a:t>
            </a:r>
            <a:r>
              <a:rPr lang="en-US" sz="2400" b="1" dirty="0">
                <a:latin typeface="Verdana" panose="020B0604030504040204" pitchFamily="34" charset="0"/>
                <a:ea typeface="Verdana" panose="020B0604030504040204" pitchFamily="34" charset="0"/>
              </a:rPr>
              <a:t>(data type)  </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NOTE: Where </a:t>
            </a:r>
            <a:r>
              <a:rPr lang="en-US" sz="2400" dirty="0" err="1">
                <a:latin typeface="Verdana" panose="020B0604030504040204" pitchFamily="34" charset="0"/>
                <a:ea typeface="Verdana" panose="020B0604030504040204" pitchFamily="34" charset="0"/>
              </a:rPr>
              <a:t>i</a:t>
            </a:r>
            <a:r>
              <a:rPr lang="en-US" sz="2400" dirty="0">
                <a:latin typeface="Verdana" panose="020B0604030504040204" pitchFamily="34" charset="0"/>
                <a:ea typeface="Verdana" panose="020B0604030504040204" pitchFamily="34" charset="0"/>
              </a:rPr>
              <a:t> is the number by which the pointer get decreased.</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08611" y="534569"/>
            <a:ext cx="2352374"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Decrementing</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442036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6750569" cy="4755148"/>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r>
              <a:rPr lang="en-US" sz="2400" b="1" dirty="0">
                <a:latin typeface="Courier New" panose="02070309020205020404" pitchFamily="49" charset="0"/>
                <a:cs typeface="Courier New" panose="02070309020205020404" pitchFamily="49" charset="0"/>
              </a:rPr>
              <a:t>#include&lt;</a:t>
            </a:r>
            <a:r>
              <a:rPr lang="en-US" sz="2400" b="1" dirty="0" err="1">
                <a:latin typeface="Courier New" panose="02070309020205020404" pitchFamily="49" charset="0"/>
                <a:cs typeface="Courier New" panose="02070309020205020404" pitchFamily="49" charset="0"/>
              </a:rPr>
              <a:t>stdio.h</a:t>
            </a:r>
            <a:r>
              <a:rPr lang="en-US" sz="2400" b="1" dirty="0">
                <a:latin typeface="Courier New" panose="02070309020205020404" pitchFamily="49" charset="0"/>
                <a:cs typeface="Courier New" panose="02070309020205020404" pitchFamily="49" charset="0"/>
              </a:rPr>
              <a:t>&gt;  </a:t>
            </a:r>
          </a:p>
          <a:p>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main()</a:t>
            </a:r>
          </a:p>
          <a:p>
            <a:r>
              <a:rPr lang="en-US" sz="2400" b="1" dirty="0">
                <a:latin typeface="Courier New" panose="02070309020205020404" pitchFamily="49" charset="0"/>
                <a:cs typeface="Courier New" panose="02070309020205020404" pitchFamily="49" charset="0"/>
              </a:rPr>
              <a:t>{  </a:t>
            </a:r>
          </a:p>
          <a:p>
            <a:pPr lvl="1"/>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number = 50;</a:t>
            </a:r>
          </a:p>
          <a:p>
            <a:pPr lvl="1"/>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*p;</a:t>
            </a:r>
          </a:p>
          <a:p>
            <a:pPr lvl="1"/>
            <a:r>
              <a:rPr lang="en-US" sz="2400" b="1" dirty="0">
                <a:latin typeface="Courier New" panose="02070309020205020404" pitchFamily="49" charset="0"/>
                <a:cs typeface="Courier New" panose="02070309020205020404" pitchFamily="49" charset="0"/>
              </a:rPr>
              <a:t>p = &amp;number;</a:t>
            </a:r>
          </a:p>
          <a:p>
            <a:pPr lvl="1"/>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("Address of p = %</a:t>
            </a:r>
            <a:r>
              <a:rPr lang="en-US" sz="2400" b="1" dirty="0" err="1">
                <a:latin typeface="Courier New" panose="02070309020205020404" pitchFamily="49" charset="0"/>
                <a:cs typeface="Courier New" panose="02070309020205020404" pitchFamily="49" charset="0"/>
              </a:rPr>
              <a:t>u",p</a:t>
            </a:r>
            <a:r>
              <a:rPr lang="en-US" sz="2400" b="1" dirty="0">
                <a:latin typeface="Courier New" panose="02070309020205020404" pitchFamily="49" charset="0"/>
                <a:cs typeface="Courier New" panose="02070309020205020404" pitchFamily="49" charset="0"/>
              </a:rPr>
              <a:t>);</a:t>
            </a:r>
          </a:p>
          <a:p>
            <a:pPr lvl="1"/>
            <a:r>
              <a:rPr lang="en-US" sz="2400" b="1" dirty="0">
                <a:latin typeface="Courier New" panose="02070309020205020404" pitchFamily="49" charset="0"/>
                <a:cs typeface="Courier New" panose="02070309020205020404" pitchFamily="49" charset="0"/>
              </a:rPr>
              <a:t>p = p - 1;</a:t>
            </a:r>
          </a:p>
          <a:p>
            <a:pPr lvl="1"/>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("After decrement:”);</a:t>
            </a:r>
          </a:p>
          <a:p>
            <a:pPr lvl="1"/>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(“Address of p = %u \</a:t>
            </a:r>
            <a:r>
              <a:rPr lang="en-US" sz="2400" b="1" dirty="0" err="1">
                <a:latin typeface="Courier New" panose="02070309020205020404" pitchFamily="49" charset="0"/>
                <a:cs typeface="Courier New" panose="02070309020205020404" pitchFamily="49" charset="0"/>
              </a:rPr>
              <a:t>n",p</a:t>
            </a:r>
            <a:r>
              <a:rPr lang="en-US" sz="2400" b="1" dirty="0">
                <a:latin typeface="Courier New" panose="02070309020205020404" pitchFamily="49" charset="0"/>
                <a:cs typeface="Courier New" panose="02070309020205020404" pitchFamily="49" charset="0"/>
              </a:rPr>
              <a:t>);</a:t>
            </a:r>
          </a:p>
          <a:p>
            <a:pPr lvl="1"/>
            <a:r>
              <a:rPr lang="en-US" sz="2400" b="1" dirty="0">
                <a:latin typeface="Courier New" panose="02070309020205020404" pitchFamily="49" charset="0"/>
                <a:cs typeface="Courier New" panose="02070309020205020404" pitchFamily="49" charset="0"/>
              </a:rPr>
              <a:t>return 0;</a:t>
            </a:r>
          </a:p>
          <a:p>
            <a:r>
              <a:rPr lang="en-US" sz="2400" b="1" dirty="0">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   </a:t>
            </a:r>
          </a:p>
        </p:txBody>
      </p:sp>
      <p:sp>
        <p:nvSpPr>
          <p:cNvPr id="4" name="Rectangle 3"/>
          <p:cNvSpPr/>
          <p:nvPr/>
        </p:nvSpPr>
        <p:spPr>
          <a:xfrm>
            <a:off x="-2" y="520503"/>
            <a:ext cx="4414187"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 Decrementing</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4414186" y="534569"/>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
        <p:nvSpPr>
          <p:cNvPr id="6" name="TextBox 5"/>
          <p:cNvSpPr txBox="1"/>
          <p:nvPr/>
        </p:nvSpPr>
        <p:spPr>
          <a:xfrm>
            <a:off x="7877908" y="1153550"/>
            <a:ext cx="3904154" cy="2677656"/>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ea typeface="Verdana" panose="020B0604030504040204" pitchFamily="34" charset="0"/>
                <a:cs typeface="Courier New" panose="02070309020205020404" pitchFamily="49" charset="0"/>
              </a:rPr>
              <a:t>Address of p = 32104</a:t>
            </a:r>
          </a:p>
          <a:p>
            <a:r>
              <a:rPr lang="en-US" sz="2400" b="1" dirty="0">
                <a:latin typeface="Courier New" panose="02070309020205020404" pitchFamily="49" charset="0"/>
                <a:ea typeface="Verdana" panose="020B0604030504040204" pitchFamily="34" charset="0"/>
                <a:cs typeface="Courier New" panose="02070309020205020404" pitchFamily="49" charset="0"/>
              </a:rPr>
              <a:t>After decrement:</a:t>
            </a:r>
          </a:p>
          <a:p>
            <a:r>
              <a:rPr lang="en-US" sz="2400" b="1" dirty="0">
                <a:latin typeface="Courier New" panose="02070309020205020404" pitchFamily="49" charset="0"/>
                <a:ea typeface="Verdana" panose="020B0604030504040204" pitchFamily="34" charset="0"/>
                <a:cs typeface="Courier New" panose="02070309020205020404" pitchFamily="49" charset="0"/>
              </a:rPr>
              <a:t>Address of p = 32100</a:t>
            </a:r>
          </a:p>
          <a:p>
            <a:pPr algn="ctr"/>
            <a:r>
              <a:rPr lang="en-US" sz="2400" b="1" dirty="0">
                <a:latin typeface="Courier New" panose="02070309020205020404" pitchFamily="49" charset="0"/>
                <a:ea typeface="Verdana" panose="020B0604030504040204" pitchFamily="34" charset="0"/>
                <a:cs typeface="Courier New" panose="02070309020205020404" pitchFamily="49" charset="0"/>
              </a:rPr>
              <a:t> </a:t>
            </a:r>
          </a:p>
        </p:txBody>
      </p:sp>
    </p:spTree>
    <p:extLst>
      <p:ext uri="{BB962C8B-B14F-4D97-AF65-F5344CB8AC3E}">
        <p14:creationId xmlns:p14="http://schemas.microsoft.com/office/powerpoint/2010/main" val="339405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309146"/>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Like increment and decrement to a pointer variable we can add value to the pointer variable.</a:t>
            </a:r>
          </a:p>
          <a:p>
            <a:pPr algn="just">
              <a:lnSpc>
                <a:spcPct val="150000"/>
              </a:lnSpc>
            </a:pPr>
            <a:endParaRPr lang="en-US" sz="2400" dirty="0">
              <a:latin typeface="Verdana" panose="020B0604030504040204" pitchFamily="34" charset="0"/>
              <a:ea typeface="Verdana" panose="020B0604030504040204" pitchFamily="34" charset="0"/>
            </a:endParaRPr>
          </a:p>
          <a:p>
            <a:pPr algn="ctr">
              <a:lnSpc>
                <a:spcPct val="150000"/>
              </a:lnSpc>
            </a:pPr>
            <a:endParaRPr lang="en-US" sz="2400" b="1" dirty="0">
              <a:latin typeface="Verdana" panose="020B0604030504040204" pitchFamily="34" charset="0"/>
              <a:ea typeface="Verdana" panose="020B0604030504040204" pitchFamily="34" charset="0"/>
            </a:endParaRPr>
          </a:p>
          <a:p>
            <a:pPr algn="ctr">
              <a:lnSpc>
                <a:spcPct val="150000"/>
              </a:lnSpc>
            </a:pPr>
            <a:r>
              <a:rPr lang="en-US" sz="2200" b="1" dirty="0" err="1">
                <a:latin typeface="Verdana" panose="020B0604030504040204" pitchFamily="34" charset="0"/>
                <a:ea typeface="Verdana" panose="020B0604030504040204" pitchFamily="34" charset="0"/>
              </a:rPr>
              <a:t>new_address</a:t>
            </a:r>
            <a:r>
              <a:rPr lang="en-US" sz="2200" b="1" dirty="0">
                <a:latin typeface="Verdana" panose="020B0604030504040204" pitchFamily="34" charset="0"/>
                <a:ea typeface="Verdana" panose="020B0604030504040204" pitchFamily="34" charset="0"/>
              </a:rPr>
              <a:t>= </a:t>
            </a:r>
            <a:r>
              <a:rPr lang="en-US" sz="2200" b="1" dirty="0" err="1">
                <a:latin typeface="Verdana" panose="020B0604030504040204" pitchFamily="34" charset="0"/>
                <a:ea typeface="Verdana" panose="020B0604030504040204" pitchFamily="34" charset="0"/>
              </a:rPr>
              <a:t>current_address</a:t>
            </a:r>
            <a:r>
              <a:rPr lang="en-US" sz="2200" b="1" dirty="0">
                <a:latin typeface="Verdana" panose="020B0604030504040204" pitchFamily="34" charset="0"/>
                <a:ea typeface="Verdana" panose="020B0604030504040204" pitchFamily="34" charset="0"/>
              </a:rPr>
              <a:t> + (number * </a:t>
            </a:r>
            <a:r>
              <a:rPr lang="en-US" sz="2200" b="1" dirty="0" err="1">
                <a:latin typeface="Verdana" panose="020B0604030504040204" pitchFamily="34" charset="0"/>
                <a:ea typeface="Verdana" panose="020B0604030504040204" pitchFamily="34" charset="0"/>
              </a:rPr>
              <a:t>size_of</a:t>
            </a:r>
            <a:r>
              <a:rPr lang="en-US" sz="2200" b="1" dirty="0">
                <a:latin typeface="Verdana" panose="020B0604030504040204" pitchFamily="34" charset="0"/>
                <a:ea typeface="Verdana" panose="020B0604030504040204" pitchFamily="34" charset="0"/>
              </a:rPr>
              <a:t>(data type))  </a:t>
            </a:r>
            <a:r>
              <a:rPr lang="en-US" sz="2400" b="1" dirty="0">
                <a:latin typeface="Verdana" panose="020B0604030504040204" pitchFamily="34" charset="0"/>
                <a:ea typeface="Verdana" panose="020B0604030504040204" pitchFamily="34" charset="0"/>
              </a:rPr>
              <a:t>  </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08611" y="534569"/>
            <a:ext cx="2352374"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Addition</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202879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6750569" cy="4755148"/>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r>
              <a:rPr lang="en-US" sz="2400" b="1" dirty="0">
                <a:latin typeface="Courier New" panose="02070309020205020404" pitchFamily="49" charset="0"/>
                <a:cs typeface="Courier New" panose="02070309020205020404" pitchFamily="49" charset="0"/>
              </a:rPr>
              <a:t>#include&lt;</a:t>
            </a:r>
            <a:r>
              <a:rPr lang="en-US" sz="2400" b="1" dirty="0" err="1">
                <a:latin typeface="Courier New" panose="02070309020205020404" pitchFamily="49" charset="0"/>
                <a:cs typeface="Courier New" panose="02070309020205020404" pitchFamily="49" charset="0"/>
              </a:rPr>
              <a:t>stdio.h</a:t>
            </a:r>
            <a:r>
              <a:rPr lang="en-US" sz="2400" b="1" dirty="0">
                <a:latin typeface="Courier New" panose="02070309020205020404" pitchFamily="49" charset="0"/>
                <a:cs typeface="Courier New" panose="02070309020205020404" pitchFamily="49" charset="0"/>
              </a:rPr>
              <a:t>&gt;  </a:t>
            </a:r>
          </a:p>
          <a:p>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main()</a:t>
            </a:r>
          </a:p>
          <a:p>
            <a:r>
              <a:rPr lang="en-US" sz="2400" b="1" dirty="0">
                <a:latin typeface="Courier New" panose="02070309020205020404" pitchFamily="49" charset="0"/>
                <a:cs typeface="Courier New" panose="02070309020205020404" pitchFamily="49" charset="0"/>
              </a:rPr>
              <a:t>{  </a:t>
            </a:r>
          </a:p>
          <a:p>
            <a:pPr lvl="1"/>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number=50;</a:t>
            </a:r>
          </a:p>
          <a:p>
            <a:pPr lvl="1"/>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*p;</a:t>
            </a:r>
          </a:p>
          <a:p>
            <a:pPr lvl="1"/>
            <a:r>
              <a:rPr lang="en-US" sz="2400" b="1" dirty="0">
                <a:latin typeface="Courier New" panose="02070309020205020404" pitchFamily="49" charset="0"/>
                <a:cs typeface="Courier New" panose="02070309020205020404" pitchFamily="49" charset="0"/>
              </a:rPr>
              <a:t>p=&amp;number;</a:t>
            </a:r>
          </a:p>
          <a:p>
            <a:pPr lvl="1"/>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("Address of p = %</a:t>
            </a:r>
            <a:r>
              <a:rPr lang="en-US" sz="2400" b="1" dirty="0" err="1">
                <a:latin typeface="Courier New" panose="02070309020205020404" pitchFamily="49" charset="0"/>
                <a:cs typeface="Courier New" panose="02070309020205020404" pitchFamily="49" charset="0"/>
              </a:rPr>
              <a:t>u",p</a:t>
            </a:r>
            <a:r>
              <a:rPr lang="en-US" sz="2400" b="1" dirty="0">
                <a:latin typeface="Courier New" panose="02070309020205020404" pitchFamily="49" charset="0"/>
                <a:cs typeface="Courier New" panose="02070309020205020404" pitchFamily="49" charset="0"/>
              </a:rPr>
              <a:t>);</a:t>
            </a:r>
          </a:p>
          <a:p>
            <a:pPr lvl="1"/>
            <a:r>
              <a:rPr lang="en-US" sz="2400" b="1" dirty="0">
                <a:latin typeface="Courier New" panose="02070309020205020404" pitchFamily="49" charset="0"/>
                <a:cs typeface="Courier New" panose="02070309020205020404" pitchFamily="49" charset="0"/>
              </a:rPr>
              <a:t>p = p + 3;</a:t>
            </a:r>
          </a:p>
          <a:p>
            <a:pPr lvl="1"/>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("After Addition:”);</a:t>
            </a:r>
          </a:p>
          <a:p>
            <a:pPr lvl="1"/>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(“Address of p = %u \</a:t>
            </a:r>
            <a:r>
              <a:rPr lang="en-US" sz="2400" b="1" dirty="0" err="1">
                <a:latin typeface="Courier New" panose="02070309020205020404" pitchFamily="49" charset="0"/>
                <a:cs typeface="Courier New" panose="02070309020205020404" pitchFamily="49" charset="0"/>
              </a:rPr>
              <a:t>n",p</a:t>
            </a:r>
            <a:r>
              <a:rPr lang="en-US" sz="2400" b="1" dirty="0">
                <a:latin typeface="Courier New" panose="02070309020205020404" pitchFamily="49" charset="0"/>
                <a:cs typeface="Courier New" panose="02070309020205020404" pitchFamily="49" charset="0"/>
              </a:rPr>
              <a:t>);</a:t>
            </a:r>
          </a:p>
          <a:p>
            <a:pPr lvl="1"/>
            <a:r>
              <a:rPr lang="en-US" sz="2400" b="1" dirty="0">
                <a:latin typeface="Courier New" panose="02070309020205020404" pitchFamily="49" charset="0"/>
                <a:cs typeface="Courier New" panose="02070309020205020404" pitchFamily="49" charset="0"/>
              </a:rPr>
              <a:t>return 0;</a:t>
            </a:r>
          </a:p>
          <a:p>
            <a:r>
              <a:rPr lang="en-US" sz="2400" b="1" dirty="0">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   </a:t>
            </a:r>
          </a:p>
        </p:txBody>
      </p:sp>
      <p:sp>
        <p:nvSpPr>
          <p:cNvPr id="4" name="Rectangle 3"/>
          <p:cNvSpPr/>
          <p:nvPr/>
        </p:nvSpPr>
        <p:spPr>
          <a:xfrm>
            <a:off x="-2" y="520503"/>
            <a:ext cx="3446587"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 Addition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457582" y="534569"/>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
        <p:nvSpPr>
          <p:cNvPr id="6" name="TextBox 5"/>
          <p:cNvSpPr txBox="1"/>
          <p:nvPr/>
        </p:nvSpPr>
        <p:spPr>
          <a:xfrm>
            <a:off x="7877908" y="1153550"/>
            <a:ext cx="3904154" cy="2677656"/>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ea typeface="Verdana" panose="020B0604030504040204" pitchFamily="34" charset="0"/>
                <a:cs typeface="Courier New" panose="02070309020205020404" pitchFamily="49" charset="0"/>
              </a:rPr>
              <a:t>Address of p = 32104</a:t>
            </a:r>
          </a:p>
          <a:p>
            <a:r>
              <a:rPr lang="en-US" sz="2400" b="1" dirty="0">
                <a:latin typeface="Courier New" panose="02070309020205020404" pitchFamily="49" charset="0"/>
                <a:ea typeface="Verdana" panose="020B0604030504040204" pitchFamily="34" charset="0"/>
                <a:cs typeface="Courier New" panose="02070309020205020404" pitchFamily="49" charset="0"/>
              </a:rPr>
              <a:t>After Addition:</a:t>
            </a:r>
          </a:p>
          <a:p>
            <a:r>
              <a:rPr lang="en-US" sz="2400" b="1" dirty="0">
                <a:latin typeface="Courier New" panose="02070309020205020404" pitchFamily="49" charset="0"/>
                <a:ea typeface="Verdana" panose="020B0604030504040204" pitchFamily="34" charset="0"/>
                <a:cs typeface="Courier New" panose="02070309020205020404" pitchFamily="49" charset="0"/>
              </a:rPr>
              <a:t>Address of p </a:t>
            </a:r>
            <a:r>
              <a:rPr lang="en-US" sz="2400" b="1">
                <a:latin typeface="Courier New" panose="02070309020205020404" pitchFamily="49" charset="0"/>
                <a:ea typeface="Verdana" panose="020B0604030504040204" pitchFamily="34" charset="0"/>
                <a:cs typeface="Courier New" panose="02070309020205020404" pitchFamily="49" charset="0"/>
              </a:rPr>
              <a:t>= 32116</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dirty="0">
                <a:latin typeface="Courier New" panose="02070309020205020404" pitchFamily="49" charset="0"/>
                <a:ea typeface="Verdana" panose="020B0604030504040204" pitchFamily="34" charset="0"/>
                <a:cs typeface="Courier New" panose="02070309020205020404" pitchFamily="49" charset="0"/>
              </a:rPr>
              <a:t> </a:t>
            </a:r>
          </a:p>
        </p:txBody>
      </p:sp>
    </p:spTree>
    <p:extLst>
      <p:ext uri="{BB962C8B-B14F-4D97-AF65-F5344CB8AC3E}">
        <p14:creationId xmlns:p14="http://schemas.microsoft.com/office/powerpoint/2010/main" val="636103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590056"/>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100" dirty="0">
                <a:latin typeface="Verdana" panose="020B0604030504040204" pitchFamily="34" charset="0"/>
                <a:ea typeface="Verdana" panose="020B0604030504040204" pitchFamily="34" charset="0"/>
              </a:rPr>
              <a:t>There are various operations which can not be performed on pointers. Since, pointer stores address hence we must ignore the operations which may lead to an illegal address.</a:t>
            </a:r>
          </a:p>
          <a:p>
            <a:pPr marL="800100" lvl="1" indent="-342900">
              <a:lnSpc>
                <a:spcPct val="150000"/>
              </a:lnSpc>
              <a:buFont typeface="Wingdings" panose="05000000000000000000" pitchFamily="2" charset="2"/>
              <a:buChar char="ü"/>
            </a:pPr>
            <a:r>
              <a:rPr lang="en-US" sz="2100" dirty="0">
                <a:latin typeface="Verdana" panose="020B0604030504040204" pitchFamily="34" charset="0"/>
                <a:ea typeface="Verdana" panose="020B0604030504040204" pitchFamily="34" charset="0"/>
              </a:rPr>
              <a:t>Address + Address = illegal</a:t>
            </a:r>
          </a:p>
          <a:p>
            <a:pPr marL="800100" lvl="1" indent="-342900">
              <a:lnSpc>
                <a:spcPct val="150000"/>
              </a:lnSpc>
              <a:buFont typeface="Wingdings" panose="05000000000000000000" pitchFamily="2" charset="2"/>
              <a:buChar char="ü"/>
            </a:pPr>
            <a:r>
              <a:rPr lang="en-US" sz="2100" dirty="0">
                <a:latin typeface="Verdana" panose="020B0604030504040204" pitchFamily="34" charset="0"/>
                <a:ea typeface="Verdana" panose="020B0604030504040204" pitchFamily="34" charset="0"/>
              </a:rPr>
              <a:t>Address * Address = illegal</a:t>
            </a:r>
          </a:p>
          <a:p>
            <a:pPr marL="800100" lvl="1" indent="-342900">
              <a:lnSpc>
                <a:spcPct val="150000"/>
              </a:lnSpc>
              <a:buFont typeface="Wingdings" panose="05000000000000000000" pitchFamily="2" charset="2"/>
              <a:buChar char="ü"/>
            </a:pPr>
            <a:r>
              <a:rPr lang="en-US" sz="2100" dirty="0">
                <a:latin typeface="Verdana" panose="020B0604030504040204" pitchFamily="34" charset="0"/>
                <a:ea typeface="Verdana" panose="020B0604030504040204" pitchFamily="34" charset="0"/>
              </a:rPr>
              <a:t>Address % Address = illegal</a:t>
            </a:r>
          </a:p>
          <a:p>
            <a:pPr marL="800100" lvl="1" indent="-342900">
              <a:lnSpc>
                <a:spcPct val="150000"/>
              </a:lnSpc>
              <a:buFont typeface="Wingdings" panose="05000000000000000000" pitchFamily="2" charset="2"/>
              <a:buChar char="ü"/>
            </a:pPr>
            <a:r>
              <a:rPr lang="en-US" sz="2100" dirty="0">
                <a:latin typeface="Verdana" panose="020B0604030504040204" pitchFamily="34" charset="0"/>
                <a:ea typeface="Verdana" panose="020B0604030504040204" pitchFamily="34" charset="0"/>
              </a:rPr>
              <a:t>Address / Address = illegal</a:t>
            </a:r>
          </a:p>
          <a:p>
            <a:pPr marL="800100" lvl="1" indent="-342900">
              <a:lnSpc>
                <a:spcPct val="150000"/>
              </a:lnSpc>
              <a:buFont typeface="Wingdings" panose="05000000000000000000" pitchFamily="2" charset="2"/>
              <a:buChar char="ü"/>
            </a:pPr>
            <a:r>
              <a:rPr lang="en-US" sz="2100" dirty="0">
                <a:latin typeface="Verdana" panose="020B0604030504040204" pitchFamily="34" charset="0"/>
                <a:ea typeface="Verdana" panose="020B0604030504040204" pitchFamily="34" charset="0"/>
              </a:rPr>
              <a:t>Address &amp; Address = illegal</a:t>
            </a:r>
          </a:p>
          <a:p>
            <a:pPr marL="800100" lvl="1" indent="-342900">
              <a:lnSpc>
                <a:spcPct val="150000"/>
              </a:lnSpc>
              <a:buFont typeface="Wingdings" panose="05000000000000000000" pitchFamily="2" charset="2"/>
              <a:buChar char="ü"/>
            </a:pPr>
            <a:r>
              <a:rPr lang="en-US" sz="2100" dirty="0">
                <a:latin typeface="Verdana" panose="020B0604030504040204" pitchFamily="34" charset="0"/>
                <a:ea typeface="Verdana" panose="020B0604030504040204" pitchFamily="34" charset="0"/>
              </a:rPr>
              <a:t>Address ^ Address = illegal</a:t>
            </a:r>
          </a:p>
          <a:p>
            <a:pPr marL="800100" lvl="1" indent="-342900">
              <a:lnSpc>
                <a:spcPct val="150000"/>
              </a:lnSpc>
              <a:buFont typeface="Wingdings" panose="05000000000000000000" pitchFamily="2" charset="2"/>
              <a:buChar char="ü"/>
            </a:pPr>
            <a:r>
              <a:rPr lang="en-US" sz="2100" dirty="0">
                <a:latin typeface="Verdana" panose="020B0604030504040204" pitchFamily="34" charset="0"/>
                <a:ea typeface="Verdana" panose="020B0604030504040204" pitchFamily="34" charset="0"/>
              </a:rPr>
              <a:t>Address | Address = illegal</a:t>
            </a:r>
          </a:p>
          <a:p>
            <a:pPr marL="800100" lvl="1" indent="-342900">
              <a:lnSpc>
                <a:spcPct val="150000"/>
              </a:lnSpc>
              <a:buFont typeface="Wingdings" panose="05000000000000000000" pitchFamily="2" charset="2"/>
              <a:buChar char="ü"/>
            </a:pPr>
            <a:r>
              <a:rPr lang="en-US" sz="2100" dirty="0">
                <a:latin typeface="Verdana" panose="020B0604030504040204" pitchFamily="34" charset="0"/>
                <a:ea typeface="Verdana" panose="020B0604030504040204" pitchFamily="34" charset="0"/>
              </a:rPr>
              <a:t>~Address = illegal</a:t>
            </a: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08611" y="534569"/>
            <a:ext cx="4997100"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Illegal Arithmetic with Pointers</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7998119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3572453"/>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As we know that, a pointer is used to store the address of a variable in C. Pointer reduces the access time of a variable. However, In C, we can also define a pointer to store the address of another pointer. Such pointer is known as a double pointer (pointer to pointer). The first pointer is used to store the address of a variable whereas the second pointer is used to store the address of the first pointer.</a:t>
            </a:r>
            <a:endParaRPr lang="en-US" sz="2100" dirty="0">
              <a:latin typeface="Verdana" panose="020B0604030504040204" pitchFamily="34" charset="0"/>
              <a:ea typeface="Verdana" panose="020B0604030504040204" pitchFamily="34" charset="0"/>
            </a:endParaRP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08611" y="534569"/>
            <a:ext cx="5630146"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Pointer to Pointers (Double Pointer)</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2395655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2215991"/>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b="1" dirty="0" err="1">
                <a:latin typeface="Verdana" panose="020B0604030504040204" pitchFamily="34" charset="0"/>
                <a:ea typeface="Verdana" panose="020B0604030504040204" pitchFamily="34" charset="0"/>
              </a:rPr>
              <a:t>Data_Type</a:t>
            </a:r>
            <a:r>
              <a:rPr lang="en-US" sz="2400" b="1" dirty="0">
                <a:latin typeface="Verdana" panose="020B0604030504040204" pitchFamily="34" charset="0"/>
                <a:ea typeface="Verdana" panose="020B0604030504040204" pitchFamily="34" charset="0"/>
              </a:rPr>
              <a:t> **</a:t>
            </a:r>
            <a:r>
              <a:rPr lang="en-US" sz="2400" b="1" dirty="0" err="1">
                <a:latin typeface="Verdana" panose="020B0604030504040204" pitchFamily="34" charset="0"/>
                <a:ea typeface="Verdana" panose="020B0604030504040204" pitchFamily="34" charset="0"/>
              </a:rPr>
              <a:t>Pointer_Name</a:t>
            </a:r>
            <a:r>
              <a:rPr lang="en-US" sz="2400" b="1" dirty="0">
                <a:latin typeface="Verdana" panose="020B0604030504040204" pitchFamily="34" charset="0"/>
                <a:ea typeface="Verdana" panose="020B0604030504040204" pitchFamily="34" charset="0"/>
              </a:rPr>
              <a:t>;</a:t>
            </a:r>
          </a:p>
          <a:p>
            <a:pPr algn="just">
              <a:lnSpc>
                <a:spcPct val="150000"/>
              </a:lnSpc>
            </a:pPr>
            <a:endParaRPr lang="en-US" sz="2400" b="1" dirty="0">
              <a:latin typeface="Verdana" panose="020B0604030504040204" pitchFamily="34" charset="0"/>
              <a:ea typeface="Verdana" panose="020B0604030504040204" pitchFamily="34" charset="0"/>
            </a:endParaRPr>
          </a:p>
          <a:p>
            <a:pPr algn="just">
              <a:lnSpc>
                <a:spcPct val="150000"/>
              </a:lnSpc>
            </a:pPr>
            <a:r>
              <a:rPr lang="en-US" sz="2400" b="1" dirty="0">
                <a:latin typeface="Verdana" panose="020B0604030504040204" pitchFamily="34" charset="0"/>
                <a:ea typeface="Verdana" panose="020B0604030504040204" pitchFamily="34" charset="0"/>
              </a:rPr>
              <a:t>Example:	</a:t>
            </a:r>
            <a:r>
              <a:rPr lang="en-US" sz="2400" b="1" dirty="0" err="1">
                <a:latin typeface="Verdana" panose="020B0604030504040204" pitchFamily="34" charset="0"/>
                <a:ea typeface="Verdana" panose="020B0604030504040204" pitchFamily="34" charset="0"/>
              </a:rPr>
              <a:t>int</a:t>
            </a:r>
            <a:r>
              <a:rPr lang="en-US" sz="2400" b="1" dirty="0">
                <a:latin typeface="Verdana" panose="020B0604030504040204" pitchFamily="34" charset="0"/>
                <a:ea typeface="Verdana" panose="020B0604030504040204" pitchFamily="34" charset="0"/>
              </a:rPr>
              <a:t> **</a:t>
            </a:r>
            <a:r>
              <a:rPr lang="en-US" sz="2400" b="1" dirty="0" err="1">
                <a:latin typeface="Verdana" panose="020B0604030504040204" pitchFamily="34" charset="0"/>
                <a:ea typeface="Verdana" panose="020B0604030504040204" pitchFamily="34" charset="0"/>
              </a:rPr>
              <a:t>Ptr</a:t>
            </a:r>
            <a:r>
              <a:rPr lang="en-US" sz="2400" b="1" dirty="0">
                <a:latin typeface="Verdana" panose="020B0604030504040204" pitchFamily="34" charset="0"/>
                <a:ea typeface="Verdana" panose="020B0604030504040204" pitchFamily="34" charset="0"/>
              </a:rPr>
              <a:t>;</a:t>
            </a: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08611" y="534569"/>
            <a:ext cx="223983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Syntax</a:t>
            </a:r>
            <a:endParaRPr lang="en-IN" sz="2000" b="1" dirty="0">
              <a:solidFill>
                <a:prstClr val="black"/>
              </a:solidFill>
              <a:latin typeface="Verdana" panose="020B0604030504040204" pitchFamily="34" charset="0"/>
              <a:ea typeface="Verdana" panose="020B0604030504040204" pitchFamily="34" charset="0"/>
            </a:endParaRPr>
          </a:p>
        </p:txBody>
      </p:sp>
      <p:pic>
        <p:nvPicPr>
          <p:cNvPr id="2050" name="Picture 2" descr="pointer to pointer in 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827" y="3843191"/>
            <a:ext cx="7913494" cy="1572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12960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7088193" cy="5632311"/>
          </a:xfrm>
          <a:prstGeom prst="rect">
            <a:avLst/>
          </a:prstGeom>
          <a:noFill/>
        </p:spPr>
        <p:txBody>
          <a:bodyPr wrap="square" rtlCol="0">
            <a:spAutoFit/>
          </a:bodyPr>
          <a:lstStyle/>
          <a:p>
            <a:pPr algn="just"/>
            <a:endParaRPr lang="en-US" sz="1000"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 ()</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 = 10;</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*p;</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pp</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a:latin typeface="Courier New" panose="02070309020205020404" pitchFamily="49" charset="0"/>
                <a:ea typeface="Verdana" panose="020B0604030504040204" pitchFamily="34" charset="0"/>
                <a:cs typeface="Courier New" panose="02070309020205020404" pitchFamily="49" charset="0"/>
              </a:rPr>
              <a:t>p = &amp;a;</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pp</a:t>
            </a:r>
            <a:r>
              <a:rPr lang="en-US" sz="2400" b="1" dirty="0">
                <a:latin typeface="Courier New" panose="02070309020205020404" pitchFamily="49" charset="0"/>
                <a:ea typeface="Verdana" panose="020B0604030504040204" pitchFamily="34" charset="0"/>
                <a:cs typeface="Courier New" panose="02070309020205020404" pitchFamily="49" charset="0"/>
              </a:rPr>
              <a:t> = &amp;p;</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(“Address of a: %x\</a:t>
            </a:r>
            <a:r>
              <a:rPr lang="en-US" sz="2400" b="1" dirty="0" err="1">
                <a:latin typeface="Courier New" panose="02070309020205020404" pitchFamily="49" charset="0"/>
                <a:ea typeface="Verdana" panose="020B0604030504040204" pitchFamily="34" charset="0"/>
                <a:cs typeface="Courier New" panose="02070309020205020404" pitchFamily="49" charset="0"/>
              </a:rPr>
              <a:t>n",p</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(“Address of p: %x\n",</a:t>
            </a:r>
            <a:r>
              <a:rPr lang="en-US" sz="2400" b="1" dirty="0" err="1">
                <a:latin typeface="Courier New" panose="02070309020205020404" pitchFamily="49" charset="0"/>
                <a:ea typeface="Verdana" panose="020B0604030504040204" pitchFamily="34" charset="0"/>
                <a:cs typeface="Courier New" panose="02070309020205020404" pitchFamily="49" charset="0"/>
              </a:rPr>
              <a:t>pp</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("value of p: %d\n",*p);</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("value of </a:t>
            </a:r>
            <a:r>
              <a:rPr lang="en-US" sz="2400" b="1" dirty="0" err="1">
                <a:latin typeface="Courier New" panose="02070309020205020404" pitchFamily="49" charset="0"/>
                <a:ea typeface="Verdana" panose="020B0604030504040204" pitchFamily="34" charset="0"/>
                <a:cs typeface="Courier New" panose="02070309020205020404" pitchFamily="49" charset="0"/>
              </a:rPr>
              <a:t>pp</a:t>
            </a:r>
            <a:r>
              <a:rPr lang="en-US" sz="2400" b="1" dirty="0">
                <a:latin typeface="Courier New" panose="02070309020205020404" pitchFamily="49" charset="0"/>
                <a:ea typeface="Verdana" panose="020B0604030504040204" pitchFamily="34" charset="0"/>
                <a:cs typeface="Courier New" panose="02070309020205020404" pitchFamily="49" charset="0"/>
              </a:rPr>
              <a:t>: %d\n",**</a:t>
            </a:r>
            <a:r>
              <a:rPr lang="en-US" sz="2400" b="1" dirty="0" err="1">
                <a:latin typeface="Courier New" panose="02070309020205020404" pitchFamily="49" charset="0"/>
                <a:ea typeface="Verdana" panose="020B0604030504040204" pitchFamily="34" charset="0"/>
                <a:cs typeface="Courier New" panose="02070309020205020404" pitchFamily="49" charset="0"/>
              </a:rPr>
              <a:t>pp</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a:latin typeface="Courier New" panose="02070309020205020404" pitchFamily="49" charset="0"/>
                <a:ea typeface="Verdana" panose="020B0604030504040204" pitchFamily="34" charset="0"/>
                <a:cs typeface="Courier New" panose="02070309020205020404" pitchFamily="49" charset="0"/>
              </a:rPr>
              <a:t>return 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08611" y="534569"/>
            <a:ext cx="223983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
        <p:nvSpPr>
          <p:cNvPr id="6" name="TextBox 5"/>
          <p:cNvSpPr txBox="1"/>
          <p:nvPr/>
        </p:nvSpPr>
        <p:spPr>
          <a:xfrm>
            <a:off x="8131126" y="1077706"/>
            <a:ext cx="3679070" cy="3046988"/>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Address of a: 10234</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Address of p: 20345</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Value of p: 10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Value of </a:t>
            </a:r>
            <a:r>
              <a:rPr lang="en-US" sz="2400" b="1" dirty="0" err="1">
                <a:latin typeface="Courier New" panose="02070309020205020404" pitchFamily="49" charset="0"/>
                <a:ea typeface="Verdana" panose="020B0604030504040204" pitchFamily="34" charset="0"/>
                <a:cs typeface="Courier New" panose="02070309020205020404" pitchFamily="49" charset="0"/>
              </a:rPr>
              <a:t>pp</a:t>
            </a:r>
            <a:r>
              <a:rPr lang="en-US" sz="2400" b="1" dirty="0">
                <a:latin typeface="Courier New" panose="02070309020205020404" pitchFamily="49" charset="0"/>
                <a:ea typeface="Verdana" panose="020B0604030504040204" pitchFamily="34" charset="0"/>
                <a:cs typeface="Courier New" panose="02070309020205020404" pitchFamily="49" charset="0"/>
              </a:rPr>
              <a:t>: 10</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338613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3018455"/>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As we know that we can create a pointer of any data type such as </a:t>
            </a:r>
            <a:r>
              <a:rPr lang="en-US" sz="2400" dirty="0" err="1">
                <a:latin typeface="Verdana" panose="020B0604030504040204" pitchFamily="34" charset="0"/>
                <a:ea typeface="Verdana" panose="020B0604030504040204" pitchFamily="34" charset="0"/>
              </a:rPr>
              <a:t>int</a:t>
            </a:r>
            <a:r>
              <a:rPr lang="en-US" sz="2400" dirty="0">
                <a:latin typeface="Verdana" panose="020B0604030504040204" pitchFamily="34" charset="0"/>
                <a:ea typeface="Verdana" panose="020B0604030504040204" pitchFamily="34" charset="0"/>
              </a:rPr>
              <a:t>, char, float, we can also create a pointer pointing to a function. The code of a function always resides in memory, which means that the function has some address. We can get the address of memory by using the function pointer.</a:t>
            </a:r>
            <a:endParaRPr lang="en-US" sz="2100" dirty="0">
              <a:latin typeface="Verdana" panose="020B0604030504040204" pitchFamily="34" charset="0"/>
              <a:ea typeface="Verdana" panose="020B0604030504040204" pitchFamily="34" charset="0"/>
            </a:endParaRP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08611" y="534569"/>
            <a:ext cx="2999487"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Function Pointer</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891696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3877985"/>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endParaRPr lang="en-US" sz="1000" dirty="0">
              <a:latin typeface="Verdana" panose="020B0604030504040204" pitchFamily="34" charset="0"/>
              <a:ea typeface="Verdana" panose="020B0604030504040204" pitchFamily="34" charset="0"/>
            </a:endParaRPr>
          </a:p>
          <a:p>
            <a:pPr>
              <a:lnSpc>
                <a:spcPct val="150000"/>
              </a:lnSpc>
            </a:pPr>
            <a:r>
              <a:rPr lang="en-US" sz="2400" b="1" dirty="0">
                <a:latin typeface="Courier New" panose="02070309020205020404" pitchFamily="49" charset="0"/>
                <a:cs typeface="Courier New" panose="02070309020205020404" pitchFamily="49" charset="0"/>
              </a:rPr>
              <a:t>#include &lt;</a:t>
            </a:r>
            <a:r>
              <a:rPr lang="en-US" sz="2400" b="1" dirty="0" err="1">
                <a:latin typeface="Courier New" panose="02070309020205020404" pitchFamily="49" charset="0"/>
                <a:cs typeface="Courier New" panose="02070309020205020404" pitchFamily="49" charset="0"/>
              </a:rPr>
              <a:t>stdio.h</a:t>
            </a:r>
            <a:r>
              <a:rPr lang="en-US" sz="2400" b="1" dirty="0">
                <a:latin typeface="Courier New" panose="02070309020205020404" pitchFamily="49" charset="0"/>
                <a:cs typeface="Courier New" panose="02070309020205020404" pitchFamily="49" charset="0"/>
              </a:rPr>
              <a:t>&gt;  </a:t>
            </a:r>
          </a:p>
          <a:p>
            <a:pPr>
              <a:lnSpc>
                <a:spcPct val="150000"/>
              </a:lnSpc>
            </a:pPr>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main()  </a:t>
            </a:r>
          </a:p>
          <a:p>
            <a:pPr>
              <a:lnSpc>
                <a:spcPct val="150000"/>
              </a:lnSpc>
            </a:pPr>
            <a:r>
              <a:rPr lang="en-US" sz="2400" b="1" dirty="0">
                <a:latin typeface="Courier New" panose="02070309020205020404" pitchFamily="49" charset="0"/>
                <a:cs typeface="Courier New" panose="02070309020205020404" pitchFamily="49" charset="0"/>
              </a:rPr>
              <a:t>{  </a:t>
            </a:r>
          </a:p>
          <a:p>
            <a:pPr>
              <a:lnSpc>
                <a:spcPct val="150000"/>
              </a:lnSpc>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("Address of main() function is %</a:t>
            </a:r>
            <a:r>
              <a:rPr lang="en-US" sz="2400" b="1" dirty="0" err="1">
                <a:latin typeface="Courier New" panose="02070309020205020404" pitchFamily="49" charset="0"/>
                <a:cs typeface="Courier New" panose="02070309020205020404" pitchFamily="49" charset="0"/>
              </a:rPr>
              <a:t>p",main</a:t>
            </a:r>
            <a:r>
              <a:rPr lang="en-US" sz="2400" b="1" dirty="0">
                <a:latin typeface="Courier New" panose="02070309020205020404" pitchFamily="49" charset="0"/>
                <a:cs typeface="Courier New" panose="02070309020205020404" pitchFamily="49" charset="0"/>
              </a:rPr>
              <a:t>);  </a:t>
            </a:r>
          </a:p>
          <a:p>
            <a:pPr>
              <a:lnSpc>
                <a:spcPct val="150000"/>
              </a:lnSpc>
            </a:pPr>
            <a:r>
              <a:rPr lang="en-US" sz="2400" b="1" dirty="0">
                <a:latin typeface="Courier New" panose="02070309020205020404" pitchFamily="49" charset="0"/>
                <a:cs typeface="Courier New" panose="02070309020205020404" pitchFamily="49" charset="0"/>
              </a:rPr>
              <a:t>    return 0;  </a:t>
            </a:r>
          </a:p>
          <a:p>
            <a:pPr>
              <a:lnSpc>
                <a:spcPct val="150000"/>
              </a:lnSpc>
            </a:pPr>
            <a:r>
              <a:rPr lang="en-US" sz="2400" b="1" dirty="0">
                <a:latin typeface="Courier New" panose="02070309020205020404" pitchFamily="49" charset="0"/>
                <a:cs typeface="Courier New" panose="02070309020205020404" pitchFamily="49" charset="0"/>
              </a:rPr>
              <a:t>} </a:t>
            </a:r>
          </a:p>
        </p:txBody>
      </p:sp>
      <p:sp>
        <p:nvSpPr>
          <p:cNvPr id="4" name="Rectangle 3"/>
          <p:cNvSpPr/>
          <p:nvPr/>
        </p:nvSpPr>
        <p:spPr>
          <a:xfrm>
            <a:off x="-1" y="520503"/>
            <a:ext cx="1997613"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08611" y="534569"/>
            <a:ext cx="2774404"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Simple Example</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0363211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3323987"/>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endParaRPr lang="en-US" sz="2400" b="1" dirty="0">
              <a:latin typeface="Verdana" panose="020B0604030504040204" pitchFamily="34" charset="0"/>
              <a:ea typeface="Verdana" panose="020B0604030504040204" pitchFamily="34" charset="0"/>
            </a:endParaRPr>
          </a:p>
          <a:p>
            <a:pPr algn="just">
              <a:lnSpc>
                <a:spcPct val="150000"/>
              </a:lnSpc>
            </a:pPr>
            <a:r>
              <a:rPr lang="en-US" sz="2400" b="1" dirty="0" err="1">
                <a:latin typeface="Verdana" panose="020B0604030504040204" pitchFamily="34" charset="0"/>
                <a:ea typeface="Verdana" panose="020B0604030504040204" pitchFamily="34" charset="0"/>
              </a:rPr>
              <a:t>return_type</a:t>
            </a:r>
            <a:r>
              <a:rPr lang="en-US" sz="2400" b="1" dirty="0">
                <a:latin typeface="Verdana" panose="020B0604030504040204" pitchFamily="34" charset="0"/>
                <a:ea typeface="Verdana" panose="020B0604030504040204" pitchFamily="34" charset="0"/>
              </a:rPr>
              <a:t> (*</a:t>
            </a:r>
            <a:r>
              <a:rPr lang="en-US" sz="2400" b="1" dirty="0" err="1">
                <a:latin typeface="Verdana" panose="020B0604030504040204" pitchFamily="34" charset="0"/>
                <a:ea typeface="Verdana" panose="020B0604030504040204" pitchFamily="34" charset="0"/>
              </a:rPr>
              <a:t>pointer_name</a:t>
            </a:r>
            <a:r>
              <a:rPr lang="en-US" sz="2400" b="1" dirty="0">
                <a:latin typeface="Verdana" panose="020B0604030504040204" pitchFamily="34" charset="0"/>
                <a:ea typeface="Verdana" panose="020B0604030504040204" pitchFamily="34" charset="0"/>
              </a:rPr>
              <a:t>)(type1, type2);</a:t>
            </a:r>
          </a:p>
          <a:p>
            <a:pPr algn="just">
              <a:lnSpc>
                <a:spcPct val="150000"/>
              </a:lnSpc>
            </a:pPr>
            <a:endParaRPr lang="en-US" sz="2400" b="1" dirty="0">
              <a:latin typeface="Verdana" panose="020B0604030504040204" pitchFamily="34" charset="0"/>
              <a:ea typeface="Verdana" panose="020B0604030504040204" pitchFamily="34" charset="0"/>
            </a:endParaRPr>
          </a:p>
          <a:p>
            <a:pPr algn="just">
              <a:lnSpc>
                <a:spcPct val="150000"/>
              </a:lnSpc>
            </a:pPr>
            <a:endParaRPr lang="en-US" sz="2400" b="1" dirty="0">
              <a:latin typeface="Verdana" panose="020B0604030504040204" pitchFamily="34" charset="0"/>
              <a:ea typeface="Verdana" panose="020B0604030504040204" pitchFamily="34" charset="0"/>
            </a:endParaRPr>
          </a:p>
          <a:p>
            <a:pPr algn="just">
              <a:lnSpc>
                <a:spcPct val="150000"/>
              </a:lnSpc>
            </a:pPr>
            <a:r>
              <a:rPr lang="en-US" sz="2400" b="1" dirty="0">
                <a:latin typeface="Verdana" panose="020B0604030504040204" pitchFamily="34" charset="0"/>
                <a:ea typeface="Verdana" panose="020B0604030504040204" pitchFamily="34" charset="0"/>
              </a:rPr>
              <a:t>	Example:		</a:t>
            </a:r>
            <a:r>
              <a:rPr lang="en-US" sz="2400" b="1" dirty="0" err="1">
                <a:latin typeface="Verdana" panose="020B0604030504040204" pitchFamily="34" charset="0"/>
                <a:ea typeface="Verdana" panose="020B0604030504040204" pitchFamily="34" charset="0"/>
              </a:rPr>
              <a:t>int</a:t>
            </a:r>
            <a:r>
              <a:rPr lang="en-US" sz="2400" b="1" dirty="0">
                <a:latin typeface="Verdana" panose="020B0604030504040204" pitchFamily="34" charset="0"/>
                <a:ea typeface="Verdana" panose="020B0604030504040204" pitchFamily="34" charset="0"/>
              </a:rPr>
              <a:t> (*</a:t>
            </a:r>
            <a:r>
              <a:rPr lang="en-US" sz="2400" b="1" dirty="0" err="1">
                <a:latin typeface="Verdana" panose="020B0604030504040204" pitchFamily="34" charset="0"/>
                <a:ea typeface="Verdana" panose="020B0604030504040204" pitchFamily="34" charset="0"/>
              </a:rPr>
              <a:t>fptr</a:t>
            </a:r>
            <a:r>
              <a:rPr lang="en-US" sz="2400" b="1" dirty="0">
                <a:latin typeface="Verdana" panose="020B0604030504040204" pitchFamily="34" charset="0"/>
                <a:ea typeface="Verdana" panose="020B0604030504040204" pitchFamily="34" charset="0"/>
              </a:rPr>
              <a:t>) (</a:t>
            </a:r>
            <a:r>
              <a:rPr lang="en-US" sz="2400" b="1" dirty="0" err="1">
                <a:latin typeface="Verdana" panose="020B0604030504040204" pitchFamily="34" charset="0"/>
                <a:ea typeface="Verdana" panose="020B0604030504040204" pitchFamily="34" charset="0"/>
              </a:rPr>
              <a:t>int</a:t>
            </a:r>
            <a:r>
              <a:rPr lang="en-US" sz="2400" b="1" dirty="0">
                <a:latin typeface="Verdana" panose="020B0604030504040204" pitchFamily="34" charset="0"/>
                <a:ea typeface="Verdana" panose="020B0604030504040204" pitchFamily="34" charset="0"/>
              </a:rPr>
              <a:t>);</a:t>
            </a:r>
          </a:p>
        </p:txBody>
      </p:sp>
      <p:sp>
        <p:nvSpPr>
          <p:cNvPr id="4" name="Rectangle 3"/>
          <p:cNvSpPr/>
          <p:nvPr/>
        </p:nvSpPr>
        <p:spPr>
          <a:xfrm>
            <a:off x="-1" y="520503"/>
            <a:ext cx="3559127"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Function 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570125" y="534569"/>
            <a:ext cx="223983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Syntax</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955756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385816"/>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void fun(</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("Value of a is %d\n", a);</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void (*</a:t>
            </a:r>
            <a:r>
              <a:rPr lang="en-US" sz="2400" b="1" dirty="0" err="1">
                <a:latin typeface="Courier New" panose="02070309020205020404" pitchFamily="49" charset="0"/>
                <a:ea typeface="Verdana" panose="020B0604030504040204" pitchFamily="34" charset="0"/>
                <a:cs typeface="Courier New" panose="02070309020205020404" pitchFamily="49" charset="0"/>
              </a:rPr>
              <a:t>fun_ptr</a:t>
            </a:r>
            <a:r>
              <a:rPr lang="en-US" sz="2400" b="1" dirty="0">
                <a:latin typeface="Courier New" panose="02070309020205020404" pitchFamily="49" charset="0"/>
                <a:ea typeface="Verdana" panose="020B0604030504040204" pitchFamily="34" charset="0"/>
                <a:cs typeface="Courier New" panose="02070309020205020404" pitchFamily="49" charset="0"/>
              </a:rPr>
              <a:t>)(</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 &amp;fun;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fun_ptr</a:t>
            </a:r>
            <a:r>
              <a:rPr lang="en-US" sz="2400" b="1" dirty="0">
                <a:latin typeface="Courier New" panose="02070309020205020404" pitchFamily="49" charset="0"/>
                <a:ea typeface="Verdana" panose="020B0604030504040204" pitchFamily="34" charset="0"/>
                <a:cs typeface="Courier New" panose="02070309020205020404" pitchFamily="49" charset="0"/>
              </a:rPr>
              <a:t>)(10);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return 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1" y="520503"/>
            <a:ext cx="3559127"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Function 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570125" y="534569"/>
            <a:ext cx="223983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731297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385816"/>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void fun(</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("Value of a is %d\n", a);</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void (*</a:t>
            </a:r>
            <a:r>
              <a:rPr lang="en-US" sz="2400" b="1" dirty="0" err="1">
                <a:latin typeface="Courier New" panose="02070309020205020404" pitchFamily="49" charset="0"/>
                <a:ea typeface="Verdana" panose="020B0604030504040204" pitchFamily="34" charset="0"/>
                <a:cs typeface="Courier New" panose="02070309020205020404" pitchFamily="49" charset="0"/>
              </a:rPr>
              <a:t>fun_ptr</a:t>
            </a:r>
            <a:r>
              <a:rPr lang="en-US" sz="2400" b="1" dirty="0">
                <a:latin typeface="Courier New" panose="02070309020205020404" pitchFamily="49" charset="0"/>
                <a:ea typeface="Verdana" panose="020B0604030504040204" pitchFamily="34" charset="0"/>
                <a:cs typeface="Courier New" panose="02070309020205020404" pitchFamily="49" charset="0"/>
              </a:rPr>
              <a:t>)(</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 &amp;fun;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fun_ptr</a:t>
            </a:r>
            <a:r>
              <a:rPr lang="en-US" sz="2400" b="1" dirty="0">
                <a:latin typeface="Courier New" panose="02070309020205020404" pitchFamily="49" charset="0"/>
                <a:ea typeface="Verdana" panose="020B0604030504040204" pitchFamily="34" charset="0"/>
                <a:cs typeface="Courier New" panose="02070309020205020404" pitchFamily="49" charset="0"/>
              </a:rPr>
              <a:t>)(10);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return 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1" y="520503"/>
            <a:ext cx="3559127"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Function Pointer</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570125" y="534569"/>
            <a:ext cx="223983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prstClr val="black"/>
                </a:solidFill>
                <a:latin typeface="Verdana" panose="020B0604030504040204" pitchFamily="34" charset="0"/>
                <a:ea typeface="Verdana" panose="020B0604030504040204" pitchFamily="34" charset="0"/>
              </a:rPr>
              <a:t>Example - 2</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242871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138288" y="2881313"/>
            <a:ext cx="8229599" cy="787791"/>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4900" b="1" dirty="0">
                <a:solidFill>
                  <a:schemeClr val="bg1"/>
                </a:solidFill>
                <a:latin typeface="Lucida Handwriting" panose="03010101010101010101" pitchFamily="66" charset="0"/>
              </a:rPr>
              <a:t>QUIZ</a:t>
            </a:r>
            <a:endParaRPr lang="en-IN" sz="4900" dirty="0"/>
          </a:p>
        </p:txBody>
      </p:sp>
    </p:spTree>
    <p:extLst>
      <p:ext uri="{BB962C8B-B14F-4D97-AF65-F5344CB8AC3E}">
        <p14:creationId xmlns:p14="http://schemas.microsoft.com/office/powerpoint/2010/main" val="12916523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560"/>
            <a:ext cx="6680230" cy="5047536"/>
          </a:xfrm>
          <a:prstGeom prst="rect">
            <a:avLst/>
          </a:prstGeom>
          <a:noFill/>
        </p:spPr>
        <p:txBody>
          <a:bodyPr wrap="square" rtlCol="0">
            <a:spAutoFit/>
          </a:bodyPr>
          <a:lstStyle/>
          <a:p>
            <a:pPr algn="just"/>
            <a:endParaRPr lang="en-US" sz="1000" b="1"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cs typeface="Courier New" panose="02070309020205020404" pitchFamily="49" charset="0"/>
              </a:rPr>
              <a:t># include &lt;</a:t>
            </a:r>
            <a:r>
              <a:rPr lang="en-US" sz="2400" b="1" dirty="0" err="1">
                <a:latin typeface="Courier New" panose="02070309020205020404" pitchFamily="49" charset="0"/>
                <a:cs typeface="Courier New" panose="02070309020205020404" pitchFamily="49" charset="0"/>
              </a:rPr>
              <a:t>stdio.h</a:t>
            </a:r>
            <a:r>
              <a:rPr lang="en-US" sz="2400" b="1" dirty="0">
                <a:latin typeface="Courier New" panose="02070309020205020404" pitchFamily="49" charset="0"/>
                <a:cs typeface="Courier New" panose="02070309020205020404" pitchFamily="49" charset="0"/>
              </a:rPr>
              <a:t>&gt;</a:t>
            </a:r>
          </a:p>
          <a:p>
            <a:r>
              <a:rPr lang="en-US" sz="2400" b="1" dirty="0">
                <a:latin typeface="Courier New" panose="02070309020205020404" pitchFamily="49" charset="0"/>
                <a:cs typeface="Courier New" panose="02070309020205020404" pitchFamily="49" charset="0"/>
              </a:rPr>
              <a:t>void fun(</a:t>
            </a:r>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x)</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x = 30;</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a:t>
            </a:r>
          </a:p>
          <a:p>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main()</a:t>
            </a:r>
          </a:p>
          <a:p>
            <a:r>
              <a:rPr lang="en-US" sz="2400" b="1" dirty="0">
                <a:latin typeface="Courier New" panose="02070309020205020404" pitchFamily="49" charset="0"/>
                <a:cs typeface="Courier New" panose="02070309020205020404" pitchFamily="49" charset="0"/>
              </a:rPr>
              <a:t>{</a:t>
            </a:r>
          </a:p>
          <a:p>
            <a:pPr lvl="1"/>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y = 20;</a:t>
            </a:r>
          </a:p>
          <a:p>
            <a:pPr lvl="1"/>
            <a:r>
              <a:rPr lang="en-US" sz="2400" b="1" dirty="0">
                <a:latin typeface="Courier New" panose="02070309020205020404" pitchFamily="49" charset="0"/>
                <a:cs typeface="Courier New" panose="02070309020205020404" pitchFamily="49" charset="0"/>
              </a:rPr>
              <a:t>fun(y);</a:t>
            </a:r>
          </a:p>
          <a:p>
            <a:pPr lvl="1"/>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("%d", y);</a:t>
            </a:r>
          </a:p>
          <a:p>
            <a:pPr lvl="1"/>
            <a:r>
              <a:rPr lang="en-US" sz="2400" b="1" dirty="0">
                <a:latin typeface="Courier New" panose="02070309020205020404" pitchFamily="49" charset="0"/>
                <a:cs typeface="Courier New" panose="02070309020205020404" pitchFamily="49" charset="0"/>
              </a:rPr>
              <a:t>return 0;</a:t>
            </a:r>
          </a:p>
          <a:p>
            <a:r>
              <a:rPr lang="en-US" sz="2400" b="1" dirty="0">
                <a:latin typeface="Courier New" panose="02070309020205020404" pitchFamily="49" charset="0"/>
                <a:cs typeface="Courier New" panose="02070309020205020404" pitchFamily="49" charset="0"/>
              </a:rPr>
              <a:t>}</a:t>
            </a:r>
          </a:p>
        </p:txBody>
      </p:sp>
      <p:sp>
        <p:nvSpPr>
          <p:cNvPr id="4" name="Rectangle 3"/>
          <p:cNvSpPr/>
          <p:nvPr/>
        </p:nvSpPr>
        <p:spPr>
          <a:xfrm>
            <a:off x="-1" y="520503"/>
            <a:ext cx="2264899"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Quiz - 1</a:t>
            </a:r>
            <a:endParaRPr lang="en-IN" sz="2400" b="1" dirty="0">
              <a:solidFill>
                <a:prstClr val="white"/>
              </a:solidFill>
              <a:latin typeface="Verdana" panose="020B0604030504040204" pitchFamily="34" charset="0"/>
              <a:ea typeface="Verdana" panose="020B0604030504040204" pitchFamily="34" charset="0"/>
            </a:endParaRPr>
          </a:p>
        </p:txBody>
      </p:sp>
      <p:sp>
        <p:nvSpPr>
          <p:cNvPr id="8" name="TextBox 7"/>
          <p:cNvSpPr txBox="1"/>
          <p:nvPr/>
        </p:nvSpPr>
        <p:spPr>
          <a:xfrm>
            <a:off x="8764172" y="6189785"/>
            <a:ext cx="3017889" cy="369332"/>
          </a:xfrm>
          <a:prstGeom prst="rect">
            <a:avLst/>
          </a:prstGeom>
          <a:noFill/>
        </p:spPr>
        <p:txBody>
          <a:bodyPr wrap="square" rtlCol="0">
            <a:spAutoFit/>
          </a:bodyPr>
          <a:lstStyle/>
          <a:p>
            <a:r>
              <a:rPr lang="en-US" b="1" dirty="0">
                <a:latin typeface="Verdana" panose="020B0604030504040204" pitchFamily="34" charset="0"/>
                <a:ea typeface="Verdana" panose="020B0604030504040204" pitchFamily="34" charset="0"/>
                <a:cs typeface="Courier New" panose="02070309020205020404" pitchFamily="49" charset="0"/>
                <a:hlinkClick r:id="rId3" action="ppaction://hlinkfile"/>
              </a:rPr>
              <a:t>Click here to see code</a:t>
            </a:r>
            <a:endParaRPr lang="en-IN" b="1" dirty="0">
              <a:latin typeface="Verdana" panose="020B0604030504040204" pitchFamily="34" charset="0"/>
              <a:ea typeface="Verdana" panose="020B0604030504040204" pitchFamily="34" charset="0"/>
              <a:cs typeface="Courier New" panose="02070309020205020404" pitchFamily="49" charset="0"/>
            </a:endParaRPr>
          </a:p>
        </p:txBody>
      </p:sp>
      <p:sp>
        <p:nvSpPr>
          <p:cNvPr id="5" name="TextBox 4"/>
          <p:cNvSpPr txBox="1"/>
          <p:nvPr/>
        </p:nvSpPr>
        <p:spPr>
          <a:xfrm>
            <a:off x="8764172" y="1048522"/>
            <a:ext cx="3046024" cy="1938992"/>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20</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3347985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560"/>
            <a:ext cx="6680230" cy="4678204"/>
          </a:xfrm>
          <a:prstGeom prst="rect">
            <a:avLst/>
          </a:prstGeom>
          <a:noFill/>
        </p:spPr>
        <p:txBody>
          <a:bodyPr wrap="square" rtlCol="0">
            <a:spAutoFit/>
          </a:bodyPr>
          <a:lstStyle/>
          <a:p>
            <a:pPr algn="just"/>
            <a:endParaRPr lang="en-US" sz="1000" b="1"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cs typeface="Courier New" panose="02070309020205020404" pitchFamily="49" charset="0"/>
              </a:rPr>
              <a:t>#include &lt;</a:t>
            </a:r>
            <a:r>
              <a:rPr lang="en-US" sz="2400" b="1" dirty="0" err="1">
                <a:latin typeface="Courier New" panose="02070309020205020404" pitchFamily="49" charset="0"/>
                <a:cs typeface="Courier New" panose="02070309020205020404" pitchFamily="49" charset="0"/>
              </a:rPr>
              <a:t>stdio.h</a:t>
            </a:r>
            <a:r>
              <a:rPr lang="en-US" sz="2400" b="1" dirty="0">
                <a:latin typeface="Courier New" panose="02070309020205020404" pitchFamily="49" charset="0"/>
                <a:cs typeface="Courier New" panose="02070309020205020404" pitchFamily="49" charset="0"/>
              </a:rPr>
              <a:t>&gt;</a:t>
            </a:r>
          </a:p>
          <a:p>
            <a:r>
              <a:rPr lang="en-US" sz="2400" b="1" dirty="0">
                <a:latin typeface="Courier New" panose="02070309020205020404" pitchFamily="49" charset="0"/>
                <a:cs typeface="Courier New" panose="02070309020205020404" pitchFamily="49" charset="0"/>
              </a:rPr>
              <a:t>void fun(</a:t>
            </a:r>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ptr</a:t>
            </a:r>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a:t>
            </a:r>
          </a:p>
          <a:p>
            <a:pPr lvl="1"/>
            <a:r>
              <a:rPr lang="en-US" sz="2400" b="1" dirty="0">
                <a:latin typeface="Courier New" panose="02070309020205020404" pitchFamily="49" charset="0"/>
                <a:cs typeface="Courier New" panose="02070309020205020404" pitchFamily="49" charset="0"/>
              </a:rPr>
              <a:t>*</a:t>
            </a:r>
            <a:r>
              <a:rPr lang="en-US" sz="2400" b="1" dirty="0" err="1">
                <a:latin typeface="Courier New" panose="02070309020205020404" pitchFamily="49" charset="0"/>
                <a:cs typeface="Courier New" panose="02070309020205020404" pitchFamily="49" charset="0"/>
              </a:rPr>
              <a:t>ptr</a:t>
            </a:r>
            <a:r>
              <a:rPr lang="en-US" sz="2400" b="1" dirty="0">
                <a:latin typeface="Courier New" panose="02070309020205020404" pitchFamily="49" charset="0"/>
                <a:cs typeface="Courier New" panose="02070309020205020404" pitchFamily="49" charset="0"/>
              </a:rPr>
              <a:t> = 30;</a:t>
            </a:r>
          </a:p>
          <a:p>
            <a:r>
              <a:rPr lang="en-US" sz="2400" b="1" dirty="0">
                <a:latin typeface="Courier New" panose="02070309020205020404" pitchFamily="49" charset="0"/>
                <a:cs typeface="Courier New" panose="02070309020205020404" pitchFamily="49" charset="0"/>
              </a:rPr>
              <a:t>}</a:t>
            </a:r>
          </a:p>
          <a:p>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main()</a:t>
            </a:r>
          </a:p>
          <a:p>
            <a:r>
              <a:rPr lang="en-US" sz="2400" b="1" dirty="0">
                <a:latin typeface="Courier New" panose="02070309020205020404" pitchFamily="49" charset="0"/>
                <a:cs typeface="Courier New" panose="02070309020205020404" pitchFamily="49" charset="0"/>
              </a:rPr>
              <a:t>{</a:t>
            </a:r>
          </a:p>
          <a:p>
            <a:pPr lvl="1"/>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y = 20;</a:t>
            </a:r>
          </a:p>
          <a:p>
            <a:pPr lvl="1"/>
            <a:r>
              <a:rPr lang="en-US" sz="2400" b="1" dirty="0">
                <a:latin typeface="Courier New" panose="02070309020205020404" pitchFamily="49" charset="0"/>
                <a:cs typeface="Courier New" panose="02070309020205020404" pitchFamily="49" charset="0"/>
              </a:rPr>
              <a:t>fun(&amp;y);</a:t>
            </a:r>
          </a:p>
          <a:p>
            <a:pPr lvl="1"/>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("%d", y);</a:t>
            </a:r>
          </a:p>
          <a:p>
            <a:pPr lvl="1"/>
            <a:r>
              <a:rPr lang="en-US" sz="2400" b="1" dirty="0">
                <a:latin typeface="Courier New" panose="02070309020205020404" pitchFamily="49" charset="0"/>
                <a:cs typeface="Courier New" panose="02070309020205020404" pitchFamily="49" charset="0"/>
              </a:rPr>
              <a:t>return 0;</a:t>
            </a:r>
          </a:p>
          <a:p>
            <a:r>
              <a:rPr lang="en-US" sz="2400" b="1" dirty="0">
                <a:latin typeface="Courier New" panose="02070309020205020404" pitchFamily="49" charset="0"/>
                <a:cs typeface="Courier New" panose="02070309020205020404" pitchFamily="49" charset="0"/>
              </a:rPr>
              <a:t>}</a:t>
            </a:r>
          </a:p>
        </p:txBody>
      </p:sp>
      <p:sp>
        <p:nvSpPr>
          <p:cNvPr id="4" name="Rectangle 3"/>
          <p:cNvSpPr/>
          <p:nvPr/>
        </p:nvSpPr>
        <p:spPr>
          <a:xfrm>
            <a:off x="-1" y="520503"/>
            <a:ext cx="2264899"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Quiz - 2</a:t>
            </a:r>
            <a:endParaRPr lang="en-IN" sz="2400" b="1" dirty="0">
              <a:solidFill>
                <a:prstClr val="white"/>
              </a:solidFill>
              <a:latin typeface="Verdana" panose="020B0604030504040204" pitchFamily="34" charset="0"/>
              <a:ea typeface="Verdana" panose="020B0604030504040204" pitchFamily="34" charset="0"/>
            </a:endParaRPr>
          </a:p>
        </p:txBody>
      </p:sp>
      <p:sp>
        <p:nvSpPr>
          <p:cNvPr id="8" name="TextBox 7"/>
          <p:cNvSpPr txBox="1"/>
          <p:nvPr/>
        </p:nvSpPr>
        <p:spPr>
          <a:xfrm>
            <a:off x="8764172" y="6189785"/>
            <a:ext cx="3017889" cy="369332"/>
          </a:xfrm>
          <a:prstGeom prst="rect">
            <a:avLst/>
          </a:prstGeom>
          <a:noFill/>
        </p:spPr>
        <p:txBody>
          <a:bodyPr wrap="square" rtlCol="0">
            <a:spAutoFit/>
          </a:bodyPr>
          <a:lstStyle/>
          <a:p>
            <a:r>
              <a:rPr lang="en-US" b="1" dirty="0">
                <a:latin typeface="Verdana" panose="020B0604030504040204" pitchFamily="34" charset="0"/>
                <a:ea typeface="Verdana" panose="020B0604030504040204" pitchFamily="34" charset="0"/>
                <a:cs typeface="Courier New" panose="02070309020205020404" pitchFamily="49" charset="0"/>
                <a:hlinkClick r:id="rId3" action="ppaction://hlinkfile"/>
              </a:rPr>
              <a:t>Click here to see code</a:t>
            </a:r>
            <a:endParaRPr lang="en-IN" b="1" dirty="0">
              <a:latin typeface="Verdana" panose="020B0604030504040204" pitchFamily="34" charset="0"/>
              <a:ea typeface="Verdana" panose="020B0604030504040204" pitchFamily="34" charset="0"/>
              <a:cs typeface="Courier New" panose="02070309020205020404" pitchFamily="49" charset="0"/>
            </a:endParaRPr>
          </a:p>
        </p:txBody>
      </p:sp>
      <p:sp>
        <p:nvSpPr>
          <p:cNvPr id="5" name="TextBox 4"/>
          <p:cNvSpPr txBox="1"/>
          <p:nvPr/>
        </p:nvSpPr>
        <p:spPr>
          <a:xfrm>
            <a:off x="8764172" y="1048522"/>
            <a:ext cx="3046024" cy="1938992"/>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30</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384539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560"/>
            <a:ext cx="6680230" cy="4678204"/>
          </a:xfrm>
          <a:prstGeom prst="rect">
            <a:avLst/>
          </a:prstGeom>
          <a:noFill/>
        </p:spPr>
        <p:txBody>
          <a:bodyPr wrap="square" rtlCol="0">
            <a:spAutoFit/>
          </a:bodyPr>
          <a:lstStyle/>
          <a:p>
            <a:pPr algn="just"/>
            <a:endParaRPr lang="en-US" sz="1000" b="1"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cs typeface="Courier New" panose="02070309020205020404" pitchFamily="49" charset="0"/>
              </a:rPr>
              <a:t>#include &lt;</a:t>
            </a:r>
            <a:r>
              <a:rPr lang="en-US" sz="2400" b="1" dirty="0" err="1">
                <a:latin typeface="Courier New" panose="02070309020205020404" pitchFamily="49" charset="0"/>
                <a:cs typeface="Courier New" panose="02070309020205020404" pitchFamily="49" charset="0"/>
              </a:rPr>
              <a:t>stdio.h</a:t>
            </a:r>
            <a:r>
              <a:rPr lang="en-US" sz="2400" b="1" dirty="0">
                <a:latin typeface="Courier New" panose="02070309020205020404" pitchFamily="49" charset="0"/>
                <a:cs typeface="Courier New" panose="02070309020205020404" pitchFamily="49" charset="0"/>
              </a:rPr>
              <a:t>&gt;</a:t>
            </a:r>
          </a:p>
          <a:p>
            <a:r>
              <a:rPr lang="en-US" sz="2400" b="1" dirty="0">
                <a:latin typeface="Courier New" panose="02070309020205020404" pitchFamily="49" charset="0"/>
                <a:cs typeface="Courier New" panose="02070309020205020404" pitchFamily="49" charset="0"/>
              </a:rPr>
              <a:t>void fun(</a:t>
            </a:r>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ptr</a:t>
            </a:r>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a:t>
            </a:r>
          </a:p>
          <a:p>
            <a:pPr lvl="1"/>
            <a:r>
              <a:rPr lang="en-US" sz="2400" b="1" dirty="0">
                <a:latin typeface="Courier New" panose="02070309020205020404" pitchFamily="49" charset="0"/>
                <a:cs typeface="Courier New" panose="02070309020205020404" pitchFamily="49" charset="0"/>
              </a:rPr>
              <a:t>*</a:t>
            </a:r>
            <a:r>
              <a:rPr lang="en-US" sz="2400" b="1" dirty="0" err="1">
                <a:latin typeface="Courier New" panose="02070309020205020404" pitchFamily="49" charset="0"/>
                <a:cs typeface="Courier New" panose="02070309020205020404" pitchFamily="49" charset="0"/>
              </a:rPr>
              <a:t>ptr</a:t>
            </a:r>
            <a:r>
              <a:rPr lang="en-US" sz="2400" b="1" dirty="0">
                <a:latin typeface="Courier New" panose="02070309020205020404" pitchFamily="49" charset="0"/>
                <a:cs typeface="Courier New" panose="02070309020205020404" pitchFamily="49" charset="0"/>
              </a:rPr>
              <a:t> = 30;</a:t>
            </a:r>
          </a:p>
          <a:p>
            <a:r>
              <a:rPr lang="en-US" sz="2400" b="1" dirty="0">
                <a:latin typeface="Courier New" panose="02070309020205020404" pitchFamily="49" charset="0"/>
                <a:cs typeface="Courier New" panose="02070309020205020404" pitchFamily="49" charset="0"/>
              </a:rPr>
              <a:t>}</a:t>
            </a:r>
          </a:p>
          <a:p>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main()</a:t>
            </a:r>
          </a:p>
          <a:p>
            <a:r>
              <a:rPr lang="en-US" sz="2400" b="1" dirty="0">
                <a:latin typeface="Courier New" panose="02070309020205020404" pitchFamily="49" charset="0"/>
                <a:cs typeface="Courier New" panose="02070309020205020404" pitchFamily="49" charset="0"/>
              </a:rPr>
              <a:t>{</a:t>
            </a:r>
          </a:p>
          <a:p>
            <a:pPr lvl="1"/>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y = 20;</a:t>
            </a:r>
          </a:p>
          <a:p>
            <a:pPr lvl="1"/>
            <a:r>
              <a:rPr lang="en-US" sz="2400" b="1" dirty="0">
                <a:latin typeface="Courier New" panose="02070309020205020404" pitchFamily="49" charset="0"/>
                <a:cs typeface="Courier New" panose="02070309020205020404" pitchFamily="49" charset="0"/>
              </a:rPr>
              <a:t>fun(&amp;y);</a:t>
            </a:r>
          </a:p>
          <a:p>
            <a:pPr lvl="1"/>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("%d", y);</a:t>
            </a:r>
          </a:p>
          <a:p>
            <a:pPr lvl="1"/>
            <a:r>
              <a:rPr lang="en-US" sz="2400" b="1" dirty="0">
                <a:latin typeface="Courier New" panose="02070309020205020404" pitchFamily="49" charset="0"/>
                <a:cs typeface="Courier New" panose="02070309020205020404" pitchFamily="49" charset="0"/>
              </a:rPr>
              <a:t>return 0;</a:t>
            </a:r>
          </a:p>
          <a:p>
            <a:r>
              <a:rPr lang="en-US" sz="2400" b="1" dirty="0">
                <a:latin typeface="Courier New" panose="02070309020205020404" pitchFamily="49" charset="0"/>
                <a:cs typeface="Courier New" panose="02070309020205020404" pitchFamily="49" charset="0"/>
              </a:rPr>
              <a:t>}</a:t>
            </a:r>
          </a:p>
        </p:txBody>
      </p:sp>
      <p:sp>
        <p:nvSpPr>
          <p:cNvPr id="4" name="Rectangle 3"/>
          <p:cNvSpPr/>
          <p:nvPr/>
        </p:nvSpPr>
        <p:spPr>
          <a:xfrm>
            <a:off x="-1" y="520503"/>
            <a:ext cx="2264899"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Quiz - 3</a:t>
            </a:r>
            <a:endParaRPr lang="en-IN" sz="2400" b="1" dirty="0">
              <a:solidFill>
                <a:prstClr val="white"/>
              </a:solidFill>
              <a:latin typeface="Verdana" panose="020B0604030504040204" pitchFamily="34" charset="0"/>
              <a:ea typeface="Verdana" panose="020B0604030504040204" pitchFamily="34" charset="0"/>
            </a:endParaRPr>
          </a:p>
        </p:txBody>
      </p:sp>
      <p:sp>
        <p:nvSpPr>
          <p:cNvPr id="8" name="TextBox 7"/>
          <p:cNvSpPr txBox="1"/>
          <p:nvPr/>
        </p:nvSpPr>
        <p:spPr>
          <a:xfrm>
            <a:off x="8764172" y="6189785"/>
            <a:ext cx="3017889" cy="369332"/>
          </a:xfrm>
          <a:prstGeom prst="rect">
            <a:avLst/>
          </a:prstGeom>
          <a:noFill/>
        </p:spPr>
        <p:txBody>
          <a:bodyPr wrap="square" rtlCol="0">
            <a:spAutoFit/>
          </a:bodyPr>
          <a:lstStyle/>
          <a:p>
            <a:r>
              <a:rPr lang="en-US" b="1" dirty="0">
                <a:latin typeface="Verdana" panose="020B0604030504040204" pitchFamily="34" charset="0"/>
                <a:ea typeface="Verdana" panose="020B0604030504040204" pitchFamily="34" charset="0"/>
                <a:cs typeface="Courier New" panose="02070309020205020404" pitchFamily="49" charset="0"/>
                <a:hlinkClick r:id="rId3" action="ppaction://hlinkfile"/>
              </a:rPr>
              <a:t>Click here to see code</a:t>
            </a:r>
            <a:endParaRPr lang="en-IN" b="1" dirty="0">
              <a:latin typeface="Verdana" panose="020B0604030504040204" pitchFamily="34" charset="0"/>
              <a:ea typeface="Verdana" panose="020B0604030504040204" pitchFamily="34" charset="0"/>
              <a:cs typeface="Courier New" panose="02070309020205020404" pitchFamily="49" charset="0"/>
            </a:endParaRPr>
          </a:p>
        </p:txBody>
      </p:sp>
      <p:sp>
        <p:nvSpPr>
          <p:cNvPr id="5" name="TextBox 4"/>
          <p:cNvSpPr txBox="1"/>
          <p:nvPr/>
        </p:nvSpPr>
        <p:spPr>
          <a:xfrm>
            <a:off x="8764172" y="1048522"/>
            <a:ext cx="3046024" cy="1938992"/>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a:latin typeface="Courier New" panose="02070309020205020404" pitchFamily="49" charset="0"/>
                <a:ea typeface="Verdana" panose="020B0604030504040204" pitchFamily="34" charset="0"/>
                <a:cs typeface="Courier New" panose="02070309020205020404" pitchFamily="49" charset="0"/>
              </a:rPr>
              <a:t>OUTPUT</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30</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1598472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025745" y="2881313"/>
            <a:ext cx="8229599" cy="787791"/>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4900" b="1" dirty="0">
                <a:solidFill>
                  <a:schemeClr val="bg1"/>
                </a:solidFill>
                <a:latin typeface="Lucida Handwriting" panose="03010101010101010101" pitchFamily="66" charset="0"/>
              </a:rPr>
              <a:t>Coding Questions</a:t>
            </a:r>
            <a:endParaRPr lang="en-IN" sz="4900" dirty="0"/>
          </a:p>
        </p:txBody>
      </p:sp>
    </p:spTree>
    <p:extLst>
      <p:ext uri="{BB962C8B-B14F-4D97-AF65-F5344CB8AC3E}">
        <p14:creationId xmlns:p14="http://schemas.microsoft.com/office/powerpoint/2010/main" val="22554224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520503"/>
            <a:ext cx="334811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Question - 1</a:t>
            </a:r>
            <a:endParaRPr lang="en-IN" sz="2400" b="1" dirty="0">
              <a:solidFill>
                <a:prstClr val="white"/>
              </a:solidFill>
              <a:latin typeface="Verdana" panose="020B0604030504040204" pitchFamily="34" charset="0"/>
              <a:ea typeface="Verdana" panose="020B0604030504040204" pitchFamily="34" charset="0"/>
            </a:endParaRPr>
          </a:p>
        </p:txBody>
      </p:sp>
      <p:sp>
        <p:nvSpPr>
          <p:cNvPr id="2" name="Right Brace 1"/>
          <p:cNvSpPr/>
          <p:nvPr/>
        </p:nvSpPr>
        <p:spPr>
          <a:xfrm>
            <a:off x="717452" y="-45719"/>
            <a:ext cx="45719" cy="457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8" name="TextBox 7"/>
          <p:cNvSpPr txBox="1"/>
          <p:nvPr/>
        </p:nvSpPr>
        <p:spPr>
          <a:xfrm>
            <a:off x="212939" y="964114"/>
            <a:ext cx="11727270" cy="1431161"/>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Write a program to take two input from the user and store the address of variable into pointer and find the sum of the numbers using pointer.</a:t>
            </a:r>
            <a:endParaRPr lang="en-US" sz="2100" dirty="0">
              <a:latin typeface="Verdana" panose="020B0604030504040204" pitchFamily="34" charset="0"/>
              <a:ea typeface="Verdana" panose="020B0604030504040204" pitchFamily="34" charset="0"/>
            </a:endParaRPr>
          </a:p>
        </p:txBody>
      </p:sp>
      <p:sp>
        <p:nvSpPr>
          <p:cNvPr id="9" name="TextBox 8"/>
          <p:cNvSpPr txBox="1"/>
          <p:nvPr/>
        </p:nvSpPr>
        <p:spPr>
          <a:xfrm>
            <a:off x="8764172" y="6189785"/>
            <a:ext cx="3017889" cy="369332"/>
          </a:xfrm>
          <a:prstGeom prst="rect">
            <a:avLst/>
          </a:prstGeom>
          <a:noFill/>
        </p:spPr>
        <p:txBody>
          <a:bodyPr wrap="square" rtlCol="0">
            <a:spAutoFit/>
          </a:bodyPr>
          <a:lstStyle/>
          <a:p>
            <a:r>
              <a:rPr lang="en-US" b="1" dirty="0">
                <a:latin typeface="Verdana" panose="020B0604030504040204" pitchFamily="34" charset="0"/>
                <a:ea typeface="Verdana" panose="020B0604030504040204" pitchFamily="34" charset="0"/>
                <a:cs typeface="Courier New" panose="02070309020205020404" pitchFamily="49" charset="0"/>
                <a:hlinkClick r:id="rId2" action="ppaction://hlinkfile"/>
              </a:rPr>
              <a:t>Click here to see code</a:t>
            </a:r>
            <a:endParaRPr lang="en-IN" b="1" dirty="0">
              <a:latin typeface="Verdana" panose="020B0604030504040204" pitchFamily="34"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41726991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520503"/>
            <a:ext cx="334811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Question - 2</a:t>
            </a:r>
            <a:endParaRPr lang="en-IN" sz="2400" b="1" dirty="0">
              <a:solidFill>
                <a:prstClr val="white"/>
              </a:solidFill>
              <a:latin typeface="Verdana" panose="020B0604030504040204" pitchFamily="34" charset="0"/>
              <a:ea typeface="Verdana" panose="020B0604030504040204" pitchFamily="34" charset="0"/>
            </a:endParaRPr>
          </a:p>
        </p:txBody>
      </p:sp>
      <p:sp>
        <p:nvSpPr>
          <p:cNvPr id="2" name="Right Brace 1"/>
          <p:cNvSpPr/>
          <p:nvPr/>
        </p:nvSpPr>
        <p:spPr>
          <a:xfrm>
            <a:off x="717452" y="-45719"/>
            <a:ext cx="45719" cy="457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8" name="TextBox 7"/>
          <p:cNvSpPr txBox="1"/>
          <p:nvPr/>
        </p:nvSpPr>
        <p:spPr>
          <a:xfrm>
            <a:off x="212939" y="964114"/>
            <a:ext cx="11727270" cy="1985159"/>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Write a program to take two input from the user and store the address of variable into pointer and find the sum of the numbers using </a:t>
            </a:r>
            <a:r>
              <a:rPr lang="en-US" sz="2400" b="1" dirty="0">
                <a:latin typeface="Verdana" panose="020B0604030504040204" pitchFamily="34" charset="0"/>
                <a:ea typeface="Verdana" panose="020B0604030504040204" pitchFamily="34" charset="0"/>
              </a:rPr>
              <a:t>call by reference</a:t>
            </a:r>
            <a:r>
              <a:rPr lang="en-US" sz="2400" dirty="0">
                <a:latin typeface="Verdana" panose="020B0604030504040204" pitchFamily="34" charset="0"/>
                <a:ea typeface="Verdana" panose="020B0604030504040204" pitchFamily="34" charset="0"/>
              </a:rPr>
              <a:t>.</a:t>
            </a:r>
            <a:endParaRPr lang="en-US" sz="2100" dirty="0">
              <a:latin typeface="Verdana" panose="020B0604030504040204" pitchFamily="34" charset="0"/>
              <a:ea typeface="Verdana" panose="020B0604030504040204" pitchFamily="34" charset="0"/>
            </a:endParaRPr>
          </a:p>
        </p:txBody>
      </p:sp>
      <p:sp>
        <p:nvSpPr>
          <p:cNvPr id="9" name="TextBox 8"/>
          <p:cNvSpPr txBox="1"/>
          <p:nvPr/>
        </p:nvSpPr>
        <p:spPr>
          <a:xfrm>
            <a:off x="8764172" y="6189785"/>
            <a:ext cx="3017889" cy="369332"/>
          </a:xfrm>
          <a:prstGeom prst="rect">
            <a:avLst/>
          </a:prstGeom>
          <a:noFill/>
        </p:spPr>
        <p:txBody>
          <a:bodyPr wrap="square" rtlCol="0">
            <a:spAutoFit/>
          </a:bodyPr>
          <a:lstStyle/>
          <a:p>
            <a:r>
              <a:rPr lang="en-US" b="1" dirty="0">
                <a:latin typeface="Verdana" panose="020B0604030504040204" pitchFamily="34" charset="0"/>
                <a:ea typeface="Verdana" panose="020B0604030504040204" pitchFamily="34" charset="0"/>
                <a:cs typeface="Courier New" panose="02070309020205020404" pitchFamily="49" charset="0"/>
                <a:hlinkClick r:id="rId2" action="ppaction://hlinkfile"/>
              </a:rPr>
              <a:t>Click here to see code</a:t>
            </a:r>
            <a:endParaRPr lang="en-IN" b="1" dirty="0">
              <a:latin typeface="Verdana" panose="020B0604030504040204" pitchFamily="34"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34126953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8" y="964560"/>
            <a:ext cx="11786803" cy="5740033"/>
          </a:xfrm>
          <a:prstGeom prst="rect">
            <a:avLst/>
          </a:prstGeom>
          <a:noFill/>
        </p:spPr>
        <p:txBody>
          <a:bodyPr wrap="square" rtlCol="0">
            <a:spAutoFit/>
          </a:bodyPr>
          <a:lstStyle/>
          <a:p>
            <a:pPr algn="just"/>
            <a:endParaRPr lang="en-US" sz="1000" b="1" dirty="0">
              <a:latin typeface="Courier New" panose="02070309020205020404" pitchFamily="49" charset="0"/>
              <a:ea typeface="Verdana" panose="020B0604030504040204" pitchFamily="34" charset="0"/>
              <a:cs typeface="Courier New" panose="02070309020205020404" pitchFamily="49" charset="0"/>
            </a:endParaRP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find cube of any number using function.</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find diameter, circumference and area of circle using functions.</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find maximum and minimum between two numbers using functions.</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check whether a number is even or odd using functions.</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check whether a number is prime, Armstrong or perfect number using functions.</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find all prime numbers between given interval using functions.</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print all strong numbers between given interval using functions.</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print all Armstrong numbers between given interval using functions.</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print all perfect numbers between given interval using functions.</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find power of any number using recursion.</a:t>
            </a:r>
          </a:p>
        </p:txBody>
      </p:sp>
      <p:sp>
        <p:nvSpPr>
          <p:cNvPr id="4" name="Rectangle 3"/>
          <p:cNvSpPr/>
          <p:nvPr/>
        </p:nvSpPr>
        <p:spPr>
          <a:xfrm>
            <a:off x="-1" y="520503"/>
            <a:ext cx="365760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Coding Questions</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7319442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8" y="964560"/>
            <a:ext cx="11786803" cy="5578450"/>
          </a:xfrm>
          <a:prstGeom prst="rect">
            <a:avLst/>
          </a:prstGeom>
          <a:noFill/>
        </p:spPr>
        <p:txBody>
          <a:bodyPr wrap="square" rtlCol="0">
            <a:spAutoFit/>
          </a:bodyPr>
          <a:lstStyle/>
          <a:p>
            <a:pPr algn="just"/>
            <a:endParaRPr lang="en-US" sz="1000" b="1" dirty="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100" dirty="0">
                <a:latin typeface="Verdana" panose="020B0604030504040204" pitchFamily="34" charset="0"/>
                <a:ea typeface="Verdana" panose="020B0604030504040204" pitchFamily="34" charset="0"/>
              </a:rPr>
              <a:t>11. Write a C program to calculate area of square using return function.</a:t>
            </a:r>
          </a:p>
          <a:p>
            <a:pPr algn="just">
              <a:lnSpc>
                <a:spcPct val="150000"/>
              </a:lnSpc>
            </a:pPr>
            <a:r>
              <a:rPr lang="en-US" sz="2100" dirty="0">
                <a:latin typeface="Verdana" panose="020B0604030504040204" pitchFamily="34" charset="0"/>
                <a:ea typeface="Verdana" panose="020B0604030504040204" pitchFamily="34" charset="0"/>
              </a:rPr>
              <a:t>12. </a:t>
            </a:r>
            <a:r>
              <a:rPr lang="en-US" sz="2100" dirty="0">
                <a:latin typeface="Verdana" panose="020B0604030504040204" pitchFamily="34" charset="0"/>
                <a:ea typeface="Verdana" panose="020B0604030504040204" pitchFamily="34" charset="0"/>
                <a:hlinkClick r:id="rId3" action="ppaction://hlinkfile"/>
              </a:rPr>
              <a:t>Write a program to calculate area and parameter of rectangle.</a:t>
            </a:r>
            <a:endParaRPr lang="en-US" sz="2100" dirty="0">
              <a:latin typeface="Verdana" panose="020B0604030504040204" pitchFamily="34" charset="0"/>
              <a:ea typeface="Verdana" panose="020B0604030504040204" pitchFamily="34" charset="0"/>
            </a:endParaRPr>
          </a:p>
          <a:p>
            <a:pPr algn="just">
              <a:lnSpc>
                <a:spcPct val="150000"/>
              </a:lnSpc>
            </a:pPr>
            <a:r>
              <a:rPr lang="en-US" sz="2100" dirty="0">
                <a:latin typeface="Verdana" panose="020B0604030504040204" pitchFamily="34" charset="0"/>
                <a:ea typeface="Verdana" panose="020B0604030504040204" pitchFamily="34" charset="0"/>
              </a:rPr>
              <a:t>13. </a:t>
            </a:r>
            <a:r>
              <a:rPr lang="en-US" sz="2100" dirty="0">
                <a:latin typeface="Verdana" panose="020B0604030504040204" pitchFamily="34" charset="0"/>
                <a:ea typeface="Verdana" panose="020B0604030504040204" pitchFamily="34" charset="0"/>
                <a:hlinkClick r:id="rId4" action="ppaction://hlinkfile"/>
              </a:rPr>
              <a:t>Write a program to check if entered character is alphabet or not using return function with argument.</a:t>
            </a:r>
            <a:endParaRPr lang="en-US" sz="2100" dirty="0">
              <a:latin typeface="Verdana" panose="020B0604030504040204" pitchFamily="34" charset="0"/>
              <a:ea typeface="Verdana" panose="020B0604030504040204" pitchFamily="34" charset="0"/>
            </a:endParaRPr>
          </a:p>
          <a:p>
            <a:pPr algn="just">
              <a:lnSpc>
                <a:spcPct val="150000"/>
              </a:lnSpc>
            </a:pPr>
            <a:r>
              <a:rPr lang="en-US" sz="2100" dirty="0">
                <a:latin typeface="Verdana" panose="020B0604030504040204" pitchFamily="34" charset="0"/>
                <a:ea typeface="Verdana" panose="020B0604030504040204" pitchFamily="34" charset="0"/>
              </a:rPr>
              <a:t>14. </a:t>
            </a:r>
            <a:r>
              <a:rPr lang="en-US" sz="2100" dirty="0">
                <a:latin typeface="Verdana" panose="020B0604030504040204" pitchFamily="34" charset="0"/>
                <a:ea typeface="Verdana" panose="020B0604030504040204" pitchFamily="34" charset="0"/>
                <a:hlinkClick r:id="rId5" action="ppaction://hlinkfile"/>
              </a:rPr>
              <a:t>Write a C program to check entered number is even or odd using return with argument function.</a:t>
            </a:r>
            <a:endParaRPr lang="en-US" sz="2100" dirty="0">
              <a:latin typeface="Verdana" panose="020B0604030504040204" pitchFamily="34" charset="0"/>
              <a:ea typeface="Verdana" panose="020B0604030504040204" pitchFamily="34" charset="0"/>
            </a:endParaRPr>
          </a:p>
          <a:p>
            <a:pPr algn="just">
              <a:lnSpc>
                <a:spcPct val="150000"/>
              </a:lnSpc>
            </a:pPr>
            <a:r>
              <a:rPr lang="en-US" sz="2100" dirty="0">
                <a:latin typeface="Verdana" panose="020B0604030504040204" pitchFamily="34" charset="0"/>
                <a:ea typeface="Verdana" panose="020B0604030504040204" pitchFamily="34" charset="0"/>
              </a:rPr>
              <a:t>15. Write a C program to print sizes of different types of pointer (Like integer, character, long </a:t>
            </a:r>
            <a:r>
              <a:rPr lang="en-US" sz="2100" dirty="0" err="1">
                <a:latin typeface="Verdana" panose="020B0604030504040204" pitchFamily="34" charset="0"/>
                <a:ea typeface="Verdana" panose="020B0604030504040204" pitchFamily="34" charset="0"/>
              </a:rPr>
              <a:t>int</a:t>
            </a:r>
            <a:r>
              <a:rPr lang="en-US" sz="2100" dirty="0">
                <a:latin typeface="Verdana" panose="020B0604030504040204" pitchFamily="34" charset="0"/>
                <a:ea typeface="Verdana" panose="020B0604030504040204" pitchFamily="34" charset="0"/>
              </a:rPr>
              <a:t>, float, double etc.</a:t>
            </a:r>
          </a:p>
          <a:p>
            <a:pPr algn="just">
              <a:lnSpc>
                <a:spcPct val="150000"/>
              </a:lnSpc>
            </a:pPr>
            <a:r>
              <a:rPr lang="en-US" sz="2100" dirty="0">
                <a:latin typeface="Verdana" panose="020B0604030504040204" pitchFamily="34" charset="0"/>
                <a:ea typeface="Verdana" panose="020B0604030504040204" pitchFamily="34" charset="0"/>
              </a:rPr>
              <a:t>16. Write a program to demonstrate double pointer.</a:t>
            </a:r>
          </a:p>
          <a:p>
            <a:pPr algn="just">
              <a:lnSpc>
                <a:spcPct val="150000"/>
              </a:lnSpc>
            </a:pPr>
            <a:r>
              <a:rPr lang="en-US" sz="2100" dirty="0">
                <a:latin typeface="Verdana" panose="020B0604030504040204" pitchFamily="34" charset="0"/>
                <a:ea typeface="Verdana" panose="020B0604030504040204" pitchFamily="34" charset="0"/>
              </a:rPr>
              <a:t>17. Write a program to change the value of a variable using pointer.</a:t>
            </a:r>
          </a:p>
          <a:p>
            <a:pPr algn="just">
              <a:lnSpc>
                <a:spcPct val="150000"/>
              </a:lnSpc>
            </a:pPr>
            <a:r>
              <a:rPr lang="en-US" sz="2100" dirty="0">
                <a:latin typeface="Verdana" panose="020B0604030504040204" pitchFamily="34" charset="0"/>
                <a:ea typeface="Verdana" panose="020B0604030504040204" pitchFamily="34" charset="0"/>
              </a:rPr>
              <a:t>18. Write a program to print the Fibonacci series up to specified number.</a:t>
            </a:r>
          </a:p>
        </p:txBody>
      </p:sp>
      <p:sp>
        <p:nvSpPr>
          <p:cNvPr id="4" name="Rectangle 3"/>
          <p:cNvSpPr/>
          <p:nvPr/>
        </p:nvSpPr>
        <p:spPr>
          <a:xfrm>
            <a:off x="-1" y="520503"/>
            <a:ext cx="365760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Coding Questions</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8116727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8" y="964560"/>
            <a:ext cx="11786803" cy="1215717"/>
          </a:xfrm>
          <a:prstGeom prst="rect">
            <a:avLst/>
          </a:prstGeom>
          <a:noFill/>
        </p:spPr>
        <p:txBody>
          <a:bodyPr wrap="square" rtlCol="0">
            <a:spAutoFit/>
          </a:bodyPr>
          <a:lstStyle/>
          <a:p>
            <a:pPr algn="just"/>
            <a:endParaRPr lang="en-US" sz="1000" b="1" dirty="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100" dirty="0">
                <a:latin typeface="Verdana" panose="020B0604030504040204" pitchFamily="34" charset="0"/>
                <a:ea typeface="Verdana" panose="020B0604030504040204" pitchFamily="34" charset="0"/>
              </a:rPr>
              <a:t>19. Write a C program to call simple method using function pointer.</a:t>
            </a:r>
          </a:p>
          <a:p>
            <a:pPr algn="just">
              <a:lnSpc>
                <a:spcPct val="150000"/>
              </a:lnSpc>
            </a:pPr>
            <a:r>
              <a:rPr lang="en-US" sz="2100" dirty="0">
                <a:latin typeface="Verdana" panose="020B0604030504040204" pitchFamily="34" charset="0"/>
                <a:ea typeface="Verdana" panose="020B0604030504040204" pitchFamily="34" charset="0"/>
              </a:rPr>
              <a:t>20.</a:t>
            </a:r>
          </a:p>
        </p:txBody>
      </p:sp>
      <p:sp>
        <p:nvSpPr>
          <p:cNvPr id="4" name="Rectangle 3"/>
          <p:cNvSpPr/>
          <p:nvPr/>
        </p:nvSpPr>
        <p:spPr>
          <a:xfrm>
            <a:off x="-1" y="520503"/>
            <a:ext cx="365760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prstClr val="white"/>
                </a:solidFill>
                <a:latin typeface="Verdana" panose="020B0604030504040204" pitchFamily="34" charset="0"/>
                <a:ea typeface="Verdana" panose="020B0604030504040204" pitchFamily="34" charset="0"/>
              </a:rPr>
              <a:t>Coding Questions</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091414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76264</TotalTime>
  <Words>3184</Words>
  <Application>Microsoft Office PowerPoint</Application>
  <PresentationFormat>Widescreen</PresentationFormat>
  <Paragraphs>571</Paragraphs>
  <Slides>49</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Arial</vt:lpstr>
      <vt:lpstr>Calibri</vt:lpstr>
      <vt:lpstr>Calibri Light</vt:lpstr>
      <vt:lpstr>Courier New</vt:lpstr>
      <vt:lpstr>Lucida Handwriting</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Imran</cp:lastModifiedBy>
  <cp:revision>634</cp:revision>
  <dcterms:created xsi:type="dcterms:W3CDTF">2023-01-17T16:53:08Z</dcterms:created>
  <dcterms:modified xsi:type="dcterms:W3CDTF">2024-12-10T12:32:18Z</dcterms:modified>
</cp:coreProperties>
</file>