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440" r:id="rId2"/>
    <p:sldId id="257" r:id="rId3"/>
    <p:sldId id="414" r:id="rId4"/>
    <p:sldId id="415" r:id="rId5"/>
    <p:sldId id="416" r:id="rId6"/>
    <p:sldId id="329" r:id="rId7"/>
    <p:sldId id="259" r:id="rId8"/>
    <p:sldId id="417" r:id="rId9"/>
    <p:sldId id="330" r:id="rId10"/>
    <p:sldId id="418" r:id="rId11"/>
    <p:sldId id="331" r:id="rId12"/>
    <p:sldId id="419" r:id="rId13"/>
    <p:sldId id="420" r:id="rId14"/>
    <p:sldId id="421" r:id="rId15"/>
    <p:sldId id="422" r:id="rId16"/>
    <p:sldId id="423" r:id="rId17"/>
    <p:sldId id="424" r:id="rId18"/>
    <p:sldId id="425" r:id="rId19"/>
    <p:sldId id="426" r:id="rId20"/>
    <p:sldId id="427" r:id="rId21"/>
    <p:sldId id="428" r:id="rId22"/>
    <p:sldId id="429" r:id="rId23"/>
    <p:sldId id="430" r:id="rId24"/>
    <p:sldId id="431" r:id="rId25"/>
    <p:sldId id="432" r:id="rId26"/>
    <p:sldId id="433" r:id="rId27"/>
    <p:sldId id="434" r:id="rId28"/>
    <p:sldId id="435" r:id="rId29"/>
    <p:sldId id="436" r:id="rId30"/>
    <p:sldId id="437" r:id="rId31"/>
    <p:sldId id="438" r:id="rId32"/>
    <p:sldId id="439"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3" r:id="rId46"/>
    <p:sldId id="454" r:id="rId47"/>
    <p:sldId id="455" r:id="rId48"/>
    <p:sldId id="456" r:id="rId49"/>
    <p:sldId id="457" r:id="rId50"/>
    <p:sldId id="458" r:id="rId51"/>
    <p:sldId id="459" r:id="rId52"/>
    <p:sldId id="460" r:id="rId53"/>
    <p:sldId id="461" r:id="rId54"/>
    <p:sldId id="462" r:id="rId55"/>
    <p:sldId id="463" r:id="rId56"/>
    <p:sldId id="464" r:id="rId57"/>
    <p:sldId id="465" r:id="rId58"/>
    <p:sldId id="468" r:id="rId59"/>
    <p:sldId id="469" r:id="rId60"/>
    <p:sldId id="470" r:id="rId61"/>
    <p:sldId id="472" r:id="rId62"/>
    <p:sldId id="471" r:id="rId63"/>
    <p:sldId id="473" r:id="rId64"/>
    <p:sldId id="475" r:id="rId65"/>
    <p:sldId id="474" r:id="rId66"/>
    <p:sldId id="476" r:id="rId67"/>
    <p:sldId id="477" r:id="rId68"/>
    <p:sldId id="478" r:id="rId69"/>
    <p:sldId id="479" r:id="rId70"/>
    <p:sldId id="480" r:id="rId71"/>
    <p:sldId id="487" r:id="rId72"/>
    <p:sldId id="412" r:id="rId73"/>
    <p:sldId id="413" r:id="rId74"/>
    <p:sldId id="342" r:id="rId75"/>
    <p:sldId id="343" r:id="rId76"/>
    <p:sldId id="348" r:id="rId77"/>
    <p:sldId id="482" r:id="rId78"/>
    <p:sldId id="466" r:id="rId79"/>
    <p:sldId id="483" r:id="rId80"/>
    <p:sldId id="484" r:id="rId81"/>
    <p:sldId id="485" r:id="rId82"/>
    <p:sldId id="486" r:id="rId83"/>
    <p:sldId id="467" r:id="rId84"/>
    <p:sldId id="481"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C9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08" autoAdjust="0"/>
    <p:restoredTop sz="94660"/>
  </p:normalViewPr>
  <p:slideViewPr>
    <p:cSldViewPr snapToGrid="0">
      <p:cViewPr varScale="1">
        <p:scale>
          <a:sx n="65" d="100"/>
          <a:sy n="65" d="100"/>
        </p:scale>
        <p:origin x="82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8D2997-5E15-4282-84D1-2765017CD559}" type="datetimeFigureOut">
              <a:rPr lang="en-IN" smtClean="0"/>
              <a:t>16-05-2024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D3BBD-AEDA-4A06-978E-432988C26784}" type="slidenum">
              <a:rPr lang="en-IN" smtClean="0"/>
              <a:t>‹#›</a:t>
            </a:fld>
            <a:endParaRPr lang="en-IN"/>
          </a:p>
        </p:txBody>
      </p:sp>
    </p:spTree>
    <p:extLst>
      <p:ext uri="{BB962C8B-B14F-4D97-AF65-F5344CB8AC3E}">
        <p14:creationId xmlns:p14="http://schemas.microsoft.com/office/powerpoint/2010/main" val="921744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75</a:t>
            </a:fld>
            <a:endParaRPr lang="en-IN"/>
          </a:p>
        </p:txBody>
      </p:sp>
    </p:spTree>
    <p:extLst>
      <p:ext uri="{BB962C8B-B14F-4D97-AF65-F5344CB8AC3E}">
        <p14:creationId xmlns:p14="http://schemas.microsoft.com/office/powerpoint/2010/main" val="160710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76</a:t>
            </a:fld>
            <a:endParaRPr lang="en-IN"/>
          </a:p>
        </p:txBody>
      </p:sp>
    </p:spTree>
    <p:extLst>
      <p:ext uri="{BB962C8B-B14F-4D97-AF65-F5344CB8AC3E}">
        <p14:creationId xmlns:p14="http://schemas.microsoft.com/office/powerpoint/2010/main" val="1971092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77</a:t>
            </a:fld>
            <a:endParaRPr lang="en-IN"/>
          </a:p>
        </p:txBody>
      </p:sp>
    </p:spTree>
    <p:extLst>
      <p:ext uri="{BB962C8B-B14F-4D97-AF65-F5344CB8AC3E}">
        <p14:creationId xmlns:p14="http://schemas.microsoft.com/office/powerpoint/2010/main" val="1042208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80</a:t>
            </a:fld>
            <a:endParaRPr lang="en-IN"/>
          </a:p>
        </p:txBody>
      </p:sp>
    </p:spTree>
    <p:extLst>
      <p:ext uri="{BB962C8B-B14F-4D97-AF65-F5344CB8AC3E}">
        <p14:creationId xmlns:p14="http://schemas.microsoft.com/office/powerpoint/2010/main" val="2601841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82</a:t>
            </a:fld>
            <a:endParaRPr lang="en-IN"/>
          </a:p>
        </p:txBody>
      </p:sp>
    </p:spTree>
    <p:extLst>
      <p:ext uri="{BB962C8B-B14F-4D97-AF65-F5344CB8AC3E}">
        <p14:creationId xmlns:p14="http://schemas.microsoft.com/office/powerpoint/2010/main" val="148641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83</a:t>
            </a:fld>
            <a:endParaRPr lang="en-IN"/>
          </a:p>
        </p:txBody>
      </p:sp>
    </p:spTree>
    <p:extLst>
      <p:ext uri="{BB962C8B-B14F-4D97-AF65-F5344CB8AC3E}">
        <p14:creationId xmlns:p14="http://schemas.microsoft.com/office/powerpoint/2010/main" val="3829092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3D3BBD-AEDA-4A06-978E-432988C26784}" type="slidenum">
              <a:rPr lang="en-IN" smtClean="0"/>
              <a:t>84</a:t>
            </a:fld>
            <a:endParaRPr lang="en-IN"/>
          </a:p>
        </p:txBody>
      </p:sp>
    </p:spTree>
    <p:extLst>
      <p:ext uri="{BB962C8B-B14F-4D97-AF65-F5344CB8AC3E}">
        <p14:creationId xmlns:p14="http://schemas.microsoft.com/office/powerpoint/2010/main" val="908180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338D3F6-C5B7-4F4C-98A6-B97B0FA094A0}"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384473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338D3F6-C5B7-4F4C-98A6-B97B0FA094A0}"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02828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38D3F6-C5B7-4F4C-98A6-B97B0FA094A0}"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74440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338D3F6-C5B7-4F4C-98A6-B97B0FA094A0}" type="datetimeFigureOut">
              <a:rPr lang="en-IN" smtClean="0"/>
              <a:t>16-05-2024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686426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338D3F6-C5B7-4F4C-98A6-B97B0FA094A0}" type="datetimeFigureOut">
              <a:rPr lang="en-IN" smtClean="0"/>
              <a:t>16-05-2024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3073941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338D3F6-C5B7-4F4C-98A6-B97B0FA094A0}" type="datetimeFigureOut">
              <a:rPr lang="en-IN" smtClean="0"/>
              <a:t>16-05-2024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743228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38D3F6-C5B7-4F4C-98A6-B97B0FA094A0}" type="datetimeFigureOut">
              <a:rPr lang="en-IN" smtClean="0"/>
              <a:t>16-05-2024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2632940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38D3F6-C5B7-4F4C-98A6-B97B0FA094A0}" type="datetimeFigureOut">
              <a:rPr lang="en-IN" smtClean="0"/>
              <a:t>16-05-2024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353216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38D3F6-C5B7-4F4C-98A6-B97B0FA094A0}" type="datetimeFigureOut">
              <a:rPr lang="en-IN" smtClean="0"/>
              <a:t>16-05-2024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842519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338D3F6-C5B7-4F4C-98A6-B97B0FA094A0}"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58442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338D3F6-C5B7-4F4C-98A6-B97B0FA094A0}"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6E8DAF-430C-4D85-A1A7-2E0CA47A6485}" type="slidenum">
              <a:rPr lang="en-IN" smtClean="0"/>
              <a:t>‹#›</a:t>
            </a:fld>
            <a:endParaRPr lang="en-IN"/>
          </a:p>
        </p:txBody>
      </p:sp>
    </p:spTree>
    <p:extLst>
      <p:ext uri="{BB962C8B-B14F-4D97-AF65-F5344CB8AC3E}">
        <p14:creationId xmlns:p14="http://schemas.microsoft.com/office/powerpoint/2010/main" val="111903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38D3F6-C5B7-4F4C-98A6-B97B0FA094A0}" type="datetimeFigureOut">
              <a:rPr lang="en-IN" smtClean="0"/>
              <a:t>16-05-2024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6E8DAF-430C-4D85-A1A7-2E0CA47A6485}" type="slidenum">
              <a:rPr lang="en-IN" smtClean="0"/>
              <a:t>‹#›</a:t>
            </a:fld>
            <a:endParaRPr lang="en-IN"/>
          </a:p>
        </p:txBody>
      </p:sp>
    </p:spTree>
    <p:extLst>
      <p:ext uri="{BB962C8B-B14F-4D97-AF65-F5344CB8AC3E}">
        <p14:creationId xmlns:p14="http://schemas.microsoft.com/office/powerpoint/2010/main" val="1948885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hyperlink" Target="CODE/04%20-%20For%20Loop/Nested%20for%20Loop/09%20-%20Example%20-%2009.cpp" TargetMode="Externa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hyperlink" Target="CODE/QUIZ-02/Quiz-01.cp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hyperlink" Target="CODE/QUIZ-02/Quiz-01.cpp"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hyperlink" Target="CODE/QUIZ-02/Quiz-01.cpp"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hyperlink" Target="CODE/QUIZ-02/Quiz-01.cpp"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hyperlink" Target="CODE/QUIZ-02/Quiz-01.cpp"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hyperlink" Target="CODE/QUIZ-03/Quiz%20-%204.cpp"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CODE/09%20Function/Questions/Odd%20Even%20Function.cpp" TargetMode="External"/><Relationship Id="rId4" Type="http://schemas.openxmlformats.org/officeDocument/2006/relationships/hyperlink" Target="CODE/09%20Function/Character%20Function/MyIsalpha.c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5475"/>
          <a:stretch/>
        </p:blipFill>
        <p:spPr>
          <a:xfrm>
            <a:off x="254046" y="407963"/>
            <a:ext cx="11626487" cy="6064278"/>
          </a:xfrm>
          <a:prstGeom prst="rect">
            <a:avLst/>
          </a:prstGeom>
        </p:spPr>
      </p:pic>
    </p:spTree>
    <p:extLst>
      <p:ext uri="{BB962C8B-B14F-4D97-AF65-F5344CB8AC3E}">
        <p14:creationId xmlns:p14="http://schemas.microsoft.com/office/powerpoint/2010/main" val="21631656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gn="just">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Function is a block of code that has a name and used to perform some specific task. The function contains the set of programming statements enclosed by curly bracket { }. A function can be called multiple times, so it is reusable</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smtClean="0">
                <a:latin typeface="Verdana" panose="020B0604030504040204" pitchFamily="34" charset="0"/>
                <a:ea typeface="Verdana" panose="020B0604030504040204" pitchFamily="34" charset="0"/>
              </a:rPr>
              <a:t>Using the function we can divide a large program into small blocks known as function.</a:t>
            </a: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0" y="520503"/>
            <a:ext cx="212422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Function</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189686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755148"/>
          </a:xfrm>
          <a:prstGeom prst="rect">
            <a:avLst/>
          </a:prstGeom>
          <a:noFill/>
        </p:spPr>
        <p:txBody>
          <a:bodyPr wrap="square" rtlCol="0">
            <a:spAutoFit/>
          </a:bodyPr>
          <a:lstStyle/>
          <a:p>
            <a:pPr algn="just">
              <a:lnSpc>
                <a:spcPct val="150000"/>
              </a:lnSpc>
            </a:pPr>
            <a:endParaRPr lang="en-US" sz="1000" dirty="0" smtClean="0">
              <a:latin typeface="Verdana" panose="020B0604030504040204" pitchFamily="34" charset="0"/>
              <a:ea typeface="Verdana" panose="020B0604030504040204" pitchFamily="34" charset="0"/>
            </a:endParaRPr>
          </a:p>
          <a:p>
            <a:pPr marL="342900" indent="-342900" algn="just">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By using functions, we can avoid rewriting same logic/code again and again in a program.</a:t>
            </a:r>
          </a:p>
          <a:p>
            <a:pPr marL="342900" indent="-342900" algn="just">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We can call C functions any number of times in a program and from any place in a program.</a:t>
            </a:r>
          </a:p>
          <a:p>
            <a:pPr marL="342900" indent="-342900" algn="just">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We can track a large C program easily when it is divided into multiple functions.</a:t>
            </a:r>
          </a:p>
          <a:p>
            <a:pPr marL="342900" indent="-342900" algn="just">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Reusability is the main achievement of C functions.</a:t>
            </a:r>
          </a:p>
          <a:p>
            <a:pPr marL="342900" indent="-342900" algn="just">
              <a:lnSpc>
                <a:spcPct val="150000"/>
              </a:lnSpc>
              <a:buFont typeface="Wingdings" panose="05000000000000000000" pitchFamily="2" charset="2"/>
              <a:buChar char="ü"/>
            </a:pPr>
            <a:r>
              <a:rPr lang="en-US" sz="2400" dirty="0">
                <a:latin typeface="Verdana" panose="020B0604030504040204" pitchFamily="34" charset="0"/>
                <a:ea typeface="Verdana" panose="020B0604030504040204" pitchFamily="34" charset="0"/>
              </a:rPr>
              <a:t>However, Function calling is always a overhead in a C program.</a:t>
            </a:r>
          </a:p>
        </p:txBody>
      </p:sp>
      <p:sp>
        <p:nvSpPr>
          <p:cNvPr id="4" name="Rectangle 3"/>
          <p:cNvSpPr/>
          <p:nvPr/>
        </p:nvSpPr>
        <p:spPr>
          <a:xfrm>
            <a:off x="0" y="520503"/>
            <a:ext cx="212422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2422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Advantages</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9560115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447645"/>
          </a:xfrm>
          <a:prstGeom prst="rect">
            <a:avLst/>
          </a:prstGeom>
          <a:noFill/>
        </p:spPr>
        <p:txBody>
          <a:bodyPr wrap="square" rtlCol="0">
            <a:spAutoFit/>
          </a:bodyPr>
          <a:lstStyle/>
          <a:p>
            <a:pPr algn="just">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200" b="1" dirty="0" smtClean="0">
                <a:latin typeface="Verdana" panose="020B0604030504040204" pitchFamily="34" charset="0"/>
                <a:ea typeface="Verdana" panose="020B0604030504040204" pitchFamily="34" charset="0"/>
              </a:rPr>
              <a:t>There are three aspects of a C function .</a:t>
            </a: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100" b="1" dirty="0">
                <a:latin typeface="Verdana" panose="020B0604030504040204" pitchFamily="34" charset="0"/>
                <a:ea typeface="Verdana" panose="020B0604030504040204" pitchFamily="34" charset="0"/>
              </a:rPr>
              <a:t>Function </a:t>
            </a:r>
            <a:r>
              <a:rPr lang="en-US" sz="2100" b="1" dirty="0" smtClean="0">
                <a:latin typeface="Verdana" panose="020B0604030504040204" pitchFamily="34" charset="0"/>
                <a:ea typeface="Verdana" panose="020B0604030504040204" pitchFamily="34" charset="0"/>
              </a:rPr>
              <a:t>Declaration</a:t>
            </a:r>
            <a:r>
              <a:rPr lang="en-US" sz="2100" dirty="0">
                <a:latin typeface="Verdana" panose="020B0604030504040204" pitchFamily="34" charset="0"/>
                <a:ea typeface="Verdana" panose="020B0604030504040204" pitchFamily="34" charset="0"/>
              </a:rPr>
              <a:t> A function must be declared globally in a c program to tell the compiler about the function name, function parameters, and return type.</a:t>
            </a:r>
          </a:p>
          <a:p>
            <a:pPr algn="just">
              <a:lnSpc>
                <a:spcPct val="150000"/>
              </a:lnSpc>
            </a:pPr>
            <a:endParaRPr lang="en-US" sz="1000" b="1" dirty="0" smtClean="0">
              <a:latin typeface="Verdana" panose="020B0604030504040204" pitchFamily="34" charset="0"/>
              <a:ea typeface="Verdana" panose="020B0604030504040204" pitchFamily="34" charset="0"/>
            </a:endParaRPr>
          </a:p>
          <a:p>
            <a:pPr algn="just">
              <a:lnSpc>
                <a:spcPct val="150000"/>
              </a:lnSpc>
            </a:pPr>
            <a:r>
              <a:rPr lang="en-US" sz="2100" b="1" dirty="0" smtClean="0">
                <a:latin typeface="Verdana" panose="020B0604030504040204" pitchFamily="34" charset="0"/>
                <a:ea typeface="Verdana" panose="020B0604030504040204" pitchFamily="34" charset="0"/>
              </a:rPr>
              <a:t>Function </a:t>
            </a:r>
            <a:r>
              <a:rPr lang="en-US" sz="2100" b="1" dirty="0">
                <a:latin typeface="Verdana" panose="020B0604030504040204" pitchFamily="34" charset="0"/>
                <a:ea typeface="Verdana" panose="020B0604030504040204" pitchFamily="34" charset="0"/>
              </a:rPr>
              <a:t>C</a:t>
            </a:r>
            <a:r>
              <a:rPr lang="en-US" sz="2100" b="1" dirty="0" smtClean="0">
                <a:latin typeface="Verdana" panose="020B0604030504040204" pitchFamily="34" charset="0"/>
                <a:ea typeface="Verdana" panose="020B0604030504040204" pitchFamily="34" charset="0"/>
              </a:rPr>
              <a:t>all</a:t>
            </a:r>
            <a:r>
              <a:rPr lang="en-US" sz="2100" dirty="0">
                <a:latin typeface="Verdana" panose="020B0604030504040204" pitchFamily="34" charset="0"/>
                <a:ea typeface="Verdana" panose="020B0604030504040204" pitchFamily="34" charset="0"/>
              </a:rPr>
              <a:t> Function can be called from anywhere in the program. The parameter list must not differ in function calling and function declaration. We must pass the same number of functions as it is declared in the function </a:t>
            </a:r>
            <a:r>
              <a:rPr lang="en-US" sz="2100" dirty="0" smtClean="0">
                <a:latin typeface="Verdana" panose="020B0604030504040204" pitchFamily="34" charset="0"/>
                <a:ea typeface="Verdana" panose="020B0604030504040204" pitchFamily="34" charset="0"/>
              </a:rPr>
              <a:t>declaration.</a:t>
            </a:r>
          </a:p>
          <a:p>
            <a:pPr algn="just">
              <a:lnSpc>
                <a:spcPct val="150000"/>
              </a:lnSpc>
            </a:pPr>
            <a:endParaRPr lang="en-US" sz="1000" b="1" dirty="0">
              <a:latin typeface="Verdana" panose="020B0604030504040204" pitchFamily="34" charset="0"/>
              <a:ea typeface="Verdana" panose="020B0604030504040204" pitchFamily="34" charset="0"/>
            </a:endParaRPr>
          </a:p>
          <a:p>
            <a:pPr algn="just">
              <a:lnSpc>
                <a:spcPct val="150000"/>
              </a:lnSpc>
            </a:pPr>
            <a:r>
              <a:rPr lang="en-US" sz="2100" b="1" dirty="0" smtClean="0">
                <a:latin typeface="Verdana" panose="020B0604030504040204" pitchFamily="34" charset="0"/>
                <a:ea typeface="Verdana" panose="020B0604030504040204" pitchFamily="34" charset="0"/>
              </a:rPr>
              <a:t>Function </a:t>
            </a:r>
            <a:r>
              <a:rPr lang="en-US" sz="2100" b="1" dirty="0">
                <a:latin typeface="Verdana" panose="020B0604030504040204" pitchFamily="34" charset="0"/>
                <a:ea typeface="Verdana" panose="020B0604030504040204" pitchFamily="34" charset="0"/>
              </a:rPr>
              <a:t>D</a:t>
            </a:r>
            <a:r>
              <a:rPr lang="en-US" sz="2100" b="1" dirty="0" smtClean="0">
                <a:latin typeface="Verdana" panose="020B0604030504040204" pitchFamily="34" charset="0"/>
                <a:ea typeface="Verdana" panose="020B0604030504040204" pitchFamily="34" charset="0"/>
              </a:rPr>
              <a:t>efinition</a:t>
            </a:r>
            <a:r>
              <a:rPr lang="en-US" sz="2100" dirty="0">
                <a:latin typeface="Verdana" panose="020B0604030504040204" pitchFamily="34" charset="0"/>
                <a:ea typeface="Verdana" panose="020B0604030504040204" pitchFamily="34" charset="0"/>
              </a:rPr>
              <a:t> It contains the actual statements which are to be executed. It is the most important aspect to which the control comes when the function is called. Here, we must notice that only one value can be returned from the function</a:t>
            </a:r>
            <a:r>
              <a:rPr lang="en-US" sz="2100" dirty="0" smtClean="0">
                <a:latin typeface="Verdana" panose="020B0604030504040204" pitchFamily="34" charset="0"/>
                <a:ea typeface="Verdana" panose="020B0604030504040204" pitchFamily="34" charset="0"/>
              </a:rPr>
              <a:t>.</a:t>
            </a:r>
            <a:endParaRPr lang="en-US" sz="2100" dirty="0">
              <a:latin typeface="Verdana" panose="020B0604030504040204" pitchFamily="34" charset="0"/>
              <a:ea typeface="Verdana" panose="020B0604030504040204" pitchFamily="34" charset="0"/>
            </a:endParaRPr>
          </a:p>
        </p:txBody>
      </p:sp>
      <p:sp>
        <p:nvSpPr>
          <p:cNvPr id="4" name="Rectangle 3"/>
          <p:cNvSpPr/>
          <p:nvPr/>
        </p:nvSpPr>
        <p:spPr>
          <a:xfrm>
            <a:off x="0" y="520503"/>
            <a:ext cx="212422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2422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Aspects</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076292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693319"/>
          </a:xfrm>
          <a:prstGeom prst="rect">
            <a:avLst/>
          </a:prstGeom>
          <a:noFill/>
        </p:spPr>
        <p:txBody>
          <a:bodyPr wrap="square" rtlCol="0">
            <a:spAutoFit/>
          </a:bodyPr>
          <a:lstStyle/>
          <a:p>
            <a:pPr algn="just">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200" b="1" dirty="0" smtClean="0">
              <a:latin typeface="Verdana" panose="020B0604030504040204" pitchFamily="34" charset="0"/>
              <a:ea typeface="Verdana" panose="020B0604030504040204" pitchFamily="34" charset="0"/>
            </a:endParaRPr>
          </a:p>
          <a:p>
            <a:pPr algn="just">
              <a:lnSpc>
                <a:spcPct val="150000"/>
              </a:lnSpc>
            </a:pPr>
            <a:r>
              <a:rPr lang="en-US" sz="2200" b="1" dirty="0" smtClean="0">
                <a:latin typeface="Verdana" panose="020B0604030504040204" pitchFamily="34" charset="0"/>
                <a:ea typeface="Verdana" panose="020B0604030504040204" pitchFamily="34" charset="0"/>
              </a:rPr>
              <a:t>There are two types of function in C programming</a:t>
            </a:r>
          </a:p>
          <a:p>
            <a:pPr algn="just">
              <a:lnSpc>
                <a:spcPct val="150000"/>
              </a:lnSpc>
            </a:pPr>
            <a:endParaRPr lang="en-US" sz="2200" b="1" dirty="0">
              <a:latin typeface="Verdana" panose="020B0604030504040204" pitchFamily="34" charset="0"/>
              <a:ea typeface="Verdana" panose="020B0604030504040204" pitchFamily="34" charset="0"/>
            </a:endParaRPr>
          </a:p>
          <a:p>
            <a:pPr marL="800100" lvl="1" indent="-342900" algn="just">
              <a:lnSpc>
                <a:spcPct val="150000"/>
              </a:lnSpc>
              <a:buFont typeface="Wingdings" panose="05000000000000000000" pitchFamily="2" charset="2"/>
              <a:buChar char="ü"/>
            </a:pPr>
            <a:r>
              <a:rPr lang="en-US" sz="2400" dirty="0" smtClean="0">
                <a:latin typeface="Verdana" panose="020B0604030504040204" pitchFamily="34" charset="0"/>
                <a:ea typeface="Verdana" panose="020B0604030504040204" pitchFamily="34" charset="0"/>
              </a:rPr>
              <a:t>Predefined </a:t>
            </a:r>
            <a:r>
              <a:rPr lang="en-US" sz="2400" dirty="0">
                <a:latin typeface="Verdana" panose="020B0604030504040204" pitchFamily="34" charset="0"/>
                <a:ea typeface="Verdana" panose="020B0604030504040204" pitchFamily="34" charset="0"/>
              </a:rPr>
              <a:t>Function ( Library Function </a:t>
            </a:r>
            <a:r>
              <a:rPr lang="en-US" sz="2400" dirty="0" smtClean="0">
                <a:latin typeface="Verdana" panose="020B0604030504040204" pitchFamily="34" charset="0"/>
                <a:ea typeface="Verdana" panose="020B0604030504040204" pitchFamily="34" charset="0"/>
              </a:rPr>
              <a:t>)</a:t>
            </a:r>
          </a:p>
          <a:p>
            <a:pPr marL="800100" lvl="1" indent="-342900" algn="just">
              <a:lnSpc>
                <a:spcPct val="150000"/>
              </a:lnSpc>
              <a:buFont typeface="Wingdings" panose="05000000000000000000" pitchFamily="2" charset="2"/>
              <a:buChar char="ü"/>
            </a:pPr>
            <a:r>
              <a:rPr lang="en-US" sz="2400" dirty="0" smtClean="0">
                <a:latin typeface="Verdana" panose="020B0604030504040204" pitchFamily="34" charset="0"/>
                <a:ea typeface="Verdana" panose="020B0604030504040204" pitchFamily="34" charset="0"/>
              </a:rPr>
              <a:t>User Defined Function</a:t>
            </a:r>
            <a:endParaRPr lang="en-US" sz="2400" dirty="0">
              <a:latin typeface="Verdana" panose="020B0604030504040204" pitchFamily="34" charset="0"/>
              <a:ea typeface="Verdana" panose="020B0604030504040204" pitchFamily="34" charset="0"/>
            </a:endParaRPr>
          </a:p>
          <a:p>
            <a:pPr algn="just">
              <a:lnSpc>
                <a:spcPct val="150000"/>
              </a:lnSpc>
            </a:pPr>
            <a:endParaRPr lang="en-US" sz="2200" b="1" dirty="0" smtClean="0">
              <a:latin typeface="Verdana" panose="020B0604030504040204" pitchFamily="34" charset="0"/>
              <a:ea typeface="Verdana" panose="020B0604030504040204" pitchFamily="34" charset="0"/>
            </a:endParaRPr>
          </a:p>
          <a:p>
            <a:pPr algn="just">
              <a:lnSpc>
                <a:spcPct val="150000"/>
              </a:lnSpc>
            </a:pPr>
            <a:endParaRPr lang="en-US" sz="1000" dirty="0">
              <a:latin typeface="Verdana" panose="020B0604030504040204" pitchFamily="34" charset="0"/>
              <a:ea typeface="Verdana" panose="020B0604030504040204" pitchFamily="34" charset="0"/>
            </a:endParaRPr>
          </a:p>
        </p:txBody>
      </p:sp>
      <p:sp>
        <p:nvSpPr>
          <p:cNvPr id="4" name="Rectangle 3"/>
          <p:cNvSpPr/>
          <p:nvPr/>
        </p:nvSpPr>
        <p:spPr>
          <a:xfrm>
            <a:off x="0" y="520503"/>
            <a:ext cx="212422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2422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Types</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4461886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695" y="670344"/>
            <a:ext cx="11780978" cy="5954605"/>
          </a:xfrm>
          <a:prstGeom prst="rect">
            <a:avLst/>
          </a:prstGeom>
        </p:spPr>
      </p:pic>
    </p:spTree>
    <p:extLst>
      <p:ext uri="{BB962C8B-B14F-4D97-AF65-F5344CB8AC3E}">
        <p14:creationId xmlns:p14="http://schemas.microsoft.com/office/powerpoint/2010/main" val="33619751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034118"/>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Standard Library Functions are basically the inbuilt functions in the C compiler that makes things easy for the programmer.</a:t>
            </a: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Library functions are built-in functions that are grouped together and placed in a common location called library.</a:t>
            </a: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b="1" dirty="0">
                <a:latin typeface="Verdana" panose="020B0604030504040204" pitchFamily="34" charset="0"/>
                <a:ea typeface="Verdana" panose="020B0604030504040204" pitchFamily="34" charset="0"/>
              </a:rPr>
              <a:t>Example: </a:t>
            </a:r>
            <a:r>
              <a:rPr lang="en-US" sz="2400" dirty="0" err="1">
                <a:latin typeface="Verdana" panose="020B0604030504040204" pitchFamily="34" charset="0"/>
                <a:ea typeface="Verdana" panose="020B0604030504040204" pitchFamily="34" charset="0"/>
              </a:rPr>
              <a:t>stdio.h</a:t>
            </a:r>
            <a:r>
              <a:rPr lang="en-US" sz="2400" dirty="0">
                <a:latin typeface="Verdana" panose="020B0604030504040204" pitchFamily="34" charset="0"/>
                <a:ea typeface="Verdana" panose="020B0604030504040204" pitchFamily="34" charset="0"/>
              </a:rPr>
              <a:t> is a header files that contains some standard functions such as </a:t>
            </a:r>
            <a:r>
              <a:rPr lang="en-US" sz="2400" dirty="0" err="1">
                <a:latin typeface="Verdana" panose="020B0604030504040204" pitchFamily="34" charset="0"/>
                <a:ea typeface="Verdana" panose="020B0604030504040204" pitchFamily="34" charset="0"/>
              </a:rPr>
              <a:t>printf</a:t>
            </a:r>
            <a:r>
              <a:rPr lang="en-US" sz="2400" dirty="0">
                <a:latin typeface="Verdana" panose="020B0604030504040204" pitchFamily="34" charset="0"/>
                <a:ea typeface="Verdana" panose="020B0604030504040204" pitchFamily="34" charset="0"/>
              </a:rPr>
              <a:t>(), </a:t>
            </a:r>
            <a:r>
              <a:rPr lang="en-US" sz="2400" dirty="0" err="1">
                <a:latin typeface="Verdana" panose="020B0604030504040204" pitchFamily="34" charset="0"/>
                <a:ea typeface="Verdana" panose="020B0604030504040204" pitchFamily="34" charset="0"/>
              </a:rPr>
              <a:t>scanf</a:t>
            </a:r>
            <a:r>
              <a:rPr lang="en-US" sz="2400" dirty="0">
                <a:latin typeface="Verdana" panose="020B0604030504040204" pitchFamily="34" charset="0"/>
                <a:ea typeface="Verdana" panose="020B0604030504040204" pitchFamily="34" charset="0"/>
              </a:rPr>
              <a:t>(), gets(), puts() etc.</a:t>
            </a:r>
          </a:p>
        </p:txBody>
      </p:sp>
      <p:sp>
        <p:nvSpPr>
          <p:cNvPr id="4" name="Rectangle 3"/>
          <p:cNvSpPr/>
          <p:nvPr/>
        </p:nvSpPr>
        <p:spPr>
          <a:xfrm>
            <a:off x="-1" y="520503"/>
            <a:ext cx="343251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Library Function</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876954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02" y="529670"/>
            <a:ext cx="11542646" cy="5911943"/>
          </a:xfrm>
          <a:prstGeom prst="rect">
            <a:avLst/>
          </a:prstGeom>
        </p:spPr>
      </p:pic>
    </p:spTree>
    <p:extLst>
      <p:ext uri="{BB962C8B-B14F-4D97-AF65-F5344CB8AC3E}">
        <p14:creationId xmlns:p14="http://schemas.microsoft.com/office/powerpoint/2010/main" val="2639184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647152"/>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Strings are an array of characters. We can perform several operation on string to manipulate the strings. Such as finding length of string, comparing two string, displaying formatted output etc. using string function. </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All the string functions are available in </a:t>
            </a:r>
            <a:r>
              <a:rPr lang="en-US" sz="2400" b="1" dirty="0" err="1">
                <a:latin typeface="Verdana" panose="020B0604030504040204" pitchFamily="34" charset="0"/>
                <a:ea typeface="Verdana" panose="020B0604030504040204" pitchFamily="34" charset="0"/>
              </a:rPr>
              <a:t>string.h</a:t>
            </a:r>
            <a:r>
              <a:rPr lang="en-US" sz="2400" dirty="0">
                <a:latin typeface="Verdana" panose="020B0604030504040204" pitchFamily="34" charset="0"/>
                <a:ea typeface="Verdana" panose="020B0604030504040204" pitchFamily="34" charset="0"/>
              </a:rPr>
              <a:t> header file.</a:t>
            </a: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501726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647152"/>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smtClean="0">
                <a:latin typeface="Verdana" panose="020B0604030504040204" pitchFamily="34" charset="0"/>
                <a:ea typeface="Verdana" panose="020B0604030504040204" pitchFamily="34" charset="0"/>
              </a:rPr>
              <a:t>String </a:t>
            </a:r>
            <a:r>
              <a:rPr lang="en-US" sz="2400" dirty="0">
                <a:latin typeface="Verdana" panose="020B0604030504040204" pitchFamily="34" charset="0"/>
                <a:ea typeface="Verdana" panose="020B0604030504040204" pitchFamily="34" charset="0"/>
              </a:rPr>
              <a:t>function </a:t>
            </a:r>
            <a:r>
              <a:rPr lang="en-US" sz="2400" b="1" dirty="0" err="1">
                <a:latin typeface="Verdana" panose="020B0604030504040204" pitchFamily="34" charset="0"/>
                <a:ea typeface="Verdana" panose="020B0604030504040204" pitchFamily="34" charset="0"/>
              </a:rPr>
              <a:t>strlen</a:t>
            </a:r>
            <a:r>
              <a:rPr lang="en-US" sz="2400" b="1" dirty="0">
                <a:latin typeface="Verdana" panose="020B0604030504040204" pitchFamily="34" charset="0"/>
                <a:ea typeface="Verdana" panose="020B0604030504040204" pitchFamily="34" charset="0"/>
              </a:rPr>
              <a:t>()</a:t>
            </a:r>
            <a:r>
              <a:rPr lang="en-US" sz="2400" dirty="0">
                <a:latin typeface="Verdana" panose="020B0604030504040204" pitchFamily="34" charset="0"/>
                <a:ea typeface="Verdana" panose="020B0604030504040204" pitchFamily="34" charset="0"/>
              </a:rPr>
              <a:t> is used to find the length of given string. It does not count null </a:t>
            </a:r>
            <a:r>
              <a:rPr lang="en-US" sz="2400" b="1" dirty="0">
                <a:latin typeface="Verdana" panose="020B0604030504040204" pitchFamily="34" charset="0"/>
                <a:ea typeface="Verdana" panose="020B0604030504040204" pitchFamily="34" charset="0"/>
              </a:rPr>
              <a:t>(‘\0’) </a:t>
            </a:r>
            <a:r>
              <a:rPr lang="en-US" sz="2400" dirty="0">
                <a:latin typeface="Verdana" panose="020B0604030504040204" pitchFamily="34" charset="0"/>
                <a:ea typeface="Verdana" panose="020B0604030504040204" pitchFamily="34" charset="0"/>
              </a:rPr>
              <a:t>character. It returns number of character of the string.</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a:latin typeface="Verdana" panose="020B0604030504040204" pitchFamily="34" charset="0"/>
                <a:ea typeface="Verdana" panose="020B0604030504040204" pitchFamily="34" charset="0"/>
              </a:rPr>
              <a:t>Example:</a:t>
            </a:r>
            <a:r>
              <a:rPr lang="en-US" sz="2400" dirty="0">
                <a:latin typeface="Verdana" panose="020B0604030504040204" pitchFamily="34" charset="0"/>
                <a:ea typeface="Verdana" panose="020B0604030504040204" pitchFamily="34" charset="0"/>
              </a:rPr>
              <a:t> If you want to find the length of </a:t>
            </a:r>
            <a:r>
              <a:rPr lang="en-US" sz="2400" b="1" dirty="0">
                <a:latin typeface="Verdana" panose="020B0604030504040204" pitchFamily="34" charset="0"/>
                <a:ea typeface="Verdana" panose="020B0604030504040204" pitchFamily="34" charset="0"/>
              </a:rPr>
              <a:t>“Computer”</a:t>
            </a:r>
            <a:r>
              <a:rPr lang="en-US" sz="2400" dirty="0">
                <a:latin typeface="Verdana" panose="020B0604030504040204" pitchFamily="34" charset="0"/>
                <a:ea typeface="Verdana" panose="020B0604030504040204" pitchFamily="34" charset="0"/>
              </a:rPr>
              <a:t> it returns </a:t>
            </a:r>
            <a:r>
              <a:rPr lang="en-US" sz="2400" b="1" dirty="0">
                <a:latin typeface="Verdana" panose="020B0604030504040204" pitchFamily="34" charset="0"/>
                <a:ea typeface="Verdana" panose="020B0604030504040204" pitchFamily="34" charset="0"/>
              </a:rPr>
              <a:t>8</a:t>
            </a:r>
            <a:r>
              <a:rPr lang="en-US" sz="2400" dirty="0" smtClean="0">
                <a:latin typeface="Verdana" panose="020B0604030504040204" pitchFamily="34" charset="0"/>
                <a:ea typeface="Verdana" panose="020B0604030504040204" pitchFamily="34" charset="0"/>
              </a:rPr>
              <a:t>.</a:t>
            </a: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a:solidFill>
                  <a:prstClr val="black"/>
                </a:solidFill>
                <a:latin typeface="Verdana" panose="020B0604030504040204" pitchFamily="34" charset="0"/>
                <a:ea typeface="Verdana" panose="020B0604030504040204" pitchFamily="34" charset="0"/>
              </a:rPr>
              <a:t>s</a:t>
            </a:r>
            <a:r>
              <a:rPr lang="en-US" sz="2400" b="1" dirty="0" err="1" smtClean="0">
                <a:solidFill>
                  <a:prstClr val="black"/>
                </a:solidFill>
                <a:latin typeface="Verdana" panose="020B0604030504040204" pitchFamily="34" charset="0"/>
                <a:ea typeface="Verdana" panose="020B0604030504040204" pitchFamily="34" charset="0"/>
              </a:rPr>
              <a:t>trlen</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187389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401479"/>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string.h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a:t>
            </a:r>
            <a:r>
              <a:rPr lang="en-US" sz="2400" b="1" dirty="0" smtClean="0">
                <a:latin typeface="Courier New" panose="02070309020205020404" pitchFamily="49" charset="0"/>
                <a:ea typeface="Verdana" panose="020B0604030504040204" pitchFamily="34" charset="0"/>
                <a:cs typeface="Courier New" panose="02070309020205020404" pitchFamily="49" charset="0"/>
              </a:rPr>
              <a:t>[25];</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("Enter string : ");</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400" b="1" dirty="0" smtClean="0">
                <a:latin typeface="Courier New" panose="02070309020205020404" pitchFamily="49" charset="0"/>
                <a:ea typeface="Verdana" panose="020B0604030504040204" pitchFamily="34" charset="0"/>
                <a:cs typeface="Courier New" panose="02070309020205020404" pitchFamily="49" charset="0"/>
              </a:rPr>
              <a:t>("%s",&amp;</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(“String length is : %d",</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strlen</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206795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strlen</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82015"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129671" y="1111348"/>
            <a:ext cx="4750864"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Enter string : Computer</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String length is : 8</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78674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6328538" cy="5678478"/>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string.h</a:t>
            </a:r>
            <a:r>
              <a:rPr lang="en-US" sz="2400" b="1" dirty="0">
                <a:latin typeface="Courier New" panose="02070309020205020404" pitchFamily="49" charset="0"/>
                <a:ea typeface="Verdana" panose="020B0604030504040204" pitchFamily="34" charset="0"/>
                <a:cs typeface="Courier New" panose="02070309020205020404" pitchFamily="49" charset="0"/>
              </a:rPr>
              <a:t>&gt;</a:t>
            </a:r>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a:latin typeface="Courier New" panose="02070309020205020404" pitchFamily="49" charset="0"/>
                <a:ea typeface="Verdana" panose="020B0604030504040204" pitchFamily="34" charset="0"/>
                <a:cs typeface="Courier New" panose="02070309020205020404" pitchFamily="49" charset="0"/>
              </a:rPr>
              <a:t>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char </a:t>
            </a:r>
            <a:r>
              <a:rPr lang="en-US" sz="2400" b="1" dirty="0" err="1">
                <a:latin typeface="Courier New" panose="02070309020205020404" pitchFamily="49" charset="0"/>
                <a:ea typeface="Verdana" panose="020B0604030504040204" pitchFamily="34" charset="0"/>
                <a:cs typeface="Courier New" panose="02070309020205020404" pitchFamily="49" charset="0"/>
              </a:rPr>
              <a:t>str</a:t>
            </a:r>
            <a:r>
              <a:rPr lang="en-US" sz="2400" b="1" dirty="0">
                <a:latin typeface="Courier New" panose="02070309020205020404" pitchFamily="49" charset="0"/>
                <a:ea typeface="Verdana" panose="020B0604030504040204" pitchFamily="34" charset="0"/>
                <a:cs typeface="Courier New" panose="02070309020205020404" pitchFamily="49" charset="0"/>
              </a:rPr>
              <a:t>[25];</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0</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("Enter string : ");</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gets(</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while(</a:t>
            </a:r>
            <a:r>
              <a:rPr lang="en-US" sz="2400" b="1" dirty="0" err="1">
                <a:latin typeface="Courier New" panose="02070309020205020404" pitchFamily="49" charset="0"/>
                <a:ea typeface="Verdana" panose="020B0604030504040204" pitchFamily="34" charset="0"/>
                <a:cs typeface="Courier New" panose="02070309020205020404" pitchFamily="49" charset="0"/>
              </a:rPr>
              <a:t>str</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2" algn="just"/>
            <a:r>
              <a:rPr lang="en-US" sz="2400" b="1" dirty="0">
                <a:latin typeface="Courier New" panose="02070309020205020404" pitchFamily="49" charset="0"/>
                <a:ea typeface="Verdana" panose="020B0604030504040204" pitchFamily="34" charset="0"/>
                <a:cs typeface="Courier New" panose="02070309020205020404" pitchFamily="49" charset="0"/>
              </a:rPr>
              <a:t>i</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+ 1</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(“String length = %d”,</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0" y="520503"/>
            <a:ext cx="206795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strlen</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6795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- 2</a:t>
            </a:r>
            <a:endParaRPr lang="en-IN" sz="2000" b="1" dirty="0">
              <a:solidFill>
                <a:prstClr val="black"/>
              </a:solidFill>
              <a:latin typeface="Verdana" panose="020B0604030504040204" pitchFamily="34" charset="0"/>
              <a:ea typeface="Verdana" panose="020B0604030504040204" pitchFamily="34" charset="0"/>
            </a:endParaRPr>
          </a:p>
        </p:txBody>
      </p:sp>
      <p:sp>
        <p:nvSpPr>
          <p:cNvPr id="9" name="TextBox 8"/>
          <p:cNvSpPr txBox="1"/>
          <p:nvPr/>
        </p:nvSpPr>
        <p:spPr>
          <a:xfrm>
            <a:off x="7737231" y="1111348"/>
            <a:ext cx="4143304"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Enter string : C Fun</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String length is : 5</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70008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00" decel="100000"/>
                                        <p:tgtEl>
                                          <p:spTgt spid="9"/>
                                        </p:tgtEl>
                                      </p:cBhvr>
                                    </p:animEffect>
                                    <p:anim calcmode="lin" valueType="num">
                                      <p:cBhvr>
                                        <p:cTn id="8" dur="800" decel="100000" fill="hold"/>
                                        <p:tgtEl>
                                          <p:spTgt spid="9"/>
                                        </p:tgtEl>
                                        <p:attrNameLst>
                                          <p:attrName>style.rotation</p:attrName>
                                        </p:attrNameLst>
                                      </p:cBhvr>
                                      <p:tavLst>
                                        <p:tav tm="0">
                                          <p:val>
                                            <p:fltVal val="-90"/>
                                          </p:val>
                                        </p:tav>
                                        <p:tav tm="100000">
                                          <p:val>
                                            <p:fltVal val="0"/>
                                          </p:val>
                                        </p:tav>
                                      </p:tavLst>
                                    </p:anim>
                                    <p:anim calcmode="lin" valueType="num">
                                      <p:cBhvr>
                                        <p:cTn id="9" dur="800" decel="100000" fill="hold"/>
                                        <p:tgtEl>
                                          <p:spTgt spid="9"/>
                                        </p:tgtEl>
                                        <p:attrNameLst>
                                          <p:attrName>ppt_x</p:attrName>
                                        </p:attrNameLst>
                                      </p:cBhvr>
                                      <p:tavLst>
                                        <p:tav tm="0">
                                          <p:val>
                                            <p:strVal val="#ppt_x+0.4"/>
                                          </p:val>
                                        </p:tav>
                                        <p:tav tm="100000">
                                          <p:val>
                                            <p:strVal val="#ppt_x-0.05"/>
                                          </p:val>
                                        </p:tav>
                                      </p:tavLst>
                                    </p:anim>
                                    <p:anim calcmode="lin" valueType="num">
                                      <p:cBhvr>
                                        <p:cTn id="10" dur="800" decel="100000" fill="hold"/>
                                        <p:tgtEl>
                                          <p:spTgt spid="9"/>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2539157"/>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a:latin typeface="Verdana" panose="020B0604030504040204" pitchFamily="34" charset="0"/>
                <a:ea typeface="Verdana" panose="020B0604030504040204" pitchFamily="34" charset="0"/>
              </a:rPr>
              <a:t>strrev</a:t>
            </a:r>
            <a:r>
              <a:rPr lang="en-US" sz="2400" b="1" dirty="0">
                <a:latin typeface="Verdana" panose="020B0604030504040204" pitchFamily="34" charset="0"/>
                <a:ea typeface="Verdana" panose="020B0604030504040204" pitchFamily="34" charset="0"/>
              </a:rPr>
              <a:t>()</a:t>
            </a:r>
            <a:r>
              <a:rPr lang="en-US" sz="2400" dirty="0">
                <a:latin typeface="Verdana" panose="020B0604030504040204" pitchFamily="34" charset="0"/>
                <a:ea typeface="Verdana" panose="020B0604030504040204" pitchFamily="34" charset="0"/>
              </a:rPr>
              <a:t> is used to reverse a string.</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a:latin typeface="Verdana" panose="020B0604030504040204" pitchFamily="34" charset="0"/>
                <a:ea typeface="Verdana" panose="020B0604030504040204" pitchFamily="34" charset="0"/>
              </a:rPr>
              <a:t>Example:</a:t>
            </a:r>
            <a:r>
              <a:rPr lang="en-US" sz="2400" dirty="0">
                <a:latin typeface="Verdana" panose="020B0604030504040204" pitchFamily="34" charset="0"/>
                <a:ea typeface="Verdana" panose="020B0604030504040204" pitchFamily="34" charset="0"/>
              </a:rPr>
              <a:t> If you want to reverse string it shows </a:t>
            </a:r>
            <a:r>
              <a:rPr lang="en-US" sz="2400" b="1" dirty="0">
                <a:latin typeface="Verdana" panose="020B0604030504040204" pitchFamily="34" charset="0"/>
                <a:ea typeface="Verdana" panose="020B0604030504040204" pitchFamily="34" charset="0"/>
              </a:rPr>
              <a:t>“Hello”</a:t>
            </a:r>
            <a:r>
              <a:rPr lang="en-US" sz="2400" dirty="0">
                <a:latin typeface="Verdana" panose="020B0604030504040204" pitchFamily="34" charset="0"/>
                <a:ea typeface="Verdana" panose="020B0604030504040204" pitchFamily="34" charset="0"/>
              </a:rPr>
              <a:t> as “</a:t>
            </a:r>
            <a:r>
              <a:rPr lang="en-US" sz="2400" b="1" dirty="0" err="1">
                <a:latin typeface="Verdana" panose="020B0604030504040204" pitchFamily="34" charset="0"/>
                <a:ea typeface="Verdana" panose="020B0604030504040204" pitchFamily="34" charset="0"/>
              </a:rPr>
              <a:t>olleH</a:t>
            </a:r>
            <a:r>
              <a:rPr lang="en-US" sz="2400" b="1" dirty="0">
                <a:latin typeface="Verdana" panose="020B0604030504040204" pitchFamily="34" charset="0"/>
                <a:ea typeface="Verdana" panose="020B0604030504040204" pitchFamily="34" charset="0"/>
              </a:rPr>
              <a:t>”</a:t>
            </a:r>
            <a:r>
              <a:rPr lang="en-US" sz="2400" dirty="0">
                <a:latin typeface="Verdana" panose="020B0604030504040204" pitchFamily="34" charset="0"/>
                <a:ea typeface="Verdana" panose="020B0604030504040204" pitchFamily="34" charset="0"/>
              </a:rPr>
              <a:t>.</a:t>
            </a: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strrev</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6448947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632311"/>
          </a:xfrm>
          <a:prstGeom prst="rect">
            <a:avLst/>
          </a:prstGeom>
          <a:noFill/>
        </p:spPr>
        <p:txBody>
          <a:bodyPr wrap="square" rtlCol="0">
            <a:spAutoFit/>
          </a:bodyPr>
          <a:lstStyle/>
          <a:p>
            <a:pPr algn="just">
              <a:lnSpc>
                <a:spcPct val="150000"/>
              </a:lnSpc>
            </a:pPr>
            <a:r>
              <a:rPr lang="en-US" sz="2400" b="1" smtClean="0">
                <a:latin typeface="Courier New" panose="02070309020205020404" pitchFamily="49" charset="0"/>
                <a:ea typeface="Verdana" panose="020B0604030504040204" pitchFamily="34" charset="0"/>
                <a:cs typeface="Courier New" panose="02070309020205020404" pitchFamily="49" charset="0"/>
              </a:rPr>
              <a:t>#</a:t>
            </a: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string.h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a:t>
            </a:r>
            <a:r>
              <a:rPr lang="en-US" sz="2400" b="1" dirty="0" smtClean="0">
                <a:latin typeface="Courier New" panose="02070309020205020404" pitchFamily="49" charset="0"/>
                <a:ea typeface="Verdana" panose="020B0604030504040204" pitchFamily="34" charset="0"/>
                <a:cs typeface="Courier New" panose="02070309020205020404" pitchFamily="49" charset="0"/>
              </a:rPr>
              <a:t>[25];</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("Enter string : ");</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400" b="1" dirty="0" smtClean="0">
                <a:latin typeface="Courier New" panose="02070309020205020404" pitchFamily="49" charset="0"/>
                <a:ea typeface="Verdana" panose="020B0604030504040204" pitchFamily="34" charset="0"/>
                <a:cs typeface="Courier New" panose="02070309020205020404" pitchFamily="49" charset="0"/>
              </a:rPr>
              <a:t>("%s",&amp;</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(“Reverse string is : %s",</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strrev</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0;</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206795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strrev</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82015"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343335" y="1111348"/>
            <a:ext cx="4537200"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Enter string : CU</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Reverse string is : UC</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4274883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smtClean="0">
                <a:latin typeface="Verdana" panose="020B0604030504040204" pitchFamily="34" charset="0"/>
                <a:ea typeface="Verdana" panose="020B0604030504040204" pitchFamily="34" charset="0"/>
              </a:rPr>
              <a:t>strcpy</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is used to </a:t>
            </a:r>
            <a:r>
              <a:rPr lang="en-US" sz="2400" dirty="0" smtClean="0">
                <a:latin typeface="Verdana" panose="020B0604030504040204" pitchFamily="34" charset="0"/>
                <a:ea typeface="Verdana" panose="020B0604030504040204" pitchFamily="34" charset="0"/>
              </a:rPr>
              <a:t>copy source value to destination variable.</a:t>
            </a:r>
            <a:endParaRPr lang="en-US" sz="2400"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a:latin typeface="Verdana" panose="020B0604030504040204" pitchFamily="34" charset="0"/>
                <a:ea typeface="Verdana" panose="020B0604030504040204" pitchFamily="34" charset="0"/>
              </a:rPr>
              <a:t>Example:</a:t>
            </a:r>
            <a:r>
              <a:rPr lang="en-US" sz="2400" dirty="0">
                <a:latin typeface="Verdana" panose="020B0604030504040204" pitchFamily="34" charset="0"/>
                <a:ea typeface="Verdana" panose="020B0604030504040204" pitchFamily="34" charset="0"/>
              </a:rPr>
              <a:t> If you want to </a:t>
            </a:r>
            <a:r>
              <a:rPr lang="en-US" sz="2400" dirty="0" smtClean="0">
                <a:latin typeface="Verdana" panose="020B0604030504040204" pitchFamily="34" charset="0"/>
                <a:ea typeface="Verdana" panose="020B0604030504040204" pitchFamily="34" charset="0"/>
              </a:rPr>
              <a:t>copy one string to another the syntax is.</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Syntax:</a:t>
            </a:r>
            <a:r>
              <a:rPr lang="en-US" sz="2400"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strcpy</a:t>
            </a:r>
            <a:r>
              <a:rPr lang="en-US" sz="2400" dirty="0" smtClean="0">
                <a:latin typeface="Verdana" panose="020B0604030504040204" pitchFamily="34" charset="0"/>
                <a:ea typeface="Verdana" panose="020B0604030504040204" pitchFamily="34" charset="0"/>
              </a:rPr>
              <a:t> (destination, source);</a:t>
            </a: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strcpy</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0438870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863144"/>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string.h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char str1[25], str2[25];</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("Enter string : ");</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400" b="1" dirty="0" smtClean="0">
                <a:latin typeface="Courier New" panose="02070309020205020404" pitchFamily="49" charset="0"/>
                <a:ea typeface="Verdana" panose="020B0604030504040204" pitchFamily="34" charset="0"/>
                <a:cs typeface="Courier New" panose="02070309020205020404" pitchFamily="49" charset="0"/>
              </a:rPr>
              <a:t>("%s",&amp;str1);</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strcpy</a:t>
            </a:r>
            <a:r>
              <a:rPr lang="en-US" sz="2400" b="1" dirty="0" smtClean="0">
                <a:latin typeface="Courier New" panose="02070309020205020404" pitchFamily="49" charset="0"/>
                <a:ea typeface="Verdana" panose="020B0604030504040204" pitchFamily="34" charset="0"/>
                <a:cs typeface="Courier New" panose="02070309020205020404" pitchFamily="49" charset="0"/>
              </a:rPr>
              <a:t>( str2, str1);</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(“Value of str2 is : %s",str</a:t>
            </a:r>
            <a:r>
              <a:rPr lang="en-US" sz="2400" b="1" dirty="0">
                <a:latin typeface="Courier New" panose="02070309020205020404" pitchFamily="49" charset="0"/>
                <a:ea typeface="Verdana" panose="020B0604030504040204" pitchFamily="34" charset="0"/>
                <a:cs typeface="Courier New" panose="02070309020205020404" pitchFamily="49" charset="0"/>
              </a:rPr>
              <a:t>2</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206795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strcpy</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067952"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6963508" y="1111348"/>
            <a:ext cx="4917027"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Enter string : Hello</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Value of str2 is : Hello</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51073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309146"/>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smtClean="0">
                <a:latin typeface="Verdana" panose="020B0604030504040204" pitchFamily="34" charset="0"/>
                <a:ea typeface="Verdana" panose="020B0604030504040204" pitchFamily="34" charset="0"/>
              </a:rPr>
              <a:t>strncpy</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is known as bounded string copy it is </a:t>
            </a:r>
            <a:r>
              <a:rPr lang="en-US" sz="2400" dirty="0">
                <a:latin typeface="Verdana" panose="020B0604030504040204" pitchFamily="34" charset="0"/>
                <a:ea typeface="Verdana" panose="020B0604030504040204" pitchFamily="34" charset="0"/>
              </a:rPr>
              <a:t>used to </a:t>
            </a:r>
            <a:r>
              <a:rPr lang="en-US" sz="2400" dirty="0" smtClean="0">
                <a:latin typeface="Verdana" panose="020B0604030504040204" pitchFamily="34" charset="0"/>
                <a:ea typeface="Verdana" panose="020B0604030504040204" pitchFamily="34" charset="0"/>
              </a:rPr>
              <a:t>copy </a:t>
            </a:r>
            <a:r>
              <a:rPr lang="en-US" sz="2400" b="1" dirty="0" smtClean="0">
                <a:latin typeface="Verdana" panose="020B0604030504040204" pitchFamily="34" charset="0"/>
                <a:ea typeface="Verdana" panose="020B0604030504040204" pitchFamily="34" charset="0"/>
              </a:rPr>
              <a:t>n</a:t>
            </a:r>
            <a:r>
              <a:rPr lang="en-US" sz="2400" dirty="0" smtClean="0">
                <a:latin typeface="Verdana" panose="020B0604030504040204" pitchFamily="34" charset="0"/>
                <a:ea typeface="Verdana" panose="020B0604030504040204" pitchFamily="34" charset="0"/>
              </a:rPr>
              <a:t> (specified) number of character source value to destination variable.</a:t>
            </a:r>
            <a:endParaRPr lang="en-US" sz="2400"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a:latin typeface="Verdana" panose="020B0604030504040204" pitchFamily="34" charset="0"/>
                <a:ea typeface="Verdana" panose="020B0604030504040204" pitchFamily="34" charset="0"/>
              </a:rPr>
              <a:t>Example:</a:t>
            </a:r>
            <a:r>
              <a:rPr lang="en-US" sz="2400" dirty="0">
                <a:latin typeface="Verdana" panose="020B0604030504040204" pitchFamily="34" charset="0"/>
                <a:ea typeface="Verdana" panose="020B0604030504040204" pitchFamily="34" charset="0"/>
              </a:rPr>
              <a:t> If you want to </a:t>
            </a:r>
            <a:r>
              <a:rPr lang="en-US" sz="2400" dirty="0" smtClean="0">
                <a:latin typeface="Verdana" panose="020B0604030504040204" pitchFamily="34" charset="0"/>
                <a:ea typeface="Verdana" panose="020B0604030504040204" pitchFamily="34" charset="0"/>
              </a:rPr>
              <a:t>copy one string to another with specified number of character the syntax is.</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Syntax:</a:t>
            </a:r>
            <a:r>
              <a:rPr lang="en-US" sz="2400"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strncpy</a:t>
            </a:r>
            <a:r>
              <a:rPr lang="en-US" sz="2400" dirty="0" smtClean="0">
                <a:latin typeface="Verdana" panose="020B0604030504040204" pitchFamily="34" charset="0"/>
                <a:ea typeface="Verdana" panose="020B0604030504040204" pitchFamily="34" charset="0"/>
              </a:rPr>
              <a:t> (destination, source, n);</a:t>
            </a: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strncpy</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330980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632311"/>
          </a:xfrm>
          <a:prstGeom prst="rect">
            <a:avLst/>
          </a:prstGeom>
          <a:noFill/>
        </p:spPr>
        <p:txBody>
          <a:bodyPr wrap="square" rtlCol="0">
            <a:spAutoFit/>
          </a:bodyPr>
          <a:lstStyle/>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string.h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char str1[25] = “C Program”, str2[25];</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n = 5;</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strncpy</a:t>
            </a:r>
            <a:r>
              <a:rPr lang="en-US" sz="2400" b="1" dirty="0" smtClean="0">
                <a:latin typeface="Courier New" panose="02070309020205020404" pitchFamily="49" charset="0"/>
                <a:ea typeface="Verdana" panose="020B0604030504040204" pitchFamily="34" charset="0"/>
                <a:cs typeface="Courier New" panose="02070309020205020404" pitchFamily="49" charset="0"/>
              </a:rPr>
              <a:t>( str2, str1, n);</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(“Value of str2 is : %s",str</a:t>
            </a:r>
            <a:r>
              <a:rPr lang="en-US" sz="2400" b="1" dirty="0">
                <a:latin typeface="Courier New" panose="02070309020205020404" pitchFamily="49" charset="0"/>
                <a:ea typeface="Verdana" panose="020B0604030504040204" pitchFamily="34" charset="0"/>
                <a:cs typeface="Courier New" panose="02070309020205020404" pitchFamily="49" charset="0"/>
              </a:rPr>
              <a:t>2</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0;</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strncpy</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0" y="53129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6963508" y="1111348"/>
            <a:ext cx="4917027"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Value of str2 is : C Pro</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424232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124480"/>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string.h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char str1[25], str2[25];</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n;</a:t>
            </a:r>
          </a:p>
          <a:p>
            <a:pPr lvl="1" algn="just"/>
            <a:r>
              <a:rPr lang="en-US" sz="2400" b="1" dirty="0" err="1">
                <a:latin typeface="Courier New" panose="02070309020205020404" pitchFamily="49" charset="0"/>
                <a:ea typeface="Verdana" panose="020B0604030504040204" pitchFamily="34" charset="0"/>
                <a:cs typeface="Courier New" panose="02070309020205020404" pitchFamily="49" charset="0"/>
              </a:rPr>
              <a:t>p</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(“Enter string : “);</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gets(str1);</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(“Enter no. of character to be copy : “);</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d”,&amp;n</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strncpy</a:t>
            </a:r>
            <a:r>
              <a:rPr lang="en-US" sz="2400" b="1" dirty="0" smtClean="0">
                <a:latin typeface="Courier New" panose="02070309020205020404" pitchFamily="49" charset="0"/>
                <a:ea typeface="Verdana" panose="020B0604030504040204" pitchFamily="34" charset="0"/>
                <a:cs typeface="Courier New" panose="02070309020205020404" pitchFamily="49" charset="0"/>
              </a:rPr>
              <a:t>( str2, str1, n);</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(“Value of str2 is : %s",str</a:t>
            </a:r>
            <a:r>
              <a:rPr lang="en-US" sz="2400" b="1" dirty="0">
                <a:latin typeface="Courier New" panose="02070309020205020404" pitchFamily="49" charset="0"/>
                <a:ea typeface="Verdana" panose="020B0604030504040204" pitchFamily="34" charset="0"/>
                <a:cs typeface="Courier New" panose="02070309020205020404" pitchFamily="49" charset="0"/>
              </a:rPr>
              <a:t>2</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strncpy</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1"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- 2</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6963508" y="1111348"/>
            <a:ext cx="4917027" cy="2677656"/>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string : Hello C</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no of char : 5</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Value of str2 is : Hello</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39253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755148"/>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smtClean="0">
                <a:latin typeface="Verdana" panose="020B0604030504040204" pitchFamily="34" charset="0"/>
                <a:ea typeface="Verdana" panose="020B0604030504040204" pitchFamily="34" charset="0"/>
              </a:rPr>
              <a:t>strcat</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concatenates two strings and result is returned to </a:t>
            </a:r>
            <a:r>
              <a:rPr lang="en-US" sz="2400" dirty="0" smtClean="0">
                <a:latin typeface="Verdana" panose="020B0604030504040204" pitchFamily="34" charset="0"/>
                <a:ea typeface="Verdana" panose="020B0604030504040204" pitchFamily="34" charset="0"/>
              </a:rPr>
              <a:t>source string.</a:t>
            </a:r>
            <a:endParaRPr lang="en-US" sz="2400"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a:latin typeface="Verdana" panose="020B0604030504040204" pitchFamily="34" charset="0"/>
                <a:ea typeface="Verdana" panose="020B0604030504040204" pitchFamily="34" charset="0"/>
              </a:rPr>
              <a:t>Example:</a:t>
            </a:r>
            <a:r>
              <a:rPr lang="en-US" sz="2400" dirty="0">
                <a:latin typeface="Verdana" panose="020B0604030504040204" pitchFamily="34" charset="0"/>
                <a:ea typeface="Verdana" panose="020B0604030504040204" pitchFamily="34" charset="0"/>
              </a:rPr>
              <a:t> If you want to </a:t>
            </a:r>
            <a:r>
              <a:rPr lang="en-US" sz="2400" dirty="0" smtClean="0">
                <a:latin typeface="Verdana" panose="020B0604030504040204" pitchFamily="34" charset="0"/>
                <a:ea typeface="Verdana" panose="020B0604030504040204" pitchFamily="34" charset="0"/>
              </a:rPr>
              <a:t>concatenate one string to another </a:t>
            </a:r>
            <a:r>
              <a:rPr lang="en-US" sz="2400" b="1" dirty="0" err="1" smtClean="0">
                <a:latin typeface="Verdana" panose="020B0604030504040204" pitchFamily="34" charset="0"/>
                <a:ea typeface="Verdana" panose="020B0604030504040204" pitchFamily="34" charset="0"/>
              </a:rPr>
              <a:t>strcat</a:t>
            </a:r>
            <a:r>
              <a:rPr lang="en-US" sz="2400" dirty="0" smtClean="0">
                <a:latin typeface="Verdana" panose="020B0604030504040204" pitchFamily="34" charset="0"/>
                <a:ea typeface="Verdana" panose="020B0604030504040204" pitchFamily="34" charset="0"/>
              </a:rPr>
              <a:t> is used.</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Syntax:</a:t>
            </a:r>
            <a:r>
              <a:rPr lang="en-US" sz="2400"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strcat</a:t>
            </a:r>
            <a:r>
              <a:rPr lang="en-US" sz="2400" dirty="0" smtClean="0">
                <a:latin typeface="Verdana" panose="020B0604030504040204" pitchFamily="34" charset="0"/>
                <a:ea typeface="Verdana" panose="020B0604030504040204" pitchFamily="34" charset="0"/>
              </a:rPr>
              <a:t> (source, </a:t>
            </a:r>
            <a:r>
              <a:rPr lang="en-US" sz="2400" dirty="0" err="1" smtClean="0">
                <a:latin typeface="Verdana" panose="020B0604030504040204" pitchFamily="34" charset="0"/>
                <a:ea typeface="Verdana" panose="020B0604030504040204" pitchFamily="34" charset="0"/>
              </a:rPr>
              <a:t>new_string</a:t>
            </a:r>
            <a:r>
              <a:rPr lang="en-US" sz="2400" dirty="0" smtClean="0">
                <a:latin typeface="Verdana" panose="020B0604030504040204" pitchFamily="34" charset="0"/>
                <a:ea typeface="Verdana" panose="020B0604030504040204" pitchFamily="34" charset="0"/>
              </a:rPr>
              <a:t>);</a:t>
            </a: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strcat</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833752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816977"/>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string.h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char str1[25];</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(“Enter string : “);</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gets(str1);</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strcat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str1,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ming</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(“Value of str1 is : %s",str1);</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strcat</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0" y="531904"/>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5781822" y="1111348"/>
            <a:ext cx="6098713"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string : C Program</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Value of str2 is : C Programming</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42700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309146"/>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string.h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fname</a:t>
            </a:r>
            <a:r>
              <a:rPr lang="en-US" sz="2400" b="1" dirty="0" smtClean="0">
                <a:latin typeface="Courier New" panose="02070309020205020404" pitchFamily="49" charset="0"/>
                <a:ea typeface="Verdana" panose="020B0604030504040204" pitchFamily="34" charset="0"/>
                <a:cs typeface="Courier New" panose="02070309020205020404" pitchFamily="49" charset="0"/>
              </a:rPr>
              <a:t>[25]=“Peter”,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lname</a:t>
            </a:r>
            <a:r>
              <a:rPr lang="en-US" sz="2400" b="1" dirty="0" smtClean="0">
                <a:latin typeface="Courier New" panose="02070309020205020404" pitchFamily="49" charset="0"/>
                <a:ea typeface="Verdana" panose="020B0604030504040204" pitchFamily="34" charset="0"/>
                <a:cs typeface="Courier New" panose="02070309020205020404" pitchFamily="49" charset="0"/>
              </a:rPr>
              <a:t>[25]=“Smith”;</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strcat</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fname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strcat</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fname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lname</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(“Full name is : %s",</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fname</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strcat</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0"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- 2</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6865034" y="1111348"/>
            <a:ext cx="5015501"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Full name is : Peter Smith</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87889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755148"/>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smtClean="0">
                <a:latin typeface="Verdana" panose="020B0604030504040204" pitchFamily="34" charset="0"/>
                <a:ea typeface="Verdana" panose="020B0604030504040204" pitchFamily="34" charset="0"/>
              </a:rPr>
              <a:t>strcmp</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a:t>
            </a:r>
            <a:r>
              <a:rPr lang="en-US" sz="2400" dirty="0" smtClean="0">
                <a:latin typeface="Verdana" panose="020B0604030504040204" pitchFamily="34" charset="0"/>
                <a:ea typeface="Verdana" panose="020B0604030504040204" pitchFamily="34" charset="0"/>
              </a:rPr>
              <a:t>is used to compare two strings if strings are identical then it returns </a:t>
            </a:r>
            <a:r>
              <a:rPr lang="en-US" sz="2400" b="1" dirty="0" smtClean="0">
                <a:latin typeface="Verdana" panose="020B0604030504040204" pitchFamily="34" charset="0"/>
                <a:ea typeface="Verdana" panose="020B0604030504040204" pitchFamily="34" charset="0"/>
              </a:rPr>
              <a:t>0</a:t>
            </a:r>
            <a:r>
              <a:rPr lang="en-US" sz="2400" dirty="0" smtClean="0">
                <a:latin typeface="Verdana" panose="020B0604030504040204" pitchFamily="34" charset="0"/>
                <a:ea typeface="Verdana" panose="020B0604030504040204" pitchFamily="34" charset="0"/>
              </a:rPr>
              <a:t> otherwise it returns non zero values. It is case sensitive it means it checks small and capital letter.</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Example: </a:t>
            </a:r>
            <a:r>
              <a:rPr lang="en-US" sz="2400" dirty="0" smtClean="0">
                <a:latin typeface="Verdana" panose="020B0604030504040204" pitchFamily="34" charset="0"/>
                <a:ea typeface="Verdana" panose="020B0604030504040204" pitchFamily="34" charset="0"/>
              </a:rPr>
              <a:t>“Hello” and hello is not same.</a:t>
            </a:r>
            <a:endParaRPr lang="en-US" sz="2400" b="1"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Syntax:</a:t>
            </a:r>
            <a:r>
              <a:rPr lang="en-US" sz="2400" dirty="0" smtClean="0">
                <a:latin typeface="Verdana" panose="020B0604030504040204" pitchFamily="34" charset="0"/>
                <a:ea typeface="Verdana" panose="020B0604030504040204" pitchFamily="34"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strcmp</a:t>
            </a:r>
            <a:r>
              <a:rPr lang="en-US" sz="2400"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(String1, String2);</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strcmp</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45968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124480"/>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string.h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a:latin typeface="Courier New" panose="02070309020205020404" pitchFamily="49" charset="0"/>
                <a:ea typeface="Verdana" panose="020B0604030504040204" pitchFamily="34" charset="0"/>
                <a:cs typeface="Courier New" panose="02070309020205020404" pitchFamily="49" charset="0"/>
              </a:rPr>
              <a:t>str1[25]="Hello";</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a:latin typeface="Courier New" panose="02070309020205020404" pitchFamily="49" charset="0"/>
                <a:ea typeface="Verdana" panose="020B0604030504040204" pitchFamily="34" charset="0"/>
                <a:cs typeface="Courier New" panose="02070309020205020404" pitchFamily="49" charset="0"/>
              </a:rPr>
              <a:t>str2[25]="hello";</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a:latin typeface="Courier New" panose="02070309020205020404" pitchFamily="49" charset="0"/>
                <a:ea typeface="Verdana" panose="020B0604030504040204" pitchFamily="34" charset="0"/>
                <a:cs typeface="Courier New" panose="02070309020205020404" pitchFamily="49" charset="0"/>
              </a:rPr>
              <a:t>n=</a:t>
            </a:r>
            <a:r>
              <a:rPr lang="en-US" sz="2400" b="1" dirty="0" err="1">
                <a:latin typeface="Courier New" panose="02070309020205020404" pitchFamily="49" charset="0"/>
                <a:ea typeface="Verdana" panose="020B0604030504040204" pitchFamily="34" charset="0"/>
                <a:cs typeface="Courier New" panose="02070309020205020404" pitchFamily="49" charset="0"/>
              </a:rPr>
              <a:t>strcmp</a:t>
            </a:r>
            <a:r>
              <a:rPr lang="en-US" sz="2400" b="1" dirty="0">
                <a:latin typeface="Courier New" panose="02070309020205020404" pitchFamily="49" charset="0"/>
                <a:ea typeface="Verdana" panose="020B0604030504040204" pitchFamily="34" charset="0"/>
                <a:cs typeface="Courier New" panose="02070309020205020404" pitchFamily="49" charset="0"/>
              </a:rPr>
              <a:t>(str1,str2);</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if(n</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("Both strings are equal");</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else</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("Strings are not equal");</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strcmp</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0"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849772" y="1111348"/>
            <a:ext cx="4030763"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Strings are not equal</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82345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309146"/>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smtClean="0">
                <a:latin typeface="Verdana" panose="020B0604030504040204" pitchFamily="34" charset="0"/>
                <a:ea typeface="Verdana" panose="020B0604030504040204" pitchFamily="34" charset="0"/>
              </a:rPr>
              <a:t>stricmp</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a:t>
            </a:r>
            <a:r>
              <a:rPr lang="en-US" sz="2400" dirty="0" smtClean="0">
                <a:latin typeface="Verdana" panose="020B0604030504040204" pitchFamily="34" charset="0"/>
                <a:ea typeface="Verdana" panose="020B0604030504040204" pitchFamily="34" charset="0"/>
              </a:rPr>
              <a:t>is used to compare two strings if strings are identical then it returns </a:t>
            </a:r>
            <a:r>
              <a:rPr lang="en-US" sz="2400" b="1" dirty="0" smtClean="0">
                <a:latin typeface="Verdana" panose="020B0604030504040204" pitchFamily="34" charset="0"/>
                <a:ea typeface="Verdana" panose="020B0604030504040204" pitchFamily="34" charset="0"/>
              </a:rPr>
              <a:t>0</a:t>
            </a:r>
            <a:r>
              <a:rPr lang="en-US" sz="2400" dirty="0" smtClean="0">
                <a:latin typeface="Verdana" panose="020B0604030504040204" pitchFamily="34" charset="0"/>
                <a:ea typeface="Verdana" panose="020B0604030504040204" pitchFamily="34" charset="0"/>
              </a:rPr>
              <a:t> otherwise it returns non zero values. If we use </a:t>
            </a:r>
            <a:r>
              <a:rPr lang="en-US" sz="2400" b="1" dirty="0" err="1" smtClean="0">
                <a:latin typeface="Verdana" panose="020B0604030504040204" pitchFamily="34" charset="0"/>
                <a:ea typeface="Verdana" panose="020B0604030504040204" pitchFamily="34" charset="0"/>
              </a:rPr>
              <a:t>stricmp</a:t>
            </a:r>
            <a:r>
              <a:rPr lang="en-US" sz="2400" dirty="0" smtClean="0">
                <a:latin typeface="Verdana" panose="020B0604030504040204" pitchFamily="34" charset="0"/>
                <a:ea typeface="Verdana" panose="020B0604030504040204" pitchFamily="34" charset="0"/>
              </a:rPr>
              <a:t> it means it ignores small and capital letter it will check spelling only.</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Example: </a:t>
            </a:r>
            <a:r>
              <a:rPr lang="en-US" sz="2400" dirty="0" smtClean="0">
                <a:latin typeface="Verdana" panose="020B0604030504040204" pitchFamily="34" charset="0"/>
                <a:ea typeface="Verdana" panose="020B0604030504040204" pitchFamily="34" charset="0"/>
              </a:rPr>
              <a:t>“Hello” and hello is the same.</a:t>
            </a:r>
            <a:endParaRPr lang="en-US" sz="2400" b="1" dirty="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Syntax:</a:t>
            </a:r>
            <a:r>
              <a:rPr lang="en-US" sz="2400" dirty="0" smtClean="0">
                <a:latin typeface="Verdana" panose="020B0604030504040204" pitchFamily="34" charset="0"/>
                <a:ea typeface="Verdana" panose="020B0604030504040204" pitchFamily="34" charset="0"/>
              </a:rPr>
              <a:t>		</a:t>
            </a:r>
            <a:r>
              <a:rPr lang="en-US" sz="2400" dirty="0" err="1" smtClean="0">
                <a:latin typeface="Verdana" panose="020B0604030504040204" pitchFamily="34" charset="0"/>
                <a:ea typeface="Verdana" panose="020B0604030504040204" pitchFamily="34" charset="0"/>
              </a:rPr>
              <a:t>stricmp</a:t>
            </a:r>
            <a:r>
              <a:rPr lang="en-US" sz="2400" dirty="0" smtClean="0">
                <a:latin typeface="Verdana" panose="020B0604030504040204" pitchFamily="34" charset="0"/>
                <a:ea typeface="Verdana" panose="020B0604030504040204" pitchFamily="34" charset="0"/>
              </a:rPr>
              <a:t> (String1, String2);</a:t>
            </a: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stricmp</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9843357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124480"/>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string.h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a:latin typeface="Courier New" panose="02070309020205020404" pitchFamily="49" charset="0"/>
                <a:ea typeface="Verdana" panose="020B0604030504040204" pitchFamily="34" charset="0"/>
                <a:cs typeface="Courier New" panose="02070309020205020404" pitchFamily="49" charset="0"/>
              </a:rPr>
              <a:t>str1[25]="Hello";</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a:latin typeface="Courier New" panose="02070309020205020404" pitchFamily="49" charset="0"/>
                <a:ea typeface="Verdana" panose="020B0604030504040204" pitchFamily="34" charset="0"/>
                <a:cs typeface="Courier New" panose="02070309020205020404" pitchFamily="49" charset="0"/>
              </a:rPr>
              <a:t>str2[25]="hello";</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n =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stricmp</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(str1,str2</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if(n == 0</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("Both strings are equal");</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else</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("Strings are not equal");</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stricmp</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0" y="52544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849772" y="1111348"/>
            <a:ext cx="4030763"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Strings are equal</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61877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647152"/>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strncmp</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dirty="0" smtClean="0">
                <a:latin typeface="Courier New" panose="02070309020205020404" pitchFamily="49" charset="0"/>
                <a:ea typeface="Verdana" panose="020B0604030504040204" pitchFamily="34" charset="0"/>
                <a:cs typeface="Courier New" panose="02070309020205020404" pitchFamily="49" charset="0"/>
              </a:rPr>
              <a:t> </a:t>
            </a:r>
            <a:r>
              <a:rPr lang="en-US" sz="2400" dirty="0">
                <a:latin typeface="Verdana" panose="020B0604030504040204" pitchFamily="34" charset="0"/>
                <a:ea typeface="Verdana" panose="020B0604030504040204" pitchFamily="34" charset="0"/>
              </a:rPr>
              <a:t>function </a:t>
            </a:r>
            <a:r>
              <a:rPr lang="en-US" sz="2400" dirty="0" smtClean="0">
                <a:latin typeface="Verdana" panose="020B0604030504040204" pitchFamily="34" charset="0"/>
                <a:ea typeface="Verdana" panose="020B0604030504040204" pitchFamily="34" charset="0"/>
              </a:rPr>
              <a:t>is used to compare two strings at specified number of character with case sensitivity, if strings are identical then it returns 0 otherwise it returns non zero values. </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Syntax:</a:t>
            </a:r>
            <a:r>
              <a:rPr lang="en-US" sz="2400" dirty="0" smtClean="0">
                <a:latin typeface="Verdana" panose="020B0604030504040204" pitchFamily="34" charset="0"/>
                <a:ea typeface="Verdana" panose="020B0604030504040204" pitchFamily="34"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strncmp</a:t>
            </a:r>
            <a:r>
              <a:rPr lang="en-US" sz="2400" b="1" dirty="0" smtClean="0">
                <a:latin typeface="Courier New" panose="02070309020205020404" pitchFamily="49" charset="0"/>
                <a:ea typeface="Verdana" panose="020B0604030504040204" pitchFamily="34" charset="0"/>
                <a:cs typeface="Courier New" panose="02070309020205020404" pitchFamily="49" charset="0"/>
              </a:rPr>
              <a:t> (String1, String2, n);</a:t>
            </a: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3315"/>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strncmp</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7072550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124480"/>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string.h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a:latin typeface="Courier New" panose="02070309020205020404" pitchFamily="49" charset="0"/>
                <a:ea typeface="Verdana" panose="020B0604030504040204" pitchFamily="34" charset="0"/>
                <a:cs typeface="Courier New" panose="02070309020205020404" pitchFamily="49" charset="0"/>
              </a:rPr>
              <a:t>str1[25</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“Wonderful";</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a:latin typeface="Courier New" panose="02070309020205020404" pitchFamily="49" charset="0"/>
                <a:ea typeface="Verdana" panose="020B0604030504040204" pitchFamily="34" charset="0"/>
                <a:cs typeface="Courier New" panose="02070309020205020404" pitchFamily="49" charset="0"/>
              </a:rPr>
              <a:t>str2[25</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“Wonderer";</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n =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strncmp</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(str1,str2,7);</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if(n == 0</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("Both strings are equal");</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else</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("Strings are not equal");</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strncmp</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0"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849772" y="1111348"/>
            <a:ext cx="4030763"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Strings are not equal</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64868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2539157"/>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smtClean="0">
                <a:latin typeface="Verdana" panose="020B0604030504040204" pitchFamily="34" charset="0"/>
                <a:ea typeface="Verdana" panose="020B0604030504040204" pitchFamily="34" charset="0"/>
              </a:rPr>
              <a:t>strlwr</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returns given string in lowercase. </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Syntax:</a:t>
            </a:r>
            <a:r>
              <a:rPr lang="en-US" sz="2400" dirty="0" smtClean="0">
                <a:latin typeface="Verdana" panose="020B0604030504040204" pitchFamily="34" charset="0"/>
                <a:ea typeface="Verdana" panose="020B0604030504040204" pitchFamily="34"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strlwr</a:t>
            </a:r>
            <a:r>
              <a:rPr lang="en-US" sz="2400" b="1" dirty="0" smtClean="0">
                <a:latin typeface="Courier New" panose="02070309020205020404" pitchFamily="49" charset="0"/>
                <a:ea typeface="Verdana" panose="020B0604030504040204" pitchFamily="34" charset="0"/>
                <a:cs typeface="Courier New" panose="02070309020205020404" pitchFamily="49" charset="0"/>
              </a:rPr>
              <a:t> (String1);</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strlwr</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6827357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309146"/>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string.h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a:latin typeface="Courier New" panose="02070309020205020404" pitchFamily="49" charset="0"/>
                <a:ea typeface="Verdana" panose="020B0604030504040204" pitchFamily="34" charset="0"/>
                <a:cs typeface="Courier New" panose="02070309020205020404" pitchFamily="49" charset="0"/>
              </a:rPr>
              <a:t>str1[25</a:t>
            </a:r>
            <a:r>
              <a:rPr lang="en-US" sz="2400" b="1" dirty="0" smtClean="0">
                <a:latin typeface="Courier New" panose="02070309020205020404" pitchFamily="49" charset="0"/>
                <a:ea typeface="Verdana" panose="020B0604030504040204" pitchFamily="34" charset="0"/>
                <a:cs typeface="Courier New" panose="02070309020205020404" pitchFamily="49" charset="0"/>
              </a:rPr>
              <a:t>]=“Hello";</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Str1 </a:t>
            </a:r>
            <a:r>
              <a:rPr lang="en-US" sz="2400" b="1" dirty="0">
                <a:latin typeface="Courier New" panose="02070309020205020404" pitchFamily="49" charset="0"/>
                <a:ea typeface="Verdana" panose="020B0604030504040204" pitchFamily="34" charset="0"/>
                <a:cs typeface="Courier New" panose="02070309020205020404" pitchFamily="49" charset="0"/>
              </a:rPr>
              <a:t>= %s\n</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“,str1);</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(“Lowercase </a:t>
            </a:r>
            <a:r>
              <a:rPr lang="en-US" sz="2400" b="1" dirty="0">
                <a:latin typeface="Courier New" panose="02070309020205020404" pitchFamily="49" charset="0"/>
                <a:ea typeface="Verdana" panose="020B0604030504040204" pitchFamily="34" charset="0"/>
                <a:cs typeface="Courier New" panose="02070309020205020404" pitchFamily="49" charset="0"/>
              </a:rPr>
              <a:t>= %s\n</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strlwr</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(str1));</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strlwr</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0"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8510954" y="1111348"/>
            <a:ext cx="3369581"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Str1 = Hello</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Lowercase = hello</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42426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2539157"/>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endParaRPr lang="en-US" sz="24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String function </a:t>
            </a:r>
            <a:r>
              <a:rPr lang="en-US" sz="2400" b="1" dirty="0" err="1" smtClean="0">
                <a:latin typeface="Verdana" panose="020B0604030504040204" pitchFamily="34" charset="0"/>
                <a:ea typeface="Verdana" panose="020B0604030504040204" pitchFamily="34" charset="0"/>
              </a:rPr>
              <a:t>strupr</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returns given string in uppercase letter. </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Syntax:</a:t>
            </a:r>
            <a:r>
              <a:rPr lang="en-US" sz="2400" dirty="0" smtClean="0">
                <a:latin typeface="Verdana" panose="020B0604030504040204" pitchFamily="34" charset="0"/>
                <a:ea typeface="Verdana" panose="020B0604030504040204" pitchFamily="34"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strupr</a:t>
            </a:r>
            <a:r>
              <a:rPr lang="en-US" sz="2400" b="1" dirty="0" smtClean="0">
                <a:latin typeface="Courier New" panose="02070309020205020404" pitchFamily="49" charset="0"/>
                <a:ea typeface="Verdana" panose="020B0604030504040204" pitchFamily="34" charset="0"/>
                <a:cs typeface="Courier New" panose="02070309020205020404" pitchFamily="49" charset="0"/>
              </a:rPr>
              <a:t> (String1);</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326370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String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263706"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strupr</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671015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309146"/>
          </a:xfrm>
          <a:prstGeom prst="rect">
            <a:avLst/>
          </a:prstGeom>
          <a:noFill/>
        </p:spPr>
        <p:txBody>
          <a:bodyPr wrap="square" rtlCol="0">
            <a:spAutoFit/>
          </a:bodyPr>
          <a:lstStyle/>
          <a:p>
            <a:pPr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string.h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a:latin typeface="Courier New" panose="02070309020205020404" pitchFamily="49" charset="0"/>
                <a:ea typeface="Verdana" panose="020B0604030504040204" pitchFamily="34" charset="0"/>
                <a:cs typeface="Courier New" panose="02070309020205020404" pitchFamily="49" charset="0"/>
              </a:rPr>
              <a:t>str1[25</a:t>
            </a:r>
            <a:r>
              <a:rPr lang="en-US" sz="2400" b="1" dirty="0" smtClean="0">
                <a:latin typeface="Courier New" panose="02070309020205020404" pitchFamily="49" charset="0"/>
                <a:ea typeface="Verdana" panose="020B0604030504040204" pitchFamily="34" charset="0"/>
                <a:cs typeface="Courier New" panose="02070309020205020404" pitchFamily="49" charset="0"/>
              </a:rPr>
              <a:t>]=“Hello";</a:t>
            </a: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Str1 </a:t>
            </a:r>
            <a:r>
              <a:rPr lang="en-US" sz="2400" b="1" dirty="0">
                <a:latin typeface="Courier New" panose="02070309020205020404" pitchFamily="49" charset="0"/>
                <a:ea typeface="Verdana" panose="020B0604030504040204" pitchFamily="34" charset="0"/>
                <a:cs typeface="Courier New" panose="02070309020205020404" pitchFamily="49" charset="0"/>
              </a:rPr>
              <a:t>= %s\n</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“,str1);</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(“Uppercase </a:t>
            </a:r>
            <a:r>
              <a:rPr lang="en-US" sz="2400" b="1" dirty="0">
                <a:latin typeface="Courier New" panose="02070309020205020404" pitchFamily="49" charset="0"/>
                <a:ea typeface="Verdana" panose="020B0604030504040204" pitchFamily="34" charset="0"/>
                <a:cs typeface="Courier New" panose="02070309020205020404" pitchFamily="49" charset="0"/>
              </a:rPr>
              <a:t>= %s\n</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strupr</a:t>
            </a:r>
            <a:r>
              <a:rPr lang="en-US" sz="2400" b="1" dirty="0" smtClean="0">
                <a:latin typeface="Courier New" panose="02070309020205020404" pitchFamily="49" charset="0"/>
                <a:ea typeface="Verdana" panose="020B0604030504040204" pitchFamily="34" charset="0"/>
                <a:cs typeface="Courier New" panose="02070309020205020404" pitchFamily="49" charset="0"/>
              </a:rPr>
              <a:t>(str1));</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211015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strupr</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110150"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8496886" y="1111348"/>
            <a:ext cx="3383649"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Str1 = Hello</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Uppercase = HELLO</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987896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02" y="529670"/>
            <a:ext cx="11542646" cy="5911340"/>
          </a:xfrm>
          <a:prstGeom prst="rect">
            <a:avLst/>
          </a:prstGeom>
        </p:spPr>
      </p:pic>
    </p:spTree>
    <p:extLst>
      <p:ext uri="{BB962C8B-B14F-4D97-AF65-F5344CB8AC3E}">
        <p14:creationId xmlns:p14="http://schemas.microsoft.com/office/powerpoint/2010/main" val="34634587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47317"/>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All data is entered into computers as characters, which includes letters, digits and various special symbols</a:t>
            </a:r>
            <a:r>
              <a:rPr lang="en-US" sz="2400" dirty="0" smtClean="0">
                <a:latin typeface="Verdana" panose="020B0604030504040204" pitchFamily="34" charset="0"/>
                <a:ea typeface="Verdana" panose="020B0604030504040204" pitchFamily="34" charset="0"/>
              </a:rPr>
              <a:t>. </a:t>
            </a: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character-handling library includes several functions that perform useful tests and manipulations of character data. </a:t>
            </a:r>
            <a:endParaRPr lang="en-US" sz="2400" dirty="0" smtClean="0">
              <a:latin typeface="Verdana" panose="020B0604030504040204" pitchFamily="34" charset="0"/>
              <a:ea typeface="Verdana" panose="020B0604030504040204" pitchFamily="34" charset="0"/>
            </a:endParaRP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Character functions need </a:t>
            </a:r>
            <a:r>
              <a:rPr lang="en-US" sz="2400" b="1" dirty="0" err="1">
                <a:latin typeface="Verdana" panose="020B0604030504040204" pitchFamily="34" charset="0"/>
                <a:ea typeface="Verdana" panose="020B0604030504040204" pitchFamily="34" charset="0"/>
              </a:rPr>
              <a:t>ctype.h</a:t>
            </a:r>
            <a:r>
              <a:rPr lang="en-US" sz="2400" dirty="0">
                <a:latin typeface="Verdana" panose="020B0604030504040204" pitchFamily="34" charset="0"/>
                <a:ea typeface="Verdana" panose="020B0604030504040204" pitchFamily="34" charset="0"/>
              </a:rPr>
              <a:t> </a:t>
            </a:r>
            <a:r>
              <a:rPr lang="en-US" sz="2400" dirty="0" smtClean="0">
                <a:latin typeface="Verdana" panose="020B0604030504040204" pitchFamily="34" charset="0"/>
                <a:ea typeface="Verdana" panose="020B0604030504040204" pitchFamily="34" charset="0"/>
              </a:rPr>
              <a:t>header </a:t>
            </a:r>
            <a:r>
              <a:rPr lang="en-US" sz="2400" dirty="0">
                <a:latin typeface="Verdana" panose="020B0604030504040204" pitchFamily="34" charset="0"/>
                <a:ea typeface="Verdana" panose="020B0604030504040204" pitchFamily="34" charset="0"/>
              </a:rPr>
              <a:t>file to be included in the </a:t>
            </a:r>
            <a:r>
              <a:rPr lang="en-US" sz="2400" dirty="0" smtClean="0">
                <a:latin typeface="Verdana" panose="020B0604030504040204" pitchFamily="34" charset="0"/>
                <a:ea typeface="Verdana" panose="020B0604030504040204" pitchFamily="34" charset="0"/>
              </a:rPr>
              <a:t>program</a:t>
            </a:r>
            <a:r>
              <a:rPr lang="en-US" sz="2400" dirty="0">
                <a:latin typeface="Verdana" panose="020B0604030504040204" pitchFamily="34" charset="0"/>
                <a:ea typeface="Verdana" panose="020B0604030504040204" pitchFamily="34" charset="0"/>
              </a:rPr>
              <a:t>. Different character functions provided by C Language are:</a:t>
            </a:r>
          </a:p>
        </p:txBody>
      </p:sp>
      <p:sp>
        <p:nvSpPr>
          <p:cNvPr id="4" name="Rectangle 3"/>
          <p:cNvSpPr/>
          <p:nvPr/>
        </p:nvSpPr>
        <p:spPr>
          <a:xfrm>
            <a:off x="0" y="520503"/>
            <a:ext cx="386861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Character Function</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959737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b="1" dirty="0" err="1">
                <a:latin typeface="Verdana" panose="020B0604030504040204" pitchFamily="34" charset="0"/>
                <a:ea typeface="Verdana" panose="020B0604030504040204" pitchFamily="34" charset="0"/>
              </a:rPr>
              <a:t>isalpha</a:t>
            </a:r>
            <a:r>
              <a:rPr lang="en-US" sz="2400" b="1" dirty="0">
                <a:latin typeface="Verdana" panose="020B0604030504040204" pitchFamily="34" charset="0"/>
                <a:ea typeface="Verdana" panose="020B0604030504040204" pitchFamily="34" charset="0"/>
              </a:rPr>
              <a:t>()</a:t>
            </a:r>
            <a:r>
              <a:rPr lang="en-US" sz="2400" dirty="0">
                <a:latin typeface="Verdana" panose="020B0604030504040204" pitchFamily="34" charset="0"/>
                <a:ea typeface="Verdana" panose="020B0604030504040204" pitchFamily="34" charset="0"/>
              </a:rPr>
              <a:t> function in C language checks whether given character is </a:t>
            </a:r>
            <a:r>
              <a:rPr lang="en-US" sz="2400" dirty="0" smtClean="0">
                <a:latin typeface="Verdana" panose="020B0604030504040204" pitchFamily="34" charset="0"/>
                <a:ea typeface="Verdana" panose="020B0604030504040204" pitchFamily="34" charset="0"/>
              </a:rPr>
              <a:t>alphabet </a:t>
            </a:r>
            <a:r>
              <a:rPr lang="en-US" sz="2400" dirty="0">
                <a:latin typeface="Verdana" panose="020B0604030504040204" pitchFamily="34" charset="0"/>
                <a:ea typeface="Verdana" panose="020B0604030504040204" pitchFamily="34" charset="0"/>
              </a:rPr>
              <a:t>or not. </a:t>
            </a:r>
            <a:endParaRPr lang="en-US" sz="2400" dirty="0" smtClean="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a:t>
            </a:r>
            <a:r>
              <a:rPr lang="en-US" sz="2400" b="1" dirty="0" err="1">
                <a:latin typeface="Verdana" panose="020B0604030504040204" pitchFamily="34" charset="0"/>
                <a:ea typeface="Verdana" panose="020B0604030504040204" pitchFamily="34" charset="0"/>
              </a:rPr>
              <a:t>isalpha</a:t>
            </a:r>
            <a:r>
              <a:rPr lang="en-US" sz="2400" dirty="0">
                <a:latin typeface="Verdana" panose="020B0604030504040204" pitchFamily="34" charset="0"/>
                <a:ea typeface="Verdana" panose="020B0604030504040204" pitchFamily="34" charset="0"/>
              </a:rPr>
              <a:t> function returns a nonzero value if </a:t>
            </a:r>
            <a:r>
              <a:rPr lang="en-US" sz="2400"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is alphabetic and returns zero if </a:t>
            </a:r>
            <a:r>
              <a:rPr lang="en-US" sz="2400"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is not alphabetic</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	Syntax:</a:t>
            </a:r>
            <a:r>
              <a:rPr lang="en-US" sz="2400" b="1" dirty="0">
                <a:latin typeface="Verdana" panose="020B0604030504040204" pitchFamily="34" charset="0"/>
                <a:ea typeface="Verdana" panose="020B0604030504040204" pitchFamily="34" charset="0"/>
              </a:rPr>
              <a:t>	</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err="1">
                <a:latin typeface="Verdana" panose="020B0604030504040204" pitchFamily="34" charset="0"/>
                <a:ea typeface="Verdana" panose="020B0604030504040204" pitchFamily="34" charset="0"/>
              </a:rPr>
              <a:t>isalpha</a:t>
            </a:r>
            <a:r>
              <a:rPr lang="en-US" sz="2400" b="1" dirty="0">
                <a:latin typeface="Verdana" panose="020B0604030504040204" pitchFamily="34" charset="0"/>
                <a:ea typeface="Verdana" panose="020B0604030504040204" pitchFamily="34" charset="0"/>
              </a:rPr>
              <a:t>(</a:t>
            </a:r>
            <a:r>
              <a:rPr lang="en-US" sz="2400" b="1" dirty="0" err="1">
                <a:latin typeface="Verdana" panose="020B0604030504040204" pitchFamily="34" charset="0"/>
                <a:ea typeface="Verdana" panose="020B0604030504040204" pitchFamily="34" charset="0"/>
              </a:rPr>
              <a:t>int</a:t>
            </a:r>
            <a:r>
              <a:rPr lang="en-US" sz="2400" b="1" dirty="0">
                <a:latin typeface="Verdana" panose="020B0604030504040204" pitchFamily="34" charset="0"/>
                <a:ea typeface="Verdana" panose="020B0604030504040204" pitchFamily="34" charset="0"/>
              </a:rPr>
              <a:t> c);</a:t>
            </a:r>
          </a:p>
        </p:txBody>
      </p:sp>
      <p:sp>
        <p:nvSpPr>
          <p:cNvPr id="4" name="Rectangle 3"/>
          <p:cNvSpPr/>
          <p:nvPr/>
        </p:nvSpPr>
        <p:spPr>
          <a:xfrm>
            <a:off x="0" y="520503"/>
            <a:ext cx="386861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Character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868616"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err="1" smtClean="0">
                <a:solidFill>
                  <a:prstClr val="black"/>
                </a:solidFill>
                <a:latin typeface="Verdana" panose="020B0604030504040204" pitchFamily="34" charset="0"/>
                <a:ea typeface="Verdana" panose="020B0604030504040204" pitchFamily="34" charset="0"/>
              </a:rPr>
              <a:t>isalpha</a:t>
            </a:r>
            <a:r>
              <a:rPr lang="en-US" sz="2000" b="1" dirty="0" smtClean="0">
                <a:solidFill>
                  <a:prstClr val="black"/>
                </a:solidFill>
                <a:latin typeface="Verdana" panose="020B0604030504040204" pitchFamily="34" charset="0"/>
                <a:ea typeface="Verdana" panose="020B0604030504040204" pitchFamily="34" charset="0"/>
              </a:rPr>
              <a:t>()</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008845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055230"/>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ctype.h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char </a:t>
            </a:r>
            <a:r>
              <a:rPr lang="en-US" sz="2400" b="1" dirty="0" err="1">
                <a:latin typeface="Courier New" panose="02070309020205020404" pitchFamily="49" charset="0"/>
                <a:ea typeface="Verdana" panose="020B0604030504040204" pitchFamily="34" charset="0"/>
                <a:cs typeface="Courier New" panose="02070309020205020404" pitchFamily="49" charset="0"/>
              </a:rPr>
              <a:t>ch</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("Enter any character : ");</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400" b="1" dirty="0">
                <a:latin typeface="Courier New" panose="02070309020205020404" pitchFamily="49" charset="0"/>
                <a:ea typeface="Verdana" panose="020B0604030504040204" pitchFamily="34" charset="0"/>
                <a:cs typeface="Courier New" panose="02070309020205020404" pitchFamily="49" charset="0"/>
              </a:rPr>
              <a:t>("%c",&amp;</a:t>
            </a:r>
            <a:r>
              <a:rPr lang="en-US" sz="2400" b="1" dirty="0" err="1">
                <a:latin typeface="Courier New" panose="02070309020205020404" pitchFamily="49" charset="0"/>
                <a:ea typeface="Verdana" panose="020B0604030504040204" pitchFamily="34" charset="0"/>
                <a:cs typeface="Courier New" panose="02070309020205020404" pitchFamily="49" charset="0"/>
              </a:rPr>
              <a:t>ch</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if(</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isalpha</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ch</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("Entered character is alphabetic\n");</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else</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("Entered character is not alphabetic\n");</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223676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isalpha</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236761"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6344528" y="1111348"/>
            <a:ext cx="5536007" cy="1569660"/>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any character : A </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character is alphabetic</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40209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b="1" dirty="0" err="1" smtClean="0">
                <a:latin typeface="Verdana" panose="020B0604030504040204" pitchFamily="34" charset="0"/>
                <a:ea typeface="Verdana" panose="020B0604030504040204" pitchFamily="34" charset="0"/>
              </a:rPr>
              <a:t>isalnum</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in C language checks whether given character is </a:t>
            </a:r>
            <a:r>
              <a:rPr lang="en-US" sz="2400" dirty="0" smtClean="0">
                <a:latin typeface="Verdana" panose="020B0604030504040204" pitchFamily="34" charset="0"/>
                <a:ea typeface="Verdana" panose="020B0604030504040204" pitchFamily="34" charset="0"/>
              </a:rPr>
              <a:t>alphanumeric </a:t>
            </a:r>
            <a:r>
              <a:rPr lang="en-US" sz="2400" dirty="0">
                <a:latin typeface="Verdana" panose="020B0604030504040204" pitchFamily="34" charset="0"/>
                <a:ea typeface="Verdana" panose="020B0604030504040204" pitchFamily="34" charset="0"/>
              </a:rPr>
              <a:t>or not. </a:t>
            </a:r>
            <a:endParaRPr lang="en-US" sz="2400" dirty="0" smtClean="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a:t>
            </a:r>
            <a:r>
              <a:rPr lang="en-US" sz="2400" b="1" dirty="0" err="1" smtClean="0">
                <a:latin typeface="Verdana" panose="020B0604030504040204" pitchFamily="34" charset="0"/>
                <a:ea typeface="Verdana" panose="020B0604030504040204" pitchFamily="34" charset="0"/>
              </a:rPr>
              <a:t>isalnum</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returns a nonzero value if </a:t>
            </a:r>
            <a:r>
              <a:rPr lang="en-US" sz="2400" b="1"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is </a:t>
            </a:r>
            <a:r>
              <a:rPr lang="en-US" sz="2400" dirty="0" smtClean="0">
                <a:latin typeface="Verdana" panose="020B0604030504040204" pitchFamily="34" charset="0"/>
                <a:ea typeface="Verdana" panose="020B0604030504040204" pitchFamily="34" charset="0"/>
              </a:rPr>
              <a:t>alphanumeric </a:t>
            </a:r>
            <a:r>
              <a:rPr lang="en-US" sz="2400" dirty="0">
                <a:latin typeface="Verdana" panose="020B0604030504040204" pitchFamily="34" charset="0"/>
                <a:ea typeface="Verdana" panose="020B0604030504040204" pitchFamily="34" charset="0"/>
              </a:rPr>
              <a:t>and returns zero if </a:t>
            </a:r>
            <a:r>
              <a:rPr lang="en-US" sz="2400"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is not </a:t>
            </a:r>
            <a:r>
              <a:rPr lang="en-US" sz="2400" dirty="0" smtClean="0">
                <a:latin typeface="Verdana" panose="020B0604030504040204" pitchFamily="34" charset="0"/>
                <a:ea typeface="Verdana" panose="020B0604030504040204" pitchFamily="34" charset="0"/>
              </a:rPr>
              <a:t>alphanumeric.</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	Syntax:</a:t>
            </a:r>
            <a:r>
              <a:rPr lang="en-US" sz="2400" b="1" dirty="0">
                <a:latin typeface="Verdana" panose="020B0604030504040204" pitchFamily="34" charset="0"/>
                <a:ea typeface="Verdana" panose="020B0604030504040204" pitchFamily="34" charset="0"/>
              </a:rPr>
              <a:t>	</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isalnum</a:t>
            </a:r>
            <a:r>
              <a:rPr lang="en-US" sz="2400" b="1" dirty="0" smtClean="0">
                <a:latin typeface="Verdana" panose="020B0604030504040204" pitchFamily="34" charset="0"/>
                <a:ea typeface="Verdana" panose="020B0604030504040204" pitchFamily="34" charset="0"/>
              </a:rPr>
              <a:t>(</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a:latin typeface="Verdana" panose="020B0604030504040204" pitchFamily="34" charset="0"/>
                <a:ea typeface="Verdana" panose="020B0604030504040204" pitchFamily="34" charset="0"/>
              </a:rPr>
              <a:t>c);</a:t>
            </a:r>
          </a:p>
        </p:txBody>
      </p:sp>
      <p:sp>
        <p:nvSpPr>
          <p:cNvPr id="4" name="Rectangle 3"/>
          <p:cNvSpPr/>
          <p:nvPr/>
        </p:nvSpPr>
        <p:spPr>
          <a:xfrm>
            <a:off x="0" y="520503"/>
            <a:ext cx="386861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Character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882673"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err="1" smtClean="0">
                <a:solidFill>
                  <a:prstClr val="black"/>
                </a:solidFill>
                <a:latin typeface="Verdana" panose="020B0604030504040204" pitchFamily="34" charset="0"/>
                <a:ea typeface="Verdana" panose="020B0604030504040204" pitchFamily="34" charset="0"/>
              </a:rPr>
              <a:t>isalnum</a:t>
            </a:r>
            <a:r>
              <a:rPr lang="en-US" sz="2000" b="1" dirty="0" smtClean="0">
                <a:solidFill>
                  <a:prstClr val="black"/>
                </a:solidFill>
                <a:latin typeface="Verdana" panose="020B0604030504040204" pitchFamily="34" charset="0"/>
                <a:ea typeface="Verdana" panose="020B0604030504040204" pitchFamily="34" charset="0"/>
              </a:rPr>
              <a:t>()</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580084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201424"/>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ctype.h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fontAlgn="base"/>
            <a:r>
              <a:rPr lang="en-IN" sz="2400" b="1" dirty="0" err="1">
                <a:latin typeface="Courier New" panose="02070309020205020404" pitchFamily="49" charset="0"/>
                <a:cs typeface="Courier New" panose="02070309020205020404" pitchFamily="49" charset="0"/>
              </a:rPr>
              <a:t>int</a:t>
            </a:r>
            <a:r>
              <a:rPr lang="en-IN" sz="2400" b="1" dirty="0">
                <a:latin typeface="Courier New" panose="02070309020205020404" pitchFamily="49" charset="0"/>
                <a:cs typeface="Courier New" panose="02070309020205020404" pitchFamily="49" charset="0"/>
              </a:rPr>
              <a:t> main()</a:t>
            </a:r>
          </a:p>
          <a:p>
            <a:pPr fontAlgn="base"/>
            <a:r>
              <a:rPr lang="en-IN" sz="2400" b="1" dirty="0">
                <a:latin typeface="Courier New" panose="02070309020205020404" pitchFamily="49" charset="0"/>
                <a:cs typeface="Courier New" panose="02070309020205020404" pitchFamily="49" charset="0"/>
              </a:rPr>
              <a:t>{</a:t>
            </a:r>
          </a:p>
          <a:p>
            <a:pPr lvl="1" fontAlgn="base"/>
            <a:r>
              <a:rPr lang="en-IN" sz="2400" b="1" dirty="0" smtClean="0">
                <a:latin typeface="Courier New" panose="02070309020205020404" pitchFamily="49" charset="0"/>
                <a:cs typeface="Courier New" panose="02070309020205020404" pitchFamily="49" charset="0"/>
              </a:rPr>
              <a:t>char </a:t>
            </a:r>
            <a:r>
              <a:rPr lang="en-IN" sz="2400" b="1" dirty="0" err="1">
                <a:latin typeface="Courier New" panose="02070309020205020404" pitchFamily="49" charset="0"/>
                <a:cs typeface="Courier New" panose="02070309020205020404" pitchFamily="49" charset="0"/>
              </a:rPr>
              <a:t>ch</a:t>
            </a:r>
            <a:r>
              <a:rPr lang="en-IN" sz="2400" b="1" dirty="0">
                <a:latin typeface="Courier New" panose="02070309020205020404" pitchFamily="49" charset="0"/>
                <a:cs typeface="Courier New" panose="02070309020205020404" pitchFamily="49" charset="0"/>
              </a:rPr>
              <a:t>;</a:t>
            </a:r>
          </a:p>
          <a:p>
            <a:pPr lvl="1" fontAlgn="base"/>
            <a:r>
              <a:rPr lang="en-IN" sz="2400" b="1" dirty="0" err="1" smtClean="0">
                <a:latin typeface="Courier New" panose="02070309020205020404" pitchFamily="49" charset="0"/>
                <a:cs typeface="Courier New" panose="02070309020205020404" pitchFamily="49" charset="0"/>
              </a:rPr>
              <a:t>printf</a:t>
            </a:r>
            <a:r>
              <a:rPr lang="en-IN" sz="2400" b="1" dirty="0">
                <a:latin typeface="Courier New" panose="02070309020205020404" pitchFamily="49" charset="0"/>
                <a:cs typeface="Courier New" panose="02070309020205020404" pitchFamily="49" charset="0"/>
              </a:rPr>
              <a:t>("Enter any </a:t>
            </a:r>
            <a:r>
              <a:rPr lang="en-IN" sz="2400" b="1" dirty="0" smtClean="0">
                <a:latin typeface="Courier New" panose="02070309020205020404" pitchFamily="49" charset="0"/>
                <a:cs typeface="Courier New" panose="02070309020205020404" pitchFamily="49" charset="0"/>
              </a:rPr>
              <a:t>character</a:t>
            </a:r>
            <a:r>
              <a:rPr lang="en-IN" sz="2400" b="1" dirty="0">
                <a:latin typeface="Courier New" panose="02070309020205020404" pitchFamily="49" charset="0"/>
                <a:cs typeface="Courier New" panose="02070309020205020404" pitchFamily="49" charset="0"/>
              </a:rPr>
              <a:t> </a:t>
            </a:r>
            <a:r>
              <a:rPr lang="en-IN" sz="2400" b="1" dirty="0" smtClean="0">
                <a:latin typeface="Courier New" panose="02070309020205020404" pitchFamily="49" charset="0"/>
                <a:cs typeface="Courier New" panose="02070309020205020404" pitchFamily="49" charset="0"/>
              </a:rPr>
              <a:t>: ");</a:t>
            </a:r>
            <a:endParaRPr lang="en-IN" sz="2400" b="1" dirty="0">
              <a:latin typeface="Courier New" panose="02070309020205020404" pitchFamily="49" charset="0"/>
              <a:cs typeface="Courier New" panose="02070309020205020404" pitchFamily="49" charset="0"/>
            </a:endParaRPr>
          </a:p>
          <a:p>
            <a:pPr lvl="1" fontAlgn="base"/>
            <a:r>
              <a:rPr lang="en-IN" sz="2400" b="1" dirty="0" err="1" smtClean="0">
                <a:latin typeface="Courier New" panose="02070309020205020404" pitchFamily="49" charset="0"/>
                <a:cs typeface="Courier New" panose="02070309020205020404" pitchFamily="49" charset="0"/>
              </a:rPr>
              <a:t>scanf</a:t>
            </a:r>
            <a:r>
              <a:rPr lang="en-IN" sz="2400" b="1" dirty="0">
                <a:latin typeface="Courier New" panose="02070309020205020404" pitchFamily="49" charset="0"/>
                <a:cs typeface="Courier New" panose="02070309020205020404" pitchFamily="49" charset="0"/>
              </a:rPr>
              <a:t>("%c", &amp;</a:t>
            </a:r>
            <a:r>
              <a:rPr lang="en-IN" sz="2400" b="1" dirty="0" err="1">
                <a:latin typeface="Courier New" panose="02070309020205020404" pitchFamily="49" charset="0"/>
                <a:cs typeface="Courier New" panose="02070309020205020404" pitchFamily="49" charset="0"/>
              </a:rPr>
              <a:t>ch</a:t>
            </a:r>
            <a:r>
              <a:rPr lang="en-IN" sz="2400" b="1" dirty="0" smtClean="0">
                <a:latin typeface="Courier New" panose="02070309020205020404" pitchFamily="49" charset="0"/>
                <a:cs typeface="Courier New" panose="02070309020205020404" pitchFamily="49" charset="0"/>
              </a:rPr>
              <a:t>);</a:t>
            </a:r>
            <a:endParaRPr lang="en-IN" sz="2400" b="1" dirty="0">
              <a:latin typeface="Courier New" panose="02070309020205020404" pitchFamily="49" charset="0"/>
              <a:cs typeface="Courier New" panose="02070309020205020404" pitchFamily="49" charset="0"/>
            </a:endParaRPr>
          </a:p>
          <a:p>
            <a:pPr lvl="1" fontAlgn="base"/>
            <a:r>
              <a:rPr lang="en-IN" sz="2400" b="1" dirty="0" smtClean="0">
                <a:latin typeface="Courier New" panose="02070309020205020404" pitchFamily="49" charset="0"/>
                <a:cs typeface="Courier New" panose="02070309020205020404" pitchFamily="49" charset="0"/>
              </a:rPr>
              <a:t>if </a:t>
            </a:r>
            <a:r>
              <a:rPr lang="en-IN" sz="2400" b="1" dirty="0">
                <a:latin typeface="Courier New" panose="02070309020205020404" pitchFamily="49" charset="0"/>
                <a:cs typeface="Courier New" panose="02070309020205020404" pitchFamily="49" charset="0"/>
              </a:rPr>
              <a:t>( </a:t>
            </a:r>
            <a:r>
              <a:rPr lang="en-IN" sz="2400" b="1" dirty="0" err="1">
                <a:latin typeface="Courier New" panose="02070309020205020404" pitchFamily="49" charset="0"/>
                <a:cs typeface="Courier New" panose="02070309020205020404" pitchFamily="49" charset="0"/>
              </a:rPr>
              <a:t>isalnum</a:t>
            </a:r>
            <a:r>
              <a:rPr lang="en-IN" sz="2400" b="1" dirty="0">
                <a:latin typeface="Courier New" panose="02070309020205020404" pitchFamily="49" charset="0"/>
                <a:cs typeface="Courier New" panose="02070309020205020404" pitchFamily="49" charset="0"/>
              </a:rPr>
              <a:t> ( </a:t>
            </a:r>
            <a:r>
              <a:rPr lang="en-IN" sz="2400" b="1" dirty="0" err="1">
                <a:latin typeface="Courier New" panose="02070309020205020404" pitchFamily="49" charset="0"/>
                <a:cs typeface="Courier New" panose="02070309020205020404" pitchFamily="49" charset="0"/>
              </a:rPr>
              <a:t>ch</a:t>
            </a:r>
            <a:r>
              <a:rPr lang="en-IN" sz="2400" b="1" dirty="0">
                <a:latin typeface="Courier New" panose="02070309020205020404" pitchFamily="49" charset="0"/>
                <a:cs typeface="Courier New" panose="02070309020205020404" pitchFamily="49" charset="0"/>
              </a:rPr>
              <a:t> ) )</a:t>
            </a:r>
          </a:p>
          <a:p>
            <a:pPr lvl="2" fontAlgn="base"/>
            <a:r>
              <a:rPr lang="en-IN" sz="2400" b="1" dirty="0" err="1" smtClean="0">
                <a:latin typeface="Courier New" panose="02070309020205020404" pitchFamily="49" charset="0"/>
                <a:cs typeface="Courier New" panose="02070309020205020404" pitchFamily="49" charset="0"/>
              </a:rPr>
              <a:t>printf</a:t>
            </a:r>
            <a:r>
              <a:rPr lang="en-IN" sz="2400" b="1" dirty="0" smtClean="0">
                <a:latin typeface="Courier New" panose="02070309020205020404" pitchFamily="49" charset="0"/>
                <a:cs typeface="Courier New" panose="02070309020205020404" pitchFamily="49" charset="0"/>
              </a:rPr>
              <a:t>("Entered </a:t>
            </a:r>
            <a:r>
              <a:rPr lang="en-IN" sz="2400" b="1" dirty="0">
                <a:latin typeface="Courier New" panose="02070309020205020404" pitchFamily="49" charset="0"/>
                <a:cs typeface="Courier New" panose="02070309020205020404" pitchFamily="49" charset="0"/>
              </a:rPr>
              <a:t>character is </a:t>
            </a:r>
            <a:r>
              <a:rPr lang="en-IN" sz="2400" b="1" dirty="0" smtClean="0">
                <a:latin typeface="Courier New" panose="02070309020205020404" pitchFamily="49" charset="0"/>
                <a:cs typeface="Courier New" panose="02070309020205020404" pitchFamily="49" charset="0"/>
              </a:rPr>
              <a:t>alphanumeric\n");</a:t>
            </a:r>
            <a:endParaRPr lang="en-IN" sz="2400" b="1" dirty="0">
              <a:latin typeface="Courier New" panose="02070309020205020404" pitchFamily="49" charset="0"/>
              <a:cs typeface="Courier New" panose="02070309020205020404" pitchFamily="49" charset="0"/>
            </a:endParaRPr>
          </a:p>
          <a:p>
            <a:pPr lvl="1" fontAlgn="base"/>
            <a:r>
              <a:rPr lang="en-IN" sz="2400" b="1" dirty="0" smtClean="0">
                <a:latin typeface="Courier New" panose="02070309020205020404" pitchFamily="49" charset="0"/>
                <a:cs typeface="Courier New" panose="02070309020205020404" pitchFamily="49" charset="0"/>
              </a:rPr>
              <a:t>else</a:t>
            </a:r>
            <a:endParaRPr lang="en-IN" sz="2400" b="1" dirty="0">
              <a:latin typeface="Courier New" panose="02070309020205020404" pitchFamily="49" charset="0"/>
              <a:cs typeface="Courier New" panose="02070309020205020404" pitchFamily="49" charset="0"/>
            </a:endParaRPr>
          </a:p>
          <a:p>
            <a:pPr lvl="2" fontAlgn="base"/>
            <a:r>
              <a:rPr lang="en-IN" sz="2400" b="1" dirty="0" err="1" smtClean="0">
                <a:latin typeface="Courier New" panose="02070309020205020404" pitchFamily="49" charset="0"/>
                <a:cs typeface="Courier New" panose="02070309020205020404" pitchFamily="49" charset="0"/>
              </a:rPr>
              <a:t>printf</a:t>
            </a:r>
            <a:r>
              <a:rPr lang="en-IN" sz="2400" b="1" dirty="0" smtClean="0">
                <a:latin typeface="Courier New" panose="02070309020205020404" pitchFamily="49" charset="0"/>
                <a:cs typeface="Courier New" panose="02070309020205020404" pitchFamily="49" charset="0"/>
              </a:rPr>
              <a:t>("Entered </a:t>
            </a:r>
            <a:r>
              <a:rPr lang="en-IN" sz="2400" b="1" dirty="0">
                <a:latin typeface="Courier New" panose="02070309020205020404" pitchFamily="49" charset="0"/>
                <a:cs typeface="Courier New" panose="02070309020205020404" pitchFamily="49" charset="0"/>
              </a:rPr>
              <a:t>character is not </a:t>
            </a:r>
            <a:r>
              <a:rPr lang="en-IN" sz="2400" b="1" dirty="0" smtClean="0">
                <a:latin typeface="Courier New" panose="02070309020205020404" pitchFamily="49" charset="0"/>
                <a:cs typeface="Courier New" panose="02070309020205020404" pitchFamily="49" charset="0"/>
              </a:rPr>
              <a:t>alphanumeric\n");</a:t>
            </a:r>
          </a:p>
          <a:p>
            <a:pPr lvl="1" fontAlgn="base"/>
            <a:r>
              <a:rPr lang="en-US" sz="2400" b="1" dirty="0" smtClean="0">
                <a:latin typeface="Courier New" panose="02070309020205020404" pitchFamily="49" charset="0"/>
                <a:cs typeface="Courier New" panose="02070309020205020404" pitchFamily="49" charset="0"/>
              </a:rPr>
              <a:t>return 0;</a:t>
            </a:r>
            <a:endParaRPr lang="en-IN" sz="2400" b="1" dirty="0">
              <a:latin typeface="Courier New" panose="02070309020205020404" pitchFamily="49" charset="0"/>
              <a:cs typeface="Courier New" panose="02070309020205020404" pitchFamily="49" charset="0"/>
            </a:endParaRPr>
          </a:p>
          <a:p>
            <a:pPr fontAlgn="base"/>
            <a:r>
              <a:rPr lang="en-IN" sz="2400" b="1" dirty="0" smtClean="0">
                <a:latin typeface="Courier New" panose="02070309020205020404" pitchFamily="49" charset="0"/>
                <a:cs typeface="Courier New" panose="02070309020205020404" pitchFamily="49" charset="0"/>
              </a:rPr>
              <a:t>}</a:t>
            </a:r>
            <a:endParaRPr lang="en-IN" sz="2400" b="1" dirty="0">
              <a:latin typeface="Courier New" panose="02070309020205020404" pitchFamily="49" charset="0"/>
              <a:cs typeface="Courier New" panose="02070309020205020404" pitchFamily="49" charset="0"/>
            </a:endParaRPr>
          </a:p>
        </p:txBody>
      </p:sp>
      <p:sp>
        <p:nvSpPr>
          <p:cNvPr id="4" name="Rectangle 3"/>
          <p:cNvSpPr/>
          <p:nvPr/>
        </p:nvSpPr>
        <p:spPr>
          <a:xfrm>
            <a:off x="-1" y="520503"/>
            <a:ext cx="223676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isalnum</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236761"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5992838" y="1111348"/>
            <a:ext cx="5887698" cy="1569660"/>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any character : A or 4</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character is alphanumeric</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217538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b="1" dirty="0" err="1" smtClean="0">
                <a:latin typeface="Verdana" panose="020B0604030504040204" pitchFamily="34" charset="0"/>
                <a:ea typeface="Verdana" panose="020B0604030504040204" pitchFamily="34" charset="0"/>
              </a:rPr>
              <a:t>isdigit</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in C language checks whether given character is </a:t>
            </a:r>
            <a:r>
              <a:rPr lang="en-US" sz="2400" dirty="0" smtClean="0">
                <a:latin typeface="Verdana" panose="020B0604030504040204" pitchFamily="34" charset="0"/>
                <a:ea typeface="Verdana" panose="020B0604030504040204" pitchFamily="34" charset="0"/>
              </a:rPr>
              <a:t>digit </a:t>
            </a:r>
            <a:r>
              <a:rPr lang="en-US" sz="2400" dirty="0">
                <a:latin typeface="Verdana" panose="020B0604030504040204" pitchFamily="34" charset="0"/>
                <a:ea typeface="Verdana" panose="020B0604030504040204" pitchFamily="34" charset="0"/>
              </a:rPr>
              <a:t>or not</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a:t>
            </a:r>
            <a:r>
              <a:rPr lang="en-US" sz="2400" b="1" dirty="0" err="1" smtClean="0">
                <a:latin typeface="Verdana" panose="020B0604030504040204" pitchFamily="34" charset="0"/>
                <a:ea typeface="Verdana" panose="020B0604030504040204" pitchFamily="34" charset="0"/>
              </a:rPr>
              <a:t>isdigit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returns a nonzero value if </a:t>
            </a:r>
            <a:r>
              <a:rPr lang="en-US" sz="2400" b="1"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is </a:t>
            </a:r>
            <a:r>
              <a:rPr lang="en-US" sz="2400" dirty="0" smtClean="0">
                <a:latin typeface="Verdana" panose="020B0604030504040204" pitchFamily="34" charset="0"/>
                <a:ea typeface="Verdana" panose="020B0604030504040204" pitchFamily="34" charset="0"/>
              </a:rPr>
              <a:t>digit </a:t>
            </a:r>
            <a:r>
              <a:rPr lang="en-US" sz="2400" dirty="0">
                <a:latin typeface="Verdana" panose="020B0604030504040204" pitchFamily="34" charset="0"/>
                <a:ea typeface="Verdana" panose="020B0604030504040204" pitchFamily="34" charset="0"/>
              </a:rPr>
              <a:t>and returns zero if </a:t>
            </a:r>
            <a:r>
              <a:rPr lang="en-US" sz="2400"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is not </a:t>
            </a:r>
            <a:r>
              <a:rPr lang="en-US" sz="2400" dirty="0" smtClean="0">
                <a:latin typeface="Verdana" panose="020B0604030504040204" pitchFamily="34" charset="0"/>
                <a:ea typeface="Verdana" panose="020B0604030504040204" pitchFamily="34" charset="0"/>
              </a:rPr>
              <a:t>a digit.</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	Syntax:</a:t>
            </a:r>
            <a:r>
              <a:rPr lang="en-US" sz="2400" b="1" dirty="0">
                <a:latin typeface="Verdana" panose="020B0604030504040204" pitchFamily="34" charset="0"/>
                <a:ea typeface="Verdana" panose="020B0604030504040204" pitchFamily="34" charset="0"/>
              </a:rPr>
              <a:t>	</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isdigit</a:t>
            </a:r>
            <a:r>
              <a:rPr lang="en-US" sz="2400" b="1" dirty="0" smtClean="0">
                <a:latin typeface="Verdana" panose="020B0604030504040204" pitchFamily="34" charset="0"/>
                <a:ea typeface="Verdana" panose="020B0604030504040204" pitchFamily="34" charset="0"/>
              </a:rPr>
              <a:t>(</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a:latin typeface="Verdana" panose="020B0604030504040204" pitchFamily="34" charset="0"/>
                <a:ea typeface="Verdana" panose="020B0604030504040204" pitchFamily="34" charset="0"/>
              </a:rPr>
              <a:t>c);</a:t>
            </a:r>
          </a:p>
        </p:txBody>
      </p:sp>
      <p:sp>
        <p:nvSpPr>
          <p:cNvPr id="4" name="Rectangle 3"/>
          <p:cNvSpPr/>
          <p:nvPr/>
        </p:nvSpPr>
        <p:spPr>
          <a:xfrm>
            <a:off x="0" y="520503"/>
            <a:ext cx="386861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Character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868616"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err="1" smtClean="0">
                <a:solidFill>
                  <a:prstClr val="black"/>
                </a:solidFill>
                <a:latin typeface="Verdana" panose="020B0604030504040204" pitchFamily="34" charset="0"/>
                <a:ea typeface="Verdana" panose="020B0604030504040204" pitchFamily="34" charset="0"/>
              </a:rPr>
              <a:t>isdigit</a:t>
            </a:r>
            <a:r>
              <a:rPr lang="en-US" sz="2000" b="1" dirty="0" smtClean="0">
                <a:solidFill>
                  <a:prstClr val="black"/>
                </a:solidFill>
                <a:latin typeface="Verdana" panose="020B0604030504040204" pitchFamily="34" charset="0"/>
                <a:ea typeface="Verdana" panose="020B0604030504040204" pitchFamily="34" charset="0"/>
              </a:rPr>
              <a:t>()</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715835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570756"/>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ctype.h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fontAlgn="base"/>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pPr fontAlgn="base"/>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char </a:t>
            </a:r>
            <a:r>
              <a:rPr lang="en-US" sz="2400" b="1" dirty="0" err="1">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("Enter any </a:t>
            </a:r>
            <a:r>
              <a:rPr lang="en-US" sz="2400" b="1" dirty="0" smtClean="0">
                <a:latin typeface="Courier New" panose="02070309020205020404" pitchFamily="49" charset="0"/>
                <a:cs typeface="Courier New" panose="02070309020205020404" pitchFamily="49" charset="0"/>
              </a:rPr>
              <a:t>character</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scanf</a:t>
            </a:r>
            <a:r>
              <a:rPr lang="en-US" sz="2400" b="1" dirty="0">
                <a:latin typeface="Courier New" panose="02070309020205020404" pitchFamily="49" charset="0"/>
                <a:cs typeface="Courier New" panose="02070309020205020404" pitchFamily="49" charset="0"/>
              </a:rPr>
              <a:t>("%c", &amp;</a:t>
            </a:r>
            <a:r>
              <a:rPr lang="en-US" sz="2400" b="1" dirty="0" err="1">
                <a:latin typeface="Courier New" panose="02070309020205020404" pitchFamily="49" charset="0"/>
                <a:cs typeface="Courier New" panose="02070309020205020404" pitchFamily="49" charset="0"/>
              </a:rPr>
              <a:t>ch</a:t>
            </a:r>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if </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isdigit</a:t>
            </a:r>
            <a:r>
              <a:rPr lang="en-US" sz="2400" b="1" dirty="0">
                <a:latin typeface="Courier New" panose="02070309020205020404" pitchFamily="49" charset="0"/>
                <a:cs typeface="Courier New" panose="02070309020205020404" pitchFamily="49" charset="0"/>
              </a:rPr>
              <a:t> ( </a:t>
            </a:r>
            <a:r>
              <a:rPr lang="en-US" sz="2400" b="1" dirty="0" err="1">
                <a:latin typeface="Courier New" panose="02070309020205020404" pitchFamily="49" charset="0"/>
                <a:cs typeface="Courier New" panose="02070309020205020404" pitchFamily="49" charset="0"/>
              </a:rPr>
              <a:t>ch</a:t>
            </a:r>
            <a:r>
              <a:rPr lang="en-US" sz="2400" b="1" dirty="0">
                <a:latin typeface="Courier New" panose="02070309020205020404" pitchFamily="49" charset="0"/>
                <a:cs typeface="Courier New" panose="02070309020205020404" pitchFamily="49" charset="0"/>
              </a:rPr>
              <a:t> ) )</a:t>
            </a: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"Entered </a:t>
            </a:r>
            <a:r>
              <a:rPr lang="en-US" sz="2400" b="1" dirty="0">
                <a:latin typeface="Courier New" panose="02070309020205020404" pitchFamily="49" charset="0"/>
                <a:cs typeface="Courier New" panose="02070309020205020404" pitchFamily="49" charset="0"/>
              </a:rPr>
              <a:t>character is </a:t>
            </a:r>
            <a:r>
              <a:rPr lang="en-US" sz="2400" b="1" dirty="0" smtClean="0">
                <a:latin typeface="Courier New" panose="02070309020205020404" pitchFamily="49" charset="0"/>
                <a:cs typeface="Courier New" panose="02070309020205020404" pitchFamily="49" charset="0"/>
              </a:rPr>
              <a:t>digit\n" </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else</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"Entered </a:t>
            </a:r>
            <a:r>
              <a:rPr lang="en-US" sz="2400" b="1" dirty="0">
                <a:latin typeface="Courier New" panose="02070309020205020404" pitchFamily="49" charset="0"/>
                <a:cs typeface="Courier New" panose="02070309020205020404" pitchFamily="49" charset="0"/>
              </a:rPr>
              <a:t>character is not </a:t>
            </a:r>
            <a:r>
              <a:rPr lang="en-US" sz="2400" b="1" dirty="0" smtClean="0">
                <a:latin typeface="Courier New" panose="02070309020205020404" pitchFamily="49" charset="0"/>
                <a:cs typeface="Courier New" panose="02070309020205020404" pitchFamily="49" charset="0"/>
              </a:rPr>
              <a:t>digit\n" </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return 0;</a:t>
            </a:r>
            <a:endParaRPr lang="en-US" sz="2400" b="1" dirty="0">
              <a:latin typeface="Courier New" panose="02070309020205020404" pitchFamily="49" charset="0"/>
              <a:cs typeface="Courier New" panose="02070309020205020404" pitchFamily="49" charset="0"/>
            </a:endParaRPr>
          </a:p>
          <a:p>
            <a:pPr fontAlgn="base"/>
            <a:r>
              <a:rPr lang="en-US" sz="2400" b="1" dirty="0">
                <a:latin typeface="Courier New" panose="02070309020205020404" pitchFamily="49" charset="0"/>
                <a:cs typeface="Courier New" panose="02070309020205020404" pitchFamily="49" charset="0"/>
              </a:rPr>
              <a:t>}</a:t>
            </a:r>
          </a:p>
          <a:p>
            <a:pPr fontAlgn="base"/>
            <a:endParaRPr lang="en-IN" sz="2400" b="1" dirty="0">
              <a:latin typeface="Courier New" panose="02070309020205020404" pitchFamily="49" charset="0"/>
              <a:cs typeface="Courier New" panose="02070309020205020404" pitchFamily="49" charset="0"/>
            </a:endParaRPr>
          </a:p>
        </p:txBody>
      </p:sp>
      <p:sp>
        <p:nvSpPr>
          <p:cNvPr id="4" name="Rectangle 3"/>
          <p:cNvSpPr/>
          <p:nvPr/>
        </p:nvSpPr>
        <p:spPr>
          <a:xfrm>
            <a:off x="-1" y="520503"/>
            <a:ext cx="223676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isdigit</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236761"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258928" y="1111348"/>
            <a:ext cx="4621607" cy="1200329"/>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any character : 4</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character is digit</a:t>
            </a:r>
          </a:p>
        </p:txBody>
      </p:sp>
    </p:spTree>
    <p:extLst>
      <p:ext uri="{BB962C8B-B14F-4D97-AF65-F5344CB8AC3E}">
        <p14:creationId xmlns:p14="http://schemas.microsoft.com/office/powerpoint/2010/main" val="265781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b="1" dirty="0" err="1" smtClean="0">
                <a:latin typeface="Verdana" panose="020B0604030504040204" pitchFamily="34" charset="0"/>
                <a:ea typeface="Verdana" panose="020B0604030504040204" pitchFamily="34" charset="0"/>
              </a:rPr>
              <a:t>islower</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in C language checks whether given character is </a:t>
            </a:r>
            <a:r>
              <a:rPr lang="en-US" sz="2400" dirty="0" smtClean="0">
                <a:latin typeface="Verdana" panose="020B0604030504040204" pitchFamily="34" charset="0"/>
                <a:ea typeface="Verdana" panose="020B0604030504040204" pitchFamily="34" charset="0"/>
              </a:rPr>
              <a:t>lowercase </a:t>
            </a:r>
            <a:r>
              <a:rPr lang="en-US" sz="2400" dirty="0">
                <a:latin typeface="Verdana" panose="020B0604030504040204" pitchFamily="34" charset="0"/>
                <a:ea typeface="Verdana" panose="020B0604030504040204" pitchFamily="34" charset="0"/>
              </a:rPr>
              <a:t>or not. </a:t>
            </a:r>
            <a:endParaRPr lang="en-US" sz="2400" dirty="0" smtClean="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smtClean="0">
                <a:latin typeface="Verdana" panose="020B0604030504040204" pitchFamily="34" charset="0"/>
                <a:ea typeface="Verdana" panose="020B0604030504040204" pitchFamily="34" charset="0"/>
              </a:rPr>
              <a:t>The </a:t>
            </a:r>
            <a:r>
              <a:rPr lang="en-US" sz="2400" b="1" dirty="0" err="1" smtClean="0">
                <a:latin typeface="Verdana" panose="020B0604030504040204" pitchFamily="34" charset="0"/>
                <a:ea typeface="Verdana" panose="020B0604030504040204" pitchFamily="34" charset="0"/>
              </a:rPr>
              <a:t>islower</a:t>
            </a:r>
            <a:r>
              <a:rPr lang="en-US" sz="2400" dirty="0" smtClean="0">
                <a:latin typeface="Verdana" panose="020B0604030504040204" pitchFamily="34" charset="0"/>
                <a:ea typeface="Verdana" panose="020B0604030504040204" pitchFamily="34" charset="0"/>
              </a:rPr>
              <a:t> function returns a nonzero value if </a:t>
            </a:r>
            <a:r>
              <a:rPr lang="en-US" sz="2400" i="1" dirty="0" smtClean="0">
                <a:latin typeface="Verdana" panose="020B0604030504040204" pitchFamily="34" charset="0"/>
                <a:ea typeface="Verdana" panose="020B0604030504040204" pitchFamily="34" charset="0"/>
              </a:rPr>
              <a:t>c</a:t>
            </a:r>
            <a:r>
              <a:rPr lang="en-US" sz="2400" dirty="0" smtClean="0">
                <a:latin typeface="Verdana" panose="020B0604030504040204" pitchFamily="34" charset="0"/>
                <a:ea typeface="Verdana" panose="020B0604030504040204" pitchFamily="34" charset="0"/>
              </a:rPr>
              <a:t> is lowercase letter and returns zero if </a:t>
            </a:r>
            <a:r>
              <a:rPr lang="en-US" sz="2400" i="1" dirty="0" smtClean="0">
                <a:latin typeface="Verdana" panose="020B0604030504040204" pitchFamily="34" charset="0"/>
                <a:ea typeface="Verdana" panose="020B0604030504040204" pitchFamily="34" charset="0"/>
              </a:rPr>
              <a:t>c</a:t>
            </a:r>
            <a:r>
              <a:rPr lang="en-US" sz="2400" dirty="0" smtClean="0">
                <a:latin typeface="Verdana" panose="020B0604030504040204" pitchFamily="34" charset="0"/>
                <a:ea typeface="Verdana" panose="020B0604030504040204" pitchFamily="34" charset="0"/>
              </a:rPr>
              <a:t> is not a lowercase letter.</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	Syntax:</a:t>
            </a:r>
            <a:r>
              <a:rPr lang="en-US" sz="2400" b="1" dirty="0">
                <a:latin typeface="Verdana" panose="020B0604030504040204" pitchFamily="34" charset="0"/>
                <a:ea typeface="Verdana" panose="020B0604030504040204" pitchFamily="34" charset="0"/>
              </a:rPr>
              <a:t>	</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islower</a:t>
            </a:r>
            <a:r>
              <a:rPr lang="en-US" sz="2400" b="1" dirty="0" smtClean="0">
                <a:latin typeface="Verdana" panose="020B0604030504040204" pitchFamily="34" charset="0"/>
                <a:ea typeface="Verdana" panose="020B0604030504040204" pitchFamily="34" charset="0"/>
              </a:rPr>
              <a:t>(</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a:latin typeface="Verdana" panose="020B0604030504040204" pitchFamily="34" charset="0"/>
                <a:ea typeface="Verdana" panose="020B0604030504040204" pitchFamily="34" charset="0"/>
              </a:rPr>
              <a:t>c);</a:t>
            </a:r>
          </a:p>
        </p:txBody>
      </p:sp>
      <p:sp>
        <p:nvSpPr>
          <p:cNvPr id="4" name="Rectangle 3"/>
          <p:cNvSpPr/>
          <p:nvPr/>
        </p:nvSpPr>
        <p:spPr>
          <a:xfrm>
            <a:off x="0" y="520503"/>
            <a:ext cx="386861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Character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868616"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err="1" smtClean="0">
                <a:solidFill>
                  <a:prstClr val="black"/>
                </a:solidFill>
                <a:latin typeface="Verdana" panose="020B0604030504040204" pitchFamily="34" charset="0"/>
                <a:ea typeface="Verdana" panose="020B0604030504040204" pitchFamily="34" charset="0"/>
              </a:rPr>
              <a:t>islower</a:t>
            </a:r>
            <a:r>
              <a:rPr lang="en-US" sz="2000" b="1" dirty="0" smtClean="0">
                <a:solidFill>
                  <a:prstClr val="black"/>
                </a:solidFill>
                <a:latin typeface="Verdana" panose="020B0604030504040204" pitchFamily="34" charset="0"/>
                <a:ea typeface="Verdana" panose="020B0604030504040204" pitchFamily="34" charset="0"/>
              </a:rPr>
              <a:t>()</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06252993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201424"/>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ctype.h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fontAlgn="base"/>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pPr fontAlgn="base"/>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char </a:t>
            </a:r>
            <a:r>
              <a:rPr lang="en-US" sz="2400" b="1" dirty="0" err="1">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("Enter any </a:t>
            </a:r>
            <a:r>
              <a:rPr lang="en-US" sz="2400" b="1" dirty="0" smtClean="0">
                <a:latin typeface="Courier New" panose="02070309020205020404" pitchFamily="49" charset="0"/>
                <a:cs typeface="Courier New" panose="02070309020205020404" pitchFamily="49" charset="0"/>
              </a:rPr>
              <a:t>character</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scanf</a:t>
            </a:r>
            <a:r>
              <a:rPr lang="en-US" sz="2400" b="1" dirty="0">
                <a:latin typeface="Courier New" panose="02070309020205020404" pitchFamily="49" charset="0"/>
                <a:cs typeface="Courier New" panose="02070309020205020404" pitchFamily="49" charset="0"/>
              </a:rPr>
              <a:t>("%c", &amp;</a:t>
            </a:r>
            <a:r>
              <a:rPr lang="en-US" sz="2400" b="1" dirty="0" err="1">
                <a:latin typeface="Courier New" panose="02070309020205020404" pitchFamily="49" charset="0"/>
                <a:cs typeface="Courier New" panose="02070309020205020404" pitchFamily="49" charset="0"/>
              </a:rPr>
              <a:t>ch</a:t>
            </a:r>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if(</a:t>
            </a:r>
            <a:r>
              <a:rPr lang="en-US" sz="2400" b="1" dirty="0" err="1" smtClean="0">
                <a:latin typeface="Courier New" panose="02070309020205020404" pitchFamily="49" charset="0"/>
                <a:cs typeface="Courier New" panose="02070309020205020404" pitchFamily="49" charset="0"/>
              </a:rPr>
              <a:t>islower</a:t>
            </a:r>
            <a:r>
              <a:rPr lang="en-US" sz="2400" b="1" dirty="0" smtClean="0">
                <a:latin typeface="Courier New" panose="02070309020205020404" pitchFamily="49" charset="0"/>
                <a:cs typeface="Courier New" panose="02070309020205020404" pitchFamily="49" charset="0"/>
              </a:rPr>
              <a:t>(</a:t>
            </a:r>
            <a:r>
              <a:rPr lang="en-US" sz="2400" b="1" dirty="0" err="1" smtClean="0">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(“Lower case\n" </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else</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(“Not a lower case\n" </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return 0;</a:t>
            </a:r>
            <a:endParaRPr lang="en-US" sz="2400" b="1" dirty="0">
              <a:latin typeface="Courier New" panose="02070309020205020404" pitchFamily="49" charset="0"/>
              <a:cs typeface="Courier New" panose="02070309020205020404" pitchFamily="49" charset="0"/>
            </a:endParaRPr>
          </a:p>
          <a:p>
            <a:pPr fontAlgn="base"/>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p:txBody>
      </p:sp>
      <p:sp>
        <p:nvSpPr>
          <p:cNvPr id="4" name="Rectangle 3"/>
          <p:cNvSpPr/>
          <p:nvPr/>
        </p:nvSpPr>
        <p:spPr>
          <a:xfrm>
            <a:off x="-1" y="520503"/>
            <a:ext cx="223676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islower</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236761"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258928" y="1111348"/>
            <a:ext cx="4621607" cy="1200329"/>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any character : a</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Lower case</a:t>
            </a:r>
          </a:p>
        </p:txBody>
      </p:sp>
    </p:spTree>
    <p:extLst>
      <p:ext uri="{BB962C8B-B14F-4D97-AF65-F5344CB8AC3E}">
        <p14:creationId xmlns:p14="http://schemas.microsoft.com/office/powerpoint/2010/main" val="315129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b="1" dirty="0" err="1" smtClean="0">
                <a:latin typeface="Verdana" panose="020B0604030504040204" pitchFamily="34" charset="0"/>
                <a:ea typeface="Verdana" panose="020B0604030504040204" pitchFamily="34" charset="0"/>
              </a:rPr>
              <a:t>isupper</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in C language checks whether given character is </a:t>
            </a:r>
            <a:r>
              <a:rPr lang="en-US" sz="2400" dirty="0" smtClean="0">
                <a:latin typeface="Verdana" panose="020B0604030504040204" pitchFamily="34" charset="0"/>
                <a:ea typeface="Verdana" panose="020B0604030504040204" pitchFamily="34" charset="0"/>
              </a:rPr>
              <a:t>uppercase </a:t>
            </a:r>
            <a:r>
              <a:rPr lang="en-US" sz="2400" dirty="0">
                <a:latin typeface="Verdana" panose="020B0604030504040204" pitchFamily="34" charset="0"/>
                <a:ea typeface="Verdana" panose="020B0604030504040204" pitchFamily="34" charset="0"/>
              </a:rPr>
              <a:t>or not. </a:t>
            </a:r>
            <a:endParaRPr lang="en-US" sz="2400" dirty="0" smtClean="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smtClean="0">
                <a:latin typeface="Verdana" panose="020B0604030504040204" pitchFamily="34" charset="0"/>
                <a:ea typeface="Verdana" panose="020B0604030504040204" pitchFamily="34" charset="0"/>
              </a:rPr>
              <a:t>The </a:t>
            </a:r>
            <a:r>
              <a:rPr lang="en-US" sz="2400" b="1" dirty="0" err="1" smtClean="0">
                <a:latin typeface="Verdana" panose="020B0604030504040204" pitchFamily="34" charset="0"/>
                <a:ea typeface="Verdana" panose="020B0604030504040204" pitchFamily="34" charset="0"/>
              </a:rPr>
              <a:t>isupper</a:t>
            </a:r>
            <a:r>
              <a:rPr lang="en-US" sz="2400" dirty="0" smtClean="0">
                <a:latin typeface="Verdana" panose="020B0604030504040204" pitchFamily="34" charset="0"/>
                <a:ea typeface="Verdana" panose="020B0604030504040204" pitchFamily="34" charset="0"/>
              </a:rPr>
              <a:t> function returns a nonzero value if </a:t>
            </a:r>
            <a:r>
              <a:rPr lang="en-US" sz="2400" i="1" dirty="0" smtClean="0">
                <a:latin typeface="Verdana" panose="020B0604030504040204" pitchFamily="34" charset="0"/>
                <a:ea typeface="Verdana" panose="020B0604030504040204" pitchFamily="34" charset="0"/>
              </a:rPr>
              <a:t>c</a:t>
            </a:r>
            <a:r>
              <a:rPr lang="en-US" sz="2400" dirty="0" smtClean="0">
                <a:latin typeface="Verdana" panose="020B0604030504040204" pitchFamily="34" charset="0"/>
                <a:ea typeface="Verdana" panose="020B0604030504040204" pitchFamily="34" charset="0"/>
              </a:rPr>
              <a:t> is uppercase letter and returns zero if </a:t>
            </a:r>
            <a:r>
              <a:rPr lang="en-US" sz="2400" i="1" dirty="0" smtClean="0">
                <a:latin typeface="Verdana" panose="020B0604030504040204" pitchFamily="34" charset="0"/>
                <a:ea typeface="Verdana" panose="020B0604030504040204" pitchFamily="34" charset="0"/>
              </a:rPr>
              <a:t>c</a:t>
            </a:r>
            <a:r>
              <a:rPr lang="en-US" sz="2400" dirty="0" smtClean="0">
                <a:latin typeface="Verdana" panose="020B0604030504040204" pitchFamily="34" charset="0"/>
                <a:ea typeface="Verdana" panose="020B0604030504040204" pitchFamily="34" charset="0"/>
              </a:rPr>
              <a:t> is not a uppercase letter.</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	Syntax:</a:t>
            </a:r>
            <a:r>
              <a:rPr lang="en-US" sz="2400" b="1" dirty="0">
                <a:latin typeface="Verdana" panose="020B0604030504040204" pitchFamily="34" charset="0"/>
                <a:ea typeface="Verdana" panose="020B0604030504040204" pitchFamily="34" charset="0"/>
              </a:rPr>
              <a:t>	</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isupper</a:t>
            </a:r>
            <a:r>
              <a:rPr lang="en-US" sz="2400" b="1" dirty="0" smtClean="0">
                <a:latin typeface="Verdana" panose="020B0604030504040204" pitchFamily="34" charset="0"/>
                <a:ea typeface="Verdana" panose="020B0604030504040204" pitchFamily="34" charset="0"/>
              </a:rPr>
              <a:t>(</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a:latin typeface="Verdana" panose="020B0604030504040204" pitchFamily="34" charset="0"/>
                <a:ea typeface="Verdana" panose="020B0604030504040204" pitchFamily="34" charset="0"/>
              </a:rPr>
              <a:t>c);</a:t>
            </a:r>
          </a:p>
        </p:txBody>
      </p:sp>
      <p:sp>
        <p:nvSpPr>
          <p:cNvPr id="4" name="Rectangle 3"/>
          <p:cNvSpPr/>
          <p:nvPr/>
        </p:nvSpPr>
        <p:spPr>
          <a:xfrm>
            <a:off x="0" y="520503"/>
            <a:ext cx="386861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Character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868616"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err="1" smtClean="0">
                <a:solidFill>
                  <a:prstClr val="black"/>
                </a:solidFill>
                <a:latin typeface="Verdana" panose="020B0604030504040204" pitchFamily="34" charset="0"/>
                <a:ea typeface="Verdana" panose="020B0604030504040204" pitchFamily="34" charset="0"/>
              </a:rPr>
              <a:t>isupper</a:t>
            </a:r>
            <a:r>
              <a:rPr lang="en-US" sz="2000" b="1" dirty="0" smtClean="0">
                <a:solidFill>
                  <a:prstClr val="black"/>
                </a:solidFill>
                <a:latin typeface="Verdana" panose="020B0604030504040204" pitchFamily="34" charset="0"/>
                <a:ea typeface="Verdana" panose="020B0604030504040204" pitchFamily="34" charset="0"/>
              </a:rPr>
              <a:t>()</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813831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570756"/>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ctype.h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fontAlgn="base"/>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pPr fontAlgn="base"/>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char </a:t>
            </a:r>
            <a:r>
              <a:rPr lang="en-US" sz="2400" b="1" dirty="0" err="1">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("Enter any </a:t>
            </a:r>
            <a:r>
              <a:rPr lang="en-US" sz="2400" b="1" dirty="0" smtClean="0">
                <a:latin typeface="Courier New" panose="02070309020205020404" pitchFamily="49" charset="0"/>
                <a:cs typeface="Courier New" panose="02070309020205020404" pitchFamily="49" charset="0"/>
              </a:rPr>
              <a:t>character</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scanf</a:t>
            </a:r>
            <a:r>
              <a:rPr lang="en-US" sz="2400" b="1" dirty="0">
                <a:latin typeface="Courier New" panose="02070309020205020404" pitchFamily="49" charset="0"/>
                <a:cs typeface="Courier New" panose="02070309020205020404" pitchFamily="49" charset="0"/>
              </a:rPr>
              <a:t>("%c", &amp;</a:t>
            </a:r>
            <a:r>
              <a:rPr lang="en-US" sz="2400" b="1" dirty="0" err="1">
                <a:latin typeface="Courier New" panose="02070309020205020404" pitchFamily="49" charset="0"/>
                <a:cs typeface="Courier New" panose="02070309020205020404" pitchFamily="49" charset="0"/>
              </a:rPr>
              <a:t>ch</a:t>
            </a:r>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if(</a:t>
            </a:r>
            <a:r>
              <a:rPr lang="en-US" sz="2400" b="1" dirty="0" err="1" smtClean="0">
                <a:latin typeface="Courier New" panose="02070309020205020404" pitchFamily="49" charset="0"/>
                <a:cs typeface="Courier New" panose="02070309020205020404" pitchFamily="49" charset="0"/>
              </a:rPr>
              <a:t>isupper</a:t>
            </a:r>
            <a:r>
              <a:rPr lang="en-US" sz="2400" b="1" dirty="0" smtClean="0">
                <a:latin typeface="Courier New" panose="02070309020205020404" pitchFamily="49" charset="0"/>
                <a:cs typeface="Courier New" panose="02070309020205020404" pitchFamily="49" charset="0"/>
              </a:rPr>
              <a:t>(</a:t>
            </a:r>
            <a:r>
              <a:rPr lang="en-US" sz="2400" b="1" dirty="0" err="1" smtClean="0">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(“Upper case\n" </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else</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(“Not an upper case\n" </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return 0;</a:t>
            </a:r>
            <a:endParaRPr lang="en-US" sz="2400" b="1" dirty="0">
              <a:latin typeface="Courier New" panose="02070309020205020404" pitchFamily="49" charset="0"/>
              <a:cs typeface="Courier New" panose="02070309020205020404" pitchFamily="49" charset="0"/>
            </a:endParaRPr>
          </a:p>
          <a:p>
            <a:pPr fontAlgn="base"/>
            <a:r>
              <a:rPr lang="en-US" sz="2400" b="1" dirty="0">
                <a:latin typeface="Courier New" panose="02070309020205020404" pitchFamily="49" charset="0"/>
                <a:cs typeface="Courier New" panose="02070309020205020404" pitchFamily="49" charset="0"/>
              </a:rPr>
              <a:t>}</a:t>
            </a:r>
          </a:p>
          <a:p>
            <a:pPr fontAlgn="base"/>
            <a:endParaRPr lang="en-IN" sz="2400" b="1" dirty="0">
              <a:latin typeface="Courier New" panose="02070309020205020404" pitchFamily="49" charset="0"/>
              <a:cs typeface="Courier New" panose="02070309020205020404" pitchFamily="49" charset="0"/>
            </a:endParaRPr>
          </a:p>
        </p:txBody>
      </p:sp>
      <p:sp>
        <p:nvSpPr>
          <p:cNvPr id="4" name="Rectangle 3"/>
          <p:cNvSpPr/>
          <p:nvPr/>
        </p:nvSpPr>
        <p:spPr>
          <a:xfrm>
            <a:off x="-1" y="520503"/>
            <a:ext cx="223676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isupper</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236761"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258928" y="1111348"/>
            <a:ext cx="4621607" cy="1200329"/>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any character : A</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Upper case</a:t>
            </a:r>
          </a:p>
        </p:txBody>
      </p:sp>
    </p:spTree>
    <p:extLst>
      <p:ext uri="{BB962C8B-B14F-4D97-AF65-F5344CB8AC3E}">
        <p14:creationId xmlns:p14="http://schemas.microsoft.com/office/powerpoint/2010/main" val="134684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b="1" dirty="0" err="1" smtClean="0">
                <a:latin typeface="Verdana" panose="020B0604030504040204" pitchFamily="34" charset="0"/>
                <a:ea typeface="Verdana" panose="020B0604030504040204" pitchFamily="34" charset="0"/>
              </a:rPr>
              <a:t>tolower</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in C language checks whether given character is </a:t>
            </a:r>
            <a:r>
              <a:rPr lang="en-US" sz="2400" dirty="0" smtClean="0">
                <a:latin typeface="Verdana" panose="020B0604030504040204" pitchFamily="34" charset="0"/>
                <a:ea typeface="Verdana" panose="020B0604030504040204" pitchFamily="34" charset="0"/>
              </a:rPr>
              <a:t>alphabetic and convert it to lowercase.</a:t>
            </a:r>
            <a:r>
              <a:rPr lang="en-US" sz="2400" dirty="0">
                <a:latin typeface="Verdana" panose="020B0604030504040204" pitchFamily="34" charset="0"/>
                <a:ea typeface="Verdana" panose="020B0604030504040204" pitchFamily="34" charset="0"/>
              </a:rPr>
              <a:t> </a:t>
            </a:r>
            <a:endParaRPr lang="en-US" sz="2400" dirty="0" smtClean="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a:t>
            </a:r>
            <a:r>
              <a:rPr lang="en-US" sz="2400" b="1" dirty="0" err="1">
                <a:latin typeface="Verdana" panose="020B0604030504040204" pitchFamily="34" charset="0"/>
                <a:ea typeface="Verdana" panose="020B0604030504040204" pitchFamily="34" charset="0"/>
              </a:rPr>
              <a:t>tolower</a:t>
            </a:r>
            <a:r>
              <a:rPr lang="en-US" sz="2400" dirty="0">
                <a:latin typeface="Verdana" panose="020B0604030504040204" pitchFamily="34" charset="0"/>
                <a:ea typeface="Verdana" panose="020B0604030504040204" pitchFamily="34" charset="0"/>
              </a:rPr>
              <a:t> function returns </a:t>
            </a:r>
            <a:r>
              <a:rPr lang="en-US" sz="2400" b="1"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as a lowercase letter. If </a:t>
            </a:r>
            <a:r>
              <a:rPr lang="en-US" sz="2400" b="1"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is already lowercase, the </a:t>
            </a:r>
            <a:r>
              <a:rPr lang="en-US" sz="2400" dirty="0" err="1">
                <a:latin typeface="Verdana" panose="020B0604030504040204" pitchFamily="34" charset="0"/>
                <a:ea typeface="Verdana" panose="020B0604030504040204" pitchFamily="34" charset="0"/>
              </a:rPr>
              <a:t>tolower</a:t>
            </a:r>
            <a:r>
              <a:rPr lang="en-US" sz="2400" dirty="0">
                <a:latin typeface="Verdana" panose="020B0604030504040204" pitchFamily="34" charset="0"/>
                <a:ea typeface="Verdana" panose="020B0604030504040204" pitchFamily="34" charset="0"/>
              </a:rPr>
              <a:t> function returns </a:t>
            </a:r>
            <a:r>
              <a:rPr lang="en-US" sz="2400"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unchanged</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	Syntax:</a:t>
            </a:r>
            <a:r>
              <a:rPr lang="en-US" sz="2400" b="1" dirty="0">
                <a:latin typeface="Verdana" panose="020B0604030504040204" pitchFamily="34" charset="0"/>
                <a:ea typeface="Verdana" panose="020B0604030504040204" pitchFamily="34" charset="0"/>
              </a:rPr>
              <a:t>	</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tolower</a:t>
            </a:r>
            <a:r>
              <a:rPr lang="en-US" sz="2400" b="1" dirty="0" smtClean="0">
                <a:latin typeface="Verdana" panose="020B0604030504040204" pitchFamily="34" charset="0"/>
                <a:ea typeface="Verdana" panose="020B0604030504040204" pitchFamily="34" charset="0"/>
              </a:rPr>
              <a:t>(</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a:latin typeface="Verdana" panose="020B0604030504040204" pitchFamily="34" charset="0"/>
                <a:ea typeface="Verdana" panose="020B0604030504040204" pitchFamily="34" charset="0"/>
              </a:rPr>
              <a:t>c);</a:t>
            </a:r>
          </a:p>
        </p:txBody>
      </p:sp>
      <p:sp>
        <p:nvSpPr>
          <p:cNvPr id="4" name="Rectangle 3"/>
          <p:cNvSpPr/>
          <p:nvPr/>
        </p:nvSpPr>
        <p:spPr>
          <a:xfrm>
            <a:off x="0" y="520503"/>
            <a:ext cx="386861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Character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868616"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tolower</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340698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570756"/>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ctype.h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fontAlgn="base"/>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pPr fontAlgn="base"/>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char </a:t>
            </a:r>
            <a:r>
              <a:rPr lang="en-US" sz="2400" b="1" dirty="0" err="1">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("Enter any </a:t>
            </a:r>
            <a:r>
              <a:rPr lang="en-US" sz="2400" b="1" dirty="0" smtClean="0">
                <a:latin typeface="Courier New" panose="02070309020205020404" pitchFamily="49" charset="0"/>
                <a:cs typeface="Courier New" panose="02070309020205020404" pitchFamily="49" charset="0"/>
              </a:rPr>
              <a:t>character</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scanf</a:t>
            </a:r>
            <a:r>
              <a:rPr lang="en-US" sz="2400" b="1" dirty="0">
                <a:latin typeface="Courier New" panose="02070309020205020404" pitchFamily="49" charset="0"/>
                <a:cs typeface="Courier New" panose="02070309020205020404" pitchFamily="49" charset="0"/>
              </a:rPr>
              <a:t>("%c", &amp;</a:t>
            </a:r>
            <a:r>
              <a:rPr lang="en-US" sz="2400" b="1" dirty="0" err="1">
                <a:latin typeface="Courier New" panose="02070309020205020404" pitchFamily="49" charset="0"/>
                <a:cs typeface="Courier New" panose="02070309020205020404" pitchFamily="49" charset="0"/>
              </a:rPr>
              <a:t>ch</a:t>
            </a:r>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if(</a:t>
            </a:r>
            <a:r>
              <a:rPr lang="en-US" sz="2400" b="1" dirty="0" err="1" smtClean="0">
                <a:latin typeface="Courier New" panose="02070309020205020404" pitchFamily="49" charset="0"/>
                <a:cs typeface="Courier New" panose="02070309020205020404" pitchFamily="49" charset="0"/>
              </a:rPr>
              <a:t>isalpha</a:t>
            </a:r>
            <a:r>
              <a:rPr lang="en-US" sz="2400" b="1" dirty="0" smtClean="0">
                <a:latin typeface="Courier New" panose="02070309020205020404" pitchFamily="49" charset="0"/>
                <a:cs typeface="Courier New" panose="02070309020205020404" pitchFamily="49" charset="0"/>
              </a:rPr>
              <a:t>(</a:t>
            </a:r>
            <a:r>
              <a:rPr lang="en-US" sz="2400" b="1" dirty="0" err="1" smtClean="0">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(“Lower case : %c\n“,</a:t>
            </a:r>
            <a:r>
              <a:rPr lang="en-US" sz="2400" b="1" dirty="0" err="1" smtClean="0">
                <a:latin typeface="Courier New" panose="02070309020205020404" pitchFamily="49" charset="0"/>
                <a:cs typeface="Courier New" panose="02070309020205020404" pitchFamily="49" charset="0"/>
              </a:rPr>
              <a:t>tolower</a:t>
            </a:r>
            <a:r>
              <a:rPr lang="en-US" sz="2400" b="1" dirty="0" smtClean="0">
                <a:latin typeface="Courier New" panose="02070309020205020404" pitchFamily="49" charset="0"/>
                <a:cs typeface="Courier New" panose="02070309020205020404" pitchFamily="49" charset="0"/>
              </a:rPr>
              <a:t>(</a:t>
            </a:r>
            <a:r>
              <a:rPr lang="en-US" sz="2400" b="1" dirty="0" err="1" smtClean="0">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 ;</a:t>
            </a:r>
          </a:p>
          <a:p>
            <a:pPr lvl="1" fontAlgn="base"/>
            <a:r>
              <a:rPr lang="en-US" sz="2400" b="1" dirty="0" smtClean="0">
                <a:latin typeface="Courier New" panose="02070309020205020404" pitchFamily="49" charset="0"/>
                <a:cs typeface="Courier New" panose="02070309020205020404" pitchFamily="49" charset="0"/>
              </a:rPr>
              <a:t>else</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(“Not an alphabetic") ;</a:t>
            </a:r>
          </a:p>
          <a:p>
            <a:pPr lvl="1" fontAlgn="base"/>
            <a:r>
              <a:rPr lang="en-US" sz="2400" b="1" dirty="0" smtClean="0">
                <a:latin typeface="Courier New" panose="02070309020205020404" pitchFamily="49" charset="0"/>
                <a:cs typeface="Courier New" panose="02070309020205020404" pitchFamily="49" charset="0"/>
              </a:rPr>
              <a:t>return 0;</a:t>
            </a:r>
            <a:endParaRPr lang="en-US" sz="2400" b="1" dirty="0">
              <a:latin typeface="Courier New" panose="02070309020205020404" pitchFamily="49" charset="0"/>
              <a:cs typeface="Courier New" panose="02070309020205020404" pitchFamily="49" charset="0"/>
            </a:endParaRPr>
          </a:p>
          <a:p>
            <a:pPr fontAlgn="base"/>
            <a:r>
              <a:rPr lang="en-US" sz="2400" b="1" dirty="0">
                <a:latin typeface="Courier New" panose="02070309020205020404" pitchFamily="49" charset="0"/>
                <a:cs typeface="Courier New" panose="02070309020205020404" pitchFamily="49" charset="0"/>
              </a:rPr>
              <a:t>}</a:t>
            </a:r>
          </a:p>
          <a:p>
            <a:pPr fontAlgn="base"/>
            <a:endParaRPr lang="en-IN" sz="2400" b="1" dirty="0">
              <a:latin typeface="Courier New" panose="02070309020205020404" pitchFamily="49" charset="0"/>
              <a:cs typeface="Courier New" panose="02070309020205020404" pitchFamily="49" charset="0"/>
            </a:endParaRPr>
          </a:p>
        </p:txBody>
      </p:sp>
      <p:sp>
        <p:nvSpPr>
          <p:cNvPr id="4" name="Rectangle 3"/>
          <p:cNvSpPr/>
          <p:nvPr/>
        </p:nvSpPr>
        <p:spPr>
          <a:xfrm>
            <a:off x="-1" y="520503"/>
            <a:ext cx="223676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tolower</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236761"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258928" y="1111348"/>
            <a:ext cx="4621607" cy="1200329"/>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any character : A</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Lower case : a</a:t>
            </a:r>
          </a:p>
        </p:txBody>
      </p:sp>
    </p:spTree>
    <p:extLst>
      <p:ext uri="{BB962C8B-B14F-4D97-AF65-F5344CB8AC3E}">
        <p14:creationId xmlns:p14="http://schemas.microsoft.com/office/powerpoint/2010/main" val="122120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20115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b="1" dirty="0" err="1" smtClean="0">
                <a:latin typeface="Verdana" panose="020B0604030504040204" pitchFamily="34" charset="0"/>
                <a:ea typeface="Verdana" panose="020B0604030504040204" pitchFamily="34" charset="0"/>
              </a:rPr>
              <a:t>toupper</a:t>
            </a:r>
            <a:r>
              <a:rPr lang="en-US" sz="2400" b="1" dirty="0" smtClean="0">
                <a:latin typeface="Verdana" panose="020B0604030504040204" pitchFamily="34" charset="0"/>
                <a:ea typeface="Verdana" panose="020B0604030504040204" pitchFamily="34" charset="0"/>
              </a:rPr>
              <a:t>()</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in C language checks whether given character is </a:t>
            </a:r>
            <a:r>
              <a:rPr lang="en-US" sz="2400" dirty="0" smtClean="0">
                <a:latin typeface="Verdana" panose="020B0604030504040204" pitchFamily="34" charset="0"/>
                <a:ea typeface="Verdana" panose="020B0604030504040204" pitchFamily="34" charset="0"/>
              </a:rPr>
              <a:t>alphabetic and convert it to </a:t>
            </a:r>
            <a:r>
              <a:rPr lang="en-US" sz="2400" dirty="0">
                <a:latin typeface="Verdana" panose="020B0604030504040204" pitchFamily="34" charset="0"/>
                <a:ea typeface="Verdana" panose="020B0604030504040204" pitchFamily="34" charset="0"/>
              </a:rPr>
              <a:t>u</a:t>
            </a:r>
            <a:r>
              <a:rPr lang="en-US" sz="2400" dirty="0" smtClean="0">
                <a:latin typeface="Verdana" panose="020B0604030504040204" pitchFamily="34" charset="0"/>
                <a:ea typeface="Verdana" panose="020B0604030504040204" pitchFamily="34" charset="0"/>
              </a:rPr>
              <a:t>ppercase.</a:t>
            </a:r>
            <a:r>
              <a:rPr lang="en-US" sz="2400" dirty="0">
                <a:latin typeface="Verdana" panose="020B0604030504040204" pitchFamily="34" charset="0"/>
                <a:ea typeface="Verdana" panose="020B0604030504040204" pitchFamily="34" charset="0"/>
              </a:rPr>
              <a:t> </a:t>
            </a:r>
            <a:endParaRPr lang="en-US" sz="2400" dirty="0" smtClean="0">
              <a:latin typeface="Verdana" panose="020B0604030504040204" pitchFamily="34" charset="0"/>
              <a:ea typeface="Verdana" panose="020B060403050404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a:t>
            </a:r>
            <a:r>
              <a:rPr lang="en-US" sz="2400" b="1" dirty="0" err="1" smtClean="0">
                <a:latin typeface="Verdana" panose="020B0604030504040204" pitchFamily="34" charset="0"/>
                <a:ea typeface="Verdana" panose="020B0604030504040204" pitchFamily="34" charset="0"/>
              </a:rPr>
              <a:t>toupper</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returns </a:t>
            </a:r>
            <a:r>
              <a:rPr lang="en-US" sz="2400"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as a </a:t>
            </a:r>
            <a:r>
              <a:rPr lang="en-US" sz="2400" dirty="0" smtClean="0">
                <a:latin typeface="Verdana" panose="020B0604030504040204" pitchFamily="34" charset="0"/>
                <a:ea typeface="Verdana" panose="020B0604030504040204" pitchFamily="34" charset="0"/>
              </a:rPr>
              <a:t>uppercase </a:t>
            </a:r>
            <a:r>
              <a:rPr lang="en-US" sz="2400" dirty="0">
                <a:latin typeface="Verdana" panose="020B0604030504040204" pitchFamily="34" charset="0"/>
                <a:ea typeface="Verdana" panose="020B0604030504040204" pitchFamily="34" charset="0"/>
              </a:rPr>
              <a:t>letter. If </a:t>
            </a:r>
            <a:r>
              <a:rPr lang="en-US" sz="2400" b="1"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is already </a:t>
            </a:r>
            <a:r>
              <a:rPr lang="en-US" sz="2400" dirty="0" smtClean="0">
                <a:latin typeface="Verdana" panose="020B0604030504040204" pitchFamily="34" charset="0"/>
                <a:ea typeface="Verdana" panose="020B0604030504040204" pitchFamily="34" charset="0"/>
              </a:rPr>
              <a:t>uppercase</a:t>
            </a:r>
            <a:r>
              <a:rPr lang="en-US" sz="2400" dirty="0">
                <a:latin typeface="Verdana" panose="020B0604030504040204" pitchFamily="34" charset="0"/>
                <a:ea typeface="Verdana" panose="020B0604030504040204" pitchFamily="34" charset="0"/>
              </a:rPr>
              <a:t>, the </a:t>
            </a:r>
            <a:r>
              <a:rPr lang="en-US" sz="2400" dirty="0" err="1" smtClean="0">
                <a:latin typeface="Verdana" panose="020B0604030504040204" pitchFamily="34" charset="0"/>
                <a:ea typeface="Verdana" panose="020B0604030504040204" pitchFamily="34" charset="0"/>
              </a:rPr>
              <a:t>toupper</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function returns </a:t>
            </a:r>
            <a:r>
              <a:rPr lang="en-US" sz="2400" i="1" dirty="0">
                <a:latin typeface="Verdana" panose="020B0604030504040204" pitchFamily="34" charset="0"/>
                <a:ea typeface="Verdana" panose="020B0604030504040204" pitchFamily="34" charset="0"/>
              </a:rPr>
              <a:t>c</a:t>
            </a:r>
            <a:r>
              <a:rPr lang="en-US" sz="2400" dirty="0">
                <a:latin typeface="Verdana" panose="020B0604030504040204" pitchFamily="34" charset="0"/>
                <a:ea typeface="Verdana" panose="020B0604030504040204" pitchFamily="34" charset="0"/>
              </a:rPr>
              <a:t> unchanged</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b="1" dirty="0" smtClean="0">
                <a:latin typeface="Verdana" panose="020B0604030504040204" pitchFamily="34" charset="0"/>
                <a:ea typeface="Verdana" panose="020B0604030504040204" pitchFamily="34" charset="0"/>
              </a:rPr>
              <a:t>	Syntax:</a:t>
            </a:r>
            <a:r>
              <a:rPr lang="en-US" sz="2400" b="1" dirty="0">
                <a:latin typeface="Verdana" panose="020B0604030504040204" pitchFamily="34" charset="0"/>
                <a:ea typeface="Verdana" panose="020B0604030504040204" pitchFamily="34" charset="0"/>
              </a:rPr>
              <a:t>	</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err="1" smtClean="0">
                <a:latin typeface="Verdana" panose="020B0604030504040204" pitchFamily="34" charset="0"/>
                <a:ea typeface="Verdana" panose="020B0604030504040204" pitchFamily="34" charset="0"/>
              </a:rPr>
              <a:t>toupper</a:t>
            </a:r>
            <a:r>
              <a:rPr lang="en-US" sz="2400" b="1" dirty="0" smtClean="0">
                <a:latin typeface="Verdana" panose="020B0604030504040204" pitchFamily="34" charset="0"/>
                <a:ea typeface="Verdana" panose="020B0604030504040204" pitchFamily="34" charset="0"/>
              </a:rPr>
              <a:t>(</a:t>
            </a:r>
            <a:r>
              <a:rPr lang="en-US" sz="2400" b="1" dirty="0" err="1" smtClean="0">
                <a:latin typeface="Verdana" panose="020B0604030504040204" pitchFamily="34" charset="0"/>
                <a:ea typeface="Verdana" panose="020B0604030504040204" pitchFamily="34" charset="0"/>
              </a:rPr>
              <a:t>int</a:t>
            </a:r>
            <a:r>
              <a:rPr lang="en-US" sz="2400" b="1" dirty="0" smtClean="0">
                <a:latin typeface="Verdana" panose="020B0604030504040204" pitchFamily="34" charset="0"/>
                <a:ea typeface="Verdana" panose="020B0604030504040204" pitchFamily="34" charset="0"/>
              </a:rPr>
              <a:t> </a:t>
            </a:r>
            <a:r>
              <a:rPr lang="en-US" sz="2400" b="1" dirty="0">
                <a:latin typeface="Verdana" panose="020B0604030504040204" pitchFamily="34" charset="0"/>
                <a:ea typeface="Verdana" panose="020B0604030504040204" pitchFamily="34" charset="0"/>
              </a:rPr>
              <a:t>c);</a:t>
            </a:r>
          </a:p>
        </p:txBody>
      </p:sp>
      <p:sp>
        <p:nvSpPr>
          <p:cNvPr id="4" name="Rectangle 3"/>
          <p:cNvSpPr/>
          <p:nvPr/>
        </p:nvSpPr>
        <p:spPr>
          <a:xfrm>
            <a:off x="0" y="520503"/>
            <a:ext cx="3868616"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Character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882673"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err="1" smtClean="0">
                <a:solidFill>
                  <a:prstClr val="black"/>
                </a:solidFill>
                <a:latin typeface="Verdana" panose="020B0604030504040204" pitchFamily="34" charset="0"/>
                <a:ea typeface="Verdana" panose="020B0604030504040204" pitchFamily="34" charset="0"/>
              </a:rPr>
              <a:t>toupper</a:t>
            </a:r>
            <a:r>
              <a:rPr lang="en-US" sz="2400" b="1" dirty="0" smtClean="0">
                <a:solidFill>
                  <a:prstClr val="black"/>
                </a:solidFill>
                <a:latin typeface="Verdana" panose="020B0604030504040204" pitchFamily="34" charset="0"/>
                <a:ea typeface="Verdana" panose="020B0604030504040204" pitchFamily="34" charset="0"/>
              </a:rPr>
              <a:t>()</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743629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570756"/>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ctype.h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fontAlgn="base"/>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pPr fontAlgn="base"/>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char </a:t>
            </a:r>
            <a:r>
              <a:rPr lang="en-US" sz="2400" b="1" dirty="0" err="1">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("Enter any </a:t>
            </a:r>
            <a:r>
              <a:rPr lang="en-US" sz="2400" b="1" dirty="0" smtClean="0">
                <a:latin typeface="Courier New" panose="02070309020205020404" pitchFamily="49" charset="0"/>
                <a:cs typeface="Courier New" panose="02070309020205020404" pitchFamily="49" charset="0"/>
              </a:rPr>
              <a:t>character</a:t>
            </a:r>
            <a:r>
              <a:rPr lang="en-US" sz="2400" b="1" dirty="0">
                <a:latin typeface="Courier New" panose="02070309020205020404" pitchFamily="49" charset="0"/>
                <a:cs typeface="Courier New" panose="02070309020205020404" pitchFamily="49" charset="0"/>
              </a:rPr>
              <a:t> </a:t>
            </a:r>
            <a:r>
              <a:rPr lang="en-US" sz="2400" b="1" dirty="0" smtClean="0">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a:p>
            <a:pPr lvl="1" fontAlgn="base"/>
            <a:r>
              <a:rPr lang="en-US" sz="2400" b="1" dirty="0" err="1" smtClean="0">
                <a:latin typeface="Courier New" panose="02070309020205020404" pitchFamily="49" charset="0"/>
                <a:cs typeface="Courier New" panose="02070309020205020404" pitchFamily="49" charset="0"/>
              </a:rPr>
              <a:t>scanf</a:t>
            </a:r>
            <a:r>
              <a:rPr lang="en-US" sz="2400" b="1" dirty="0">
                <a:latin typeface="Courier New" panose="02070309020205020404" pitchFamily="49" charset="0"/>
                <a:cs typeface="Courier New" panose="02070309020205020404" pitchFamily="49" charset="0"/>
              </a:rPr>
              <a:t>("%c", &amp;</a:t>
            </a:r>
            <a:r>
              <a:rPr lang="en-US" sz="2400" b="1" dirty="0" err="1">
                <a:latin typeface="Courier New" panose="02070309020205020404" pitchFamily="49" charset="0"/>
                <a:cs typeface="Courier New" panose="02070309020205020404" pitchFamily="49" charset="0"/>
              </a:rPr>
              <a:t>ch</a:t>
            </a:r>
            <a:r>
              <a:rPr lang="en-US" sz="2400" b="1" dirty="0">
                <a:latin typeface="Courier New" panose="02070309020205020404" pitchFamily="49" charset="0"/>
                <a:cs typeface="Courier New" panose="02070309020205020404" pitchFamily="49" charset="0"/>
              </a:rPr>
              <a:t>);</a:t>
            </a:r>
          </a:p>
          <a:p>
            <a:pPr lvl="1" fontAlgn="base"/>
            <a:r>
              <a:rPr lang="en-US" sz="2400" b="1" dirty="0" smtClean="0">
                <a:latin typeface="Courier New" panose="02070309020205020404" pitchFamily="49" charset="0"/>
                <a:cs typeface="Courier New" panose="02070309020205020404" pitchFamily="49" charset="0"/>
              </a:rPr>
              <a:t>if(</a:t>
            </a:r>
            <a:r>
              <a:rPr lang="en-US" sz="2400" b="1" dirty="0" err="1" smtClean="0">
                <a:latin typeface="Courier New" panose="02070309020205020404" pitchFamily="49" charset="0"/>
                <a:cs typeface="Courier New" panose="02070309020205020404" pitchFamily="49" charset="0"/>
              </a:rPr>
              <a:t>isalpha</a:t>
            </a:r>
            <a:r>
              <a:rPr lang="en-US" sz="2400" b="1" dirty="0" smtClean="0">
                <a:latin typeface="Courier New" panose="02070309020205020404" pitchFamily="49" charset="0"/>
                <a:cs typeface="Courier New" panose="02070309020205020404" pitchFamily="49" charset="0"/>
              </a:rPr>
              <a:t>(</a:t>
            </a:r>
            <a:r>
              <a:rPr lang="en-US" sz="2400" b="1" dirty="0" err="1" smtClean="0">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(“Upper case : %c\n“,</a:t>
            </a:r>
            <a:r>
              <a:rPr lang="en-US" sz="2400" b="1" dirty="0" err="1" smtClean="0">
                <a:latin typeface="Courier New" panose="02070309020205020404" pitchFamily="49" charset="0"/>
                <a:cs typeface="Courier New" panose="02070309020205020404" pitchFamily="49" charset="0"/>
              </a:rPr>
              <a:t>toupper</a:t>
            </a:r>
            <a:r>
              <a:rPr lang="en-US" sz="2400" b="1" dirty="0" smtClean="0">
                <a:latin typeface="Courier New" panose="02070309020205020404" pitchFamily="49" charset="0"/>
                <a:cs typeface="Courier New" panose="02070309020205020404" pitchFamily="49" charset="0"/>
              </a:rPr>
              <a:t>(</a:t>
            </a:r>
            <a:r>
              <a:rPr lang="en-US" sz="2400" b="1" dirty="0" err="1" smtClean="0">
                <a:latin typeface="Courier New" panose="02070309020205020404" pitchFamily="49" charset="0"/>
                <a:cs typeface="Courier New" panose="02070309020205020404" pitchFamily="49" charset="0"/>
              </a:rPr>
              <a:t>ch</a:t>
            </a:r>
            <a:r>
              <a:rPr lang="en-US" sz="2400" b="1" dirty="0" smtClean="0">
                <a:latin typeface="Courier New" panose="02070309020205020404" pitchFamily="49" charset="0"/>
                <a:cs typeface="Courier New" panose="02070309020205020404" pitchFamily="49" charset="0"/>
              </a:rPr>
              <a:t>)) ;</a:t>
            </a:r>
          </a:p>
          <a:p>
            <a:pPr lvl="1" fontAlgn="base"/>
            <a:r>
              <a:rPr lang="en-US" sz="2400" b="1" dirty="0" smtClean="0">
                <a:latin typeface="Courier New" panose="02070309020205020404" pitchFamily="49" charset="0"/>
                <a:cs typeface="Courier New" panose="02070309020205020404" pitchFamily="49" charset="0"/>
              </a:rPr>
              <a:t>else</a:t>
            </a:r>
            <a:endParaRPr lang="en-US" sz="2400" b="1" dirty="0">
              <a:latin typeface="Courier New" panose="02070309020205020404" pitchFamily="49" charset="0"/>
              <a:cs typeface="Courier New" panose="02070309020205020404" pitchFamily="49" charset="0"/>
            </a:endParaRPr>
          </a:p>
          <a:p>
            <a:pPr lvl="2"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(“Not an alphabetic") ;</a:t>
            </a:r>
          </a:p>
          <a:p>
            <a:pPr lvl="1" fontAlgn="base"/>
            <a:r>
              <a:rPr lang="en-US" sz="2400" b="1" dirty="0" smtClean="0">
                <a:latin typeface="Courier New" panose="02070309020205020404" pitchFamily="49" charset="0"/>
                <a:cs typeface="Courier New" panose="02070309020205020404" pitchFamily="49" charset="0"/>
              </a:rPr>
              <a:t>return 0;</a:t>
            </a:r>
            <a:endParaRPr lang="en-US" sz="2400" b="1" dirty="0">
              <a:latin typeface="Courier New" panose="02070309020205020404" pitchFamily="49" charset="0"/>
              <a:cs typeface="Courier New" panose="02070309020205020404" pitchFamily="49" charset="0"/>
            </a:endParaRPr>
          </a:p>
          <a:p>
            <a:pPr fontAlgn="base"/>
            <a:r>
              <a:rPr lang="en-US" sz="2400" b="1" dirty="0">
                <a:latin typeface="Courier New" panose="02070309020205020404" pitchFamily="49" charset="0"/>
                <a:cs typeface="Courier New" panose="02070309020205020404" pitchFamily="49" charset="0"/>
              </a:rPr>
              <a:t>}</a:t>
            </a:r>
          </a:p>
          <a:p>
            <a:pPr fontAlgn="base"/>
            <a:endParaRPr lang="en-IN" sz="2400" b="1" dirty="0">
              <a:latin typeface="Courier New" panose="02070309020205020404" pitchFamily="49" charset="0"/>
              <a:cs typeface="Courier New" panose="02070309020205020404" pitchFamily="49" charset="0"/>
            </a:endParaRPr>
          </a:p>
        </p:txBody>
      </p:sp>
      <p:sp>
        <p:nvSpPr>
          <p:cNvPr id="4" name="Rectangle 3"/>
          <p:cNvSpPr/>
          <p:nvPr/>
        </p:nvSpPr>
        <p:spPr>
          <a:xfrm>
            <a:off x="-1" y="520503"/>
            <a:ext cx="223676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err="1" smtClean="0">
                <a:solidFill>
                  <a:prstClr val="white"/>
                </a:solidFill>
                <a:latin typeface="Verdana" panose="020B0604030504040204" pitchFamily="34" charset="0"/>
                <a:ea typeface="Verdana" panose="020B0604030504040204" pitchFamily="34" charset="0"/>
              </a:rPr>
              <a:t>toupper</a:t>
            </a:r>
            <a:r>
              <a:rPr lang="en-US" sz="2400" b="1" dirty="0" smtClean="0">
                <a:solidFill>
                  <a:prstClr val="white"/>
                </a:solidFill>
                <a:latin typeface="Verdana" panose="020B0604030504040204" pitchFamily="34" charset="0"/>
                <a:ea typeface="Verdana" panose="020B0604030504040204" pitchFamily="34" charset="0"/>
              </a:rPr>
              <a:t>()</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236761" y="534570"/>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7258928" y="1111348"/>
            <a:ext cx="4621607" cy="1200329"/>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any character : d</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Upper case : D</a:t>
            </a:r>
          </a:p>
        </p:txBody>
      </p:sp>
    </p:spTree>
    <p:extLst>
      <p:ext uri="{BB962C8B-B14F-4D97-AF65-F5344CB8AC3E}">
        <p14:creationId xmlns:p14="http://schemas.microsoft.com/office/powerpoint/2010/main" val="737007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02" y="529669"/>
            <a:ext cx="11542646" cy="5911943"/>
          </a:xfrm>
          <a:prstGeom prst="rect">
            <a:avLst/>
          </a:prstGeom>
        </p:spPr>
      </p:pic>
      <p:sp>
        <p:nvSpPr>
          <p:cNvPr id="5" name="Rounded Rectangle 4"/>
          <p:cNvSpPr/>
          <p:nvPr/>
        </p:nvSpPr>
        <p:spPr>
          <a:xfrm>
            <a:off x="9580098" y="6035040"/>
            <a:ext cx="2138290" cy="281354"/>
          </a:xfrm>
          <a:prstGeom prst="roundRect">
            <a:avLst/>
          </a:prstGeom>
          <a:solidFill>
            <a:srgbClr val="E1C9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5693337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770811"/>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C Programming allows us to perform mathematical operations through the functions defined in </a:t>
            </a:r>
            <a:r>
              <a:rPr lang="en-US" sz="2400" b="1" dirty="0">
                <a:latin typeface="Verdana" panose="020B0604030504040204" pitchFamily="34" charset="0"/>
                <a:ea typeface="Verdana" panose="020B0604030504040204" pitchFamily="34" charset="0"/>
              </a:rPr>
              <a:t>&lt;</a:t>
            </a:r>
            <a:r>
              <a:rPr lang="en-US" sz="2400" b="1" dirty="0" err="1">
                <a:latin typeface="Verdana" panose="020B0604030504040204" pitchFamily="34" charset="0"/>
                <a:ea typeface="Verdana" panose="020B0604030504040204" pitchFamily="34" charset="0"/>
              </a:rPr>
              <a:t>math.h</a:t>
            </a:r>
            <a:r>
              <a:rPr lang="en-US" sz="2400" b="1" dirty="0">
                <a:latin typeface="Verdana" panose="020B0604030504040204" pitchFamily="34" charset="0"/>
                <a:ea typeface="Verdana" panose="020B0604030504040204" pitchFamily="34" charset="0"/>
              </a:rPr>
              <a:t>&gt;</a:t>
            </a:r>
            <a:r>
              <a:rPr lang="en-US" sz="2400" dirty="0">
                <a:latin typeface="Verdana" panose="020B0604030504040204" pitchFamily="34" charset="0"/>
                <a:ea typeface="Verdana" panose="020B0604030504040204" pitchFamily="34" charset="0"/>
              </a:rPr>
              <a:t> header file. The </a:t>
            </a:r>
            <a:r>
              <a:rPr lang="en-US" sz="2400" b="1" dirty="0">
                <a:latin typeface="Verdana" panose="020B0604030504040204" pitchFamily="34" charset="0"/>
                <a:ea typeface="Verdana" panose="020B0604030504040204" pitchFamily="34" charset="0"/>
              </a:rPr>
              <a:t>&lt;</a:t>
            </a:r>
            <a:r>
              <a:rPr lang="en-US" sz="2400" b="1" dirty="0" err="1">
                <a:latin typeface="Verdana" panose="020B0604030504040204" pitchFamily="34" charset="0"/>
                <a:ea typeface="Verdana" panose="020B0604030504040204" pitchFamily="34" charset="0"/>
              </a:rPr>
              <a:t>math.h</a:t>
            </a:r>
            <a:r>
              <a:rPr lang="en-US" sz="2400" b="1" dirty="0">
                <a:latin typeface="Verdana" panose="020B0604030504040204" pitchFamily="34" charset="0"/>
                <a:ea typeface="Verdana" panose="020B0604030504040204" pitchFamily="34" charset="0"/>
              </a:rPr>
              <a:t>&gt; </a:t>
            </a:r>
            <a:r>
              <a:rPr lang="en-US" sz="2400" dirty="0">
                <a:latin typeface="Verdana" panose="020B0604030504040204" pitchFamily="34" charset="0"/>
                <a:ea typeface="Verdana" panose="020B0604030504040204" pitchFamily="34" charset="0"/>
              </a:rPr>
              <a:t>header file contains various methods for performing mathematical </a:t>
            </a:r>
            <a:r>
              <a:rPr lang="en-US" sz="2400" dirty="0" smtClean="0">
                <a:latin typeface="Verdana" panose="020B0604030504040204" pitchFamily="34" charset="0"/>
                <a:ea typeface="Verdana" panose="020B0604030504040204" pitchFamily="34" charset="0"/>
              </a:rPr>
              <a:t>operations.</a:t>
            </a: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smtClean="0">
                <a:latin typeface="Verdana" panose="020B0604030504040204" pitchFamily="34" charset="0"/>
                <a:ea typeface="Verdana" panose="020B0604030504040204" pitchFamily="34" charset="0"/>
              </a:rPr>
              <a:t>Some mathematical functions are:</a:t>
            </a:r>
          </a:p>
          <a:p>
            <a:pPr algn="just">
              <a:lnSpc>
                <a:spcPct val="150000"/>
              </a:lnSpc>
            </a:pPr>
            <a:endParaRPr lang="en-US" sz="1000" dirty="0">
              <a:latin typeface="Verdana" panose="020B0604030504040204" pitchFamily="34" charset="0"/>
              <a:ea typeface="Verdana" panose="020B0604030504040204" pitchFamily="34" charset="0"/>
            </a:endParaRPr>
          </a:p>
          <a:p>
            <a:pPr marL="914400" lvl="1" indent="-457200" algn="just">
              <a:lnSpc>
                <a:spcPct val="150000"/>
              </a:lnSpc>
              <a:buFont typeface="+mj-lt"/>
              <a:buAutoNum type="alphaLcParenR"/>
            </a:pPr>
            <a:r>
              <a:rPr lang="en-US" sz="2400" dirty="0" smtClean="0">
                <a:latin typeface="Verdana" panose="020B0604030504040204" pitchFamily="34" charset="0"/>
                <a:ea typeface="Verdana" panose="020B0604030504040204" pitchFamily="34" charset="0"/>
              </a:rPr>
              <a:t>abs (number)</a:t>
            </a:r>
          </a:p>
          <a:p>
            <a:pPr marL="914400" lvl="1" indent="-457200" algn="just">
              <a:lnSpc>
                <a:spcPct val="150000"/>
              </a:lnSpc>
              <a:buFont typeface="+mj-lt"/>
              <a:buAutoNum type="alphaLcParenR"/>
            </a:pPr>
            <a:r>
              <a:rPr lang="en-US" sz="2400" dirty="0" smtClean="0">
                <a:latin typeface="Verdana" panose="020B0604030504040204" pitchFamily="34" charset="0"/>
                <a:ea typeface="Verdana" panose="020B0604030504040204" pitchFamily="34" charset="0"/>
              </a:rPr>
              <a:t>ceil (number)</a:t>
            </a:r>
          </a:p>
          <a:p>
            <a:pPr marL="914400" lvl="1" indent="-457200" algn="just">
              <a:lnSpc>
                <a:spcPct val="150000"/>
              </a:lnSpc>
              <a:buFont typeface="+mj-lt"/>
              <a:buAutoNum type="alphaLcParenR"/>
            </a:pPr>
            <a:r>
              <a:rPr lang="en-US" sz="2400" dirty="0" smtClean="0">
                <a:latin typeface="Verdana" panose="020B0604030504040204" pitchFamily="34" charset="0"/>
                <a:ea typeface="Verdana" panose="020B0604030504040204" pitchFamily="34" charset="0"/>
              </a:rPr>
              <a:t>floor (number)</a:t>
            </a:r>
          </a:p>
          <a:p>
            <a:pPr marL="914400" lvl="1" indent="-457200" algn="just">
              <a:lnSpc>
                <a:spcPct val="150000"/>
              </a:lnSpc>
              <a:buFont typeface="+mj-lt"/>
              <a:buAutoNum type="alphaLcParenR"/>
            </a:pPr>
            <a:r>
              <a:rPr lang="en-US" sz="2400" dirty="0" smtClean="0">
                <a:latin typeface="Verdana" panose="020B0604030504040204" pitchFamily="34" charset="0"/>
                <a:ea typeface="Verdana" panose="020B0604030504040204" pitchFamily="34" charset="0"/>
              </a:rPr>
              <a:t>pow (d1,d2)</a:t>
            </a:r>
          </a:p>
          <a:p>
            <a:pPr marL="914400" lvl="1" indent="-457200" algn="just">
              <a:lnSpc>
                <a:spcPct val="150000"/>
              </a:lnSpc>
              <a:buFont typeface="+mj-lt"/>
              <a:buAutoNum type="alphaLcParenR"/>
            </a:pPr>
            <a:r>
              <a:rPr lang="en-US" sz="2400" dirty="0" err="1" smtClean="0">
                <a:latin typeface="Verdana" panose="020B0604030504040204" pitchFamily="34" charset="0"/>
                <a:ea typeface="Verdana" panose="020B0604030504040204" pitchFamily="34" charset="0"/>
              </a:rPr>
              <a:t>sqrt</a:t>
            </a:r>
            <a:r>
              <a:rPr lang="en-US" sz="2400" dirty="0" smtClean="0">
                <a:latin typeface="Verdana" panose="020B0604030504040204" pitchFamily="34" charset="0"/>
                <a:ea typeface="Verdana" panose="020B0604030504040204" pitchFamily="34" charset="0"/>
              </a:rPr>
              <a:t> (number)</a:t>
            </a: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0" y="520503"/>
            <a:ext cx="455793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Mathematical Function</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0948073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493812"/>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marL="457200" indent="-457200" algn="just">
              <a:lnSpc>
                <a:spcPct val="200000"/>
              </a:lnSpc>
              <a:buFont typeface="+mj-lt"/>
              <a:buAutoNum type="alphaLcParenR"/>
            </a:pPr>
            <a:r>
              <a:rPr lang="en-US" sz="2400" b="1" dirty="0" smtClean="0">
                <a:latin typeface="Verdana" panose="020B0604030504040204" pitchFamily="34" charset="0"/>
                <a:ea typeface="Verdana" panose="020B0604030504040204" pitchFamily="34" charset="0"/>
              </a:rPr>
              <a:t>abs (number)</a:t>
            </a:r>
            <a:r>
              <a:rPr lang="en-US" sz="2400" dirty="0" smtClean="0">
                <a:latin typeface="Verdana" panose="020B0604030504040204" pitchFamily="34" charset="0"/>
                <a:ea typeface="Verdana" panose="020B0604030504040204" pitchFamily="34" charset="0"/>
              </a:rPr>
              <a:t> – Returns the absolute value of given number. </a:t>
            </a:r>
          </a:p>
          <a:p>
            <a:pPr marL="457200" indent="-457200" algn="just">
              <a:lnSpc>
                <a:spcPct val="200000"/>
              </a:lnSpc>
              <a:buFont typeface="+mj-lt"/>
              <a:buAutoNum type="alphaLcParenR"/>
            </a:pPr>
            <a:r>
              <a:rPr lang="en-US" sz="2400" b="1" dirty="0" smtClean="0">
                <a:latin typeface="Verdana" panose="020B0604030504040204" pitchFamily="34" charset="0"/>
                <a:ea typeface="Verdana" panose="020B0604030504040204" pitchFamily="34" charset="0"/>
              </a:rPr>
              <a:t>ceil (number</a:t>
            </a:r>
            <a:r>
              <a:rPr lang="en-US" sz="2400" b="1" dirty="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 </a:t>
            </a:r>
            <a:r>
              <a:rPr lang="en-US" sz="2400" dirty="0" smtClean="0">
                <a:latin typeface="Verdana" panose="020B0604030504040204" pitchFamily="34" charset="0"/>
                <a:ea typeface="Verdana" panose="020B0604030504040204" pitchFamily="34" charset="0"/>
              </a:rPr>
              <a:t>Rounds </a:t>
            </a:r>
            <a:r>
              <a:rPr lang="en-US" sz="2400" dirty="0">
                <a:latin typeface="Verdana" panose="020B0604030504040204" pitchFamily="34" charset="0"/>
                <a:ea typeface="Verdana" panose="020B0604030504040204" pitchFamily="34" charset="0"/>
              </a:rPr>
              <a:t>up the given number. It returns the integer value which is greater than or equal to given number.</a:t>
            </a:r>
            <a:endParaRPr lang="en-US" sz="2400" dirty="0" smtClean="0">
              <a:latin typeface="Verdana" panose="020B0604030504040204" pitchFamily="34" charset="0"/>
              <a:ea typeface="Verdana" panose="020B0604030504040204" pitchFamily="34" charset="0"/>
            </a:endParaRPr>
          </a:p>
          <a:p>
            <a:pPr marL="457200" indent="-457200" algn="just">
              <a:lnSpc>
                <a:spcPct val="200000"/>
              </a:lnSpc>
              <a:buFont typeface="+mj-lt"/>
              <a:buAutoNum type="alphaLcParenR"/>
            </a:pPr>
            <a:r>
              <a:rPr lang="en-US" sz="2400" b="1" dirty="0" smtClean="0">
                <a:latin typeface="Verdana" panose="020B0604030504040204" pitchFamily="34" charset="0"/>
                <a:ea typeface="Verdana" panose="020B0604030504040204" pitchFamily="34" charset="0"/>
              </a:rPr>
              <a:t>floor (number) </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R</a:t>
            </a:r>
            <a:r>
              <a:rPr lang="en-US" sz="2400" dirty="0" smtClean="0">
                <a:latin typeface="Verdana" panose="020B0604030504040204" pitchFamily="34" charset="0"/>
                <a:ea typeface="Verdana" panose="020B0604030504040204" pitchFamily="34" charset="0"/>
              </a:rPr>
              <a:t>ounds </a:t>
            </a:r>
            <a:r>
              <a:rPr lang="en-US" sz="2400" dirty="0">
                <a:latin typeface="Verdana" panose="020B0604030504040204" pitchFamily="34" charset="0"/>
                <a:ea typeface="Verdana" panose="020B0604030504040204" pitchFamily="34" charset="0"/>
              </a:rPr>
              <a:t>down the given number. It returns the integer value which is less than or equal to given number.</a:t>
            </a:r>
            <a:endParaRPr lang="en-US" sz="2400" dirty="0" smtClean="0">
              <a:latin typeface="Verdana" panose="020B0604030504040204" pitchFamily="34" charset="0"/>
              <a:ea typeface="Verdana" panose="020B0604030504040204" pitchFamily="34" charset="0"/>
            </a:endParaRPr>
          </a:p>
          <a:p>
            <a:pPr marL="457200" indent="-457200" algn="just">
              <a:lnSpc>
                <a:spcPct val="200000"/>
              </a:lnSpc>
              <a:buFont typeface="+mj-lt"/>
              <a:buAutoNum type="alphaLcParenR"/>
            </a:pPr>
            <a:r>
              <a:rPr lang="en-US" sz="2400" b="1" dirty="0" smtClean="0">
                <a:latin typeface="Verdana" panose="020B0604030504040204" pitchFamily="34" charset="0"/>
                <a:ea typeface="Verdana" panose="020B0604030504040204" pitchFamily="34" charset="0"/>
              </a:rPr>
              <a:t>pow (d1, d2) </a:t>
            </a:r>
            <a:r>
              <a:rPr lang="en-US" sz="2400" dirty="0" smtClean="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R</a:t>
            </a:r>
            <a:r>
              <a:rPr lang="en-US" sz="2400" dirty="0" smtClean="0">
                <a:latin typeface="Verdana" panose="020B0604030504040204" pitchFamily="34" charset="0"/>
                <a:ea typeface="Verdana" panose="020B0604030504040204" pitchFamily="34" charset="0"/>
              </a:rPr>
              <a:t>eturns </a:t>
            </a:r>
            <a:r>
              <a:rPr lang="en-US" sz="2400" dirty="0">
                <a:latin typeface="Verdana" panose="020B0604030504040204" pitchFamily="34" charset="0"/>
                <a:ea typeface="Verdana" panose="020B0604030504040204" pitchFamily="34" charset="0"/>
              </a:rPr>
              <a:t>the power of given number.</a:t>
            </a:r>
            <a:endParaRPr lang="en-US" sz="2400" dirty="0" smtClean="0">
              <a:latin typeface="Verdana" panose="020B0604030504040204" pitchFamily="34" charset="0"/>
              <a:ea typeface="Verdana" panose="020B0604030504040204" pitchFamily="34" charset="0"/>
            </a:endParaRPr>
          </a:p>
          <a:p>
            <a:pPr marL="457200" indent="-457200" algn="just">
              <a:lnSpc>
                <a:spcPct val="200000"/>
              </a:lnSpc>
              <a:buFont typeface="+mj-lt"/>
              <a:buAutoNum type="alphaLcParenR"/>
            </a:pPr>
            <a:r>
              <a:rPr lang="en-US" sz="2400" b="1" dirty="0" err="1" smtClean="0">
                <a:latin typeface="Verdana" panose="020B0604030504040204" pitchFamily="34" charset="0"/>
                <a:ea typeface="Verdana" panose="020B0604030504040204" pitchFamily="34" charset="0"/>
              </a:rPr>
              <a:t>sqrt</a:t>
            </a:r>
            <a:r>
              <a:rPr lang="en-US" sz="2400" b="1" dirty="0" smtClean="0">
                <a:latin typeface="Verdana" panose="020B0604030504040204" pitchFamily="34" charset="0"/>
                <a:ea typeface="Verdana" panose="020B0604030504040204" pitchFamily="34" charset="0"/>
              </a:rPr>
              <a:t> (number) </a:t>
            </a:r>
            <a:r>
              <a:rPr lang="en-US" sz="2400" dirty="0" smtClean="0">
                <a:latin typeface="Verdana" panose="020B0604030504040204" pitchFamily="34" charset="0"/>
                <a:ea typeface="Verdana" panose="020B0604030504040204" pitchFamily="34" charset="0"/>
              </a:rPr>
              <a:t>– Returns the square root of given number.</a:t>
            </a:r>
            <a:endParaRPr lang="en-US" sz="2400" dirty="0">
              <a:latin typeface="Verdana" panose="020B0604030504040204" pitchFamily="34" charset="0"/>
              <a:ea typeface="Verdana" panose="020B0604030504040204" pitchFamily="34" charset="0"/>
            </a:endParaRPr>
          </a:p>
        </p:txBody>
      </p:sp>
      <p:sp>
        <p:nvSpPr>
          <p:cNvPr id="4" name="Rectangle 3"/>
          <p:cNvSpPr/>
          <p:nvPr/>
        </p:nvSpPr>
        <p:spPr>
          <a:xfrm>
            <a:off x="0" y="520503"/>
            <a:ext cx="455793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Mathematical Function</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8598173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786199"/>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a:t>
            </a:r>
            <a:r>
              <a:rPr lang="en-US" sz="2400" b="1" dirty="0" smtClean="0">
                <a:latin typeface="Courier New" panose="02070309020205020404" pitchFamily="49" charset="0"/>
                <a:ea typeface="Verdana" panose="020B0604030504040204" pitchFamily="34" charset="0"/>
                <a:cs typeface="Courier New" panose="02070309020205020404" pitchFamily="49" charset="0"/>
              </a:rPr>
              <a:t>&lt;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math.h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fontAlgn="base"/>
            <a:r>
              <a:rPr lang="en-US" sz="2400" b="1" dirty="0" err="1">
                <a:latin typeface="Courier New" panose="02070309020205020404" pitchFamily="49" charset="0"/>
                <a:cs typeface="Courier New" panose="02070309020205020404" pitchFamily="49" charset="0"/>
              </a:rPr>
              <a:t>int</a:t>
            </a:r>
            <a:r>
              <a:rPr lang="en-US" sz="2400" b="1" dirty="0">
                <a:latin typeface="Courier New" panose="02070309020205020404" pitchFamily="49" charset="0"/>
                <a:cs typeface="Courier New" panose="02070309020205020404" pitchFamily="49" charset="0"/>
              </a:rPr>
              <a:t> main()</a:t>
            </a:r>
          </a:p>
          <a:p>
            <a:pPr fontAlgn="base"/>
            <a:r>
              <a:rPr lang="en-US" sz="2400" b="1" dirty="0">
                <a:latin typeface="Courier New" panose="02070309020205020404" pitchFamily="49" charset="0"/>
                <a:cs typeface="Courier New" panose="02070309020205020404" pitchFamily="49" charset="0"/>
              </a:rPr>
              <a:t>{</a:t>
            </a:r>
          </a:p>
          <a:p>
            <a:pPr lvl="1" fontAlgn="base"/>
            <a:r>
              <a:rPr lang="en-US" sz="2400" b="1" dirty="0" err="1">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a:t>
            </a:r>
            <a:r>
              <a:rPr lang="en-US" sz="2400" b="1" dirty="0" err="1">
                <a:latin typeface="Courier New" panose="02070309020205020404" pitchFamily="49" charset="0"/>
                <a:cs typeface="Courier New" panose="02070309020205020404" pitchFamily="49" charset="0"/>
              </a:rPr>
              <a:t>d",abs</a:t>
            </a:r>
            <a:r>
              <a:rPr lang="en-US" sz="2400" b="1" dirty="0">
                <a:latin typeface="Courier New" panose="02070309020205020404" pitchFamily="49" charset="0"/>
                <a:cs typeface="Courier New" panose="02070309020205020404" pitchFamily="49" charset="0"/>
              </a:rPr>
              <a:t>(-12));</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("\n%.2f",ceil(3.6));</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("\n%.2f",ceil(3.3));</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("\n%.2f",floor(3.6));   </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("\n%.2f",floor(3.3));</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("\n%.2f",sqrt(16));</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("\n%.2f",sqrt(7));</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("\n%.2f",pow(2,4));</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a:latin typeface="Courier New" panose="02070309020205020404" pitchFamily="49" charset="0"/>
                <a:cs typeface="Courier New" panose="02070309020205020404" pitchFamily="49" charset="0"/>
              </a:rPr>
              <a:t>("\n%.2f",pow(3,3));</a:t>
            </a:r>
          </a:p>
          <a:p>
            <a:pPr lvl="1" fontAlgn="base"/>
            <a:r>
              <a:rPr lang="en-US" sz="2400" b="1" dirty="0" smtClean="0">
                <a:latin typeface="Courier New" panose="02070309020205020404" pitchFamily="49" charset="0"/>
                <a:cs typeface="Courier New" panose="02070309020205020404" pitchFamily="49" charset="0"/>
              </a:rPr>
              <a:t>return </a:t>
            </a:r>
            <a:r>
              <a:rPr lang="en-US" sz="2400" b="1" dirty="0">
                <a:latin typeface="Courier New" panose="02070309020205020404" pitchFamily="49" charset="0"/>
                <a:cs typeface="Courier New" panose="02070309020205020404" pitchFamily="49" charset="0"/>
              </a:rPr>
              <a:t>0</a:t>
            </a:r>
            <a:r>
              <a:rPr lang="en-US" sz="2400" b="1" dirty="0" smtClean="0">
                <a:latin typeface="Courier New" panose="02070309020205020404" pitchFamily="49" charset="0"/>
                <a:cs typeface="Courier New" panose="02070309020205020404" pitchFamily="49" charset="0"/>
              </a:rPr>
              <a:t>;</a:t>
            </a:r>
          </a:p>
          <a:p>
            <a:pPr fontAlgn="base"/>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p:txBody>
      </p:sp>
      <p:sp>
        <p:nvSpPr>
          <p:cNvPr id="4" name="Rectangle 3"/>
          <p:cNvSpPr/>
          <p:nvPr/>
        </p:nvSpPr>
        <p:spPr>
          <a:xfrm>
            <a:off x="-1" y="520503"/>
            <a:ext cx="2236762"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Math</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2236761"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TextBox 6"/>
          <p:cNvSpPr txBox="1"/>
          <p:nvPr/>
        </p:nvSpPr>
        <p:spPr>
          <a:xfrm>
            <a:off x="9734843" y="1111348"/>
            <a:ext cx="2145692" cy="4462760"/>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endParaRPr lang="en-US" sz="10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1"/>
            <a:r>
              <a:rPr lang="en-US" sz="2400" b="1" dirty="0" smtClean="0">
                <a:latin typeface="Courier New" panose="02070309020205020404" pitchFamily="49" charset="0"/>
                <a:ea typeface="Verdana" panose="020B0604030504040204" pitchFamily="34" charset="0"/>
                <a:cs typeface="Courier New" panose="02070309020205020404" pitchFamily="49" charset="0"/>
              </a:rPr>
              <a:t>12</a:t>
            </a:r>
          </a:p>
          <a:p>
            <a:pPr lvl="1"/>
            <a:r>
              <a:rPr lang="en-US" sz="2400" b="1" dirty="0" smtClean="0">
                <a:latin typeface="Courier New" panose="02070309020205020404" pitchFamily="49" charset="0"/>
                <a:ea typeface="Verdana" panose="020B0604030504040204" pitchFamily="34" charset="0"/>
                <a:cs typeface="Courier New" panose="02070309020205020404" pitchFamily="49" charset="0"/>
              </a:rPr>
              <a:t>4.00</a:t>
            </a:r>
          </a:p>
          <a:p>
            <a:pPr lvl="1"/>
            <a:r>
              <a:rPr lang="en-US" sz="2400" b="1" dirty="0" smtClean="0">
                <a:latin typeface="Courier New" panose="02070309020205020404" pitchFamily="49" charset="0"/>
                <a:ea typeface="Verdana" panose="020B0604030504040204" pitchFamily="34" charset="0"/>
                <a:cs typeface="Courier New" panose="02070309020205020404" pitchFamily="49" charset="0"/>
              </a:rPr>
              <a:t>4.00</a:t>
            </a:r>
          </a:p>
          <a:p>
            <a:pPr lvl="1"/>
            <a:r>
              <a:rPr lang="en-US" sz="2400" b="1" dirty="0" smtClean="0">
                <a:latin typeface="Courier New" panose="02070309020205020404" pitchFamily="49" charset="0"/>
                <a:ea typeface="Verdana" panose="020B0604030504040204" pitchFamily="34" charset="0"/>
                <a:cs typeface="Courier New" panose="02070309020205020404" pitchFamily="49" charset="0"/>
              </a:rPr>
              <a:t>3.00</a:t>
            </a:r>
          </a:p>
          <a:p>
            <a:pPr lvl="1"/>
            <a:r>
              <a:rPr lang="en-US" sz="2400" b="1" dirty="0" smtClean="0">
                <a:latin typeface="Courier New" panose="02070309020205020404" pitchFamily="49" charset="0"/>
                <a:ea typeface="Verdana" panose="020B0604030504040204" pitchFamily="34" charset="0"/>
                <a:cs typeface="Courier New" panose="02070309020205020404" pitchFamily="49" charset="0"/>
              </a:rPr>
              <a:t>3.00</a:t>
            </a:r>
          </a:p>
          <a:p>
            <a:pPr lvl="1"/>
            <a:r>
              <a:rPr lang="en-US" sz="2400" b="1" dirty="0" smtClean="0">
                <a:latin typeface="Courier New" panose="02070309020205020404" pitchFamily="49" charset="0"/>
                <a:ea typeface="Verdana" panose="020B0604030504040204" pitchFamily="34" charset="0"/>
                <a:cs typeface="Courier New" panose="02070309020205020404" pitchFamily="49" charset="0"/>
              </a:rPr>
              <a:t>4.00</a:t>
            </a:r>
          </a:p>
          <a:p>
            <a:pPr lvl="1"/>
            <a:r>
              <a:rPr lang="en-US" sz="2400" b="1" dirty="0" smtClean="0">
                <a:latin typeface="Courier New" panose="02070309020205020404" pitchFamily="49" charset="0"/>
                <a:ea typeface="Verdana" panose="020B0604030504040204" pitchFamily="34" charset="0"/>
                <a:cs typeface="Courier New" panose="02070309020205020404" pitchFamily="49" charset="0"/>
              </a:rPr>
              <a:t>2.00</a:t>
            </a:r>
          </a:p>
          <a:p>
            <a:pPr lvl="1"/>
            <a:r>
              <a:rPr lang="en-US" sz="2400" b="1" dirty="0" smtClean="0">
                <a:latin typeface="Courier New" panose="02070309020205020404" pitchFamily="49" charset="0"/>
                <a:ea typeface="Verdana" panose="020B0604030504040204" pitchFamily="34" charset="0"/>
                <a:cs typeface="Courier New" panose="02070309020205020404" pitchFamily="49" charset="0"/>
              </a:rPr>
              <a:t>16.00</a:t>
            </a:r>
          </a:p>
          <a:p>
            <a:pPr lvl="1"/>
            <a:r>
              <a:rPr lang="en-US" sz="2400" b="1" smtClean="0">
                <a:latin typeface="Courier New" panose="02070309020205020404" pitchFamily="49" charset="0"/>
                <a:ea typeface="Verdana" panose="020B0604030504040204" pitchFamily="34" charset="0"/>
                <a:cs typeface="Courier New" panose="02070309020205020404" pitchFamily="49" charset="0"/>
              </a:rPr>
              <a:t>27.00</a:t>
            </a:r>
          </a:p>
          <a:p>
            <a:pPr lvl="1"/>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210418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02" y="529668"/>
            <a:ext cx="11542646" cy="5911943"/>
          </a:xfrm>
          <a:prstGeom prst="rect">
            <a:avLst/>
          </a:prstGeom>
        </p:spPr>
      </p:pic>
    </p:spTree>
    <p:extLst>
      <p:ext uri="{BB962C8B-B14F-4D97-AF65-F5344CB8AC3E}">
        <p14:creationId xmlns:p14="http://schemas.microsoft.com/office/powerpoint/2010/main" val="247929837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1910459"/>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The function which are created by the programmer is known as user defined function. These methods are modified according to the requirement. </a:t>
            </a: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User Defined Function</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581846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12448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lvl="2"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6"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Return_Type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Function_Name</a:t>
            </a:r>
            <a:r>
              <a:rPr lang="en-US" sz="2400" b="1" dirty="0">
                <a:latin typeface="Courier New" panose="02070309020205020404" pitchFamily="49" charset="0"/>
                <a:ea typeface="Verdana" panose="020B0604030504040204" pitchFamily="34" charset="0"/>
                <a:cs typeface="Courier New" panose="02070309020205020404" pitchFamily="49" charset="0"/>
              </a:rPr>
              <a:t>( )</a:t>
            </a:r>
          </a:p>
          <a:p>
            <a:pPr lvl="6"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7"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Statements;</a:t>
            </a:r>
          </a:p>
          <a:p>
            <a:pPr lvl="6"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NOTE: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Return_Type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can be void or can be any one of the data types.</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User Defined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0502"/>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Syntax</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62113124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385816"/>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lvl="2"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6"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void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disp</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6"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7"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(“Hello World);</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6"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User Defined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2547732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047536"/>
          </a:xfrm>
          <a:prstGeom prst="rect">
            <a:avLst/>
          </a:prstGeom>
          <a:noFill/>
        </p:spPr>
        <p:txBody>
          <a:bodyPr wrap="square" rtlCol="0">
            <a:spAutoFit/>
          </a:bodyPr>
          <a:lstStyle/>
          <a:p>
            <a:pPr algn="just"/>
            <a:endParaRPr lang="en-US" sz="1000" dirty="0">
              <a:latin typeface="Verdana" panose="020B0604030504040204" pitchFamily="34" charset="0"/>
              <a:ea typeface="Verdana" panose="020B0604030504040204" pitchFamily="34"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fontAlgn="base"/>
            <a:r>
              <a:rPr lang="en-US" sz="2400" b="1" dirty="0" smtClean="0">
                <a:latin typeface="Courier New" panose="02070309020205020404" pitchFamily="49" charset="0"/>
                <a:cs typeface="Courier New" panose="02070309020205020404" pitchFamily="49" charset="0"/>
              </a:rPr>
              <a:t>void </a:t>
            </a:r>
            <a:r>
              <a:rPr lang="en-US" sz="2400" b="1" dirty="0" err="1" smtClean="0">
                <a:latin typeface="Courier New" panose="02070309020205020404" pitchFamily="49" charset="0"/>
                <a:cs typeface="Courier New" panose="02070309020205020404" pitchFamily="49" charset="0"/>
              </a:rPr>
              <a:t>disp</a:t>
            </a:r>
            <a:r>
              <a:rPr lang="en-US" sz="2400" b="1" dirty="0" smtClean="0">
                <a:latin typeface="Courier New" panose="02070309020205020404" pitchFamily="49" charset="0"/>
                <a:cs typeface="Courier New" panose="02070309020205020404" pitchFamily="49" charset="0"/>
              </a:rPr>
              <a:t>()</a:t>
            </a:r>
          </a:p>
          <a:p>
            <a:pPr fontAlgn="base"/>
            <a:r>
              <a:rPr lang="en-US" sz="2400" b="1" dirty="0" smtClean="0">
                <a:latin typeface="Courier New" panose="02070309020205020404" pitchFamily="49" charset="0"/>
                <a:cs typeface="Courier New" panose="02070309020205020404" pitchFamily="49" charset="0"/>
              </a:rPr>
              <a:t>{</a:t>
            </a:r>
          </a:p>
          <a:p>
            <a:pPr lvl="1" fontAlgn="base"/>
            <a:r>
              <a:rPr lang="en-US" sz="2400" b="1" dirty="0" err="1" smtClean="0">
                <a:latin typeface="Courier New" panose="02070309020205020404" pitchFamily="49" charset="0"/>
                <a:cs typeface="Courier New" panose="02070309020205020404" pitchFamily="49" charset="0"/>
              </a:rPr>
              <a:t>printf</a:t>
            </a:r>
            <a:r>
              <a:rPr lang="en-US" sz="2400" b="1" dirty="0" smtClean="0">
                <a:latin typeface="Courier New" panose="02070309020205020404" pitchFamily="49" charset="0"/>
                <a:cs typeface="Courier New" panose="02070309020205020404" pitchFamily="49" charset="0"/>
              </a:rPr>
              <a:t>(“Hello World\n”);</a:t>
            </a:r>
          </a:p>
          <a:p>
            <a:pPr fontAlgn="base"/>
            <a:r>
              <a:rPr lang="en-US" sz="2400" b="1" dirty="0">
                <a:latin typeface="Courier New" panose="02070309020205020404" pitchFamily="49" charset="0"/>
                <a:cs typeface="Courier New" panose="02070309020205020404" pitchFamily="49" charset="0"/>
              </a:rPr>
              <a:t>}</a:t>
            </a:r>
            <a:endParaRPr lang="en-US" sz="2400" b="1" dirty="0" smtClean="0">
              <a:latin typeface="Courier New" panose="02070309020205020404" pitchFamily="49" charset="0"/>
              <a:cs typeface="Courier New" panose="02070309020205020404" pitchFamily="49" charset="0"/>
            </a:endParaRPr>
          </a:p>
          <a:p>
            <a:pPr fontAlgn="base"/>
            <a:r>
              <a:rPr lang="en-US" sz="2400" b="1" dirty="0" err="1" smtClean="0">
                <a:latin typeface="Courier New" panose="02070309020205020404" pitchFamily="49" charset="0"/>
                <a:cs typeface="Courier New" panose="02070309020205020404" pitchFamily="49" charset="0"/>
              </a:rPr>
              <a:t>int</a:t>
            </a:r>
            <a:r>
              <a:rPr lang="en-US" sz="2400" b="1" dirty="0" smtClean="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main()</a:t>
            </a:r>
          </a:p>
          <a:p>
            <a:pPr fontAlgn="base"/>
            <a:r>
              <a:rPr lang="en-US" sz="2400" b="1" dirty="0">
                <a:latin typeface="Courier New" panose="02070309020205020404" pitchFamily="49" charset="0"/>
                <a:cs typeface="Courier New" panose="02070309020205020404" pitchFamily="49" charset="0"/>
              </a:rPr>
              <a:t>{</a:t>
            </a:r>
          </a:p>
          <a:p>
            <a:pPr lvl="1" fontAlgn="base"/>
            <a:r>
              <a:rPr lang="en-US" sz="2400" b="1" dirty="0" err="1" smtClean="0">
                <a:latin typeface="Courier New" panose="02070309020205020404" pitchFamily="49" charset="0"/>
                <a:cs typeface="Courier New" panose="02070309020205020404" pitchFamily="49" charset="0"/>
              </a:rPr>
              <a:t>disp</a:t>
            </a:r>
            <a:r>
              <a:rPr lang="en-US" sz="2400" b="1" dirty="0" smtClean="0">
                <a:latin typeface="Courier New" panose="02070309020205020404" pitchFamily="49" charset="0"/>
                <a:cs typeface="Courier New" panose="02070309020205020404" pitchFamily="49" charset="0"/>
              </a:rPr>
              <a:t>();</a:t>
            </a:r>
          </a:p>
          <a:p>
            <a:pPr lvl="1" fontAlgn="base"/>
            <a:r>
              <a:rPr lang="en-US" sz="2400" b="1" dirty="0" err="1" smtClean="0">
                <a:latin typeface="Courier New" panose="02070309020205020404" pitchFamily="49" charset="0"/>
                <a:cs typeface="Courier New" panose="02070309020205020404" pitchFamily="49" charset="0"/>
              </a:rPr>
              <a:t>disp</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a:p>
            <a:pPr lvl="1" fontAlgn="base"/>
            <a:r>
              <a:rPr lang="en-US" sz="2400" b="1" dirty="0">
                <a:latin typeface="Courier New" panose="02070309020205020404" pitchFamily="49" charset="0"/>
                <a:cs typeface="Courier New" panose="02070309020205020404" pitchFamily="49" charset="0"/>
              </a:rPr>
              <a:t>return 0;</a:t>
            </a:r>
          </a:p>
          <a:p>
            <a:pPr fontAlgn="base"/>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User Defined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Program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8707902" y="1111348"/>
            <a:ext cx="3172633"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dirty="0" smtClean="0">
                <a:latin typeface="Courier New" panose="02070309020205020404" pitchFamily="49" charset="0"/>
                <a:ea typeface="Verdana" panose="020B0604030504040204" pitchFamily="34" charset="0"/>
                <a:cs typeface="Courier New" panose="02070309020205020404" pitchFamily="49" charset="0"/>
              </a:rPr>
              <a:t>Hello World</a:t>
            </a:r>
          </a:p>
          <a:p>
            <a:pPr algn="ctr"/>
            <a:r>
              <a:rPr lang="en-US" sz="2400" b="1" dirty="0" smtClean="0">
                <a:latin typeface="Courier New" panose="02070309020205020404" pitchFamily="49" charset="0"/>
                <a:ea typeface="Verdana" panose="020B0604030504040204" pitchFamily="34" charset="0"/>
                <a:cs typeface="Courier New" panose="02070309020205020404" pitchFamily="49" charset="0"/>
              </a:rPr>
              <a:t>Hello World</a:t>
            </a:r>
          </a:p>
        </p:txBody>
      </p:sp>
    </p:spTree>
    <p:extLst>
      <p:ext uri="{BB962C8B-B14F-4D97-AF65-F5344CB8AC3E}">
        <p14:creationId xmlns:p14="http://schemas.microsoft.com/office/powerpoint/2010/main" val="3096638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093154"/>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smtClean="0">
                <a:latin typeface="Verdana" panose="020B0604030504040204" pitchFamily="34" charset="0"/>
                <a:ea typeface="Verdana" panose="020B0604030504040204" pitchFamily="34" charset="0"/>
              </a:rPr>
              <a:t>We can create a variable in the function parenthesis known as argument and these types of function is known as argument function.</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smtClean="0">
                <a:latin typeface="Verdana" panose="020B0604030504040204" pitchFamily="34" charset="0"/>
                <a:ea typeface="Verdana" panose="020B0604030504040204" pitchFamily="34" charset="0"/>
              </a:rPr>
              <a:t>When </a:t>
            </a:r>
            <a:r>
              <a:rPr lang="en-US" sz="2400" dirty="0">
                <a:latin typeface="Verdana" panose="020B0604030504040204" pitchFamily="34" charset="0"/>
                <a:ea typeface="Verdana" panose="020B0604030504040204" pitchFamily="34" charset="0"/>
              </a:rPr>
              <a:t>a function has arguments, it receives any data from the calling function but it returns no values.</a:t>
            </a:r>
            <a:endParaRPr lang="en-US" sz="2400" dirty="0" smtClean="0">
              <a:latin typeface="Verdana" panose="020B0604030504040204" pitchFamily="34" charset="0"/>
              <a:ea typeface="Verdana" panose="020B0604030504040204" pitchFamily="34" charset="0"/>
            </a:endParaRP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User Defined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0052"/>
            <a:ext cx="3446584"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Argument Function</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1965596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985980"/>
          </a:xfrm>
          <a:prstGeom prst="rect">
            <a:avLst/>
          </a:prstGeom>
          <a:noFill/>
        </p:spPr>
        <p:txBody>
          <a:bodyPr wrap="square" rtlCol="0">
            <a:spAutoFit/>
          </a:bodyPr>
          <a:lstStyle/>
          <a:p>
            <a:pPr algn="just">
              <a:lnSpc>
                <a:spcPct val="150000"/>
              </a:lnSpc>
            </a:pPr>
            <a:endParaRPr lang="en-US" sz="1000" b="1" dirty="0" smtClean="0">
              <a:latin typeface="Verdana" panose="020B0604030504040204" pitchFamily="34" charset="0"/>
              <a:ea typeface="Verdana" panose="020B0604030504040204" pitchFamily="34" charset="0"/>
              <a:cs typeface="Courier New" panose="02070309020205020404" pitchFamily="49" charset="0"/>
            </a:endParaRPr>
          </a:p>
          <a:p>
            <a:pPr algn="just">
              <a:lnSpc>
                <a:spcPct val="150000"/>
              </a:lnSpc>
            </a:pPr>
            <a:r>
              <a:rPr lang="en-US" sz="2400" b="1" dirty="0" smtClean="0">
                <a:latin typeface="Verdana" panose="020B0604030504040204" pitchFamily="34" charset="0"/>
                <a:ea typeface="Verdana" panose="020B0604030504040204" pitchFamily="34" charset="0"/>
                <a:cs typeface="Courier New" panose="02070309020205020404" pitchFamily="49" charset="0"/>
              </a:rPr>
              <a:t>Function Declaration</a:t>
            </a:r>
          </a:p>
          <a:p>
            <a:pPr lvl="2" algn="just">
              <a:lnSpc>
                <a:spcPct val="150000"/>
              </a:lnSpc>
            </a:pP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Return_Type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Function_Name</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smtClean="0">
                <a:latin typeface="Courier New" panose="02070309020205020404" pitchFamily="49" charset="0"/>
                <a:ea typeface="Verdana" panose="020B0604030504040204" pitchFamily="34" charset="0"/>
                <a:cs typeface="Courier New" panose="02070309020205020404" pitchFamily="49" charset="0"/>
              </a:rPr>
              <a:t>( Parameter List );</a:t>
            </a:r>
          </a:p>
          <a:p>
            <a:pPr lvl="2" algn="just">
              <a:lnSpc>
                <a:spcPct val="150000"/>
              </a:lnSpc>
            </a:pP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Verdana" panose="020B0604030504040204" pitchFamily="34" charset="0"/>
                <a:ea typeface="Verdana" panose="020B0604030504040204" pitchFamily="34" charset="0"/>
                <a:cs typeface="Courier New" panose="02070309020205020404" pitchFamily="49" charset="0"/>
              </a:rPr>
              <a:t>Function Definition</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Return_Type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Function_Name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Parameter_List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3"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Statements;</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Argument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2176"/>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Syntax</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1041229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9170212" cy="4755148"/>
          </a:xfrm>
          <a:prstGeom prst="rect">
            <a:avLst/>
          </a:prstGeom>
          <a:noFill/>
        </p:spPr>
        <p:txBody>
          <a:bodyPr wrap="square" rtlCol="0">
            <a:spAutoFit/>
          </a:bodyPr>
          <a:lstStyle/>
          <a:p>
            <a:pPr algn="just">
              <a:lnSpc>
                <a:spcPct val="150000"/>
              </a:lnSpc>
            </a:pPr>
            <a:endParaRPr lang="en-US" sz="1000" b="1" dirty="0" smtClean="0">
              <a:latin typeface="Verdana" panose="020B0604030504040204" pitchFamily="34"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void add(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Function Declaration</a:t>
            </a:r>
          </a:p>
          <a:p>
            <a:pPr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add( 10, 20 );</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0;</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void add (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x,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y ) // Function Definition</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res = x + y;</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(“Sum =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d”,res</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Argument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2176"/>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8707902" y="1111348"/>
            <a:ext cx="3172633" cy="1938992"/>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dirty="0" smtClean="0">
                <a:latin typeface="Courier New" panose="02070309020205020404" pitchFamily="49" charset="0"/>
                <a:ea typeface="Verdana" panose="020B0604030504040204" pitchFamily="34" charset="0"/>
                <a:cs typeface="Courier New" panose="02070309020205020404" pitchFamily="49" charset="0"/>
              </a:rPr>
              <a:t>Sum = 30</a:t>
            </a:r>
          </a:p>
          <a:p>
            <a:pPr algn="ct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33766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ariable Scope in C – Local and Global Scope Explain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488" y="309489"/>
            <a:ext cx="11549577" cy="6139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017905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985980"/>
          </a:xfrm>
          <a:prstGeom prst="rect">
            <a:avLst/>
          </a:prstGeom>
          <a:noFill/>
        </p:spPr>
        <p:txBody>
          <a:bodyPr wrap="square" rtlCol="0">
            <a:spAutoFit/>
          </a:bodyPr>
          <a:lstStyle/>
          <a:p>
            <a:pPr algn="just">
              <a:lnSpc>
                <a:spcPct val="150000"/>
              </a:lnSpc>
            </a:pPr>
            <a:endParaRPr lang="en-US" sz="1000" b="1" dirty="0" smtClean="0">
              <a:latin typeface="Verdana" panose="020B0604030504040204" pitchFamily="34" charset="0"/>
              <a:ea typeface="Verdana" panose="020B0604030504040204" pitchFamily="34" charset="0"/>
              <a:cs typeface="Courier New" panose="02070309020205020404" pitchFamily="49" charset="0"/>
            </a:endParaRPr>
          </a:p>
          <a:p>
            <a:pPr algn="just">
              <a:lnSpc>
                <a:spcPct val="150000"/>
              </a:lnSpc>
            </a:pPr>
            <a:r>
              <a:rPr lang="en-US" sz="2400" dirty="0">
                <a:latin typeface="Verdana" panose="020B0604030504040204" pitchFamily="34" charset="0"/>
                <a:ea typeface="Verdana" panose="020B0604030504040204" pitchFamily="34" charset="0"/>
                <a:cs typeface="Courier New" panose="02070309020205020404" pitchFamily="49" charset="0"/>
              </a:rPr>
              <a:t>In simple terms, scope of a variable is its lifetime in the program</a:t>
            </a:r>
            <a:r>
              <a:rPr lang="en-US" sz="2400" dirty="0" smtClean="0">
                <a:latin typeface="Verdana" panose="020B0604030504040204" pitchFamily="34" charset="0"/>
                <a:ea typeface="Verdana" panose="020B0604030504040204" pitchFamily="34" charset="0"/>
                <a:cs typeface="Courier New" panose="02070309020205020404" pitchFamily="49" charset="0"/>
              </a:rPr>
              <a:t>.</a:t>
            </a:r>
          </a:p>
          <a:p>
            <a:pPr algn="just">
              <a:lnSpc>
                <a:spcPct val="150000"/>
              </a:lnSpc>
            </a:pPr>
            <a:endParaRPr lang="en-US" sz="1000" dirty="0">
              <a:latin typeface="Verdana" panose="020B0604030504040204" pitchFamily="34" charset="0"/>
              <a:ea typeface="Verdana" panose="020B0604030504040204" pitchFamily="34" charset="0"/>
              <a:cs typeface="Courier New" panose="02070309020205020404" pitchFamily="49" charset="0"/>
            </a:endParaRPr>
          </a:p>
          <a:p>
            <a:pPr algn="just">
              <a:lnSpc>
                <a:spcPct val="150000"/>
              </a:lnSpc>
            </a:pPr>
            <a:r>
              <a:rPr lang="en-US" sz="2400" dirty="0">
                <a:latin typeface="Verdana" panose="020B0604030504040204" pitchFamily="34" charset="0"/>
                <a:ea typeface="Verdana" panose="020B0604030504040204" pitchFamily="34" charset="0"/>
                <a:cs typeface="Courier New" panose="02070309020205020404" pitchFamily="49" charset="0"/>
              </a:rPr>
              <a:t>This means that the scope of a variable is the block of code in the entire program where the variable is declared, used, and can be modified</a:t>
            </a:r>
            <a:r>
              <a:rPr lang="en-US" sz="2400" dirty="0" smtClean="0">
                <a:latin typeface="Verdana" panose="020B0604030504040204" pitchFamily="34" charset="0"/>
                <a:ea typeface="Verdana" panose="020B0604030504040204" pitchFamily="34" charset="0"/>
                <a:cs typeface="Courier New" panose="02070309020205020404" pitchFamily="49" charset="0"/>
              </a:rPr>
              <a:t>.</a:t>
            </a:r>
          </a:p>
          <a:p>
            <a:pPr algn="just">
              <a:lnSpc>
                <a:spcPct val="150000"/>
              </a:lnSpc>
            </a:pPr>
            <a:endParaRPr lang="en-US" sz="2400" dirty="0">
              <a:latin typeface="Verdana" panose="020B0604030504040204" pitchFamily="34" charset="0"/>
              <a:ea typeface="Verdana" panose="020B0604030504040204" pitchFamily="34" charset="0"/>
              <a:cs typeface="Courier New" panose="02070309020205020404" pitchFamily="49" charset="0"/>
            </a:endParaRPr>
          </a:p>
          <a:p>
            <a:pPr algn="just">
              <a:lnSpc>
                <a:spcPct val="150000"/>
              </a:lnSpc>
            </a:pPr>
            <a:r>
              <a:rPr lang="en-US" sz="2400" dirty="0" smtClean="0">
                <a:latin typeface="Verdana" panose="020B0604030504040204" pitchFamily="34" charset="0"/>
                <a:ea typeface="Verdana" panose="020B0604030504040204" pitchFamily="34" charset="0"/>
                <a:cs typeface="Courier New" panose="02070309020205020404" pitchFamily="49" charset="0"/>
              </a:rPr>
              <a:t>There are two scope of variable in C programming.</a:t>
            </a:r>
          </a:p>
          <a:p>
            <a:pPr algn="just">
              <a:lnSpc>
                <a:spcPct val="150000"/>
              </a:lnSpc>
            </a:pPr>
            <a:endParaRPr lang="en-US" sz="2400" dirty="0">
              <a:latin typeface="Verdana" panose="020B0604030504040204" pitchFamily="34" charset="0"/>
              <a:ea typeface="Verdana" panose="020B0604030504040204" pitchFamily="34" charset="0"/>
              <a:cs typeface="Courier New" panose="02070309020205020404" pitchFamily="49" charset="0"/>
            </a:endParaRPr>
          </a:p>
          <a:p>
            <a:pPr marL="800100" lvl="1" indent="-342900" algn="just">
              <a:lnSpc>
                <a:spcPct val="150000"/>
              </a:lnSpc>
              <a:buFont typeface="Wingdings" panose="05000000000000000000" pitchFamily="2" charset="2"/>
              <a:buChar char="ü"/>
            </a:pPr>
            <a:r>
              <a:rPr lang="en-US" sz="2400" dirty="0" smtClean="0">
                <a:latin typeface="Verdana" panose="020B0604030504040204" pitchFamily="34" charset="0"/>
                <a:ea typeface="Verdana" panose="020B0604030504040204" pitchFamily="34" charset="0"/>
                <a:cs typeface="Courier New" panose="02070309020205020404" pitchFamily="49" charset="0"/>
              </a:rPr>
              <a:t>Local Scope of Variable</a:t>
            </a:r>
          </a:p>
          <a:p>
            <a:pPr marL="800100" lvl="1" indent="-342900" algn="just">
              <a:lnSpc>
                <a:spcPct val="150000"/>
              </a:lnSpc>
              <a:buFont typeface="Wingdings" panose="05000000000000000000" pitchFamily="2" charset="2"/>
              <a:buChar char="ü"/>
            </a:pPr>
            <a:r>
              <a:rPr lang="en-US" sz="2400" dirty="0" smtClean="0">
                <a:latin typeface="Verdana" panose="020B0604030504040204" pitchFamily="34" charset="0"/>
                <a:ea typeface="Verdana" panose="020B0604030504040204" pitchFamily="34" charset="0"/>
                <a:cs typeface="Courier New" panose="02070309020205020404" pitchFamily="49" charset="0"/>
              </a:rPr>
              <a:t>Global Scope of Variable</a:t>
            </a:r>
            <a:endParaRPr lang="en-US" sz="2400" dirty="0">
              <a:latin typeface="Verdana" panose="020B0604030504040204" pitchFamily="34" charset="0"/>
              <a:ea typeface="Verdana" panose="020B0604030504040204" pitchFamily="34" charset="0"/>
              <a:cs typeface="Courier New" panose="02070309020205020404" pitchFamily="49" charset="0"/>
            </a:endParaRPr>
          </a:p>
        </p:txBody>
      </p:sp>
      <p:sp>
        <p:nvSpPr>
          <p:cNvPr id="4" name="Rectangle 3"/>
          <p:cNvSpPr/>
          <p:nvPr/>
        </p:nvSpPr>
        <p:spPr>
          <a:xfrm>
            <a:off x="-1" y="520503"/>
            <a:ext cx="51769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Variable Scope in Function</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6862935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985980"/>
          </a:xfrm>
          <a:prstGeom prst="rect">
            <a:avLst/>
          </a:prstGeom>
          <a:noFill/>
        </p:spPr>
        <p:txBody>
          <a:bodyPr wrap="square" rtlCol="0">
            <a:spAutoFit/>
          </a:bodyPr>
          <a:lstStyle/>
          <a:p>
            <a:pPr algn="just">
              <a:lnSpc>
                <a:spcPct val="150000"/>
              </a:lnSpc>
            </a:pPr>
            <a:endParaRPr lang="en-US" sz="1000" b="1" dirty="0" smtClean="0">
              <a:latin typeface="Verdana" panose="020B0604030504040204" pitchFamily="34" charset="0"/>
              <a:ea typeface="Verdana" panose="020B0604030504040204" pitchFamily="34" charset="0"/>
              <a:cs typeface="Courier New" panose="02070309020205020404" pitchFamily="49" charset="0"/>
            </a:endParaRPr>
          </a:p>
          <a:p>
            <a:pPr algn="just">
              <a:lnSpc>
                <a:spcPct val="150000"/>
              </a:lnSpc>
            </a:pPr>
            <a:r>
              <a:rPr lang="en-US" sz="2400" dirty="0">
                <a:latin typeface="Verdana" panose="020B0604030504040204" pitchFamily="34" charset="0"/>
                <a:ea typeface="Verdana" panose="020B0604030504040204" pitchFamily="34" charset="0"/>
              </a:rPr>
              <a:t>A variable that is declared inside the function or block is called a local variable</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It must be declared at the start of the block</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void function1()</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2"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x = 10; // Local Variable</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422030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Local Scope Variable</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94304344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8171407" cy="4385816"/>
          </a:xfrm>
          <a:prstGeom prst="rect">
            <a:avLst/>
          </a:prstGeom>
          <a:noFill/>
        </p:spPr>
        <p:txBody>
          <a:bodyPr wrap="square" rtlCol="0">
            <a:spAutoFit/>
          </a:bodyPr>
          <a:lstStyle/>
          <a:p>
            <a:pPr algn="just">
              <a:lnSpc>
                <a:spcPct val="150000"/>
              </a:lnSpc>
            </a:pPr>
            <a:endParaRPr lang="en-US" sz="1000" b="1" dirty="0" smtClean="0">
              <a:latin typeface="Verdana" panose="020B0604030504040204" pitchFamily="34"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void add() // Function Definition</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val</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100;</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(“Value of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val</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%d”,</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val</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Local Scope Variable</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3315"/>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8384346" y="1111348"/>
            <a:ext cx="3496190"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Val was not </a:t>
            </a:r>
            <a:r>
              <a:rPr lang="en-US" sz="2400" b="1" dirty="0" smtClean="0">
                <a:latin typeface="Courier New" panose="02070309020205020404" pitchFamily="49" charset="0"/>
                <a:ea typeface="Verdana" panose="020B0604030504040204" pitchFamily="34" charset="0"/>
                <a:cs typeface="Courier New" panose="02070309020205020404" pitchFamily="49" charset="0"/>
              </a:rPr>
              <a:t>declared in thi</a:t>
            </a:r>
            <a:r>
              <a:rPr lang="en-US" sz="2400" b="1" dirty="0" smtClean="0">
                <a:latin typeface="Courier New" panose="02070309020205020404" pitchFamily="49" charset="0"/>
                <a:ea typeface="Verdana" panose="020B0604030504040204" pitchFamily="34" charset="0"/>
                <a:cs typeface="Courier New" panose="02070309020205020404" pitchFamily="49" charset="0"/>
              </a:rPr>
              <a:t>s scope</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06301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4985980"/>
          </a:xfrm>
          <a:prstGeom prst="rect">
            <a:avLst/>
          </a:prstGeom>
          <a:noFill/>
        </p:spPr>
        <p:txBody>
          <a:bodyPr wrap="square" rtlCol="0">
            <a:spAutoFit/>
          </a:bodyPr>
          <a:lstStyle/>
          <a:p>
            <a:pPr algn="just">
              <a:lnSpc>
                <a:spcPct val="150000"/>
              </a:lnSpc>
            </a:pPr>
            <a:endParaRPr lang="en-US" sz="1000" b="1" dirty="0" smtClean="0">
              <a:latin typeface="Verdana" panose="020B0604030504040204" pitchFamily="34" charset="0"/>
              <a:ea typeface="Verdana" panose="020B0604030504040204" pitchFamily="34" charset="0"/>
              <a:cs typeface="Courier New" panose="02070309020205020404" pitchFamily="49" charset="0"/>
            </a:endParaRPr>
          </a:p>
          <a:p>
            <a:pPr algn="just">
              <a:lnSpc>
                <a:spcPct val="150000"/>
              </a:lnSpc>
            </a:pPr>
            <a:r>
              <a:rPr lang="en-US" sz="2400" dirty="0">
                <a:latin typeface="Verdana" panose="020B0604030504040204" pitchFamily="34" charset="0"/>
                <a:ea typeface="Verdana" panose="020B0604030504040204" pitchFamily="34" charset="0"/>
              </a:rPr>
              <a:t>A variable that is declared inside the function or block is called a local variable</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10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It must be declared at the start of the block</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void function1()</a:t>
            </a:r>
          </a:p>
          <a:p>
            <a:pPr lvl="1"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2" algn="just">
              <a:lnSpc>
                <a:spcPct val="150000"/>
              </a:lnSpc>
            </a:pP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x = 10; // Local Variable</a:t>
            </a:r>
          </a:p>
          <a:p>
            <a:pPr lvl="1"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422030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Local Scope Variable</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46622539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3647152"/>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A C function may or may not return a value from the function. If you don't have to return any value from the function, use void for the return type</a:t>
            </a:r>
            <a:r>
              <a:rPr lang="en-US" sz="2400" dirty="0" smtClean="0">
                <a:latin typeface="Verdana" panose="020B0604030504040204" pitchFamily="34" charset="0"/>
                <a:ea typeface="Verdana" panose="020B0604030504040204" pitchFamily="34" charset="0"/>
              </a:rPr>
              <a:t>.</a:t>
            </a:r>
          </a:p>
          <a:p>
            <a:pPr algn="just">
              <a:lnSpc>
                <a:spcPct val="150000"/>
              </a:lnSpc>
            </a:pPr>
            <a:endParaRPr lang="en-US" sz="2400" dirty="0">
              <a:latin typeface="Verdana" panose="020B0604030504040204" pitchFamily="34" charset="0"/>
              <a:ea typeface="Verdana" panose="020B0604030504040204" pitchFamily="34" charset="0"/>
            </a:endParaRPr>
          </a:p>
          <a:p>
            <a:pPr algn="just">
              <a:lnSpc>
                <a:spcPct val="150000"/>
              </a:lnSpc>
            </a:pPr>
            <a:r>
              <a:rPr lang="en-US" sz="2400" dirty="0">
                <a:latin typeface="Verdana" panose="020B0604030504040204" pitchFamily="34" charset="0"/>
                <a:ea typeface="Verdana" panose="020B0604030504040204" pitchFamily="34" charset="0"/>
              </a:rPr>
              <a:t>If you want to return any value from the function, you need to use any data type such as </a:t>
            </a:r>
            <a:r>
              <a:rPr lang="en-US" sz="2400" dirty="0" err="1">
                <a:latin typeface="Verdana" panose="020B0604030504040204" pitchFamily="34" charset="0"/>
                <a:ea typeface="Verdana" panose="020B0604030504040204" pitchFamily="34" charset="0"/>
              </a:rPr>
              <a:t>int</a:t>
            </a:r>
            <a:r>
              <a:rPr lang="en-US" sz="2400" dirty="0">
                <a:latin typeface="Verdana" panose="020B0604030504040204" pitchFamily="34" charset="0"/>
                <a:ea typeface="Verdana" panose="020B0604030504040204" pitchFamily="34" charset="0"/>
              </a:rPr>
              <a:t>, long, char, etc. The return type depends on the value to be returned from the function.</a:t>
            </a:r>
            <a:endParaRPr lang="en-US" sz="2400" dirty="0" smtClean="0">
              <a:latin typeface="Verdana" panose="020B0604030504040204" pitchFamily="34" charset="0"/>
              <a:ea typeface="Verdana" panose="020B0604030504040204" pitchFamily="34" charset="0"/>
            </a:endParaRP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User Defined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2176"/>
            <a:ext cx="3446584"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prstClr val="black"/>
                </a:solidFill>
                <a:latin typeface="Verdana" panose="020B0604030504040204" pitchFamily="34" charset="0"/>
                <a:ea typeface="Verdana" panose="020B0604030504040204" pitchFamily="34" charset="0"/>
              </a:rPr>
              <a:t>Return Function</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07936389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678478"/>
          </a:xfrm>
          <a:prstGeom prst="rect">
            <a:avLst/>
          </a:prstGeom>
          <a:noFill/>
        </p:spPr>
        <p:txBody>
          <a:bodyPr wrap="square" rtlCol="0">
            <a:spAutoFit/>
          </a:bodyPr>
          <a:lstStyle/>
          <a:p>
            <a:pPr algn="just">
              <a:lnSpc>
                <a:spcPct val="150000"/>
              </a:lnSpc>
            </a:pPr>
            <a:endParaRPr lang="en-US" sz="1000" b="1" dirty="0" smtClean="0">
              <a:latin typeface="Verdana" panose="020B0604030504040204" pitchFamily="34" charset="0"/>
              <a:ea typeface="Verdana" panose="020B0604030504040204" pitchFamily="34" charset="0"/>
              <a:cs typeface="Courier New" panose="02070309020205020404" pitchFamily="49" charset="0"/>
            </a:endParaRPr>
          </a:p>
          <a:p>
            <a:pPr algn="just">
              <a:lnSpc>
                <a:spcPct val="150000"/>
              </a:lnSpc>
            </a:pPr>
            <a:r>
              <a:rPr lang="en-US" sz="2400" b="1" dirty="0" smtClean="0">
                <a:latin typeface="Verdana" panose="020B0604030504040204" pitchFamily="34" charset="0"/>
                <a:ea typeface="Verdana" panose="020B0604030504040204" pitchFamily="34" charset="0"/>
                <a:cs typeface="Courier New" panose="02070309020205020404" pitchFamily="49" charset="0"/>
              </a:rPr>
              <a:t>Function </a:t>
            </a:r>
            <a:r>
              <a:rPr lang="en-US" sz="2400" b="1" dirty="0">
                <a:latin typeface="Verdana" panose="020B0604030504040204" pitchFamily="34" charset="0"/>
                <a:ea typeface="Verdana" panose="020B0604030504040204" pitchFamily="34" charset="0"/>
                <a:cs typeface="Courier New" panose="02070309020205020404" pitchFamily="49" charset="0"/>
              </a:rPr>
              <a:t>Definition</a:t>
            </a:r>
          </a:p>
          <a:p>
            <a:pPr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Return_Type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Function_Name</a:t>
            </a:r>
            <a:r>
              <a:rPr lang="en-US" sz="2400" b="1" dirty="0" smtClean="0">
                <a:latin typeface="Courier New" panose="02070309020205020404" pitchFamily="49" charset="0"/>
                <a:ea typeface="Verdana" panose="020B0604030504040204" pitchFamily="34" charset="0"/>
                <a:cs typeface="Courier New" panose="02070309020205020404" pitchFamily="49" charset="0"/>
              </a:rPr>
              <a:t> ( )</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3"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Statements;</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Verdana" panose="020B0604030504040204" pitchFamily="34" charset="0"/>
                <a:ea typeface="Verdana" panose="020B0604030504040204" pitchFamily="34" charset="0"/>
                <a:cs typeface="Courier New" panose="02070309020205020404" pitchFamily="49" charset="0"/>
              </a:rPr>
              <a:t>Example:</a:t>
            </a:r>
          </a:p>
          <a:p>
            <a:pPr algn="just"/>
            <a:endParaRPr lang="en-US" sz="2400" b="1" dirty="0">
              <a:latin typeface="Verdana" panose="020B0604030504040204" pitchFamily="34" charset="0"/>
              <a:ea typeface="Verdana" panose="020B0604030504040204" pitchFamily="34" charset="0"/>
              <a:cs typeface="Courier New" panose="02070309020205020404" pitchFamily="49" charset="0"/>
            </a:endParaRP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display()</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3"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10;</a:t>
            </a:r>
          </a:p>
          <a:p>
            <a:pPr lvl="2" algn="just"/>
            <a:r>
              <a:rPr lang="en-US" sz="2400" b="1" dirty="0">
                <a:latin typeface="Courier New" panose="02070309020205020404" pitchFamily="49" charset="0"/>
                <a:ea typeface="Verdana" panose="020B0604030504040204" pitchFamily="34" charset="0"/>
                <a:cs typeface="Courier New" panose="02070309020205020404" pitchFamily="49" charset="0"/>
              </a:rPr>
              <a:t>}</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3390314"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Return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390314" y="520503"/>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prstClr val="black"/>
                </a:solidFill>
                <a:latin typeface="Verdana" panose="020B0604030504040204" pitchFamily="34" charset="0"/>
                <a:ea typeface="Verdana" panose="020B0604030504040204" pitchFamily="34" charset="0"/>
              </a:rPr>
              <a:t>Syntax</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15698422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7622766" cy="5047536"/>
          </a:xfrm>
          <a:prstGeom prst="rect">
            <a:avLst/>
          </a:prstGeom>
          <a:noFill/>
        </p:spPr>
        <p:txBody>
          <a:bodyPr wrap="square" rtlCol="0">
            <a:spAutoFit/>
          </a:bodyPr>
          <a:lstStyle/>
          <a:p>
            <a:pPr algn="just"/>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display(); // Function Declaration</a:t>
            </a:r>
          </a:p>
          <a:p>
            <a:pPr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x = display();</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(“Display() = %d\</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n”,x</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0;</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display()		</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10;			// display()=10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3446585"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Return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446585" y="520502"/>
            <a:ext cx="2504048"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prstClr val="black"/>
                </a:solidFill>
                <a:latin typeface="Verdana" panose="020B0604030504040204" pitchFamily="34" charset="0"/>
                <a:ea typeface="Verdana" panose="020B0604030504040204" pitchFamily="34" charset="0"/>
              </a:rPr>
              <a:t>Example - 1</a:t>
            </a:r>
            <a:endParaRPr lang="en-IN" sz="2400" b="1" dirty="0">
              <a:solidFill>
                <a:prstClr val="black"/>
              </a:solidFill>
              <a:latin typeface="Verdana" panose="020B0604030504040204" pitchFamily="34" charset="0"/>
              <a:ea typeface="Verdana" panose="020B0604030504040204" pitchFamily="34" charset="0"/>
            </a:endParaRPr>
          </a:p>
        </p:txBody>
      </p:sp>
      <p:sp>
        <p:nvSpPr>
          <p:cNvPr id="2" name="Right Brace 1"/>
          <p:cNvSpPr/>
          <p:nvPr/>
        </p:nvSpPr>
        <p:spPr>
          <a:xfrm>
            <a:off x="3798277" y="4182894"/>
            <a:ext cx="530531" cy="1331641"/>
          </a:xfrm>
          <a:prstGeom prst="rightBrace">
            <a:avLst>
              <a:gd name="adj1" fmla="val 8333"/>
              <a:gd name="adj2" fmla="val 50744"/>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p:cNvSpPr txBox="1"/>
          <p:nvPr/>
        </p:nvSpPr>
        <p:spPr>
          <a:xfrm>
            <a:off x="8696528" y="1111348"/>
            <a:ext cx="3184008" cy="1508105"/>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endParaRPr lang="en-US" sz="10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dirty="0" smtClean="0">
                <a:latin typeface="Courier New" panose="02070309020205020404" pitchFamily="49" charset="0"/>
                <a:ea typeface="Verdana" panose="020B0604030504040204" pitchFamily="34" charset="0"/>
                <a:cs typeface="Courier New" panose="02070309020205020404" pitchFamily="49" charset="0"/>
              </a:rPr>
              <a:t>Display() = 10</a:t>
            </a:r>
          </a:p>
          <a:p>
            <a:pPr algn="ctr"/>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238303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5822101" cy="3323987"/>
          </a:xfrm>
          <a:prstGeom prst="rect">
            <a:avLst/>
          </a:prstGeom>
          <a:noFill/>
        </p:spPr>
        <p:txBody>
          <a:bodyPr wrap="square" rtlCol="0">
            <a:spAutoFit/>
          </a:bodyPr>
          <a:lstStyle/>
          <a:p>
            <a:pPr algn="just"/>
            <a:endParaRPr lang="en-US" sz="10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000" b="1" dirty="0">
                <a:latin typeface="Courier New" panose="02070309020205020404" pitchFamily="49" charset="0"/>
                <a:ea typeface="Verdana" panose="020B0604030504040204" pitchFamily="34" charset="0"/>
                <a:cs typeface="Courier New" panose="02070309020205020404" pitchFamily="49" charset="0"/>
              </a:rPr>
              <a:t>#include&lt;</a:t>
            </a:r>
            <a:r>
              <a:rPr lang="en-US" sz="2000" b="1" dirty="0" err="1">
                <a:latin typeface="Courier New" panose="02070309020205020404" pitchFamily="49" charset="0"/>
                <a:ea typeface="Verdana" panose="020B0604030504040204" pitchFamily="34" charset="0"/>
                <a:cs typeface="Courier New" panose="02070309020205020404" pitchFamily="49" charset="0"/>
              </a:rPr>
              <a:t>stdio.h</a:t>
            </a:r>
            <a:r>
              <a:rPr lang="en-US" sz="2000" b="1" dirty="0">
                <a:latin typeface="Courier New" panose="02070309020205020404" pitchFamily="49" charset="0"/>
                <a:ea typeface="Verdana" panose="020B0604030504040204" pitchFamily="34" charset="0"/>
                <a:cs typeface="Courier New" panose="02070309020205020404" pitchFamily="49" charset="0"/>
              </a:rPr>
              <a:t>&gt;  </a:t>
            </a:r>
          </a:p>
          <a:p>
            <a:pPr algn="just"/>
            <a:r>
              <a:rPr lang="en-US" sz="20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000" b="1" dirty="0" smtClean="0">
                <a:latin typeface="Courier New" panose="02070309020205020404" pitchFamily="49" charset="0"/>
                <a:ea typeface="Verdana" panose="020B0604030504040204" pitchFamily="34" charset="0"/>
                <a:cs typeface="Courier New" panose="02070309020205020404" pitchFamily="49" charset="0"/>
              </a:rPr>
              <a:t> </a:t>
            </a:r>
            <a:r>
              <a:rPr lang="en-US" sz="2000" b="1" dirty="0">
                <a:latin typeface="Courier New" panose="02070309020205020404" pitchFamily="49" charset="0"/>
                <a:ea typeface="Verdana" panose="020B0604030504040204" pitchFamily="34" charset="0"/>
                <a:cs typeface="Courier New" panose="02070309020205020404" pitchFamily="49" charset="0"/>
              </a:rPr>
              <a:t>sum()  </a:t>
            </a:r>
          </a:p>
          <a:p>
            <a:pPr algn="just"/>
            <a:r>
              <a:rPr lang="en-US" sz="2000" b="1" dirty="0">
                <a:latin typeface="Courier New" panose="02070309020205020404" pitchFamily="49" charset="0"/>
                <a:ea typeface="Verdana" panose="020B0604030504040204" pitchFamily="34" charset="0"/>
                <a:cs typeface="Courier New" panose="02070309020205020404" pitchFamily="49" charset="0"/>
              </a:rPr>
              <a:t>{  </a:t>
            </a:r>
          </a:p>
          <a:p>
            <a:pPr lvl="1" algn="just"/>
            <a:r>
              <a:rPr lang="en-US" sz="20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000" b="1" dirty="0" smtClean="0">
                <a:latin typeface="Courier New" panose="02070309020205020404" pitchFamily="49" charset="0"/>
                <a:ea typeface="Verdana" panose="020B0604030504040204" pitchFamily="34" charset="0"/>
                <a:cs typeface="Courier New" panose="02070309020205020404" pitchFamily="49" charset="0"/>
              </a:rPr>
              <a:t> </a:t>
            </a:r>
            <a:r>
              <a:rPr lang="en-US" sz="2000" b="1" dirty="0">
                <a:latin typeface="Courier New" panose="02070309020205020404" pitchFamily="49" charset="0"/>
                <a:ea typeface="Verdana" panose="020B0604030504040204" pitchFamily="34" charset="0"/>
                <a:cs typeface="Courier New" panose="02070309020205020404" pitchFamily="49" charset="0"/>
              </a:rPr>
              <a:t>n1,n2;   </a:t>
            </a:r>
          </a:p>
          <a:p>
            <a:pPr lvl="1" algn="just"/>
            <a:r>
              <a:rPr lang="en-US" sz="20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000" b="1" dirty="0">
                <a:latin typeface="Courier New" panose="02070309020205020404" pitchFamily="49" charset="0"/>
                <a:ea typeface="Verdana" panose="020B0604030504040204" pitchFamily="34" charset="0"/>
                <a:cs typeface="Courier New" panose="02070309020205020404" pitchFamily="49" charset="0"/>
              </a:rPr>
              <a:t>("Enter </a:t>
            </a:r>
            <a:r>
              <a:rPr lang="en-US" sz="2000" b="1" dirty="0" smtClean="0">
                <a:latin typeface="Courier New" panose="02070309020205020404" pitchFamily="49" charset="0"/>
                <a:ea typeface="Verdana" panose="020B0604030504040204" pitchFamily="34" charset="0"/>
                <a:cs typeface="Courier New" panose="02070309020205020404" pitchFamily="49" charset="0"/>
              </a:rPr>
              <a:t>first </a:t>
            </a:r>
            <a:r>
              <a:rPr lang="en-US" sz="2000" b="1" dirty="0">
                <a:latin typeface="Courier New" panose="02070309020205020404" pitchFamily="49" charset="0"/>
                <a:ea typeface="Verdana" panose="020B0604030504040204" pitchFamily="34" charset="0"/>
                <a:cs typeface="Courier New" panose="02070309020205020404" pitchFamily="49" charset="0"/>
              </a:rPr>
              <a:t>numbers : ");</a:t>
            </a:r>
          </a:p>
          <a:p>
            <a:pPr lvl="1" algn="just"/>
            <a:r>
              <a:rPr lang="en-US" sz="20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000" b="1" dirty="0">
                <a:latin typeface="Courier New" panose="02070309020205020404" pitchFamily="49" charset="0"/>
                <a:ea typeface="Verdana" panose="020B0604030504040204" pitchFamily="34" charset="0"/>
                <a:cs typeface="Courier New" panose="02070309020205020404" pitchFamily="49" charset="0"/>
              </a:rPr>
              <a:t>("%d",&amp;n1);</a:t>
            </a:r>
          </a:p>
          <a:p>
            <a:pPr lvl="1" algn="just"/>
            <a:r>
              <a:rPr lang="en-US" sz="20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000" b="1" dirty="0">
                <a:latin typeface="Courier New" panose="02070309020205020404" pitchFamily="49" charset="0"/>
                <a:ea typeface="Verdana" panose="020B0604030504040204" pitchFamily="34" charset="0"/>
                <a:cs typeface="Courier New" panose="02070309020205020404" pitchFamily="49" charset="0"/>
              </a:rPr>
              <a:t>("Enter second number : ");</a:t>
            </a:r>
          </a:p>
          <a:p>
            <a:pPr lvl="1" algn="just"/>
            <a:r>
              <a:rPr lang="en-US" sz="20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000" b="1" dirty="0">
                <a:latin typeface="Courier New" panose="02070309020205020404" pitchFamily="49" charset="0"/>
                <a:ea typeface="Verdana" panose="020B0604030504040204" pitchFamily="34" charset="0"/>
                <a:cs typeface="Courier New" panose="02070309020205020404" pitchFamily="49" charset="0"/>
              </a:rPr>
              <a:t>("%d",&amp;n2);  </a:t>
            </a:r>
          </a:p>
          <a:p>
            <a:pPr lvl="1" algn="just"/>
            <a:r>
              <a:rPr lang="en-US" sz="20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000" b="1" dirty="0">
                <a:latin typeface="Courier New" panose="02070309020205020404" pitchFamily="49" charset="0"/>
                <a:ea typeface="Verdana" panose="020B0604030504040204" pitchFamily="34" charset="0"/>
                <a:cs typeface="Courier New" panose="02070309020205020404" pitchFamily="49" charset="0"/>
              </a:rPr>
              <a:t>n1+n2;   </a:t>
            </a:r>
          </a:p>
          <a:p>
            <a:pPr algn="just"/>
            <a:r>
              <a:rPr lang="en-US" sz="20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336217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Return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3362179" y="520503"/>
            <a:ext cx="2504048"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prstClr val="black"/>
                </a:solidFill>
                <a:latin typeface="Verdana" panose="020B0604030504040204" pitchFamily="34" charset="0"/>
                <a:ea typeface="Verdana" panose="020B0604030504040204" pitchFamily="34" charset="0"/>
              </a:rPr>
              <a:t>Example - 2</a:t>
            </a:r>
            <a:endParaRPr lang="en-IN" sz="2400" b="1" dirty="0">
              <a:solidFill>
                <a:prstClr val="black"/>
              </a:solidFill>
              <a:latin typeface="Verdana" panose="020B0604030504040204" pitchFamily="34" charset="0"/>
              <a:ea typeface="Verdana" panose="020B0604030504040204" pitchFamily="34" charset="0"/>
            </a:endParaRPr>
          </a:p>
        </p:txBody>
      </p:sp>
      <p:sp>
        <p:nvSpPr>
          <p:cNvPr id="6" name="TextBox 5"/>
          <p:cNvSpPr txBox="1"/>
          <p:nvPr/>
        </p:nvSpPr>
        <p:spPr>
          <a:xfrm>
            <a:off x="7357403" y="1111348"/>
            <a:ext cx="4523133" cy="2677656"/>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first number : 20</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second number :30</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Sum of two numbers = 50</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p>
        </p:txBody>
      </p:sp>
      <p:sp>
        <p:nvSpPr>
          <p:cNvPr id="3" name="TextBox 2"/>
          <p:cNvSpPr txBox="1"/>
          <p:nvPr/>
        </p:nvSpPr>
        <p:spPr>
          <a:xfrm>
            <a:off x="4771663" y="3868616"/>
            <a:ext cx="7108873" cy="2308324"/>
          </a:xfrm>
          <a:prstGeom prst="rect">
            <a:avLst/>
          </a:prstGeom>
          <a:noFill/>
        </p:spPr>
        <p:txBody>
          <a:bodyPr wrap="square" rtlCol="0">
            <a:spAutoFit/>
          </a:bodyPr>
          <a:lstStyle/>
          <a:p>
            <a:pPr algn="just"/>
            <a:r>
              <a:rPr lang="en-US" sz="2000" b="1" dirty="0" err="1">
                <a:latin typeface="Courier New" panose="02070309020205020404" pitchFamily="49" charset="0"/>
                <a:ea typeface="Verdana" panose="020B0604030504040204" pitchFamily="34" charset="0"/>
                <a:cs typeface="Courier New" panose="02070309020205020404" pitchFamily="49" charset="0"/>
              </a:rPr>
              <a:t>int</a:t>
            </a:r>
            <a:r>
              <a:rPr lang="en-US" sz="2000" b="1" dirty="0">
                <a:latin typeface="Courier New" panose="02070309020205020404" pitchFamily="49" charset="0"/>
                <a:ea typeface="Verdana" panose="020B0604030504040204" pitchFamily="34" charset="0"/>
                <a:cs typeface="Courier New" panose="02070309020205020404" pitchFamily="49" charset="0"/>
              </a:rPr>
              <a:t> main()  </a:t>
            </a:r>
          </a:p>
          <a:p>
            <a:pPr algn="just"/>
            <a:r>
              <a:rPr lang="en-US" sz="2000" b="1" dirty="0">
                <a:latin typeface="Courier New" panose="02070309020205020404" pitchFamily="49" charset="0"/>
                <a:ea typeface="Verdana" panose="020B0604030504040204" pitchFamily="34" charset="0"/>
                <a:cs typeface="Courier New" panose="02070309020205020404" pitchFamily="49" charset="0"/>
              </a:rPr>
              <a:t>{  </a:t>
            </a:r>
          </a:p>
          <a:p>
            <a:pPr lvl="1" algn="just"/>
            <a:r>
              <a:rPr lang="en-US" sz="20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000" b="1" dirty="0" smtClean="0">
                <a:latin typeface="Courier New" panose="02070309020205020404" pitchFamily="49" charset="0"/>
                <a:ea typeface="Verdana" panose="020B0604030504040204" pitchFamily="34" charset="0"/>
                <a:cs typeface="Courier New" panose="02070309020205020404" pitchFamily="49" charset="0"/>
              </a:rPr>
              <a:t> </a:t>
            </a:r>
            <a:r>
              <a:rPr lang="en-US" sz="2000" b="1" dirty="0">
                <a:latin typeface="Courier New" panose="02070309020205020404" pitchFamily="49" charset="0"/>
                <a:ea typeface="Verdana" panose="020B0604030504040204" pitchFamily="34" charset="0"/>
                <a:cs typeface="Courier New" panose="02070309020205020404" pitchFamily="49" charset="0"/>
              </a:rPr>
              <a:t>result;   </a:t>
            </a:r>
          </a:p>
          <a:p>
            <a:pPr lvl="1" algn="just"/>
            <a:r>
              <a:rPr lang="en-US" sz="2000" b="1" dirty="0" smtClean="0">
                <a:latin typeface="Courier New" panose="02070309020205020404" pitchFamily="49" charset="0"/>
                <a:ea typeface="Verdana" panose="020B0604030504040204" pitchFamily="34" charset="0"/>
                <a:cs typeface="Courier New" panose="02070309020205020404" pitchFamily="49" charset="0"/>
              </a:rPr>
              <a:t>result </a:t>
            </a:r>
            <a:r>
              <a:rPr lang="en-US" sz="2000" b="1" dirty="0">
                <a:latin typeface="Courier New" panose="02070309020205020404" pitchFamily="49" charset="0"/>
                <a:ea typeface="Verdana" panose="020B0604030504040204" pitchFamily="34" charset="0"/>
                <a:cs typeface="Courier New" panose="02070309020205020404" pitchFamily="49" charset="0"/>
              </a:rPr>
              <a:t>= sum();  </a:t>
            </a:r>
          </a:p>
          <a:p>
            <a:pPr lvl="1" algn="just"/>
            <a:r>
              <a:rPr lang="en-US" sz="20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000" b="1" dirty="0">
                <a:latin typeface="Courier New" panose="02070309020205020404" pitchFamily="49" charset="0"/>
                <a:ea typeface="Verdana" panose="020B0604030504040204" pitchFamily="34" charset="0"/>
                <a:cs typeface="Courier New" panose="02070309020205020404" pitchFamily="49" charset="0"/>
              </a:rPr>
              <a:t>("Sum of two numbers = %d</a:t>
            </a:r>
            <a:r>
              <a:rPr lang="en-US" sz="2000" b="1" dirty="0" smtClean="0">
                <a:latin typeface="Courier New" panose="02070309020205020404" pitchFamily="49" charset="0"/>
                <a:ea typeface="Verdana" panose="020B0604030504040204" pitchFamily="34" charset="0"/>
                <a:cs typeface="Courier New" panose="02070309020205020404" pitchFamily="49" charset="0"/>
              </a:rPr>
              <a:t>", result</a:t>
            </a:r>
            <a:r>
              <a:rPr lang="en-US" sz="2000" b="1" dirty="0">
                <a:latin typeface="Courier New" panose="02070309020205020404" pitchFamily="49" charset="0"/>
                <a:ea typeface="Verdana" panose="020B0604030504040204" pitchFamily="34" charset="0"/>
                <a:cs typeface="Courier New" panose="02070309020205020404" pitchFamily="49" charset="0"/>
              </a:rPr>
              <a:t>); </a:t>
            </a:r>
          </a:p>
          <a:p>
            <a:pPr lvl="1" algn="just"/>
            <a:r>
              <a:rPr lang="en-US" sz="20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000" b="1" dirty="0">
                <a:latin typeface="Courier New" panose="02070309020205020404" pitchFamily="49" charset="0"/>
                <a:ea typeface="Verdana" panose="020B0604030504040204" pitchFamily="34" charset="0"/>
                <a:cs typeface="Courier New" panose="02070309020205020404" pitchFamily="49" charset="0"/>
              </a:rPr>
              <a:t>0; </a:t>
            </a:r>
          </a:p>
          <a:p>
            <a:pPr algn="just"/>
            <a:r>
              <a:rPr lang="en-US" sz="20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a:latin typeface="Courier New" panose="02070309020205020404" pitchFamily="49" charset="0"/>
                <a:ea typeface="Verdana" panose="020B0604030504040204" pitchFamily="34" charset="0"/>
                <a:cs typeface="Courier New" panose="02070309020205020404" pitchFamily="49" charset="0"/>
              </a:rPr>
              <a:t> </a:t>
            </a:r>
          </a:p>
        </p:txBody>
      </p:sp>
      <p:cxnSp>
        <p:nvCxnSpPr>
          <p:cNvPr id="8" name="Straight Connector 7"/>
          <p:cNvCxnSpPr/>
          <p:nvPr/>
        </p:nvCxnSpPr>
        <p:spPr>
          <a:xfrm>
            <a:off x="4375054" y="3671668"/>
            <a:ext cx="0" cy="2869809"/>
          </a:xfrm>
          <a:prstGeom prst="line">
            <a:avLst/>
          </a:prstGeom>
          <a:ln w="28575">
            <a:solidFill>
              <a:schemeClr val="accent6">
                <a:lumMod val="50000"/>
              </a:schemeClr>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40465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1431161"/>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lnSpc>
                <a:spcPct val="150000"/>
              </a:lnSpc>
            </a:pPr>
            <a:r>
              <a:rPr lang="en-US" sz="2400" dirty="0" smtClean="0">
                <a:latin typeface="Verdana" panose="020B0604030504040204" pitchFamily="34" charset="0"/>
                <a:ea typeface="Verdana" panose="020B0604030504040204" pitchFamily="34" charset="0"/>
              </a:rPr>
              <a:t>An argument function in C can return a value. It means we can create a return function with argument.</a:t>
            </a: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User Defined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8" y="525440"/>
            <a:ext cx="5809956"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prstClr val="black"/>
                </a:solidFill>
                <a:latin typeface="Verdana" panose="020B0604030504040204" pitchFamily="34" charset="0"/>
                <a:ea typeface="Verdana" panose="020B0604030504040204" pitchFamily="34" charset="0"/>
              </a:rPr>
              <a:t>Return with  Argument Function</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72064599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11727270" cy="5124480"/>
          </a:xfrm>
          <a:prstGeom prst="rect">
            <a:avLst/>
          </a:prstGeom>
          <a:noFill/>
        </p:spPr>
        <p:txBody>
          <a:bodyPr wrap="square" rtlCol="0">
            <a:spAutoFit/>
          </a:bodyPr>
          <a:lstStyle/>
          <a:p>
            <a:pPr>
              <a:lnSpc>
                <a:spcPct val="150000"/>
              </a:lnSpc>
            </a:pPr>
            <a:endParaRPr lang="en-US" sz="1000" dirty="0" smtClean="0">
              <a:latin typeface="Verdana" panose="020B0604030504040204" pitchFamily="34" charset="0"/>
              <a:ea typeface="Verdana" panose="020B0604030504040204" pitchFamily="34"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sum(</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n1,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n2) // sum(10,20) = 30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n1+n2;</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x = sum(10,20);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("Sum = %</a:t>
            </a:r>
            <a:r>
              <a:rPr lang="en-US" sz="2400" b="1" dirty="0" err="1">
                <a:latin typeface="Courier New" panose="02070309020205020404" pitchFamily="49" charset="0"/>
                <a:ea typeface="Verdana" panose="020B0604030504040204" pitchFamily="34" charset="0"/>
                <a:cs typeface="Courier New" panose="02070309020205020404" pitchFamily="49" charset="0"/>
              </a:rPr>
              <a:t>d",x</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0" y="520503"/>
            <a:ext cx="4459458"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User Defined Function</a:t>
            </a:r>
            <a:endParaRPr lang="en-IN" sz="2400" b="1" dirty="0">
              <a:solidFill>
                <a:prstClr val="white"/>
              </a:solidFill>
              <a:latin typeface="Verdana" panose="020B0604030504040204" pitchFamily="34" charset="0"/>
              <a:ea typeface="Verdana" panose="020B0604030504040204" pitchFamily="34" charset="0"/>
            </a:endParaRPr>
          </a:p>
        </p:txBody>
      </p:sp>
      <p:sp>
        <p:nvSpPr>
          <p:cNvPr id="5" name="Rounded Rectangle 4"/>
          <p:cNvSpPr/>
          <p:nvPr/>
        </p:nvSpPr>
        <p:spPr>
          <a:xfrm>
            <a:off x="4459456" y="525440"/>
            <a:ext cx="2505456"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prstClr val="black"/>
                </a:solidFill>
                <a:latin typeface="Verdana" panose="020B0604030504040204" pitchFamily="34" charset="0"/>
                <a:ea typeface="Verdana" panose="020B0604030504040204" pitchFamily="34" charset="0"/>
              </a:rPr>
              <a:t>Example - 1</a:t>
            </a:r>
            <a:endParaRPr lang="en-IN" sz="24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2226416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520503"/>
            <a:ext cx="33481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Nested For Loop</a:t>
            </a:r>
            <a:endParaRPr lang="en-IN" sz="2400" b="1" dirty="0">
              <a:solidFill>
                <a:prstClr val="white"/>
              </a:solidFill>
              <a:latin typeface="Verdana" panose="020B0604030504040204" pitchFamily="34" charset="0"/>
              <a:ea typeface="Verdana" panose="020B0604030504040204" pitchFamily="34" charset="0"/>
            </a:endParaRPr>
          </a:p>
        </p:txBody>
      </p:sp>
      <p:sp>
        <p:nvSpPr>
          <p:cNvPr id="2" name="Right Brace 1"/>
          <p:cNvSpPr/>
          <p:nvPr/>
        </p:nvSpPr>
        <p:spPr>
          <a:xfrm>
            <a:off x="717452" y="-45719"/>
            <a:ext cx="45719" cy="457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ounded Rectangle 11"/>
          <p:cNvSpPr/>
          <p:nvPr/>
        </p:nvSpPr>
        <p:spPr>
          <a:xfrm>
            <a:off x="3362177" y="534567"/>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 - 10</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Rounded Rectangle 6"/>
          <p:cNvSpPr/>
          <p:nvPr/>
        </p:nvSpPr>
        <p:spPr>
          <a:xfrm>
            <a:off x="5581199" y="534568"/>
            <a:ext cx="6359010" cy="422031"/>
          </a:xfrm>
          <a:prstGeom prst="roundRect">
            <a:avLst/>
          </a:prstGeom>
          <a:solidFill>
            <a:schemeClr val="accent6">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latin typeface="Verdana" panose="020B0604030504040204" pitchFamily="34" charset="0"/>
                <a:ea typeface="Verdana" panose="020B0604030504040204" pitchFamily="34" charset="0"/>
              </a:rPr>
              <a:t>C program to display pattern given below</a:t>
            </a:r>
            <a:r>
              <a:rPr lang="en-US" sz="2000" dirty="0" smtClean="0">
                <a:latin typeface="Verdana" panose="020B0604030504040204" pitchFamily="34" charset="0"/>
                <a:ea typeface="Verdana" panose="020B0604030504040204" pitchFamily="34" charset="0"/>
              </a:rPr>
              <a:t> </a:t>
            </a:r>
            <a:endParaRPr lang="en-IN" sz="2000" b="1" dirty="0">
              <a:solidFill>
                <a:prstClr val="black"/>
              </a:solidFill>
              <a:latin typeface="Verdana" panose="020B0604030504040204" pitchFamily="34" charset="0"/>
              <a:ea typeface="Verdana" panose="020B0604030504040204" pitchFamily="34" charset="0"/>
            </a:endParaRPr>
          </a:p>
        </p:txBody>
      </p:sp>
      <p:pic>
        <p:nvPicPr>
          <p:cNvPr id="81922" name="Picture 2" descr="Display the pattern like a diamond"/>
          <p:cNvPicPr>
            <a:picLocks noChangeAspect="1" noChangeArrowheads="1"/>
          </p:cNvPicPr>
          <p:nvPr/>
        </p:nvPicPr>
        <p:blipFill rotWithShape="1">
          <a:blip r:embed="rId2">
            <a:extLst>
              <a:ext uri="{28A0092B-C50C-407E-A947-70E740481C1C}">
                <a14:useLocalDpi xmlns:a14="http://schemas.microsoft.com/office/drawing/2010/main" val="0"/>
              </a:ext>
            </a:extLst>
          </a:blip>
          <a:srcRect t="21885" b="2559"/>
          <a:stretch/>
        </p:blipFill>
        <p:spPr bwMode="auto">
          <a:xfrm>
            <a:off x="3193364" y="1181686"/>
            <a:ext cx="5912107" cy="5500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72296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114"/>
            <a:ext cx="6849043" cy="5493812"/>
          </a:xfrm>
          <a:prstGeom prst="rect">
            <a:avLst/>
          </a:prstGeom>
          <a:noFill/>
        </p:spPr>
        <p:txBody>
          <a:bodyPr wrap="square" rtlCol="0">
            <a:spAutoFit/>
          </a:bodyPr>
          <a:lstStyle/>
          <a:p>
            <a:pPr algn="just">
              <a:lnSpc>
                <a:spcPct val="150000"/>
              </a:lnSpc>
            </a:pPr>
            <a:endParaRPr lang="en-US" sz="1000" dirty="0">
              <a:latin typeface="Verdana" panose="020B0604030504040204" pitchFamily="34" charset="0"/>
              <a:ea typeface="Verdana" panose="020B0604030504040204" pitchFamily="34"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i,j,spc,rows,k,t</a:t>
            </a:r>
            <a:r>
              <a:rPr lang="en-US" sz="2400" b="1" dirty="0" smtClean="0">
                <a:latin typeface="Courier New" panose="02070309020205020404" pitchFamily="49" charset="0"/>
                <a:ea typeface="Verdana" panose="020B0604030504040204" pitchFamily="34" charset="0"/>
                <a:cs typeface="Courier New" panose="02070309020205020404" pitchFamily="49" charset="0"/>
              </a:rPr>
              <a:t>=1;</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("Input number of rows : ");</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d",&amp;rows</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spc</a:t>
            </a:r>
            <a:r>
              <a:rPr lang="en-US" sz="2400" b="1" dirty="0" smtClean="0">
                <a:latin typeface="Courier New" panose="02070309020205020404" pitchFamily="49" charset="0"/>
                <a:ea typeface="Verdana" panose="020B0604030504040204" pitchFamily="34" charset="0"/>
                <a:cs typeface="Courier New" panose="02070309020205020404" pitchFamily="49" charset="0"/>
              </a:rPr>
              <a:t>=rows</a:t>
            </a:r>
            <a:r>
              <a:rPr lang="en-US" sz="2400" b="1" dirty="0">
                <a:latin typeface="Courier New" panose="02070309020205020404" pitchFamily="49" charset="0"/>
                <a:ea typeface="Verdana" panose="020B0604030504040204" pitchFamily="34" charset="0"/>
                <a:cs typeface="Courier New" panose="02070309020205020404" pitchFamily="49" charset="0"/>
              </a:rPr>
              <a:t>;//+4-1;</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for(</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a:t>
            </a:r>
            <a:r>
              <a:rPr lang="en-US" sz="2400" b="1" dirty="0" smtClean="0">
                <a:latin typeface="Courier New" panose="02070309020205020404" pitchFamily="49" charset="0"/>
                <a:ea typeface="Verdana" panose="020B0604030504040204" pitchFamily="34" charset="0"/>
                <a:cs typeface="Courier New" panose="02070309020205020404" pitchFamily="49" charset="0"/>
              </a:rPr>
              <a:t>=1;i</a:t>
            </a:r>
            <a:r>
              <a:rPr lang="en-US" sz="2400" b="1" dirty="0">
                <a:latin typeface="Courier New" panose="02070309020205020404" pitchFamily="49" charset="0"/>
                <a:ea typeface="Verdana" panose="020B0604030504040204" pitchFamily="34" charset="0"/>
                <a:cs typeface="Courier New" panose="02070309020205020404" pitchFamily="49" charset="0"/>
              </a:rPr>
              <a:t>&lt;=</a:t>
            </a:r>
            <a:r>
              <a:rPr lang="en-US" sz="2400" b="1" dirty="0" err="1">
                <a:latin typeface="Courier New" panose="02070309020205020404" pitchFamily="49" charset="0"/>
                <a:ea typeface="Verdana" panose="020B0604030504040204" pitchFamily="34" charset="0"/>
                <a:cs typeface="Courier New" panose="02070309020205020404" pitchFamily="49" charset="0"/>
              </a:rPr>
              <a:t>rows;i</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for(k=</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spc;k</a:t>
            </a:r>
            <a:r>
              <a:rPr lang="en-US" sz="2400" b="1" dirty="0">
                <a:latin typeface="Courier New" panose="02070309020205020404" pitchFamily="49" charset="0"/>
                <a:ea typeface="Verdana" panose="020B0604030504040204" pitchFamily="34" charset="0"/>
                <a:cs typeface="Courier New" panose="02070309020205020404" pitchFamily="49" charset="0"/>
              </a:rPr>
              <a:t>&gt;=1;k--)</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3"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 ");</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33481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Nested For Loop</a:t>
            </a:r>
            <a:endParaRPr lang="en-IN" sz="2400" b="1" dirty="0">
              <a:solidFill>
                <a:prstClr val="white"/>
              </a:solidFill>
              <a:latin typeface="Verdana" panose="020B0604030504040204" pitchFamily="34" charset="0"/>
              <a:ea typeface="Verdana" panose="020B0604030504040204" pitchFamily="34" charset="0"/>
            </a:endParaRPr>
          </a:p>
        </p:txBody>
      </p:sp>
      <p:sp>
        <p:nvSpPr>
          <p:cNvPr id="2" name="Right Brace 1"/>
          <p:cNvSpPr/>
          <p:nvPr/>
        </p:nvSpPr>
        <p:spPr>
          <a:xfrm>
            <a:off x="717452" y="-45719"/>
            <a:ext cx="45719" cy="457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ounded Rectangle 11"/>
          <p:cNvSpPr/>
          <p:nvPr/>
        </p:nvSpPr>
        <p:spPr>
          <a:xfrm>
            <a:off x="3362177" y="534567"/>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 - 10</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Rounded Rectangle 6"/>
          <p:cNvSpPr/>
          <p:nvPr/>
        </p:nvSpPr>
        <p:spPr>
          <a:xfrm>
            <a:off x="5581199" y="534568"/>
            <a:ext cx="6359010" cy="422031"/>
          </a:xfrm>
          <a:prstGeom prst="roundRect">
            <a:avLst/>
          </a:prstGeom>
          <a:solidFill>
            <a:schemeClr val="accent6">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latin typeface="Verdana" panose="020B0604030504040204" pitchFamily="34" charset="0"/>
                <a:ea typeface="Verdana" panose="020B0604030504040204" pitchFamily="34" charset="0"/>
              </a:rPr>
              <a:t>C program to display pattern given below</a:t>
            </a:r>
            <a:r>
              <a:rPr lang="en-US" sz="2000" dirty="0" smtClean="0">
                <a:latin typeface="Verdana" panose="020B0604030504040204" pitchFamily="34" charset="0"/>
                <a:ea typeface="Verdana" panose="020B0604030504040204" pitchFamily="34" charset="0"/>
              </a:rPr>
              <a:t> </a:t>
            </a:r>
            <a:endParaRPr lang="en-IN" sz="2000" b="1" dirty="0">
              <a:solidFill>
                <a:prstClr val="black"/>
              </a:solidFill>
              <a:latin typeface="Verdana" panose="020B0604030504040204" pitchFamily="34" charset="0"/>
              <a:ea typeface="Verdana" panose="020B0604030504040204" pitchFamily="34" charset="0"/>
            </a:endParaRP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Courier New" panose="02070309020205020404" pitchFamily="49" charset="0"/>
                <a:hlinkClick r:id="rId2"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9" name="TextBox 8"/>
          <p:cNvSpPr txBox="1"/>
          <p:nvPr/>
        </p:nvSpPr>
        <p:spPr>
          <a:xfrm>
            <a:off x="7314780" y="984738"/>
            <a:ext cx="4625430" cy="2831544"/>
          </a:xfrm>
          <a:prstGeom prst="rect">
            <a:avLst/>
          </a:prstGeom>
          <a:noFill/>
        </p:spPr>
        <p:txBody>
          <a:bodyPr wrap="square" rtlCol="0">
            <a:spAutoFit/>
          </a:bodyPr>
          <a:lstStyle/>
          <a:p>
            <a:pPr lvl="2" algn="just"/>
            <a:endParaRPr lang="en-US" sz="1000" dirty="0">
              <a:latin typeface="Verdana" panose="020B0604030504040204" pitchFamily="34" charset="0"/>
              <a:ea typeface="Verdana" panose="020B0604030504040204" pitchFamily="34" charset="0"/>
            </a:endParaRP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for(j=1;j</a:t>
            </a:r>
            <a:r>
              <a:rPr lang="en-US" sz="2400" b="1" dirty="0">
                <a:latin typeface="Courier New" panose="02070309020205020404" pitchFamily="49" charset="0"/>
                <a:ea typeface="Verdana" panose="020B0604030504040204" pitchFamily="34" charset="0"/>
                <a:cs typeface="Courier New" panose="02070309020205020404" pitchFamily="49" charset="0"/>
              </a:rPr>
              <a:t>&lt;=</a:t>
            </a:r>
            <a:r>
              <a:rPr lang="en-US" sz="2400" b="1" dirty="0" err="1">
                <a:latin typeface="Courier New" panose="02070309020205020404" pitchFamily="49" charset="0"/>
                <a:ea typeface="Verdana" panose="020B0604030504040204" pitchFamily="34" charset="0"/>
                <a:cs typeface="Courier New" panose="02070309020205020404" pitchFamily="49" charset="0"/>
              </a:rPr>
              <a:t>i;j</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(“%d “,t++);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spc</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return </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p:txBody>
      </p:sp>
      <p:cxnSp>
        <p:nvCxnSpPr>
          <p:cNvPr id="5" name="Straight Connector 4"/>
          <p:cNvCxnSpPr/>
          <p:nvPr/>
        </p:nvCxnSpPr>
        <p:spPr>
          <a:xfrm>
            <a:off x="7146390" y="1252026"/>
            <a:ext cx="0" cy="5064370"/>
          </a:xfrm>
          <a:prstGeom prst="line">
            <a:avLst/>
          </a:prstGeom>
          <a:ln w="28575"/>
        </p:spPr>
        <p:style>
          <a:lnRef idx="3">
            <a:schemeClr val="accent6"/>
          </a:lnRef>
          <a:fillRef idx="0">
            <a:schemeClr val="accent6"/>
          </a:fillRef>
          <a:effectRef idx="2">
            <a:schemeClr val="accent6"/>
          </a:effectRef>
          <a:fontRef idx="minor">
            <a:schemeClr val="tx1"/>
          </a:fontRef>
        </p:style>
      </p:cxnSp>
      <p:sp>
        <p:nvSpPr>
          <p:cNvPr id="14" name="TextBox 13"/>
          <p:cNvSpPr txBox="1"/>
          <p:nvPr/>
        </p:nvSpPr>
        <p:spPr>
          <a:xfrm>
            <a:off x="7877908" y="3770141"/>
            <a:ext cx="3904153" cy="2308324"/>
          </a:xfrm>
          <a:prstGeom prst="rect">
            <a:avLst/>
          </a:prstGeom>
          <a:noFill/>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Enter no of rows : 4</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1</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2 </a:t>
            </a:r>
            <a:r>
              <a:rPr lang="en-US" sz="2400" b="1" dirty="0">
                <a:latin typeface="Courier New" panose="02070309020205020404" pitchFamily="49" charset="0"/>
                <a:ea typeface="Verdana" panose="020B0604030504040204" pitchFamily="34" charset="0"/>
                <a:cs typeface="Courier New" panose="02070309020205020404" pitchFamily="49" charset="0"/>
              </a:rPr>
              <a:t>3</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smtClean="0">
                <a:latin typeface="Courier New" panose="02070309020205020404" pitchFamily="49" charset="0"/>
                <a:ea typeface="Verdana" panose="020B0604030504040204" pitchFamily="34" charset="0"/>
                <a:cs typeface="Courier New" panose="02070309020205020404" pitchFamily="49" charset="0"/>
              </a:rPr>
              <a:t>  4 </a:t>
            </a:r>
            <a:r>
              <a:rPr lang="en-US" sz="2400" b="1" dirty="0">
                <a:latin typeface="Courier New" panose="02070309020205020404" pitchFamily="49" charset="0"/>
                <a:ea typeface="Verdana" panose="020B0604030504040204" pitchFamily="34" charset="0"/>
                <a:cs typeface="Courier New" panose="02070309020205020404" pitchFamily="49" charset="0"/>
              </a:rPr>
              <a:t>5</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a:latin typeface="Courier New" panose="02070309020205020404" pitchFamily="49" charset="0"/>
                <a:ea typeface="Verdana" panose="020B0604030504040204" pitchFamily="34" charset="0"/>
                <a:cs typeface="Courier New" panose="02070309020205020404" pitchFamily="49" charset="0"/>
              </a:rPr>
              <a:t>6</a:t>
            </a:r>
          </a:p>
          <a:p>
            <a:r>
              <a:rPr lang="en-US" sz="2400" b="1" dirty="0" smtClean="0">
                <a:latin typeface="Courier New" panose="02070309020205020404" pitchFamily="49" charset="0"/>
                <a:ea typeface="Verdana" panose="020B0604030504040204" pitchFamily="34" charset="0"/>
                <a:cs typeface="Courier New" panose="02070309020205020404" pitchFamily="49" charset="0"/>
              </a:rPr>
              <a:t>  7 </a:t>
            </a:r>
            <a:r>
              <a:rPr lang="en-US" sz="2400" b="1" dirty="0">
                <a:latin typeface="Courier New" panose="02070309020205020404" pitchFamily="49" charset="0"/>
                <a:ea typeface="Verdana" panose="020B0604030504040204" pitchFamily="34" charset="0"/>
                <a:cs typeface="Courier New" panose="02070309020205020404" pitchFamily="49" charset="0"/>
              </a:rPr>
              <a:t>8</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a:latin typeface="Courier New" panose="02070309020205020404" pitchFamily="49" charset="0"/>
                <a:ea typeface="Verdana" panose="020B0604030504040204" pitchFamily="34" charset="0"/>
                <a:cs typeface="Courier New" panose="02070309020205020404" pitchFamily="49" charset="0"/>
              </a:rPr>
              <a:t>9</a:t>
            </a:r>
            <a:r>
              <a:rPr lang="en-US" sz="2400" b="1" dirty="0" smtClean="0">
                <a:latin typeface="Courier New" panose="02070309020205020404" pitchFamily="49" charset="0"/>
                <a:ea typeface="Verdana" panose="020B0604030504040204" pitchFamily="34" charset="0"/>
                <a:cs typeface="Courier New" panose="02070309020205020404" pitchFamily="49" charset="0"/>
              </a:rPr>
              <a:t> 10 </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812233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800" decel="100000"/>
                                        <p:tgtEl>
                                          <p:spTgt spid="14"/>
                                        </p:tgtEl>
                                      </p:cBhvr>
                                    </p:animEffect>
                                    <p:anim calcmode="lin" valueType="num">
                                      <p:cBhvr>
                                        <p:cTn id="8" dur="800" decel="100000" fill="hold"/>
                                        <p:tgtEl>
                                          <p:spTgt spid="14"/>
                                        </p:tgtEl>
                                        <p:attrNameLst>
                                          <p:attrName>style.rotation</p:attrName>
                                        </p:attrNameLst>
                                      </p:cBhvr>
                                      <p:tavLst>
                                        <p:tav tm="0">
                                          <p:val>
                                            <p:fltVal val="-90"/>
                                          </p:val>
                                        </p:tav>
                                        <p:tav tm="100000">
                                          <p:val>
                                            <p:fltVal val="0"/>
                                          </p:val>
                                        </p:tav>
                                      </p:tavLst>
                                    </p:anim>
                                    <p:anim calcmode="lin" valueType="num">
                                      <p:cBhvr>
                                        <p:cTn id="9" dur="800" decel="100000" fill="hold"/>
                                        <p:tgtEl>
                                          <p:spTgt spid="14"/>
                                        </p:tgtEl>
                                        <p:attrNameLst>
                                          <p:attrName>ppt_x</p:attrName>
                                        </p:attrNameLst>
                                      </p:cBhvr>
                                      <p:tavLst>
                                        <p:tav tm="0">
                                          <p:val>
                                            <p:strVal val="#ppt_x+0.4"/>
                                          </p:val>
                                        </p:tav>
                                        <p:tav tm="100000">
                                          <p:val>
                                            <p:strVal val="#ppt_x-0.05"/>
                                          </p:val>
                                        </p:tav>
                                      </p:tavLst>
                                    </p:anim>
                                    <p:anim calcmode="lin" valueType="num">
                                      <p:cBhvr>
                                        <p:cTn id="10" dur="800" decel="100000" fill="hold"/>
                                        <p:tgtEl>
                                          <p:spTgt spid="1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138288" y="2881313"/>
            <a:ext cx="8229599" cy="78779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4900" b="1" dirty="0" smtClean="0">
                <a:solidFill>
                  <a:schemeClr val="bg1"/>
                </a:solidFill>
                <a:latin typeface="Lucida Handwriting" panose="03010101010101010101" pitchFamily="66" charset="0"/>
              </a:rPr>
              <a:t>QUIZ</a:t>
            </a:r>
            <a:endParaRPr lang="en-IN" sz="4900" dirty="0"/>
          </a:p>
        </p:txBody>
      </p:sp>
    </p:spTree>
    <p:extLst>
      <p:ext uri="{BB962C8B-B14F-4D97-AF65-F5344CB8AC3E}">
        <p14:creationId xmlns:p14="http://schemas.microsoft.com/office/powerpoint/2010/main" val="129165235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560"/>
            <a:ext cx="11730532" cy="4678204"/>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200" b="1" dirty="0" smtClean="0">
                <a:latin typeface="Verdana" panose="020B0604030504040204" pitchFamily="34" charset="0"/>
                <a:ea typeface="Verdana" panose="020B0604030504040204" pitchFamily="34" charset="0"/>
                <a:cs typeface="Courier New" panose="02070309020205020404" pitchFamily="49" charset="0"/>
              </a:rPr>
              <a:t>Predict the output of given code snippet</a:t>
            </a:r>
          </a:p>
          <a:p>
            <a:pPr algn="just">
              <a:lnSpc>
                <a:spcPct val="150000"/>
              </a:lnSpc>
            </a:pPr>
            <a:endParaRPr lang="en-US" sz="1000" b="1" dirty="0">
              <a:latin typeface="Verdana" panose="020B0604030504040204" pitchFamily="34"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abc</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a:latin typeface="Courier New" panose="02070309020205020404" pitchFamily="49" charset="0"/>
                <a:ea typeface="Verdana" panose="020B0604030504040204" pitchFamily="34" charset="0"/>
                <a:cs typeface="Courier New" panose="02070309020205020404" pitchFamily="49" charset="0"/>
              </a:rPr>
              <a:t> = </a:t>
            </a:r>
            <a:r>
              <a:rPr lang="en-US" sz="2400" b="1" dirty="0" err="1">
                <a:latin typeface="Courier New" panose="02070309020205020404" pitchFamily="49" charset="0"/>
                <a:ea typeface="Verdana" panose="020B0604030504040204" pitchFamily="34" charset="0"/>
                <a:cs typeface="Courier New" panose="02070309020205020404" pitchFamily="49" charset="0"/>
              </a:rPr>
              <a:t>abc</a:t>
            </a:r>
            <a:r>
              <a:rPr lang="en-US" sz="2400" b="1" dirty="0">
                <a:latin typeface="Courier New" panose="02070309020205020404" pitchFamily="49" charset="0"/>
                <a:ea typeface="Verdana" panose="020B0604030504040204" pitchFamily="34" charset="0"/>
                <a:cs typeface="Courier New" panose="02070309020205020404" pitchFamily="49" charset="0"/>
              </a:rPr>
              <a:t>(10);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("%d",--</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4" name="Rectangle 3"/>
          <p:cNvSpPr/>
          <p:nvPr/>
        </p:nvSpPr>
        <p:spPr>
          <a:xfrm>
            <a:off x="-1" y="520503"/>
            <a:ext cx="226489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Quiz - 1</a:t>
            </a:r>
            <a:endParaRPr lang="en-IN" sz="2400" b="1" dirty="0">
              <a:solidFill>
                <a:prstClr val="white"/>
              </a:solidFill>
              <a:latin typeface="Verdana" panose="020B0604030504040204" pitchFamily="34" charset="0"/>
              <a:ea typeface="Verdana" panose="020B0604030504040204" pitchFamily="34" charset="0"/>
            </a:endParaRP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Courier New" panose="02070309020205020404" pitchFamily="49" charset="0"/>
                <a:hlinkClick r:id="rId3"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5" name="TextBox 4"/>
          <p:cNvSpPr txBox="1"/>
          <p:nvPr/>
        </p:nvSpPr>
        <p:spPr>
          <a:xfrm>
            <a:off x="8764172" y="1048522"/>
            <a:ext cx="3046024" cy="1938992"/>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dirty="0">
                <a:latin typeface="Courier New" panose="02070309020205020404" pitchFamily="49" charset="0"/>
                <a:ea typeface="Verdana" panose="020B0604030504040204" pitchFamily="34" charset="0"/>
                <a:cs typeface="Courier New" panose="02070309020205020404" pitchFamily="49" charset="0"/>
              </a:rPr>
              <a:t>9</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334798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560"/>
            <a:ext cx="6258199" cy="4678204"/>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a:latin typeface="Courier New" panose="02070309020205020404" pitchFamily="49" charset="0"/>
                <a:ea typeface="Verdana" panose="020B0604030504040204" pitchFamily="34" charset="0"/>
                <a:cs typeface="Courier New" panose="02070309020205020404" pitchFamily="49" charset="0"/>
              </a:rPr>
              <a:t> = 6;</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display()</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a:latin typeface="Courier New" panose="02070309020205020404" pitchFamily="49" charset="0"/>
                <a:ea typeface="Verdana" panose="020B0604030504040204" pitchFamily="34" charset="0"/>
                <a:cs typeface="Courier New" panose="02070309020205020404" pitchFamily="49" charset="0"/>
              </a:rPr>
              <a:t> = 5;</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display();</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("%d\n",</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endParaRPr lang="en-US" sz="2800" b="1" dirty="0" smtClean="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226489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Quiz - 2</a:t>
            </a:r>
            <a:endParaRPr lang="en-IN" sz="2400" b="1" dirty="0">
              <a:solidFill>
                <a:prstClr val="white"/>
              </a:solidFill>
              <a:latin typeface="Verdana" panose="020B0604030504040204" pitchFamily="34" charset="0"/>
              <a:ea typeface="Verdana" panose="020B0604030504040204" pitchFamily="34" charset="0"/>
            </a:endParaRP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Courier New" panose="02070309020205020404" pitchFamily="49" charset="0"/>
                <a:hlinkClick r:id="rId3"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6" name="TextBox 5"/>
          <p:cNvSpPr txBox="1"/>
          <p:nvPr/>
        </p:nvSpPr>
        <p:spPr>
          <a:xfrm>
            <a:off x="8764172" y="1048522"/>
            <a:ext cx="3046024" cy="1938992"/>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dirty="0">
                <a:latin typeface="Courier New" panose="02070309020205020404" pitchFamily="49" charset="0"/>
                <a:ea typeface="Verdana" panose="020B0604030504040204" pitchFamily="34" charset="0"/>
                <a:cs typeface="Courier New" panose="02070309020205020404" pitchFamily="49" charset="0"/>
              </a:rPr>
              <a:t>5</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2080927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560"/>
            <a:ext cx="6258199" cy="5047536"/>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void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my_func</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my_num</a:t>
            </a:r>
            <a:r>
              <a:rPr lang="en-US" sz="2400" b="1" dirty="0">
                <a:latin typeface="Courier New" panose="02070309020205020404" pitchFamily="49" charset="0"/>
                <a:ea typeface="Verdana" panose="020B0604030504040204" pitchFamily="34" charset="0"/>
                <a:cs typeface="Courier New" panose="02070309020205020404" pitchFamily="49" charset="0"/>
              </a:rPr>
              <a:t> = 7;</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("%d",</a:t>
            </a:r>
            <a:r>
              <a:rPr lang="en-US" sz="2400" b="1" dirty="0" err="1">
                <a:latin typeface="Courier New" panose="02070309020205020404" pitchFamily="49" charset="0"/>
                <a:ea typeface="Verdana" panose="020B0604030504040204" pitchFamily="34" charset="0"/>
                <a:cs typeface="Courier New" panose="02070309020205020404" pitchFamily="49" charset="0"/>
              </a:rPr>
              <a:t>my_num</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my_func</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return 0;</a:t>
            </a: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void </a:t>
            </a:r>
            <a:r>
              <a:rPr lang="en-US" sz="2400" b="1" dirty="0" err="1">
                <a:latin typeface="Courier New" panose="02070309020205020404" pitchFamily="49" charset="0"/>
                <a:ea typeface="Verdana" panose="020B0604030504040204" pitchFamily="34" charset="0"/>
                <a:cs typeface="Courier New" panose="02070309020205020404" pitchFamily="49" charset="0"/>
              </a:rPr>
              <a:t>my_func</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("%d",</a:t>
            </a:r>
            <a:r>
              <a:rPr lang="en-US" sz="2400" b="1" dirty="0" err="1">
                <a:latin typeface="Courier New" panose="02070309020205020404" pitchFamily="49" charset="0"/>
                <a:ea typeface="Verdana" panose="020B0604030504040204" pitchFamily="34" charset="0"/>
                <a:cs typeface="Courier New" panose="02070309020205020404" pitchFamily="49" charset="0"/>
              </a:rPr>
              <a:t>my_num</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endParaRPr lang="en-US" sz="2800" b="1" dirty="0" smtClean="0">
              <a:latin typeface="Courier New" panose="02070309020205020404" pitchFamily="49" charset="0"/>
              <a:ea typeface="Verdana" panose="020B0604030504040204" pitchFamily="34" charset="0"/>
              <a:cs typeface="Courier New" panose="02070309020205020404" pitchFamily="49" charset="0"/>
            </a:endParaRPr>
          </a:p>
        </p:txBody>
      </p:sp>
      <p:sp>
        <p:nvSpPr>
          <p:cNvPr id="4" name="Rectangle 3"/>
          <p:cNvSpPr/>
          <p:nvPr/>
        </p:nvSpPr>
        <p:spPr>
          <a:xfrm>
            <a:off x="-1" y="520503"/>
            <a:ext cx="2264899"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Quiz - 3</a:t>
            </a:r>
            <a:endParaRPr lang="en-IN" sz="2400" b="1" dirty="0">
              <a:solidFill>
                <a:prstClr val="white"/>
              </a:solidFill>
              <a:latin typeface="Verdana" panose="020B0604030504040204" pitchFamily="34" charset="0"/>
              <a:ea typeface="Verdana" panose="020B0604030504040204" pitchFamily="34" charset="0"/>
            </a:endParaRP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Courier New" panose="02070309020205020404" pitchFamily="49" charset="0"/>
                <a:hlinkClick r:id="rId3"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6" name="TextBox 5"/>
          <p:cNvSpPr txBox="1"/>
          <p:nvPr/>
        </p:nvSpPr>
        <p:spPr>
          <a:xfrm>
            <a:off x="8764172" y="1048522"/>
            <a:ext cx="3046024" cy="1938992"/>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ct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ctr"/>
            <a:r>
              <a:rPr lang="en-US" sz="2400" b="1" dirty="0" smtClean="0">
                <a:latin typeface="Courier New" panose="02070309020205020404" pitchFamily="49" charset="0"/>
                <a:ea typeface="Verdana" panose="020B0604030504040204" pitchFamily="34" charset="0"/>
                <a:cs typeface="Courier New" panose="02070309020205020404" pitchFamily="49" charset="0"/>
              </a:rPr>
              <a:t>Error on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my_num</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algn="ct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6899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025745" y="2881313"/>
            <a:ext cx="8229599" cy="78779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4900" b="1" dirty="0" smtClean="0">
                <a:solidFill>
                  <a:schemeClr val="bg1"/>
                </a:solidFill>
                <a:latin typeface="Lucida Handwriting" panose="03010101010101010101" pitchFamily="66" charset="0"/>
              </a:rPr>
              <a:t>Coding Questions</a:t>
            </a:r>
            <a:endParaRPr lang="en-IN" sz="4900" dirty="0"/>
          </a:p>
        </p:txBody>
      </p:sp>
    </p:spTree>
    <p:extLst>
      <p:ext uri="{BB962C8B-B14F-4D97-AF65-F5344CB8AC3E}">
        <p14:creationId xmlns:p14="http://schemas.microsoft.com/office/powerpoint/2010/main" val="225542249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520503"/>
            <a:ext cx="33481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Factorial</a:t>
            </a:r>
            <a:endParaRPr lang="en-IN" sz="2400" b="1" dirty="0">
              <a:solidFill>
                <a:prstClr val="white"/>
              </a:solidFill>
              <a:latin typeface="Verdana" panose="020B0604030504040204" pitchFamily="34" charset="0"/>
              <a:ea typeface="Verdana" panose="020B0604030504040204" pitchFamily="34" charset="0"/>
            </a:endParaRPr>
          </a:p>
        </p:txBody>
      </p:sp>
      <p:sp>
        <p:nvSpPr>
          <p:cNvPr id="2" name="Right Brace 1"/>
          <p:cNvSpPr/>
          <p:nvPr/>
        </p:nvSpPr>
        <p:spPr>
          <a:xfrm>
            <a:off x="717452" y="-45719"/>
            <a:ext cx="45719" cy="457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ounded Rectangle 11"/>
          <p:cNvSpPr/>
          <p:nvPr/>
        </p:nvSpPr>
        <p:spPr>
          <a:xfrm>
            <a:off x="3362177" y="534567"/>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 - 1</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Rounded Rectangle 6"/>
          <p:cNvSpPr/>
          <p:nvPr/>
        </p:nvSpPr>
        <p:spPr>
          <a:xfrm>
            <a:off x="5581199" y="534568"/>
            <a:ext cx="6359010" cy="422031"/>
          </a:xfrm>
          <a:prstGeom prst="roundRect">
            <a:avLst/>
          </a:prstGeom>
          <a:solidFill>
            <a:schemeClr val="accent6">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latin typeface="Verdana" panose="020B0604030504040204" pitchFamily="34" charset="0"/>
                <a:ea typeface="Verdana" panose="020B0604030504040204" pitchFamily="34" charset="0"/>
              </a:rPr>
              <a:t>Program to find factorial</a:t>
            </a:r>
            <a:endParaRPr lang="en-IN" sz="2000" b="1" dirty="0">
              <a:solidFill>
                <a:prstClr val="black"/>
              </a:solidFill>
              <a:latin typeface="Verdana" panose="020B0604030504040204" pitchFamily="34" charset="0"/>
              <a:ea typeface="Verdana" panose="020B0604030504040204" pitchFamily="34"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4521"/>
          <a:stretch/>
        </p:blipFill>
        <p:spPr>
          <a:xfrm>
            <a:off x="2794929" y="1195752"/>
            <a:ext cx="6714832" cy="5050304"/>
          </a:xfrm>
          <a:prstGeom prst="rect">
            <a:avLst/>
          </a:prstGeom>
        </p:spPr>
      </p:pic>
    </p:spTree>
    <p:extLst>
      <p:ext uri="{BB962C8B-B14F-4D97-AF65-F5344CB8AC3E}">
        <p14:creationId xmlns:p14="http://schemas.microsoft.com/office/powerpoint/2010/main" val="417269917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560"/>
            <a:ext cx="8115135" cy="5740033"/>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a:latin typeface="Courier New" panose="02070309020205020404" pitchFamily="49" charset="0"/>
                <a:ea typeface="Verdana" panose="020B0604030504040204" pitchFamily="34" charset="0"/>
                <a:cs typeface="Courier New" panose="02070309020205020404" pitchFamily="49" charset="0"/>
              </a:rPr>
              <a:t>&gt;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void main</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int</a:t>
            </a: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i,f</a:t>
            </a:r>
            <a:r>
              <a:rPr lang="en-US" sz="2400" b="1" dirty="0">
                <a:latin typeface="Courier New" panose="02070309020205020404" pitchFamily="49" charset="0"/>
                <a:ea typeface="Verdana" panose="020B0604030504040204" pitchFamily="34" charset="0"/>
                <a:cs typeface="Courier New" panose="02070309020205020404" pitchFamily="49" charset="0"/>
              </a:rPr>
              <a:t>=1,num</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(“Enter number </a:t>
            </a:r>
            <a:r>
              <a:rPr lang="en-US" sz="2400" b="1" dirty="0">
                <a:latin typeface="Courier New" panose="02070309020205020404" pitchFamily="49" charset="0"/>
                <a:ea typeface="Verdana" panose="020B0604030504040204" pitchFamily="34" charset="0"/>
                <a:cs typeface="Courier New" panose="02070309020205020404" pitchFamily="49" charset="0"/>
              </a:rPr>
              <a:t>: ");</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scanf</a:t>
            </a:r>
            <a:r>
              <a:rPr lang="en-US" sz="2400" b="1" dirty="0">
                <a:latin typeface="Courier New" panose="02070309020205020404" pitchFamily="49" charset="0"/>
                <a:ea typeface="Verdana" panose="020B0604030504040204" pitchFamily="34" charset="0"/>
                <a:cs typeface="Courier New" panose="02070309020205020404" pitchFamily="49" charset="0"/>
              </a:rPr>
              <a:t>("%d",&amp;</a:t>
            </a:r>
            <a:r>
              <a:rPr lang="en-US" sz="2400" b="1" dirty="0" err="1">
                <a:latin typeface="Courier New" panose="02070309020205020404" pitchFamily="49" charset="0"/>
                <a:ea typeface="Verdana" panose="020B0604030504040204" pitchFamily="34" charset="0"/>
                <a:cs typeface="Courier New" panose="02070309020205020404" pitchFamily="49" charset="0"/>
              </a:rPr>
              <a:t>num</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for(</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a:latin typeface="Courier New" panose="02070309020205020404" pitchFamily="49" charset="0"/>
                <a:ea typeface="Verdana" panose="020B0604030504040204" pitchFamily="34" charset="0"/>
                <a:cs typeface="Courier New" panose="02070309020205020404" pitchFamily="49" charset="0"/>
              </a:rPr>
              <a:t>=1;i&lt;=</a:t>
            </a:r>
            <a:r>
              <a:rPr lang="en-US" sz="2400" b="1" dirty="0" err="1">
                <a:latin typeface="Courier New" panose="02070309020205020404" pitchFamily="49" charset="0"/>
                <a:ea typeface="Verdana" panose="020B0604030504040204" pitchFamily="34" charset="0"/>
                <a:cs typeface="Courier New" panose="02070309020205020404" pitchFamily="49" charset="0"/>
              </a:rPr>
              <a:t>num;i</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f=f*</a:t>
            </a:r>
            <a:r>
              <a:rPr lang="en-US" sz="2400" b="1" dirty="0" err="1">
                <a:latin typeface="Courier New" panose="02070309020205020404" pitchFamily="49" charset="0"/>
                <a:ea typeface="Verdana" panose="020B0604030504040204" pitchFamily="34" charset="0"/>
                <a:cs typeface="Courier New" panose="02070309020205020404" pitchFamily="49" charset="0"/>
              </a:rPr>
              <a:t>i</a:t>
            </a:r>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printf</a:t>
            </a:r>
            <a:r>
              <a:rPr lang="en-US" sz="2400" b="1" dirty="0" smtClean="0">
                <a:latin typeface="Courier New" panose="02070309020205020404" pitchFamily="49" charset="0"/>
                <a:ea typeface="Verdana" panose="020B0604030504040204" pitchFamily="34" charset="0"/>
                <a:cs typeface="Courier New" panose="02070309020205020404" pitchFamily="49" charset="0"/>
              </a:rPr>
              <a:t>("Factorial </a:t>
            </a:r>
            <a:r>
              <a:rPr lang="en-US" sz="2400" b="1" dirty="0">
                <a:latin typeface="Courier New" panose="02070309020205020404" pitchFamily="49" charset="0"/>
                <a:ea typeface="Verdana" panose="020B0604030504040204" pitchFamily="34" charset="0"/>
                <a:cs typeface="Courier New" panose="02070309020205020404" pitchFamily="49" charset="0"/>
              </a:rPr>
              <a:t>of %d is: %d\n",</a:t>
            </a:r>
            <a:r>
              <a:rPr lang="en-US" sz="2400" b="1" dirty="0" err="1">
                <a:latin typeface="Courier New" panose="02070309020205020404" pitchFamily="49" charset="0"/>
                <a:ea typeface="Verdana" panose="020B0604030504040204" pitchFamily="34" charset="0"/>
                <a:cs typeface="Courier New" panose="02070309020205020404" pitchFamily="49" charset="0"/>
              </a:rPr>
              <a:t>num,f</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algn="just">
              <a:lnSpc>
                <a:spcPct val="150000"/>
              </a:lnSpc>
            </a:pPr>
            <a:r>
              <a:rPr lang="en-US" sz="2400" b="1" dirty="0">
                <a:latin typeface="Courier New" panose="02070309020205020404" pitchFamily="49" charset="0"/>
                <a:ea typeface="Verdana" panose="020B0604030504040204" pitchFamily="34" charset="0"/>
                <a:cs typeface="Courier New" panose="02070309020205020404" pitchFamily="49" charset="0"/>
              </a:rPr>
              <a:t>}</a:t>
            </a: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Courier New" panose="02070309020205020404" pitchFamily="49" charset="0"/>
                <a:hlinkClick r:id="rId3"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6" name="TextBox 5"/>
          <p:cNvSpPr txBox="1"/>
          <p:nvPr/>
        </p:nvSpPr>
        <p:spPr>
          <a:xfrm>
            <a:off x="8764172" y="1048522"/>
            <a:ext cx="3046024" cy="1938992"/>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just"/>
            <a:endParaRPr lang="en-US" sz="2400" b="1" u="sng"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u="sng" dirty="0" smtClean="0">
                <a:latin typeface="Courier New" panose="02070309020205020404" pitchFamily="49" charset="0"/>
                <a:ea typeface="Verdana" panose="020B0604030504040204" pitchFamily="34" charset="0"/>
                <a:cs typeface="Courier New" panose="02070309020205020404" pitchFamily="49" charset="0"/>
              </a:rPr>
              <a:t>OUTPUT</a:t>
            </a: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Error on </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my_num</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a:p>
            <a:pPr algn="just"/>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7" name="Rectangle 6"/>
          <p:cNvSpPr/>
          <p:nvPr/>
        </p:nvSpPr>
        <p:spPr>
          <a:xfrm>
            <a:off x="-1" y="520503"/>
            <a:ext cx="33481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Factorial</a:t>
            </a:r>
            <a:endParaRPr lang="en-IN" sz="2400" b="1" dirty="0">
              <a:solidFill>
                <a:prstClr val="white"/>
              </a:solidFill>
              <a:latin typeface="Verdana" panose="020B0604030504040204" pitchFamily="34" charset="0"/>
              <a:ea typeface="Verdana" panose="020B0604030504040204" pitchFamily="34" charset="0"/>
            </a:endParaRPr>
          </a:p>
        </p:txBody>
      </p:sp>
      <p:sp>
        <p:nvSpPr>
          <p:cNvPr id="9" name="Rounded Rectangle 8"/>
          <p:cNvSpPr/>
          <p:nvPr/>
        </p:nvSpPr>
        <p:spPr>
          <a:xfrm>
            <a:off x="3362177" y="534567"/>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 - 12</a:t>
            </a:r>
            <a:endParaRPr lang="en-IN" sz="2000" b="1" dirty="0">
              <a:solidFill>
                <a:prstClr val="black"/>
              </a:solidFill>
              <a:latin typeface="Verdana" panose="020B0604030504040204" pitchFamily="34" charset="0"/>
              <a:ea typeface="Verdana" panose="020B0604030504040204" pitchFamily="34" charset="0"/>
            </a:endParaRPr>
          </a:p>
        </p:txBody>
      </p:sp>
      <p:sp>
        <p:nvSpPr>
          <p:cNvPr id="10" name="Rounded Rectangle 9"/>
          <p:cNvSpPr/>
          <p:nvPr/>
        </p:nvSpPr>
        <p:spPr>
          <a:xfrm>
            <a:off x="5581199" y="534568"/>
            <a:ext cx="6359010" cy="422031"/>
          </a:xfrm>
          <a:prstGeom prst="roundRect">
            <a:avLst/>
          </a:prstGeom>
          <a:solidFill>
            <a:schemeClr val="accent6">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latin typeface="Verdana" panose="020B0604030504040204" pitchFamily="34" charset="0"/>
                <a:ea typeface="Verdana" panose="020B0604030504040204" pitchFamily="34" charset="0"/>
              </a:rPr>
              <a:t>Program to find factorial</a:t>
            </a:r>
            <a:endParaRPr lang="en-IN" sz="2000" b="1"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3242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520503"/>
            <a:ext cx="33481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Floyd’s Triangle</a:t>
            </a:r>
            <a:endParaRPr lang="en-IN" sz="2400" b="1" dirty="0">
              <a:solidFill>
                <a:prstClr val="white"/>
              </a:solidFill>
              <a:latin typeface="Verdana" panose="020B0604030504040204" pitchFamily="34" charset="0"/>
              <a:ea typeface="Verdana" panose="020B0604030504040204" pitchFamily="34" charset="0"/>
            </a:endParaRPr>
          </a:p>
        </p:txBody>
      </p:sp>
      <p:sp>
        <p:nvSpPr>
          <p:cNvPr id="2" name="Right Brace 1"/>
          <p:cNvSpPr/>
          <p:nvPr/>
        </p:nvSpPr>
        <p:spPr>
          <a:xfrm>
            <a:off x="717452" y="-45719"/>
            <a:ext cx="45719" cy="457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ounded Rectangle 11"/>
          <p:cNvSpPr/>
          <p:nvPr/>
        </p:nvSpPr>
        <p:spPr>
          <a:xfrm>
            <a:off x="3362177" y="534567"/>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 - </a:t>
            </a:r>
            <a:r>
              <a:rPr lang="en-US" sz="2000" b="1" dirty="0">
                <a:solidFill>
                  <a:prstClr val="black"/>
                </a:solidFill>
                <a:latin typeface="Verdana" panose="020B0604030504040204" pitchFamily="34" charset="0"/>
                <a:ea typeface="Verdana" panose="020B0604030504040204" pitchFamily="34" charset="0"/>
              </a:rPr>
              <a:t>2</a:t>
            </a:r>
            <a:endParaRPr lang="en-IN" sz="2000" b="1" dirty="0">
              <a:solidFill>
                <a:prstClr val="black"/>
              </a:solidFill>
              <a:latin typeface="Verdana" panose="020B0604030504040204" pitchFamily="34" charset="0"/>
              <a:ea typeface="Verdana" panose="020B0604030504040204" pitchFamily="34" charset="0"/>
            </a:endParaRPr>
          </a:p>
        </p:txBody>
      </p:sp>
      <p:sp>
        <p:nvSpPr>
          <p:cNvPr id="7" name="Rounded Rectangle 6"/>
          <p:cNvSpPr/>
          <p:nvPr/>
        </p:nvSpPr>
        <p:spPr>
          <a:xfrm>
            <a:off x="5581199" y="534568"/>
            <a:ext cx="6359010" cy="422031"/>
          </a:xfrm>
          <a:prstGeom prst="roundRect">
            <a:avLst/>
          </a:prstGeom>
          <a:solidFill>
            <a:schemeClr val="accent6">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latin typeface="Verdana" panose="020B0604030504040204" pitchFamily="34" charset="0"/>
                <a:ea typeface="Verdana" panose="020B0604030504040204" pitchFamily="34" charset="0"/>
              </a:rPr>
              <a:t>Program to Floyd’s triangle</a:t>
            </a:r>
            <a:endParaRPr lang="en-IN" sz="2000" b="1" dirty="0">
              <a:solidFill>
                <a:prstClr val="black"/>
              </a:solidFill>
              <a:latin typeface="Verdana" panose="020B0604030504040204" pitchFamily="34" charset="0"/>
              <a:ea typeface="Verdana" panose="020B0604030504040204" pitchFamily="34" charset="0"/>
            </a:endParaRPr>
          </a:p>
        </p:txBody>
      </p:sp>
      <p:pic>
        <p:nvPicPr>
          <p:cNvPr id="6146" name="Picture 2" descr="Print the Floyd's Triangle"/>
          <p:cNvPicPr>
            <a:picLocks noChangeAspect="1" noChangeArrowheads="1"/>
          </p:cNvPicPr>
          <p:nvPr/>
        </p:nvPicPr>
        <p:blipFill rotWithShape="1">
          <a:blip r:embed="rId2">
            <a:extLst>
              <a:ext uri="{28A0092B-C50C-407E-A947-70E740481C1C}">
                <a14:useLocalDpi xmlns:a14="http://schemas.microsoft.com/office/drawing/2010/main" val="0"/>
              </a:ext>
            </a:extLst>
          </a:blip>
          <a:srcRect b="4061"/>
          <a:stretch/>
        </p:blipFill>
        <p:spPr bwMode="auto">
          <a:xfrm>
            <a:off x="3348110" y="1317087"/>
            <a:ext cx="5567415" cy="5210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509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9" y="964560"/>
            <a:ext cx="6971827" cy="5047536"/>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#include &lt;</a:t>
            </a:r>
            <a:r>
              <a:rPr lang="en-US" sz="2400" b="1" dirty="0" err="1">
                <a:latin typeface="Courier New" panose="02070309020205020404" pitchFamily="49" charset="0"/>
                <a:ea typeface="Verdana" panose="020B0604030504040204" pitchFamily="34" charset="0"/>
                <a:cs typeface="Courier New" panose="02070309020205020404" pitchFamily="49" charset="0"/>
              </a:rPr>
              <a:t>stdio.h</a:t>
            </a:r>
            <a:r>
              <a:rPr lang="en-US" sz="2400" b="1" dirty="0" smtClean="0">
                <a:latin typeface="Courier New" panose="02070309020205020404" pitchFamily="49" charset="0"/>
                <a:ea typeface="Verdana" panose="020B0604030504040204" pitchFamily="34" charset="0"/>
                <a:cs typeface="Courier New" panose="02070309020205020404" pitchFamily="49" charset="0"/>
              </a:rPr>
              <a:t>&gt;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void main()</a:t>
            </a: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int</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r>
              <a:rPr lang="en-US" sz="2400" b="1" dirty="0" err="1">
                <a:latin typeface="Courier New" panose="02070309020205020404" pitchFamily="49" charset="0"/>
                <a:ea typeface="Verdana" panose="020B0604030504040204" pitchFamily="34" charset="0"/>
                <a:cs typeface="Courier New" panose="02070309020205020404" pitchFamily="49" charset="0"/>
              </a:rPr>
              <a:t>i,j,n,p,q</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("Input number of rows : ");</a:t>
            </a:r>
          </a:p>
          <a:p>
            <a:pPr lvl="1"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scanf</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d",&amp;n</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for(</a:t>
            </a:r>
            <a:r>
              <a:rPr lang="en-US" sz="2400" b="1" dirty="0" err="1" smtClean="0">
                <a:latin typeface="Courier New" panose="02070309020205020404" pitchFamily="49" charset="0"/>
                <a:ea typeface="Verdana" panose="020B0604030504040204" pitchFamily="34" charset="0"/>
                <a:cs typeface="Courier New" panose="02070309020205020404" pitchFamily="49" charset="0"/>
              </a:rPr>
              <a:t>i</a:t>
            </a:r>
            <a:r>
              <a:rPr lang="en-US" sz="2400" b="1" dirty="0" smtClean="0">
                <a:latin typeface="Courier New" panose="02070309020205020404" pitchFamily="49" charset="0"/>
                <a:ea typeface="Verdana" panose="020B0604030504040204" pitchFamily="34" charset="0"/>
                <a:cs typeface="Courier New" panose="02070309020205020404" pitchFamily="49" charset="0"/>
              </a:rPr>
              <a:t>=1;i</a:t>
            </a:r>
            <a:r>
              <a:rPr lang="en-US" sz="2400" b="1" dirty="0">
                <a:latin typeface="Courier New" panose="02070309020205020404" pitchFamily="49" charset="0"/>
                <a:ea typeface="Verdana" panose="020B0604030504040204" pitchFamily="34" charset="0"/>
                <a:cs typeface="Courier New" panose="02070309020205020404" pitchFamily="49" charset="0"/>
              </a:rPr>
              <a:t>&lt;=</a:t>
            </a:r>
            <a:r>
              <a:rPr lang="en-US" sz="2400" b="1" dirty="0" err="1">
                <a:latin typeface="Courier New" panose="02070309020205020404" pitchFamily="49" charset="0"/>
                <a:ea typeface="Verdana" panose="020B0604030504040204" pitchFamily="34" charset="0"/>
                <a:cs typeface="Courier New" panose="02070309020205020404" pitchFamily="49" charset="0"/>
              </a:rPr>
              <a:t>n;i</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if(i%2</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p>
          <a:p>
            <a:pPr lvl="3"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p=1;q=0;</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     </a:t>
            </a:r>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p:txBody>
      </p:sp>
      <p:sp>
        <p:nvSpPr>
          <p:cNvPr id="8" name="TextBox 7"/>
          <p:cNvSpPr txBox="1"/>
          <p:nvPr/>
        </p:nvSpPr>
        <p:spPr>
          <a:xfrm>
            <a:off x="8764172" y="6189785"/>
            <a:ext cx="3017889"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Courier New" panose="02070309020205020404" pitchFamily="49" charset="0"/>
                <a:hlinkClick r:id="rId3" action="ppaction://hlinkfile"/>
              </a:rPr>
              <a:t>Click here to see code</a:t>
            </a:r>
            <a:endParaRPr lang="en-IN" b="1" dirty="0">
              <a:latin typeface="Verdana" panose="020B0604030504040204" pitchFamily="34" charset="0"/>
              <a:ea typeface="Verdana" panose="020B0604030504040204" pitchFamily="34" charset="0"/>
              <a:cs typeface="Courier New" panose="02070309020205020404" pitchFamily="49" charset="0"/>
            </a:endParaRPr>
          </a:p>
        </p:txBody>
      </p:sp>
      <p:sp>
        <p:nvSpPr>
          <p:cNvPr id="7" name="Rectangle 6"/>
          <p:cNvSpPr/>
          <p:nvPr/>
        </p:nvSpPr>
        <p:spPr>
          <a:xfrm>
            <a:off x="-1" y="520503"/>
            <a:ext cx="334811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Floyd’s Triangle</a:t>
            </a:r>
            <a:endParaRPr lang="en-IN" sz="2400" b="1" dirty="0">
              <a:solidFill>
                <a:prstClr val="white"/>
              </a:solidFill>
              <a:latin typeface="Verdana" panose="020B0604030504040204" pitchFamily="34" charset="0"/>
              <a:ea typeface="Verdana" panose="020B0604030504040204" pitchFamily="34" charset="0"/>
            </a:endParaRPr>
          </a:p>
        </p:txBody>
      </p:sp>
      <p:sp>
        <p:nvSpPr>
          <p:cNvPr id="9" name="Rounded Rectangle 8"/>
          <p:cNvSpPr/>
          <p:nvPr/>
        </p:nvSpPr>
        <p:spPr>
          <a:xfrm>
            <a:off x="3362177" y="534567"/>
            <a:ext cx="2219022" cy="422031"/>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prstClr val="black"/>
                </a:solidFill>
                <a:latin typeface="Verdana" panose="020B0604030504040204" pitchFamily="34" charset="0"/>
                <a:ea typeface="Verdana" panose="020B0604030504040204" pitchFamily="34" charset="0"/>
              </a:rPr>
              <a:t>Example - 2</a:t>
            </a:r>
            <a:endParaRPr lang="en-IN" sz="2000" b="1" dirty="0">
              <a:solidFill>
                <a:prstClr val="black"/>
              </a:solidFill>
              <a:latin typeface="Verdana" panose="020B0604030504040204" pitchFamily="34" charset="0"/>
              <a:ea typeface="Verdana" panose="020B0604030504040204" pitchFamily="34" charset="0"/>
            </a:endParaRPr>
          </a:p>
        </p:txBody>
      </p:sp>
      <p:sp>
        <p:nvSpPr>
          <p:cNvPr id="10" name="Rounded Rectangle 9"/>
          <p:cNvSpPr/>
          <p:nvPr/>
        </p:nvSpPr>
        <p:spPr>
          <a:xfrm>
            <a:off x="5581199" y="534568"/>
            <a:ext cx="6359010" cy="422031"/>
          </a:xfrm>
          <a:prstGeom prst="roundRect">
            <a:avLst/>
          </a:prstGeom>
          <a:solidFill>
            <a:schemeClr val="accent6">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latin typeface="Verdana" panose="020B0604030504040204" pitchFamily="34" charset="0"/>
                <a:ea typeface="Verdana" panose="020B0604030504040204" pitchFamily="34" charset="0"/>
              </a:rPr>
              <a:t>Program to Floyd’s triangle</a:t>
            </a:r>
            <a:endParaRPr lang="en-IN" sz="2000" b="1" dirty="0">
              <a:solidFill>
                <a:prstClr val="black"/>
              </a:solidFill>
              <a:latin typeface="Verdana" panose="020B0604030504040204" pitchFamily="34" charset="0"/>
              <a:ea typeface="Verdana" panose="020B0604030504040204" pitchFamily="34" charset="0"/>
            </a:endParaRPr>
          </a:p>
        </p:txBody>
      </p:sp>
      <p:sp>
        <p:nvSpPr>
          <p:cNvPr id="12" name="TextBox 11"/>
          <p:cNvSpPr txBox="1"/>
          <p:nvPr/>
        </p:nvSpPr>
        <p:spPr>
          <a:xfrm>
            <a:off x="7314780" y="984738"/>
            <a:ext cx="4625430" cy="5047536"/>
          </a:xfrm>
          <a:prstGeom prst="rect">
            <a:avLst/>
          </a:prstGeom>
          <a:noFill/>
        </p:spPr>
        <p:txBody>
          <a:bodyPr wrap="square" rtlCol="0">
            <a:spAutoFit/>
          </a:bodyPr>
          <a:lstStyle/>
          <a:p>
            <a:pPr lvl="2" algn="just"/>
            <a:endParaRPr lang="en-US" sz="1000" dirty="0">
              <a:latin typeface="Verdana" panose="020B0604030504040204" pitchFamily="34" charset="0"/>
              <a:ea typeface="Verdana" panose="020B0604030504040204" pitchFamily="34" charset="0"/>
            </a:endParaRPr>
          </a:p>
          <a:p>
            <a:pPr lvl="1" algn="just"/>
            <a:r>
              <a:rPr lang="en-US" sz="2400" b="1" dirty="0">
                <a:latin typeface="Courier New" panose="02070309020205020404" pitchFamily="49" charset="0"/>
                <a:ea typeface="Verdana" panose="020B0604030504040204" pitchFamily="34" charset="0"/>
                <a:cs typeface="Courier New" panose="02070309020205020404" pitchFamily="49" charset="0"/>
              </a:rPr>
              <a:t>else</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 </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p=0;q=1;</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for(j=1;j</a:t>
            </a:r>
            <a:r>
              <a:rPr lang="en-US" sz="2400" b="1" dirty="0">
                <a:latin typeface="Courier New" panose="02070309020205020404" pitchFamily="49" charset="0"/>
                <a:ea typeface="Verdana" panose="020B0604030504040204" pitchFamily="34" charset="0"/>
                <a:cs typeface="Courier New" panose="02070309020205020404" pitchFamily="49" charset="0"/>
              </a:rPr>
              <a:t>&lt;=</a:t>
            </a:r>
            <a:r>
              <a:rPr lang="en-US" sz="2400" b="1" dirty="0" err="1">
                <a:latin typeface="Courier New" panose="02070309020205020404" pitchFamily="49" charset="0"/>
                <a:ea typeface="Verdana" panose="020B0604030504040204" pitchFamily="34" charset="0"/>
                <a:cs typeface="Courier New" panose="02070309020205020404" pitchFamily="49" charset="0"/>
              </a:rPr>
              <a:t>i;j</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if(j%2</a:t>
            </a:r>
            <a:r>
              <a:rPr lang="en-US" sz="2400" b="1" dirty="0">
                <a:latin typeface="Courier New" panose="02070309020205020404" pitchFamily="49" charset="0"/>
                <a:ea typeface="Verdana" panose="020B0604030504040204" pitchFamily="34" charset="0"/>
                <a:cs typeface="Courier New" panose="02070309020205020404" pitchFamily="49" charset="0"/>
              </a:rPr>
              <a:t>==0)</a:t>
            </a:r>
          </a:p>
          <a:p>
            <a:pPr lvl="3"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d",p</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2"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else</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lvl="3"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a:t>
            </a:r>
            <a:r>
              <a:rPr lang="en-US" sz="2400" b="1" dirty="0" err="1">
                <a:latin typeface="Courier New" panose="02070309020205020404" pitchFamily="49" charset="0"/>
                <a:ea typeface="Verdana" panose="020B0604030504040204" pitchFamily="34" charset="0"/>
                <a:cs typeface="Courier New" panose="02070309020205020404" pitchFamily="49" charset="0"/>
              </a:rPr>
              <a:t>d",q</a:t>
            </a:r>
            <a:r>
              <a:rPr lang="en-US" sz="2400" b="1" dirty="0">
                <a:latin typeface="Courier New" panose="02070309020205020404" pitchFamily="49" charset="0"/>
                <a:ea typeface="Verdana" panose="020B0604030504040204" pitchFamily="34" charset="0"/>
                <a:cs typeface="Courier New" panose="02070309020205020404" pitchFamily="49" charset="0"/>
              </a:rPr>
              <a:t>);</a:t>
            </a:r>
          </a:p>
          <a:p>
            <a:pPr lvl="2" algn="just"/>
            <a:r>
              <a:rPr lang="en-US" sz="2400" b="1" dirty="0" err="1" smtClean="0">
                <a:latin typeface="Courier New" panose="02070309020205020404" pitchFamily="49" charset="0"/>
                <a:ea typeface="Verdana" panose="020B0604030504040204" pitchFamily="34" charset="0"/>
                <a:cs typeface="Courier New" panose="02070309020205020404" pitchFamily="49" charset="0"/>
              </a:rPr>
              <a:t>printf</a:t>
            </a:r>
            <a:r>
              <a:rPr lang="en-US" sz="2400" b="1" dirty="0">
                <a:latin typeface="Courier New" panose="02070309020205020404" pitchFamily="49" charset="0"/>
                <a:ea typeface="Verdana" panose="020B0604030504040204" pitchFamily="34" charset="0"/>
                <a:cs typeface="Courier New" panose="02070309020205020404" pitchFamily="49" charset="0"/>
              </a:rPr>
              <a:t>("\n");</a:t>
            </a:r>
          </a:p>
          <a:p>
            <a:pPr lvl="1" algn="just"/>
            <a:r>
              <a:rPr lang="en-US" sz="2400" b="1" dirty="0" smtClean="0">
                <a:latin typeface="Courier New" panose="02070309020205020404" pitchFamily="49" charset="0"/>
                <a:ea typeface="Verdana" panose="020B0604030504040204" pitchFamily="34" charset="0"/>
                <a:cs typeface="Courier New" panose="02070309020205020404" pitchFamily="49" charset="0"/>
              </a:rPr>
              <a:t>}</a:t>
            </a:r>
          </a:p>
          <a:p>
            <a:pPr lvl="1" algn="just"/>
            <a:r>
              <a:rPr lang="en-US" sz="2400" b="1" smtClean="0">
                <a:latin typeface="Courier New" panose="02070309020205020404" pitchFamily="49" charset="0"/>
                <a:ea typeface="Verdana" panose="020B0604030504040204" pitchFamily="34" charset="0"/>
                <a:cs typeface="Courier New" panose="02070309020205020404" pitchFamily="49" charset="0"/>
              </a:rPr>
              <a:t>return </a:t>
            </a:r>
            <a:r>
              <a:rPr lang="en-US" sz="2400" b="1" dirty="0" smtClean="0">
                <a:latin typeface="Courier New" panose="02070309020205020404" pitchFamily="49" charset="0"/>
                <a:ea typeface="Verdana" panose="020B0604030504040204" pitchFamily="34" charset="0"/>
                <a:cs typeface="Courier New" panose="02070309020205020404" pitchFamily="49" charset="0"/>
              </a:rPr>
              <a:t>0;</a:t>
            </a:r>
            <a:endParaRPr lang="en-US" sz="2400" b="1" dirty="0">
              <a:latin typeface="Courier New" panose="02070309020205020404" pitchFamily="49" charset="0"/>
              <a:ea typeface="Verdana" panose="020B0604030504040204" pitchFamily="34" charset="0"/>
              <a:cs typeface="Courier New" panose="02070309020205020404" pitchFamily="49" charset="0"/>
            </a:endParaRPr>
          </a:p>
          <a:p>
            <a:pPr algn="just"/>
            <a:r>
              <a:rPr lang="en-US" sz="2400" b="1" dirty="0">
                <a:latin typeface="Courier New" panose="02070309020205020404" pitchFamily="49" charset="0"/>
                <a:ea typeface="Verdana" panose="020B0604030504040204" pitchFamily="34" charset="0"/>
                <a:cs typeface="Courier New" panose="02070309020205020404" pitchFamily="49" charset="0"/>
              </a:rPr>
              <a:t>}</a:t>
            </a:r>
            <a:endParaRPr lang="en-US" sz="2400" b="1" dirty="0" smtClean="0">
              <a:latin typeface="Courier New" panose="02070309020205020404" pitchFamily="49" charset="0"/>
              <a:ea typeface="Verdan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161207676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560"/>
            <a:ext cx="11786803" cy="5740033"/>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cube of any number using </a:t>
            </a:r>
            <a:r>
              <a:rPr lang="en-US" sz="2100" dirty="0" smtClean="0">
                <a:latin typeface="Verdana" panose="020B0604030504040204" pitchFamily="34" charset="0"/>
                <a:ea typeface="Verdana" panose="020B0604030504040204" pitchFamily="34" charset="0"/>
              </a:rPr>
              <a:t>function.</a:t>
            </a:r>
            <a:endParaRPr lang="en-US" sz="2100" dirty="0">
              <a:latin typeface="Verdana" panose="020B0604030504040204" pitchFamily="34" charset="0"/>
              <a:ea typeface="Verdana" panose="020B0604030504040204" pitchFamily="34" charset="0"/>
            </a:endParaRP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diameter, circumference and area of circle using </a:t>
            </a:r>
            <a:r>
              <a:rPr lang="en-US" sz="2100" dirty="0" smtClean="0">
                <a:latin typeface="Verdana" panose="020B0604030504040204" pitchFamily="34" charset="0"/>
                <a:ea typeface="Verdana" panose="020B0604030504040204" pitchFamily="34" charset="0"/>
              </a:rPr>
              <a:t>functions</a:t>
            </a:r>
            <a:r>
              <a:rPr lang="en-US" sz="2100" dirty="0">
                <a:latin typeface="Verdana" panose="020B0604030504040204" pitchFamily="34" charset="0"/>
                <a:ea typeface="Verdana" panose="020B0604030504040204" pitchFamily="34" charset="0"/>
              </a:rPr>
              <a:t>.</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maximum and minimum between two numbers using </a:t>
            </a:r>
            <a:r>
              <a:rPr lang="en-US" sz="2100" dirty="0" smtClean="0">
                <a:latin typeface="Verdana" panose="020B0604030504040204" pitchFamily="34" charset="0"/>
                <a:ea typeface="Verdana" panose="020B0604030504040204" pitchFamily="34" charset="0"/>
              </a:rPr>
              <a:t>functions</a:t>
            </a:r>
            <a:r>
              <a:rPr lang="en-US" sz="2100" dirty="0">
                <a:latin typeface="Verdana" panose="020B0604030504040204" pitchFamily="34" charset="0"/>
                <a:ea typeface="Verdana" panose="020B0604030504040204" pitchFamily="34" charset="0"/>
              </a:rPr>
              <a:t>.</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check whether a number is even or odd using </a:t>
            </a:r>
            <a:r>
              <a:rPr lang="en-US" sz="2100" dirty="0" smtClean="0">
                <a:latin typeface="Verdana" panose="020B0604030504040204" pitchFamily="34" charset="0"/>
                <a:ea typeface="Verdana" panose="020B0604030504040204" pitchFamily="34" charset="0"/>
              </a:rPr>
              <a:t>functions</a:t>
            </a:r>
            <a:r>
              <a:rPr lang="en-US" sz="2100" dirty="0">
                <a:latin typeface="Verdana" panose="020B0604030504040204" pitchFamily="34" charset="0"/>
                <a:ea typeface="Verdana" panose="020B0604030504040204" pitchFamily="34" charset="0"/>
              </a:rPr>
              <a:t>.</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check whether a number is prime, Armstrong or perfect number using </a:t>
            </a:r>
            <a:r>
              <a:rPr lang="en-US" sz="2100" dirty="0" smtClean="0">
                <a:latin typeface="Verdana" panose="020B0604030504040204" pitchFamily="34" charset="0"/>
                <a:ea typeface="Verdana" panose="020B0604030504040204" pitchFamily="34" charset="0"/>
              </a:rPr>
              <a:t>functions</a:t>
            </a:r>
            <a:r>
              <a:rPr lang="en-US" sz="2100" dirty="0">
                <a:latin typeface="Verdana" panose="020B0604030504040204" pitchFamily="34" charset="0"/>
                <a:ea typeface="Verdana" panose="020B0604030504040204" pitchFamily="34" charset="0"/>
              </a:rPr>
              <a:t>.</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all prime numbers between given interval using </a:t>
            </a:r>
            <a:r>
              <a:rPr lang="en-US" sz="2100" dirty="0" smtClean="0">
                <a:latin typeface="Verdana" panose="020B0604030504040204" pitchFamily="34" charset="0"/>
                <a:ea typeface="Verdana" panose="020B0604030504040204" pitchFamily="34" charset="0"/>
              </a:rPr>
              <a:t>functions</a:t>
            </a:r>
            <a:r>
              <a:rPr lang="en-US" sz="2100" dirty="0">
                <a:latin typeface="Verdana" panose="020B0604030504040204" pitchFamily="34" charset="0"/>
                <a:ea typeface="Verdana" panose="020B0604030504040204" pitchFamily="34" charset="0"/>
              </a:rPr>
              <a:t>.</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print all strong numbers between given interval using </a:t>
            </a:r>
            <a:r>
              <a:rPr lang="en-US" sz="2100" dirty="0" smtClean="0">
                <a:latin typeface="Verdana" panose="020B0604030504040204" pitchFamily="34" charset="0"/>
                <a:ea typeface="Verdana" panose="020B0604030504040204" pitchFamily="34" charset="0"/>
              </a:rPr>
              <a:t>functions</a:t>
            </a:r>
            <a:r>
              <a:rPr lang="en-US" sz="2100" dirty="0">
                <a:latin typeface="Verdana" panose="020B0604030504040204" pitchFamily="34" charset="0"/>
                <a:ea typeface="Verdana" panose="020B0604030504040204" pitchFamily="34" charset="0"/>
              </a:rPr>
              <a:t>.</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print all Armstrong numbers between given interval using </a:t>
            </a:r>
            <a:r>
              <a:rPr lang="en-US" sz="2100" dirty="0" smtClean="0">
                <a:latin typeface="Verdana" panose="020B0604030504040204" pitchFamily="34" charset="0"/>
                <a:ea typeface="Verdana" panose="020B0604030504040204" pitchFamily="34" charset="0"/>
              </a:rPr>
              <a:t>functions</a:t>
            </a:r>
            <a:r>
              <a:rPr lang="en-US" sz="2100" dirty="0">
                <a:latin typeface="Verdana" panose="020B0604030504040204" pitchFamily="34" charset="0"/>
                <a:ea typeface="Verdana" panose="020B0604030504040204" pitchFamily="34" charset="0"/>
              </a:rPr>
              <a:t>.</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print all perfect numbers between given interval using </a:t>
            </a:r>
            <a:r>
              <a:rPr lang="en-US" sz="2100" dirty="0" smtClean="0">
                <a:latin typeface="Verdana" panose="020B0604030504040204" pitchFamily="34" charset="0"/>
                <a:ea typeface="Verdana" panose="020B0604030504040204" pitchFamily="34" charset="0"/>
              </a:rPr>
              <a:t>functions</a:t>
            </a:r>
            <a:r>
              <a:rPr lang="en-US" sz="2100" dirty="0">
                <a:latin typeface="Verdana" panose="020B0604030504040204" pitchFamily="34" charset="0"/>
                <a:ea typeface="Verdana" panose="020B0604030504040204" pitchFamily="34" charset="0"/>
              </a:rPr>
              <a:t>.</a:t>
            </a:r>
          </a:p>
          <a:p>
            <a:pPr marL="457200" indent="-457200" algn="just">
              <a:buFont typeface="+mj-lt"/>
              <a:buAutoNum type="arabicPeriod"/>
            </a:pPr>
            <a:r>
              <a:rPr lang="en-US" sz="2100" dirty="0">
                <a:latin typeface="Verdana" panose="020B0604030504040204" pitchFamily="34" charset="0"/>
                <a:ea typeface="Verdana" panose="020B0604030504040204" pitchFamily="34" charset="0"/>
              </a:rPr>
              <a:t>Write a C program to find power of any number using </a:t>
            </a:r>
            <a:r>
              <a:rPr lang="en-US" sz="2100" dirty="0" smtClean="0">
                <a:latin typeface="Verdana" panose="020B0604030504040204" pitchFamily="34" charset="0"/>
                <a:ea typeface="Verdana" panose="020B0604030504040204" pitchFamily="34" charset="0"/>
              </a:rPr>
              <a:t>recursion.</a:t>
            </a:r>
            <a:endParaRPr lang="en-US" sz="2100" dirty="0">
              <a:latin typeface="Verdana" panose="020B0604030504040204" pitchFamily="34" charset="0"/>
              <a:ea typeface="Verdana" panose="020B0604030504040204" pitchFamily="34" charset="0"/>
            </a:endParaRPr>
          </a:p>
        </p:txBody>
      </p:sp>
      <p:sp>
        <p:nvSpPr>
          <p:cNvPr id="4" name="Rectangle 3"/>
          <p:cNvSpPr/>
          <p:nvPr/>
        </p:nvSpPr>
        <p:spPr>
          <a:xfrm>
            <a:off x="-1" y="520503"/>
            <a:ext cx="365760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Coding Questions</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73194426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12938" y="964560"/>
            <a:ext cx="11786803" cy="3639458"/>
          </a:xfrm>
          <a:prstGeom prst="rect">
            <a:avLst/>
          </a:prstGeom>
          <a:noFill/>
        </p:spPr>
        <p:txBody>
          <a:bodyPr wrap="square" rtlCol="0">
            <a:spAutoFit/>
          </a:bodyPr>
          <a:lstStyle/>
          <a:p>
            <a:pPr algn="just"/>
            <a:endParaRPr lang="en-US" sz="1000" b="1" dirty="0" smtClean="0">
              <a:latin typeface="Courier New" panose="02070309020205020404" pitchFamily="49" charset="0"/>
              <a:ea typeface="Verdana" panose="020B0604030504040204" pitchFamily="34" charset="0"/>
              <a:cs typeface="Courier New" panose="02070309020205020404" pitchFamily="49" charset="0"/>
            </a:endParaRPr>
          </a:p>
          <a:p>
            <a:pPr algn="just">
              <a:lnSpc>
                <a:spcPct val="150000"/>
              </a:lnSpc>
            </a:pPr>
            <a:r>
              <a:rPr lang="en-US" sz="2100" dirty="0" smtClean="0">
                <a:latin typeface="Verdana" panose="020B0604030504040204" pitchFamily="34" charset="0"/>
                <a:ea typeface="Verdana" panose="020B0604030504040204" pitchFamily="34" charset="0"/>
              </a:rPr>
              <a:t>11. Write </a:t>
            </a:r>
            <a:r>
              <a:rPr lang="en-US" sz="2100" dirty="0">
                <a:latin typeface="Verdana" panose="020B0604030504040204" pitchFamily="34" charset="0"/>
                <a:ea typeface="Verdana" panose="020B0604030504040204" pitchFamily="34" charset="0"/>
              </a:rPr>
              <a:t>a C program to </a:t>
            </a:r>
            <a:r>
              <a:rPr lang="en-US" sz="2100" dirty="0" smtClean="0">
                <a:latin typeface="Verdana" panose="020B0604030504040204" pitchFamily="34" charset="0"/>
                <a:ea typeface="Verdana" panose="020B0604030504040204" pitchFamily="34" charset="0"/>
              </a:rPr>
              <a:t>calculate area of square using return function.</a:t>
            </a:r>
          </a:p>
          <a:p>
            <a:pPr algn="just">
              <a:lnSpc>
                <a:spcPct val="150000"/>
              </a:lnSpc>
            </a:pPr>
            <a:r>
              <a:rPr lang="en-US" sz="2100" dirty="0" smtClean="0">
                <a:latin typeface="Verdana" panose="020B0604030504040204" pitchFamily="34" charset="0"/>
                <a:ea typeface="Verdana" panose="020B0604030504040204" pitchFamily="34" charset="0"/>
              </a:rPr>
              <a:t>12. </a:t>
            </a:r>
            <a:r>
              <a:rPr lang="en-US" sz="2100" dirty="0" smtClean="0">
                <a:latin typeface="Verdana" panose="020B0604030504040204" pitchFamily="34" charset="0"/>
                <a:ea typeface="Verdana" panose="020B0604030504040204" pitchFamily="34" charset="0"/>
                <a:hlinkClick r:id="rId3" action="ppaction://hlinkfile"/>
              </a:rPr>
              <a:t>Write a program to calculate area and parameter of rectangle.</a:t>
            </a:r>
            <a:endParaRPr lang="en-US" sz="2100" dirty="0" smtClean="0">
              <a:latin typeface="Verdana" panose="020B0604030504040204" pitchFamily="34" charset="0"/>
              <a:ea typeface="Verdana" panose="020B0604030504040204" pitchFamily="34" charset="0"/>
            </a:endParaRPr>
          </a:p>
          <a:p>
            <a:pPr algn="just">
              <a:lnSpc>
                <a:spcPct val="150000"/>
              </a:lnSpc>
            </a:pPr>
            <a:r>
              <a:rPr lang="en-US" sz="2100" dirty="0" smtClean="0">
                <a:latin typeface="Verdana" panose="020B0604030504040204" pitchFamily="34" charset="0"/>
                <a:ea typeface="Verdana" panose="020B0604030504040204" pitchFamily="34" charset="0"/>
              </a:rPr>
              <a:t>13. </a:t>
            </a:r>
            <a:r>
              <a:rPr lang="en-US" sz="2100" dirty="0" smtClean="0">
                <a:latin typeface="Verdana" panose="020B0604030504040204" pitchFamily="34" charset="0"/>
                <a:ea typeface="Verdana" panose="020B0604030504040204" pitchFamily="34" charset="0"/>
                <a:hlinkClick r:id="rId4" action="ppaction://hlinkfile"/>
              </a:rPr>
              <a:t>Write a program to check if entered character is alphabet or not using return function with argument.</a:t>
            </a:r>
            <a:endParaRPr lang="en-US" sz="2100" dirty="0" smtClean="0">
              <a:latin typeface="Verdana" panose="020B0604030504040204" pitchFamily="34" charset="0"/>
              <a:ea typeface="Verdana" panose="020B0604030504040204" pitchFamily="34" charset="0"/>
            </a:endParaRPr>
          </a:p>
          <a:p>
            <a:pPr algn="just">
              <a:lnSpc>
                <a:spcPct val="150000"/>
              </a:lnSpc>
            </a:pPr>
            <a:r>
              <a:rPr lang="en-US" sz="2100" dirty="0" smtClean="0">
                <a:latin typeface="Verdana" panose="020B0604030504040204" pitchFamily="34" charset="0"/>
                <a:ea typeface="Verdana" panose="020B0604030504040204" pitchFamily="34" charset="0"/>
              </a:rPr>
              <a:t>14. </a:t>
            </a:r>
            <a:r>
              <a:rPr lang="en-US" sz="2100" dirty="0" smtClean="0">
                <a:latin typeface="Verdana" panose="020B0604030504040204" pitchFamily="34" charset="0"/>
                <a:ea typeface="Verdana" panose="020B0604030504040204" pitchFamily="34" charset="0"/>
                <a:hlinkClick r:id="rId5" action="ppaction://hlinkfile"/>
              </a:rPr>
              <a:t>Write a C program to check entered number is even or odd using return with argument function.</a:t>
            </a:r>
            <a:endParaRPr lang="en-US" sz="2100" dirty="0" smtClean="0">
              <a:latin typeface="Verdana" panose="020B0604030504040204" pitchFamily="34" charset="0"/>
              <a:ea typeface="Verdana" panose="020B0604030504040204" pitchFamily="34" charset="0"/>
            </a:endParaRPr>
          </a:p>
          <a:p>
            <a:pPr algn="just">
              <a:lnSpc>
                <a:spcPct val="150000"/>
              </a:lnSpc>
            </a:pPr>
            <a:r>
              <a:rPr lang="en-US" sz="2100" dirty="0" smtClean="0">
                <a:latin typeface="Verdana" panose="020B0604030504040204" pitchFamily="34" charset="0"/>
                <a:ea typeface="Verdana" panose="020B0604030504040204" pitchFamily="34" charset="0"/>
              </a:rPr>
              <a:t>15. </a:t>
            </a:r>
            <a:endParaRPr lang="en-US" sz="2100" dirty="0">
              <a:latin typeface="Verdana" panose="020B0604030504040204" pitchFamily="34" charset="0"/>
              <a:ea typeface="Verdana" panose="020B0604030504040204" pitchFamily="34" charset="0"/>
            </a:endParaRPr>
          </a:p>
        </p:txBody>
      </p:sp>
      <p:sp>
        <p:nvSpPr>
          <p:cNvPr id="4" name="Rectangle 3"/>
          <p:cNvSpPr/>
          <p:nvPr/>
        </p:nvSpPr>
        <p:spPr>
          <a:xfrm>
            <a:off x="-1" y="520503"/>
            <a:ext cx="3657601" cy="422031"/>
          </a:xfrm>
          <a:prstGeom prst="rect">
            <a:avLst/>
          </a:prstGeom>
          <a:gradFill>
            <a:gsLst>
              <a:gs pos="0">
                <a:schemeClr val="accent6">
                  <a:satMod val="103000"/>
                  <a:lumMod val="102000"/>
                  <a:tint val="94000"/>
                </a:schemeClr>
              </a:gs>
              <a:gs pos="50000">
                <a:schemeClr val="accent6">
                  <a:lumMod val="75000"/>
                </a:schemeClr>
              </a:gs>
              <a:gs pos="100000">
                <a:schemeClr val="accent6">
                  <a:lumMod val="99000"/>
                  <a:satMod val="120000"/>
                  <a:shade val="78000"/>
                </a:schemeClr>
              </a:gs>
            </a:gsLst>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solidFill>
                  <a:prstClr val="white"/>
                </a:solidFill>
                <a:latin typeface="Verdana" panose="020B0604030504040204" pitchFamily="34" charset="0"/>
                <a:ea typeface="Verdana" panose="020B0604030504040204" pitchFamily="34" charset="0"/>
              </a:rPr>
              <a:t>Coding Questions</a:t>
            </a:r>
            <a:endParaRPr lang="en-IN" sz="2400" b="1" dirty="0">
              <a:solidFill>
                <a:prstClr val="white"/>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116727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87815</TotalTime>
  <Words>3684</Words>
  <Application>Microsoft Office PowerPoint</Application>
  <PresentationFormat>Widescreen</PresentationFormat>
  <Paragraphs>1009</Paragraphs>
  <Slides>84</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84</vt:i4>
      </vt:variant>
    </vt:vector>
  </HeadingPairs>
  <TitlesOfParts>
    <vt:vector size="92" baseType="lpstr">
      <vt:lpstr>Arial</vt:lpstr>
      <vt:lpstr>Calibri</vt:lpstr>
      <vt:lpstr>Calibri Light</vt:lpstr>
      <vt:lpstr>Courier New</vt:lpstr>
      <vt:lpstr>Lucida Handwriting</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Mohd Imran</cp:lastModifiedBy>
  <cp:revision>520</cp:revision>
  <dcterms:created xsi:type="dcterms:W3CDTF">2023-01-17T16:53:08Z</dcterms:created>
  <dcterms:modified xsi:type="dcterms:W3CDTF">2024-05-16T03:43:25Z</dcterms:modified>
</cp:coreProperties>
</file>