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02" r:id="rId2"/>
    <p:sldId id="257" r:id="rId3"/>
    <p:sldId id="303" r:id="rId4"/>
    <p:sldId id="304" r:id="rId5"/>
    <p:sldId id="306" r:id="rId6"/>
    <p:sldId id="307" r:id="rId7"/>
    <p:sldId id="308" r:id="rId8"/>
    <p:sldId id="309" r:id="rId9"/>
    <p:sldId id="310" r:id="rId10"/>
    <p:sldId id="312" r:id="rId11"/>
    <p:sldId id="313" r:id="rId12"/>
    <p:sldId id="260" r:id="rId13"/>
    <p:sldId id="305" r:id="rId14"/>
    <p:sldId id="267" r:id="rId15"/>
    <p:sldId id="268" r:id="rId16"/>
    <p:sldId id="265" r:id="rId17"/>
    <p:sldId id="266" r:id="rId18"/>
    <p:sldId id="311" r:id="rId19"/>
    <p:sldId id="314" r:id="rId20"/>
    <p:sldId id="315" r:id="rId21"/>
    <p:sldId id="316" r:id="rId22"/>
    <p:sldId id="317" r:id="rId23"/>
    <p:sldId id="31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312F9-813B-459E-A917-DE1121628026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AEAA9-EBE2-49C0-83FF-14F9618B7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665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D3BBD-AEDA-4A06-978E-432988C2678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06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216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68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51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59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85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30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33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178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3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2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14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81432-2E0F-48C9-86F1-0515EEB93D95}" type="datetimeFigureOut">
              <a:rPr lang="en-IN" smtClean="0"/>
              <a:t>21-06-2023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70D8C-2B0D-4F7B-9580-BFADC1872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939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CODE/12%20-%20Array/QUIZ/1%20-%20QUIZ%20-%201.c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CODE/13%20-%20Factorial/Questions/1%20-%20Question%20-%20First%2010%20natural%20number.cpp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CODE/13%20-%20Factorial/Questions/2%20-%20Sum%20of%20numbers%20from%201%20to%20n.cpp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CODE/13%20-%20Recursion/Questions/3%20-%20Dsplaying%20array%20element.cpp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CODE/13%20-%20Recursion/Questions/4%20-%20Number%20of%20digits.cpp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CODE/13%20-%20Recursion/Questions/5%20-%20Sum%20of%20digits.cpp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CODE/13%20-%20Recursion/Questions/6%20-%20Odd%20and%20Even.cpp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CODE/13%20-%20Recursion/Questions/6%20-%20Odd%20and%20Even.cpp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91" y="384314"/>
            <a:ext cx="11675166" cy="620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2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Recursion refers to the processes of repetition of a particular task in order to achieve a specific purpose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Recursion is the process in which a function calls itself till the task is completed.</a:t>
            </a:r>
          </a:p>
          <a:p>
            <a:pPr algn="just">
              <a:lnSpc>
                <a:spcPct val="150000"/>
              </a:lnSpc>
            </a:pPr>
            <a:endParaRPr lang="en-US" sz="10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 function which calls itself directly or indirectly again and again until some specified condition is satisfied is known as 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Recursive Function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2345636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12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Recursive functions in C enhance the readability of the program.</a:t>
            </a: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Used to solve problems that are inherently recursive in nature such as tree traversal problems and the famous Tower of Hanoi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2345636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352360" y="530293"/>
            <a:ext cx="2219022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Advantages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07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It requires a lot of storage space hence the program is comparatively slower than iterative functions.</a:t>
            </a: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time complexity of recursion is greater than iteration.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2345636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352360" y="530293"/>
            <a:ext cx="2524440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Disadvantages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There are two </a:t>
            </a:r>
            <a:r>
              <a:rPr lang="en-US" sz="2400" smtClean="0">
                <a:latin typeface="Verdana" panose="020B0604030504040204" pitchFamily="34" charset="0"/>
                <a:ea typeface="Verdana" panose="020B0604030504040204" pitchFamily="34" charset="0"/>
              </a:rPr>
              <a:t>types </a:t>
            </a:r>
            <a:r>
              <a:rPr lang="en-US" sz="2400" smtClean="0">
                <a:latin typeface="Verdana" panose="020B0604030504040204" pitchFamily="34" charset="0"/>
                <a:ea typeface="Verdana" panose="020B0604030504040204" pitchFamily="34" charset="0"/>
              </a:rPr>
              <a:t>of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recursion in C</a:t>
            </a:r>
          </a:p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Direct Recursion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Indirect Recursion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2345636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352360" y="530293"/>
            <a:ext cx="2325657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Types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88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1910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Direct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recursion is said to occur when the recursive call to the function is made within its own definition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3405810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Direct 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08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fun1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fun1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fun1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endParaRPr lang="en-US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3405810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Direct 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412532" y="530293"/>
            <a:ext cx="2219022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05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Indirect recursion is said to occur when a particular function is called in recursive way medium of another function.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-2" y="520503"/>
            <a:ext cx="3790123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Indirect 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68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fun1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just"/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fun2();</a:t>
            </a:r>
          </a:p>
          <a:p>
            <a:pPr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just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fun2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just"/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fun1(); </a:t>
            </a:r>
          </a:p>
          <a:p>
            <a:pPr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just"/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fun1();</a:t>
            </a:r>
          </a:p>
          <a:p>
            <a:pPr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3723862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Indirect 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730582" y="530293"/>
            <a:ext cx="2219022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33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114"/>
            <a:ext cx="1172727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Each call to a function in c language results in memory allocation on the top of a stack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When a recursive function is called memory is allocated to it on the top of the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memory and every time memory is allocated when each call of function because copy of same variable is created every time.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7553740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Memory Allocation of Recursive Function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95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520503"/>
            <a:ext cx="7553740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Memory Allocation of Recursive Function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46597" y="2375398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- 1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55415"/>
              </p:ext>
            </p:extLst>
          </p:nvPr>
        </p:nvGraphicFramePr>
        <p:xfrm>
          <a:off x="1246597" y="2893862"/>
          <a:ext cx="1629113" cy="73773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68300" y="1256557"/>
            <a:ext cx="2185705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ain() called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46597" y="4290336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- 2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411671"/>
              </p:ext>
            </p:extLst>
          </p:nvPr>
        </p:nvGraphicFramePr>
        <p:xfrm>
          <a:off x="1246597" y="4808800"/>
          <a:ext cx="1629113" cy="110659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4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947181" y="1589042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</a:t>
            </a:r>
            <a:r>
              <a:rPr lang="en-US" sz="2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927154"/>
              </p:ext>
            </p:extLst>
          </p:nvPr>
        </p:nvGraphicFramePr>
        <p:xfrm>
          <a:off x="3947181" y="2107506"/>
          <a:ext cx="1629113" cy="14754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3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</a:t>
                      </a:r>
                      <a:r>
                        <a:rPr lang="en-US" b="1" baseline="0" dirty="0" smtClean="0"/>
                        <a:t> N = 4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947181" y="3906465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- 4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416074"/>
              </p:ext>
            </p:extLst>
          </p:nvPr>
        </p:nvGraphicFramePr>
        <p:xfrm>
          <a:off x="3947181" y="4424929"/>
          <a:ext cx="1629113" cy="184432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2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</a:t>
                      </a:r>
                      <a:r>
                        <a:rPr lang="en-US" b="1" baseline="0" dirty="0" smtClean="0"/>
                        <a:t> N = 3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4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647765" y="1174575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</a:t>
            </a:r>
            <a:r>
              <a:rPr lang="en-US" sz="2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688482"/>
              </p:ext>
            </p:extLst>
          </p:nvPr>
        </p:nvGraphicFramePr>
        <p:xfrm>
          <a:off x="6647765" y="1693039"/>
          <a:ext cx="1629113" cy="221319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1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</a:t>
                      </a:r>
                      <a:r>
                        <a:rPr lang="en-US" b="1" baseline="0" dirty="0" smtClean="0"/>
                        <a:t> N = 2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</a:t>
                      </a:r>
                      <a:r>
                        <a:rPr lang="en-US" b="1" baseline="0" dirty="0" smtClean="0"/>
                        <a:t> N = 3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</a:t>
                      </a:r>
                      <a:r>
                        <a:rPr lang="en-US" b="1" baseline="0" dirty="0" smtClean="0"/>
                        <a:t> N = 4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674269" y="4218159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</a:t>
            </a:r>
            <a:r>
              <a:rPr lang="en-US" sz="2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278692"/>
              </p:ext>
            </p:extLst>
          </p:nvPr>
        </p:nvGraphicFramePr>
        <p:xfrm>
          <a:off x="6674269" y="4736623"/>
          <a:ext cx="1629113" cy="184432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2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</a:t>
                      </a:r>
                      <a:r>
                        <a:rPr lang="en-US" b="1" baseline="0" dirty="0" smtClean="0"/>
                        <a:t> N = 3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4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9254679" y="999320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- 7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900642"/>
              </p:ext>
            </p:extLst>
          </p:nvPr>
        </p:nvGraphicFramePr>
        <p:xfrm>
          <a:off x="9254679" y="1517784"/>
          <a:ext cx="1629113" cy="14754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3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</a:t>
                      </a:r>
                      <a:r>
                        <a:rPr lang="en-US" b="1" baseline="0" dirty="0" smtClean="0"/>
                        <a:t> N = 4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9284047" y="3316297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</a:t>
            </a:r>
            <a:r>
              <a:rPr lang="en-US" sz="2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36170"/>
              </p:ext>
            </p:extLst>
          </p:nvPr>
        </p:nvGraphicFramePr>
        <p:xfrm>
          <a:off x="9284047" y="3834761"/>
          <a:ext cx="1629113" cy="110659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fun N = 4</a:t>
                      </a:r>
                      <a:endParaRPr lang="en-IN" b="1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9323809" y="5217986"/>
            <a:ext cx="1629113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 - 9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061983"/>
              </p:ext>
            </p:extLst>
          </p:nvPr>
        </p:nvGraphicFramePr>
        <p:xfrm>
          <a:off x="9323809" y="5736450"/>
          <a:ext cx="1629113" cy="73773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29113"/>
              </a:tblGrid>
              <a:tr h="3688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</a:tr>
              <a:tr h="368865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main() Test = 4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49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8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8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800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800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3" grpId="0" animBg="1"/>
      <p:bldP spid="16" grpId="0" animBg="1"/>
      <p:bldP spid="18" grpId="0" animBg="1"/>
      <p:bldP spid="20" grpId="0" animBg="1"/>
      <p:bldP spid="22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339106" y="530293"/>
            <a:ext cx="2219022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 - 1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7007" y="981352"/>
            <a:ext cx="11752958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#include&lt;</a:t>
            </a:r>
            <a:r>
              <a:rPr lang="en-US" sz="2400" b="1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stdio.h</a:t>
            </a:r>
            <a:r>
              <a:rPr lang="en-US" sz="24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main()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printf</a:t>
            </a:r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(“Hello\n</a:t>
            </a:r>
            <a:r>
              <a:rPr lang="en-US" sz="24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");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main</a:t>
            </a:r>
            <a:r>
              <a:rPr lang="en-US" sz="24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return </a:t>
            </a:r>
            <a:r>
              <a:rPr lang="en-US" sz="24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0;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}</a:t>
            </a:r>
            <a:endParaRPr lang="en-US" sz="2400" b="1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40417" y="1111348"/>
            <a:ext cx="3240118" cy="2308324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endParaRPr lang="en-US" sz="2400" b="1" u="sng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US" sz="2400" b="1" u="sng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OUTPUT</a:t>
            </a:r>
          </a:p>
          <a:p>
            <a:pPr algn="ctr"/>
            <a:endParaRPr lang="en-US" sz="2400" b="1" u="sng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Hello </a:t>
            </a:r>
          </a:p>
          <a:p>
            <a:pPr algn="ctr"/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Infinite Times</a:t>
            </a:r>
          </a:p>
          <a:p>
            <a:pPr algn="just"/>
            <a:endParaRPr lang="en-US" sz="2400" b="1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20503"/>
            <a:ext cx="2345635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58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339106" y="530293"/>
            <a:ext cx="2219022" cy="412241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 - 2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7007" y="981352"/>
            <a:ext cx="521963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#include &lt;</a:t>
            </a:r>
            <a:r>
              <a:rPr lang="en-US" sz="2300" b="1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stdio.h</a:t>
            </a:r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 </a:t>
            </a:r>
          </a:p>
          <a:p>
            <a:pPr algn="just"/>
            <a:r>
              <a:rPr lang="en-US" sz="2300" b="1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fact(</a:t>
            </a:r>
            <a:r>
              <a:rPr lang="en-US" sz="2300" b="1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n)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{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if (n==0)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{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    return 0;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}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else if ( n == 1)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{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    return 1;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}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else 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{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    return n*fact(n-1);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}  </a:t>
            </a:r>
          </a:p>
          <a:p>
            <a:pPr algn="just"/>
            <a:r>
              <a:rPr lang="en-US" sz="23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8452" y="1111348"/>
            <a:ext cx="4552083" cy="2308324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endParaRPr lang="en-US" sz="2400" b="1" u="sng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US" sz="2400" b="1" u="sng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OUTPUT</a:t>
            </a:r>
          </a:p>
          <a:p>
            <a:pPr algn="ctr"/>
            <a:endParaRPr lang="en-US" sz="2400" b="1" u="sng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Enter the number : 4</a:t>
            </a:r>
          </a:p>
          <a:p>
            <a:pPr algn="ctr"/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Factorial 0f 4 = 24</a:t>
            </a:r>
          </a:p>
          <a:p>
            <a:pPr algn="just"/>
            <a:endParaRPr lang="en-US" sz="2400" b="1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20503"/>
            <a:ext cx="2345635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Recursion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58127" y="525397"/>
            <a:ext cx="7421838" cy="4122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 to find the factorial</a:t>
            </a:r>
            <a:endParaRPr lang="en-IN" sz="2000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27374" y="3312185"/>
            <a:ext cx="65697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main()  </a:t>
            </a:r>
          </a:p>
          <a:p>
            <a:pPr algn="just"/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{  </a:t>
            </a:r>
          </a:p>
          <a:p>
            <a:pPr lvl="1" algn="just"/>
            <a:r>
              <a:rPr lang="en-US" sz="22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22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n,f</a:t>
            </a:r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;  </a:t>
            </a:r>
          </a:p>
          <a:p>
            <a:pPr lvl="1" algn="just"/>
            <a:r>
              <a:rPr lang="en-US" sz="22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printf</a:t>
            </a:r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("Enter the number : ");  </a:t>
            </a:r>
          </a:p>
          <a:p>
            <a:pPr lvl="1" algn="just"/>
            <a:r>
              <a:rPr lang="en-US" sz="22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scanf</a:t>
            </a:r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("%</a:t>
            </a:r>
            <a:r>
              <a:rPr lang="en-US" sz="22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d",&amp;n</a:t>
            </a:r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);  </a:t>
            </a:r>
          </a:p>
          <a:p>
            <a:pPr lvl="1" algn="just"/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 = fact(n);  </a:t>
            </a:r>
          </a:p>
          <a:p>
            <a:pPr lvl="1" algn="just"/>
            <a:r>
              <a:rPr lang="en-US" sz="22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printf</a:t>
            </a:r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("Factorial of %d = %d",</a:t>
            </a:r>
            <a:r>
              <a:rPr lang="en-US" sz="22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n,f</a:t>
            </a:r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lvl="1" algn="just"/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return 0;  </a:t>
            </a:r>
          </a:p>
          <a:p>
            <a:pPr algn="just"/>
            <a:r>
              <a:rPr lang="en-US" sz="22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}  </a:t>
            </a:r>
            <a:endParaRPr lang="en-US" sz="2200" b="1" dirty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168351" y="1245704"/>
            <a:ext cx="13253" cy="5135217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95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38288" y="2881313"/>
            <a:ext cx="8229599" cy="78779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900" b="1" dirty="0" smtClean="0">
                <a:solidFill>
                  <a:schemeClr val="bg1"/>
                </a:solidFill>
                <a:latin typeface="Lucida Handwriting" panose="03010101010101010101" pitchFamily="66" charset="0"/>
              </a:rPr>
              <a:t>QUIZ</a:t>
            </a:r>
            <a:endParaRPr lang="en-IN" sz="4900" dirty="0"/>
          </a:p>
        </p:txBody>
      </p:sp>
    </p:spTree>
    <p:extLst>
      <p:ext uri="{BB962C8B-B14F-4D97-AF65-F5344CB8AC3E}">
        <p14:creationId xmlns:p14="http://schemas.microsoft.com/office/powerpoint/2010/main" val="245391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2939" y="964560"/>
            <a:ext cx="757933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000" b="1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  <a:endParaRPr lang="en-US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x[5] = {1, 2, 3, 4, 5};</a:t>
            </a:r>
          </a:p>
          <a:p>
            <a:pPr lvl="1"/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&amp;x[2]; </a:t>
            </a:r>
          </a:p>
          <a:p>
            <a:pPr lvl="1"/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("*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%d \n", *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("*(ptr+1) = %d \n", *(ptr+1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("*(ptr-1) = %d", *(ptr-1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lvl="1"/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-1" y="520503"/>
            <a:ext cx="2264899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Quiz - 1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4172" y="6189785"/>
            <a:ext cx="301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  <a:hlinkClick r:id="rId3" action="ppaction://hlinkfile"/>
              </a:rPr>
              <a:t>Click here to see code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11478" y="1048522"/>
            <a:ext cx="2798718" cy="2677656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endParaRPr lang="en-US" sz="2400" b="1" u="sng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US" sz="2400" b="1" u="sng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OUTPUT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*</a:t>
            </a:r>
            <a:r>
              <a:rPr lang="en-US" sz="2400" b="1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ptr</a:t>
            </a:r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= 3</a:t>
            </a:r>
          </a:p>
          <a:p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*(ptr+1) = 4</a:t>
            </a:r>
          </a:p>
          <a:p>
            <a:r>
              <a:rPr lang="en-US" sz="2400" b="1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*(ptr-1)=2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9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25745" y="2881313"/>
            <a:ext cx="8229599" cy="78779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900" b="1" dirty="0" smtClean="0">
                <a:solidFill>
                  <a:schemeClr val="bg1"/>
                </a:solidFill>
                <a:latin typeface="Lucida Handwriting" panose="03010101010101010101" pitchFamily="66" charset="0"/>
              </a:rPr>
              <a:t>Coding Questions</a:t>
            </a:r>
            <a:endParaRPr lang="en-IN" sz="4900" dirty="0"/>
          </a:p>
        </p:txBody>
      </p:sp>
    </p:spTree>
    <p:extLst>
      <p:ext uri="{BB962C8B-B14F-4D97-AF65-F5344CB8AC3E}">
        <p14:creationId xmlns:p14="http://schemas.microsoft.com/office/powerpoint/2010/main" val="112583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520503"/>
            <a:ext cx="2729949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 - 1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17452" y="-45719"/>
            <a:ext cx="45719" cy="457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2939" y="964114"/>
            <a:ext cx="1172727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Write a program in C to print the first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10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natural numbers using recursion.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172" y="6189785"/>
            <a:ext cx="301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  <a:hlinkClick r:id="rId2" action="ppaction://hlinkfile"/>
              </a:rPr>
              <a:t>Click here to see code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C Exercises: Print first 50 natural numb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774" y="1811409"/>
            <a:ext cx="4419600" cy="478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17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520503"/>
            <a:ext cx="2729949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 - 2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17452" y="-45719"/>
            <a:ext cx="45719" cy="457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2939" y="964114"/>
            <a:ext cx="11727270" cy="135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Write a program in C to calculate the sum of numbers from 1 to n using recursion.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172" y="6189785"/>
            <a:ext cx="301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  <a:hlinkClick r:id="rId2" action="ppaction://hlinkfile"/>
              </a:rPr>
              <a:t>Click here to see code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2050" name="Picture 2" descr="C Exercises: Calculate the sum of numbers from 1 to 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1"/>
          <a:stretch/>
        </p:blipFill>
        <p:spPr bwMode="auto">
          <a:xfrm>
            <a:off x="3733424" y="1688151"/>
            <a:ext cx="4686300" cy="487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9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520503"/>
            <a:ext cx="2729949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 - </a:t>
            </a:r>
            <a:r>
              <a:rPr lang="en-US" sz="2400" b="1" dirty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17452" y="-45719"/>
            <a:ext cx="45719" cy="457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2939" y="964114"/>
            <a:ext cx="11727270" cy="8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Write a program in C to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display element of an array using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recursion.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172" y="6189785"/>
            <a:ext cx="301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  <a:hlinkClick r:id="rId2" action="ppaction://hlinkfile"/>
              </a:rPr>
              <a:t>Click here to see code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C Exercises: Print the array element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69"/>
          <a:stretch/>
        </p:blipFill>
        <p:spPr bwMode="auto">
          <a:xfrm>
            <a:off x="1954734" y="2352960"/>
            <a:ext cx="7872916" cy="330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61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520503"/>
            <a:ext cx="2729949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 - 4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17452" y="-45719"/>
            <a:ext cx="45719" cy="457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2939" y="964114"/>
            <a:ext cx="11727270" cy="135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Write a program in C to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count the digits of a given number using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recursion.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172" y="6189785"/>
            <a:ext cx="301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  <a:hlinkClick r:id="rId2" action="ppaction://hlinkfile"/>
              </a:rPr>
              <a:t>Click here to see code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2050" name="Picture 2" descr="C Exercises: Count the digits of a given numbe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13" b="3405"/>
          <a:stretch/>
        </p:blipFill>
        <p:spPr bwMode="auto">
          <a:xfrm>
            <a:off x="3587823" y="2068787"/>
            <a:ext cx="4977502" cy="4192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13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520503"/>
            <a:ext cx="2729949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 - </a:t>
            </a:r>
            <a:r>
              <a:rPr lang="en-US" sz="2400" b="1" dirty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17452" y="-45719"/>
            <a:ext cx="45719" cy="457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2939" y="964114"/>
            <a:ext cx="1172727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Write a program in C to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find sum of digits of a given number using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recursion.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172" y="6189785"/>
            <a:ext cx="301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  <a:hlinkClick r:id="rId2" action="ppaction://hlinkfile"/>
              </a:rPr>
              <a:t>Click here to see code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3074" name="Picture 2" descr="C Exercises: Find the sum of digits of a numbe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6"/>
          <a:stretch/>
        </p:blipFill>
        <p:spPr bwMode="auto">
          <a:xfrm>
            <a:off x="4197488" y="1918232"/>
            <a:ext cx="3939347" cy="469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61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520503"/>
            <a:ext cx="2729949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 - 6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17452" y="-45719"/>
            <a:ext cx="45719" cy="457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2939" y="964114"/>
            <a:ext cx="1172727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Write a program in C to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print odd and even numbers in a given range using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recursion.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172" y="6189785"/>
            <a:ext cx="301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  <a:hlinkClick r:id="rId2" action="ppaction://hlinkfile"/>
              </a:rPr>
              <a:t>Click here to see code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2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520503"/>
            <a:ext cx="2729949" cy="422031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 - 7</a:t>
            </a:r>
            <a:endParaRPr lang="en-IN" sz="24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17452" y="-45719"/>
            <a:ext cx="45719" cy="457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2939" y="964114"/>
            <a:ext cx="1172727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Write a program in C to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print odd and even numbers in a given range using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recursion.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172" y="6189785"/>
            <a:ext cx="301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  <a:hlinkClick r:id="rId2" action="ppaction://hlinkfile"/>
              </a:rPr>
              <a:t>Click here to see code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90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12426</TotalTime>
  <Words>791</Words>
  <Application>Microsoft Office PowerPoint</Application>
  <PresentationFormat>Widescreen</PresentationFormat>
  <Paragraphs>212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Lucida Handwriting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Mohd Imran</cp:lastModifiedBy>
  <cp:revision>118</cp:revision>
  <dcterms:created xsi:type="dcterms:W3CDTF">2023-03-12T16:15:32Z</dcterms:created>
  <dcterms:modified xsi:type="dcterms:W3CDTF">2023-06-23T03:44:35Z</dcterms:modified>
</cp:coreProperties>
</file>