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327" r:id="rId3"/>
    <p:sldId id="257" r:id="rId4"/>
    <p:sldId id="328" r:id="rId5"/>
    <p:sldId id="332" r:id="rId6"/>
    <p:sldId id="329" r:id="rId7"/>
    <p:sldId id="333" r:id="rId8"/>
    <p:sldId id="330" r:id="rId9"/>
    <p:sldId id="334" r:id="rId10"/>
    <p:sldId id="331" r:id="rId11"/>
    <p:sldId id="335" r:id="rId12"/>
    <p:sldId id="336" r:id="rId13"/>
    <p:sldId id="268" r:id="rId14"/>
    <p:sldId id="337" r:id="rId15"/>
    <p:sldId id="263" r:id="rId16"/>
    <p:sldId id="264" r:id="rId17"/>
    <p:sldId id="338" r:id="rId18"/>
    <p:sldId id="339" r:id="rId19"/>
    <p:sldId id="340" r:id="rId20"/>
    <p:sldId id="341" r:id="rId21"/>
    <p:sldId id="342" r:id="rId22"/>
    <p:sldId id="343" r:id="rId23"/>
    <p:sldId id="344" r:id="rId24"/>
    <p:sldId id="345" r:id="rId25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1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95" roundtripDataSignature="AMtx7mhxzHDQWahtqbKrhQ75A4M2Zh4ko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7311531-59A6-40C9-9B32-C4B225F16D51}">
  <a:tblStyle styleId="{A7311531-59A6-40C9-9B32-C4B225F16D5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1400" y="40"/>
      </p:cViewPr>
      <p:guideLst>
        <p:guide orient="horz" pos="2160"/>
        <p:guide pos="288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9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9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9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95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9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" name="Google Shape;4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" name="Google Shape;5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</p:txBody>
      </p:sp>
      <p:sp>
        <p:nvSpPr>
          <p:cNvPr id="58" name="Google Shape;58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66" descr="LOGO.gif"/>
          <p:cNvPicPr preferRelativeResize="0"/>
          <p:nvPr/>
        </p:nvPicPr>
        <p:blipFill rotWithShape="1">
          <a:blip r:embed="rId2">
            <a:alphaModFix/>
          </a:blip>
          <a:srcRect b="10713"/>
          <a:stretch/>
        </p:blipFill>
        <p:spPr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" name="Google Shape;26;p66"/>
          <p:cNvGrpSpPr/>
          <p:nvPr/>
        </p:nvGrpSpPr>
        <p:grpSpPr>
          <a:xfrm>
            <a:off x="6146800" y="0"/>
            <a:ext cx="2997200" cy="876300"/>
            <a:chOff x="6096000" y="3924300"/>
            <a:chExt cx="2997200" cy="876300"/>
          </a:xfrm>
        </p:grpSpPr>
        <p:sp>
          <p:nvSpPr>
            <p:cNvPr id="27" name="Google Shape;27;p66"/>
            <p:cNvSpPr/>
            <p:nvPr/>
          </p:nvSpPr>
          <p:spPr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8" name="Google Shape;28;p66" descr="LOGO.gif"/>
            <p:cNvPicPr preferRelativeResize="0"/>
            <p:nvPr/>
          </p:nvPicPr>
          <p:blipFill rotWithShape="1">
            <a:blip r:embed="rId2">
              <a:alphaModFix/>
            </a:blip>
            <a:srcRect b="10713"/>
            <a:stretch/>
          </p:blipFill>
          <p:spPr>
            <a:xfrm>
              <a:off x="6502400" y="4152900"/>
              <a:ext cx="2057400" cy="635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Google Shape;29;p66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0" name="Google Shape;30;p66" descr="logo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53200" y="228600"/>
            <a:ext cx="192087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66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6"/>
          <p:cNvSpPr txBox="1">
            <a:spLocks noGrp="1"/>
          </p:cNvSpPr>
          <p:nvPr>
            <p:ph type="body" idx="1"/>
          </p:nvPr>
        </p:nvSpPr>
        <p:spPr>
          <a:xfrm>
            <a:off x="457200" y="13716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83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683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3683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3683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3683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»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6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6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7"/>
          <p:cNvSpPr txBox="1">
            <a:spLocks noGrp="1"/>
          </p:cNvSpPr>
          <p:nvPr>
            <p:ph type="ctrTitle"/>
          </p:nvPr>
        </p:nvSpPr>
        <p:spPr>
          <a:xfrm>
            <a:off x="0" y="1"/>
            <a:ext cx="5486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7"/>
          <p:cNvSpPr txBox="1">
            <a:spLocks noGrp="1"/>
          </p:cNvSpPr>
          <p:nvPr>
            <p:ph type="subTitle" idx="1"/>
          </p:nvPr>
        </p:nvSpPr>
        <p:spPr>
          <a:xfrm>
            <a:off x="533400" y="1371600"/>
            <a:ext cx="8153400" cy="47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9" name="Google Shape;39;p6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6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5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65"/>
          <p:cNvSpPr txBox="1">
            <a:spLocks noGrp="1"/>
          </p:cNvSpPr>
          <p:nvPr>
            <p:ph type="body" idx="1"/>
          </p:nvPr>
        </p:nvSpPr>
        <p:spPr>
          <a:xfrm>
            <a:off x="457200" y="13716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6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6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p65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65"/>
          <p:cNvSpPr/>
          <p:nvPr/>
        </p:nvSpPr>
        <p:spPr>
          <a:xfrm rot="10800000" flipH="1">
            <a:off x="0" y="6705600"/>
            <a:ext cx="9144000" cy="19811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" name="Google Shape;17;p65" descr="LOGO.gif"/>
          <p:cNvPicPr preferRelativeResize="0"/>
          <p:nvPr/>
        </p:nvPicPr>
        <p:blipFill rotWithShape="1">
          <a:blip r:embed="rId4">
            <a:alphaModFix/>
          </a:blip>
          <a:srcRect b="10713"/>
          <a:stretch/>
        </p:blipFill>
        <p:spPr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65" descr="LOGO.gif"/>
          <p:cNvPicPr preferRelativeResize="0"/>
          <p:nvPr/>
        </p:nvPicPr>
        <p:blipFill rotWithShape="1">
          <a:blip r:embed="rId4">
            <a:alphaModFix/>
          </a:blip>
          <a:srcRect b="10713"/>
          <a:stretch/>
        </p:blipFill>
        <p:spPr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" name="Google Shape;19;p65"/>
          <p:cNvGrpSpPr/>
          <p:nvPr/>
        </p:nvGrpSpPr>
        <p:grpSpPr>
          <a:xfrm>
            <a:off x="6146800" y="0"/>
            <a:ext cx="2997200" cy="876300"/>
            <a:chOff x="6096000" y="3924300"/>
            <a:chExt cx="2997200" cy="876300"/>
          </a:xfrm>
        </p:grpSpPr>
        <p:sp>
          <p:nvSpPr>
            <p:cNvPr id="20" name="Google Shape;20;p65"/>
            <p:cNvSpPr/>
            <p:nvPr/>
          </p:nvSpPr>
          <p:spPr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1" name="Google Shape;21;p65" descr="LOGO.gif"/>
            <p:cNvPicPr preferRelativeResize="0"/>
            <p:nvPr/>
          </p:nvPicPr>
          <p:blipFill rotWithShape="1">
            <a:blip r:embed="rId4">
              <a:alphaModFix/>
            </a:blip>
            <a:srcRect b="10713"/>
            <a:stretch/>
          </p:blipFill>
          <p:spPr>
            <a:xfrm>
              <a:off x="6502400" y="4152900"/>
              <a:ext cx="2057400" cy="635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" name="Google Shape;22;p65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3" name="Google Shape;23;p65" descr="logo.jp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53200" y="228600"/>
            <a:ext cx="1920875" cy="6096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"/>
          <p:cNvSpPr txBox="1"/>
          <p:nvPr/>
        </p:nvSpPr>
        <p:spPr>
          <a:xfrm>
            <a:off x="152400" y="914400"/>
            <a:ext cx="8763000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331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dirty="0">
                <a:solidFill>
                  <a:srgbClr val="3A30F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Structure in C</a:t>
            </a:r>
            <a:endParaRPr sz="6000" b="1" dirty="0">
              <a:solidFill>
                <a:srgbClr val="3A30F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" name="Google Shape;52;p1"/>
          <p:cNvSpPr txBox="1"/>
          <p:nvPr/>
        </p:nvSpPr>
        <p:spPr>
          <a:xfrm>
            <a:off x="1905000" y="4953000"/>
            <a:ext cx="4762500" cy="64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Faculty Name</a:t>
            </a:r>
            <a:endParaRPr sz="24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" name="Google Shape;53;p1"/>
          <p:cNvSpPr txBox="1"/>
          <p:nvPr/>
        </p:nvSpPr>
        <p:spPr>
          <a:xfrm>
            <a:off x="1676400" y="5599331"/>
            <a:ext cx="61722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Engineering</a:t>
            </a:r>
            <a:endParaRPr sz="18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Chitkara University, Punjab</a:t>
            </a:r>
            <a:endParaRPr sz="18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" name="Google Shape;54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5DD67-CB36-D0F1-C9F4-68E9AFCBF5F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Sub Topics Covered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ACAC32-B481-BC60-5097-91F7A3C615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Understand what structures are in C.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Learn to define and declare structures.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Explore structure variable initialization.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Access and manipulate structure members.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Work with arrays of structures and nested structures.</a:t>
            </a:r>
          </a:p>
          <a:p>
            <a:pPr algn="l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6FC01F-42BB-DF45-85DD-06DB887380C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0455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"/>
          <p:cNvSpPr txBox="1"/>
          <p:nvPr/>
        </p:nvSpPr>
        <p:spPr>
          <a:xfrm>
            <a:off x="0" y="0"/>
            <a:ext cx="8352245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IN" sz="4000" b="1" dirty="0"/>
              <a:t>Introduction to Structures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9CBB0CE-901A-93C3-A6D8-8B5DB3C63D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153" y="1617107"/>
            <a:ext cx="12250432" cy="4051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65A7BE8D-D1E2-2900-33D7-CCF8F2E567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934" y="1081042"/>
            <a:ext cx="9380306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Definition: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Structures allow grouping of variables of different types under a single name.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They provide a way to store and organize complex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2276F3-6814-A272-E174-22128B9DB66F}"/>
              </a:ext>
            </a:extLst>
          </p:cNvPr>
          <p:cNvSpPr txBox="1"/>
          <p:nvPr/>
        </p:nvSpPr>
        <p:spPr>
          <a:xfrm>
            <a:off x="349322" y="2832825"/>
            <a:ext cx="645217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tx1"/>
                </a:solidFill>
              </a:rPr>
              <a:t>Syntax</a:t>
            </a:r>
          </a:p>
          <a:p>
            <a:r>
              <a:rPr lang="en-IN" sz="2000" dirty="0">
                <a:solidFill>
                  <a:schemeClr val="tx1"/>
                </a:solidFill>
              </a:rPr>
              <a:t>struct </a:t>
            </a:r>
            <a:r>
              <a:rPr lang="en-IN" sz="2000" dirty="0" err="1">
                <a:solidFill>
                  <a:schemeClr val="tx1"/>
                </a:solidFill>
              </a:rPr>
              <a:t>StructName</a:t>
            </a:r>
            <a:r>
              <a:rPr lang="en-IN" sz="2000" dirty="0">
                <a:solidFill>
                  <a:schemeClr val="tx1"/>
                </a:solidFill>
              </a:rPr>
              <a:t> </a:t>
            </a:r>
          </a:p>
          <a:p>
            <a:r>
              <a:rPr lang="en-IN" sz="2000" dirty="0">
                <a:solidFill>
                  <a:schemeClr val="tx1"/>
                </a:solidFill>
              </a:rPr>
              <a:t>     {    </a:t>
            </a:r>
          </a:p>
          <a:p>
            <a:r>
              <a:rPr lang="en-IN" sz="2000" dirty="0">
                <a:solidFill>
                  <a:schemeClr val="tx1"/>
                </a:solidFill>
              </a:rPr>
              <a:t>         </a:t>
            </a:r>
            <a:r>
              <a:rPr lang="en-IN" sz="2000" dirty="0" err="1">
                <a:solidFill>
                  <a:schemeClr val="tx1"/>
                </a:solidFill>
              </a:rPr>
              <a:t>data_type</a:t>
            </a:r>
            <a:r>
              <a:rPr lang="en-IN" sz="2000" dirty="0">
                <a:solidFill>
                  <a:schemeClr val="tx1"/>
                </a:solidFill>
              </a:rPr>
              <a:t> member1;    </a:t>
            </a:r>
          </a:p>
          <a:p>
            <a:r>
              <a:rPr lang="en-IN" sz="2000" dirty="0">
                <a:solidFill>
                  <a:schemeClr val="tx1"/>
                </a:solidFill>
              </a:rPr>
              <a:t>         </a:t>
            </a:r>
            <a:r>
              <a:rPr lang="en-IN" sz="2000" dirty="0" err="1">
                <a:solidFill>
                  <a:schemeClr val="tx1"/>
                </a:solidFill>
              </a:rPr>
              <a:t>data_type</a:t>
            </a:r>
            <a:r>
              <a:rPr lang="en-IN" sz="2000" dirty="0">
                <a:solidFill>
                  <a:schemeClr val="tx1"/>
                </a:solidFill>
              </a:rPr>
              <a:t> member2;    </a:t>
            </a:r>
          </a:p>
          <a:p>
            <a:r>
              <a:rPr lang="en-IN" sz="2000" dirty="0">
                <a:solidFill>
                  <a:schemeClr val="tx1"/>
                </a:solidFill>
              </a:rPr>
              <a:t>         // Other members</a:t>
            </a:r>
          </a:p>
          <a:p>
            <a:r>
              <a:rPr lang="en-IN" sz="2000" dirty="0">
                <a:solidFill>
                  <a:schemeClr val="tx1"/>
                </a:solidFill>
              </a:rPr>
              <a:t>};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64D13C-0B63-FC96-5BAE-09CC3187DBC3}"/>
              </a:ext>
            </a:extLst>
          </p:cNvPr>
          <p:cNvSpPr txBox="1"/>
          <p:nvPr/>
        </p:nvSpPr>
        <p:spPr>
          <a:xfrm>
            <a:off x="4417888" y="2832825"/>
            <a:ext cx="506516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Example</a:t>
            </a:r>
          </a:p>
          <a:p>
            <a:r>
              <a:rPr lang="en-IN" sz="2000" dirty="0"/>
              <a:t>struct Student </a:t>
            </a:r>
          </a:p>
          <a:p>
            <a:r>
              <a:rPr lang="en-IN" sz="2000" dirty="0"/>
              <a:t>   {    </a:t>
            </a:r>
          </a:p>
          <a:p>
            <a:r>
              <a:rPr lang="en-IN" sz="2000" dirty="0"/>
              <a:t>       int </a:t>
            </a:r>
            <a:r>
              <a:rPr lang="en-IN" sz="2000" dirty="0" err="1"/>
              <a:t>rollNo</a:t>
            </a:r>
            <a:r>
              <a:rPr lang="en-IN" sz="2000" dirty="0"/>
              <a:t>;    </a:t>
            </a:r>
          </a:p>
          <a:p>
            <a:r>
              <a:rPr lang="en-IN" sz="2000" dirty="0"/>
              <a:t>       char name[50];    </a:t>
            </a:r>
          </a:p>
          <a:p>
            <a:r>
              <a:rPr lang="en-IN" sz="2000" dirty="0"/>
              <a:t>       float marks;</a:t>
            </a:r>
          </a:p>
          <a:p>
            <a:r>
              <a:rPr lang="en-IN" sz="2000" dirty="0"/>
              <a:t>   };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65F25-4490-9349-7AA5-A7AAB77423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Definition and Declaration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C0C6C8-5D79-E52F-3C83-079A68D567C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2D614963-98AD-CDCF-EB74-A4395DFF19E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553948" y="1305341"/>
            <a:ext cx="6946132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Declaration: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Declare structure variables separately after defining the structure.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 Example: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struct Student s1, s2;</a:t>
            </a: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en-US" sz="18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IN" sz="1800" b="1" dirty="0">
                <a:solidFill>
                  <a:schemeClr val="tx1"/>
                </a:solidFill>
                <a:latin typeface="Arial" panose="020B0604020202020204" pitchFamily="34" charset="0"/>
              </a:rPr>
              <a:t>Combined Definition and Declaration: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struct Student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{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int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rollNo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;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char name[50];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float marks;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} s1, s2;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47540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C7243-633C-E44B-9342-C8EA9EC55EB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When Memory is allocated?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C4A988-8AD4-90E0-9793-5647D08025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2982" y="806521"/>
            <a:ext cx="8153400" cy="4724400"/>
          </a:xfrm>
        </p:spPr>
        <p:txBody>
          <a:bodyPr/>
          <a:lstStyle/>
          <a:p>
            <a:pPr algn="just" eaLnBrk="1" hangingPunct="1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</a:rPr>
              <a:t>A structure is same as that of records. It stores related information about an entity. </a:t>
            </a:r>
          </a:p>
          <a:p>
            <a:pPr algn="just" eaLnBrk="1" hangingPunct="1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</a:rPr>
              <a:t>Structure is basically a user defined data type that can store related information (even of different data types) together. </a:t>
            </a:r>
          </a:p>
          <a:p>
            <a:pPr algn="just" eaLnBrk="1" hangingPunct="1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</a:rPr>
              <a:t>A structure is declared using the keyword struct followed by a structure name. All the variables of the structures are declared within the structure. A structure type is defined by using the given syntax.</a:t>
            </a:r>
          </a:p>
          <a:p>
            <a:pPr algn="just" eaLnBrk="1" hangingPunct="1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</a:rPr>
              <a:t>The structure definition does not allocate any memory.  It just gives a template that conveys to the C compiler how the structure is laid out in memory and gives details of the member names. Memory is allocated for the structure when we declare a variable of the structure. For ex, we can define a variable of student by writing</a:t>
            </a:r>
          </a:p>
          <a:p>
            <a:pPr algn="just" eaLnBrk="1" hangingPunct="1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</a:rPr>
              <a:t>	struct student stud1; </a:t>
            </a:r>
          </a:p>
          <a:p>
            <a:pPr algn="l"/>
            <a:endParaRPr lang="en-IN" sz="2000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A35148-43BB-BE91-98D0-6F8A02A0058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4238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B6799-4223-D973-A181-F1E3BDBA069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Let’s have look at sample code 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478382-6547-2486-8133-C06172939E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5997" y="719192"/>
            <a:ext cx="8153400" cy="4724400"/>
          </a:xfrm>
        </p:spPr>
        <p:txBody>
          <a:bodyPr/>
          <a:lstStyle/>
          <a:p>
            <a:pPr algn="l"/>
            <a:r>
              <a:rPr lang="en-IN" sz="1900" dirty="0">
                <a:solidFill>
                  <a:schemeClr val="tx1"/>
                </a:solidFill>
              </a:rPr>
              <a:t>struct Student </a:t>
            </a:r>
          </a:p>
          <a:p>
            <a:pPr algn="l"/>
            <a:r>
              <a:rPr lang="en-IN" sz="1900" dirty="0">
                <a:solidFill>
                  <a:schemeClr val="tx1"/>
                </a:solidFill>
              </a:rPr>
              <a:t>{    </a:t>
            </a:r>
          </a:p>
          <a:p>
            <a:pPr algn="l"/>
            <a:r>
              <a:rPr lang="en-IN" sz="1900" dirty="0">
                <a:solidFill>
                  <a:schemeClr val="tx1"/>
                </a:solidFill>
              </a:rPr>
              <a:t>int </a:t>
            </a:r>
            <a:r>
              <a:rPr lang="en-IN" sz="1900" dirty="0" err="1">
                <a:solidFill>
                  <a:schemeClr val="tx1"/>
                </a:solidFill>
              </a:rPr>
              <a:t>rollNo</a:t>
            </a:r>
            <a:r>
              <a:rPr lang="en-IN" sz="1900" dirty="0">
                <a:solidFill>
                  <a:schemeClr val="tx1"/>
                </a:solidFill>
              </a:rPr>
              <a:t>;  </a:t>
            </a:r>
          </a:p>
          <a:p>
            <a:pPr algn="l"/>
            <a:r>
              <a:rPr lang="en-IN" sz="1900" dirty="0">
                <a:solidFill>
                  <a:schemeClr val="tx1"/>
                </a:solidFill>
              </a:rPr>
              <a:t> char name[50];    </a:t>
            </a:r>
          </a:p>
          <a:p>
            <a:pPr algn="l"/>
            <a:r>
              <a:rPr lang="en-IN" sz="1900" dirty="0">
                <a:solidFill>
                  <a:schemeClr val="tx1"/>
                </a:solidFill>
              </a:rPr>
              <a:t>float marks;</a:t>
            </a:r>
          </a:p>
          <a:p>
            <a:pPr algn="l"/>
            <a:r>
              <a:rPr lang="en-IN" sz="1900" dirty="0">
                <a:solidFill>
                  <a:schemeClr val="tx1"/>
                </a:solidFill>
              </a:rPr>
              <a:t>};</a:t>
            </a:r>
          </a:p>
          <a:p>
            <a:pPr algn="l"/>
            <a:r>
              <a:rPr lang="en-IN" sz="1900" dirty="0">
                <a:solidFill>
                  <a:schemeClr val="tx1"/>
                </a:solidFill>
              </a:rPr>
              <a:t>int main() </a:t>
            </a:r>
          </a:p>
          <a:p>
            <a:pPr algn="l"/>
            <a:r>
              <a:rPr lang="en-IN" sz="1900" dirty="0">
                <a:solidFill>
                  <a:schemeClr val="tx1"/>
                </a:solidFill>
              </a:rPr>
              <a:t>{    </a:t>
            </a:r>
          </a:p>
          <a:p>
            <a:pPr algn="l"/>
            <a:r>
              <a:rPr lang="en-IN" sz="1900" dirty="0">
                <a:solidFill>
                  <a:schemeClr val="tx1"/>
                </a:solidFill>
              </a:rPr>
              <a:t>struct Student s1;   </a:t>
            </a:r>
          </a:p>
          <a:p>
            <a:pPr algn="l"/>
            <a:r>
              <a:rPr lang="en-IN" sz="1900" dirty="0">
                <a:solidFill>
                  <a:schemeClr val="tx1"/>
                </a:solidFill>
              </a:rPr>
              <a:t> s1.rollNo = 101; </a:t>
            </a:r>
          </a:p>
          <a:p>
            <a:pPr algn="l"/>
            <a:r>
              <a:rPr lang="en-IN" sz="1900" dirty="0">
                <a:solidFill>
                  <a:schemeClr val="tx1"/>
                </a:solidFill>
              </a:rPr>
              <a:t> </a:t>
            </a:r>
            <a:r>
              <a:rPr lang="en-IN" sz="1900" dirty="0" err="1">
                <a:solidFill>
                  <a:schemeClr val="tx1"/>
                </a:solidFill>
              </a:rPr>
              <a:t>strcpy</a:t>
            </a:r>
            <a:r>
              <a:rPr lang="en-IN" sz="1900" dirty="0">
                <a:solidFill>
                  <a:schemeClr val="tx1"/>
                </a:solidFill>
              </a:rPr>
              <a:t>(s1.name, "John Doe");    </a:t>
            </a:r>
          </a:p>
          <a:p>
            <a:pPr algn="l"/>
            <a:r>
              <a:rPr lang="en-IN" sz="1900" dirty="0">
                <a:solidFill>
                  <a:schemeClr val="tx1"/>
                </a:solidFill>
              </a:rPr>
              <a:t>s1.marks = 85.5;    </a:t>
            </a:r>
          </a:p>
          <a:p>
            <a:pPr algn="l"/>
            <a:r>
              <a:rPr lang="en-IN" sz="1900" dirty="0" err="1">
                <a:solidFill>
                  <a:schemeClr val="tx1"/>
                </a:solidFill>
              </a:rPr>
              <a:t>printf</a:t>
            </a:r>
            <a:r>
              <a:rPr lang="en-IN" sz="1900" dirty="0">
                <a:solidFill>
                  <a:schemeClr val="tx1"/>
                </a:solidFill>
              </a:rPr>
              <a:t>("Roll No: %d\n", s1.rollNo);    </a:t>
            </a:r>
          </a:p>
          <a:p>
            <a:pPr algn="l"/>
            <a:r>
              <a:rPr lang="en-IN" sz="1900" dirty="0" err="1">
                <a:solidFill>
                  <a:schemeClr val="tx1"/>
                </a:solidFill>
              </a:rPr>
              <a:t>printf</a:t>
            </a:r>
            <a:r>
              <a:rPr lang="en-IN" sz="1900" dirty="0">
                <a:solidFill>
                  <a:schemeClr val="tx1"/>
                </a:solidFill>
              </a:rPr>
              <a:t>("Name: %s\n", s1.name);    </a:t>
            </a:r>
          </a:p>
          <a:p>
            <a:pPr algn="l"/>
            <a:r>
              <a:rPr lang="en-IN" sz="1900" dirty="0" err="1">
                <a:solidFill>
                  <a:schemeClr val="tx1"/>
                </a:solidFill>
              </a:rPr>
              <a:t>printf</a:t>
            </a:r>
            <a:r>
              <a:rPr lang="en-IN" sz="1900" dirty="0">
                <a:solidFill>
                  <a:schemeClr val="tx1"/>
                </a:solidFill>
              </a:rPr>
              <a:t>("Marks: %.2f\n", s1.marks);    </a:t>
            </a:r>
          </a:p>
          <a:p>
            <a:pPr algn="l"/>
            <a:r>
              <a:rPr lang="en-IN" sz="1900" dirty="0">
                <a:solidFill>
                  <a:schemeClr val="tx1"/>
                </a:solidFill>
              </a:rPr>
              <a:t>return 0;}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8AC07E-04B8-F264-0E27-B42050F9B4C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C91126-1BCF-45D6-43AF-C5108339F6B8}"/>
              </a:ext>
            </a:extLst>
          </p:cNvPr>
          <p:cNvSpPr txBox="1"/>
          <p:nvPr/>
        </p:nvSpPr>
        <p:spPr>
          <a:xfrm>
            <a:off x="5748390" y="3667874"/>
            <a:ext cx="2661007" cy="155427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1900" dirty="0">
                <a:solidFill>
                  <a:schemeClr val="bg1"/>
                </a:solidFill>
              </a:rPr>
              <a:t>Output:</a:t>
            </a:r>
          </a:p>
          <a:p>
            <a:endParaRPr lang="en-US" sz="1900" dirty="0">
              <a:solidFill>
                <a:schemeClr val="bg1"/>
              </a:solidFill>
            </a:endParaRPr>
          </a:p>
          <a:p>
            <a:r>
              <a:rPr lang="en-US" sz="1900" dirty="0">
                <a:solidFill>
                  <a:schemeClr val="bg1"/>
                </a:solidFill>
              </a:rPr>
              <a:t>Roll No: 101</a:t>
            </a:r>
          </a:p>
          <a:p>
            <a:r>
              <a:rPr lang="en-US" sz="1900" dirty="0">
                <a:solidFill>
                  <a:schemeClr val="bg1"/>
                </a:solidFill>
              </a:rPr>
              <a:t>Name: John Doe</a:t>
            </a:r>
          </a:p>
          <a:p>
            <a:r>
              <a:rPr lang="en-US" sz="1900" dirty="0">
                <a:solidFill>
                  <a:schemeClr val="bg1"/>
                </a:solidFill>
              </a:rPr>
              <a:t>Marks: 85.50</a:t>
            </a:r>
            <a:endParaRPr lang="en-IN" sz="1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1222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FEAB9-773A-263D-6D26-6F5800B6F8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1"/>
            <a:ext cx="6174769" cy="914400"/>
          </a:xfrm>
        </p:spPr>
        <p:txBody>
          <a:bodyPr/>
          <a:lstStyle/>
          <a:p>
            <a:r>
              <a:rPr lang="en-US" altLang="en-US" sz="3200" dirty="0">
                <a:solidFill>
                  <a:srgbClr val="002060"/>
                </a:solidFill>
              </a:rPr>
              <a:t>TYPE DEF DECLARATIONS 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AD4021-20CE-AE85-A0BC-1F09C690F3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9288" y="827069"/>
            <a:ext cx="8307512" cy="5666197"/>
          </a:xfrm>
        </p:spPr>
        <p:txBody>
          <a:bodyPr/>
          <a:lstStyle/>
          <a:p>
            <a:pPr marL="0" indent="0" algn="l" eaLnBrk="1" hangingPunct="1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en-US" altLang="en-US" sz="1800" dirty="0">
                <a:solidFill>
                  <a:schemeClr val="tx1"/>
                </a:solidFill>
              </a:rPr>
              <a:t>When we precede a struct name with typedef keyword, then the struct becomes a new type. It is used to make the construct shorter with more meaningful names for types already defined by C or for types that you have declared. With a typedef declaration, becomes a synonym for the type. </a:t>
            </a:r>
          </a:p>
          <a:p>
            <a:pPr marL="0" indent="0" algn="l" eaLnBrk="1" hangingPunct="1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en-US" altLang="en-US" sz="1800" dirty="0">
                <a:solidFill>
                  <a:schemeClr val="tx1"/>
                </a:solidFill>
              </a:rPr>
              <a:t>For example, writing</a:t>
            </a:r>
          </a:p>
          <a:p>
            <a:pPr marL="0" indent="0" algn="l" eaLnBrk="1" hangingPunct="1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en-US" altLang="en-US" sz="1800" b="1" dirty="0">
                <a:solidFill>
                  <a:schemeClr val="tx1"/>
                </a:solidFill>
              </a:rPr>
              <a:t>typedef struct student</a:t>
            </a:r>
          </a:p>
          <a:p>
            <a:pPr marL="0" indent="0" algn="l" eaLnBrk="1" hangingPunct="1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en-US" altLang="en-US" sz="1800" b="1" dirty="0">
                <a:solidFill>
                  <a:schemeClr val="tx1"/>
                </a:solidFill>
              </a:rPr>
              <a:t>{</a:t>
            </a:r>
          </a:p>
          <a:p>
            <a:pPr marL="0" indent="0" algn="l" eaLnBrk="1" hangingPunct="1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en-US" altLang="en-US" sz="1800" b="1" dirty="0">
                <a:solidFill>
                  <a:schemeClr val="tx1"/>
                </a:solidFill>
              </a:rPr>
              <a:t>	int </a:t>
            </a:r>
            <a:r>
              <a:rPr lang="en-US" altLang="en-US" sz="1800" b="1" dirty="0" err="1">
                <a:solidFill>
                  <a:schemeClr val="tx1"/>
                </a:solidFill>
              </a:rPr>
              <a:t>r_no</a:t>
            </a:r>
            <a:r>
              <a:rPr lang="en-US" altLang="en-US" sz="1800" b="1" dirty="0">
                <a:solidFill>
                  <a:schemeClr val="tx1"/>
                </a:solidFill>
              </a:rPr>
              <a:t>;</a:t>
            </a:r>
          </a:p>
          <a:p>
            <a:pPr marL="0" indent="0" algn="l" eaLnBrk="1" hangingPunct="1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en-US" altLang="en-US" sz="1800" b="1" dirty="0">
                <a:solidFill>
                  <a:schemeClr val="tx1"/>
                </a:solidFill>
              </a:rPr>
              <a:t>	char name[20];</a:t>
            </a:r>
          </a:p>
          <a:p>
            <a:pPr marL="0" indent="0" algn="l" eaLnBrk="1" hangingPunct="1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en-US" altLang="en-US" sz="1800" b="1" dirty="0">
                <a:solidFill>
                  <a:schemeClr val="tx1"/>
                </a:solidFill>
              </a:rPr>
              <a:t>	char course[20];</a:t>
            </a:r>
          </a:p>
          <a:p>
            <a:pPr marL="0" indent="0" algn="l" eaLnBrk="1" hangingPunct="1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en-US" altLang="en-US" sz="1800" b="1" dirty="0">
                <a:solidFill>
                  <a:schemeClr val="tx1"/>
                </a:solidFill>
              </a:rPr>
              <a:t>	float fees;</a:t>
            </a:r>
          </a:p>
          <a:p>
            <a:pPr marL="0" indent="0" algn="l" eaLnBrk="1" hangingPunct="1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en-US" altLang="en-US" sz="1800" b="1" dirty="0">
                <a:solidFill>
                  <a:schemeClr val="tx1"/>
                </a:solidFill>
              </a:rPr>
              <a:t>};</a:t>
            </a:r>
          </a:p>
          <a:p>
            <a:pPr algn="l"/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4FC005-677B-82BB-EC5F-035C86534C1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1CB11F-5F60-3E24-BAF2-2A9D4ED805BE}"/>
              </a:ext>
            </a:extLst>
          </p:cNvPr>
          <p:cNvSpPr txBox="1"/>
          <p:nvPr/>
        </p:nvSpPr>
        <p:spPr>
          <a:xfrm>
            <a:off x="4685016" y="3020602"/>
            <a:ext cx="3852809" cy="28284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just" eaLnBrk="1" hangingPunct="1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en-US" altLang="en-US" sz="1400" dirty="0">
                <a:solidFill>
                  <a:schemeClr val="tx1"/>
                </a:solidFill>
              </a:rPr>
              <a:t>Now that you have preceded the structure’s name with the keyword typedef, the student becomes a new data type. Therefore, now you can straight away declare variables of this new data type as you declare variables of type int, float, char, double, etc. to declare a variable of structure student you will just write,</a:t>
            </a:r>
          </a:p>
          <a:p>
            <a:pPr marL="0" indent="0" algn="just" eaLnBrk="1" hangingPunct="1">
              <a:lnSpc>
                <a:spcPct val="130000"/>
              </a:lnSpc>
              <a:buFont typeface="Arial" panose="020B0604020202020204" pitchFamily="34" charset="0"/>
              <a:buNone/>
            </a:pPr>
            <a:endParaRPr lang="en-US" altLang="en-US" sz="1400" dirty="0">
              <a:solidFill>
                <a:schemeClr val="tx1"/>
              </a:solidFill>
            </a:endParaRPr>
          </a:p>
          <a:p>
            <a:pPr marL="0" indent="0" algn="just" eaLnBrk="1" hangingPunct="1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en-US" altLang="en-US" sz="1400" b="1" dirty="0">
                <a:solidFill>
                  <a:schemeClr val="tx1"/>
                </a:solidFill>
              </a:rPr>
              <a:t>student stud1;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763807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B39B3-FCC1-7363-98D8-1E02B58928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410967" y="0"/>
            <a:ext cx="7243282" cy="914400"/>
          </a:xfrm>
        </p:spPr>
        <p:txBody>
          <a:bodyPr/>
          <a:lstStyle/>
          <a:p>
            <a:r>
              <a:rPr lang="en-US" sz="2400" b="1" dirty="0"/>
              <a:t>Accessing and Initializing Structure Members</a:t>
            </a:r>
            <a:br>
              <a:rPr lang="en-US" sz="2400" b="1" dirty="0"/>
            </a:br>
            <a:endParaRPr lang="en-IN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035115-5B5A-1A71-CA7D-A17CACD3EFB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F295494-547B-0DF9-7FD5-A5F9E32708C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553948" y="914400"/>
            <a:ext cx="6175625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Access Members: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Use the dot operator (.) to access structure members</a:t>
            </a: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8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Initialization at Declaration: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        struct Student s1 = {101, "John Doe", 85.5};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8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Example: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struct Student s1 = {102, "Jane Smith", 90.0};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printf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("Roll No: %d\n", s1.rollNo);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printf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("Name: %s\n", s1.name);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printf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("Marks: %.2f\n", s1.marks);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0341CD-9CB9-3B94-EB81-15F885FAB943}"/>
              </a:ext>
            </a:extLst>
          </p:cNvPr>
          <p:cNvSpPr txBox="1"/>
          <p:nvPr/>
        </p:nvSpPr>
        <p:spPr>
          <a:xfrm>
            <a:off x="5748390" y="3667874"/>
            <a:ext cx="2661007" cy="155427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1900" dirty="0">
                <a:solidFill>
                  <a:schemeClr val="bg1"/>
                </a:solidFill>
              </a:rPr>
              <a:t>Output:</a:t>
            </a:r>
          </a:p>
          <a:p>
            <a:endParaRPr lang="en-US" sz="1900" dirty="0">
              <a:solidFill>
                <a:schemeClr val="bg1"/>
              </a:solidFill>
            </a:endParaRPr>
          </a:p>
          <a:p>
            <a:r>
              <a:rPr lang="en-US" sz="1900" dirty="0">
                <a:solidFill>
                  <a:schemeClr val="bg1"/>
                </a:solidFill>
              </a:rPr>
              <a:t>Roll No: 102</a:t>
            </a:r>
          </a:p>
          <a:p>
            <a:r>
              <a:rPr lang="en-US" sz="1900" dirty="0">
                <a:solidFill>
                  <a:schemeClr val="bg1"/>
                </a:solidFill>
              </a:rPr>
              <a:t>Name: Jane Smith</a:t>
            </a:r>
          </a:p>
          <a:p>
            <a:r>
              <a:rPr lang="en-US" sz="1900" dirty="0">
                <a:solidFill>
                  <a:schemeClr val="bg1"/>
                </a:solidFill>
              </a:rPr>
              <a:t>Marks: 90.0</a:t>
            </a:r>
            <a:endParaRPr lang="en-IN" sz="1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17498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4B941-970D-D1C0-6302-8C36B155526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Array of Structures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219B82-2B44-DA75-A3AE-B771BDEE76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5300" y="1066800"/>
            <a:ext cx="8153400" cy="4724400"/>
          </a:xfrm>
        </p:spPr>
        <p:txBody>
          <a:bodyPr/>
          <a:lstStyle/>
          <a:p>
            <a:pPr marL="0" indent="0" algn="l"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en-US" sz="2400" dirty="0">
                <a:solidFill>
                  <a:schemeClr val="tx1"/>
                </a:solidFill>
              </a:rPr>
              <a:t>The general syntax for declaring an array of structure can be given as,</a:t>
            </a:r>
          </a:p>
          <a:p>
            <a:pPr marL="0" indent="0" algn="l"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en-US" sz="2400" b="1" dirty="0">
                <a:solidFill>
                  <a:schemeClr val="tx1"/>
                </a:solidFill>
              </a:rPr>
              <a:t>struct </a:t>
            </a:r>
            <a:r>
              <a:rPr lang="en-US" altLang="en-US" sz="2400" b="1" dirty="0" err="1">
                <a:solidFill>
                  <a:schemeClr val="tx1"/>
                </a:solidFill>
              </a:rPr>
              <a:t>struct_name</a:t>
            </a:r>
            <a:r>
              <a:rPr lang="en-US" altLang="en-US" sz="2400" b="1" dirty="0">
                <a:solidFill>
                  <a:schemeClr val="tx1"/>
                </a:solidFill>
              </a:rPr>
              <a:t> </a:t>
            </a:r>
            <a:r>
              <a:rPr lang="en-US" altLang="en-US" sz="2400" b="1" dirty="0" err="1">
                <a:solidFill>
                  <a:schemeClr val="tx1"/>
                </a:solidFill>
              </a:rPr>
              <a:t>struct_var</a:t>
            </a:r>
            <a:r>
              <a:rPr lang="en-US" altLang="en-US" sz="2400" b="1" dirty="0">
                <a:solidFill>
                  <a:schemeClr val="tx1"/>
                </a:solidFill>
              </a:rPr>
              <a:t>[index];</a:t>
            </a:r>
          </a:p>
          <a:p>
            <a:pPr marL="0" indent="0" algn="l"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en-US" sz="2400" dirty="0">
                <a:solidFill>
                  <a:schemeClr val="tx1"/>
                </a:solidFill>
              </a:rPr>
              <a:t>struct student stud[30];</a:t>
            </a:r>
          </a:p>
          <a:p>
            <a:pPr marL="0" indent="0" algn="l"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en-US" sz="2400" i="1" dirty="0">
                <a:solidFill>
                  <a:schemeClr val="tx1"/>
                </a:solidFill>
              </a:rPr>
              <a:t>Now, to assign values to the </a:t>
            </a:r>
            <a:r>
              <a:rPr lang="en-US" altLang="en-US" sz="2400" i="1" dirty="0" err="1">
                <a:solidFill>
                  <a:schemeClr val="tx1"/>
                </a:solidFill>
              </a:rPr>
              <a:t>i</a:t>
            </a:r>
            <a:r>
              <a:rPr lang="en-US" altLang="en-US" sz="2400" i="1" baseline="30000" dirty="0" err="1">
                <a:solidFill>
                  <a:schemeClr val="tx1"/>
                </a:solidFill>
              </a:rPr>
              <a:t>th</a:t>
            </a:r>
            <a:r>
              <a:rPr lang="en-US" altLang="en-US" sz="2400" i="1" dirty="0">
                <a:solidFill>
                  <a:schemeClr val="tx1"/>
                </a:solidFill>
              </a:rPr>
              <a:t> student of the class, we will write,</a:t>
            </a:r>
          </a:p>
          <a:p>
            <a:pPr marL="0" indent="0" algn="l"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en-US" sz="2400" dirty="0">
                <a:solidFill>
                  <a:schemeClr val="tx1"/>
                </a:solidFill>
              </a:rPr>
              <a:t>stud[</a:t>
            </a:r>
            <a:r>
              <a:rPr lang="en-US" altLang="en-US" sz="2400" dirty="0" err="1">
                <a:solidFill>
                  <a:schemeClr val="tx1"/>
                </a:solidFill>
              </a:rPr>
              <a:t>i</a:t>
            </a:r>
            <a:r>
              <a:rPr lang="en-US" altLang="en-US" sz="2400" dirty="0">
                <a:solidFill>
                  <a:schemeClr val="tx1"/>
                </a:solidFill>
              </a:rPr>
              <a:t>].</a:t>
            </a:r>
            <a:r>
              <a:rPr lang="en-US" altLang="en-US" sz="2400" dirty="0" err="1">
                <a:solidFill>
                  <a:schemeClr val="tx1"/>
                </a:solidFill>
              </a:rPr>
              <a:t>r_no</a:t>
            </a:r>
            <a:r>
              <a:rPr lang="en-US" altLang="en-US" sz="2400" dirty="0">
                <a:solidFill>
                  <a:schemeClr val="tx1"/>
                </a:solidFill>
              </a:rPr>
              <a:t> = 09;</a:t>
            </a:r>
          </a:p>
          <a:p>
            <a:pPr marL="0" indent="0" algn="l"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en-US" sz="2400" dirty="0">
                <a:solidFill>
                  <a:schemeClr val="tx1"/>
                </a:solidFill>
              </a:rPr>
              <a:t>stud[</a:t>
            </a:r>
            <a:r>
              <a:rPr lang="en-US" altLang="en-US" sz="2400" dirty="0" err="1">
                <a:solidFill>
                  <a:schemeClr val="tx1"/>
                </a:solidFill>
              </a:rPr>
              <a:t>i</a:t>
            </a:r>
            <a:r>
              <a:rPr lang="en-US" altLang="en-US" sz="2400" dirty="0">
                <a:solidFill>
                  <a:schemeClr val="tx1"/>
                </a:solidFill>
              </a:rPr>
              <a:t>].name = “RASHI”;</a:t>
            </a:r>
          </a:p>
          <a:p>
            <a:pPr marL="0" indent="0" algn="l"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en-US" sz="2400" dirty="0">
                <a:solidFill>
                  <a:schemeClr val="tx1"/>
                </a:solidFill>
              </a:rPr>
              <a:t>stud[</a:t>
            </a:r>
            <a:r>
              <a:rPr lang="en-US" altLang="en-US" sz="2400" dirty="0" err="1">
                <a:solidFill>
                  <a:schemeClr val="tx1"/>
                </a:solidFill>
              </a:rPr>
              <a:t>i</a:t>
            </a:r>
            <a:r>
              <a:rPr lang="en-US" altLang="en-US" sz="2400" dirty="0">
                <a:solidFill>
                  <a:schemeClr val="tx1"/>
                </a:solidFill>
              </a:rPr>
              <a:t>].course = “MCA”;</a:t>
            </a:r>
          </a:p>
          <a:p>
            <a:pPr marL="0" indent="0" algn="l"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en-US" sz="2400" dirty="0">
                <a:solidFill>
                  <a:schemeClr val="tx1"/>
                </a:solidFill>
              </a:rPr>
              <a:t>stud[</a:t>
            </a:r>
            <a:r>
              <a:rPr lang="en-US" altLang="en-US" sz="2400" dirty="0" err="1">
                <a:solidFill>
                  <a:schemeClr val="tx1"/>
                </a:solidFill>
              </a:rPr>
              <a:t>i</a:t>
            </a:r>
            <a:r>
              <a:rPr lang="en-US" altLang="en-US" sz="2400" dirty="0">
                <a:solidFill>
                  <a:schemeClr val="tx1"/>
                </a:solidFill>
              </a:rPr>
              <a:t>].fees = 60000;</a:t>
            </a:r>
          </a:p>
          <a:p>
            <a:pPr algn="l"/>
            <a:endParaRPr lang="en-IN" sz="2400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F2D61A-F36A-ADD2-86E8-233E7905314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2787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A16C7-CA91-8306-4CC7-98D213AA17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/>
              <a:t>Array of Structures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734CB9-F988-C48B-2F0D-E32B9A4A86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9013" y="1309955"/>
            <a:ext cx="8153400" cy="4724400"/>
          </a:xfrm>
        </p:spPr>
        <p:txBody>
          <a:bodyPr/>
          <a:lstStyle/>
          <a:p>
            <a:pPr marL="457200" lvl="1" indent="0" algn="l"/>
            <a:r>
              <a:rPr lang="en-US" sz="2200" dirty="0">
                <a:solidFill>
                  <a:schemeClr val="tx1"/>
                </a:solidFill>
              </a:rPr>
              <a:t>Store multiple records using an array of structures.</a:t>
            </a:r>
          </a:p>
          <a:p>
            <a:pPr marL="457200" lvl="1" indent="0" algn="l"/>
            <a:r>
              <a:rPr lang="en-US" sz="2200" b="1" dirty="0">
                <a:solidFill>
                  <a:schemeClr val="tx1"/>
                </a:solidFill>
              </a:rPr>
              <a:t>Syntax: </a:t>
            </a:r>
          </a:p>
          <a:p>
            <a:pPr marL="457200" lvl="1" indent="0" algn="l"/>
            <a:r>
              <a:rPr lang="en-US" sz="2200" dirty="0">
                <a:solidFill>
                  <a:schemeClr val="tx1"/>
                </a:solidFill>
              </a:rPr>
              <a:t>        struct </a:t>
            </a:r>
            <a:r>
              <a:rPr lang="en-US" sz="2200" dirty="0" err="1">
                <a:solidFill>
                  <a:schemeClr val="tx1"/>
                </a:solidFill>
              </a:rPr>
              <a:t>StructName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arrayName</a:t>
            </a:r>
            <a:r>
              <a:rPr lang="en-US" sz="2200" dirty="0">
                <a:solidFill>
                  <a:schemeClr val="tx1"/>
                </a:solidFill>
              </a:rPr>
              <a:t>[size];</a:t>
            </a:r>
          </a:p>
          <a:p>
            <a:pPr marL="457200" lvl="1" indent="0" algn="l"/>
            <a:r>
              <a:rPr lang="en-US" sz="2200" b="1" dirty="0">
                <a:solidFill>
                  <a:schemeClr val="tx1"/>
                </a:solidFill>
              </a:rPr>
              <a:t>Code Example:</a:t>
            </a:r>
          </a:p>
          <a:p>
            <a:pPr marL="457200" lvl="1" indent="0" algn="l"/>
            <a:r>
              <a:rPr lang="en-US" sz="2200" dirty="0">
                <a:solidFill>
                  <a:schemeClr val="tx1"/>
                </a:solidFill>
              </a:rPr>
              <a:t>struct Student students[2] = {    {101, "John Doe", 85.5},    {102, "Jane Smith", 90.0}};</a:t>
            </a:r>
          </a:p>
          <a:p>
            <a:pPr marL="457200" lvl="1" indent="0" algn="l"/>
            <a:r>
              <a:rPr lang="en-US" sz="2200" dirty="0">
                <a:solidFill>
                  <a:schemeClr val="tx1"/>
                </a:solidFill>
              </a:rPr>
              <a:t>for (int </a:t>
            </a:r>
            <a:r>
              <a:rPr lang="en-US" sz="2200" dirty="0" err="1">
                <a:solidFill>
                  <a:schemeClr val="tx1"/>
                </a:solidFill>
              </a:rPr>
              <a:t>i</a:t>
            </a:r>
            <a:r>
              <a:rPr lang="en-US" sz="2200" dirty="0">
                <a:solidFill>
                  <a:schemeClr val="tx1"/>
                </a:solidFill>
              </a:rPr>
              <a:t> = 0; </a:t>
            </a:r>
            <a:r>
              <a:rPr lang="en-US" sz="2200" dirty="0" err="1">
                <a:solidFill>
                  <a:schemeClr val="tx1"/>
                </a:solidFill>
              </a:rPr>
              <a:t>i</a:t>
            </a:r>
            <a:r>
              <a:rPr lang="en-US" sz="2200" dirty="0">
                <a:solidFill>
                  <a:schemeClr val="tx1"/>
                </a:solidFill>
              </a:rPr>
              <a:t> &lt; 2; </a:t>
            </a:r>
            <a:r>
              <a:rPr lang="en-US" sz="2200" dirty="0" err="1">
                <a:solidFill>
                  <a:schemeClr val="tx1"/>
                </a:solidFill>
              </a:rPr>
              <a:t>i</a:t>
            </a:r>
            <a:r>
              <a:rPr lang="en-US" sz="2200" dirty="0">
                <a:solidFill>
                  <a:schemeClr val="tx1"/>
                </a:solidFill>
              </a:rPr>
              <a:t>++) </a:t>
            </a:r>
          </a:p>
          <a:p>
            <a:pPr marL="457200" lvl="1" indent="0" algn="l"/>
            <a:r>
              <a:rPr lang="en-US" sz="2200" dirty="0">
                <a:solidFill>
                  <a:schemeClr val="tx1"/>
                </a:solidFill>
              </a:rPr>
              <a:t>{    </a:t>
            </a:r>
            <a:r>
              <a:rPr lang="en-US" sz="2200" dirty="0" err="1">
                <a:solidFill>
                  <a:schemeClr val="tx1"/>
                </a:solidFill>
              </a:rPr>
              <a:t>printf</a:t>
            </a:r>
            <a:r>
              <a:rPr lang="en-US" sz="2200" dirty="0">
                <a:solidFill>
                  <a:schemeClr val="tx1"/>
                </a:solidFill>
              </a:rPr>
              <a:t>("Roll No: %d\n", students[</a:t>
            </a:r>
            <a:r>
              <a:rPr lang="en-US" sz="2200" dirty="0" err="1">
                <a:solidFill>
                  <a:schemeClr val="tx1"/>
                </a:solidFill>
              </a:rPr>
              <a:t>i</a:t>
            </a:r>
            <a:r>
              <a:rPr lang="en-US" sz="2200" dirty="0">
                <a:solidFill>
                  <a:schemeClr val="tx1"/>
                </a:solidFill>
              </a:rPr>
              <a:t>].</a:t>
            </a:r>
            <a:r>
              <a:rPr lang="en-US" sz="2200" dirty="0" err="1">
                <a:solidFill>
                  <a:schemeClr val="tx1"/>
                </a:solidFill>
              </a:rPr>
              <a:t>rollNo</a:t>
            </a:r>
            <a:r>
              <a:rPr lang="en-US" sz="2200" dirty="0">
                <a:solidFill>
                  <a:schemeClr val="tx1"/>
                </a:solidFill>
              </a:rPr>
              <a:t>);  </a:t>
            </a:r>
          </a:p>
          <a:p>
            <a:pPr marL="457200" lvl="1" indent="0" algn="l"/>
            <a:r>
              <a:rPr lang="en-US" sz="2200" dirty="0">
                <a:solidFill>
                  <a:schemeClr val="tx1"/>
                </a:solidFill>
              </a:rPr>
              <a:t>  </a:t>
            </a:r>
            <a:r>
              <a:rPr lang="en-US" sz="2200" dirty="0" err="1">
                <a:solidFill>
                  <a:schemeClr val="tx1"/>
                </a:solidFill>
              </a:rPr>
              <a:t>printf</a:t>
            </a:r>
            <a:r>
              <a:rPr lang="en-US" sz="2200" dirty="0">
                <a:solidFill>
                  <a:schemeClr val="tx1"/>
                </a:solidFill>
              </a:rPr>
              <a:t>("Name: %s\n", students[</a:t>
            </a:r>
            <a:r>
              <a:rPr lang="en-US" sz="2200" dirty="0" err="1">
                <a:solidFill>
                  <a:schemeClr val="tx1"/>
                </a:solidFill>
              </a:rPr>
              <a:t>i</a:t>
            </a:r>
            <a:r>
              <a:rPr lang="en-US" sz="2200" dirty="0">
                <a:solidFill>
                  <a:schemeClr val="tx1"/>
                </a:solidFill>
              </a:rPr>
              <a:t>].name);  </a:t>
            </a:r>
          </a:p>
          <a:p>
            <a:pPr marL="457200" lvl="1" indent="0" algn="l"/>
            <a:r>
              <a:rPr lang="en-US" sz="2200" dirty="0">
                <a:solidFill>
                  <a:schemeClr val="tx1"/>
                </a:solidFill>
              </a:rPr>
              <a:t>  </a:t>
            </a:r>
            <a:r>
              <a:rPr lang="en-US" sz="2200" dirty="0" err="1">
                <a:solidFill>
                  <a:schemeClr val="tx1"/>
                </a:solidFill>
              </a:rPr>
              <a:t>printf</a:t>
            </a:r>
            <a:r>
              <a:rPr lang="en-US" sz="2200" dirty="0">
                <a:solidFill>
                  <a:schemeClr val="tx1"/>
                </a:solidFill>
              </a:rPr>
              <a:t>("Marks: %.2f\n\n", students[</a:t>
            </a:r>
            <a:r>
              <a:rPr lang="en-US" sz="2200" dirty="0" err="1">
                <a:solidFill>
                  <a:schemeClr val="tx1"/>
                </a:solidFill>
              </a:rPr>
              <a:t>i</a:t>
            </a:r>
            <a:r>
              <a:rPr lang="en-US" sz="2200" dirty="0">
                <a:solidFill>
                  <a:schemeClr val="tx1"/>
                </a:solidFill>
              </a:rPr>
              <a:t>].marks);</a:t>
            </a:r>
          </a:p>
          <a:p>
            <a:pPr marL="457200" lvl="1" indent="0" algn="l"/>
            <a:r>
              <a:rPr lang="en-US" sz="2200" dirty="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5FBCE7-C31E-BBED-29B2-B5781A0CCFB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0542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DDCEE-44A2-D36A-5A21-3BD2867067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Practice Code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19613E-9EC2-5D02-6F02-533EA41C0D5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en-US" sz="3200" dirty="0">
              <a:solidFill>
                <a:srgbClr val="002060"/>
              </a:solidFill>
            </a:endParaRPr>
          </a:p>
          <a:p>
            <a:endParaRPr lang="en-US" altLang="en-US" dirty="0">
              <a:solidFill>
                <a:srgbClr val="002060"/>
              </a:solidFill>
            </a:endParaRPr>
          </a:p>
          <a:p>
            <a:r>
              <a:rPr lang="en-US" altLang="en-US" sz="3200" dirty="0">
                <a:solidFill>
                  <a:srgbClr val="002060"/>
                </a:solidFill>
              </a:rPr>
              <a:t>Write a program to read and display information of all the students in the class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C6840F-0D02-F66B-E2F6-E27888CF00B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9076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4F95E-EE79-10FB-0EB9-E394FD9014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en-US" dirty="0"/>
              <a:t>Solution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B5C7D0-7DF5-C0CF-5201-61ACDFF064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6821" y="744875"/>
            <a:ext cx="4470318" cy="7166226"/>
          </a:xfrm>
        </p:spPr>
        <p:txBody>
          <a:bodyPr/>
          <a:lstStyle/>
          <a:p>
            <a:pPr marL="0" indent="0" algn="l" eaLnBrk="1" hangingPunct="1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en-US" sz="1200" b="1" dirty="0">
                <a:solidFill>
                  <a:schemeClr val="tx1"/>
                </a:solidFill>
              </a:rPr>
              <a:t>#include&lt;stdio.h&gt;</a:t>
            </a:r>
          </a:p>
          <a:p>
            <a:pPr marL="0" indent="0" algn="l" eaLnBrk="1" hangingPunct="1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en-US" sz="1200" b="1" dirty="0">
                <a:solidFill>
                  <a:schemeClr val="tx1"/>
                </a:solidFill>
              </a:rPr>
              <a:t>int main()</a:t>
            </a:r>
          </a:p>
          <a:p>
            <a:pPr marL="0" indent="0" algn="l" eaLnBrk="1" hangingPunct="1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en-US" sz="1200" b="1" dirty="0">
                <a:solidFill>
                  <a:schemeClr val="tx1"/>
                </a:solidFill>
              </a:rPr>
              <a:t>{	struct student</a:t>
            </a:r>
          </a:p>
          <a:p>
            <a:pPr marL="0" indent="0" algn="l" eaLnBrk="1" hangingPunct="1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en-US" sz="1200" b="1" dirty="0">
                <a:solidFill>
                  <a:schemeClr val="tx1"/>
                </a:solidFill>
              </a:rPr>
              <a:t>	{	</a:t>
            </a:r>
          </a:p>
          <a:p>
            <a:pPr marL="0" indent="0" algn="l" eaLnBrk="1" hangingPunct="1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en-US" sz="1200" b="1" dirty="0">
                <a:solidFill>
                  <a:schemeClr val="tx1"/>
                </a:solidFill>
              </a:rPr>
              <a:t>		int </a:t>
            </a:r>
            <a:r>
              <a:rPr lang="en-US" altLang="en-US" sz="1200" b="1" dirty="0" err="1">
                <a:solidFill>
                  <a:schemeClr val="tx1"/>
                </a:solidFill>
              </a:rPr>
              <a:t>roll_no</a:t>
            </a:r>
            <a:r>
              <a:rPr lang="en-US" altLang="en-US" sz="1200" b="1" dirty="0">
                <a:solidFill>
                  <a:schemeClr val="tx1"/>
                </a:solidFill>
              </a:rPr>
              <a:t>;</a:t>
            </a:r>
          </a:p>
          <a:p>
            <a:pPr marL="0" indent="0" algn="l" eaLnBrk="1" hangingPunct="1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en-US" sz="1200" b="1" dirty="0">
                <a:solidFill>
                  <a:schemeClr val="tx1"/>
                </a:solidFill>
              </a:rPr>
              <a:t>		char name[80];</a:t>
            </a:r>
          </a:p>
          <a:p>
            <a:pPr marL="0" indent="0" algn="l" eaLnBrk="1" hangingPunct="1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en-US" sz="1200" b="1" dirty="0">
                <a:solidFill>
                  <a:schemeClr val="tx1"/>
                </a:solidFill>
              </a:rPr>
              <a:t>		float fees;</a:t>
            </a:r>
          </a:p>
          <a:p>
            <a:pPr marL="0" indent="0" algn="l" eaLnBrk="1" hangingPunct="1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en-US" sz="1200" b="1" dirty="0">
                <a:solidFill>
                  <a:schemeClr val="tx1"/>
                </a:solidFill>
              </a:rPr>
              <a:t>		char DOB[80];</a:t>
            </a:r>
          </a:p>
          <a:p>
            <a:pPr marL="0" indent="0" algn="l" eaLnBrk="1" hangingPunct="1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en-US" sz="1200" b="1" dirty="0">
                <a:solidFill>
                  <a:schemeClr val="tx1"/>
                </a:solidFill>
              </a:rPr>
              <a:t>	};</a:t>
            </a:r>
          </a:p>
          <a:p>
            <a:pPr marL="0" indent="0" algn="l" eaLnBrk="1" hangingPunct="1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en-US" sz="1200" b="1" dirty="0">
                <a:solidFill>
                  <a:schemeClr val="tx1"/>
                </a:solidFill>
              </a:rPr>
              <a:t>	struct student stud[50];</a:t>
            </a:r>
          </a:p>
          <a:p>
            <a:pPr marL="0" indent="0" algn="l" eaLnBrk="1" hangingPunct="1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en-US" sz="1200" b="1" dirty="0">
                <a:solidFill>
                  <a:schemeClr val="tx1"/>
                </a:solidFill>
              </a:rPr>
              <a:t>	int n, </a:t>
            </a:r>
            <a:r>
              <a:rPr lang="en-US" altLang="en-US" sz="1200" b="1" dirty="0" err="1">
                <a:solidFill>
                  <a:schemeClr val="tx1"/>
                </a:solidFill>
              </a:rPr>
              <a:t>i</a:t>
            </a:r>
            <a:r>
              <a:rPr lang="en-US" altLang="en-US" sz="1200" b="1" dirty="0">
                <a:solidFill>
                  <a:schemeClr val="tx1"/>
                </a:solidFill>
              </a:rPr>
              <a:t>;</a:t>
            </a:r>
          </a:p>
          <a:p>
            <a:pPr marL="0" indent="0" algn="l" eaLnBrk="1" hangingPunct="1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en-US" sz="1200" b="1" dirty="0">
                <a:solidFill>
                  <a:schemeClr val="tx1"/>
                </a:solidFill>
              </a:rPr>
              <a:t>	</a:t>
            </a:r>
            <a:r>
              <a:rPr lang="en-US" altLang="en-US" sz="1200" b="1" dirty="0" err="1">
                <a:solidFill>
                  <a:schemeClr val="tx1"/>
                </a:solidFill>
              </a:rPr>
              <a:t>printf</a:t>
            </a:r>
            <a:r>
              <a:rPr lang="en-US" altLang="en-US" sz="1200" b="1" dirty="0">
                <a:solidFill>
                  <a:schemeClr val="tx1"/>
                </a:solidFill>
              </a:rPr>
              <a:t>(“\n Enter the number of students : “);</a:t>
            </a:r>
          </a:p>
          <a:p>
            <a:pPr marL="0" indent="0" algn="l" eaLnBrk="1" hangingPunct="1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en-US" sz="1200" b="1" dirty="0">
                <a:solidFill>
                  <a:schemeClr val="tx1"/>
                </a:solidFill>
              </a:rPr>
              <a:t>	</a:t>
            </a:r>
            <a:r>
              <a:rPr lang="en-US" altLang="en-US" sz="1200" b="1" dirty="0" err="1">
                <a:solidFill>
                  <a:schemeClr val="tx1"/>
                </a:solidFill>
              </a:rPr>
              <a:t>scanf</a:t>
            </a:r>
            <a:r>
              <a:rPr lang="en-US" altLang="en-US" sz="1200" b="1" dirty="0">
                <a:solidFill>
                  <a:schemeClr val="tx1"/>
                </a:solidFill>
              </a:rPr>
              <a:t>(“%d”, &amp;n);</a:t>
            </a:r>
          </a:p>
          <a:p>
            <a:pPr marL="0" indent="0" algn="l" eaLnBrk="1" hangingPunct="1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en-US" sz="1200" b="1" dirty="0">
                <a:solidFill>
                  <a:schemeClr val="tx1"/>
                </a:solidFill>
              </a:rPr>
              <a:t>	for(</a:t>
            </a:r>
            <a:r>
              <a:rPr lang="en-US" altLang="en-US" sz="1200" b="1" dirty="0" err="1">
                <a:solidFill>
                  <a:schemeClr val="tx1"/>
                </a:solidFill>
              </a:rPr>
              <a:t>i</a:t>
            </a:r>
            <a:r>
              <a:rPr lang="en-US" altLang="en-US" sz="1200" b="1" dirty="0">
                <a:solidFill>
                  <a:schemeClr val="tx1"/>
                </a:solidFill>
              </a:rPr>
              <a:t>=0;i&lt;</a:t>
            </a:r>
            <a:r>
              <a:rPr lang="en-US" altLang="en-US" sz="1200" b="1" dirty="0" err="1">
                <a:solidFill>
                  <a:schemeClr val="tx1"/>
                </a:solidFill>
              </a:rPr>
              <a:t>n;i</a:t>
            </a:r>
            <a:r>
              <a:rPr lang="en-US" altLang="en-US" sz="1200" b="1" dirty="0">
                <a:solidFill>
                  <a:schemeClr val="tx1"/>
                </a:solidFill>
              </a:rPr>
              <a:t>++)</a:t>
            </a:r>
          </a:p>
          <a:p>
            <a:pPr marL="0" indent="0" algn="l" eaLnBrk="1" hangingPunct="1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en-US" sz="1200" b="1" dirty="0">
                <a:solidFill>
                  <a:schemeClr val="tx1"/>
                </a:solidFill>
              </a:rPr>
              <a:t>	{	</a:t>
            </a:r>
            <a:r>
              <a:rPr lang="en-US" altLang="en-US" sz="1200" b="1" dirty="0" err="1">
                <a:solidFill>
                  <a:schemeClr val="tx1"/>
                </a:solidFill>
              </a:rPr>
              <a:t>printf</a:t>
            </a:r>
            <a:r>
              <a:rPr lang="en-US" altLang="en-US" sz="1200" b="1" dirty="0">
                <a:solidFill>
                  <a:schemeClr val="tx1"/>
                </a:solidFill>
              </a:rPr>
              <a:t>(“\n Enter the roll number : “);</a:t>
            </a:r>
          </a:p>
          <a:p>
            <a:pPr marL="0" indent="0" algn="l" eaLnBrk="1" hangingPunct="1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en-US" sz="1200" b="1" dirty="0">
                <a:solidFill>
                  <a:schemeClr val="tx1"/>
                </a:solidFill>
              </a:rPr>
              <a:t>		</a:t>
            </a:r>
            <a:r>
              <a:rPr lang="en-US" altLang="en-US" sz="1200" b="1" dirty="0" err="1">
                <a:solidFill>
                  <a:schemeClr val="tx1"/>
                </a:solidFill>
              </a:rPr>
              <a:t>scanf</a:t>
            </a:r>
            <a:r>
              <a:rPr lang="en-US" altLang="en-US" sz="1200" b="1" dirty="0">
                <a:solidFill>
                  <a:schemeClr val="tx1"/>
                </a:solidFill>
              </a:rPr>
              <a:t>(“%d”, &amp;stud[</a:t>
            </a:r>
            <a:r>
              <a:rPr lang="en-US" altLang="en-US" sz="1200" b="1" dirty="0" err="1">
                <a:solidFill>
                  <a:schemeClr val="tx1"/>
                </a:solidFill>
              </a:rPr>
              <a:t>i</a:t>
            </a:r>
            <a:r>
              <a:rPr lang="en-US" altLang="en-US" sz="1200" b="1" dirty="0">
                <a:solidFill>
                  <a:schemeClr val="tx1"/>
                </a:solidFill>
              </a:rPr>
              <a:t>].</a:t>
            </a:r>
            <a:r>
              <a:rPr lang="en-US" altLang="en-US" sz="1200" b="1" dirty="0" err="1">
                <a:solidFill>
                  <a:schemeClr val="tx1"/>
                </a:solidFill>
              </a:rPr>
              <a:t>roll_no</a:t>
            </a:r>
            <a:r>
              <a:rPr lang="en-US" altLang="en-US" sz="1200" b="1" dirty="0">
                <a:solidFill>
                  <a:schemeClr val="tx1"/>
                </a:solidFill>
              </a:rPr>
              <a:t>);</a:t>
            </a:r>
          </a:p>
          <a:p>
            <a:pPr marL="0" indent="0" algn="l" eaLnBrk="1" hangingPunct="1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en-US" sz="1200" b="1" dirty="0">
                <a:solidFill>
                  <a:schemeClr val="tx1"/>
                </a:solidFill>
              </a:rPr>
              <a:t>		</a:t>
            </a:r>
            <a:r>
              <a:rPr lang="en-US" altLang="en-US" sz="1200" b="1" dirty="0" err="1">
                <a:solidFill>
                  <a:schemeClr val="tx1"/>
                </a:solidFill>
              </a:rPr>
              <a:t>printf</a:t>
            </a:r>
            <a:r>
              <a:rPr lang="en-US" altLang="en-US" sz="1200" b="1" dirty="0">
                <a:solidFill>
                  <a:schemeClr val="tx1"/>
                </a:solidFill>
              </a:rPr>
              <a:t>(“\n Enter the name : “);</a:t>
            </a:r>
          </a:p>
          <a:p>
            <a:pPr marL="0" indent="0" algn="l" eaLnBrk="1" hangingPunct="1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en-US" sz="1200" b="1" dirty="0">
                <a:solidFill>
                  <a:schemeClr val="tx1"/>
                </a:solidFill>
              </a:rPr>
              <a:t>		</a:t>
            </a:r>
            <a:r>
              <a:rPr lang="en-US" altLang="en-US" sz="1200" b="1" dirty="0" err="1">
                <a:solidFill>
                  <a:schemeClr val="tx1"/>
                </a:solidFill>
              </a:rPr>
              <a:t>scanf</a:t>
            </a:r>
            <a:r>
              <a:rPr lang="en-US" altLang="en-US" sz="1200" b="1" dirty="0">
                <a:solidFill>
                  <a:schemeClr val="tx1"/>
                </a:solidFill>
              </a:rPr>
              <a:t>(“%s”, stud[</a:t>
            </a:r>
            <a:r>
              <a:rPr lang="en-US" altLang="en-US" sz="1200" b="1" dirty="0" err="1">
                <a:solidFill>
                  <a:schemeClr val="tx1"/>
                </a:solidFill>
              </a:rPr>
              <a:t>i</a:t>
            </a:r>
            <a:r>
              <a:rPr lang="en-US" altLang="en-US" sz="1200" b="1" dirty="0">
                <a:solidFill>
                  <a:schemeClr val="tx1"/>
                </a:solidFill>
              </a:rPr>
              <a:t>].name);</a:t>
            </a:r>
          </a:p>
          <a:p>
            <a:pPr marL="0" indent="0" algn="l" eaLnBrk="1" hangingPunct="1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en-US" sz="1200" b="1" dirty="0">
                <a:solidFill>
                  <a:schemeClr val="tx1"/>
                </a:solidFill>
              </a:rPr>
              <a:t>		</a:t>
            </a:r>
            <a:r>
              <a:rPr lang="en-US" altLang="en-US" sz="1200" b="1" dirty="0" err="1">
                <a:solidFill>
                  <a:schemeClr val="tx1"/>
                </a:solidFill>
              </a:rPr>
              <a:t>printf</a:t>
            </a:r>
            <a:r>
              <a:rPr lang="en-US" altLang="en-US" sz="1200" b="1" dirty="0">
                <a:solidFill>
                  <a:schemeClr val="tx1"/>
                </a:solidFill>
              </a:rPr>
              <a:t>(“\n Enter the fees : “);</a:t>
            </a:r>
          </a:p>
          <a:p>
            <a:pPr marL="0" indent="0" algn="l" eaLnBrk="1" hangingPunct="1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en-US" sz="1200" b="1" dirty="0">
                <a:solidFill>
                  <a:schemeClr val="tx1"/>
                </a:solidFill>
              </a:rPr>
              <a:t>		</a:t>
            </a:r>
            <a:r>
              <a:rPr lang="en-US" altLang="en-US" sz="1200" b="1" dirty="0" err="1">
                <a:solidFill>
                  <a:schemeClr val="tx1"/>
                </a:solidFill>
              </a:rPr>
              <a:t>scanf</a:t>
            </a:r>
            <a:r>
              <a:rPr lang="en-US" altLang="en-US" sz="1200" b="1" dirty="0">
                <a:solidFill>
                  <a:schemeClr val="tx1"/>
                </a:solidFill>
              </a:rPr>
              <a:t>(“%f”, stud[</a:t>
            </a:r>
            <a:r>
              <a:rPr lang="en-US" altLang="en-US" sz="1200" b="1" dirty="0" err="1">
                <a:solidFill>
                  <a:schemeClr val="tx1"/>
                </a:solidFill>
              </a:rPr>
              <a:t>i</a:t>
            </a:r>
            <a:r>
              <a:rPr lang="en-US" altLang="en-US" sz="1200" b="1" dirty="0">
                <a:solidFill>
                  <a:schemeClr val="tx1"/>
                </a:solidFill>
              </a:rPr>
              <a:t>].fees);</a:t>
            </a:r>
          </a:p>
          <a:p>
            <a:pPr marL="0" indent="0" algn="l" eaLnBrk="1" hangingPunct="1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en-US" sz="1200" b="1" dirty="0">
                <a:solidFill>
                  <a:schemeClr val="tx1"/>
                </a:solidFill>
              </a:rPr>
              <a:t>		</a:t>
            </a:r>
            <a:r>
              <a:rPr lang="en-US" altLang="en-US" sz="1200" b="1" dirty="0" err="1">
                <a:solidFill>
                  <a:schemeClr val="tx1"/>
                </a:solidFill>
              </a:rPr>
              <a:t>printf</a:t>
            </a:r>
            <a:r>
              <a:rPr lang="en-US" altLang="en-US" sz="1200" b="1" dirty="0">
                <a:solidFill>
                  <a:schemeClr val="tx1"/>
                </a:solidFill>
              </a:rPr>
              <a:t>(“\n Enter the DOB : “);</a:t>
            </a:r>
          </a:p>
          <a:p>
            <a:pPr marL="0" indent="0" algn="l" eaLnBrk="1" hangingPunct="1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en-US" sz="1200" b="1" dirty="0">
                <a:solidFill>
                  <a:schemeClr val="tx1"/>
                </a:solidFill>
              </a:rPr>
              <a:t>		</a:t>
            </a:r>
            <a:r>
              <a:rPr lang="en-US" altLang="en-US" sz="1200" b="1" dirty="0" err="1">
                <a:solidFill>
                  <a:schemeClr val="tx1"/>
                </a:solidFill>
              </a:rPr>
              <a:t>scanf</a:t>
            </a:r>
            <a:r>
              <a:rPr lang="en-US" altLang="en-US" sz="1200" b="1" dirty="0">
                <a:solidFill>
                  <a:schemeClr val="tx1"/>
                </a:solidFill>
              </a:rPr>
              <a:t>(“%s”, stud[</a:t>
            </a:r>
            <a:r>
              <a:rPr lang="en-US" altLang="en-US" sz="1200" b="1" dirty="0" err="1">
                <a:solidFill>
                  <a:schemeClr val="tx1"/>
                </a:solidFill>
              </a:rPr>
              <a:t>i</a:t>
            </a:r>
            <a:r>
              <a:rPr lang="en-US" altLang="en-US" sz="1200" b="1" dirty="0">
                <a:solidFill>
                  <a:schemeClr val="tx1"/>
                </a:solidFill>
              </a:rPr>
              <a:t>].DOB);</a:t>
            </a:r>
          </a:p>
          <a:p>
            <a:pPr marL="0" indent="0" algn="l" eaLnBrk="1" hangingPunct="1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en-US" sz="1200" b="1" dirty="0">
                <a:solidFill>
                  <a:schemeClr val="tx1"/>
                </a:solidFill>
              </a:rPr>
              <a:t>	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4F902C-F6D8-7D90-3EAB-7C863AAB1E7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D6EBD9-1F9A-E268-0885-A2E639FB14AD}"/>
              </a:ext>
            </a:extLst>
          </p:cNvPr>
          <p:cNvSpPr txBox="1"/>
          <p:nvPr/>
        </p:nvSpPr>
        <p:spPr>
          <a:xfrm>
            <a:off x="5240025" y="1176076"/>
            <a:ext cx="4100040" cy="22529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  <a:spcBef>
                <a:spcPts val="640"/>
              </a:spcBef>
              <a:buClr>
                <a:srgbClr val="888888"/>
              </a:buClr>
              <a:buSzPts val="3200"/>
            </a:pPr>
            <a:r>
              <a:rPr lang="en-US" altLang="en-US" sz="12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for(</a:t>
            </a:r>
            <a:r>
              <a:rPr lang="en-US" altLang="en-US" sz="1200" b="1" dirty="0" err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altLang="en-US" sz="12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=0;i&lt;</a:t>
            </a:r>
            <a:r>
              <a:rPr lang="en-US" altLang="en-US" sz="1200" b="1" dirty="0" err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n;i</a:t>
            </a:r>
            <a:r>
              <a:rPr lang="en-US" altLang="en-US" sz="12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++)</a:t>
            </a:r>
          </a:p>
          <a:p>
            <a:pPr>
              <a:lnSpc>
                <a:spcPct val="80000"/>
              </a:lnSpc>
              <a:spcBef>
                <a:spcPts val="640"/>
              </a:spcBef>
              <a:buClr>
                <a:srgbClr val="888888"/>
              </a:buClr>
              <a:buSzPts val="3200"/>
            </a:pPr>
            <a:r>
              <a:rPr lang="en-US" altLang="en-US" sz="12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</a:p>
          <a:p>
            <a:pPr>
              <a:lnSpc>
                <a:spcPct val="80000"/>
              </a:lnSpc>
              <a:spcBef>
                <a:spcPts val="640"/>
              </a:spcBef>
              <a:buClr>
                <a:srgbClr val="888888"/>
              </a:buClr>
              <a:buSzPts val="3200"/>
            </a:pPr>
            <a:r>
              <a:rPr lang="en-US" altLang="en-US" sz="12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{	</a:t>
            </a:r>
          </a:p>
          <a:p>
            <a:pPr>
              <a:lnSpc>
                <a:spcPct val="80000"/>
              </a:lnSpc>
              <a:spcBef>
                <a:spcPts val="640"/>
              </a:spcBef>
              <a:buClr>
                <a:srgbClr val="888888"/>
              </a:buClr>
              <a:buSzPts val="3200"/>
            </a:pPr>
            <a:r>
              <a:rPr lang="en-US" altLang="en-US" sz="1200" b="1" dirty="0" err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printf</a:t>
            </a:r>
            <a:r>
              <a:rPr lang="en-US" altLang="en-US" sz="12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(“\n ROLL No. = %d”, stud[</a:t>
            </a:r>
            <a:r>
              <a:rPr lang="en-US" altLang="en-US" sz="1200" b="1" dirty="0" err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altLang="en-US" sz="12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].</a:t>
            </a:r>
            <a:r>
              <a:rPr lang="en-US" altLang="en-US" sz="1200" b="1" dirty="0" err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roll_no</a:t>
            </a:r>
            <a:r>
              <a:rPr lang="en-US" altLang="en-US" sz="12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);</a:t>
            </a:r>
          </a:p>
          <a:p>
            <a:pPr>
              <a:lnSpc>
                <a:spcPct val="80000"/>
              </a:lnSpc>
              <a:spcBef>
                <a:spcPts val="640"/>
              </a:spcBef>
              <a:buClr>
                <a:srgbClr val="888888"/>
              </a:buClr>
              <a:buSzPts val="3200"/>
            </a:pPr>
            <a:r>
              <a:rPr lang="en-US" altLang="en-US" sz="1200" b="1" dirty="0" err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printf</a:t>
            </a:r>
            <a:r>
              <a:rPr lang="en-US" altLang="en-US" sz="12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(“\n NAME. = %s”, stud[</a:t>
            </a:r>
            <a:r>
              <a:rPr lang="en-US" altLang="en-US" sz="1200" b="1" dirty="0" err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altLang="en-US" sz="12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].name);</a:t>
            </a:r>
          </a:p>
          <a:p>
            <a:pPr>
              <a:lnSpc>
                <a:spcPct val="80000"/>
              </a:lnSpc>
              <a:spcBef>
                <a:spcPts val="640"/>
              </a:spcBef>
              <a:buClr>
                <a:srgbClr val="888888"/>
              </a:buClr>
              <a:buSzPts val="3200"/>
            </a:pPr>
            <a:r>
              <a:rPr lang="en-US" altLang="en-US" sz="1200" b="1" dirty="0" err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printf</a:t>
            </a:r>
            <a:r>
              <a:rPr lang="en-US" altLang="en-US" sz="12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(“\n ROLL No. = %f”, stud[</a:t>
            </a:r>
            <a:r>
              <a:rPr lang="en-US" altLang="en-US" sz="1200" b="1" dirty="0" err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altLang="en-US" sz="12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].fees);</a:t>
            </a:r>
          </a:p>
          <a:p>
            <a:pPr>
              <a:lnSpc>
                <a:spcPct val="80000"/>
              </a:lnSpc>
              <a:spcBef>
                <a:spcPts val="640"/>
              </a:spcBef>
              <a:buClr>
                <a:srgbClr val="888888"/>
              </a:buClr>
              <a:buSzPts val="3200"/>
            </a:pPr>
            <a:r>
              <a:rPr lang="en-US" altLang="en-US" sz="1200" b="1" dirty="0" err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printf</a:t>
            </a:r>
            <a:r>
              <a:rPr lang="en-US" altLang="en-US" sz="12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(“\n ROLL No. = %s”, stud[</a:t>
            </a:r>
            <a:r>
              <a:rPr lang="en-US" altLang="en-US" sz="1200" b="1" dirty="0" err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altLang="en-US" sz="12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].DOB);</a:t>
            </a:r>
          </a:p>
          <a:p>
            <a:pPr>
              <a:lnSpc>
                <a:spcPct val="80000"/>
              </a:lnSpc>
              <a:spcBef>
                <a:spcPts val="640"/>
              </a:spcBef>
              <a:buClr>
                <a:srgbClr val="888888"/>
              </a:buClr>
              <a:buSzPts val="3200"/>
            </a:pPr>
            <a:r>
              <a:rPr lang="en-US" altLang="en-US" sz="12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	}</a:t>
            </a:r>
          </a:p>
          <a:p>
            <a:pPr>
              <a:lnSpc>
                <a:spcPct val="80000"/>
              </a:lnSpc>
              <a:spcBef>
                <a:spcPts val="640"/>
              </a:spcBef>
              <a:buClr>
                <a:srgbClr val="888888"/>
              </a:buClr>
              <a:buSzPts val="3200"/>
            </a:pPr>
            <a:r>
              <a:rPr lang="en-US" altLang="en-US" sz="12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250103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DD598660-7617-482B-EA4F-C51C0D707F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533400"/>
          </a:xfrm>
          <a:noFill/>
        </p:spPr>
        <p:txBody>
          <a:bodyPr rtlCol="0">
            <a:noAutofit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n-US" altLang="en-US" sz="2400" b="1" dirty="0">
                <a:solidFill>
                  <a:schemeClr val="tx1"/>
                </a:solidFill>
              </a:rPr>
              <a:t>PASSING A STRUCTURE TO A FUNCTION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35DFBDC1-F8FC-4C9D-0841-EEC7CB310A9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609600"/>
            <a:ext cx="9144000" cy="6248400"/>
          </a:xfrm>
        </p:spPr>
        <p:txBody>
          <a:bodyPr/>
          <a:lstStyle/>
          <a:p>
            <a:pPr eaLnBrk="1" hangingPunct="1">
              <a:lnSpc>
                <a:spcPct val="115000"/>
              </a:lnSpc>
            </a:pPr>
            <a:endParaRPr lang="en-US" altLang="en-US" sz="1600" dirty="0"/>
          </a:p>
          <a:p>
            <a:pPr eaLnBrk="1" hangingPunct="1">
              <a:lnSpc>
                <a:spcPct val="115000"/>
              </a:lnSpc>
            </a:pPr>
            <a:r>
              <a:rPr lang="en-US" altLang="en-US" sz="1600" dirty="0"/>
              <a:t>When a structure is passed as an argument, it is passed using call by value method. That is a copy of each member of the structure is made. No doubt, this is a very inefficient method especially when the structure is very big or the function is called frequently. Therefore, in such a situation passing and working with pointers may be more efficient. </a:t>
            </a:r>
          </a:p>
          <a:p>
            <a:pPr eaLnBrk="1" hangingPunct="1">
              <a:lnSpc>
                <a:spcPct val="115000"/>
              </a:lnSpc>
            </a:pPr>
            <a:r>
              <a:rPr lang="en-US" altLang="en-US" sz="1600" dirty="0"/>
              <a:t>The general syntax for passing a structure to a function and returning a structure can be given as, struct </a:t>
            </a:r>
            <a:r>
              <a:rPr lang="en-US" altLang="en-US" sz="1600" dirty="0" err="1"/>
              <a:t>struct_name</a:t>
            </a:r>
            <a:r>
              <a:rPr lang="en-US" altLang="en-US" sz="1600" dirty="0"/>
              <a:t> </a:t>
            </a:r>
            <a:r>
              <a:rPr lang="en-US" altLang="en-US" sz="1600" dirty="0" err="1"/>
              <a:t>func_name</a:t>
            </a:r>
            <a:r>
              <a:rPr lang="en-US" altLang="en-US" sz="1600" dirty="0"/>
              <a:t>(struct </a:t>
            </a:r>
            <a:r>
              <a:rPr lang="en-US" altLang="en-US" sz="1600" dirty="0" err="1"/>
              <a:t>struct_name</a:t>
            </a:r>
            <a:r>
              <a:rPr lang="en-US" altLang="en-US" sz="1600" dirty="0"/>
              <a:t> </a:t>
            </a:r>
            <a:r>
              <a:rPr lang="en-US" altLang="en-US" sz="1600" dirty="0" err="1"/>
              <a:t>struct_var</a:t>
            </a:r>
            <a:r>
              <a:rPr lang="en-US" altLang="en-US" sz="1600" dirty="0"/>
              <a:t>);</a:t>
            </a:r>
          </a:p>
          <a:p>
            <a:pPr eaLnBrk="1" hangingPunct="1">
              <a:lnSpc>
                <a:spcPct val="115000"/>
              </a:lnSpc>
            </a:pPr>
            <a:r>
              <a:rPr lang="en-US" altLang="en-US" sz="1600" dirty="0"/>
              <a:t>The code given below passes a structure to the function using call-by-value method.</a:t>
            </a:r>
          </a:p>
          <a:p>
            <a:pPr marL="1257300" lvl="3" indent="0" eaLnBrk="1" hangingPunct="1">
              <a:lnSpc>
                <a:spcPct val="115000"/>
              </a:lnSpc>
              <a:buFont typeface="Arial" panose="020B0604020202020204" pitchFamily="34" charset="0"/>
              <a:buNone/>
            </a:pPr>
            <a:r>
              <a:rPr lang="en-US" altLang="en-US" sz="1400" b="1" dirty="0"/>
              <a:t>#include&lt;stdio.h&gt;</a:t>
            </a:r>
          </a:p>
          <a:p>
            <a:pPr marL="1257300" lvl="3" indent="0" eaLnBrk="1" hangingPunct="1">
              <a:lnSpc>
                <a:spcPct val="115000"/>
              </a:lnSpc>
              <a:buFont typeface="Arial" panose="020B0604020202020204" pitchFamily="34" charset="0"/>
              <a:buNone/>
            </a:pPr>
            <a:r>
              <a:rPr lang="en-US" altLang="en-US" sz="1400" b="1" dirty="0"/>
              <a:t>typedef struct</a:t>
            </a:r>
          </a:p>
          <a:p>
            <a:pPr marL="1257300" lvl="3" indent="0" eaLnBrk="1" hangingPunct="1">
              <a:lnSpc>
                <a:spcPct val="115000"/>
              </a:lnSpc>
              <a:buFont typeface="Arial" panose="020B0604020202020204" pitchFamily="34" charset="0"/>
              <a:buNone/>
            </a:pPr>
            <a:r>
              <a:rPr lang="en-US" altLang="en-US" sz="1400" b="1" dirty="0"/>
              <a:t>{</a:t>
            </a:r>
          </a:p>
          <a:p>
            <a:pPr marL="1257300" lvl="3" indent="0" eaLnBrk="1" hangingPunct="1">
              <a:lnSpc>
                <a:spcPct val="115000"/>
              </a:lnSpc>
              <a:buFont typeface="Arial" panose="020B0604020202020204" pitchFamily="34" charset="0"/>
              <a:buNone/>
            </a:pPr>
            <a:r>
              <a:rPr lang="en-US" altLang="en-US" sz="1400" b="1" dirty="0"/>
              <a:t>	int x;</a:t>
            </a:r>
          </a:p>
          <a:p>
            <a:pPr marL="1257300" lvl="3" indent="0" eaLnBrk="1" hangingPunct="1">
              <a:lnSpc>
                <a:spcPct val="115000"/>
              </a:lnSpc>
              <a:buFont typeface="Arial" panose="020B0604020202020204" pitchFamily="34" charset="0"/>
              <a:buNone/>
            </a:pPr>
            <a:r>
              <a:rPr lang="en-US" altLang="en-US" sz="1400" b="1" dirty="0"/>
              <a:t>	int y;</a:t>
            </a:r>
          </a:p>
          <a:p>
            <a:pPr marL="1257300" lvl="3" indent="0" eaLnBrk="1" hangingPunct="1">
              <a:lnSpc>
                <a:spcPct val="115000"/>
              </a:lnSpc>
              <a:buFont typeface="Arial" panose="020B0604020202020204" pitchFamily="34" charset="0"/>
              <a:buNone/>
            </a:pPr>
            <a:r>
              <a:rPr lang="en-US" altLang="en-US" sz="1400" b="1" dirty="0"/>
              <a:t>}POINT;</a:t>
            </a:r>
          </a:p>
          <a:p>
            <a:pPr marL="1257300" lvl="3" indent="0" eaLnBrk="1" hangingPunct="1">
              <a:lnSpc>
                <a:spcPct val="115000"/>
              </a:lnSpc>
              <a:buFont typeface="Arial" panose="020B0604020202020204" pitchFamily="34" charset="0"/>
              <a:buNone/>
            </a:pPr>
            <a:r>
              <a:rPr lang="en-US" altLang="en-US" sz="1400" b="1" dirty="0"/>
              <a:t>void display(POINT);</a:t>
            </a:r>
          </a:p>
          <a:p>
            <a:pPr marL="1257300" lvl="3" indent="0" eaLnBrk="1" hangingPunct="1">
              <a:lnSpc>
                <a:spcPct val="115000"/>
              </a:lnSpc>
              <a:buFont typeface="Arial" panose="020B0604020202020204" pitchFamily="34" charset="0"/>
              <a:buNone/>
            </a:pPr>
            <a:r>
              <a:rPr lang="en-US" altLang="en-US" sz="1400" b="1" dirty="0"/>
              <a:t>main()</a:t>
            </a:r>
          </a:p>
          <a:p>
            <a:pPr marL="1257300" lvl="3" indent="0" eaLnBrk="1" hangingPunct="1">
              <a:lnSpc>
                <a:spcPct val="115000"/>
              </a:lnSpc>
              <a:buFont typeface="Arial" panose="020B0604020202020204" pitchFamily="34" charset="0"/>
              <a:buNone/>
            </a:pPr>
            <a:r>
              <a:rPr lang="en-US" altLang="en-US" sz="1400" b="1" dirty="0"/>
              <a:t>{</a:t>
            </a:r>
          </a:p>
          <a:p>
            <a:pPr marL="1257300" lvl="3" indent="0" eaLnBrk="1" hangingPunct="1">
              <a:lnSpc>
                <a:spcPct val="115000"/>
              </a:lnSpc>
              <a:buFont typeface="Arial" panose="020B0604020202020204" pitchFamily="34" charset="0"/>
              <a:buNone/>
            </a:pPr>
            <a:r>
              <a:rPr lang="en-US" altLang="en-US" sz="1400" b="1" dirty="0"/>
              <a:t>	POINT p1 = {2, 3};</a:t>
            </a:r>
          </a:p>
          <a:p>
            <a:pPr marL="1257300" lvl="3" indent="0" eaLnBrk="1" hangingPunct="1">
              <a:lnSpc>
                <a:spcPct val="115000"/>
              </a:lnSpc>
              <a:buFont typeface="Arial" panose="020B0604020202020204" pitchFamily="34" charset="0"/>
              <a:buNone/>
            </a:pPr>
            <a:r>
              <a:rPr lang="en-US" altLang="en-US" sz="1400" b="1" dirty="0"/>
              <a:t>	display(p1);</a:t>
            </a:r>
          </a:p>
          <a:p>
            <a:pPr marL="1257300" lvl="3" indent="0" eaLnBrk="1" hangingPunct="1">
              <a:lnSpc>
                <a:spcPct val="115000"/>
              </a:lnSpc>
              <a:buFont typeface="Arial" panose="020B0604020202020204" pitchFamily="34" charset="0"/>
              <a:buNone/>
            </a:pPr>
            <a:r>
              <a:rPr lang="en-US" altLang="en-US" sz="1400" b="1" dirty="0"/>
              <a:t>	return 0;}</a:t>
            </a:r>
          </a:p>
          <a:p>
            <a:pPr marL="1257300" lvl="3" indent="0" eaLnBrk="1" hangingPunct="1">
              <a:lnSpc>
                <a:spcPct val="115000"/>
              </a:lnSpc>
              <a:buFont typeface="Arial" panose="020B0604020202020204" pitchFamily="34" charset="0"/>
              <a:buNone/>
            </a:pPr>
            <a:endParaRPr lang="en-US" altLang="en-US" sz="1100" b="1" dirty="0"/>
          </a:p>
        </p:txBody>
      </p: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5CB953A3-965A-E392-69A4-A37BC4E2F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34310" y="3082248"/>
            <a:ext cx="4523358" cy="2642242"/>
          </a:xfrm>
        </p:spPr>
        <p:txBody>
          <a:bodyPr/>
          <a:lstStyle/>
          <a:p>
            <a:pPr marL="1257300" lvl="3" indent="0" eaLnBrk="1" hangingPunct="1">
              <a:lnSpc>
                <a:spcPct val="115000"/>
              </a:lnSpc>
              <a:buFont typeface="Arial" panose="020B0604020202020204" pitchFamily="34" charset="0"/>
              <a:buNone/>
            </a:pPr>
            <a:r>
              <a:rPr lang="en-US" altLang="en-US" sz="1200" b="1" dirty="0"/>
              <a:t>void display( POINT p)</a:t>
            </a:r>
          </a:p>
          <a:p>
            <a:pPr marL="1257300" lvl="3" indent="0" eaLnBrk="1" hangingPunct="1">
              <a:lnSpc>
                <a:spcPct val="115000"/>
              </a:lnSpc>
              <a:buFont typeface="Arial" panose="020B0604020202020204" pitchFamily="34" charset="0"/>
              <a:buNone/>
            </a:pPr>
            <a:r>
              <a:rPr lang="en-US" altLang="en-US" sz="1200" b="1" dirty="0"/>
              <a:t>{</a:t>
            </a:r>
          </a:p>
          <a:p>
            <a:pPr marL="1257300" lvl="3" indent="0" eaLnBrk="1" hangingPunct="1">
              <a:lnSpc>
                <a:spcPct val="115000"/>
              </a:lnSpc>
              <a:buFont typeface="Arial" panose="020B0604020202020204" pitchFamily="34" charset="0"/>
              <a:buNone/>
            </a:pPr>
            <a:r>
              <a:rPr lang="en-US" altLang="en-US" sz="1200" b="1" dirty="0"/>
              <a:t>	</a:t>
            </a:r>
            <a:r>
              <a:rPr lang="en-US" altLang="en-US" sz="1200" b="1" dirty="0" err="1"/>
              <a:t>printf</a:t>
            </a:r>
            <a:r>
              <a:rPr lang="en-US" altLang="en-US" sz="1200" b="1" dirty="0"/>
              <a:t>("%d %d", </a:t>
            </a:r>
            <a:r>
              <a:rPr lang="en-US" altLang="en-US" sz="1200" b="1" dirty="0" err="1"/>
              <a:t>p.x</a:t>
            </a:r>
            <a:r>
              <a:rPr lang="en-US" altLang="en-US" sz="1200" b="1" dirty="0"/>
              <a:t>, </a:t>
            </a:r>
            <a:r>
              <a:rPr lang="en-US" altLang="en-US" sz="1200" b="1" dirty="0" err="1"/>
              <a:t>p.y</a:t>
            </a:r>
            <a:r>
              <a:rPr lang="en-US" altLang="en-US" sz="1200" b="1" dirty="0"/>
              <a:t>);</a:t>
            </a:r>
          </a:p>
          <a:p>
            <a:pPr marL="1257300" lvl="3" indent="0" eaLnBrk="1" hangingPunct="1">
              <a:lnSpc>
                <a:spcPct val="115000"/>
              </a:lnSpc>
              <a:buFont typeface="Arial" panose="020B0604020202020204" pitchFamily="34" charset="0"/>
              <a:buNone/>
            </a:pPr>
            <a:r>
              <a:rPr lang="en-US" altLang="en-US" sz="1200" b="1" dirty="0"/>
              <a:t>}</a:t>
            </a:r>
            <a:r>
              <a:rPr lang="en-IN" dirty="0">
                <a:solidFill>
                  <a:schemeClr val="tx2">
                    <a:lumMod val="50000"/>
                  </a:schemeClr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DD598660-7617-482B-EA4F-C51C0D707F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37845"/>
            <a:ext cx="9144000" cy="533400"/>
          </a:xfrm>
          <a:noFill/>
        </p:spPr>
        <p:txBody>
          <a:bodyPr rtlCol="0">
            <a:noAutofit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n-US" altLang="en-US" sz="2600" b="1" dirty="0">
                <a:solidFill>
                  <a:schemeClr val="tx1"/>
                </a:solidFill>
              </a:rPr>
              <a:t>PASSING A STRUCTURE TO A FUNCTION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35DFBDC1-F8FC-4C9D-0841-EEC7CB310A9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609600"/>
            <a:ext cx="9144000" cy="6248400"/>
          </a:xfrm>
        </p:spPr>
        <p:txBody>
          <a:bodyPr/>
          <a:lstStyle/>
          <a:p>
            <a:pPr eaLnBrk="1" hangingPunct="1">
              <a:lnSpc>
                <a:spcPct val="115000"/>
              </a:lnSpc>
            </a:pPr>
            <a:endParaRPr lang="en-US" altLang="en-US" sz="1600" dirty="0"/>
          </a:p>
          <a:p>
            <a:pPr marL="88900" indent="0" eaLnBrk="1" hangingPunct="1">
              <a:lnSpc>
                <a:spcPct val="115000"/>
              </a:lnSpc>
              <a:buNone/>
            </a:pPr>
            <a:r>
              <a:rPr lang="en-US" altLang="en-US" sz="1600" dirty="0"/>
              <a:t>When a structure is passed as an argument, it is passed using call by value method. That is a copy of each member of the structure is made. No doubt, this is a very inefficient method especially when the structure is very big or the function is called frequently. Therefore, in such a situation passing and working with pointers may be more efficient. The general syntax for passing a structure to a function and returning a structure can be given as, struct </a:t>
            </a:r>
            <a:r>
              <a:rPr lang="en-US" altLang="en-US" sz="1600" dirty="0" err="1"/>
              <a:t>struct_name</a:t>
            </a:r>
            <a:r>
              <a:rPr lang="en-US" altLang="en-US" sz="1600" dirty="0"/>
              <a:t> </a:t>
            </a:r>
            <a:r>
              <a:rPr lang="en-US" altLang="en-US" sz="1600" dirty="0" err="1"/>
              <a:t>func_name</a:t>
            </a:r>
            <a:r>
              <a:rPr lang="en-US" altLang="en-US" sz="1600" dirty="0"/>
              <a:t>(struct </a:t>
            </a:r>
            <a:r>
              <a:rPr lang="en-US" altLang="en-US" sz="1600" dirty="0" err="1"/>
              <a:t>struct_name</a:t>
            </a:r>
            <a:r>
              <a:rPr lang="en-US" altLang="en-US" sz="1600" dirty="0"/>
              <a:t> </a:t>
            </a:r>
            <a:r>
              <a:rPr lang="en-US" altLang="en-US" sz="1600" dirty="0" err="1"/>
              <a:t>struct_var</a:t>
            </a:r>
            <a:r>
              <a:rPr lang="en-US" altLang="en-US" sz="1600" dirty="0"/>
              <a:t>);</a:t>
            </a:r>
          </a:p>
          <a:p>
            <a:pPr marL="88900" indent="0" eaLnBrk="1" hangingPunct="1">
              <a:lnSpc>
                <a:spcPct val="115000"/>
              </a:lnSpc>
              <a:buNone/>
            </a:pPr>
            <a:r>
              <a:rPr lang="en-US" altLang="en-US" sz="1600" b="1" dirty="0"/>
              <a:t>The code given below passes a structure to the function using call-by-value method.</a:t>
            </a:r>
          </a:p>
          <a:p>
            <a:pPr marL="1257300" lvl="3" indent="0" eaLnBrk="1" hangingPunct="1">
              <a:lnSpc>
                <a:spcPct val="115000"/>
              </a:lnSpc>
              <a:buFont typeface="Arial" panose="020B0604020202020204" pitchFamily="34" charset="0"/>
              <a:buNone/>
            </a:pPr>
            <a:r>
              <a:rPr lang="en-US" altLang="en-US" sz="1400" dirty="0"/>
              <a:t>#include&lt;stdio.h&gt;</a:t>
            </a:r>
          </a:p>
          <a:p>
            <a:pPr marL="1257300" lvl="3" indent="0" eaLnBrk="1" hangingPunct="1">
              <a:lnSpc>
                <a:spcPct val="115000"/>
              </a:lnSpc>
              <a:buFont typeface="Arial" panose="020B0604020202020204" pitchFamily="34" charset="0"/>
              <a:buNone/>
            </a:pPr>
            <a:r>
              <a:rPr lang="en-US" altLang="en-US" sz="1400" dirty="0"/>
              <a:t>typedef struct</a:t>
            </a:r>
          </a:p>
          <a:p>
            <a:pPr marL="1257300" lvl="3" indent="0" eaLnBrk="1" hangingPunct="1">
              <a:lnSpc>
                <a:spcPct val="115000"/>
              </a:lnSpc>
              <a:buFont typeface="Arial" panose="020B0604020202020204" pitchFamily="34" charset="0"/>
              <a:buNone/>
            </a:pPr>
            <a:r>
              <a:rPr lang="en-US" altLang="en-US" sz="1400" dirty="0"/>
              <a:t>{</a:t>
            </a:r>
          </a:p>
          <a:p>
            <a:pPr marL="1257300" lvl="3" indent="0" eaLnBrk="1" hangingPunct="1">
              <a:lnSpc>
                <a:spcPct val="115000"/>
              </a:lnSpc>
              <a:buFont typeface="Arial" panose="020B0604020202020204" pitchFamily="34" charset="0"/>
              <a:buNone/>
            </a:pPr>
            <a:r>
              <a:rPr lang="en-US" altLang="en-US" sz="1400" dirty="0"/>
              <a:t>	int x;</a:t>
            </a:r>
          </a:p>
          <a:p>
            <a:pPr marL="1257300" lvl="3" indent="0" eaLnBrk="1" hangingPunct="1">
              <a:lnSpc>
                <a:spcPct val="115000"/>
              </a:lnSpc>
              <a:buFont typeface="Arial" panose="020B0604020202020204" pitchFamily="34" charset="0"/>
              <a:buNone/>
            </a:pPr>
            <a:r>
              <a:rPr lang="en-US" altLang="en-US" sz="1400" dirty="0"/>
              <a:t>	int y;</a:t>
            </a:r>
          </a:p>
          <a:p>
            <a:pPr marL="1257300" lvl="3" indent="0" eaLnBrk="1" hangingPunct="1">
              <a:lnSpc>
                <a:spcPct val="115000"/>
              </a:lnSpc>
              <a:buFont typeface="Arial" panose="020B0604020202020204" pitchFamily="34" charset="0"/>
              <a:buNone/>
            </a:pPr>
            <a:r>
              <a:rPr lang="en-US" altLang="en-US" sz="1400" dirty="0"/>
              <a:t>}POINT;</a:t>
            </a:r>
          </a:p>
          <a:p>
            <a:pPr marL="1257300" lvl="3" indent="0" eaLnBrk="1" hangingPunct="1">
              <a:lnSpc>
                <a:spcPct val="115000"/>
              </a:lnSpc>
              <a:buFont typeface="Arial" panose="020B0604020202020204" pitchFamily="34" charset="0"/>
              <a:buNone/>
            </a:pPr>
            <a:r>
              <a:rPr lang="en-US" altLang="en-US" sz="1400" dirty="0"/>
              <a:t>void display(POINT);</a:t>
            </a:r>
          </a:p>
          <a:p>
            <a:pPr marL="1257300" lvl="3" indent="0" eaLnBrk="1" hangingPunct="1">
              <a:lnSpc>
                <a:spcPct val="115000"/>
              </a:lnSpc>
              <a:buFont typeface="Arial" panose="020B0604020202020204" pitchFamily="34" charset="0"/>
              <a:buNone/>
            </a:pPr>
            <a:r>
              <a:rPr lang="en-US" altLang="en-US" sz="1400" dirty="0"/>
              <a:t>main()</a:t>
            </a:r>
          </a:p>
          <a:p>
            <a:pPr marL="1257300" lvl="3" indent="0" eaLnBrk="1" hangingPunct="1">
              <a:lnSpc>
                <a:spcPct val="115000"/>
              </a:lnSpc>
              <a:buFont typeface="Arial" panose="020B0604020202020204" pitchFamily="34" charset="0"/>
              <a:buNone/>
            </a:pPr>
            <a:r>
              <a:rPr lang="en-US" altLang="en-US" sz="1400" dirty="0"/>
              <a:t>{</a:t>
            </a:r>
          </a:p>
          <a:p>
            <a:pPr marL="1257300" lvl="3" indent="0" eaLnBrk="1" hangingPunct="1">
              <a:lnSpc>
                <a:spcPct val="115000"/>
              </a:lnSpc>
              <a:buFont typeface="Arial" panose="020B0604020202020204" pitchFamily="34" charset="0"/>
              <a:buNone/>
            </a:pPr>
            <a:r>
              <a:rPr lang="en-US" altLang="en-US" sz="1400" dirty="0"/>
              <a:t>	POINT p1 = {2, 3};</a:t>
            </a:r>
          </a:p>
          <a:p>
            <a:pPr marL="1257300" lvl="3" indent="0" eaLnBrk="1" hangingPunct="1">
              <a:lnSpc>
                <a:spcPct val="115000"/>
              </a:lnSpc>
              <a:buFont typeface="Arial" panose="020B0604020202020204" pitchFamily="34" charset="0"/>
              <a:buNone/>
            </a:pPr>
            <a:r>
              <a:rPr lang="en-US" altLang="en-US" sz="1400" dirty="0"/>
              <a:t>	display(p1);</a:t>
            </a:r>
          </a:p>
          <a:p>
            <a:pPr marL="1257300" lvl="3" indent="0" eaLnBrk="1" hangingPunct="1">
              <a:lnSpc>
                <a:spcPct val="115000"/>
              </a:lnSpc>
              <a:buFont typeface="Arial" panose="020B0604020202020204" pitchFamily="34" charset="0"/>
              <a:buNone/>
            </a:pPr>
            <a:r>
              <a:rPr lang="en-US" altLang="en-US" sz="1400" dirty="0"/>
              <a:t>	return 0;</a:t>
            </a:r>
          </a:p>
          <a:p>
            <a:pPr marL="1257300" lvl="3" indent="0" eaLnBrk="1" hangingPunct="1">
              <a:lnSpc>
                <a:spcPct val="115000"/>
              </a:lnSpc>
              <a:buFont typeface="Arial" panose="020B0604020202020204" pitchFamily="34" charset="0"/>
              <a:buNone/>
            </a:pPr>
            <a:r>
              <a:rPr lang="en-US" altLang="en-US" sz="1400" dirty="0"/>
              <a:t>}</a:t>
            </a:r>
          </a:p>
          <a:p>
            <a:pPr marL="1257300" lvl="3" indent="0" eaLnBrk="1" hangingPunct="1">
              <a:lnSpc>
                <a:spcPct val="115000"/>
              </a:lnSpc>
              <a:buFont typeface="Arial" panose="020B0604020202020204" pitchFamily="34" charset="0"/>
              <a:buNone/>
            </a:pPr>
            <a:endParaRPr lang="en-US" altLang="en-US" sz="1400" dirty="0"/>
          </a:p>
        </p:txBody>
      </p: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5CB953A3-965A-E392-69A4-A37BC4E2F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42548" y="3467528"/>
            <a:ext cx="4143214" cy="1901968"/>
          </a:xfrm>
        </p:spPr>
        <p:txBody>
          <a:bodyPr/>
          <a:lstStyle/>
          <a:p>
            <a:pPr marL="1257300" lvl="3" indent="0" eaLnBrk="1" hangingPunct="1">
              <a:lnSpc>
                <a:spcPct val="115000"/>
              </a:lnSpc>
              <a:buFont typeface="Arial" panose="020B0604020202020204" pitchFamily="34" charset="0"/>
              <a:buNone/>
            </a:pPr>
            <a:r>
              <a:rPr lang="en-US" altLang="en-US" sz="1200" dirty="0"/>
              <a:t>void display( POINT p)</a:t>
            </a:r>
          </a:p>
          <a:p>
            <a:pPr marL="1257300" lvl="3" indent="0" eaLnBrk="1" hangingPunct="1">
              <a:lnSpc>
                <a:spcPct val="115000"/>
              </a:lnSpc>
              <a:buFont typeface="Arial" panose="020B0604020202020204" pitchFamily="34" charset="0"/>
              <a:buNone/>
            </a:pPr>
            <a:r>
              <a:rPr lang="en-US" altLang="en-US" sz="1200" dirty="0"/>
              <a:t>{</a:t>
            </a:r>
          </a:p>
          <a:p>
            <a:pPr marL="1257300" lvl="3" indent="0" eaLnBrk="1" hangingPunct="1">
              <a:lnSpc>
                <a:spcPct val="115000"/>
              </a:lnSpc>
              <a:buFont typeface="Arial" panose="020B0604020202020204" pitchFamily="34" charset="0"/>
              <a:buNone/>
            </a:pPr>
            <a:r>
              <a:rPr lang="en-US" altLang="en-US" sz="1200" dirty="0"/>
              <a:t>	</a:t>
            </a:r>
            <a:r>
              <a:rPr lang="en-US" altLang="en-US" sz="1200" dirty="0" err="1"/>
              <a:t>printf</a:t>
            </a:r>
            <a:r>
              <a:rPr lang="en-US" altLang="en-US" sz="1200" dirty="0"/>
              <a:t>("%d %d", </a:t>
            </a:r>
            <a:r>
              <a:rPr lang="en-US" altLang="en-US" sz="1200" dirty="0" err="1"/>
              <a:t>p.x</a:t>
            </a:r>
            <a:r>
              <a:rPr lang="en-US" altLang="en-US" sz="1200" dirty="0"/>
              <a:t>, </a:t>
            </a:r>
            <a:r>
              <a:rPr lang="en-US" altLang="en-US" sz="1200" dirty="0" err="1"/>
              <a:t>p.y</a:t>
            </a:r>
            <a:r>
              <a:rPr lang="en-US" altLang="en-US" sz="1200" dirty="0"/>
              <a:t>);</a:t>
            </a:r>
          </a:p>
          <a:p>
            <a:pPr marL="1257300" lvl="3" indent="0" eaLnBrk="1" hangingPunct="1">
              <a:lnSpc>
                <a:spcPct val="115000"/>
              </a:lnSpc>
              <a:buFont typeface="Arial" panose="020B0604020202020204" pitchFamily="34" charset="0"/>
              <a:buNone/>
            </a:pPr>
            <a:r>
              <a:rPr lang="en-US" altLang="en-US" sz="1200" dirty="0"/>
              <a:t>}</a:t>
            </a:r>
            <a:r>
              <a:rPr lang="en-IN" dirty="0">
                <a:solidFill>
                  <a:schemeClr val="tx2">
                    <a:lumMod val="50000"/>
                  </a:schemeClr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E0956E6E-4680-73B1-85AD-C7273E50EB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9600"/>
          </a:xfrm>
          <a:noFill/>
        </p:spPr>
        <p:txBody>
          <a:bodyPr rtlCol="0">
            <a:noAutofit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n-US" altLang="en-US" sz="2800" b="1" dirty="0">
                <a:solidFill>
                  <a:schemeClr val="tx1"/>
                </a:solidFill>
              </a:rPr>
              <a:t>NESTED STRUCTURES 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4B5EF06F-BA60-3CC2-89C6-8A8324C4407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685800"/>
            <a:ext cx="9144000" cy="6172200"/>
          </a:xfrm>
        </p:spPr>
        <p:txBody>
          <a:bodyPr/>
          <a:lstStyle/>
          <a:p>
            <a:pPr marL="0" indent="0" eaLnBrk="1" hangingPunct="1">
              <a:lnSpc>
                <a:spcPct val="110000"/>
              </a:lnSpc>
              <a:buFont typeface="Arial" panose="020B0604020202020204" pitchFamily="34" charset="0"/>
              <a:buNone/>
            </a:pPr>
            <a:endParaRPr lang="en-US" altLang="en-US" sz="1400" b="1" dirty="0"/>
          </a:p>
          <a:p>
            <a:pPr marL="0" indent="0" eaLnBrk="1" hangingPunct="1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 altLang="en-US" sz="1400" b="1" dirty="0"/>
              <a:t>A structure can be placed within another structure. That is, a structure may contain another structure as its member. Such a structure that contains another structure as its member is called a nested structure.</a:t>
            </a:r>
            <a:r>
              <a:rPr lang="en-US" altLang="en-US" sz="1400" dirty="0"/>
              <a:t> </a:t>
            </a:r>
          </a:p>
          <a:p>
            <a:pPr marL="0" indent="0" eaLnBrk="1" hangingPunct="1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 altLang="en-US" sz="1200" b="1" dirty="0"/>
              <a:t>typedef struct</a:t>
            </a:r>
          </a:p>
          <a:p>
            <a:pPr marL="0" indent="0" eaLnBrk="1" hangingPunct="1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 altLang="en-US" sz="1200" b="1" dirty="0"/>
              <a:t> {	char </a:t>
            </a:r>
            <a:r>
              <a:rPr lang="en-US" altLang="en-US" sz="1200" b="1" dirty="0" err="1"/>
              <a:t>first_name</a:t>
            </a:r>
            <a:r>
              <a:rPr lang="en-US" altLang="en-US" sz="1200" b="1" dirty="0"/>
              <a:t>[20];</a:t>
            </a:r>
          </a:p>
          <a:p>
            <a:pPr marL="0" indent="0" eaLnBrk="1" hangingPunct="1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 altLang="en-US" sz="1200" b="1" dirty="0"/>
              <a:t>	char </a:t>
            </a:r>
            <a:r>
              <a:rPr lang="en-US" altLang="en-US" sz="1200" b="1" dirty="0" err="1"/>
              <a:t>mid_name</a:t>
            </a:r>
            <a:r>
              <a:rPr lang="en-US" altLang="en-US" sz="1200" b="1" dirty="0"/>
              <a:t>[20];	</a:t>
            </a:r>
          </a:p>
          <a:p>
            <a:pPr marL="342900" lvl="1" indent="0" eaLnBrk="1" hangingPunct="1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 altLang="en-US" sz="1200" b="1" dirty="0"/>
              <a:t>		char </a:t>
            </a:r>
            <a:r>
              <a:rPr lang="en-US" altLang="en-US" sz="1200" b="1" dirty="0" err="1"/>
              <a:t>last_name</a:t>
            </a:r>
            <a:r>
              <a:rPr lang="en-US" altLang="en-US" sz="1200" b="1" dirty="0"/>
              <a:t>[20];</a:t>
            </a:r>
          </a:p>
          <a:p>
            <a:pPr marL="342900" lvl="1" indent="0" eaLnBrk="1" hangingPunct="1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 altLang="en-US" sz="1200" b="1" dirty="0"/>
              <a:t>}NAME;</a:t>
            </a:r>
          </a:p>
          <a:p>
            <a:pPr marL="342900" lvl="1" indent="0" eaLnBrk="1" hangingPunct="1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 altLang="en-US" sz="1200" b="1" dirty="0"/>
              <a:t>typedef struct</a:t>
            </a:r>
          </a:p>
          <a:p>
            <a:pPr marL="342900" lvl="1" indent="0" eaLnBrk="1" hangingPunct="1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 altLang="en-US" sz="1200" b="1" dirty="0"/>
              <a:t>{	int dd;	</a:t>
            </a:r>
          </a:p>
          <a:p>
            <a:pPr marL="342900" lvl="1" indent="0" eaLnBrk="1" hangingPunct="1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 altLang="en-US" sz="1200" b="1" dirty="0"/>
              <a:t>	int mm;</a:t>
            </a:r>
          </a:p>
          <a:p>
            <a:pPr marL="342900" lvl="1" indent="0" eaLnBrk="1" hangingPunct="1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 altLang="en-US" sz="1200" b="1" dirty="0"/>
              <a:t>	int </a:t>
            </a:r>
            <a:r>
              <a:rPr lang="en-US" altLang="en-US" sz="1200" b="1" dirty="0" err="1"/>
              <a:t>yy</a:t>
            </a:r>
            <a:r>
              <a:rPr lang="en-US" altLang="en-US" sz="1200" b="1" dirty="0"/>
              <a:t>;</a:t>
            </a:r>
          </a:p>
          <a:p>
            <a:pPr marL="342900" lvl="1" indent="0" eaLnBrk="1" hangingPunct="1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 altLang="en-US" sz="1200" b="1" dirty="0"/>
              <a:t>}DATE; </a:t>
            </a:r>
          </a:p>
          <a:p>
            <a:pPr marL="342900" lvl="1" indent="0" eaLnBrk="1" hangingPunct="1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 altLang="en-US" sz="1200" b="1" dirty="0"/>
              <a:t>struct student stud1;</a:t>
            </a:r>
          </a:p>
          <a:p>
            <a:pPr marL="0" indent="0" eaLnBrk="1" hangingPunct="1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 altLang="en-US" sz="1200" b="1" dirty="0"/>
              <a:t>	stud1.name.first_name = “Janak”;</a:t>
            </a:r>
          </a:p>
          <a:p>
            <a:pPr marL="342900" lvl="1" indent="0" eaLnBrk="1" hangingPunct="1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 altLang="en-US" sz="1200" b="1" dirty="0"/>
              <a:t> stud1.name.mid_name = “Raj”;</a:t>
            </a:r>
          </a:p>
          <a:p>
            <a:pPr marL="0" indent="0" eaLnBrk="1" hangingPunct="1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 altLang="en-US" sz="1200" b="1" dirty="0"/>
              <a:t>stud1.name.last_name = “</a:t>
            </a:r>
            <a:r>
              <a:rPr lang="en-US" altLang="en-US" sz="1200" b="1" dirty="0" err="1"/>
              <a:t>Thareja</a:t>
            </a:r>
            <a:r>
              <a:rPr lang="en-US" altLang="en-US" sz="1200" b="1" dirty="0"/>
              <a:t>”;</a:t>
            </a:r>
          </a:p>
          <a:p>
            <a:pPr marL="0" indent="0" eaLnBrk="1" hangingPunct="1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 altLang="en-US" sz="1200" b="1" dirty="0"/>
              <a:t>stud1.course = “BCA”;</a:t>
            </a:r>
          </a:p>
          <a:p>
            <a:pPr marL="0" indent="0" eaLnBrk="1" hangingPunct="1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 altLang="en-US" sz="1200" b="1" dirty="0"/>
              <a:t>stud1.DOB.dd = 15;</a:t>
            </a:r>
          </a:p>
          <a:p>
            <a:pPr marL="0" indent="0" eaLnBrk="1" hangingPunct="1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 altLang="en-US" sz="1200" b="1" dirty="0"/>
              <a:t>stud1.DOB.mm = 09;</a:t>
            </a:r>
          </a:p>
          <a:p>
            <a:pPr marL="0" indent="0" eaLnBrk="1" hangingPunct="1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 altLang="en-US" sz="1200" b="1" dirty="0"/>
              <a:t>stud1.DOB.yy = 1990;</a:t>
            </a:r>
          </a:p>
          <a:p>
            <a:pPr marL="0" indent="0" eaLnBrk="1" hangingPunct="1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 altLang="en-US" sz="1200" b="1" dirty="0"/>
              <a:t>stud1.fees = 45000;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184B4FA2-FE67-7CD8-FFDB-2DBAF2F040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38200"/>
          </a:xfrm>
          <a:noFill/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2400" dirty="0">
                <a:solidFill>
                  <a:srgbClr val="002060"/>
                </a:solidFill>
              </a:rPr>
              <a:t>Write a program to read and display information of a student using structure within a structure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CEC4C23C-E248-35F4-4A5D-4FA7DF34601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914400"/>
            <a:ext cx="9144000" cy="5867400"/>
          </a:xfr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>
            <a:pPr marL="88900" indent="0" eaLnBrk="1" hangingPunct="1">
              <a:lnSpc>
                <a:spcPct val="80000"/>
              </a:lnSpc>
              <a:buNone/>
            </a:pPr>
            <a:r>
              <a:rPr lang="en-US" altLang="en-US" sz="1200" b="1" dirty="0"/>
              <a:t>#include&lt;stdio.h&gt;</a:t>
            </a:r>
          </a:p>
          <a:p>
            <a:pPr marL="88900" indent="0" eaLnBrk="1" hangingPunct="1">
              <a:lnSpc>
                <a:spcPct val="80000"/>
              </a:lnSpc>
              <a:buNone/>
            </a:pPr>
            <a:r>
              <a:rPr lang="en-US" altLang="en-US" sz="1200" b="1" dirty="0"/>
              <a:t>int main()</a:t>
            </a:r>
          </a:p>
          <a:p>
            <a:pPr marL="88900" indent="0" eaLnBrk="1" hangingPunct="1">
              <a:lnSpc>
                <a:spcPct val="80000"/>
              </a:lnSpc>
              <a:buNone/>
            </a:pPr>
            <a:r>
              <a:rPr lang="en-US" altLang="en-US" sz="1200" b="1" dirty="0"/>
              <a:t>{	struct DOB</a:t>
            </a:r>
          </a:p>
          <a:p>
            <a:pPr marL="88900" indent="0" eaLnBrk="1" hangingPunct="1">
              <a:lnSpc>
                <a:spcPct val="80000"/>
              </a:lnSpc>
              <a:buNone/>
            </a:pPr>
            <a:r>
              <a:rPr lang="en-US" altLang="en-US" sz="1200" b="1" dirty="0"/>
              <a:t>	{</a:t>
            </a:r>
          </a:p>
          <a:p>
            <a:pPr marL="88900" indent="0" eaLnBrk="1" hangingPunct="1">
              <a:lnSpc>
                <a:spcPct val="80000"/>
              </a:lnSpc>
              <a:buNone/>
            </a:pPr>
            <a:r>
              <a:rPr lang="en-US" altLang="en-US" sz="1200" b="1" dirty="0"/>
              <a:t>		int day;</a:t>
            </a:r>
          </a:p>
          <a:p>
            <a:pPr marL="88900" indent="0" eaLnBrk="1" hangingPunct="1">
              <a:lnSpc>
                <a:spcPct val="80000"/>
              </a:lnSpc>
              <a:buNone/>
            </a:pPr>
            <a:r>
              <a:rPr lang="en-US" altLang="en-US" sz="1200" b="1" dirty="0"/>
              <a:t>		int month;</a:t>
            </a:r>
          </a:p>
          <a:p>
            <a:pPr marL="88900" indent="0" eaLnBrk="1" hangingPunct="1">
              <a:lnSpc>
                <a:spcPct val="80000"/>
              </a:lnSpc>
              <a:buNone/>
            </a:pPr>
            <a:r>
              <a:rPr lang="en-US" altLang="en-US" sz="1200" b="1" dirty="0"/>
              <a:t>		int year;</a:t>
            </a:r>
          </a:p>
          <a:p>
            <a:pPr marL="88900" indent="0" eaLnBrk="1" hangingPunct="1">
              <a:lnSpc>
                <a:spcPct val="80000"/>
              </a:lnSpc>
              <a:buNone/>
            </a:pPr>
            <a:r>
              <a:rPr lang="en-US" altLang="en-US" sz="1200" b="1" dirty="0"/>
              <a:t>	};</a:t>
            </a:r>
          </a:p>
          <a:p>
            <a:pPr marL="88900" indent="0" eaLnBrk="1" hangingPunct="1">
              <a:lnSpc>
                <a:spcPct val="80000"/>
              </a:lnSpc>
              <a:buNone/>
            </a:pPr>
            <a:r>
              <a:rPr lang="en-US" altLang="en-US" sz="1200" b="1" dirty="0"/>
              <a:t>	struct student</a:t>
            </a:r>
          </a:p>
          <a:p>
            <a:pPr marL="88900" indent="0" eaLnBrk="1" hangingPunct="1">
              <a:lnSpc>
                <a:spcPct val="80000"/>
              </a:lnSpc>
              <a:buNone/>
            </a:pPr>
            <a:r>
              <a:rPr lang="en-US" altLang="en-US" sz="1200" b="1" dirty="0"/>
              <a:t>	{	int </a:t>
            </a:r>
            <a:r>
              <a:rPr lang="en-US" altLang="en-US" sz="1200" b="1" dirty="0" err="1"/>
              <a:t>roll_no</a:t>
            </a:r>
            <a:r>
              <a:rPr lang="en-US" altLang="en-US" sz="1200" b="1" dirty="0"/>
              <a:t>;</a:t>
            </a:r>
          </a:p>
          <a:p>
            <a:pPr marL="88900" indent="0" eaLnBrk="1" hangingPunct="1">
              <a:lnSpc>
                <a:spcPct val="80000"/>
              </a:lnSpc>
              <a:buNone/>
            </a:pPr>
            <a:r>
              <a:rPr lang="en-US" altLang="en-US" sz="1200" b="1" dirty="0"/>
              <a:t>		char name[100];</a:t>
            </a:r>
          </a:p>
          <a:p>
            <a:pPr marL="88900" indent="0" eaLnBrk="1" hangingPunct="1">
              <a:lnSpc>
                <a:spcPct val="80000"/>
              </a:lnSpc>
              <a:buNone/>
            </a:pPr>
            <a:r>
              <a:rPr lang="en-US" altLang="en-US" sz="1200" b="1" dirty="0"/>
              <a:t>		float fees;</a:t>
            </a:r>
          </a:p>
          <a:p>
            <a:pPr marL="88900" indent="0" eaLnBrk="1" hangingPunct="1">
              <a:lnSpc>
                <a:spcPct val="80000"/>
              </a:lnSpc>
              <a:buNone/>
            </a:pPr>
            <a:r>
              <a:rPr lang="en-US" altLang="en-US" sz="1200" b="1" dirty="0"/>
              <a:t>		struct DOB date;</a:t>
            </a:r>
          </a:p>
          <a:p>
            <a:pPr marL="88900" indent="0" eaLnBrk="1" hangingPunct="1">
              <a:lnSpc>
                <a:spcPct val="80000"/>
              </a:lnSpc>
              <a:buNone/>
            </a:pPr>
            <a:r>
              <a:rPr lang="en-US" altLang="en-US" sz="1200" b="1" dirty="0"/>
              <a:t>	};</a:t>
            </a:r>
          </a:p>
          <a:p>
            <a:pPr marL="88900" indent="0" eaLnBrk="1" hangingPunct="1">
              <a:lnSpc>
                <a:spcPct val="80000"/>
              </a:lnSpc>
              <a:buNone/>
            </a:pPr>
            <a:r>
              <a:rPr lang="en-US" altLang="en-US" sz="1200" b="1" dirty="0"/>
              <a:t>	struct student stud1;</a:t>
            </a:r>
          </a:p>
          <a:p>
            <a:pPr marL="88900" indent="0" eaLnBrk="1" hangingPunct="1">
              <a:lnSpc>
                <a:spcPct val="80000"/>
              </a:lnSpc>
              <a:buNone/>
            </a:pPr>
            <a:r>
              <a:rPr lang="en-US" altLang="en-US" sz="1200" b="1" dirty="0"/>
              <a:t>	</a:t>
            </a:r>
            <a:r>
              <a:rPr lang="en-US" altLang="en-US" sz="1200" b="1" dirty="0" err="1"/>
              <a:t>printf</a:t>
            </a:r>
            <a:r>
              <a:rPr lang="en-US" altLang="en-US" sz="1200" b="1" dirty="0"/>
              <a:t>(“\n Enter the roll number : “);</a:t>
            </a:r>
          </a:p>
          <a:p>
            <a:pPr marL="88900" indent="0" eaLnBrk="1" hangingPunct="1">
              <a:lnSpc>
                <a:spcPct val="80000"/>
              </a:lnSpc>
              <a:buNone/>
            </a:pPr>
            <a:r>
              <a:rPr lang="en-US" altLang="en-US" sz="1200" b="1" dirty="0"/>
              <a:t>	</a:t>
            </a:r>
            <a:r>
              <a:rPr lang="en-US" altLang="en-US" sz="1200" b="1" dirty="0" err="1"/>
              <a:t>scanf</a:t>
            </a:r>
            <a:r>
              <a:rPr lang="en-US" altLang="en-US" sz="1200" b="1" dirty="0"/>
              <a:t>(“%d”, &amp;stud1.roll_no);</a:t>
            </a:r>
          </a:p>
          <a:p>
            <a:pPr marL="88900" indent="0" eaLnBrk="1" hangingPunct="1">
              <a:lnSpc>
                <a:spcPct val="80000"/>
              </a:lnSpc>
              <a:buNone/>
            </a:pPr>
            <a:r>
              <a:rPr lang="en-US" altLang="en-US" sz="1200" b="1" dirty="0"/>
              <a:t>	</a:t>
            </a:r>
            <a:r>
              <a:rPr lang="en-US" altLang="en-US" sz="1200" b="1" dirty="0" err="1"/>
              <a:t>printf</a:t>
            </a:r>
            <a:r>
              <a:rPr lang="en-US" altLang="en-US" sz="1200" b="1" dirty="0"/>
              <a:t>(“\n Enter the name : “);</a:t>
            </a:r>
          </a:p>
          <a:p>
            <a:pPr marL="88900" indent="0" eaLnBrk="1" hangingPunct="1">
              <a:lnSpc>
                <a:spcPct val="80000"/>
              </a:lnSpc>
              <a:buNone/>
            </a:pPr>
            <a:r>
              <a:rPr lang="en-US" altLang="en-US" sz="1200" b="1" dirty="0"/>
              <a:t>	</a:t>
            </a:r>
            <a:r>
              <a:rPr lang="en-US" altLang="en-US" sz="1200" b="1" dirty="0" err="1"/>
              <a:t>scanf</a:t>
            </a:r>
            <a:r>
              <a:rPr lang="en-US" altLang="en-US" sz="1200" b="1" dirty="0"/>
              <a:t>(“%s”, stud1.name);</a:t>
            </a:r>
          </a:p>
          <a:p>
            <a:pPr marL="88900" indent="0" eaLnBrk="1" hangingPunct="1">
              <a:lnSpc>
                <a:spcPct val="80000"/>
              </a:lnSpc>
              <a:buNone/>
            </a:pPr>
            <a:r>
              <a:rPr lang="en-US" altLang="en-US" sz="1200" b="1" dirty="0"/>
              <a:t>	</a:t>
            </a:r>
            <a:r>
              <a:rPr lang="en-US" altLang="en-US" sz="1200" b="1" dirty="0" err="1"/>
              <a:t>printf</a:t>
            </a:r>
            <a:r>
              <a:rPr lang="en-US" altLang="en-US" sz="1200" b="1" dirty="0"/>
              <a:t>(“\n Enter the fees : “);</a:t>
            </a:r>
          </a:p>
          <a:p>
            <a:pPr marL="88900" indent="0" eaLnBrk="1" hangingPunct="1">
              <a:lnSpc>
                <a:spcPct val="80000"/>
              </a:lnSpc>
              <a:buNone/>
            </a:pPr>
            <a:r>
              <a:rPr lang="en-US" altLang="en-US" sz="1200" b="1" dirty="0"/>
              <a:t>	</a:t>
            </a:r>
            <a:r>
              <a:rPr lang="en-US" altLang="en-US" sz="1200" b="1" dirty="0" err="1"/>
              <a:t>scanf</a:t>
            </a:r>
            <a:r>
              <a:rPr lang="en-US" altLang="en-US" sz="1200" b="1" dirty="0"/>
              <a:t>(“%f”, &amp;stud1.fees);</a:t>
            </a:r>
          </a:p>
          <a:p>
            <a:pPr marL="88900" indent="0" eaLnBrk="1" hangingPunct="1">
              <a:lnSpc>
                <a:spcPct val="80000"/>
              </a:lnSpc>
              <a:buNone/>
            </a:pPr>
            <a:r>
              <a:rPr lang="en-US" altLang="en-US" sz="1200" b="1" dirty="0"/>
              <a:t>	</a:t>
            </a:r>
            <a:r>
              <a:rPr lang="en-US" altLang="en-US" sz="1200" b="1" dirty="0" err="1"/>
              <a:t>printf</a:t>
            </a:r>
            <a:r>
              <a:rPr lang="en-US" altLang="en-US" sz="1200" b="1" dirty="0"/>
              <a:t>(“\n Enter the DOB : “);</a:t>
            </a:r>
          </a:p>
          <a:p>
            <a:pPr marL="88900" indent="0" eaLnBrk="1" hangingPunct="1">
              <a:lnSpc>
                <a:spcPct val="80000"/>
              </a:lnSpc>
              <a:buNone/>
            </a:pPr>
            <a:r>
              <a:rPr lang="en-US" altLang="en-US" sz="1200" b="1" dirty="0"/>
              <a:t>	</a:t>
            </a:r>
            <a:r>
              <a:rPr lang="en-US" altLang="en-US" sz="1200" b="1" dirty="0" err="1"/>
              <a:t>scanf</a:t>
            </a:r>
            <a:r>
              <a:rPr lang="en-US" altLang="en-US" sz="1200" b="1" dirty="0"/>
              <a:t>(“%d %d %d”, &amp;stud1.date.day, &amp;stud1.date.month, &amp;stud1.date.year);</a:t>
            </a:r>
          </a:p>
          <a:p>
            <a:pPr marL="88900" indent="0" eaLnBrk="1" hangingPunct="1">
              <a:lnSpc>
                <a:spcPct val="80000"/>
              </a:lnSpc>
              <a:buNone/>
            </a:pPr>
            <a:r>
              <a:rPr lang="en-US" altLang="en-US" sz="1200" b="1" dirty="0"/>
              <a:t>	</a:t>
            </a:r>
            <a:r>
              <a:rPr lang="en-US" altLang="en-US" sz="1200" b="1" dirty="0" err="1"/>
              <a:t>printf</a:t>
            </a:r>
            <a:r>
              <a:rPr lang="en-US" altLang="en-US" sz="1200" b="1" dirty="0"/>
              <a:t>(“\n ********STUDENT’S DETAILS *******”);</a:t>
            </a:r>
          </a:p>
          <a:p>
            <a:pPr marL="88900" indent="0" eaLnBrk="1" hangingPunct="1">
              <a:lnSpc>
                <a:spcPct val="80000"/>
              </a:lnSpc>
              <a:buNone/>
            </a:pPr>
            <a:r>
              <a:rPr lang="en-US" altLang="en-US" sz="1200" b="1" dirty="0"/>
              <a:t>	</a:t>
            </a:r>
            <a:r>
              <a:rPr lang="en-US" altLang="en-US" sz="1200" b="1" dirty="0" err="1"/>
              <a:t>printf</a:t>
            </a:r>
            <a:r>
              <a:rPr lang="en-US" altLang="en-US" sz="1200" b="1" dirty="0"/>
              <a:t>(“\n ROLL No. = %d”, stud1.roll_no);</a:t>
            </a:r>
          </a:p>
          <a:p>
            <a:pPr marL="88900" indent="0" eaLnBrk="1" hangingPunct="1">
              <a:lnSpc>
                <a:spcPct val="80000"/>
              </a:lnSpc>
              <a:buNone/>
            </a:pPr>
            <a:r>
              <a:rPr lang="en-US" altLang="en-US" sz="1200" b="1" dirty="0"/>
              <a:t>	</a:t>
            </a:r>
            <a:r>
              <a:rPr lang="en-US" altLang="en-US" sz="1200" b="1" dirty="0" err="1"/>
              <a:t>printf</a:t>
            </a:r>
            <a:r>
              <a:rPr lang="en-US" altLang="en-US" sz="1200" b="1" dirty="0"/>
              <a:t>(“\n NAME. = %s”, stud1.name);</a:t>
            </a:r>
          </a:p>
          <a:p>
            <a:pPr marL="88900" indent="0" eaLnBrk="1" hangingPunct="1">
              <a:lnSpc>
                <a:spcPct val="80000"/>
              </a:lnSpc>
              <a:buNone/>
            </a:pPr>
            <a:r>
              <a:rPr lang="en-US" altLang="en-US" sz="1200" b="1" dirty="0"/>
              <a:t>	</a:t>
            </a:r>
            <a:r>
              <a:rPr lang="en-US" altLang="en-US" sz="1200" b="1" dirty="0" err="1"/>
              <a:t>printf</a:t>
            </a:r>
            <a:r>
              <a:rPr lang="en-US" altLang="en-US" sz="1200" b="1" dirty="0"/>
              <a:t>(“\n FEES. = %f”, stud1.fees);</a:t>
            </a:r>
          </a:p>
          <a:p>
            <a:pPr marL="88900" indent="0" eaLnBrk="1" hangingPunct="1">
              <a:lnSpc>
                <a:spcPct val="80000"/>
              </a:lnSpc>
              <a:buNone/>
            </a:pPr>
            <a:r>
              <a:rPr lang="en-US" altLang="en-US" sz="1200" b="1" dirty="0"/>
              <a:t>	</a:t>
            </a:r>
            <a:r>
              <a:rPr lang="en-US" altLang="en-US" sz="1200" b="1" dirty="0" err="1"/>
              <a:t>printf</a:t>
            </a:r>
            <a:r>
              <a:rPr lang="en-US" altLang="en-US" sz="1200" b="1" dirty="0"/>
              <a:t>(“\n DOB = %d - %d - %d”, stud1.date.day, stud1.date.month, stud1.date.year);</a:t>
            </a:r>
          </a:p>
          <a:p>
            <a:pPr marL="88900" indent="0" eaLnBrk="1" hangingPunct="1">
              <a:lnSpc>
                <a:spcPct val="80000"/>
              </a:lnSpc>
              <a:buNone/>
            </a:pPr>
            <a:r>
              <a:rPr lang="en-US" altLang="en-US" sz="1200" b="1" dirty="0"/>
              <a:t>}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31003-A460-5A5F-A149-E8973AD1636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Quiz Time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3E9E49-13F3-40B7-9608-CC865E2B27E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17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0B7E1EB4-0B0A-0B19-0CA5-8DFE3B8E7DC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604938" y="1736888"/>
            <a:ext cx="7015062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Question: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What is the correct syntax for defining a structure in C?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Options: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a) struct { int a; };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92D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b) struct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rgbClr val="92D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MyStruct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92D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{ int a; };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c) structure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MyStruct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{ int a; };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d) struct: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MyStruct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{ int a; }; </a:t>
            </a:r>
          </a:p>
        </p:txBody>
      </p:sp>
    </p:spTree>
    <p:extLst>
      <p:ext uri="{BB962C8B-B14F-4D97-AF65-F5344CB8AC3E}">
        <p14:creationId xmlns:p14="http://schemas.microsoft.com/office/powerpoint/2010/main" val="20788650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E343D-4C5F-FDDE-4019-B8E33114C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A79AD-B5A7-A64A-97BE-541A004F48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Correct Answer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F2D549-7432-F733-D6D5-8C2E7E2A47E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18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2F60C76-00A2-822E-B57F-0883191CF8E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604938" y="1736888"/>
            <a:ext cx="7015062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Question: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What is the correct syntax for defining a structure in C?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Options: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a) struct { int a; };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b) struct MyStruct { int a; };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c) structure MyStruct { int a; };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d) struct: MyStruct { int a; }; </a:t>
            </a:r>
          </a:p>
        </p:txBody>
      </p:sp>
    </p:spTree>
    <p:extLst>
      <p:ext uri="{BB962C8B-B14F-4D97-AF65-F5344CB8AC3E}">
        <p14:creationId xmlns:p14="http://schemas.microsoft.com/office/powerpoint/2010/main" val="25212552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5BAD5-C0DD-0A59-85E8-3BA3C042285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Solution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2178D5-3A0A-38DC-C483-1404F9E960C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19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DA90638-7264-8156-9D0A-7C741A4AAC1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800528" y="1613867"/>
            <a:ext cx="9579867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Question: How do you access a member of a structure variable in C?</a:t>
            </a:r>
            <a:b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Options:</a:t>
            </a:r>
            <a:b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a) Using the -&gt; operator</a:t>
            </a:r>
            <a:b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b) Using the . operator</a:t>
            </a:r>
            <a:b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c) Using the : operator</a:t>
            </a:r>
            <a:b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d) Using the * operator </a:t>
            </a:r>
          </a:p>
        </p:txBody>
      </p:sp>
    </p:spTree>
    <p:extLst>
      <p:ext uri="{BB962C8B-B14F-4D97-AF65-F5344CB8AC3E}">
        <p14:creationId xmlns:p14="http://schemas.microsoft.com/office/powerpoint/2010/main" val="22192883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0041B1-66BC-913F-15B2-129F82DB3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B320E-FAAD-573F-F427-37CF134995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Question 2: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917A31-9E66-2A53-59D5-93078A6D25B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20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2D3426AC-79BF-8B81-E98C-F021EC31E56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800528" y="1613867"/>
            <a:ext cx="9579867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Question: How do you access a member of a structure variable in C?</a:t>
            </a:r>
            <a:b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Options:</a:t>
            </a:r>
            <a:b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a) Using the -&gt; operator</a:t>
            </a:r>
            <a:b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en-US" altLang="en-US" sz="2400" b="1" dirty="0">
                <a:solidFill>
                  <a:srgbClr val="92D050"/>
                </a:solidFill>
                <a:latin typeface="Arial" panose="020B0604020202020204" pitchFamily="34" charset="0"/>
              </a:rPr>
              <a:t>b) Using the . operator</a:t>
            </a:r>
            <a:b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c) Using the : operator</a:t>
            </a:r>
            <a:b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d) Using the * operator </a:t>
            </a:r>
          </a:p>
        </p:txBody>
      </p:sp>
    </p:spTree>
    <p:extLst>
      <p:ext uri="{BB962C8B-B14F-4D97-AF65-F5344CB8AC3E}">
        <p14:creationId xmlns:p14="http://schemas.microsoft.com/office/powerpoint/2010/main" val="21595629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9BBDA-DC7F-AFCC-DAD9-9B574F63000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Question 3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DB29C5-AF98-AFB9-FADC-02C097E22A8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21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0C27EAC9-9425-E564-E9F0-B8CEB3A4CBA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625868" y="2090172"/>
            <a:ext cx="7254411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Question: Which of the following correctly declares an array of structures?</a:t>
            </a:r>
            <a:b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Options:</a:t>
            </a:r>
            <a:b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a) struct Student s[5];</a:t>
            </a:r>
            <a:b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b) Student struct s[5];</a:t>
            </a:r>
            <a:b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c) struct Student s[5]();</a:t>
            </a:r>
            <a:b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d) struct s[5];</a:t>
            </a:r>
          </a:p>
        </p:txBody>
      </p:sp>
    </p:spTree>
    <p:extLst>
      <p:ext uri="{BB962C8B-B14F-4D97-AF65-F5344CB8AC3E}">
        <p14:creationId xmlns:p14="http://schemas.microsoft.com/office/powerpoint/2010/main" val="7385274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D2486-0AF4-18BA-2E8B-C0F9D65A8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E3751-D98A-76C2-84C6-9BDD0A9D7A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Solution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17FAB9-0AB7-55B7-4D5E-31A795F5619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22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4665683-E664-43FF-77CB-75C8D3BF3F9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160124" y="1422351"/>
            <a:ext cx="7254411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Question: 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Which of the following correctly declares an array of structures?</a:t>
            </a:r>
            <a:b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Options:</a:t>
            </a:r>
            <a:b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400" b="1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a) struct Student s[5];</a:t>
            </a:r>
            <a:b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b) Student struct s[5];</a:t>
            </a:r>
            <a:b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c) struct Student s[5]();</a:t>
            </a:r>
            <a:b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d) struct s[5];</a:t>
            </a:r>
          </a:p>
        </p:txBody>
      </p:sp>
    </p:spTree>
    <p:extLst>
      <p:ext uri="{BB962C8B-B14F-4D97-AF65-F5344CB8AC3E}">
        <p14:creationId xmlns:p14="http://schemas.microsoft.com/office/powerpoint/2010/main" val="17395619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78A97-755C-49F8-6DBB-B9B30BB521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Question 4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E08D11-9D73-9757-C6EA-DF843810A1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5319" y="1066800"/>
            <a:ext cx="8153400" cy="4724400"/>
          </a:xfrm>
        </p:spPr>
        <p:txBody>
          <a:bodyPr/>
          <a:lstStyle/>
          <a:p>
            <a:pPr algn="l"/>
            <a:r>
              <a:rPr lang="en-US" sz="2000" b="1" dirty="0">
                <a:solidFill>
                  <a:schemeClr val="tx1"/>
                </a:solidFill>
              </a:rPr>
              <a:t>Question:</a:t>
            </a:r>
            <a:r>
              <a:rPr lang="en-US" sz="2000" dirty="0">
                <a:solidFill>
                  <a:schemeClr val="tx1"/>
                </a:solidFill>
              </a:rPr>
              <a:t> What will be the output of the following code?</a:t>
            </a:r>
          </a:p>
          <a:p>
            <a:pPr algn="l"/>
            <a:endParaRPr lang="en-US" sz="2000" dirty="0">
              <a:solidFill>
                <a:schemeClr val="tx1"/>
              </a:solidFill>
            </a:endParaRPr>
          </a:p>
          <a:p>
            <a:pPr algn="l"/>
            <a:r>
              <a:rPr lang="en-IN" sz="2000" dirty="0">
                <a:solidFill>
                  <a:schemeClr val="tx1"/>
                </a:solidFill>
              </a:rPr>
              <a:t>#include &lt;</a:t>
            </a:r>
            <a:r>
              <a:rPr lang="en-IN" sz="2000" dirty="0" err="1">
                <a:solidFill>
                  <a:schemeClr val="tx1"/>
                </a:solidFill>
              </a:rPr>
              <a:t>stdio.h</a:t>
            </a:r>
            <a:r>
              <a:rPr lang="en-IN" sz="2000" dirty="0">
                <a:solidFill>
                  <a:schemeClr val="tx1"/>
                </a:solidFill>
              </a:rPr>
              <a:t>&gt;</a:t>
            </a:r>
          </a:p>
          <a:p>
            <a:pPr algn="l"/>
            <a:r>
              <a:rPr lang="en-IN" sz="2000" dirty="0">
                <a:solidFill>
                  <a:schemeClr val="tx1"/>
                </a:solidFill>
              </a:rPr>
              <a:t>struct Student {</a:t>
            </a:r>
          </a:p>
          <a:p>
            <a:pPr algn="l"/>
            <a:r>
              <a:rPr lang="en-IN" sz="2000" dirty="0">
                <a:solidFill>
                  <a:schemeClr val="tx1"/>
                </a:solidFill>
              </a:rPr>
              <a:t>    int </a:t>
            </a:r>
            <a:r>
              <a:rPr lang="en-IN" sz="2000" dirty="0" err="1">
                <a:solidFill>
                  <a:schemeClr val="tx1"/>
                </a:solidFill>
              </a:rPr>
              <a:t>rollNo</a:t>
            </a:r>
            <a:r>
              <a:rPr lang="en-IN" sz="2000" dirty="0">
                <a:solidFill>
                  <a:schemeClr val="tx1"/>
                </a:solidFill>
              </a:rPr>
              <a:t>;</a:t>
            </a:r>
          </a:p>
          <a:p>
            <a:pPr algn="l"/>
            <a:r>
              <a:rPr lang="en-IN" sz="2000" dirty="0">
                <a:solidFill>
                  <a:schemeClr val="tx1"/>
                </a:solidFill>
              </a:rPr>
              <a:t>    float marks[3];</a:t>
            </a:r>
          </a:p>
          <a:p>
            <a:pPr algn="l"/>
            <a:r>
              <a:rPr lang="en-IN" sz="2000" dirty="0">
                <a:solidFill>
                  <a:schemeClr val="tx1"/>
                </a:solidFill>
              </a:rPr>
              <a:t>};</a:t>
            </a:r>
          </a:p>
          <a:p>
            <a:pPr algn="l"/>
            <a:r>
              <a:rPr lang="en-IN" sz="2000" dirty="0">
                <a:solidFill>
                  <a:schemeClr val="tx1"/>
                </a:solidFill>
              </a:rPr>
              <a:t>int main() {</a:t>
            </a:r>
          </a:p>
          <a:p>
            <a:pPr algn="l"/>
            <a:r>
              <a:rPr lang="en-IN" sz="2000" dirty="0">
                <a:solidFill>
                  <a:schemeClr val="tx1"/>
                </a:solidFill>
              </a:rPr>
              <a:t>    struct Student s1 = {101, {85.0, 90.0, 95.0}};</a:t>
            </a:r>
          </a:p>
          <a:p>
            <a:pPr algn="l"/>
            <a:r>
              <a:rPr lang="en-IN" sz="2000" dirty="0">
                <a:solidFill>
                  <a:schemeClr val="tx1"/>
                </a:solidFill>
              </a:rPr>
              <a:t>    </a:t>
            </a:r>
            <a:r>
              <a:rPr lang="en-IN" sz="2000" dirty="0" err="1">
                <a:solidFill>
                  <a:schemeClr val="tx1"/>
                </a:solidFill>
              </a:rPr>
              <a:t>printf</a:t>
            </a:r>
            <a:r>
              <a:rPr lang="en-IN" sz="2000" dirty="0">
                <a:solidFill>
                  <a:schemeClr val="tx1"/>
                </a:solidFill>
              </a:rPr>
              <a:t>("Roll No: %d\\n", s1.rollNo);</a:t>
            </a:r>
          </a:p>
          <a:p>
            <a:pPr algn="l"/>
            <a:r>
              <a:rPr lang="en-IN" sz="2000" dirty="0">
                <a:solidFill>
                  <a:schemeClr val="tx1"/>
                </a:solidFill>
              </a:rPr>
              <a:t>    </a:t>
            </a:r>
            <a:r>
              <a:rPr lang="en-IN" sz="2000" dirty="0" err="1">
                <a:solidFill>
                  <a:schemeClr val="tx1"/>
                </a:solidFill>
              </a:rPr>
              <a:t>printf</a:t>
            </a:r>
            <a:r>
              <a:rPr lang="en-IN" sz="2000" dirty="0">
                <a:solidFill>
                  <a:schemeClr val="tx1"/>
                </a:solidFill>
              </a:rPr>
              <a:t>("Marks: %.2f, %.2f, %.2f\\n", s1.marks[0], s1.marks[1], s1.marks[2]);</a:t>
            </a:r>
          </a:p>
          <a:p>
            <a:pPr algn="l"/>
            <a:r>
              <a:rPr lang="en-IN" sz="2000" dirty="0">
                <a:solidFill>
                  <a:schemeClr val="tx1"/>
                </a:solidFill>
              </a:rPr>
              <a:t>    return 0;</a:t>
            </a:r>
          </a:p>
          <a:p>
            <a:pPr algn="l"/>
            <a:r>
              <a:rPr lang="en-IN" sz="2000" dirty="0">
                <a:solidFill>
                  <a:schemeClr val="tx1"/>
                </a:solidFill>
              </a:rPr>
              <a:t>}</a:t>
            </a:r>
          </a:p>
          <a:p>
            <a:pPr algn="l"/>
            <a:endParaRPr lang="en-IN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D2C1BF-FCC4-4FAE-3780-51AE727C1C6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3420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40311-9A9D-6742-7B54-3B204E4831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Solution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EC3B15-FF2A-AEDE-F180-9D3ECBB7A9D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US" b="1" dirty="0">
                <a:solidFill>
                  <a:schemeClr val="tx1"/>
                </a:solidFill>
              </a:rPr>
              <a:t>Options: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b="1" dirty="0">
                <a:solidFill>
                  <a:srgbClr val="92D050"/>
                </a:solidFill>
              </a:rPr>
              <a:t>a) Roll No: 101, Marks: 85.00, 90.00, 95.00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b) Roll No: 101, Marks: 85.00, 0.00, 0.00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c) Compilation error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d) Undefined behavior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C5E692-FEBA-C71F-204B-8CB2B256BC8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687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</TotalTime>
  <Words>2505</Words>
  <Application>Microsoft Office PowerPoint</Application>
  <PresentationFormat>On-screen Show (4:3)</PresentationFormat>
  <Paragraphs>303</Paragraphs>
  <Slides>24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Times New Roman</vt:lpstr>
      <vt:lpstr>Office Theme</vt:lpstr>
      <vt:lpstr>PowerPoint Presentation</vt:lpstr>
      <vt:lpstr>Sub Topics Covered </vt:lpstr>
      <vt:lpstr>PowerPoint Presentation</vt:lpstr>
      <vt:lpstr>Definition and Declaration</vt:lpstr>
      <vt:lpstr>When Memory is allocated?</vt:lpstr>
      <vt:lpstr>Let’s have look at sample code </vt:lpstr>
      <vt:lpstr>TYPE DEF DECLARATIONS </vt:lpstr>
      <vt:lpstr>Accessing and Initializing Structure Members </vt:lpstr>
      <vt:lpstr>Array of Structures</vt:lpstr>
      <vt:lpstr>Array of Structures </vt:lpstr>
      <vt:lpstr>Practice Code</vt:lpstr>
      <vt:lpstr>Solution</vt:lpstr>
      <vt:lpstr>PASSING A STRUCTURE TO A FUNCTION</vt:lpstr>
      <vt:lpstr>PASSING A STRUCTURE TO A FUNCTION</vt:lpstr>
      <vt:lpstr>NESTED STRUCTURES </vt:lpstr>
      <vt:lpstr>Write a program to read and display information of a student using structure within a structure</vt:lpstr>
      <vt:lpstr>Quiz Time</vt:lpstr>
      <vt:lpstr>Correct Answer</vt:lpstr>
      <vt:lpstr>Solution</vt:lpstr>
      <vt:lpstr>Question 2:</vt:lpstr>
      <vt:lpstr>Question 3</vt:lpstr>
      <vt:lpstr>Solution</vt:lpstr>
      <vt:lpstr>Question 4</vt:lpstr>
      <vt:lpstr>Solution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ABC</dc:creator>
  <cp:lastModifiedBy>Tanya Gera</cp:lastModifiedBy>
  <cp:revision>26</cp:revision>
  <dcterms:created xsi:type="dcterms:W3CDTF">2010-04-09T07:36:00Z</dcterms:created>
  <dcterms:modified xsi:type="dcterms:W3CDTF">2025-01-09T10:05:24Z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29EE4036FBE94ADF9D0CDC8DDE3FEED5_13</vt:lpwstr>
  </property>
  <property fmtid="{D5CDD505-2E9C-101B-9397-08002B2CF9AE}" pid="3" name="KSOProductBuildVer">
    <vt:lpwstr>1033-12.2.0.19307</vt:lpwstr>
  </property>
</Properties>
</file>