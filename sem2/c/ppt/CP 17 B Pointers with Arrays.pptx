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318" r:id="rId2"/>
    <p:sldId id="319" r:id="rId3"/>
    <p:sldId id="320" r:id="rId4"/>
    <p:sldId id="321" r:id="rId5"/>
    <p:sldId id="322" r:id="rId6"/>
    <p:sldId id="323" r:id="rId7"/>
    <p:sldId id="257" r:id="rId8"/>
    <p:sldId id="291" r:id="rId9"/>
    <p:sldId id="292" r:id="rId10"/>
    <p:sldId id="293" r:id="rId11"/>
    <p:sldId id="294" r:id="rId12"/>
    <p:sldId id="295" r:id="rId13"/>
    <p:sldId id="296" r:id="rId14"/>
    <p:sldId id="297" r:id="rId15"/>
    <p:sldId id="298" r:id="rId16"/>
    <p:sldId id="306" r:id="rId17"/>
    <p:sldId id="307" r:id="rId18"/>
    <p:sldId id="308" r:id="rId19"/>
    <p:sldId id="331" r:id="rId20"/>
    <p:sldId id="266" r:id="rId21"/>
  </p:sldIdLst>
  <p:sldSz cx="9144000" cy="6858000" type="screen4x3"/>
  <p:notesSz cx="6858000" cy="9144000"/>
  <p:embeddedFontLst>
    <p:embeddedFont>
      <p:font typeface="Consolas" panose="020B0609020204030204" pitchFamily="49" charset="0"/>
      <p:regular r:id="rId23"/>
      <p:bold r:id="rId24"/>
      <p:italic r:id="rId25"/>
      <p:boldItalic r:id="rId26"/>
    </p:embeddedFont>
    <p:embeddedFont>
      <p:font typeface="Nunito"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jqj6NSgzJkkjdBW3Sm5cBSV8yy4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D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147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63"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60"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64"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 name="Google Shape;5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CDC02180-AC6A-2F40-1610-F730069E4354}"/>
            </a:ext>
          </a:extLst>
        </p:cNvPr>
        <p:cNvGrpSpPr/>
        <p:nvPr/>
      </p:nvGrpSpPr>
      <p:grpSpPr>
        <a:xfrm>
          <a:off x="0" y="0"/>
          <a:ext cx="0" cy="0"/>
          <a:chOff x="0" y="0"/>
          <a:chExt cx="0" cy="0"/>
        </a:xfrm>
      </p:grpSpPr>
      <p:sp>
        <p:nvSpPr>
          <p:cNvPr id="53" name="Google Shape;53;p2:notes">
            <a:extLst>
              <a:ext uri="{FF2B5EF4-FFF2-40B4-BE49-F238E27FC236}">
                <a16:creationId xmlns:a16="http://schemas.microsoft.com/office/drawing/2014/main" id="{6DD3D972-4F64-7075-4ED0-E144CA4D7F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 name="Google Shape;54;p2:notes">
            <a:extLst>
              <a:ext uri="{FF2B5EF4-FFF2-40B4-BE49-F238E27FC236}">
                <a16:creationId xmlns:a16="http://schemas.microsoft.com/office/drawing/2014/main" id="{7A0E60D1-157F-2392-FAD1-5F17B0353AC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0527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40"/>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b="1">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40"/>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1" name="Google Shape;3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pic>
        <p:nvPicPr>
          <p:cNvPr id="35" name="Google Shape;35;p41"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36" name="Google Shape;36;p41"/>
          <p:cNvGrpSpPr/>
          <p:nvPr/>
        </p:nvGrpSpPr>
        <p:grpSpPr>
          <a:xfrm>
            <a:off x="6146800" y="0"/>
            <a:ext cx="2997200" cy="876300"/>
            <a:chOff x="6096000" y="3924300"/>
            <a:chExt cx="2997200" cy="876300"/>
          </a:xfrm>
        </p:grpSpPr>
        <p:sp>
          <p:nvSpPr>
            <p:cNvPr id="37" name="Google Shape;37;p4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8" name="Google Shape;38;p41"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39" name="Google Shape;39;p4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0" name="Google Shape;40;p41"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41" name="Google Shape;41;p4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4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3" name="Google Shape;43;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rgbClr val="0070C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8"/>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38"/>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38"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38"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38"/>
          <p:cNvGrpSpPr/>
          <p:nvPr/>
        </p:nvGrpSpPr>
        <p:grpSpPr>
          <a:xfrm>
            <a:off x="6146800" y="0"/>
            <a:ext cx="2997200" cy="876300"/>
            <a:chOff x="6096000" y="3924300"/>
            <a:chExt cx="2997200" cy="876300"/>
          </a:xfrm>
        </p:grpSpPr>
        <p:sp>
          <p:nvSpPr>
            <p:cNvPr id="20" name="Google Shape;20;p3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38"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3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3" name="Google Shape;23;p38"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advTm="4000">
    <p:cut/>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788CA-711D-2DB0-2002-B5F11C4D0AE8}"/>
              </a:ext>
            </a:extLst>
          </p:cNvPr>
          <p:cNvSpPr>
            <a:spLocks noGrp="1"/>
          </p:cNvSpPr>
          <p:nvPr>
            <p:ph type="ctrTitle"/>
          </p:nvPr>
        </p:nvSpPr>
        <p:spPr>
          <a:xfrm>
            <a:off x="0" y="1"/>
            <a:ext cx="6548284" cy="914400"/>
          </a:xfrm>
        </p:spPr>
        <p:txBody>
          <a:bodyPr/>
          <a:lstStyle/>
          <a:p>
            <a:r>
              <a:rPr lang="en-US" dirty="0"/>
              <a:t>Pointer to an Array | Array Pointer</a:t>
            </a:r>
            <a:endParaRPr lang="en-IN" dirty="0"/>
          </a:p>
        </p:txBody>
      </p:sp>
      <p:sp>
        <p:nvSpPr>
          <p:cNvPr id="3" name="Subtitle 2">
            <a:extLst>
              <a:ext uri="{FF2B5EF4-FFF2-40B4-BE49-F238E27FC236}">
                <a16:creationId xmlns:a16="http://schemas.microsoft.com/office/drawing/2014/main" id="{FA63114B-6C38-9D1C-995E-62BF8F7C9BF6}"/>
              </a:ext>
            </a:extLst>
          </p:cNvPr>
          <p:cNvSpPr>
            <a:spLocks noGrp="1"/>
          </p:cNvSpPr>
          <p:nvPr>
            <p:ph type="subTitle" idx="1"/>
          </p:nvPr>
        </p:nvSpPr>
        <p:spPr>
          <a:xfrm>
            <a:off x="366252" y="1066800"/>
            <a:ext cx="8153400" cy="4724400"/>
          </a:xfrm>
        </p:spPr>
        <p:txBody>
          <a:bodyPr/>
          <a:lstStyle/>
          <a:p>
            <a:pPr marL="482600" indent="-457200" algn="just">
              <a:buFont typeface="Arial" panose="020B0604020202020204" pitchFamily="34" charset="0"/>
              <a:buChar char="•"/>
            </a:pPr>
            <a:r>
              <a:rPr lang="en-US" sz="2000" dirty="0">
                <a:solidFill>
                  <a:schemeClr val="tx1"/>
                </a:solidFill>
              </a:rPr>
              <a:t>A pointer to an array is a pointer that points to the whole array instead of the first element of the array. It considers the whole array as a single unit instead of it being a collection of given elements.</a:t>
            </a:r>
          </a:p>
          <a:p>
            <a:pPr marL="482600" indent="-457200" algn="just">
              <a:buFont typeface="Arial" panose="020B0604020202020204" pitchFamily="34" charset="0"/>
              <a:buChar char="•"/>
            </a:pPr>
            <a:r>
              <a:rPr lang="en-US" sz="2000" dirty="0">
                <a:solidFill>
                  <a:schemeClr val="tx1"/>
                </a:solidFill>
              </a:rPr>
              <a:t>Syntax: </a:t>
            </a:r>
            <a:r>
              <a:rPr lang="en-IN" sz="1200" b="0" i="1" dirty="0">
                <a:solidFill>
                  <a:srgbClr val="273239"/>
                </a:solidFill>
                <a:effectLst/>
                <a:latin typeface="Nunito" pitchFamily="2" charset="0"/>
              </a:rPr>
              <a:t>type</a:t>
            </a:r>
            <a:r>
              <a:rPr lang="en-IN" sz="1200" b="1" i="1" dirty="0">
                <a:solidFill>
                  <a:srgbClr val="273239"/>
                </a:solidFill>
                <a:effectLst/>
                <a:latin typeface="Nunito" pitchFamily="2" charset="0"/>
              </a:rPr>
              <a:t>(*</a:t>
            </a:r>
            <a:r>
              <a:rPr lang="en-IN" sz="1200" b="1" i="1" dirty="0" err="1">
                <a:solidFill>
                  <a:srgbClr val="273239"/>
                </a:solidFill>
                <a:effectLst/>
                <a:latin typeface="Nunito" pitchFamily="2" charset="0"/>
              </a:rPr>
              <a:t>ptr</a:t>
            </a:r>
            <a:r>
              <a:rPr lang="en-IN" sz="1200" b="1" i="1" dirty="0">
                <a:solidFill>
                  <a:srgbClr val="273239"/>
                </a:solidFill>
                <a:effectLst/>
                <a:latin typeface="Nunito" pitchFamily="2" charset="0"/>
              </a:rPr>
              <a:t>)</a:t>
            </a:r>
            <a:r>
              <a:rPr lang="en-IN" sz="1200" b="0" i="1" dirty="0">
                <a:solidFill>
                  <a:srgbClr val="273239"/>
                </a:solidFill>
                <a:effectLst/>
                <a:latin typeface="Nunito" pitchFamily="2" charset="0"/>
              </a:rPr>
              <a:t>[size]; </a:t>
            </a:r>
          </a:p>
          <a:p>
            <a:pPr marL="482600" indent="-457200" algn="just">
              <a:buFont typeface="Arial" panose="020B0604020202020204" pitchFamily="34" charset="0"/>
              <a:buChar char="•"/>
            </a:pPr>
            <a:r>
              <a:rPr lang="en-IN" sz="1200" i="1" dirty="0">
                <a:solidFill>
                  <a:schemeClr val="tx1"/>
                </a:solidFill>
                <a:latin typeface="Nunito" pitchFamily="2" charset="0"/>
              </a:rPr>
              <a:t>Where, type: Type of data that array holds, </a:t>
            </a:r>
            <a:r>
              <a:rPr lang="en-IN" sz="1200" i="1" dirty="0" err="1">
                <a:solidFill>
                  <a:schemeClr val="tx1"/>
                </a:solidFill>
                <a:latin typeface="Nunito" pitchFamily="2" charset="0"/>
              </a:rPr>
              <a:t>ptr</a:t>
            </a:r>
            <a:r>
              <a:rPr lang="en-IN" sz="1200" i="1" dirty="0">
                <a:solidFill>
                  <a:schemeClr val="tx1"/>
                </a:solidFill>
                <a:latin typeface="Nunito" pitchFamily="2" charset="0"/>
              </a:rPr>
              <a:t>: Name of pointer variable, and size: size of the array to which pointer will point.</a:t>
            </a:r>
            <a:endParaRPr lang="en-IN" sz="1200" b="0" i="1" dirty="0">
              <a:solidFill>
                <a:schemeClr val="tx1"/>
              </a:solidFill>
              <a:effectLst/>
              <a:latin typeface="Nunito" pitchFamily="2" charset="0"/>
            </a:endParaRPr>
          </a:p>
          <a:p>
            <a:pPr marL="482600" indent="-457200" algn="just">
              <a:buFont typeface="Arial" panose="020B0604020202020204" pitchFamily="34" charset="0"/>
              <a:buChar char="•"/>
            </a:pPr>
            <a:endParaRPr lang="en-IN" sz="2000" dirty="0">
              <a:solidFill>
                <a:schemeClr val="tx1"/>
              </a:solidFill>
            </a:endParaRPr>
          </a:p>
        </p:txBody>
      </p:sp>
      <p:sp>
        <p:nvSpPr>
          <p:cNvPr id="6" name="TextBox 5">
            <a:extLst>
              <a:ext uri="{FF2B5EF4-FFF2-40B4-BE49-F238E27FC236}">
                <a16:creationId xmlns:a16="http://schemas.microsoft.com/office/drawing/2014/main" id="{0D540DCF-1387-CC21-C7C4-5B2CC4CD5FD6}"/>
              </a:ext>
            </a:extLst>
          </p:cNvPr>
          <p:cNvSpPr txBox="1"/>
          <p:nvPr/>
        </p:nvSpPr>
        <p:spPr>
          <a:xfrm>
            <a:off x="366252" y="3351607"/>
            <a:ext cx="4650658" cy="2031325"/>
          </a:xfrm>
          <a:prstGeom prst="rect">
            <a:avLst/>
          </a:prstGeom>
          <a:noFill/>
        </p:spPr>
        <p:txBody>
          <a:bodyPr wrap="square">
            <a:spAutoFit/>
          </a:bodyPr>
          <a:lstStyle/>
          <a:p>
            <a:r>
              <a:rPr lang="en-IN" dirty="0"/>
              <a:t>#include&lt;stdio.h&gt;</a:t>
            </a:r>
          </a:p>
          <a:p>
            <a:endParaRPr lang="en-IN" dirty="0"/>
          </a:p>
          <a:p>
            <a:r>
              <a:rPr lang="en-IN" dirty="0"/>
              <a:t>int main() {</a:t>
            </a:r>
          </a:p>
          <a:p>
            <a:r>
              <a:rPr lang="en-IN" dirty="0"/>
              <a:t>  int </a:t>
            </a:r>
            <a:r>
              <a:rPr lang="en-IN" dirty="0" err="1"/>
              <a:t>arr</a:t>
            </a:r>
            <a:r>
              <a:rPr lang="en-IN" dirty="0"/>
              <a:t>[5] = { 1, 2, 3, 4, 5 };</a:t>
            </a:r>
          </a:p>
          <a:p>
            <a:r>
              <a:rPr lang="en-IN" dirty="0"/>
              <a:t>  int *</a:t>
            </a:r>
            <a:r>
              <a:rPr lang="en-IN" dirty="0" err="1"/>
              <a:t>ptr</a:t>
            </a:r>
            <a:r>
              <a:rPr lang="en-IN" dirty="0"/>
              <a:t> = </a:t>
            </a:r>
            <a:r>
              <a:rPr lang="en-IN" dirty="0" err="1"/>
              <a:t>arr</a:t>
            </a:r>
            <a:r>
              <a:rPr lang="en-IN" dirty="0"/>
              <a:t>;</a:t>
            </a:r>
          </a:p>
          <a:p>
            <a:endParaRPr lang="en-IN" dirty="0"/>
          </a:p>
          <a:p>
            <a:r>
              <a:rPr lang="en-IN" dirty="0"/>
              <a:t>  </a:t>
            </a:r>
            <a:r>
              <a:rPr lang="en-IN" dirty="0" err="1"/>
              <a:t>printf</a:t>
            </a:r>
            <a:r>
              <a:rPr lang="en-IN" dirty="0"/>
              <a:t>("%p\n", </a:t>
            </a:r>
            <a:r>
              <a:rPr lang="en-IN" dirty="0" err="1"/>
              <a:t>ptr</a:t>
            </a:r>
            <a:r>
              <a:rPr lang="en-IN" dirty="0"/>
              <a:t>);</a:t>
            </a:r>
          </a:p>
          <a:p>
            <a:r>
              <a:rPr lang="en-IN" dirty="0"/>
              <a:t>  return 0;</a:t>
            </a:r>
          </a:p>
          <a:p>
            <a:r>
              <a:rPr lang="en-IN" dirty="0"/>
              <a:t>}</a:t>
            </a:r>
          </a:p>
        </p:txBody>
      </p:sp>
      <p:sp>
        <p:nvSpPr>
          <p:cNvPr id="7" name="Rectangle 2">
            <a:extLst>
              <a:ext uri="{FF2B5EF4-FFF2-40B4-BE49-F238E27FC236}">
                <a16:creationId xmlns:a16="http://schemas.microsoft.com/office/drawing/2014/main" id="{AFA5FDCB-F130-48E3-4B86-446557199CDF}"/>
              </a:ext>
            </a:extLst>
          </p:cNvPr>
          <p:cNvSpPr>
            <a:spLocks noChangeArrowheads="1"/>
          </p:cNvSpPr>
          <p:nvPr/>
        </p:nvSpPr>
        <p:spPr bwMode="auto">
          <a:xfrm>
            <a:off x="6213986" y="4802295"/>
            <a:ext cx="2536723" cy="24876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0x7ffde273ac20</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4618E3C-F4D5-B2DC-1FB1-1319D3820D0F}"/>
              </a:ext>
            </a:extLst>
          </p:cNvPr>
          <p:cNvSpPr txBox="1"/>
          <p:nvPr/>
        </p:nvSpPr>
        <p:spPr>
          <a:xfrm>
            <a:off x="6312310" y="3976836"/>
            <a:ext cx="1474839" cy="314632"/>
          </a:xfrm>
          <a:prstGeom prst="rect">
            <a:avLst/>
          </a:prstGeom>
          <a:noFill/>
        </p:spPr>
        <p:txBody>
          <a:bodyPr wrap="square" rtlCol="0">
            <a:spAutoFit/>
          </a:bodyPr>
          <a:lstStyle/>
          <a:p>
            <a:r>
              <a:rPr lang="en-US" b="1" dirty="0"/>
              <a:t>OUTPUT:</a:t>
            </a:r>
            <a:endParaRPr lang="en-IN" b="1" dirty="0"/>
          </a:p>
        </p:txBody>
      </p:sp>
      <p:sp>
        <p:nvSpPr>
          <p:cNvPr id="10" name="TextBox 9">
            <a:extLst>
              <a:ext uri="{FF2B5EF4-FFF2-40B4-BE49-F238E27FC236}">
                <a16:creationId xmlns:a16="http://schemas.microsoft.com/office/drawing/2014/main" id="{257FE680-D70F-A391-A9E4-5F3B15788225}"/>
              </a:ext>
            </a:extLst>
          </p:cNvPr>
          <p:cNvSpPr txBox="1"/>
          <p:nvPr/>
        </p:nvSpPr>
        <p:spPr>
          <a:xfrm>
            <a:off x="135195" y="5758084"/>
            <a:ext cx="8384457" cy="740139"/>
          </a:xfrm>
          <a:prstGeom prst="rect">
            <a:avLst/>
          </a:prstGeom>
          <a:noFill/>
        </p:spPr>
        <p:txBody>
          <a:bodyPr wrap="square">
            <a:spAutoFit/>
          </a:bodyPr>
          <a:lstStyle/>
          <a:p>
            <a:pPr algn="just"/>
            <a:r>
              <a:rPr lang="en-US" b="0" i="0" dirty="0">
                <a:solidFill>
                  <a:schemeClr val="tx1"/>
                </a:solidFill>
                <a:effectLst/>
                <a:latin typeface="Nunito" pitchFamily="2" charset="0"/>
              </a:rPr>
              <a:t>NOTE: Here, a pointer </a:t>
            </a:r>
            <a:r>
              <a:rPr lang="en-US" b="0" i="1" dirty="0" err="1">
                <a:solidFill>
                  <a:schemeClr val="tx1"/>
                </a:solidFill>
                <a:effectLst/>
                <a:latin typeface="Nunito" pitchFamily="2" charset="0"/>
              </a:rPr>
              <a:t>ptr</a:t>
            </a:r>
            <a:r>
              <a:rPr lang="en-US" b="0" i="0" dirty="0">
                <a:solidFill>
                  <a:schemeClr val="tx1"/>
                </a:solidFill>
                <a:effectLst/>
                <a:latin typeface="Nunito" pitchFamily="2" charset="0"/>
              </a:rPr>
              <a:t> that points to the 0</a:t>
            </a:r>
            <a:r>
              <a:rPr lang="en-US" b="0" i="0" baseline="30000" dirty="0">
                <a:solidFill>
                  <a:schemeClr val="tx1"/>
                </a:solidFill>
                <a:effectLst/>
                <a:latin typeface="Nunito" pitchFamily="2" charset="0"/>
              </a:rPr>
              <a:t>th</a:t>
            </a:r>
            <a:r>
              <a:rPr lang="en-US" b="0" i="0" dirty="0">
                <a:solidFill>
                  <a:schemeClr val="tx1"/>
                </a:solidFill>
                <a:effectLst/>
                <a:latin typeface="Nunito" pitchFamily="2" charset="0"/>
              </a:rPr>
              <a:t> element of the array. Similarly, we can also declare a pointer that can point to whole array instead of only one element of the array. This pointer is useful when talking about multidimensional arrays. </a:t>
            </a:r>
            <a:endParaRPr lang="en-IN" dirty="0">
              <a:solidFill>
                <a:schemeClr val="tx1"/>
              </a:solidFill>
            </a:endParaRPr>
          </a:p>
        </p:txBody>
      </p:sp>
    </p:spTree>
    <p:extLst>
      <p:ext uri="{BB962C8B-B14F-4D97-AF65-F5344CB8AC3E}">
        <p14:creationId xmlns:p14="http://schemas.microsoft.com/office/powerpoint/2010/main" val="3001805242"/>
      </p:ext>
    </p:extLst>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0608D-EA63-8D14-116C-25CE67BBD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52489-2716-1E1E-1931-8232827961F9}"/>
              </a:ext>
            </a:extLst>
          </p:cNvPr>
          <p:cNvSpPr>
            <a:spLocks noGrp="1"/>
          </p:cNvSpPr>
          <p:nvPr>
            <p:ph type="ctrTitle"/>
          </p:nvPr>
        </p:nvSpPr>
        <p:spPr>
          <a:xfrm>
            <a:off x="0" y="1"/>
            <a:ext cx="6548284" cy="914400"/>
          </a:xfrm>
        </p:spPr>
        <p:txBody>
          <a:bodyPr/>
          <a:lstStyle/>
          <a:p>
            <a:r>
              <a:rPr lang="en-US" dirty="0"/>
              <a:t>Pointer to an Array | Array Pointer</a:t>
            </a:r>
            <a:endParaRPr lang="en-IN" dirty="0"/>
          </a:p>
        </p:txBody>
      </p:sp>
      <p:sp>
        <p:nvSpPr>
          <p:cNvPr id="8" name="TextBox 7">
            <a:extLst>
              <a:ext uri="{FF2B5EF4-FFF2-40B4-BE49-F238E27FC236}">
                <a16:creationId xmlns:a16="http://schemas.microsoft.com/office/drawing/2014/main" id="{1B346C58-891A-AF26-9470-F4CC3A8DDAFD}"/>
              </a:ext>
            </a:extLst>
          </p:cNvPr>
          <p:cNvSpPr txBox="1"/>
          <p:nvPr/>
        </p:nvSpPr>
        <p:spPr>
          <a:xfrm>
            <a:off x="6312310" y="3976836"/>
            <a:ext cx="1474839" cy="314632"/>
          </a:xfrm>
          <a:prstGeom prst="rect">
            <a:avLst/>
          </a:prstGeom>
          <a:noFill/>
        </p:spPr>
        <p:txBody>
          <a:bodyPr wrap="square" rtlCol="0">
            <a:spAutoFit/>
          </a:bodyPr>
          <a:lstStyle/>
          <a:p>
            <a:r>
              <a:rPr lang="en-US" b="1" dirty="0"/>
              <a:t>OUTPUT:</a:t>
            </a:r>
            <a:endParaRPr lang="en-IN" b="1" dirty="0"/>
          </a:p>
        </p:txBody>
      </p:sp>
      <p:sp>
        <p:nvSpPr>
          <p:cNvPr id="9" name="TextBox 8">
            <a:extLst>
              <a:ext uri="{FF2B5EF4-FFF2-40B4-BE49-F238E27FC236}">
                <a16:creationId xmlns:a16="http://schemas.microsoft.com/office/drawing/2014/main" id="{F181BE56-A729-A171-0BD2-FA9D8ECADA68}"/>
              </a:ext>
            </a:extLst>
          </p:cNvPr>
          <p:cNvSpPr txBox="1"/>
          <p:nvPr/>
        </p:nvSpPr>
        <p:spPr>
          <a:xfrm>
            <a:off x="370298" y="1635227"/>
            <a:ext cx="4922785" cy="3970318"/>
          </a:xfrm>
          <a:prstGeom prst="rect">
            <a:avLst/>
          </a:prstGeom>
          <a:noFill/>
        </p:spPr>
        <p:txBody>
          <a:bodyPr wrap="square">
            <a:spAutoFit/>
          </a:bodyPr>
          <a:lstStyle/>
          <a:p>
            <a:r>
              <a:rPr lang="en-IN" dirty="0"/>
              <a:t>#include &lt;</a:t>
            </a:r>
            <a:r>
              <a:rPr lang="en-IN" dirty="0" err="1"/>
              <a:t>stdio.h</a:t>
            </a:r>
            <a:r>
              <a:rPr lang="en-IN" dirty="0"/>
              <a:t>&gt;</a:t>
            </a:r>
          </a:p>
          <a:p>
            <a:endParaRPr lang="en-IN" dirty="0"/>
          </a:p>
          <a:p>
            <a:r>
              <a:rPr lang="en-IN" dirty="0"/>
              <a:t>int main() {</a:t>
            </a:r>
          </a:p>
          <a:p>
            <a:r>
              <a:rPr lang="en-IN" dirty="0"/>
              <a:t>    int </a:t>
            </a:r>
            <a:r>
              <a:rPr lang="en-IN" dirty="0" err="1"/>
              <a:t>arr</a:t>
            </a:r>
            <a:r>
              <a:rPr lang="en-IN" dirty="0"/>
              <a:t>[3] = { 5, 10, 15 };    </a:t>
            </a:r>
          </a:p>
          <a:p>
            <a:r>
              <a:rPr lang="en-IN" dirty="0"/>
              <a:t>      int n = </a:t>
            </a:r>
            <a:r>
              <a:rPr lang="en-IN" dirty="0" err="1"/>
              <a:t>sizeof</a:t>
            </a:r>
            <a:r>
              <a:rPr lang="en-IN" dirty="0"/>
              <a:t>(</a:t>
            </a:r>
            <a:r>
              <a:rPr lang="en-IN" dirty="0" err="1"/>
              <a:t>arr</a:t>
            </a:r>
            <a:r>
              <a:rPr lang="en-IN" dirty="0"/>
              <a:t>) / </a:t>
            </a:r>
            <a:r>
              <a:rPr lang="en-IN" dirty="0" err="1"/>
              <a:t>sizeof</a:t>
            </a:r>
            <a:r>
              <a:rPr lang="en-IN" dirty="0"/>
              <a:t>(</a:t>
            </a:r>
            <a:r>
              <a:rPr lang="en-IN" dirty="0" err="1"/>
              <a:t>arr</a:t>
            </a:r>
            <a:r>
              <a:rPr lang="en-IN" dirty="0"/>
              <a:t>[0]);</a:t>
            </a:r>
          </a:p>
          <a:p>
            <a:endParaRPr lang="en-IN" dirty="0"/>
          </a:p>
          <a:p>
            <a:r>
              <a:rPr lang="en-IN" dirty="0"/>
              <a:t>    // Declare pointer variable</a:t>
            </a:r>
          </a:p>
          <a:p>
            <a:r>
              <a:rPr lang="en-IN" dirty="0"/>
              <a:t>    int (*</a:t>
            </a:r>
            <a:r>
              <a:rPr lang="en-IN" dirty="0" err="1"/>
              <a:t>ptr</a:t>
            </a:r>
            <a:r>
              <a:rPr lang="en-IN" dirty="0"/>
              <a:t>)[3];</a:t>
            </a:r>
          </a:p>
          <a:p>
            <a:endParaRPr lang="en-IN" dirty="0"/>
          </a:p>
          <a:p>
            <a:r>
              <a:rPr lang="en-IN" dirty="0"/>
              <a:t>    // Assign address of </a:t>
            </a:r>
            <a:r>
              <a:rPr lang="en-IN" dirty="0" err="1"/>
              <a:t>val</a:t>
            </a:r>
            <a:r>
              <a:rPr lang="en-IN" dirty="0"/>
              <a:t>[0] to </a:t>
            </a:r>
            <a:r>
              <a:rPr lang="en-IN" dirty="0" err="1"/>
              <a:t>ptr</a:t>
            </a:r>
            <a:r>
              <a:rPr lang="en-IN" dirty="0"/>
              <a:t>.</a:t>
            </a:r>
          </a:p>
          <a:p>
            <a:r>
              <a:rPr lang="en-IN" dirty="0"/>
              <a:t>    // We can use </a:t>
            </a:r>
            <a:r>
              <a:rPr lang="en-IN" dirty="0" err="1"/>
              <a:t>ptr</a:t>
            </a:r>
            <a:r>
              <a:rPr lang="en-IN" dirty="0"/>
              <a:t>=&amp;</a:t>
            </a:r>
            <a:r>
              <a:rPr lang="en-IN" dirty="0" err="1"/>
              <a:t>val</a:t>
            </a:r>
            <a:r>
              <a:rPr lang="en-IN" dirty="0"/>
              <a:t>[0];(both are same)</a:t>
            </a:r>
          </a:p>
          <a:p>
            <a:r>
              <a:rPr lang="en-IN" dirty="0"/>
              <a:t>    </a:t>
            </a:r>
            <a:r>
              <a:rPr lang="en-IN" dirty="0" err="1"/>
              <a:t>ptr</a:t>
            </a:r>
            <a:r>
              <a:rPr lang="en-IN" dirty="0"/>
              <a:t> = &amp;</a:t>
            </a:r>
            <a:r>
              <a:rPr lang="en-IN" dirty="0" err="1"/>
              <a:t>arr</a:t>
            </a:r>
            <a:r>
              <a:rPr lang="en-IN" dirty="0"/>
              <a:t>;</a:t>
            </a:r>
          </a:p>
          <a:p>
            <a:r>
              <a:rPr lang="en-IN" dirty="0"/>
              <a:t>    </a:t>
            </a:r>
          </a:p>
          <a:p>
            <a:r>
              <a:rPr lang="en-IN" dirty="0"/>
              <a:t>      for (int </a:t>
            </a:r>
            <a:r>
              <a:rPr lang="en-IN" dirty="0" err="1"/>
              <a:t>i</a:t>
            </a:r>
            <a:r>
              <a:rPr lang="en-IN" dirty="0"/>
              <a:t> = 0; </a:t>
            </a:r>
            <a:r>
              <a:rPr lang="en-IN" dirty="0" err="1"/>
              <a:t>i</a:t>
            </a:r>
            <a:r>
              <a:rPr lang="en-IN" dirty="0"/>
              <a:t> &lt; n; </a:t>
            </a:r>
            <a:r>
              <a:rPr lang="en-IN" dirty="0" err="1"/>
              <a:t>i</a:t>
            </a:r>
            <a:r>
              <a:rPr lang="en-IN" dirty="0"/>
              <a:t>++)</a:t>
            </a:r>
          </a:p>
          <a:p>
            <a:r>
              <a:rPr lang="en-IN" dirty="0"/>
              <a:t>        </a:t>
            </a:r>
            <a:r>
              <a:rPr lang="en-IN" dirty="0" err="1"/>
              <a:t>printf</a:t>
            </a:r>
            <a:r>
              <a:rPr lang="en-IN" dirty="0"/>
              <a:t>("%d ", (*</a:t>
            </a:r>
            <a:r>
              <a:rPr lang="en-IN" dirty="0" err="1"/>
              <a:t>ptr</a:t>
            </a:r>
            <a:r>
              <a:rPr lang="en-IN" dirty="0"/>
              <a:t>)[</a:t>
            </a:r>
            <a:r>
              <a:rPr lang="en-IN" dirty="0" err="1"/>
              <a:t>i</a:t>
            </a:r>
            <a:r>
              <a:rPr lang="en-IN" dirty="0"/>
              <a:t>]);</a:t>
            </a:r>
          </a:p>
          <a:p>
            <a:endParaRPr lang="en-IN" dirty="0"/>
          </a:p>
          <a:p>
            <a:r>
              <a:rPr lang="en-IN" dirty="0"/>
              <a:t>    return 0;</a:t>
            </a:r>
          </a:p>
          <a:p>
            <a:r>
              <a:rPr lang="en-IN" dirty="0"/>
              <a:t>}</a:t>
            </a:r>
          </a:p>
        </p:txBody>
      </p:sp>
      <p:sp>
        <p:nvSpPr>
          <p:cNvPr id="12" name="TextBox 11">
            <a:extLst>
              <a:ext uri="{FF2B5EF4-FFF2-40B4-BE49-F238E27FC236}">
                <a16:creationId xmlns:a16="http://schemas.microsoft.com/office/drawing/2014/main" id="{A39657F9-BD9B-F367-655C-499FA20DC54F}"/>
              </a:ext>
            </a:extLst>
          </p:cNvPr>
          <p:cNvSpPr txBox="1"/>
          <p:nvPr/>
        </p:nvSpPr>
        <p:spPr>
          <a:xfrm>
            <a:off x="132519" y="991709"/>
            <a:ext cx="5255342" cy="307777"/>
          </a:xfrm>
          <a:prstGeom prst="rect">
            <a:avLst/>
          </a:prstGeom>
          <a:noFill/>
        </p:spPr>
        <p:txBody>
          <a:bodyPr wrap="square">
            <a:spAutoFit/>
          </a:bodyPr>
          <a:lstStyle/>
          <a:p>
            <a:pPr algn="l" fontAlgn="base">
              <a:spcBef>
                <a:spcPts val="1800"/>
              </a:spcBef>
              <a:spcAft>
                <a:spcPts val="1800"/>
              </a:spcAft>
            </a:pPr>
            <a:r>
              <a:rPr lang="en-US" b="1" i="0" dirty="0">
                <a:solidFill>
                  <a:srgbClr val="273239"/>
                </a:solidFill>
                <a:effectLst/>
                <a:latin typeface="Nunito" pitchFamily="2" charset="0"/>
              </a:rPr>
              <a:t>Access Array Using Pointer to an Array</a:t>
            </a:r>
          </a:p>
        </p:txBody>
      </p:sp>
      <p:sp>
        <p:nvSpPr>
          <p:cNvPr id="13" name="Rectangle 2">
            <a:extLst>
              <a:ext uri="{FF2B5EF4-FFF2-40B4-BE49-F238E27FC236}">
                <a16:creationId xmlns:a16="http://schemas.microsoft.com/office/drawing/2014/main" id="{6B67590B-814D-E28B-722F-B578DBDCE008}"/>
              </a:ext>
            </a:extLst>
          </p:cNvPr>
          <p:cNvSpPr>
            <a:spLocks noChangeArrowheads="1"/>
          </p:cNvSpPr>
          <p:nvPr/>
        </p:nvSpPr>
        <p:spPr bwMode="auto">
          <a:xfrm>
            <a:off x="6420464" y="4291468"/>
            <a:ext cx="2723536" cy="24876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nsolas" panose="020B0609020204030204" pitchFamily="49" charset="0"/>
              </a:rPr>
              <a:t>5 10 15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5594703"/>
      </p:ext>
    </p:extLst>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3EDB-1A54-8910-00CF-78D80A6CE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D5186-589B-4006-B34F-F40E817A0194}"/>
              </a:ext>
            </a:extLst>
          </p:cNvPr>
          <p:cNvSpPr>
            <a:spLocks noGrp="1"/>
          </p:cNvSpPr>
          <p:nvPr>
            <p:ph type="ctrTitle"/>
          </p:nvPr>
        </p:nvSpPr>
        <p:spPr>
          <a:xfrm>
            <a:off x="0" y="1"/>
            <a:ext cx="6548284" cy="914400"/>
          </a:xfrm>
        </p:spPr>
        <p:txBody>
          <a:bodyPr/>
          <a:lstStyle/>
          <a:p>
            <a:r>
              <a:rPr lang="en-US" dirty="0"/>
              <a:t>Pointer to an Array | Array Pointer</a:t>
            </a:r>
            <a:endParaRPr lang="en-IN" dirty="0"/>
          </a:p>
        </p:txBody>
      </p:sp>
      <p:sp>
        <p:nvSpPr>
          <p:cNvPr id="8" name="TextBox 7">
            <a:extLst>
              <a:ext uri="{FF2B5EF4-FFF2-40B4-BE49-F238E27FC236}">
                <a16:creationId xmlns:a16="http://schemas.microsoft.com/office/drawing/2014/main" id="{EF01DEAB-E002-1F47-6014-201CF0513BB1}"/>
              </a:ext>
            </a:extLst>
          </p:cNvPr>
          <p:cNvSpPr txBox="1"/>
          <p:nvPr/>
        </p:nvSpPr>
        <p:spPr>
          <a:xfrm>
            <a:off x="6312310" y="3976836"/>
            <a:ext cx="1474839" cy="314632"/>
          </a:xfrm>
          <a:prstGeom prst="rect">
            <a:avLst/>
          </a:prstGeom>
          <a:noFill/>
        </p:spPr>
        <p:txBody>
          <a:bodyPr wrap="square" rtlCol="0">
            <a:spAutoFit/>
          </a:bodyPr>
          <a:lstStyle/>
          <a:p>
            <a:r>
              <a:rPr lang="en-US" b="1" dirty="0"/>
              <a:t>OUTPUT:</a:t>
            </a:r>
            <a:endParaRPr lang="en-IN" b="1" dirty="0"/>
          </a:p>
        </p:txBody>
      </p:sp>
      <p:sp>
        <p:nvSpPr>
          <p:cNvPr id="9" name="TextBox 8">
            <a:extLst>
              <a:ext uri="{FF2B5EF4-FFF2-40B4-BE49-F238E27FC236}">
                <a16:creationId xmlns:a16="http://schemas.microsoft.com/office/drawing/2014/main" id="{38ECE603-9023-3D0B-8AA9-5B36A2E5739C}"/>
              </a:ext>
            </a:extLst>
          </p:cNvPr>
          <p:cNvSpPr txBox="1"/>
          <p:nvPr/>
        </p:nvSpPr>
        <p:spPr>
          <a:xfrm>
            <a:off x="370298" y="1635227"/>
            <a:ext cx="4922785" cy="3323987"/>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 Function that takes array as argument</a:t>
            </a:r>
          </a:p>
          <a:p>
            <a:r>
              <a:rPr lang="en-US" dirty="0"/>
              <a:t>void foo(int (*</a:t>
            </a:r>
            <a:r>
              <a:rPr lang="en-US" dirty="0" err="1"/>
              <a:t>arr</a:t>
            </a:r>
            <a:r>
              <a:rPr lang="en-US" dirty="0"/>
              <a:t>)[5]) {</a:t>
            </a:r>
          </a:p>
          <a:p>
            <a:r>
              <a:rPr lang="en-US" dirty="0"/>
              <a:t>    </a:t>
            </a:r>
            <a:r>
              <a:rPr lang="en-US" dirty="0" err="1"/>
              <a:t>printf</a:t>
            </a:r>
            <a:r>
              <a:rPr lang="en-US" dirty="0"/>
              <a:t>("%</a:t>
            </a:r>
            <a:r>
              <a:rPr lang="en-US" dirty="0" err="1"/>
              <a:t>lu</a:t>
            </a:r>
            <a:r>
              <a:rPr lang="en-US" dirty="0"/>
              <a:t> ", </a:t>
            </a:r>
            <a:r>
              <a:rPr lang="en-US" dirty="0" err="1"/>
              <a:t>sizeof</a:t>
            </a:r>
            <a:r>
              <a:rPr lang="en-US" dirty="0"/>
              <a:t>(*</a:t>
            </a:r>
            <a:r>
              <a:rPr lang="en-US" dirty="0" err="1"/>
              <a:t>arr</a:t>
            </a:r>
            <a:r>
              <a:rPr lang="en-US" dirty="0"/>
              <a:t>));</a:t>
            </a:r>
          </a:p>
          <a:p>
            <a:r>
              <a:rPr lang="en-US" dirty="0"/>
              <a:t>}</a:t>
            </a:r>
          </a:p>
          <a:p>
            <a:endParaRPr lang="en-US" dirty="0"/>
          </a:p>
          <a:p>
            <a:r>
              <a:rPr lang="en-US" dirty="0"/>
              <a:t>int main() {</a:t>
            </a:r>
          </a:p>
          <a:p>
            <a:r>
              <a:rPr lang="en-US" dirty="0"/>
              <a:t>    int </a:t>
            </a:r>
            <a:r>
              <a:rPr lang="en-US" dirty="0" err="1"/>
              <a:t>arr</a:t>
            </a:r>
            <a:r>
              <a:rPr lang="en-US" dirty="0"/>
              <a:t>[5];</a:t>
            </a:r>
          </a:p>
          <a:p>
            <a:endParaRPr lang="en-US" dirty="0"/>
          </a:p>
          <a:p>
            <a:r>
              <a:rPr lang="en-US" dirty="0"/>
              <a:t>    // Passing the address of </a:t>
            </a:r>
            <a:r>
              <a:rPr lang="en-US" dirty="0" err="1"/>
              <a:t>arr</a:t>
            </a:r>
            <a:endParaRPr lang="en-US" dirty="0"/>
          </a:p>
          <a:p>
            <a:r>
              <a:rPr lang="en-US" dirty="0"/>
              <a:t>    foo(&amp;</a:t>
            </a:r>
            <a:r>
              <a:rPr lang="en-US" dirty="0" err="1"/>
              <a:t>arr</a:t>
            </a:r>
            <a:r>
              <a:rPr lang="en-US" dirty="0"/>
              <a:t>);</a:t>
            </a:r>
          </a:p>
          <a:p>
            <a:endParaRPr lang="en-US" dirty="0"/>
          </a:p>
          <a:p>
            <a:r>
              <a:rPr lang="en-US" dirty="0"/>
              <a:t>    return 0;</a:t>
            </a:r>
          </a:p>
          <a:p>
            <a:r>
              <a:rPr lang="en-US" dirty="0"/>
              <a:t>}</a:t>
            </a:r>
            <a:endParaRPr lang="en-IN" dirty="0"/>
          </a:p>
        </p:txBody>
      </p:sp>
      <p:sp>
        <p:nvSpPr>
          <p:cNvPr id="12" name="TextBox 11">
            <a:extLst>
              <a:ext uri="{FF2B5EF4-FFF2-40B4-BE49-F238E27FC236}">
                <a16:creationId xmlns:a16="http://schemas.microsoft.com/office/drawing/2014/main" id="{D72591EE-85CC-715C-0C66-BF23DB9BE138}"/>
              </a:ext>
            </a:extLst>
          </p:cNvPr>
          <p:cNvSpPr txBox="1"/>
          <p:nvPr/>
        </p:nvSpPr>
        <p:spPr>
          <a:xfrm>
            <a:off x="132519" y="991709"/>
            <a:ext cx="5255342" cy="307777"/>
          </a:xfrm>
          <a:prstGeom prst="rect">
            <a:avLst/>
          </a:prstGeom>
          <a:noFill/>
        </p:spPr>
        <p:txBody>
          <a:bodyPr wrap="square">
            <a:spAutoFit/>
          </a:bodyPr>
          <a:lstStyle/>
          <a:p>
            <a:pPr algn="l" fontAlgn="base">
              <a:spcBef>
                <a:spcPts val="1800"/>
              </a:spcBef>
              <a:spcAft>
                <a:spcPts val="1800"/>
              </a:spcAft>
            </a:pPr>
            <a:r>
              <a:rPr lang="en-US" b="1" i="0" dirty="0">
                <a:solidFill>
                  <a:srgbClr val="273239"/>
                </a:solidFill>
                <a:effectLst/>
                <a:latin typeface="Nunito" pitchFamily="2" charset="0"/>
              </a:rPr>
              <a:t>Find the Size of Array Passed to a Function</a:t>
            </a:r>
          </a:p>
        </p:txBody>
      </p:sp>
      <p:sp>
        <p:nvSpPr>
          <p:cNvPr id="4" name="Rectangle 2">
            <a:extLst>
              <a:ext uri="{FF2B5EF4-FFF2-40B4-BE49-F238E27FC236}">
                <a16:creationId xmlns:a16="http://schemas.microsoft.com/office/drawing/2014/main" id="{D97879CB-6D37-37B6-5C16-0746A5A7031A}"/>
              </a:ext>
            </a:extLst>
          </p:cNvPr>
          <p:cNvSpPr>
            <a:spLocks noChangeArrowheads="1"/>
          </p:cNvSpPr>
          <p:nvPr/>
        </p:nvSpPr>
        <p:spPr bwMode="auto">
          <a:xfrm>
            <a:off x="6454877" y="4291468"/>
            <a:ext cx="1189703" cy="24876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nsolas" panose="020B0609020204030204" pitchFamily="49" charset="0"/>
              </a:rPr>
              <a:t>20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0895632"/>
      </p:ext>
    </p:extLst>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E12CF-F349-897A-A62A-62BF64D88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02F82-BA39-BDB0-B76B-D38348C96207}"/>
              </a:ext>
            </a:extLst>
          </p:cNvPr>
          <p:cNvSpPr>
            <a:spLocks noGrp="1"/>
          </p:cNvSpPr>
          <p:nvPr>
            <p:ph type="ctrTitle"/>
          </p:nvPr>
        </p:nvSpPr>
        <p:spPr>
          <a:xfrm>
            <a:off x="0" y="1"/>
            <a:ext cx="6548284" cy="914400"/>
          </a:xfrm>
        </p:spPr>
        <p:txBody>
          <a:bodyPr/>
          <a:lstStyle/>
          <a:p>
            <a:r>
              <a:rPr lang="en-US" dirty="0"/>
              <a:t>Pointer to an Array | Array Pointer</a:t>
            </a:r>
            <a:endParaRPr lang="en-IN" dirty="0"/>
          </a:p>
        </p:txBody>
      </p:sp>
      <p:sp>
        <p:nvSpPr>
          <p:cNvPr id="8" name="TextBox 7">
            <a:extLst>
              <a:ext uri="{FF2B5EF4-FFF2-40B4-BE49-F238E27FC236}">
                <a16:creationId xmlns:a16="http://schemas.microsoft.com/office/drawing/2014/main" id="{2F0C0376-9FFC-0BFD-7E4F-CD7FD0D9BD12}"/>
              </a:ext>
            </a:extLst>
          </p:cNvPr>
          <p:cNvSpPr txBox="1"/>
          <p:nvPr/>
        </p:nvSpPr>
        <p:spPr>
          <a:xfrm>
            <a:off x="4581831" y="3567564"/>
            <a:ext cx="1474839" cy="314632"/>
          </a:xfrm>
          <a:prstGeom prst="rect">
            <a:avLst/>
          </a:prstGeom>
          <a:noFill/>
        </p:spPr>
        <p:txBody>
          <a:bodyPr wrap="square" rtlCol="0">
            <a:spAutoFit/>
          </a:bodyPr>
          <a:lstStyle/>
          <a:p>
            <a:r>
              <a:rPr lang="en-US" b="1" dirty="0"/>
              <a:t>OUTPUT:</a:t>
            </a:r>
            <a:endParaRPr lang="en-IN" b="1" dirty="0"/>
          </a:p>
        </p:txBody>
      </p:sp>
      <p:sp>
        <p:nvSpPr>
          <p:cNvPr id="9" name="TextBox 8">
            <a:extLst>
              <a:ext uri="{FF2B5EF4-FFF2-40B4-BE49-F238E27FC236}">
                <a16:creationId xmlns:a16="http://schemas.microsoft.com/office/drawing/2014/main" id="{9CA65F84-0A23-A65E-88D4-401AD0E409C1}"/>
              </a:ext>
            </a:extLst>
          </p:cNvPr>
          <p:cNvSpPr txBox="1"/>
          <p:nvPr/>
        </p:nvSpPr>
        <p:spPr>
          <a:xfrm>
            <a:off x="132519" y="1441107"/>
            <a:ext cx="4922785" cy="5386090"/>
          </a:xfrm>
          <a:prstGeom prst="rect">
            <a:avLst/>
          </a:prstGeom>
          <a:noFill/>
        </p:spPr>
        <p:txBody>
          <a:bodyPr wrap="square">
            <a:spAutoFit/>
          </a:bodyPr>
          <a:lstStyle/>
          <a:p>
            <a:r>
              <a:rPr lang="en-US" sz="1200" dirty="0"/>
              <a:t>#include &lt;</a:t>
            </a:r>
            <a:r>
              <a:rPr lang="en-US" sz="1200" dirty="0" err="1"/>
              <a:t>stdio.h</a:t>
            </a:r>
            <a:r>
              <a:rPr lang="en-US" sz="1200" dirty="0"/>
              <a:t>&gt;</a:t>
            </a:r>
          </a:p>
          <a:p>
            <a:endParaRPr lang="en-US" sz="1200" dirty="0"/>
          </a:p>
          <a:p>
            <a:r>
              <a:rPr lang="en-US" sz="1200" dirty="0"/>
              <a:t>int main() {</a:t>
            </a:r>
          </a:p>
          <a:p>
            <a:r>
              <a:rPr lang="en-US" sz="1200" dirty="0"/>
              <a:t>    int </a:t>
            </a:r>
            <a:r>
              <a:rPr lang="en-US" sz="1200" dirty="0" err="1"/>
              <a:t>arr</a:t>
            </a:r>
            <a:r>
              <a:rPr lang="en-US" sz="1200" dirty="0"/>
              <a:t>[5] = {1, 2, 3, 4, 5};</a:t>
            </a:r>
          </a:p>
          <a:p>
            <a:endParaRPr lang="en-US" sz="1200" dirty="0"/>
          </a:p>
          <a:p>
            <a:r>
              <a:rPr lang="en-US" sz="1200" dirty="0"/>
              <a:t>    // Create a pointer to integer</a:t>
            </a:r>
          </a:p>
          <a:p>
            <a:r>
              <a:rPr lang="en-US" sz="1200" dirty="0"/>
              <a:t>    int *p1;</a:t>
            </a:r>
          </a:p>
          <a:p>
            <a:endParaRPr lang="en-US" sz="1200" dirty="0"/>
          </a:p>
          <a:p>
            <a:r>
              <a:rPr lang="en-US" sz="1200" dirty="0"/>
              <a:t>    // Pointer to an array of 5 integers</a:t>
            </a:r>
          </a:p>
          <a:p>
            <a:r>
              <a:rPr lang="en-US" sz="1200" dirty="0"/>
              <a:t>    int(*p2)[5];</a:t>
            </a:r>
          </a:p>
          <a:p>
            <a:endParaRPr lang="en-US" sz="1200" dirty="0"/>
          </a:p>
          <a:p>
            <a:r>
              <a:rPr lang="en-US" sz="1200" dirty="0"/>
              <a:t>    // Points to 0th element of the </a:t>
            </a:r>
            <a:r>
              <a:rPr lang="en-US" sz="1200" dirty="0" err="1"/>
              <a:t>arr</a:t>
            </a:r>
            <a:endParaRPr lang="en-US" sz="1200" dirty="0"/>
          </a:p>
          <a:p>
            <a:r>
              <a:rPr lang="en-US" sz="1200" dirty="0"/>
              <a:t>    p1 = </a:t>
            </a:r>
            <a:r>
              <a:rPr lang="en-US" sz="1200" dirty="0" err="1"/>
              <a:t>arr</a:t>
            </a:r>
            <a:r>
              <a:rPr lang="en-US" sz="1200" dirty="0"/>
              <a:t>;</a:t>
            </a:r>
          </a:p>
          <a:p>
            <a:endParaRPr lang="en-US" sz="1200" dirty="0"/>
          </a:p>
          <a:p>
            <a:r>
              <a:rPr lang="en-US" sz="1200" dirty="0"/>
              <a:t>    // Points to the whole array </a:t>
            </a:r>
            <a:r>
              <a:rPr lang="en-US" sz="1200" dirty="0" err="1"/>
              <a:t>arr</a:t>
            </a:r>
            <a:endParaRPr lang="en-US" sz="1200" dirty="0"/>
          </a:p>
          <a:p>
            <a:r>
              <a:rPr lang="en-US" sz="1200" dirty="0"/>
              <a:t>    p2 = &amp;</a:t>
            </a:r>
            <a:r>
              <a:rPr lang="en-US" sz="1200" dirty="0" err="1"/>
              <a:t>arr</a:t>
            </a:r>
            <a:r>
              <a:rPr lang="en-US" sz="1200" dirty="0"/>
              <a:t>;</a:t>
            </a:r>
          </a:p>
          <a:p>
            <a:r>
              <a:rPr lang="en-US" sz="1200" dirty="0"/>
              <a:t>  </a:t>
            </a:r>
          </a:p>
          <a:p>
            <a:r>
              <a:rPr lang="en-US" sz="1200" dirty="0"/>
              <a:t>      </a:t>
            </a:r>
            <a:r>
              <a:rPr lang="en-US" sz="1200" dirty="0" err="1"/>
              <a:t>printf</a:t>
            </a:r>
            <a:r>
              <a:rPr lang="en-US" sz="1200" dirty="0"/>
              <a:t>("p1 = %p\n", p1);</a:t>
            </a:r>
          </a:p>
          <a:p>
            <a:r>
              <a:rPr lang="en-US" sz="1200" dirty="0"/>
              <a:t>      </a:t>
            </a:r>
            <a:r>
              <a:rPr lang="en-US" sz="1200" dirty="0" err="1"/>
              <a:t>printf</a:t>
            </a:r>
            <a:r>
              <a:rPr lang="en-US" sz="1200" dirty="0"/>
              <a:t>("*p2 = %p\n\n", *p2);</a:t>
            </a:r>
          </a:p>
          <a:p>
            <a:r>
              <a:rPr lang="en-US" sz="1200" dirty="0"/>
              <a:t>  </a:t>
            </a:r>
          </a:p>
          <a:p>
            <a:r>
              <a:rPr lang="en-US" sz="1200" dirty="0"/>
              <a:t>      // incrementing both pointers</a:t>
            </a:r>
          </a:p>
          <a:p>
            <a:r>
              <a:rPr lang="en-US" sz="1200" dirty="0"/>
              <a:t>    p1++;</a:t>
            </a:r>
          </a:p>
          <a:p>
            <a:r>
              <a:rPr lang="en-US" sz="1200" dirty="0"/>
              <a:t>    p2++;</a:t>
            </a:r>
          </a:p>
          <a:p>
            <a:r>
              <a:rPr lang="en-US" sz="1200" dirty="0"/>
              <a:t>    </a:t>
            </a:r>
            <a:r>
              <a:rPr lang="en-US" sz="1200" dirty="0" err="1"/>
              <a:t>printf</a:t>
            </a:r>
            <a:r>
              <a:rPr lang="en-US" sz="1200" dirty="0"/>
              <a:t>("p1 = %p\n", p1);</a:t>
            </a:r>
          </a:p>
          <a:p>
            <a:r>
              <a:rPr lang="en-US" sz="1200" dirty="0"/>
              <a:t>      </a:t>
            </a:r>
            <a:r>
              <a:rPr lang="en-US" sz="1200" dirty="0" err="1"/>
              <a:t>printf</a:t>
            </a:r>
            <a:r>
              <a:rPr lang="en-US" sz="1200" dirty="0"/>
              <a:t>("*p2 = %p", p2);</a:t>
            </a:r>
          </a:p>
          <a:p>
            <a:endParaRPr lang="en-US" sz="1200" dirty="0"/>
          </a:p>
          <a:p>
            <a:r>
              <a:rPr lang="en-US" sz="1200" dirty="0"/>
              <a:t>    return 0;</a:t>
            </a:r>
          </a:p>
          <a:p>
            <a:r>
              <a:rPr lang="en-US" sz="1200" dirty="0"/>
              <a:t>}</a:t>
            </a:r>
            <a:endParaRPr lang="en-IN" dirty="0"/>
          </a:p>
        </p:txBody>
      </p:sp>
      <p:sp>
        <p:nvSpPr>
          <p:cNvPr id="12" name="TextBox 11">
            <a:extLst>
              <a:ext uri="{FF2B5EF4-FFF2-40B4-BE49-F238E27FC236}">
                <a16:creationId xmlns:a16="http://schemas.microsoft.com/office/drawing/2014/main" id="{9193D8F4-6435-54A5-3245-107B1C004664}"/>
              </a:ext>
            </a:extLst>
          </p:cNvPr>
          <p:cNvSpPr txBox="1"/>
          <p:nvPr/>
        </p:nvSpPr>
        <p:spPr>
          <a:xfrm>
            <a:off x="132519" y="914401"/>
            <a:ext cx="5255342" cy="307777"/>
          </a:xfrm>
          <a:prstGeom prst="rect">
            <a:avLst/>
          </a:prstGeom>
          <a:noFill/>
        </p:spPr>
        <p:txBody>
          <a:bodyPr wrap="square">
            <a:spAutoFit/>
          </a:bodyPr>
          <a:lstStyle/>
          <a:p>
            <a:pPr algn="l" fontAlgn="base">
              <a:spcBef>
                <a:spcPts val="1800"/>
              </a:spcBef>
              <a:spcAft>
                <a:spcPts val="1800"/>
              </a:spcAft>
            </a:pPr>
            <a:r>
              <a:rPr lang="en-US" b="1" i="0" dirty="0">
                <a:solidFill>
                  <a:srgbClr val="273239"/>
                </a:solidFill>
                <a:effectLst/>
                <a:latin typeface="Nunito" pitchFamily="2" charset="0"/>
              </a:rPr>
              <a:t>Pointer to the First Element of Array vs Pointer to Array</a:t>
            </a:r>
          </a:p>
        </p:txBody>
      </p:sp>
      <p:sp>
        <p:nvSpPr>
          <p:cNvPr id="5" name="Rectangle 2">
            <a:extLst>
              <a:ext uri="{FF2B5EF4-FFF2-40B4-BE49-F238E27FC236}">
                <a16:creationId xmlns:a16="http://schemas.microsoft.com/office/drawing/2014/main" id="{F13B4B80-915A-3DD0-A245-E22F13EA3DB7}"/>
              </a:ext>
            </a:extLst>
          </p:cNvPr>
          <p:cNvSpPr>
            <a:spLocks noChangeArrowheads="1"/>
          </p:cNvSpPr>
          <p:nvPr/>
        </p:nvSpPr>
        <p:spPr bwMode="auto">
          <a:xfrm>
            <a:off x="4409985" y="4042458"/>
            <a:ext cx="3460955" cy="43343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p1 = 0x7ffea4a54ba0 *p2 = 0x7ffea4a54ba0 p1 = 0x7ffea4a54ba4 *p2 = 0x7ffea4a54bb4</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3936A8E-5E78-3C69-6AB3-52F7C2BEFEFE}"/>
              </a:ext>
            </a:extLst>
          </p:cNvPr>
          <p:cNvSpPr txBox="1"/>
          <p:nvPr/>
        </p:nvSpPr>
        <p:spPr>
          <a:xfrm>
            <a:off x="4409985" y="1499218"/>
            <a:ext cx="4601496" cy="1933863"/>
          </a:xfrm>
          <a:prstGeom prst="rect">
            <a:avLst/>
          </a:prstGeom>
          <a:noFill/>
        </p:spPr>
        <p:txBody>
          <a:bodyPr wrap="square">
            <a:spAutoFit/>
          </a:bodyPr>
          <a:lstStyle/>
          <a:p>
            <a:pPr algn="l" rtl="0" fontAlgn="base">
              <a:spcAft>
                <a:spcPts val="750"/>
              </a:spcAft>
            </a:pPr>
            <a:r>
              <a:rPr lang="en-US" b="0" i="0" dirty="0">
                <a:solidFill>
                  <a:srgbClr val="273239"/>
                </a:solidFill>
                <a:effectLst/>
                <a:latin typeface="Nunito" pitchFamily="2" charset="0"/>
              </a:rPr>
              <a:t>Here,</a:t>
            </a:r>
            <a:r>
              <a:rPr lang="en-US" b="1" i="0" dirty="0">
                <a:solidFill>
                  <a:srgbClr val="273239"/>
                </a:solidFill>
                <a:effectLst/>
                <a:latin typeface="Nunito" pitchFamily="2" charset="0"/>
              </a:rPr>
              <a:t> p </a:t>
            </a:r>
            <a:r>
              <a:rPr lang="en-US" b="0" i="0" dirty="0">
                <a:solidFill>
                  <a:srgbClr val="273239"/>
                </a:solidFill>
                <a:effectLst/>
                <a:latin typeface="Nunito" pitchFamily="2" charset="0"/>
              </a:rPr>
              <a:t>is pointer to 0</a:t>
            </a:r>
            <a:r>
              <a:rPr lang="en-US" b="0" i="0" baseline="30000" dirty="0">
                <a:solidFill>
                  <a:srgbClr val="273239"/>
                </a:solidFill>
                <a:effectLst/>
                <a:latin typeface="Nunito" pitchFamily="2" charset="0"/>
              </a:rPr>
              <a:t>th</a:t>
            </a:r>
            <a:r>
              <a:rPr lang="en-US" b="0" i="0" dirty="0">
                <a:solidFill>
                  <a:srgbClr val="273239"/>
                </a:solidFill>
                <a:effectLst/>
                <a:latin typeface="Nunito" pitchFamily="2" charset="0"/>
              </a:rPr>
              <a:t> element of the array </a:t>
            </a:r>
            <a:r>
              <a:rPr lang="en-US" b="0" i="1" dirty="0" err="1">
                <a:solidFill>
                  <a:srgbClr val="273239"/>
                </a:solidFill>
                <a:effectLst/>
                <a:latin typeface="Nunito" pitchFamily="2" charset="0"/>
              </a:rPr>
              <a:t>arr</a:t>
            </a:r>
            <a:r>
              <a:rPr lang="en-US" b="0" i="0" dirty="0">
                <a:solidFill>
                  <a:srgbClr val="273239"/>
                </a:solidFill>
                <a:effectLst/>
                <a:latin typeface="Nunito" pitchFamily="2" charset="0"/>
              </a:rPr>
              <a:t>, while </a:t>
            </a:r>
            <a:r>
              <a:rPr lang="en-US" b="1" i="1" dirty="0" err="1">
                <a:solidFill>
                  <a:srgbClr val="273239"/>
                </a:solidFill>
                <a:effectLst/>
                <a:latin typeface="Nunito" pitchFamily="2" charset="0"/>
              </a:rPr>
              <a:t>ptr</a:t>
            </a:r>
            <a:r>
              <a:rPr lang="en-US" b="0" i="0" dirty="0">
                <a:solidFill>
                  <a:srgbClr val="273239"/>
                </a:solidFill>
                <a:effectLst/>
                <a:latin typeface="Nunito" pitchFamily="2" charset="0"/>
              </a:rPr>
              <a:t> is a pointer that points to the whole array </a:t>
            </a:r>
            <a:r>
              <a:rPr lang="en-US" b="0" i="1" dirty="0">
                <a:solidFill>
                  <a:srgbClr val="273239"/>
                </a:solidFill>
                <a:effectLst/>
                <a:latin typeface="Nunito" pitchFamily="2" charset="0"/>
              </a:rPr>
              <a:t>arr</a:t>
            </a:r>
            <a:r>
              <a:rPr lang="en-US" b="0" i="0" dirty="0">
                <a:solidFill>
                  <a:srgbClr val="273239"/>
                </a:solidFill>
                <a:effectLst/>
                <a:latin typeface="Nunito" pitchFamily="2" charset="0"/>
              </a:rPr>
              <a:t>. </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base type of </a:t>
            </a:r>
            <a:r>
              <a:rPr lang="en-US" b="0" i="1" dirty="0">
                <a:solidFill>
                  <a:srgbClr val="273239"/>
                </a:solidFill>
                <a:effectLst/>
                <a:latin typeface="Nunito" pitchFamily="2" charset="0"/>
              </a:rPr>
              <a:t>p</a:t>
            </a:r>
            <a:r>
              <a:rPr lang="en-US" b="0" i="0" dirty="0">
                <a:solidFill>
                  <a:srgbClr val="273239"/>
                </a:solidFill>
                <a:effectLst/>
                <a:latin typeface="Nunito" pitchFamily="2" charset="0"/>
              </a:rPr>
              <a:t> is int while base type of </a:t>
            </a:r>
            <a:r>
              <a:rPr lang="en-US" b="0" i="1" dirty="0" err="1">
                <a:solidFill>
                  <a:srgbClr val="273239"/>
                </a:solidFill>
                <a:effectLst/>
                <a:latin typeface="Nunito" pitchFamily="2" charset="0"/>
              </a:rPr>
              <a:t>ptr</a:t>
            </a:r>
            <a:r>
              <a:rPr lang="en-US" b="0" i="0" dirty="0">
                <a:solidFill>
                  <a:srgbClr val="273239"/>
                </a:solidFill>
                <a:effectLst/>
                <a:latin typeface="Nunito" pitchFamily="2" charset="0"/>
              </a:rPr>
              <a:t> is ‘an array of 5 integers’.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We know that the pointer arithmetic is performed relative to the base size, so if we write </a:t>
            </a:r>
            <a:r>
              <a:rPr lang="en-US" b="0" i="0" dirty="0" err="1">
                <a:solidFill>
                  <a:srgbClr val="273239"/>
                </a:solidFill>
                <a:effectLst/>
                <a:latin typeface="Nunito" pitchFamily="2" charset="0"/>
              </a:rPr>
              <a:t>ptr</a:t>
            </a:r>
            <a:r>
              <a:rPr lang="en-US" b="0" i="0" dirty="0">
                <a:solidFill>
                  <a:srgbClr val="273239"/>
                </a:solidFill>
                <a:effectLst/>
                <a:latin typeface="Nunito" pitchFamily="2" charset="0"/>
              </a:rPr>
              <a:t>++, then the pointer </a:t>
            </a:r>
            <a:r>
              <a:rPr lang="en-US" b="0" i="1" dirty="0" err="1">
                <a:solidFill>
                  <a:srgbClr val="273239"/>
                </a:solidFill>
                <a:effectLst/>
                <a:latin typeface="Nunito" pitchFamily="2" charset="0"/>
              </a:rPr>
              <a:t>ptr</a:t>
            </a:r>
            <a:r>
              <a:rPr lang="en-US" b="0" i="0" dirty="0">
                <a:solidFill>
                  <a:srgbClr val="273239"/>
                </a:solidFill>
                <a:effectLst/>
                <a:latin typeface="Nunito" pitchFamily="2" charset="0"/>
              </a:rPr>
              <a:t> will be shifted forward by 20 bytes.</a:t>
            </a:r>
          </a:p>
        </p:txBody>
      </p:sp>
      <p:pic>
        <p:nvPicPr>
          <p:cNvPr id="11" name="Picture 10">
            <a:extLst>
              <a:ext uri="{FF2B5EF4-FFF2-40B4-BE49-F238E27FC236}">
                <a16:creationId xmlns:a16="http://schemas.microsoft.com/office/drawing/2014/main" id="{0D7B16E7-C29B-606F-FB50-363894E16D96}"/>
              </a:ext>
            </a:extLst>
          </p:cNvPr>
          <p:cNvPicPr>
            <a:picLocks noChangeAspect="1"/>
          </p:cNvPicPr>
          <p:nvPr/>
        </p:nvPicPr>
        <p:blipFill>
          <a:blip r:embed="rId2"/>
          <a:stretch>
            <a:fillRect/>
          </a:stretch>
        </p:blipFill>
        <p:spPr>
          <a:xfrm>
            <a:off x="4636125" y="4628899"/>
            <a:ext cx="4229467" cy="1996613"/>
          </a:xfrm>
          <a:prstGeom prst="rect">
            <a:avLst/>
          </a:prstGeom>
        </p:spPr>
      </p:pic>
    </p:spTree>
    <p:extLst>
      <p:ext uri="{BB962C8B-B14F-4D97-AF65-F5344CB8AC3E}">
        <p14:creationId xmlns:p14="http://schemas.microsoft.com/office/powerpoint/2010/main" val="4160361627"/>
      </p:ext>
    </p:extLst>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03E19-3AE8-27FA-507F-FB11F044FB5B}"/>
              </a:ext>
            </a:extLst>
          </p:cNvPr>
          <p:cNvSpPr>
            <a:spLocks noGrp="1"/>
          </p:cNvSpPr>
          <p:nvPr>
            <p:ph type="ctrTitle"/>
          </p:nvPr>
        </p:nvSpPr>
        <p:spPr>
          <a:xfrm>
            <a:off x="0" y="1"/>
            <a:ext cx="6469626" cy="914400"/>
          </a:xfrm>
        </p:spPr>
        <p:txBody>
          <a:bodyPr/>
          <a:lstStyle/>
          <a:p>
            <a:r>
              <a:rPr lang="en-IN" dirty="0"/>
              <a:t>Pointer to Multidimensional Arrays</a:t>
            </a:r>
          </a:p>
        </p:txBody>
      </p:sp>
      <p:sp>
        <p:nvSpPr>
          <p:cNvPr id="3" name="Subtitle 2">
            <a:extLst>
              <a:ext uri="{FF2B5EF4-FFF2-40B4-BE49-F238E27FC236}">
                <a16:creationId xmlns:a16="http://schemas.microsoft.com/office/drawing/2014/main" id="{84E2054D-0F67-3443-8A57-9BFC8D4FF210}"/>
              </a:ext>
            </a:extLst>
          </p:cNvPr>
          <p:cNvSpPr>
            <a:spLocks noGrp="1"/>
          </p:cNvSpPr>
          <p:nvPr>
            <p:ph type="subTitle" idx="1"/>
          </p:nvPr>
        </p:nvSpPr>
        <p:spPr>
          <a:xfrm>
            <a:off x="66098" y="990231"/>
            <a:ext cx="8153400" cy="1351935"/>
          </a:xfrm>
        </p:spPr>
        <p:txBody>
          <a:bodyPr/>
          <a:lstStyle/>
          <a:p>
            <a:pPr algn="l">
              <a:buFont typeface="Arial" panose="020B0604020202020204" pitchFamily="34" charset="0"/>
              <a:buChar char="•"/>
            </a:pPr>
            <a:r>
              <a:rPr lang="en-IN" sz="1800" b="1" dirty="0">
                <a:solidFill>
                  <a:schemeClr val="tx1"/>
                </a:solidFill>
              </a:rPr>
              <a:t>Pointers to 2D Arrays: </a:t>
            </a:r>
            <a:r>
              <a:rPr lang="en-US" sz="1800" dirty="0">
                <a:solidFill>
                  <a:schemeClr val="tx1"/>
                </a:solidFill>
              </a:rPr>
              <a:t>To define a pointer to a 2D array, both the number of rows and columns of the array must be specified in the pointer declaration.</a:t>
            </a:r>
          </a:p>
          <a:p>
            <a:pPr algn="l">
              <a:buFont typeface="Arial" panose="020B0604020202020204" pitchFamily="34" charset="0"/>
              <a:buChar char="•"/>
            </a:pPr>
            <a:r>
              <a:rPr lang="en-US" sz="1800" dirty="0">
                <a:solidFill>
                  <a:schemeClr val="tx1"/>
                </a:solidFill>
              </a:rPr>
              <a:t>Syntax: </a:t>
            </a:r>
            <a:r>
              <a:rPr lang="en-IN" sz="1100" b="0" i="1" dirty="0">
                <a:solidFill>
                  <a:srgbClr val="273239"/>
                </a:solidFill>
                <a:effectLst/>
                <a:latin typeface="Nunito" pitchFamily="2" charset="0"/>
              </a:rPr>
              <a:t>type *</a:t>
            </a:r>
            <a:r>
              <a:rPr lang="en-IN" sz="1100" b="1" i="1" dirty="0">
                <a:solidFill>
                  <a:srgbClr val="273239"/>
                </a:solidFill>
                <a:effectLst/>
                <a:latin typeface="Nunito" pitchFamily="2" charset="0"/>
              </a:rPr>
              <a:t>(</a:t>
            </a:r>
            <a:r>
              <a:rPr lang="en-IN" sz="1100" b="1" i="1" dirty="0" err="1">
                <a:solidFill>
                  <a:srgbClr val="273239"/>
                </a:solidFill>
                <a:effectLst/>
                <a:latin typeface="Nunito" pitchFamily="2" charset="0"/>
              </a:rPr>
              <a:t>ptr</a:t>
            </a:r>
            <a:r>
              <a:rPr lang="en-IN" sz="1100" b="1" i="1" dirty="0">
                <a:solidFill>
                  <a:srgbClr val="273239"/>
                </a:solidFill>
                <a:effectLst/>
                <a:latin typeface="Nunito" pitchFamily="2" charset="0"/>
              </a:rPr>
              <a:t>)[</a:t>
            </a:r>
            <a:r>
              <a:rPr lang="en-IN" sz="1100" b="0" i="1" dirty="0">
                <a:solidFill>
                  <a:srgbClr val="273239"/>
                </a:solidFill>
                <a:effectLst/>
                <a:latin typeface="Nunito" pitchFamily="2" charset="0"/>
              </a:rPr>
              <a:t>row][cols]</a:t>
            </a:r>
            <a:endParaRPr lang="en-IN" sz="1800" dirty="0">
              <a:solidFill>
                <a:schemeClr val="tx1"/>
              </a:solidFill>
            </a:endParaRPr>
          </a:p>
        </p:txBody>
      </p:sp>
      <p:sp>
        <p:nvSpPr>
          <p:cNvPr id="6" name="TextBox 5">
            <a:extLst>
              <a:ext uri="{FF2B5EF4-FFF2-40B4-BE49-F238E27FC236}">
                <a16:creationId xmlns:a16="http://schemas.microsoft.com/office/drawing/2014/main" id="{A3CC83E7-75F0-8BC6-A02F-3DB38515D5A6}"/>
              </a:ext>
            </a:extLst>
          </p:cNvPr>
          <p:cNvSpPr txBox="1"/>
          <p:nvPr/>
        </p:nvSpPr>
        <p:spPr>
          <a:xfrm>
            <a:off x="518382" y="2425043"/>
            <a:ext cx="3434186" cy="4185761"/>
          </a:xfrm>
          <a:prstGeom prst="rect">
            <a:avLst/>
          </a:prstGeom>
          <a:noFill/>
        </p:spPr>
        <p:txBody>
          <a:bodyPr wrap="square">
            <a:spAutoFit/>
          </a:bodyPr>
          <a:lstStyle/>
          <a:p>
            <a:r>
              <a:rPr lang="en-IN" dirty="0"/>
              <a:t>#include &lt;</a:t>
            </a:r>
            <a:r>
              <a:rPr lang="en-IN" dirty="0" err="1"/>
              <a:t>stdio.h</a:t>
            </a:r>
            <a:r>
              <a:rPr lang="en-IN" dirty="0"/>
              <a:t>&gt;</a:t>
            </a:r>
          </a:p>
          <a:p>
            <a:endParaRPr lang="en-IN" dirty="0"/>
          </a:p>
          <a:p>
            <a:r>
              <a:rPr lang="en-IN" dirty="0"/>
              <a:t>int main() {</a:t>
            </a:r>
          </a:p>
          <a:p>
            <a:r>
              <a:rPr lang="en-IN" dirty="0"/>
              <a:t>    int </a:t>
            </a:r>
            <a:r>
              <a:rPr lang="en-IN" dirty="0" err="1"/>
              <a:t>arr</a:t>
            </a:r>
            <a:r>
              <a:rPr lang="en-IN" dirty="0"/>
              <a:t>[2][3] = {{1, 2, 3},</a:t>
            </a:r>
          </a:p>
          <a:p>
            <a:r>
              <a:rPr lang="en-IN" dirty="0"/>
              <a:t>                    {4, 5, 6}};</a:t>
            </a:r>
          </a:p>
          <a:p>
            <a:r>
              <a:rPr lang="en-IN" dirty="0"/>
              <a:t>  </a:t>
            </a:r>
          </a:p>
          <a:p>
            <a:r>
              <a:rPr lang="en-IN" dirty="0"/>
              <a:t>      // pointer to above array</a:t>
            </a:r>
          </a:p>
          <a:p>
            <a:r>
              <a:rPr lang="en-IN" dirty="0"/>
              <a:t>      int (*</a:t>
            </a:r>
            <a:r>
              <a:rPr lang="en-IN" dirty="0" err="1"/>
              <a:t>ptr</a:t>
            </a:r>
            <a:r>
              <a:rPr lang="en-IN" dirty="0"/>
              <a:t>)[2][3] = &amp;</a:t>
            </a:r>
            <a:r>
              <a:rPr lang="en-IN" dirty="0" err="1"/>
              <a:t>arr</a:t>
            </a:r>
            <a:r>
              <a:rPr lang="en-IN" dirty="0"/>
              <a:t>;</a:t>
            </a:r>
          </a:p>
          <a:p>
            <a:endParaRPr lang="en-IN" dirty="0"/>
          </a:p>
          <a:p>
            <a:r>
              <a:rPr lang="en-IN" dirty="0"/>
              <a:t>      // Traversing the </a:t>
            </a:r>
            <a:r>
              <a:rPr lang="en-IN" dirty="0" err="1"/>
              <a:t>arry</a:t>
            </a:r>
            <a:r>
              <a:rPr lang="en-IN" dirty="0"/>
              <a:t> using </a:t>
            </a:r>
            <a:r>
              <a:rPr lang="en-IN" dirty="0" err="1"/>
              <a:t>ptr</a:t>
            </a:r>
            <a:endParaRPr lang="en-IN" dirty="0"/>
          </a:p>
          <a:p>
            <a:r>
              <a:rPr lang="en-IN" dirty="0"/>
              <a:t>    for (int </a:t>
            </a:r>
            <a:r>
              <a:rPr lang="en-IN" dirty="0" err="1"/>
              <a:t>i</a:t>
            </a:r>
            <a:r>
              <a:rPr lang="en-IN" dirty="0"/>
              <a:t> = 0; </a:t>
            </a:r>
            <a:r>
              <a:rPr lang="en-IN" dirty="0" err="1"/>
              <a:t>i</a:t>
            </a:r>
            <a:r>
              <a:rPr lang="en-IN" dirty="0"/>
              <a:t> &lt; 2; </a:t>
            </a:r>
            <a:r>
              <a:rPr lang="en-IN" dirty="0" err="1"/>
              <a:t>i</a:t>
            </a:r>
            <a:r>
              <a:rPr lang="en-IN" dirty="0"/>
              <a:t>++) {</a:t>
            </a:r>
          </a:p>
          <a:p>
            <a:r>
              <a:rPr lang="en-IN" dirty="0"/>
              <a:t>        for (int j = 0; j &lt; 3; </a:t>
            </a:r>
            <a:r>
              <a:rPr lang="en-IN" dirty="0" err="1"/>
              <a:t>j++</a:t>
            </a:r>
            <a:r>
              <a:rPr lang="en-IN" dirty="0"/>
              <a:t>) {</a:t>
            </a:r>
          </a:p>
          <a:p>
            <a:r>
              <a:rPr lang="en-IN" dirty="0"/>
              <a:t>                </a:t>
            </a:r>
            <a:r>
              <a:rPr lang="en-IN" dirty="0" err="1"/>
              <a:t>printf</a:t>
            </a:r>
            <a:r>
              <a:rPr lang="en-IN" dirty="0"/>
              <a:t>("%d ", (*</a:t>
            </a:r>
            <a:r>
              <a:rPr lang="en-IN" dirty="0" err="1"/>
              <a:t>ptr</a:t>
            </a:r>
            <a:r>
              <a:rPr lang="en-IN" dirty="0"/>
              <a:t>)[</a:t>
            </a:r>
            <a:r>
              <a:rPr lang="en-IN" dirty="0" err="1"/>
              <a:t>i</a:t>
            </a:r>
            <a:r>
              <a:rPr lang="en-IN" dirty="0"/>
              <a:t>][j]);</a:t>
            </a:r>
          </a:p>
          <a:p>
            <a:r>
              <a:rPr lang="en-IN" dirty="0"/>
              <a:t>        }</a:t>
            </a:r>
          </a:p>
          <a:p>
            <a:r>
              <a:rPr lang="en-IN" dirty="0"/>
              <a:t>        </a:t>
            </a:r>
            <a:r>
              <a:rPr lang="en-IN" dirty="0" err="1"/>
              <a:t>printf</a:t>
            </a:r>
            <a:r>
              <a:rPr lang="en-IN" dirty="0"/>
              <a:t>("\n");</a:t>
            </a:r>
          </a:p>
          <a:p>
            <a:r>
              <a:rPr lang="en-IN" dirty="0"/>
              <a:t>    }</a:t>
            </a:r>
          </a:p>
          <a:p>
            <a:endParaRPr lang="en-IN" dirty="0"/>
          </a:p>
          <a:p>
            <a:r>
              <a:rPr lang="en-IN" dirty="0"/>
              <a:t>    return 0;</a:t>
            </a:r>
          </a:p>
          <a:p>
            <a:r>
              <a:rPr lang="en-IN" dirty="0"/>
              <a:t>}</a:t>
            </a:r>
          </a:p>
        </p:txBody>
      </p:sp>
      <p:sp>
        <p:nvSpPr>
          <p:cNvPr id="7" name="Rectangle 2">
            <a:extLst>
              <a:ext uri="{FF2B5EF4-FFF2-40B4-BE49-F238E27FC236}">
                <a16:creationId xmlns:a16="http://schemas.microsoft.com/office/drawing/2014/main" id="{EF9E52B8-B6A6-7EE3-CE1D-C2B4EB428D78}"/>
              </a:ext>
            </a:extLst>
          </p:cNvPr>
          <p:cNvSpPr>
            <a:spLocks noChangeArrowheads="1"/>
          </p:cNvSpPr>
          <p:nvPr/>
        </p:nvSpPr>
        <p:spPr bwMode="auto">
          <a:xfrm>
            <a:off x="7020233" y="4528454"/>
            <a:ext cx="518382" cy="43343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1 2 3 4 5 6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444F3F27-BE9A-8A29-024F-A2BFABEB9E8D}"/>
              </a:ext>
            </a:extLst>
          </p:cNvPr>
          <p:cNvSpPr txBox="1"/>
          <p:nvPr/>
        </p:nvSpPr>
        <p:spPr>
          <a:xfrm>
            <a:off x="6788744" y="4041058"/>
            <a:ext cx="981359" cy="307777"/>
          </a:xfrm>
          <a:prstGeom prst="rect">
            <a:avLst/>
          </a:prstGeom>
          <a:noFill/>
        </p:spPr>
        <p:txBody>
          <a:bodyPr wrap="none" rtlCol="0">
            <a:spAutoFit/>
          </a:bodyPr>
          <a:lstStyle/>
          <a:p>
            <a:r>
              <a:rPr lang="en-US" b="1" dirty="0"/>
              <a:t>OUTPUT:</a:t>
            </a:r>
            <a:endParaRPr lang="en-IN" b="1" dirty="0"/>
          </a:p>
        </p:txBody>
      </p:sp>
    </p:spTree>
    <p:extLst>
      <p:ext uri="{BB962C8B-B14F-4D97-AF65-F5344CB8AC3E}">
        <p14:creationId xmlns:p14="http://schemas.microsoft.com/office/powerpoint/2010/main" val="2323725200"/>
      </p:ext>
    </p:extLst>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BF13-3EE2-1284-3D6A-686006558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C3DFB-9419-AB04-B8D0-96DC1264DA09}"/>
              </a:ext>
            </a:extLst>
          </p:cNvPr>
          <p:cNvSpPr>
            <a:spLocks noGrp="1"/>
          </p:cNvSpPr>
          <p:nvPr>
            <p:ph type="ctrTitle"/>
          </p:nvPr>
        </p:nvSpPr>
        <p:spPr>
          <a:xfrm>
            <a:off x="0" y="1"/>
            <a:ext cx="6469626" cy="914400"/>
          </a:xfrm>
        </p:spPr>
        <p:txBody>
          <a:bodyPr/>
          <a:lstStyle/>
          <a:p>
            <a:r>
              <a:rPr lang="en-IN" dirty="0"/>
              <a:t>Pointer to Multidimensional Arrays</a:t>
            </a:r>
          </a:p>
        </p:txBody>
      </p:sp>
      <p:sp>
        <p:nvSpPr>
          <p:cNvPr id="3" name="Subtitle 2">
            <a:extLst>
              <a:ext uri="{FF2B5EF4-FFF2-40B4-BE49-F238E27FC236}">
                <a16:creationId xmlns:a16="http://schemas.microsoft.com/office/drawing/2014/main" id="{47551B44-4997-9F9E-008A-23EBDDCD7938}"/>
              </a:ext>
            </a:extLst>
          </p:cNvPr>
          <p:cNvSpPr>
            <a:spLocks noGrp="1"/>
          </p:cNvSpPr>
          <p:nvPr>
            <p:ph type="subTitle" idx="1"/>
          </p:nvPr>
        </p:nvSpPr>
        <p:spPr>
          <a:xfrm>
            <a:off x="66098" y="990231"/>
            <a:ext cx="8153400" cy="1351935"/>
          </a:xfrm>
        </p:spPr>
        <p:txBody>
          <a:bodyPr/>
          <a:lstStyle/>
          <a:p>
            <a:pPr algn="l">
              <a:buFont typeface="Arial" panose="020B0604020202020204" pitchFamily="34" charset="0"/>
              <a:buChar char="•"/>
            </a:pPr>
            <a:r>
              <a:rPr lang="en-IN" sz="1800" b="1" dirty="0">
                <a:solidFill>
                  <a:schemeClr val="tx1"/>
                </a:solidFill>
              </a:rPr>
              <a:t>Pointers to 3D Arrays: </a:t>
            </a:r>
            <a:r>
              <a:rPr lang="en-US" sz="1800" dirty="0">
                <a:solidFill>
                  <a:schemeClr val="tx1"/>
                </a:solidFill>
              </a:rPr>
              <a:t>To define a pointer to a 2D array, both the number of rows and columns of the array must be specified in the pointer declaration.</a:t>
            </a:r>
          </a:p>
          <a:p>
            <a:pPr algn="l">
              <a:buFont typeface="Arial" panose="020B0604020202020204" pitchFamily="34" charset="0"/>
              <a:buChar char="•"/>
            </a:pPr>
            <a:r>
              <a:rPr lang="en-US" sz="1800" dirty="0">
                <a:solidFill>
                  <a:schemeClr val="tx1"/>
                </a:solidFill>
              </a:rPr>
              <a:t>Syntax: </a:t>
            </a:r>
            <a:r>
              <a:rPr lang="en-US" sz="1100" b="0" i="1" dirty="0">
                <a:solidFill>
                  <a:srgbClr val="273239"/>
                </a:solidFill>
                <a:effectLst/>
                <a:latin typeface="Nunito" pitchFamily="2" charset="0"/>
              </a:rPr>
              <a:t>type *(</a:t>
            </a:r>
            <a:r>
              <a:rPr lang="en-US" sz="1100" b="0" i="1" dirty="0" err="1">
                <a:solidFill>
                  <a:srgbClr val="273239"/>
                </a:solidFill>
                <a:effectLst/>
                <a:latin typeface="Nunito" pitchFamily="2" charset="0"/>
              </a:rPr>
              <a:t>ptr</a:t>
            </a:r>
            <a:r>
              <a:rPr lang="en-US" sz="1100" b="0" i="1" dirty="0">
                <a:solidFill>
                  <a:srgbClr val="273239"/>
                </a:solidFill>
                <a:effectLst/>
                <a:latin typeface="Nunito" pitchFamily="2" charset="0"/>
              </a:rPr>
              <a:t>)[depth][row][cols]</a:t>
            </a:r>
            <a:endParaRPr lang="en-IN" sz="1800" dirty="0">
              <a:solidFill>
                <a:schemeClr val="tx1"/>
              </a:solidFill>
            </a:endParaRPr>
          </a:p>
        </p:txBody>
      </p:sp>
      <p:sp>
        <p:nvSpPr>
          <p:cNvPr id="8" name="TextBox 7">
            <a:extLst>
              <a:ext uri="{FF2B5EF4-FFF2-40B4-BE49-F238E27FC236}">
                <a16:creationId xmlns:a16="http://schemas.microsoft.com/office/drawing/2014/main" id="{2DE486E2-696D-DE44-C9B6-E50DADA72BFA}"/>
              </a:ext>
            </a:extLst>
          </p:cNvPr>
          <p:cNvSpPr txBox="1"/>
          <p:nvPr/>
        </p:nvSpPr>
        <p:spPr>
          <a:xfrm>
            <a:off x="6788744" y="4041058"/>
            <a:ext cx="981359" cy="307777"/>
          </a:xfrm>
          <a:prstGeom prst="rect">
            <a:avLst/>
          </a:prstGeom>
          <a:noFill/>
        </p:spPr>
        <p:txBody>
          <a:bodyPr wrap="none" rtlCol="0">
            <a:spAutoFit/>
          </a:bodyPr>
          <a:lstStyle/>
          <a:p>
            <a:r>
              <a:rPr lang="en-US" b="1" dirty="0"/>
              <a:t>OUTPUT:</a:t>
            </a:r>
            <a:endParaRPr lang="en-IN" b="1" dirty="0"/>
          </a:p>
        </p:txBody>
      </p:sp>
      <p:sp>
        <p:nvSpPr>
          <p:cNvPr id="9" name="TextBox 8">
            <a:extLst>
              <a:ext uri="{FF2B5EF4-FFF2-40B4-BE49-F238E27FC236}">
                <a16:creationId xmlns:a16="http://schemas.microsoft.com/office/drawing/2014/main" id="{188848C1-55A7-B6C4-122C-0F40FFD50C4C}"/>
              </a:ext>
            </a:extLst>
          </p:cNvPr>
          <p:cNvSpPr txBox="1"/>
          <p:nvPr/>
        </p:nvSpPr>
        <p:spPr>
          <a:xfrm>
            <a:off x="229465" y="2207944"/>
            <a:ext cx="4460522" cy="4832092"/>
          </a:xfrm>
          <a:prstGeom prst="rect">
            <a:avLst/>
          </a:prstGeom>
          <a:noFill/>
        </p:spPr>
        <p:txBody>
          <a:bodyPr wrap="square">
            <a:spAutoFit/>
          </a:bodyPr>
          <a:lstStyle/>
          <a:p>
            <a:r>
              <a:rPr lang="en-IN" dirty="0"/>
              <a:t>#include &lt;</a:t>
            </a:r>
            <a:r>
              <a:rPr lang="en-IN" dirty="0" err="1"/>
              <a:t>stdio.h</a:t>
            </a:r>
            <a:r>
              <a:rPr lang="en-IN" dirty="0"/>
              <a:t>&gt;</a:t>
            </a:r>
          </a:p>
          <a:p>
            <a:endParaRPr lang="en-IN" dirty="0"/>
          </a:p>
          <a:p>
            <a:r>
              <a:rPr lang="en-IN" dirty="0"/>
              <a:t>int main() {</a:t>
            </a:r>
          </a:p>
          <a:p>
            <a:r>
              <a:rPr lang="en-IN" dirty="0"/>
              <a:t>    int </a:t>
            </a:r>
            <a:r>
              <a:rPr lang="en-IN" dirty="0" err="1"/>
              <a:t>arr</a:t>
            </a:r>
            <a:r>
              <a:rPr lang="en-IN" dirty="0"/>
              <a:t>[2][3][2] = {{{1, 2}, {3, 4}, {5, 6}},</a:t>
            </a:r>
          </a:p>
          <a:p>
            <a:r>
              <a:rPr lang="en-IN" dirty="0"/>
              <a:t>                       {{7, 8}, {9, 10}, {11, 12}}};</a:t>
            </a:r>
          </a:p>
          <a:p>
            <a:endParaRPr lang="en-IN" dirty="0"/>
          </a:p>
          <a:p>
            <a:r>
              <a:rPr lang="en-IN" dirty="0"/>
              <a:t>    // Pointer to the 3D array</a:t>
            </a:r>
          </a:p>
          <a:p>
            <a:r>
              <a:rPr lang="en-IN" dirty="0"/>
              <a:t>    int (*</a:t>
            </a:r>
            <a:r>
              <a:rPr lang="en-IN" dirty="0" err="1"/>
              <a:t>ptr</a:t>
            </a:r>
            <a:r>
              <a:rPr lang="en-IN" dirty="0"/>
              <a:t>)[2][3][2] = &amp;</a:t>
            </a:r>
            <a:r>
              <a:rPr lang="en-IN" dirty="0" err="1"/>
              <a:t>arr</a:t>
            </a:r>
            <a:r>
              <a:rPr lang="en-IN" dirty="0"/>
              <a:t>;</a:t>
            </a:r>
          </a:p>
          <a:p>
            <a:endParaRPr lang="en-IN" dirty="0"/>
          </a:p>
          <a:p>
            <a:r>
              <a:rPr lang="en-IN" dirty="0"/>
              <a:t>    // Traversing the 3D array using the pointer</a:t>
            </a:r>
          </a:p>
          <a:p>
            <a:r>
              <a:rPr lang="en-IN" dirty="0"/>
              <a:t>    for (int </a:t>
            </a:r>
            <a:r>
              <a:rPr lang="en-IN" dirty="0" err="1"/>
              <a:t>i</a:t>
            </a:r>
            <a:r>
              <a:rPr lang="en-IN" dirty="0"/>
              <a:t> = 0; </a:t>
            </a:r>
            <a:r>
              <a:rPr lang="en-IN" dirty="0" err="1"/>
              <a:t>i</a:t>
            </a:r>
            <a:r>
              <a:rPr lang="en-IN" dirty="0"/>
              <a:t> &lt; 2; </a:t>
            </a:r>
            <a:r>
              <a:rPr lang="en-IN" dirty="0" err="1"/>
              <a:t>i</a:t>
            </a:r>
            <a:r>
              <a:rPr lang="en-IN" dirty="0"/>
              <a:t>++) {</a:t>
            </a:r>
          </a:p>
          <a:p>
            <a:r>
              <a:rPr lang="en-IN" dirty="0"/>
              <a:t>        for (int j = 0; j &lt; 3; </a:t>
            </a:r>
            <a:r>
              <a:rPr lang="en-IN" dirty="0" err="1"/>
              <a:t>j++</a:t>
            </a:r>
            <a:r>
              <a:rPr lang="en-IN" dirty="0"/>
              <a:t>) {</a:t>
            </a:r>
          </a:p>
          <a:p>
            <a:r>
              <a:rPr lang="en-IN" dirty="0"/>
              <a:t>            for (int k = 0; k &lt; 2; k++) {</a:t>
            </a:r>
          </a:p>
          <a:p>
            <a:r>
              <a:rPr lang="en-IN" dirty="0"/>
              <a:t>                </a:t>
            </a:r>
            <a:r>
              <a:rPr lang="en-IN" dirty="0" err="1"/>
              <a:t>printf</a:t>
            </a:r>
            <a:r>
              <a:rPr lang="en-IN" dirty="0"/>
              <a:t>("%d ", (*</a:t>
            </a:r>
            <a:r>
              <a:rPr lang="en-IN" dirty="0" err="1"/>
              <a:t>ptr</a:t>
            </a:r>
            <a:r>
              <a:rPr lang="en-IN" dirty="0"/>
              <a:t>)[</a:t>
            </a:r>
            <a:r>
              <a:rPr lang="en-IN" dirty="0" err="1"/>
              <a:t>i</a:t>
            </a:r>
            <a:r>
              <a:rPr lang="en-IN" dirty="0"/>
              <a:t>][j][k]);</a:t>
            </a:r>
          </a:p>
          <a:p>
            <a:r>
              <a:rPr lang="en-IN" dirty="0"/>
              <a:t>            }</a:t>
            </a:r>
          </a:p>
          <a:p>
            <a:r>
              <a:rPr lang="en-IN" dirty="0"/>
              <a:t>            </a:t>
            </a:r>
            <a:r>
              <a:rPr lang="en-IN" dirty="0" err="1"/>
              <a:t>printf</a:t>
            </a:r>
            <a:r>
              <a:rPr lang="en-IN" dirty="0"/>
              <a:t>("\n");</a:t>
            </a:r>
          </a:p>
          <a:p>
            <a:r>
              <a:rPr lang="en-IN" dirty="0"/>
              <a:t>        }</a:t>
            </a:r>
          </a:p>
          <a:p>
            <a:r>
              <a:rPr lang="en-IN" dirty="0"/>
              <a:t>        </a:t>
            </a:r>
            <a:r>
              <a:rPr lang="en-IN" dirty="0" err="1"/>
              <a:t>printf</a:t>
            </a:r>
            <a:r>
              <a:rPr lang="en-IN" dirty="0"/>
              <a:t>("\n");</a:t>
            </a:r>
          </a:p>
          <a:p>
            <a:r>
              <a:rPr lang="en-IN" dirty="0"/>
              <a:t>    }</a:t>
            </a:r>
          </a:p>
          <a:p>
            <a:endParaRPr lang="en-IN" dirty="0"/>
          </a:p>
          <a:p>
            <a:r>
              <a:rPr lang="en-IN" dirty="0"/>
              <a:t>    return 0;</a:t>
            </a:r>
          </a:p>
          <a:p>
            <a:r>
              <a:rPr lang="en-IN" dirty="0"/>
              <a:t>}</a:t>
            </a:r>
          </a:p>
        </p:txBody>
      </p:sp>
      <p:pic>
        <p:nvPicPr>
          <p:cNvPr id="12" name="Picture 11">
            <a:extLst>
              <a:ext uri="{FF2B5EF4-FFF2-40B4-BE49-F238E27FC236}">
                <a16:creationId xmlns:a16="http://schemas.microsoft.com/office/drawing/2014/main" id="{3DD85ACC-9FC8-11DB-9648-7BFED2600E33}"/>
              </a:ext>
            </a:extLst>
          </p:cNvPr>
          <p:cNvPicPr>
            <a:picLocks noChangeAspect="1"/>
          </p:cNvPicPr>
          <p:nvPr/>
        </p:nvPicPr>
        <p:blipFill>
          <a:blip r:embed="rId2"/>
          <a:stretch>
            <a:fillRect/>
          </a:stretch>
        </p:blipFill>
        <p:spPr>
          <a:xfrm>
            <a:off x="6947924" y="4496050"/>
            <a:ext cx="662997" cy="1371719"/>
          </a:xfrm>
          <a:prstGeom prst="rect">
            <a:avLst/>
          </a:prstGeom>
        </p:spPr>
      </p:pic>
    </p:spTree>
    <p:extLst>
      <p:ext uri="{BB962C8B-B14F-4D97-AF65-F5344CB8AC3E}">
        <p14:creationId xmlns:p14="http://schemas.microsoft.com/office/powerpoint/2010/main" val="617089980"/>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2"/>
          <p:cNvSpPr txBox="1"/>
          <p:nvPr/>
        </p:nvSpPr>
        <p:spPr>
          <a:xfrm>
            <a:off x="210741" y="0"/>
            <a:ext cx="5313759" cy="990600"/>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3609"/>
              <a:buFont typeface="Arial"/>
              <a:buNone/>
            </a:pPr>
            <a:r>
              <a:rPr lang="en-US" sz="3200" b="1" dirty="0">
                <a:solidFill>
                  <a:schemeClr val="dk1"/>
                </a:solidFill>
                <a:latin typeface="Calibri"/>
                <a:ea typeface="Calibri"/>
                <a:cs typeface="Calibri"/>
                <a:sym typeface="Calibri"/>
              </a:rPr>
              <a:t>Array of Pointers in C</a:t>
            </a:r>
            <a:endParaRPr lang="en-US" sz="3200" b="1" i="0" u="none" strike="noStrike" cap="none" dirty="0">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943A7FCC-DFF7-14EF-EE27-04FAA8F6C593}"/>
              </a:ext>
            </a:extLst>
          </p:cNvPr>
          <p:cNvSpPr txBox="1"/>
          <p:nvPr/>
        </p:nvSpPr>
        <p:spPr>
          <a:xfrm>
            <a:off x="210741" y="1164067"/>
            <a:ext cx="8267412" cy="1631216"/>
          </a:xfrm>
          <a:prstGeom prst="rect">
            <a:avLst/>
          </a:prstGeom>
          <a:noFill/>
        </p:spPr>
        <p:txBody>
          <a:bodyPr wrap="square">
            <a:spAutoFit/>
          </a:bodyPr>
          <a:lstStyle/>
          <a:p>
            <a:pPr algn="just"/>
            <a:r>
              <a:rPr lang="en-US" sz="2000" b="0" i="0" dirty="0">
                <a:solidFill>
                  <a:srgbClr val="273239"/>
                </a:solidFill>
                <a:effectLst/>
                <a:latin typeface="Nunito" pitchFamily="2" charset="0"/>
              </a:rPr>
              <a:t>In C, a pointer array is a homogeneous collection of indexed pointer variables that are references to a memory location. It is generally used in C Programming when we want to point at multiple memory locations of a similar data type in our C program. We can access the data by dereferencing the pointer pointing to it.</a:t>
            </a:r>
            <a:endParaRPr lang="en-IN" sz="1600" dirty="0"/>
          </a:p>
        </p:txBody>
      </p:sp>
      <p:sp>
        <p:nvSpPr>
          <p:cNvPr id="3" name="TextBox 2">
            <a:extLst>
              <a:ext uri="{FF2B5EF4-FFF2-40B4-BE49-F238E27FC236}">
                <a16:creationId xmlns:a16="http://schemas.microsoft.com/office/drawing/2014/main" id="{CF2E0160-0912-3740-7461-8554450041C8}"/>
              </a:ext>
            </a:extLst>
          </p:cNvPr>
          <p:cNvSpPr txBox="1"/>
          <p:nvPr/>
        </p:nvSpPr>
        <p:spPr>
          <a:xfrm>
            <a:off x="339213" y="2968750"/>
            <a:ext cx="4572000" cy="307777"/>
          </a:xfrm>
          <a:prstGeom prst="rect">
            <a:avLst/>
          </a:prstGeom>
          <a:noFill/>
        </p:spPr>
        <p:txBody>
          <a:bodyPr wrap="square">
            <a:spAutoFit/>
          </a:bodyPr>
          <a:lstStyle/>
          <a:p>
            <a:r>
              <a:rPr lang="en-IN" b="1" i="0" dirty="0">
                <a:solidFill>
                  <a:srgbClr val="273239"/>
                </a:solidFill>
                <a:effectLst/>
                <a:latin typeface="Nunito" pitchFamily="2" charset="0"/>
              </a:rPr>
              <a:t>Syntax: </a:t>
            </a:r>
            <a:endParaRPr lang="en-IN" dirty="0"/>
          </a:p>
        </p:txBody>
      </p:sp>
      <p:sp>
        <p:nvSpPr>
          <p:cNvPr id="4" name="Rectangle 1">
            <a:extLst>
              <a:ext uri="{FF2B5EF4-FFF2-40B4-BE49-F238E27FC236}">
                <a16:creationId xmlns:a16="http://schemas.microsoft.com/office/drawing/2014/main" id="{3D8F8508-5327-560B-9954-3612683409CF}"/>
              </a:ext>
            </a:extLst>
          </p:cNvPr>
          <p:cNvSpPr>
            <a:spLocks noChangeArrowheads="1"/>
          </p:cNvSpPr>
          <p:nvPr/>
        </p:nvSpPr>
        <p:spPr bwMode="auto">
          <a:xfrm>
            <a:off x="1252961" y="2998255"/>
            <a:ext cx="3387865" cy="24876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Consolas" panose="020B0609020204030204" pitchFamily="49" charset="0"/>
              </a:rPr>
              <a:t>pointer_type</a:t>
            </a:r>
            <a:r>
              <a:rPr kumimoji="0" lang="en-US" altLang="en-US" sz="1200" b="0" i="0" u="none" strike="noStrike" cap="none" normalizeH="0" baseline="0" dirty="0">
                <a:ln>
                  <a:noFill/>
                </a:ln>
                <a:solidFill>
                  <a:schemeClr val="tx1"/>
                </a:solidFill>
                <a:effectLst/>
                <a:latin typeface="Consolas" panose="020B0609020204030204" pitchFamily="49" charset="0"/>
              </a:rPr>
              <a:t> *</a:t>
            </a:r>
            <a:r>
              <a:rPr kumimoji="0" lang="en-US" altLang="en-US" sz="1200" b="0" i="0" u="none" strike="noStrike" cap="none" normalizeH="0" baseline="0" dirty="0" err="1">
                <a:ln>
                  <a:noFill/>
                </a:ln>
                <a:solidFill>
                  <a:schemeClr val="tx1"/>
                </a:solidFill>
                <a:effectLst/>
                <a:latin typeface="Consolas" panose="020B0609020204030204" pitchFamily="49" charset="0"/>
              </a:rPr>
              <a:t>array_name</a:t>
            </a:r>
            <a:r>
              <a:rPr kumimoji="0" lang="en-US" altLang="en-US" sz="1200" b="0" i="0" u="none" strike="noStrike" cap="none" normalizeH="0" baseline="0" dirty="0">
                <a:ln>
                  <a:noFill/>
                </a:ln>
                <a:solidFill>
                  <a:schemeClr val="tx1"/>
                </a:solidFill>
                <a:effectLst/>
                <a:latin typeface="Consolas" panose="020B0609020204030204" pitchFamily="49" charset="0"/>
              </a:rPr>
              <a:t> [</a:t>
            </a:r>
            <a:r>
              <a:rPr kumimoji="0" lang="en-US" altLang="en-US" sz="1200" b="0" i="0" u="none" strike="noStrike" cap="none" normalizeH="0" baseline="0" dirty="0" err="1">
                <a:ln>
                  <a:noFill/>
                </a:ln>
                <a:solidFill>
                  <a:schemeClr val="tx1"/>
                </a:solidFill>
                <a:effectLst/>
                <a:latin typeface="Consolas" panose="020B0609020204030204" pitchFamily="49" charset="0"/>
              </a:rPr>
              <a:t>array_size</a:t>
            </a:r>
            <a:r>
              <a:rPr kumimoji="0" lang="en-US" altLang="en-US" sz="1200" b="0" i="0" u="none" strike="noStrike" cap="none" normalizeH="0" baseline="0" dirty="0">
                <a:ln>
                  <a:noFill/>
                </a:ln>
                <a:solidFill>
                  <a:schemeClr val="tx1"/>
                </a:solidFill>
                <a:effectLst/>
                <a:latin typeface="Consolas" panose="020B0609020204030204" pitchFamily="49" charset="0"/>
              </a:rPr>
              <a:t>];</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18544C9-6D73-1E7F-5DF1-2B978438F271}"/>
              </a:ext>
            </a:extLst>
          </p:cNvPr>
          <p:cNvSpPr txBox="1"/>
          <p:nvPr/>
        </p:nvSpPr>
        <p:spPr>
          <a:xfrm>
            <a:off x="581620" y="3704663"/>
            <a:ext cx="6487774" cy="1518364"/>
          </a:xfrm>
          <a:prstGeom prst="rect">
            <a:avLst/>
          </a:prstGeom>
          <a:noFill/>
        </p:spPr>
        <p:txBody>
          <a:bodyPr wrap="square">
            <a:spAutoFit/>
          </a:bodyPr>
          <a:lstStyle/>
          <a:p>
            <a:pPr algn="l" rtl="0" fontAlgn="base">
              <a:spcAft>
                <a:spcPts val="750"/>
              </a:spcAft>
            </a:pPr>
            <a:r>
              <a:rPr lang="en-US" b="0" i="0" dirty="0">
                <a:solidFill>
                  <a:srgbClr val="273239"/>
                </a:solidFill>
                <a:effectLst/>
                <a:latin typeface="Nunito" pitchFamily="2" charset="0"/>
              </a:rPr>
              <a:t>Here,</a:t>
            </a:r>
          </a:p>
          <a:p>
            <a:pPr algn="l" fontAlgn="base">
              <a:spcAft>
                <a:spcPts val="1800"/>
              </a:spcAft>
              <a:buFont typeface="Arial" panose="020B0604020202020204" pitchFamily="34" charset="0"/>
              <a:buChar char="•"/>
            </a:pPr>
            <a:r>
              <a:rPr lang="en-US" b="1" i="0" dirty="0" err="1">
                <a:solidFill>
                  <a:srgbClr val="273239"/>
                </a:solidFill>
                <a:effectLst/>
                <a:latin typeface="Nunito" pitchFamily="2" charset="0"/>
              </a:rPr>
              <a:t>pointer_type</a:t>
            </a:r>
            <a:r>
              <a:rPr lang="en-US" b="1" i="0" dirty="0">
                <a:solidFill>
                  <a:srgbClr val="273239"/>
                </a:solidFill>
                <a:effectLst/>
                <a:latin typeface="Nunito" pitchFamily="2" charset="0"/>
              </a:rPr>
              <a:t>:</a:t>
            </a:r>
            <a:r>
              <a:rPr lang="en-US" b="0" i="0" dirty="0">
                <a:solidFill>
                  <a:srgbClr val="273239"/>
                </a:solidFill>
                <a:effectLst/>
                <a:latin typeface="Nunito" pitchFamily="2" charset="0"/>
              </a:rPr>
              <a:t> Type of data the pointer is pointing to.</a:t>
            </a:r>
          </a:p>
          <a:p>
            <a:pPr algn="l" fontAlgn="base">
              <a:spcAft>
                <a:spcPts val="1800"/>
              </a:spcAft>
              <a:buFont typeface="Arial" panose="020B0604020202020204" pitchFamily="34" charset="0"/>
              <a:buChar char="•"/>
            </a:pPr>
            <a:r>
              <a:rPr lang="en-US" b="1" i="0" dirty="0" err="1">
                <a:solidFill>
                  <a:srgbClr val="273239"/>
                </a:solidFill>
                <a:effectLst/>
                <a:latin typeface="Nunito" pitchFamily="2" charset="0"/>
              </a:rPr>
              <a:t>array_name</a:t>
            </a:r>
            <a:r>
              <a:rPr lang="en-US" b="1" i="0" dirty="0">
                <a:solidFill>
                  <a:srgbClr val="273239"/>
                </a:solidFill>
                <a:effectLst/>
                <a:latin typeface="Nunito" pitchFamily="2" charset="0"/>
              </a:rPr>
              <a:t>:</a:t>
            </a:r>
            <a:r>
              <a:rPr lang="en-US" b="0" i="0" dirty="0">
                <a:solidFill>
                  <a:srgbClr val="273239"/>
                </a:solidFill>
                <a:effectLst/>
                <a:latin typeface="Nunito" pitchFamily="2" charset="0"/>
              </a:rPr>
              <a:t> Name of the array of pointers.</a:t>
            </a:r>
          </a:p>
          <a:p>
            <a:pPr algn="l" fontAlgn="base">
              <a:spcAft>
                <a:spcPts val="1800"/>
              </a:spcAft>
              <a:buFont typeface="Arial" panose="020B0604020202020204" pitchFamily="34" charset="0"/>
              <a:buChar char="•"/>
            </a:pPr>
            <a:r>
              <a:rPr lang="en-US" b="1" i="0" dirty="0" err="1">
                <a:solidFill>
                  <a:srgbClr val="273239"/>
                </a:solidFill>
                <a:effectLst/>
                <a:latin typeface="Nunito" pitchFamily="2" charset="0"/>
              </a:rPr>
              <a:t>array_size</a:t>
            </a:r>
            <a:r>
              <a:rPr lang="en-US" b="1" i="0" dirty="0">
                <a:solidFill>
                  <a:srgbClr val="273239"/>
                </a:solidFill>
                <a:effectLst/>
                <a:latin typeface="Nunito" pitchFamily="2" charset="0"/>
              </a:rPr>
              <a:t>:</a:t>
            </a:r>
            <a:r>
              <a:rPr lang="en-US" b="0" i="0" dirty="0">
                <a:solidFill>
                  <a:srgbClr val="273239"/>
                </a:solidFill>
                <a:effectLst/>
                <a:latin typeface="Nunito" pitchFamily="2" charset="0"/>
              </a:rPr>
              <a:t>  Size of the array of pointers.</a:t>
            </a:r>
          </a:p>
        </p:txBody>
      </p:sp>
    </p:spTree>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D24AF-0108-C4EA-2AE6-7314C836B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A71EE-845D-49CC-ABAA-2BED5F426EA6}"/>
              </a:ext>
            </a:extLst>
          </p:cNvPr>
          <p:cNvSpPr>
            <a:spLocks noGrp="1"/>
          </p:cNvSpPr>
          <p:nvPr>
            <p:ph type="ctrTitle"/>
          </p:nvPr>
        </p:nvSpPr>
        <p:spPr/>
        <p:txBody>
          <a:bodyPr/>
          <a:lstStyle/>
          <a:p>
            <a:pPr marL="0" marR="0" lvl="0" indent="0" algn="just" rtl="0">
              <a:lnSpc>
                <a:spcPct val="100000"/>
              </a:lnSpc>
              <a:spcBef>
                <a:spcPts val="0"/>
              </a:spcBef>
              <a:spcAft>
                <a:spcPts val="0"/>
              </a:spcAft>
              <a:buClr>
                <a:srgbClr val="000000"/>
              </a:buClr>
              <a:buSzPts val="3609"/>
              <a:buFont typeface="Arial"/>
              <a:buNone/>
            </a:pPr>
            <a:r>
              <a:rPr lang="en-US" sz="3200" b="1" dirty="0">
                <a:solidFill>
                  <a:schemeClr val="dk1"/>
                </a:solidFill>
                <a:latin typeface="Calibri"/>
                <a:ea typeface="Calibri"/>
                <a:cs typeface="Calibri"/>
                <a:sym typeface="Calibri"/>
              </a:rPr>
              <a:t>Array of Pointers in C</a:t>
            </a:r>
            <a:endParaRPr lang="en-US" sz="3200" b="1" i="0" u="none" strike="noStrike" cap="none" dirty="0">
              <a:solidFill>
                <a:schemeClr val="dk1"/>
              </a:solidFill>
              <a:latin typeface="Calibri"/>
              <a:ea typeface="Calibri"/>
              <a:cs typeface="Calibri"/>
              <a:sym typeface="Calibri"/>
            </a:endParaRPr>
          </a:p>
        </p:txBody>
      </p:sp>
      <p:sp>
        <p:nvSpPr>
          <p:cNvPr id="3" name="Subtitle 2">
            <a:extLst>
              <a:ext uri="{FF2B5EF4-FFF2-40B4-BE49-F238E27FC236}">
                <a16:creationId xmlns:a16="http://schemas.microsoft.com/office/drawing/2014/main" id="{F266731E-5825-CD96-5BCF-4D38C200849C}"/>
              </a:ext>
            </a:extLst>
          </p:cNvPr>
          <p:cNvSpPr>
            <a:spLocks noGrp="1"/>
          </p:cNvSpPr>
          <p:nvPr>
            <p:ph type="subTitle" idx="1"/>
          </p:nvPr>
        </p:nvSpPr>
        <p:spPr>
          <a:xfrm>
            <a:off x="533400" y="1371600"/>
            <a:ext cx="8177981" cy="1833716"/>
          </a:xfrm>
        </p:spPr>
        <p:txBody>
          <a:bodyPr/>
          <a:lstStyle/>
          <a:p>
            <a:pPr algn="just"/>
            <a:r>
              <a:rPr lang="en-IN" sz="1400" dirty="0">
                <a:solidFill>
                  <a:schemeClr val="tx1"/>
                </a:solidFill>
                <a:latin typeface="Times New Roman" panose="02020603050405020304" pitchFamily="18" charset="0"/>
                <a:cs typeface="Times New Roman" panose="02020603050405020304" pitchFamily="18" charset="0"/>
              </a:rPr>
              <a:t>#include &lt;</a:t>
            </a:r>
            <a:r>
              <a:rPr lang="en-IN" sz="1400" dirty="0" err="1">
                <a:solidFill>
                  <a:schemeClr val="tx1"/>
                </a:solidFill>
                <a:latin typeface="Times New Roman" panose="02020603050405020304" pitchFamily="18" charset="0"/>
                <a:cs typeface="Times New Roman" panose="02020603050405020304" pitchFamily="18" charset="0"/>
              </a:rPr>
              <a:t>stdio.h</a:t>
            </a:r>
            <a:r>
              <a:rPr lang="en-IN" sz="1400" dirty="0">
                <a:solidFill>
                  <a:schemeClr val="tx1"/>
                </a:solidFill>
                <a:latin typeface="Times New Roman" panose="02020603050405020304" pitchFamily="18" charset="0"/>
                <a:cs typeface="Times New Roman" panose="02020603050405020304" pitchFamily="18" charset="0"/>
              </a:rPr>
              <a:t>&gt;</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dirty="0">
                <a:solidFill>
                  <a:schemeClr val="tx1"/>
                </a:solidFill>
                <a:latin typeface="Times New Roman" panose="02020603050405020304" pitchFamily="18" charset="0"/>
                <a:cs typeface="Times New Roman" panose="02020603050405020304" pitchFamily="18" charset="0"/>
              </a:rPr>
              <a:t>int main()</a:t>
            </a:r>
          </a:p>
          <a:p>
            <a:pPr algn="just"/>
            <a:r>
              <a:rPr lang="en-IN" sz="1400" dirty="0">
                <a:solidFill>
                  <a:schemeClr val="tx1"/>
                </a:solidFill>
                <a:latin typeface="Times New Roman" panose="02020603050405020304" pitchFamily="18" charset="0"/>
                <a:cs typeface="Times New Roman" panose="02020603050405020304" pitchFamily="18" charset="0"/>
              </a:rPr>
              <a:t>{</a:t>
            </a:r>
          </a:p>
          <a:p>
            <a:pPr algn="just"/>
            <a:r>
              <a:rPr lang="en-IN" sz="1400" dirty="0">
                <a:solidFill>
                  <a:schemeClr val="tx1"/>
                </a:solidFill>
                <a:latin typeface="Times New Roman" panose="02020603050405020304" pitchFamily="18" charset="0"/>
                <a:cs typeface="Times New Roman" panose="02020603050405020304" pitchFamily="18" charset="0"/>
              </a:rPr>
              <a:t>    // declaring some temp variables</a:t>
            </a:r>
          </a:p>
          <a:p>
            <a:pPr algn="just"/>
            <a:r>
              <a:rPr lang="en-IN" sz="1400" dirty="0">
                <a:solidFill>
                  <a:schemeClr val="tx1"/>
                </a:solidFill>
                <a:latin typeface="Times New Roman" panose="02020603050405020304" pitchFamily="18" charset="0"/>
                <a:cs typeface="Times New Roman" panose="02020603050405020304" pitchFamily="18" charset="0"/>
              </a:rPr>
              <a:t>    int var1 = 10;</a:t>
            </a:r>
          </a:p>
          <a:p>
            <a:pPr algn="just"/>
            <a:r>
              <a:rPr lang="en-IN" sz="1400" dirty="0">
                <a:solidFill>
                  <a:schemeClr val="tx1"/>
                </a:solidFill>
                <a:latin typeface="Times New Roman" panose="02020603050405020304" pitchFamily="18" charset="0"/>
                <a:cs typeface="Times New Roman" panose="02020603050405020304" pitchFamily="18" charset="0"/>
              </a:rPr>
              <a:t>    int var2 = 20;</a:t>
            </a:r>
          </a:p>
          <a:p>
            <a:pPr algn="just"/>
            <a:r>
              <a:rPr lang="en-IN" sz="1400" dirty="0">
                <a:solidFill>
                  <a:schemeClr val="tx1"/>
                </a:solidFill>
                <a:latin typeface="Times New Roman" panose="02020603050405020304" pitchFamily="18" charset="0"/>
                <a:cs typeface="Times New Roman" panose="02020603050405020304" pitchFamily="18" charset="0"/>
              </a:rPr>
              <a:t>    int var3 = 30;</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dirty="0">
                <a:solidFill>
                  <a:schemeClr val="tx1"/>
                </a:solidFill>
                <a:latin typeface="Times New Roman" panose="02020603050405020304" pitchFamily="18" charset="0"/>
                <a:cs typeface="Times New Roman" panose="02020603050405020304" pitchFamily="18" charset="0"/>
              </a:rPr>
              <a:t>    // array of pointers to integers</a:t>
            </a:r>
          </a:p>
          <a:p>
            <a:pPr algn="just"/>
            <a:r>
              <a:rPr lang="en-IN" sz="1400" dirty="0">
                <a:solidFill>
                  <a:schemeClr val="tx1"/>
                </a:solidFill>
                <a:latin typeface="Times New Roman" panose="02020603050405020304" pitchFamily="18" charset="0"/>
                <a:cs typeface="Times New Roman" panose="02020603050405020304" pitchFamily="18" charset="0"/>
              </a:rPr>
              <a:t>    int* </a:t>
            </a:r>
            <a:r>
              <a:rPr lang="en-IN" sz="1400" dirty="0" err="1">
                <a:solidFill>
                  <a:schemeClr val="tx1"/>
                </a:solidFill>
                <a:latin typeface="Times New Roman" panose="02020603050405020304" pitchFamily="18" charset="0"/>
                <a:cs typeface="Times New Roman" panose="02020603050405020304" pitchFamily="18" charset="0"/>
              </a:rPr>
              <a:t>ptr_arr</a:t>
            </a:r>
            <a:r>
              <a:rPr lang="en-IN" sz="1400" dirty="0">
                <a:solidFill>
                  <a:schemeClr val="tx1"/>
                </a:solidFill>
                <a:latin typeface="Times New Roman" panose="02020603050405020304" pitchFamily="18" charset="0"/>
                <a:cs typeface="Times New Roman" panose="02020603050405020304" pitchFamily="18" charset="0"/>
              </a:rPr>
              <a:t>[3] = { &amp;var1, &amp;var2, &amp;var3 };</a:t>
            </a:r>
          </a:p>
          <a:p>
            <a:pPr algn="just"/>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dirty="0">
                <a:solidFill>
                  <a:schemeClr val="tx1"/>
                </a:solidFill>
                <a:latin typeface="Times New Roman" panose="02020603050405020304" pitchFamily="18" charset="0"/>
                <a:cs typeface="Times New Roman" panose="02020603050405020304" pitchFamily="18" charset="0"/>
              </a:rPr>
              <a:t>    // traversing using loop</a:t>
            </a:r>
          </a:p>
          <a:p>
            <a:pPr algn="just"/>
            <a:r>
              <a:rPr lang="en-IN" sz="1400" dirty="0">
                <a:solidFill>
                  <a:schemeClr val="tx1"/>
                </a:solidFill>
                <a:latin typeface="Times New Roman" panose="02020603050405020304" pitchFamily="18" charset="0"/>
                <a:cs typeface="Times New Roman" panose="02020603050405020304" pitchFamily="18" charset="0"/>
              </a:rPr>
              <a:t>    for (int </a:t>
            </a:r>
            <a:r>
              <a:rPr lang="en-IN" sz="1400" dirty="0" err="1">
                <a:solidFill>
                  <a:schemeClr val="tx1"/>
                </a:solidFill>
                <a:latin typeface="Times New Roman" panose="02020603050405020304" pitchFamily="18" charset="0"/>
                <a:cs typeface="Times New Roman" panose="02020603050405020304" pitchFamily="18" charset="0"/>
              </a:rPr>
              <a:t>i</a:t>
            </a:r>
            <a:r>
              <a:rPr lang="en-IN" sz="1400" dirty="0">
                <a:solidFill>
                  <a:schemeClr val="tx1"/>
                </a:solidFill>
                <a:latin typeface="Times New Roman" panose="02020603050405020304" pitchFamily="18" charset="0"/>
                <a:cs typeface="Times New Roman" panose="02020603050405020304" pitchFamily="18" charset="0"/>
              </a:rPr>
              <a:t> = 0; </a:t>
            </a:r>
            <a:r>
              <a:rPr lang="en-IN" sz="1400" dirty="0" err="1">
                <a:solidFill>
                  <a:schemeClr val="tx1"/>
                </a:solidFill>
                <a:latin typeface="Times New Roman" panose="02020603050405020304" pitchFamily="18" charset="0"/>
                <a:cs typeface="Times New Roman" panose="02020603050405020304" pitchFamily="18" charset="0"/>
              </a:rPr>
              <a:t>i</a:t>
            </a:r>
            <a:r>
              <a:rPr lang="en-IN" sz="1400" dirty="0">
                <a:solidFill>
                  <a:schemeClr val="tx1"/>
                </a:solidFill>
                <a:latin typeface="Times New Roman" panose="02020603050405020304" pitchFamily="18" charset="0"/>
                <a:cs typeface="Times New Roman" panose="02020603050405020304" pitchFamily="18" charset="0"/>
              </a:rPr>
              <a:t> &lt; 3; </a:t>
            </a:r>
            <a:r>
              <a:rPr lang="en-IN" sz="1400" dirty="0" err="1">
                <a:solidFill>
                  <a:schemeClr val="tx1"/>
                </a:solidFill>
                <a:latin typeface="Times New Roman" panose="02020603050405020304" pitchFamily="18" charset="0"/>
                <a:cs typeface="Times New Roman" panose="02020603050405020304" pitchFamily="18" charset="0"/>
              </a:rPr>
              <a:t>i</a:t>
            </a:r>
            <a:r>
              <a:rPr lang="en-IN" sz="1400" dirty="0">
                <a:solidFill>
                  <a:schemeClr val="tx1"/>
                </a:solidFill>
                <a:latin typeface="Times New Roman" panose="02020603050405020304" pitchFamily="18" charset="0"/>
                <a:cs typeface="Times New Roman" panose="02020603050405020304" pitchFamily="18" charset="0"/>
              </a:rPr>
              <a:t>++) {</a:t>
            </a:r>
          </a:p>
          <a:p>
            <a:pPr algn="just"/>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printf</a:t>
            </a:r>
            <a:r>
              <a:rPr lang="en-IN" sz="1400" dirty="0">
                <a:solidFill>
                  <a:schemeClr val="tx1"/>
                </a:solidFill>
                <a:latin typeface="Times New Roman" panose="02020603050405020304" pitchFamily="18" charset="0"/>
                <a:cs typeface="Times New Roman" panose="02020603050405020304" pitchFamily="18" charset="0"/>
              </a:rPr>
              <a:t>("Value of </a:t>
            </a:r>
            <a:r>
              <a:rPr lang="en-IN" sz="1400" dirty="0" err="1">
                <a:solidFill>
                  <a:schemeClr val="tx1"/>
                </a:solidFill>
                <a:latin typeface="Times New Roman" panose="02020603050405020304" pitchFamily="18" charset="0"/>
                <a:cs typeface="Times New Roman" panose="02020603050405020304" pitchFamily="18" charset="0"/>
              </a:rPr>
              <a:t>var%d</a:t>
            </a:r>
            <a:r>
              <a:rPr lang="en-IN" sz="1400" dirty="0">
                <a:solidFill>
                  <a:schemeClr val="tx1"/>
                </a:solidFill>
                <a:latin typeface="Times New Roman" panose="02020603050405020304" pitchFamily="18" charset="0"/>
                <a:cs typeface="Times New Roman" panose="02020603050405020304" pitchFamily="18" charset="0"/>
              </a:rPr>
              <a:t>: %d\</a:t>
            </a:r>
            <a:r>
              <a:rPr lang="en-IN" sz="1400" dirty="0" err="1">
                <a:solidFill>
                  <a:schemeClr val="tx1"/>
                </a:solidFill>
                <a:latin typeface="Times New Roman" panose="02020603050405020304" pitchFamily="18" charset="0"/>
                <a:cs typeface="Times New Roman" panose="02020603050405020304" pitchFamily="18" charset="0"/>
              </a:rPr>
              <a:t>tAddress</a:t>
            </a:r>
            <a:r>
              <a:rPr lang="en-IN" sz="1400" dirty="0">
                <a:solidFill>
                  <a:schemeClr val="tx1"/>
                </a:solidFill>
                <a:latin typeface="Times New Roman" panose="02020603050405020304" pitchFamily="18" charset="0"/>
                <a:cs typeface="Times New Roman" panose="02020603050405020304" pitchFamily="18" charset="0"/>
              </a:rPr>
              <a:t>: %p\n", </a:t>
            </a:r>
            <a:r>
              <a:rPr lang="en-IN" sz="1400" dirty="0" err="1">
                <a:solidFill>
                  <a:schemeClr val="tx1"/>
                </a:solidFill>
                <a:latin typeface="Times New Roman" panose="02020603050405020304" pitchFamily="18" charset="0"/>
                <a:cs typeface="Times New Roman" panose="02020603050405020304" pitchFamily="18" charset="0"/>
              </a:rPr>
              <a:t>i</a:t>
            </a:r>
            <a:r>
              <a:rPr lang="en-IN" sz="1400" dirty="0">
                <a:solidFill>
                  <a:schemeClr val="tx1"/>
                </a:solidFill>
                <a:latin typeface="Times New Roman" panose="02020603050405020304" pitchFamily="18" charset="0"/>
                <a:cs typeface="Times New Roman" panose="02020603050405020304" pitchFamily="18" charset="0"/>
              </a:rPr>
              <a:t> + 1, *</a:t>
            </a:r>
            <a:r>
              <a:rPr lang="en-IN" sz="1400" dirty="0" err="1">
                <a:solidFill>
                  <a:schemeClr val="tx1"/>
                </a:solidFill>
                <a:latin typeface="Times New Roman" panose="02020603050405020304" pitchFamily="18" charset="0"/>
                <a:cs typeface="Times New Roman" panose="02020603050405020304" pitchFamily="18" charset="0"/>
              </a:rPr>
              <a:t>ptr_arr</a:t>
            </a:r>
            <a:r>
              <a:rPr lang="en-IN" sz="1400" dirty="0">
                <a:solidFill>
                  <a:schemeClr val="tx1"/>
                </a:solidFill>
                <a:latin typeface="Times New Roman" panose="02020603050405020304" pitchFamily="18" charset="0"/>
                <a:cs typeface="Times New Roman" panose="02020603050405020304" pitchFamily="18" charset="0"/>
              </a:rPr>
              <a:t>[</a:t>
            </a:r>
            <a:r>
              <a:rPr lang="en-IN" sz="1400" dirty="0" err="1">
                <a:solidFill>
                  <a:schemeClr val="tx1"/>
                </a:solidFill>
                <a:latin typeface="Times New Roman" panose="02020603050405020304" pitchFamily="18" charset="0"/>
                <a:cs typeface="Times New Roman" panose="02020603050405020304" pitchFamily="18" charset="0"/>
              </a:rPr>
              <a:t>i</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ptr_arr</a:t>
            </a:r>
            <a:r>
              <a:rPr lang="en-IN" sz="1400" dirty="0">
                <a:solidFill>
                  <a:schemeClr val="tx1"/>
                </a:solidFill>
                <a:latin typeface="Times New Roman" panose="02020603050405020304" pitchFamily="18" charset="0"/>
                <a:cs typeface="Times New Roman" panose="02020603050405020304" pitchFamily="18" charset="0"/>
              </a:rPr>
              <a:t>[</a:t>
            </a:r>
            <a:r>
              <a:rPr lang="en-IN" sz="1400" dirty="0" err="1">
                <a:solidFill>
                  <a:schemeClr val="tx1"/>
                </a:solidFill>
                <a:latin typeface="Times New Roman" panose="02020603050405020304" pitchFamily="18" charset="0"/>
                <a:cs typeface="Times New Roman" panose="02020603050405020304" pitchFamily="18" charset="0"/>
              </a:rPr>
              <a:t>i</a:t>
            </a:r>
            <a:r>
              <a:rPr lang="en-IN" sz="1400" dirty="0">
                <a:solidFill>
                  <a:schemeClr val="tx1"/>
                </a:solidFill>
                <a:latin typeface="Times New Roman" panose="02020603050405020304" pitchFamily="18" charset="0"/>
                <a:cs typeface="Times New Roman" panose="02020603050405020304" pitchFamily="18" charset="0"/>
              </a:rPr>
              <a:t>]);</a:t>
            </a:r>
          </a:p>
          <a:p>
            <a:pPr algn="just"/>
            <a:r>
              <a:rPr lang="en-IN" sz="1400" dirty="0">
                <a:solidFill>
                  <a:schemeClr val="tx1"/>
                </a:solidFill>
                <a:latin typeface="Times New Roman" panose="02020603050405020304" pitchFamily="18" charset="0"/>
                <a:cs typeface="Times New Roman" panose="02020603050405020304" pitchFamily="18" charset="0"/>
              </a:rPr>
              <a:t>    }</a:t>
            </a:r>
          </a:p>
          <a:p>
            <a:pPr algn="just"/>
            <a:r>
              <a:rPr lang="en-IN" sz="1400" dirty="0">
                <a:solidFill>
                  <a:schemeClr val="tx1"/>
                </a:solidFill>
                <a:latin typeface="Times New Roman" panose="02020603050405020304" pitchFamily="18" charset="0"/>
                <a:cs typeface="Times New Roman" panose="02020603050405020304" pitchFamily="18" charset="0"/>
              </a:rPr>
              <a:t>    return 0;</a:t>
            </a:r>
          </a:p>
          <a:p>
            <a:pPr algn="just"/>
            <a:r>
              <a:rPr lang="en-IN" sz="1400" dirty="0">
                <a:solidFill>
                  <a:schemeClr val="tx1"/>
                </a:solidFill>
                <a:latin typeface="Times New Roman" panose="02020603050405020304" pitchFamily="18" charset="0"/>
                <a:cs typeface="Times New Roman" panose="02020603050405020304" pitchFamily="18" charset="0"/>
              </a:rPr>
              <a:t>}</a:t>
            </a:r>
            <a:endParaRPr lang="en-IN" sz="9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AE8AE8C-696F-B1F1-E8B0-CF5E7E677936}"/>
              </a:ext>
            </a:extLst>
          </p:cNvPr>
          <p:cNvSpPr txBox="1"/>
          <p:nvPr/>
        </p:nvSpPr>
        <p:spPr>
          <a:xfrm>
            <a:off x="6803921" y="2107695"/>
            <a:ext cx="769763" cy="307777"/>
          </a:xfrm>
          <a:prstGeom prst="rect">
            <a:avLst/>
          </a:prstGeom>
          <a:noFill/>
        </p:spPr>
        <p:txBody>
          <a:bodyPr wrap="none" rtlCol="0">
            <a:spAutoFit/>
          </a:bodyPr>
          <a:lstStyle/>
          <a:p>
            <a:r>
              <a:rPr lang="en-US" b="1" dirty="0"/>
              <a:t>Output</a:t>
            </a:r>
            <a:endParaRPr lang="en-IN" b="1" dirty="0"/>
          </a:p>
        </p:txBody>
      </p:sp>
      <p:sp>
        <p:nvSpPr>
          <p:cNvPr id="10" name="TextBox 9">
            <a:extLst>
              <a:ext uri="{FF2B5EF4-FFF2-40B4-BE49-F238E27FC236}">
                <a16:creationId xmlns:a16="http://schemas.microsoft.com/office/drawing/2014/main" id="{7781B795-B8D6-1DCF-2C69-0F5FA778E5F9}"/>
              </a:ext>
            </a:extLst>
          </p:cNvPr>
          <p:cNvSpPr txBox="1"/>
          <p:nvPr/>
        </p:nvSpPr>
        <p:spPr>
          <a:xfrm>
            <a:off x="319548" y="914401"/>
            <a:ext cx="631904" cy="307777"/>
          </a:xfrm>
          <a:prstGeom prst="rect">
            <a:avLst/>
          </a:prstGeom>
          <a:noFill/>
        </p:spPr>
        <p:txBody>
          <a:bodyPr wrap="none" rtlCol="0">
            <a:spAutoFit/>
          </a:bodyPr>
          <a:lstStyle/>
          <a:p>
            <a:r>
              <a:rPr lang="en-US" b="1" dirty="0"/>
              <a:t>Code</a:t>
            </a:r>
            <a:endParaRPr lang="en-IN" b="1" dirty="0"/>
          </a:p>
        </p:txBody>
      </p:sp>
      <p:pic>
        <p:nvPicPr>
          <p:cNvPr id="6" name="Picture 5">
            <a:extLst>
              <a:ext uri="{FF2B5EF4-FFF2-40B4-BE49-F238E27FC236}">
                <a16:creationId xmlns:a16="http://schemas.microsoft.com/office/drawing/2014/main" id="{64059526-3B18-E272-2573-AC4CCC6A917E}"/>
              </a:ext>
            </a:extLst>
          </p:cNvPr>
          <p:cNvPicPr>
            <a:picLocks noChangeAspect="1"/>
          </p:cNvPicPr>
          <p:nvPr/>
        </p:nvPicPr>
        <p:blipFill>
          <a:blip r:embed="rId2"/>
          <a:stretch>
            <a:fillRect/>
          </a:stretch>
        </p:blipFill>
        <p:spPr>
          <a:xfrm>
            <a:off x="5626238" y="2854765"/>
            <a:ext cx="3436918" cy="1245287"/>
          </a:xfrm>
          <a:prstGeom prst="rect">
            <a:avLst/>
          </a:prstGeom>
        </p:spPr>
      </p:pic>
    </p:spTree>
    <p:extLst>
      <p:ext uri="{BB962C8B-B14F-4D97-AF65-F5344CB8AC3E}">
        <p14:creationId xmlns:p14="http://schemas.microsoft.com/office/powerpoint/2010/main" val="4152985056"/>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AF14E702-5CAF-8832-B485-49CE4CDBC5BA}"/>
            </a:ext>
          </a:extLst>
        </p:cNvPr>
        <p:cNvGrpSpPr/>
        <p:nvPr/>
      </p:nvGrpSpPr>
      <p:grpSpPr>
        <a:xfrm>
          <a:off x="0" y="0"/>
          <a:ext cx="0" cy="0"/>
          <a:chOff x="0" y="0"/>
          <a:chExt cx="0" cy="0"/>
        </a:xfrm>
      </p:grpSpPr>
      <p:sp>
        <p:nvSpPr>
          <p:cNvPr id="56" name="Google Shape;56;p2">
            <a:extLst>
              <a:ext uri="{FF2B5EF4-FFF2-40B4-BE49-F238E27FC236}">
                <a16:creationId xmlns:a16="http://schemas.microsoft.com/office/drawing/2014/main" id="{2F5E9F04-437E-881C-54C0-ED3699324485}"/>
              </a:ext>
            </a:extLst>
          </p:cNvPr>
          <p:cNvSpPr txBox="1"/>
          <p:nvPr/>
        </p:nvSpPr>
        <p:spPr>
          <a:xfrm>
            <a:off x="210741" y="0"/>
            <a:ext cx="5313759" cy="990600"/>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3609"/>
              <a:buFont typeface="Arial"/>
              <a:buNone/>
            </a:pPr>
            <a:r>
              <a:rPr lang="en-US" sz="3200" b="1" i="0" u="none" strike="noStrike" cap="none" dirty="0">
                <a:solidFill>
                  <a:schemeClr val="dk1"/>
                </a:solidFill>
                <a:latin typeface="Calibri"/>
                <a:ea typeface="Calibri"/>
                <a:cs typeface="Calibri"/>
                <a:sym typeface="Calibri"/>
              </a:rPr>
              <a:t>Array of Pointers to Character</a:t>
            </a:r>
          </a:p>
        </p:txBody>
      </p:sp>
      <p:sp>
        <p:nvSpPr>
          <p:cNvPr id="5" name="TextBox 4">
            <a:extLst>
              <a:ext uri="{FF2B5EF4-FFF2-40B4-BE49-F238E27FC236}">
                <a16:creationId xmlns:a16="http://schemas.microsoft.com/office/drawing/2014/main" id="{2D6D9235-80D0-E44D-B786-D1070320D888}"/>
              </a:ext>
            </a:extLst>
          </p:cNvPr>
          <p:cNvSpPr txBox="1"/>
          <p:nvPr/>
        </p:nvSpPr>
        <p:spPr>
          <a:xfrm>
            <a:off x="210741" y="1164067"/>
            <a:ext cx="8267412" cy="1323439"/>
          </a:xfrm>
          <a:prstGeom prst="rect">
            <a:avLst/>
          </a:prstGeom>
          <a:noFill/>
        </p:spPr>
        <p:txBody>
          <a:bodyPr wrap="square">
            <a:spAutoFit/>
          </a:bodyPr>
          <a:lstStyle/>
          <a:p>
            <a:pPr algn="just"/>
            <a:r>
              <a:rPr lang="en-US" sz="2000" b="0" i="0" dirty="0">
                <a:solidFill>
                  <a:srgbClr val="273239"/>
                </a:solidFill>
                <a:effectLst/>
                <a:latin typeface="Nunito" pitchFamily="2" charset="0"/>
              </a:rPr>
              <a:t>One of the main applications of the array of pointers is to store multiple strings as an array of pointers to characters. Here, each pointer in the array is a character pointer that points to the first character of the string.</a:t>
            </a:r>
            <a:endParaRPr lang="en-IN" sz="1600" dirty="0"/>
          </a:p>
        </p:txBody>
      </p:sp>
      <p:sp>
        <p:nvSpPr>
          <p:cNvPr id="3" name="TextBox 2">
            <a:extLst>
              <a:ext uri="{FF2B5EF4-FFF2-40B4-BE49-F238E27FC236}">
                <a16:creationId xmlns:a16="http://schemas.microsoft.com/office/drawing/2014/main" id="{07D9EDEF-7FED-7A01-AE88-4E731D98BB83}"/>
              </a:ext>
            </a:extLst>
          </p:cNvPr>
          <p:cNvSpPr txBox="1"/>
          <p:nvPr/>
        </p:nvSpPr>
        <p:spPr>
          <a:xfrm>
            <a:off x="339213" y="2968750"/>
            <a:ext cx="4572000" cy="307777"/>
          </a:xfrm>
          <a:prstGeom prst="rect">
            <a:avLst/>
          </a:prstGeom>
          <a:noFill/>
        </p:spPr>
        <p:txBody>
          <a:bodyPr wrap="square">
            <a:spAutoFit/>
          </a:bodyPr>
          <a:lstStyle/>
          <a:p>
            <a:r>
              <a:rPr lang="en-IN" b="1" i="0" dirty="0">
                <a:solidFill>
                  <a:srgbClr val="273239"/>
                </a:solidFill>
                <a:effectLst/>
                <a:latin typeface="Nunito" pitchFamily="2" charset="0"/>
              </a:rPr>
              <a:t>Syntax: </a:t>
            </a:r>
            <a:endParaRPr lang="en-IN" dirty="0"/>
          </a:p>
        </p:txBody>
      </p:sp>
      <p:sp>
        <p:nvSpPr>
          <p:cNvPr id="8" name="TextBox 7">
            <a:extLst>
              <a:ext uri="{FF2B5EF4-FFF2-40B4-BE49-F238E27FC236}">
                <a16:creationId xmlns:a16="http://schemas.microsoft.com/office/drawing/2014/main" id="{859057B1-7FC7-5F3B-E296-850796F4F530}"/>
              </a:ext>
            </a:extLst>
          </p:cNvPr>
          <p:cNvSpPr txBox="1"/>
          <p:nvPr/>
        </p:nvSpPr>
        <p:spPr>
          <a:xfrm>
            <a:off x="339213" y="3429000"/>
            <a:ext cx="6487774" cy="307777"/>
          </a:xfrm>
          <a:prstGeom prst="rect">
            <a:avLst/>
          </a:prstGeom>
          <a:noFill/>
        </p:spPr>
        <p:txBody>
          <a:bodyPr wrap="square">
            <a:spAutoFit/>
          </a:bodyPr>
          <a:lstStyle/>
          <a:p>
            <a:pPr algn="l" rtl="0" fontAlgn="base">
              <a:spcAft>
                <a:spcPts val="750"/>
              </a:spcAft>
            </a:pPr>
            <a:r>
              <a:rPr lang="en-US" b="0" i="0" dirty="0">
                <a:solidFill>
                  <a:srgbClr val="273239"/>
                </a:solidFill>
                <a:effectLst/>
                <a:latin typeface="Nunito" pitchFamily="2" charset="0"/>
              </a:rPr>
              <a:t>After that, we can assign a string of any length to these pointers.</a:t>
            </a:r>
          </a:p>
        </p:txBody>
      </p:sp>
      <p:sp>
        <p:nvSpPr>
          <p:cNvPr id="2" name="Rectangle 1">
            <a:extLst>
              <a:ext uri="{FF2B5EF4-FFF2-40B4-BE49-F238E27FC236}">
                <a16:creationId xmlns:a16="http://schemas.microsoft.com/office/drawing/2014/main" id="{BA4BAA39-6BD1-CDED-BE3E-809F2322275D}"/>
              </a:ext>
            </a:extLst>
          </p:cNvPr>
          <p:cNvSpPr>
            <a:spLocks noChangeArrowheads="1"/>
          </p:cNvSpPr>
          <p:nvPr/>
        </p:nvSpPr>
        <p:spPr bwMode="auto">
          <a:xfrm>
            <a:off x="1160206" y="2960899"/>
            <a:ext cx="2998839" cy="24876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nsolas" panose="020B0609020204030204" pitchFamily="49" charset="0"/>
              </a:rPr>
              <a:t>char *array_name [array_size];</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5363434"/>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08C6A-D5A8-AB2F-B5F2-CEBDBC469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876DD-84AD-01AC-C6A7-6D8DC65566FF}"/>
              </a:ext>
            </a:extLst>
          </p:cNvPr>
          <p:cNvSpPr>
            <a:spLocks noGrp="1"/>
          </p:cNvSpPr>
          <p:nvPr>
            <p:ph type="ctrTitle"/>
          </p:nvPr>
        </p:nvSpPr>
        <p:spPr/>
        <p:txBody>
          <a:bodyPr/>
          <a:lstStyle/>
          <a:p>
            <a:pPr marL="0" marR="0" lvl="0" indent="0" algn="just" rtl="0">
              <a:lnSpc>
                <a:spcPct val="100000"/>
              </a:lnSpc>
              <a:spcBef>
                <a:spcPts val="0"/>
              </a:spcBef>
              <a:spcAft>
                <a:spcPts val="0"/>
              </a:spcAft>
              <a:buClr>
                <a:srgbClr val="000000"/>
              </a:buClr>
              <a:buSzPts val="3609"/>
              <a:buFont typeface="Arial"/>
              <a:buNone/>
            </a:pPr>
            <a:r>
              <a:rPr lang="en-US" sz="3200" b="1" i="0" u="none" strike="noStrike" cap="none" dirty="0">
                <a:solidFill>
                  <a:schemeClr val="dk1"/>
                </a:solidFill>
                <a:latin typeface="Calibri"/>
                <a:ea typeface="Calibri"/>
                <a:cs typeface="Calibri"/>
                <a:sym typeface="Calibri"/>
              </a:rPr>
              <a:t>Array of Pointers to Character</a:t>
            </a:r>
          </a:p>
        </p:txBody>
      </p:sp>
      <p:sp>
        <p:nvSpPr>
          <p:cNvPr id="3" name="Subtitle 2">
            <a:extLst>
              <a:ext uri="{FF2B5EF4-FFF2-40B4-BE49-F238E27FC236}">
                <a16:creationId xmlns:a16="http://schemas.microsoft.com/office/drawing/2014/main" id="{F64A45BC-88F3-E240-38EC-877A22536A14}"/>
              </a:ext>
            </a:extLst>
          </p:cNvPr>
          <p:cNvSpPr>
            <a:spLocks noGrp="1"/>
          </p:cNvSpPr>
          <p:nvPr>
            <p:ph type="subTitle" idx="1"/>
          </p:nvPr>
        </p:nvSpPr>
        <p:spPr>
          <a:xfrm>
            <a:off x="533400" y="1371600"/>
            <a:ext cx="8177981" cy="1833716"/>
          </a:xfrm>
        </p:spPr>
        <p:txBody>
          <a:bodyPr/>
          <a:lstStyle/>
          <a:p>
            <a:pPr algn="just"/>
            <a:r>
              <a:rPr lang="en-US" sz="1800" dirty="0">
                <a:solidFill>
                  <a:schemeClr val="tx1"/>
                </a:solidFill>
                <a:latin typeface="Times New Roman" panose="02020603050405020304" pitchFamily="18" charset="0"/>
                <a:cs typeface="Times New Roman" panose="02020603050405020304" pitchFamily="18" charset="0"/>
              </a:rPr>
              <a:t>// C Program to print Array of strings without array of pointers</a:t>
            </a:r>
            <a:endParaRPr lang="en-IN" sz="1800" dirty="0">
              <a:solidFill>
                <a:schemeClr val="tx1"/>
              </a:solidFill>
              <a:latin typeface="Times New Roman" panose="02020603050405020304" pitchFamily="18" charset="0"/>
              <a:cs typeface="Times New Roman" panose="02020603050405020304" pitchFamily="18" charset="0"/>
            </a:endParaRPr>
          </a:p>
          <a:p>
            <a:pPr algn="just"/>
            <a:r>
              <a:rPr lang="en-IN" sz="1800" dirty="0">
                <a:solidFill>
                  <a:schemeClr val="tx1"/>
                </a:solidFill>
                <a:latin typeface="Times New Roman" panose="02020603050405020304" pitchFamily="18" charset="0"/>
                <a:cs typeface="Times New Roman" panose="02020603050405020304" pitchFamily="18" charset="0"/>
              </a:rPr>
              <a:t>#include &lt;</a:t>
            </a:r>
            <a:r>
              <a:rPr lang="en-IN" sz="1800" dirty="0" err="1">
                <a:solidFill>
                  <a:schemeClr val="tx1"/>
                </a:solidFill>
                <a:latin typeface="Times New Roman" panose="02020603050405020304" pitchFamily="18" charset="0"/>
                <a:cs typeface="Times New Roman" panose="02020603050405020304" pitchFamily="18" charset="0"/>
              </a:rPr>
              <a:t>stdio.h</a:t>
            </a:r>
            <a:r>
              <a:rPr lang="en-IN" sz="1800" dirty="0">
                <a:solidFill>
                  <a:schemeClr val="tx1"/>
                </a:solidFill>
                <a:latin typeface="Times New Roman" panose="02020603050405020304" pitchFamily="18" charset="0"/>
                <a:cs typeface="Times New Roman" panose="02020603050405020304" pitchFamily="18" charset="0"/>
              </a:rPr>
              <a:t>&gt;</a:t>
            </a:r>
          </a:p>
          <a:p>
            <a:pPr algn="just"/>
            <a:r>
              <a:rPr lang="en-IN" sz="1800" dirty="0">
                <a:solidFill>
                  <a:schemeClr val="tx1"/>
                </a:solidFill>
                <a:latin typeface="Times New Roman" panose="02020603050405020304" pitchFamily="18" charset="0"/>
                <a:cs typeface="Times New Roman" panose="02020603050405020304" pitchFamily="18" charset="0"/>
              </a:rPr>
              <a:t>int main()</a:t>
            </a:r>
          </a:p>
          <a:p>
            <a:pPr algn="just"/>
            <a:r>
              <a:rPr lang="en-IN" sz="1800" dirty="0">
                <a:solidFill>
                  <a:schemeClr val="tx1"/>
                </a:solidFill>
                <a:latin typeface="Times New Roman" panose="02020603050405020304" pitchFamily="18" charset="0"/>
                <a:cs typeface="Times New Roman" panose="02020603050405020304" pitchFamily="18" charset="0"/>
              </a:rPr>
              <a:t>{</a:t>
            </a:r>
          </a:p>
          <a:p>
            <a:pPr algn="just"/>
            <a:r>
              <a:rPr lang="en-IN" sz="1800" dirty="0">
                <a:solidFill>
                  <a:schemeClr val="tx1"/>
                </a:solidFill>
                <a:latin typeface="Times New Roman" panose="02020603050405020304" pitchFamily="18" charset="0"/>
                <a:cs typeface="Times New Roman" panose="02020603050405020304" pitchFamily="18" charset="0"/>
              </a:rPr>
              <a:t>    char str[3][10] = { “Chitkara", “University", “Punjab" };</a:t>
            </a:r>
          </a:p>
          <a:p>
            <a:pPr algn="just"/>
            <a:endParaRPr lang="en-IN" sz="1800" dirty="0">
              <a:solidFill>
                <a:schemeClr val="tx1"/>
              </a:solidFill>
              <a:latin typeface="Times New Roman" panose="02020603050405020304" pitchFamily="18" charset="0"/>
              <a:cs typeface="Times New Roman" panose="02020603050405020304" pitchFamily="18" charset="0"/>
            </a:endParaRPr>
          </a:p>
          <a:p>
            <a:pPr algn="just"/>
            <a:r>
              <a:rPr lang="en-IN" sz="1800" dirty="0">
                <a:solidFill>
                  <a:schemeClr val="tx1"/>
                </a:solidFill>
                <a:latin typeface="Times New Roman" panose="02020603050405020304" pitchFamily="18" charset="0"/>
                <a:cs typeface="Times New Roman" panose="02020603050405020304" pitchFamily="18" charset="0"/>
              </a:rPr>
              <a:t>    </a:t>
            </a:r>
            <a:r>
              <a:rPr lang="en-IN" sz="1800" dirty="0" err="1">
                <a:solidFill>
                  <a:schemeClr val="tx1"/>
                </a:solidFill>
                <a:latin typeface="Times New Roman" panose="02020603050405020304" pitchFamily="18" charset="0"/>
                <a:cs typeface="Times New Roman" panose="02020603050405020304" pitchFamily="18" charset="0"/>
              </a:rPr>
              <a:t>printf</a:t>
            </a:r>
            <a:r>
              <a:rPr lang="en-IN" sz="1800" dirty="0">
                <a:solidFill>
                  <a:schemeClr val="tx1"/>
                </a:solidFill>
                <a:latin typeface="Times New Roman" panose="02020603050405020304" pitchFamily="18" charset="0"/>
                <a:cs typeface="Times New Roman" panose="02020603050405020304" pitchFamily="18" charset="0"/>
              </a:rPr>
              <a:t>("String array Elements are:\n");</a:t>
            </a:r>
          </a:p>
          <a:p>
            <a:pPr algn="just"/>
            <a:endParaRPr lang="en-IN" sz="1800" dirty="0">
              <a:solidFill>
                <a:schemeClr val="tx1"/>
              </a:solidFill>
              <a:latin typeface="Times New Roman" panose="02020603050405020304" pitchFamily="18" charset="0"/>
              <a:cs typeface="Times New Roman" panose="02020603050405020304" pitchFamily="18" charset="0"/>
            </a:endParaRPr>
          </a:p>
          <a:p>
            <a:pPr algn="just"/>
            <a:r>
              <a:rPr lang="en-IN" sz="1800" dirty="0">
                <a:solidFill>
                  <a:schemeClr val="tx1"/>
                </a:solidFill>
                <a:latin typeface="Times New Roman" panose="02020603050405020304" pitchFamily="18" charset="0"/>
                <a:cs typeface="Times New Roman" panose="02020603050405020304" pitchFamily="18" charset="0"/>
              </a:rPr>
              <a:t>    for (int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 0;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&lt; 3;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a:t>
            </a:r>
          </a:p>
          <a:p>
            <a:pPr algn="just"/>
            <a:r>
              <a:rPr lang="en-IN" sz="1800" dirty="0">
                <a:solidFill>
                  <a:schemeClr val="tx1"/>
                </a:solidFill>
                <a:latin typeface="Times New Roman" panose="02020603050405020304" pitchFamily="18" charset="0"/>
                <a:cs typeface="Times New Roman" panose="02020603050405020304" pitchFamily="18" charset="0"/>
              </a:rPr>
              <a:t>        </a:t>
            </a:r>
            <a:r>
              <a:rPr lang="en-IN" sz="1800" dirty="0" err="1">
                <a:solidFill>
                  <a:schemeClr val="tx1"/>
                </a:solidFill>
                <a:latin typeface="Times New Roman" panose="02020603050405020304" pitchFamily="18" charset="0"/>
                <a:cs typeface="Times New Roman" panose="02020603050405020304" pitchFamily="18" charset="0"/>
              </a:rPr>
              <a:t>printf</a:t>
            </a:r>
            <a:r>
              <a:rPr lang="en-IN" sz="1800" dirty="0">
                <a:solidFill>
                  <a:schemeClr val="tx1"/>
                </a:solidFill>
                <a:latin typeface="Times New Roman" panose="02020603050405020304" pitchFamily="18" charset="0"/>
                <a:cs typeface="Times New Roman" panose="02020603050405020304" pitchFamily="18" charset="0"/>
              </a:rPr>
              <a:t>("%s\n", str[</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a:t>
            </a:r>
          </a:p>
          <a:p>
            <a:pPr algn="just"/>
            <a:r>
              <a:rPr lang="en-IN" sz="1800" dirty="0">
                <a:solidFill>
                  <a:schemeClr val="tx1"/>
                </a:solidFill>
                <a:latin typeface="Times New Roman" panose="02020603050405020304" pitchFamily="18" charset="0"/>
                <a:cs typeface="Times New Roman" panose="02020603050405020304" pitchFamily="18" charset="0"/>
              </a:rPr>
              <a:t>    }</a:t>
            </a:r>
          </a:p>
          <a:p>
            <a:pPr algn="just"/>
            <a:endParaRPr lang="en-IN" sz="1800" dirty="0">
              <a:solidFill>
                <a:schemeClr val="tx1"/>
              </a:solidFill>
              <a:latin typeface="Times New Roman" panose="02020603050405020304" pitchFamily="18" charset="0"/>
              <a:cs typeface="Times New Roman" panose="02020603050405020304" pitchFamily="18" charset="0"/>
            </a:endParaRPr>
          </a:p>
          <a:p>
            <a:pPr algn="just"/>
            <a:r>
              <a:rPr lang="en-IN" sz="1800" dirty="0">
                <a:solidFill>
                  <a:schemeClr val="tx1"/>
                </a:solidFill>
                <a:latin typeface="Times New Roman" panose="02020603050405020304" pitchFamily="18" charset="0"/>
                <a:cs typeface="Times New Roman" panose="02020603050405020304" pitchFamily="18" charset="0"/>
              </a:rPr>
              <a:t>    return 0;</a:t>
            </a:r>
          </a:p>
          <a:p>
            <a:pPr algn="just"/>
            <a:r>
              <a:rPr lang="en-IN" sz="1800" dirty="0">
                <a:solidFill>
                  <a:schemeClr val="tx1"/>
                </a:solidFill>
                <a:latin typeface="Times New Roman" panose="02020603050405020304" pitchFamily="18" charset="0"/>
                <a:cs typeface="Times New Roman" panose="02020603050405020304" pitchFamily="18" charset="0"/>
              </a:rPr>
              <a:t>}</a:t>
            </a:r>
            <a:endParaRPr lang="en-IN" sz="9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4E8E113-A561-F28D-3A20-AAFFC0982A60}"/>
              </a:ext>
            </a:extLst>
          </p:cNvPr>
          <p:cNvSpPr txBox="1"/>
          <p:nvPr/>
        </p:nvSpPr>
        <p:spPr>
          <a:xfrm>
            <a:off x="6803921" y="2107695"/>
            <a:ext cx="769763" cy="307777"/>
          </a:xfrm>
          <a:prstGeom prst="rect">
            <a:avLst/>
          </a:prstGeom>
          <a:noFill/>
        </p:spPr>
        <p:txBody>
          <a:bodyPr wrap="none" rtlCol="0">
            <a:spAutoFit/>
          </a:bodyPr>
          <a:lstStyle/>
          <a:p>
            <a:r>
              <a:rPr lang="en-US" b="1" dirty="0"/>
              <a:t>Output</a:t>
            </a:r>
            <a:endParaRPr lang="en-IN" b="1" dirty="0"/>
          </a:p>
        </p:txBody>
      </p:sp>
      <p:sp>
        <p:nvSpPr>
          <p:cNvPr id="10" name="TextBox 9">
            <a:extLst>
              <a:ext uri="{FF2B5EF4-FFF2-40B4-BE49-F238E27FC236}">
                <a16:creationId xmlns:a16="http://schemas.microsoft.com/office/drawing/2014/main" id="{7C9ADD30-D75B-6D82-5B47-028CE13872EB}"/>
              </a:ext>
            </a:extLst>
          </p:cNvPr>
          <p:cNvSpPr txBox="1"/>
          <p:nvPr/>
        </p:nvSpPr>
        <p:spPr>
          <a:xfrm>
            <a:off x="319548" y="914401"/>
            <a:ext cx="631904" cy="307777"/>
          </a:xfrm>
          <a:prstGeom prst="rect">
            <a:avLst/>
          </a:prstGeom>
          <a:noFill/>
        </p:spPr>
        <p:txBody>
          <a:bodyPr wrap="none" rtlCol="0">
            <a:spAutoFit/>
          </a:bodyPr>
          <a:lstStyle/>
          <a:p>
            <a:r>
              <a:rPr lang="en-US" b="1" dirty="0"/>
              <a:t>Code</a:t>
            </a:r>
            <a:endParaRPr lang="en-IN" b="1" dirty="0"/>
          </a:p>
        </p:txBody>
      </p:sp>
      <p:sp>
        <p:nvSpPr>
          <p:cNvPr id="7" name="TextBox 6">
            <a:extLst>
              <a:ext uri="{FF2B5EF4-FFF2-40B4-BE49-F238E27FC236}">
                <a16:creationId xmlns:a16="http://schemas.microsoft.com/office/drawing/2014/main" id="{19EF5B6B-94BD-6ACD-AFD8-197A14D90F93}"/>
              </a:ext>
            </a:extLst>
          </p:cNvPr>
          <p:cNvSpPr txBox="1"/>
          <p:nvPr/>
        </p:nvSpPr>
        <p:spPr>
          <a:xfrm>
            <a:off x="6725265" y="2694039"/>
            <a:ext cx="2320412" cy="954107"/>
          </a:xfrm>
          <a:prstGeom prst="rect">
            <a:avLst/>
          </a:prstGeom>
          <a:noFill/>
        </p:spPr>
        <p:txBody>
          <a:bodyPr wrap="square" rtlCol="0">
            <a:spAutoFit/>
          </a:bodyPr>
          <a:lstStyle/>
          <a:p>
            <a:r>
              <a:rPr lang="en-IN" dirty="0"/>
              <a:t>String array Elements are:</a:t>
            </a:r>
          </a:p>
          <a:p>
            <a:r>
              <a:rPr lang="en-IN" dirty="0"/>
              <a:t>Chitkara </a:t>
            </a:r>
          </a:p>
          <a:p>
            <a:r>
              <a:rPr lang="en-IN" dirty="0"/>
              <a:t>University</a:t>
            </a:r>
          </a:p>
          <a:p>
            <a:r>
              <a:rPr lang="en-IN" dirty="0"/>
              <a:t>Punjab</a:t>
            </a:r>
          </a:p>
        </p:txBody>
      </p:sp>
    </p:spTree>
    <p:extLst>
      <p:ext uri="{BB962C8B-B14F-4D97-AF65-F5344CB8AC3E}">
        <p14:creationId xmlns:p14="http://schemas.microsoft.com/office/powerpoint/2010/main" val="993240461"/>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73D78-9266-FA25-0970-AC97071C1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F1D1A-4FBE-C12C-C624-2D133DB2462C}"/>
              </a:ext>
            </a:extLst>
          </p:cNvPr>
          <p:cNvSpPr>
            <a:spLocks noGrp="1"/>
          </p:cNvSpPr>
          <p:nvPr>
            <p:ph type="ctrTitle"/>
          </p:nvPr>
        </p:nvSpPr>
        <p:spPr/>
        <p:txBody>
          <a:bodyPr/>
          <a:lstStyle/>
          <a:p>
            <a:pPr marL="0" marR="0" lvl="0" indent="0" algn="just" rtl="0">
              <a:lnSpc>
                <a:spcPct val="100000"/>
              </a:lnSpc>
              <a:spcBef>
                <a:spcPts val="0"/>
              </a:spcBef>
              <a:spcAft>
                <a:spcPts val="0"/>
              </a:spcAft>
              <a:buClr>
                <a:srgbClr val="000000"/>
              </a:buClr>
              <a:buSzPts val="3609"/>
              <a:buFont typeface="Arial"/>
              <a:buNone/>
            </a:pPr>
            <a:r>
              <a:rPr lang="en-US" sz="3200" b="1" i="0" u="none" strike="noStrike" cap="none" dirty="0">
                <a:solidFill>
                  <a:schemeClr val="dk1"/>
                </a:solidFill>
                <a:latin typeface="Calibri"/>
                <a:ea typeface="Calibri"/>
                <a:cs typeface="Calibri"/>
                <a:sym typeface="Calibri"/>
              </a:rPr>
              <a:t>Array of Pointers to Character</a:t>
            </a:r>
          </a:p>
        </p:txBody>
      </p:sp>
      <p:sp>
        <p:nvSpPr>
          <p:cNvPr id="3" name="Subtitle 2">
            <a:extLst>
              <a:ext uri="{FF2B5EF4-FFF2-40B4-BE49-F238E27FC236}">
                <a16:creationId xmlns:a16="http://schemas.microsoft.com/office/drawing/2014/main" id="{B2808A47-6E76-60A3-5A4D-6ACD872BB8CA}"/>
              </a:ext>
            </a:extLst>
          </p:cNvPr>
          <p:cNvSpPr>
            <a:spLocks noGrp="1"/>
          </p:cNvSpPr>
          <p:nvPr>
            <p:ph type="subTitle" idx="1"/>
          </p:nvPr>
        </p:nvSpPr>
        <p:spPr>
          <a:xfrm>
            <a:off x="533400" y="1371600"/>
            <a:ext cx="8177981" cy="1833716"/>
          </a:xfrm>
        </p:spPr>
        <p:txBody>
          <a:bodyPr/>
          <a:lstStyle/>
          <a:p>
            <a:pPr algn="just"/>
            <a:r>
              <a:rPr lang="en-US" sz="1800" dirty="0">
                <a:solidFill>
                  <a:schemeClr val="tx1"/>
                </a:solidFill>
                <a:latin typeface="Times New Roman" panose="02020603050405020304" pitchFamily="18" charset="0"/>
                <a:cs typeface="Times New Roman" panose="02020603050405020304" pitchFamily="18" charset="0"/>
              </a:rPr>
              <a:t>// C Program to print Array of strings with array of pointers</a:t>
            </a:r>
            <a:endParaRPr lang="en-IN" sz="1800" dirty="0">
              <a:solidFill>
                <a:schemeClr val="tx1"/>
              </a:solidFill>
              <a:latin typeface="Times New Roman" panose="02020603050405020304" pitchFamily="18" charset="0"/>
              <a:cs typeface="Times New Roman" panose="02020603050405020304" pitchFamily="18" charset="0"/>
            </a:endParaRPr>
          </a:p>
          <a:p>
            <a:pPr algn="just"/>
            <a:r>
              <a:rPr lang="en-IN" sz="1800" dirty="0">
                <a:solidFill>
                  <a:schemeClr val="tx1"/>
                </a:solidFill>
                <a:latin typeface="Times New Roman" panose="02020603050405020304" pitchFamily="18" charset="0"/>
                <a:cs typeface="Times New Roman" panose="02020603050405020304" pitchFamily="18" charset="0"/>
              </a:rPr>
              <a:t>#include &lt;</a:t>
            </a:r>
            <a:r>
              <a:rPr lang="en-IN" sz="1800" dirty="0" err="1">
                <a:solidFill>
                  <a:schemeClr val="tx1"/>
                </a:solidFill>
                <a:latin typeface="Times New Roman" panose="02020603050405020304" pitchFamily="18" charset="0"/>
                <a:cs typeface="Times New Roman" panose="02020603050405020304" pitchFamily="18" charset="0"/>
              </a:rPr>
              <a:t>stdio.h</a:t>
            </a:r>
            <a:r>
              <a:rPr lang="en-IN" sz="1800" dirty="0">
                <a:solidFill>
                  <a:schemeClr val="tx1"/>
                </a:solidFill>
                <a:latin typeface="Times New Roman" panose="02020603050405020304" pitchFamily="18" charset="0"/>
                <a:cs typeface="Times New Roman" panose="02020603050405020304" pitchFamily="18" charset="0"/>
              </a:rPr>
              <a:t>&gt;</a:t>
            </a:r>
          </a:p>
          <a:p>
            <a:pPr algn="just"/>
            <a:r>
              <a:rPr lang="en-IN" sz="1800" dirty="0">
                <a:solidFill>
                  <a:schemeClr val="tx1"/>
                </a:solidFill>
                <a:latin typeface="Times New Roman" panose="02020603050405020304" pitchFamily="18" charset="0"/>
                <a:cs typeface="Times New Roman" panose="02020603050405020304" pitchFamily="18" charset="0"/>
              </a:rPr>
              <a:t>int main() {</a:t>
            </a:r>
          </a:p>
          <a:p>
            <a:pPr algn="just"/>
            <a:r>
              <a:rPr lang="en-IN" sz="1800" dirty="0">
                <a:solidFill>
                  <a:schemeClr val="tx1"/>
                </a:solidFill>
                <a:latin typeface="Times New Roman" panose="02020603050405020304" pitchFamily="18" charset="0"/>
                <a:cs typeface="Times New Roman" panose="02020603050405020304" pitchFamily="18" charset="0"/>
              </a:rPr>
              <a:t>    // Declare an array of pointers to characters</a:t>
            </a:r>
          </a:p>
          <a:p>
            <a:pPr algn="just"/>
            <a:r>
              <a:rPr lang="en-IN" sz="1800" dirty="0">
                <a:solidFill>
                  <a:schemeClr val="tx1"/>
                </a:solidFill>
                <a:latin typeface="Times New Roman" panose="02020603050405020304" pitchFamily="18" charset="0"/>
                <a:cs typeface="Times New Roman" panose="02020603050405020304" pitchFamily="18" charset="0"/>
              </a:rPr>
              <a:t>    char* </a:t>
            </a:r>
            <a:r>
              <a:rPr lang="en-IN" sz="1800" dirty="0" err="1">
                <a:solidFill>
                  <a:schemeClr val="tx1"/>
                </a:solidFill>
                <a:latin typeface="Times New Roman" panose="02020603050405020304" pitchFamily="18" charset="0"/>
                <a:cs typeface="Times New Roman" panose="02020603050405020304" pitchFamily="18" charset="0"/>
              </a:rPr>
              <a:t>arr</a:t>
            </a:r>
            <a:r>
              <a:rPr lang="en-IN" sz="1800" dirty="0">
                <a:solidFill>
                  <a:schemeClr val="tx1"/>
                </a:solidFill>
                <a:latin typeface="Times New Roman" panose="02020603050405020304" pitchFamily="18" charset="0"/>
                <a:cs typeface="Times New Roman" panose="02020603050405020304" pitchFamily="18" charset="0"/>
              </a:rPr>
              <a:t>[] = { “Chitkara", “University", “Punjab" };</a:t>
            </a:r>
          </a:p>
          <a:p>
            <a:pPr algn="just"/>
            <a:r>
              <a:rPr lang="en-IN" sz="1800" dirty="0">
                <a:solidFill>
                  <a:schemeClr val="tx1"/>
                </a:solidFill>
                <a:latin typeface="Times New Roman" panose="02020603050405020304" pitchFamily="18" charset="0"/>
                <a:cs typeface="Times New Roman" panose="02020603050405020304" pitchFamily="18" charset="0"/>
              </a:rPr>
              <a:t>    // Print each string and its address</a:t>
            </a:r>
          </a:p>
          <a:p>
            <a:pPr algn="just"/>
            <a:r>
              <a:rPr lang="en-IN" sz="1800" dirty="0">
                <a:solidFill>
                  <a:schemeClr val="tx1"/>
                </a:solidFill>
                <a:latin typeface="Times New Roman" panose="02020603050405020304" pitchFamily="18" charset="0"/>
                <a:cs typeface="Times New Roman" panose="02020603050405020304" pitchFamily="18" charset="0"/>
              </a:rPr>
              <a:t>    for (int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 0;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&lt; 3;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a:t>
            </a:r>
          </a:p>
          <a:p>
            <a:pPr algn="just"/>
            <a:r>
              <a:rPr lang="en-IN" sz="1800" dirty="0">
                <a:solidFill>
                  <a:schemeClr val="tx1"/>
                </a:solidFill>
                <a:latin typeface="Times New Roman" panose="02020603050405020304" pitchFamily="18" charset="0"/>
                <a:cs typeface="Times New Roman" panose="02020603050405020304" pitchFamily="18" charset="0"/>
              </a:rPr>
              <a:t>        </a:t>
            </a:r>
            <a:r>
              <a:rPr lang="en-IN" sz="1800" dirty="0" err="1">
                <a:solidFill>
                  <a:schemeClr val="tx1"/>
                </a:solidFill>
                <a:latin typeface="Times New Roman" panose="02020603050405020304" pitchFamily="18" charset="0"/>
                <a:cs typeface="Times New Roman" panose="02020603050405020304" pitchFamily="18" charset="0"/>
              </a:rPr>
              <a:t>printf</a:t>
            </a:r>
            <a:r>
              <a:rPr lang="en-IN" sz="1800" dirty="0">
                <a:solidFill>
                  <a:schemeClr val="tx1"/>
                </a:solidFill>
                <a:latin typeface="Times New Roman" panose="02020603050405020304" pitchFamily="18" charset="0"/>
                <a:cs typeface="Times New Roman" panose="02020603050405020304" pitchFamily="18" charset="0"/>
              </a:rPr>
              <a:t>("%s\n", </a:t>
            </a:r>
            <a:r>
              <a:rPr lang="en-IN" sz="1800" dirty="0" err="1">
                <a:solidFill>
                  <a:schemeClr val="tx1"/>
                </a:solidFill>
                <a:latin typeface="Times New Roman" panose="02020603050405020304" pitchFamily="18" charset="0"/>
                <a:cs typeface="Times New Roman" panose="02020603050405020304" pitchFamily="18" charset="0"/>
              </a:rPr>
              <a:t>arr</a:t>
            </a:r>
            <a:r>
              <a:rPr lang="en-IN" sz="1800" dirty="0">
                <a:solidFill>
                  <a:schemeClr val="tx1"/>
                </a:solidFill>
                <a:latin typeface="Times New Roman" panose="02020603050405020304" pitchFamily="18" charset="0"/>
                <a:cs typeface="Times New Roman" panose="02020603050405020304" pitchFamily="18" charset="0"/>
              </a:rPr>
              <a:t>[</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a:t>
            </a:r>
          </a:p>
          <a:p>
            <a:pPr algn="just"/>
            <a:r>
              <a:rPr lang="en-IN" sz="1800" dirty="0">
                <a:solidFill>
                  <a:schemeClr val="tx1"/>
                </a:solidFill>
                <a:latin typeface="Times New Roman" panose="02020603050405020304" pitchFamily="18" charset="0"/>
                <a:cs typeface="Times New Roman" panose="02020603050405020304" pitchFamily="18" charset="0"/>
              </a:rPr>
              <a:t>    }</a:t>
            </a:r>
          </a:p>
          <a:p>
            <a:pPr algn="just"/>
            <a:r>
              <a:rPr lang="en-IN" sz="1800" dirty="0">
                <a:solidFill>
                  <a:schemeClr val="tx1"/>
                </a:solidFill>
                <a:latin typeface="Times New Roman" panose="02020603050405020304" pitchFamily="18" charset="0"/>
                <a:cs typeface="Times New Roman" panose="02020603050405020304" pitchFamily="18" charset="0"/>
              </a:rPr>
              <a:t>    // Print addresses of each string</a:t>
            </a:r>
          </a:p>
          <a:p>
            <a:pPr algn="just"/>
            <a:r>
              <a:rPr lang="en-IN" sz="1800" dirty="0">
                <a:solidFill>
                  <a:schemeClr val="tx1"/>
                </a:solidFill>
                <a:latin typeface="Times New Roman" panose="02020603050405020304" pitchFamily="18" charset="0"/>
                <a:cs typeface="Times New Roman" panose="02020603050405020304" pitchFamily="18" charset="0"/>
              </a:rPr>
              <a:t>    for (int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 0;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&lt; 3;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a:t>
            </a:r>
          </a:p>
          <a:p>
            <a:pPr algn="just"/>
            <a:r>
              <a:rPr lang="en-IN" sz="1800" dirty="0">
                <a:solidFill>
                  <a:schemeClr val="tx1"/>
                </a:solidFill>
                <a:latin typeface="Times New Roman" panose="02020603050405020304" pitchFamily="18" charset="0"/>
                <a:cs typeface="Times New Roman" panose="02020603050405020304" pitchFamily="18" charset="0"/>
              </a:rPr>
              <a:t>        </a:t>
            </a:r>
            <a:r>
              <a:rPr lang="en-IN" sz="1800" dirty="0" err="1">
                <a:solidFill>
                  <a:schemeClr val="tx1"/>
                </a:solidFill>
                <a:latin typeface="Times New Roman" panose="02020603050405020304" pitchFamily="18" charset="0"/>
                <a:cs typeface="Times New Roman" panose="02020603050405020304" pitchFamily="18" charset="0"/>
              </a:rPr>
              <a:t>printf</a:t>
            </a:r>
            <a:r>
              <a:rPr lang="en-IN" sz="1800" dirty="0">
                <a:solidFill>
                  <a:schemeClr val="tx1"/>
                </a:solidFill>
                <a:latin typeface="Times New Roman" panose="02020603050405020304" pitchFamily="18" charset="0"/>
                <a:cs typeface="Times New Roman" panose="02020603050405020304" pitchFamily="18" charset="0"/>
              </a:rPr>
              <a:t>("Address of </a:t>
            </a:r>
            <a:r>
              <a:rPr lang="en-IN" sz="1800" dirty="0" err="1">
                <a:solidFill>
                  <a:schemeClr val="tx1"/>
                </a:solidFill>
                <a:latin typeface="Times New Roman" panose="02020603050405020304" pitchFamily="18" charset="0"/>
                <a:cs typeface="Times New Roman" panose="02020603050405020304" pitchFamily="18" charset="0"/>
              </a:rPr>
              <a:t>arr</a:t>
            </a:r>
            <a:r>
              <a:rPr lang="en-IN" sz="1800" dirty="0">
                <a:solidFill>
                  <a:schemeClr val="tx1"/>
                </a:solidFill>
                <a:latin typeface="Times New Roman" panose="02020603050405020304" pitchFamily="18" charset="0"/>
                <a:cs typeface="Times New Roman" panose="02020603050405020304" pitchFamily="18" charset="0"/>
              </a:rPr>
              <a:t>[%d]: %p\n", </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 (void*)</a:t>
            </a:r>
            <a:r>
              <a:rPr lang="en-IN" sz="1800" dirty="0" err="1">
                <a:solidFill>
                  <a:schemeClr val="tx1"/>
                </a:solidFill>
                <a:latin typeface="Times New Roman" panose="02020603050405020304" pitchFamily="18" charset="0"/>
                <a:cs typeface="Times New Roman" panose="02020603050405020304" pitchFamily="18" charset="0"/>
              </a:rPr>
              <a:t>arr</a:t>
            </a:r>
            <a:r>
              <a:rPr lang="en-IN" sz="1800" dirty="0">
                <a:solidFill>
                  <a:schemeClr val="tx1"/>
                </a:solidFill>
                <a:latin typeface="Times New Roman" panose="02020603050405020304" pitchFamily="18" charset="0"/>
                <a:cs typeface="Times New Roman" panose="02020603050405020304" pitchFamily="18" charset="0"/>
              </a:rPr>
              <a:t>[</a:t>
            </a:r>
            <a:r>
              <a:rPr lang="en-IN" sz="1800" dirty="0" err="1">
                <a:solidFill>
                  <a:schemeClr val="tx1"/>
                </a:solidFill>
                <a:latin typeface="Times New Roman" panose="02020603050405020304" pitchFamily="18" charset="0"/>
                <a:cs typeface="Times New Roman" panose="02020603050405020304" pitchFamily="18" charset="0"/>
              </a:rPr>
              <a:t>i</a:t>
            </a:r>
            <a:r>
              <a:rPr lang="en-IN" sz="1800" dirty="0">
                <a:solidFill>
                  <a:schemeClr val="tx1"/>
                </a:solidFill>
                <a:latin typeface="Times New Roman" panose="02020603050405020304" pitchFamily="18" charset="0"/>
                <a:cs typeface="Times New Roman" panose="02020603050405020304" pitchFamily="18" charset="0"/>
              </a:rPr>
              <a:t>]);</a:t>
            </a:r>
          </a:p>
          <a:p>
            <a:pPr algn="just"/>
            <a:r>
              <a:rPr lang="en-IN" sz="1800" dirty="0">
                <a:solidFill>
                  <a:schemeClr val="tx1"/>
                </a:solidFill>
                <a:latin typeface="Times New Roman" panose="02020603050405020304" pitchFamily="18" charset="0"/>
                <a:cs typeface="Times New Roman" panose="02020603050405020304" pitchFamily="18" charset="0"/>
              </a:rPr>
              <a:t>    }</a:t>
            </a:r>
          </a:p>
          <a:p>
            <a:pPr algn="just"/>
            <a:r>
              <a:rPr lang="en-IN" sz="1800" dirty="0">
                <a:solidFill>
                  <a:schemeClr val="tx1"/>
                </a:solidFill>
                <a:latin typeface="Times New Roman" panose="02020603050405020304" pitchFamily="18" charset="0"/>
                <a:cs typeface="Times New Roman" panose="02020603050405020304" pitchFamily="18" charset="0"/>
              </a:rPr>
              <a:t>    return 0;</a:t>
            </a:r>
          </a:p>
          <a:p>
            <a:pPr algn="just"/>
            <a:r>
              <a:rPr lang="en-IN" sz="1800" dirty="0">
                <a:solidFill>
                  <a:schemeClr val="tx1"/>
                </a:solidFill>
                <a:latin typeface="Times New Roman" panose="02020603050405020304" pitchFamily="18" charset="0"/>
                <a:cs typeface="Times New Roman" panose="02020603050405020304" pitchFamily="18" charset="0"/>
              </a:rPr>
              <a:t>}</a:t>
            </a:r>
            <a:endParaRPr lang="en-IN" sz="9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3DEB301-B3F3-CABB-1869-729F9E410342}"/>
              </a:ext>
            </a:extLst>
          </p:cNvPr>
          <p:cNvSpPr txBox="1"/>
          <p:nvPr/>
        </p:nvSpPr>
        <p:spPr>
          <a:xfrm>
            <a:off x="6803921" y="2107695"/>
            <a:ext cx="769763" cy="307777"/>
          </a:xfrm>
          <a:prstGeom prst="rect">
            <a:avLst/>
          </a:prstGeom>
          <a:noFill/>
        </p:spPr>
        <p:txBody>
          <a:bodyPr wrap="none" rtlCol="0">
            <a:spAutoFit/>
          </a:bodyPr>
          <a:lstStyle/>
          <a:p>
            <a:r>
              <a:rPr lang="en-US" b="1" dirty="0"/>
              <a:t>Output</a:t>
            </a:r>
            <a:endParaRPr lang="en-IN" b="1" dirty="0"/>
          </a:p>
        </p:txBody>
      </p:sp>
      <p:sp>
        <p:nvSpPr>
          <p:cNvPr id="10" name="TextBox 9">
            <a:extLst>
              <a:ext uri="{FF2B5EF4-FFF2-40B4-BE49-F238E27FC236}">
                <a16:creationId xmlns:a16="http://schemas.microsoft.com/office/drawing/2014/main" id="{1B91F2A6-6B2C-9101-A048-329821F63188}"/>
              </a:ext>
            </a:extLst>
          </p:cNvPr>
          <p:cNvSpPr txBox="1"/>
          <p:nvPr/>
        </p:nvSpPr>
        <p:spPr>
          <a:xfrm>
            <a:off x="319548" y="914401"/>
            <a:ext cx="631904" cy="307777"/>
          </a:xfrm>
          <a:prstGeom prst="rect">
            <a:avLst/>
          </a:prstGeom>
          <a:noFill/>
        </p:spPr>
        <p:txBody>
          <a:bodyPr wrap="none" rtlCol="0">
            <a:spAutoFit/>
          </a:bodyPr>
          <a:lstStyle/>
          <a:p>
            <a:r>
              <a:rPr lang="en-US" b="1" dirty="0"/>
              <a:t>Code</a:t>
            </a:r>
            <a:endParaRPr lang="en-IN" b="1" dirty="0"/>
          </a:p>
        </p:txBody>
      </p:sp>
      <p:sp>
        <p:nvSpPr>
          <p:cNvPr id="7" name="TextBox 6">
            <a:extLst>
              <a:ext uri="{FF2B5EF4-FFF2-40B4-BE49-F238E27FC236}">
                <a16:creationId xmlns:a16="http://schemas.microsoft.com/office/drawing/2014/main" id="{3B859AAE-E798-C13E-BE85-9B8D8805D67B}"/>
              </a:ext>
            </a:extLst>
          </p:cNvPr>
          <p:cNvSpPr txBox="1"/>
          <p:nvPr/>
        </p:nvSpPr>
        <p:spPr>
          <a:xfrm>
            <a:off x="6449961" y="2694039"/>
            <a:ext cx="2595716" cy="1384995"/>
          </a:xfrm>
          <a:prstGeom prst="rect">
            <a:avLst/>
          </a:prstGeom>
          <a:noFill/>
        </p:spPr>
        <p:txBody>
          <a:bodyPr wrap="square" rtlCol="0">
            <a:spAutoFit/>
          </a:bodyPr>
          <a:lstStyle/>
          <a:p>
            <a:r>
              <a:rPr lang="en-IN" dirty="0"/>
              <a:t>Chitkara </a:t>
            </a:r>
          </a:p>
          <a:p>
            <a:r>
              <a:rPr lang="en-IN" dirty="0"/>
              <a:t>University</a:t>
            </a:r>
          </a:p>
          <a:p>
            <a:r>
              <a:rPr lang="en-IN" dirty="0"/>
              <a:t>Punjab</a:t>
            </a:r>
          </a:p>
          <a:p>
            <a:r>
              <a:rPr lang="en-IN" dirty="0"/>
              <a:t>Address of </a:t>
            </a:r>
            <a:r>
              <a:rPr lang="en-IN" dirty="0" err="1"/>
              <a:t>arr</a:t>
            </a:r>
            <a:r>
              <a:rPr lang="en-IN" dirty="0"/>
              <a:t>[0]: 0x400634</a:t>
            </a:r>
          </a:p>
          <a:p>
            <a:r>
              <a:rPr lang="en-IN" dirty="0"/>
              <a:t>Address of </a:t>
            </a:r>
            <a:r>
              <a:rPr lang="en-IN" dirty="0" err="1"/>
              <a:t>arr</a:t>
            </a:r>
            <a:r>
              <a:rPr lang="en-IN" dirty="0"/>
              <a:t>[1]: 0x400639</a:t>
            </a:r>
          </a:p>
          <a:p>
            <a:r>
              <a:rPr lang="en-IN" dirty="0"/>
              <a:t>Address of </a:t>
            </a:r>
            <a:r>
              <a:rPr lang="en-IN" dirty="0" err="1"/>
              <a:t>arr</a:t>
            </a:r>
            <a:r>
              <a:rPr lang="en-IN" dirty="0"/>
              <a:t>[2]: 0x40063f</a:t>
            </a:r>
          </a:p>
        </p:txBody>
      </p:sp>
    </p:spTree>
    <p:extLst>
      <p:ext uri="{BB962C8B-B14F-4D97-AF65-F5344CB8AC3E}">
        <p14:creationId xmlns:p14="http://schemas.microsoft.com/office/powerpoint/2010/main" val="2602370755"/>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AA77-5D4A-9F3B-E0EE-F90E3E6AD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83B97-58E1-CDBC-D8E2-E2C4FEFA06D4}"/>
              </a:ext>
            </a:extLst>
          </p:cNvPr>
          <p:cNvSpPr>
            <a:spLocks noGrp="1"/>
          </p:cNvSpPr>
          <p:nvPr>
            <p:ph type="ctrTitle"/>
          </p:nvPr>
        </p:nvSpPr>
        <p:spPr>
          <a:xfrm>
            <a:off x="-1" y="1"/>
            <a:ext cx="6292645" cy="914400"/>
          </a:xfrm>
        </p:spPr>
        <p:txBody>
          <a:bodyPr/>
          <a:lstStyle/>
          <a:p>
            <a:pPr marL="0" marR="0" lvl="0" indent="0" algn="just" rtl="0">
              <a:lnSpc>
                <a:spcPct val="100000"/>
              </a:lnSpc>
              <a:spcBef>
                <a:spcPts val="0"/>
              </a:spcBef>
              <a:spcAft>
                <a:spcPts val="0"/>
              </a:spcAft>
              <a:buClr>
                <a:srgbClr val="000000"/>
              </a:buClr>
              <a:buSzPts val="3609"/>
              <a:buFont typeface="Arial"/>
              <a:buNone/>
            </a:pPr>
            <a:r>
              <a:rPr lang="en-US" sz="3200" b="1" i="0" u="none" strike="noStrike" cap="none" dirty="0">
                <a:solidFill>
                  <a:schemeClr val="dk1"/>
                </a:solidFill>
                <a:latin typeface="Calibri"/>
                <a:ea typeface="Calibri"/>
                <a:cs typeface="Calibri"/>
                <a:sym typeface="Calibri"/>
              </a:rPr>
              <a:t>Array of Pointers to Different Types</a:t>
            </a:r>
          </a:p>
        </p:txBody>
      </p:sp>
      <p:sp>
        <p:nvSpPr>
          <p:cNvPr id="3" name="Subtitle 2">
            <a:extLst>
              <a:ext uri="{FF2B5EF4-FFF2-40B4-BE49-F238E27FC236}">
                <a16:creationId xmlns:a16="http://schemas.microsoft.com/office/drawing/2014/main" id="{84674390-F836-5C55-34B4-813D8AD1A6DE}"/>
              </a:ext>
            </a:extLst>
          </p:cNvPr>
          <p:cNvSpPr>
            <a:spLocks noGrp="1"/>
          </p:cNvSpPr>
          <p:nvPr>
            <p:ph type="subTitle" idx="1"/>
          </p:nvPr>
        </p:nvSpPr>
        <p:spPr>
          <a:xfrm>
            <a:off x="201561" y="888168"/>
            <a:ext cx="8177981" cy="1833716"/>
          </a:xfrm>
        </p:spPr>
        <p:txBody>
          <a:bodyPr/>
          <a:lstStyle/>
          <a:p>
            <a:pPr algn="just"/>
            <a:r>
              <a:rPr lang="en-US" sz="1200" dirty="0">
                <a:solidFill>
                  <a:schemeClr val="tx1"/>
                </a:solidFill>
                <a:latin typeface="Times New Roman" panose="02020603050405020304" pitchFamily="18" charset="0"/>
                <a:cs typeface="Times New Roman" panose="02020603050405020304" pitchFamily="18" charset="0"/>
              </a:rPr>
              <a:t>// C program to illustrate the use of array of pointers to function</a:t>
            </a:r>
          </a:p>
          <a:p>
            <a:pPr algn="just"/>
            <a:r>
              <a:rPr lang="en-US" sz="1200" dirty="0">
                <a:solidFill>
                  <a:schemeClr val="tx1"/>
                </a:solidFill>
                <a:latin typeface="Times New Roman" panose="02020603050405020304" pitchFamily="18" charset="0"/>
                <a:cs typeface="Times New Roman" panose="02020603050405020304" pitchFamily="18" charset="0"/>
              </a:rPr>
              <a:t>#include &lt;</a:t>
            </a:r>
            <a:r>
              <a:rPr lang="en-US" sz="1200" dirty="0" err="1">
                <a:solidFill>
                  <a:schemeClr val="tx1"/>
                </a:solidFill>
                <a:latin typeface="Times New Roman" panose="02020603050405020304" pitchFamily="18" charset="0"/>
                <a:cs typeface="Times New Roman" panose="02020603050405020304" pitchFamily="18" charset="0"/>
              </a:rPr>
              <a:t>stdio.h</a:t>
            </a:r>
            <a:r>
              <a:rPr lang="en-US" sz="1200" dirty="0">
                <a:solidFill>
                  <a:schemeClr val="tx1"/>
                </a:solidFill>
                <a:latin typeface="Times New Roman" panose="02020603050405020304" pitchFamily="18" charset="0"/>
                <a:cs typeface="Times New Roman" panose="02020603050405020304" pitchFamily="18" charset="0"/>
              </a:rPr>
              <a:t>&gt;</a:t>
            </a:r>
          </a:p>
          <a:p>
            <a:pPr algn="just"/>
            <a:r>
              <a:rPr lang="en-US" sz="1200" dirty="0">
                <a:solidFill>
                  <a:schemeClr val="tx1"/>
                </a:solidFill>
                <a:latin typeface="Times New Roman" panose="02020603050405020304" pitchFamily="18" charset="0"/>
                <a:cs typeface="Times New Roman" panose="02020603050405020304" pitchFamily="18" charset="0"/>
              </a:rPr>
              <a:t>// some basic arithmetic operations</a:t>
            </a:r>
          </a:p>
          <a:p>
            <a:pPr algn="just"/>
            <a:r>
              <a:rPr lang="en-US" sz="1200" dirty="0">
                <a:solidFill>
                  <a:schemeClr val="tx1"/>
                </a:solidFill>
                <a:latin typeface="Times New Roman" panose="02020603050405020304" pitchFamily="18" charset="0"/>
                <a:cs typeface="Times New Roman" panose="02020603050405020304" pitchFamily="18" charset="0"/>
              </a:rPr>
              <a:t>void add(int a, int b) {</a:t>
            </a:r>
          </a:p>
          <a:p>
            <a:pPr algn="just"/>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printf</a:t>
            </a:r>
            <a:r>
              <a:rPr lang="en-US" sz="1200" dirty="0">
                <a:solidFill>
                  <a:schemeClr val="tx1"/>
                </a:solidFill>
                <a:latin typeface="Times New Roman" panose="02020603050405020304" pitchFamily="18" charset="0"/>
                <a:cs typeface="Times New Roman" panose="02020603050405020304" pitchFamily="18" charset="0"/>
              </a:rPr>
              <a:t>("Sum : %d\n", a + b);</a:t>
            </a:r>
          </a:p>
          <a:p>
            <a:pPr algn="just"/>
            <a:r>
              <a:rPr lang="en-US" sz="1200" dirty="0">
                <a:solidFill>
                  <a:schemeClr val="tx1"/>
                </a:solidFill>
                <a:latin typeface="Times New Roman" panose="02020603050405020304" pitchFamily="18" charset="0"/>
                <a:cs typeface="Times New Roman" panose="02020603050405020304" pitchFamily="18" charset="0"/>
              </a:rPr>
              <a:t>}</a:t>
            </a:r>
          </a:p>
          <a:p>
            <a:pPr algn="just"/>
            <a:r>
              <a:rPr lang="en-US" sz="1200" dirty="0">
                <a:solidFill>
                  <a:schemeClr val="tx1"/>
                </a:solidFill>
                <a:latin typeface="Times New Roman" panose="02020603050405020304" pitchFamily="18" charset="0"/>
                <a:cs typeface="Times New Roman" panose="02020603050405020304" pitchFamily="18" charset="0"/>
              </a:rPr>
              <a:t>void subtract(int a, int b) {</a:t>
            </a:r>
          </a:p>
          <a:p>
            <a:pPr algn="just"/>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printf</a:t>
            </a:r>
            <a:r>
              <a:rPr lang="en-US" sz="1200" dirty="0">
                <a:solidFill>
                  <a:schemeClr val="tx1"/>
                </a:solidFill>
                <a:latin typeface="Times New Roman" panose="02020603050405020304" pitchFamily="18" charset="0"/>
                <a:cs typeface="Times New Roman" panose="02020603050405020304" pitchFamily="18" charset="0"/>
              </a:rPr>
              <a:t>("Difference : %d\n", a - b);</a:t>
            </a:r>
          </a:p>
          <a:p>
            <a:pPr algn="just"/>
            <a:r>
              <a:rPr lang="en-US" sz="1200" dirty="0">
                <a:solidFill>
                  <a:schemeClr val="tx1"/>
                </a:solidFill>
                <a:latin typeface="Times New Roman" panose="02020603050405020304" pitchFamily="18" charset="0"/>
                <a:cs typeface="Times New Roman" panose="02020603050405020304" pitchFamily="18" charset="0"/>
              </a:rPr>
              <a:t>}</a:t>
            </a:r>
          </a:p>
          <a:p>
            <a:pPr algn="just"/>
            <a:r>
              <a:rPr lang="en-US" sz="1200" dirty="0">
                <a:solidFill>
                  <a:schemeClr val="tx1"/>
                </a:solidFill>
                <a:latin typeface="Times New Roman" panose="02020603050405020304" pitchFamily="18" charset="0"/>
                <a:cs typeface="Times New Roman" panose="02020603050405020304" pitchFamily="18" charset="0"/>
              </a:rPr>
              <a:t>void multiply(int a, int b) {</a:t>
            </a:r>
          </a:p>
          <a:p>
            <a:pPr algn="just"/>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printf</a:t>
            </a:r>
            <a:r>
              <a:rPr lang="en-US" sz="1200" dirty="0">
                <a:solidFill>
                  <a:schemeClr val="tx1"/>
                </a:solidFill>
                <a:latin typeface="Times New Roman" panose="02020603050405020304" pitchFamily="18" charset="0"/>
                <a:cs typeface="Times New Roman" panose="02020603050405020304" pitchFamily="18" charset="0"/>
              </a:rPr>
              <a:t>("Product : %d\n", a * b); }</a:t>
            </a:r>
          </a:p>
          <a:p>
            <a:pPr algn="just"/>
            <a:r>
              <a:rPr lang="en-US" sz="1200" dirty="0">
                <a:solidFill>
                  <a:schemeClr val="tx1"/>
                </a:solidFill>
                <a:latin typeface="Times New Roman" panose="02020603050405020304" pitchFamily="18" charset="0"/>
                <a:cs typeface="Times New Roman" panose="02020603050405020304" pitchFamily="18" charset="0"/>
              </a:rPr>
              <a:t>void divide(int a, int b) {</a:t>
            </a:r>
          </a:p>
          <a:p>
            <a:pPr algn="just"/>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printf</a:t>
            </a:r>
            <a:r>
              <a:rPr lang="en-US" sz="1200" dirty="0">
                <a:solidFill>
                  <a:schemeClr val="tx1"/>
                </a:solidFill>
                <a:latin typeface="Times New Roman" panose="02020603050405020304" pitchFamily="18" charset="0"/>
                <a:cs typeface="Times New Roman" panose="02020603050405020304" pitchFamily="18" charset="0"/>
              </a:rPr>
              <a:t>("Quotient : %d", a / b); }</a:t>
            </a:r>
          </a:p>
          <a:p>
            <a:pPr algn="just"/>
            <a:r>
              <a:rPr lang="en-US" sz="1200" dirty="0">
                <a:solidFill>
                  <a:schemeClr val="tx1"/>
                </a:solidFill>
                <a:latin typeface="Times New Roman" panose="02020603050405020304" pitchFamily="18" charset="0"/>
                <a:cs typeface="Times New Roman" panose="02020603050405020304" pitchFamily="18" charset="0"/>
              </a:rPr>
              <a:t>int main() {</a:t>
            </a:r>
          </a:p>
          <a:p>
            <a:pPr algn="just"/>
            <a:r>
              <a:rPr lang="en-US" sz="1200" dirty="0">
                <a:solidFill>
                  <a:schemeClr val="tx1"/>
                </a:solidFill>
                <a:latin typeface="Times New Roman" panose="02020603050405020304" pitchFamily="18" charset="0"/>
                <a:cs typeface="Times New Roman" panose="02020603050405020304" pitchFamily="18" charset="0"/>
              </a:rPr>
              <a:t>    int x = 50, y = 5;</a:t>
            </a:r>
          </a:p>
          <a:p>
            <a:pPr algn="just"/>
            <a:r>
              <a:rPr lang="en-US" sz="1200" dirty="0">
                <a:solidFill>
                  <a:schemeClr val="tx1"/>
                </a:solidFill>
                <a:latin typeface="Times New Roman" panose="02020603050405020304" pitchFamily="18" charset="0"/>
                <a:cs typeface="Times New Roman" panose="02020603050405020304" pitchFamily="18" charset="0"/>
              </a:rPr>
              <a:t>    // array of pointers to function of return type int</a:t>
            </a:r>
          </a:p>
          <a:p>
            <a:pPr algn="just"/>
            <a:r>
              <a:rPr lang="en-US" sz="1200" dirty="0">
                <a:solidFill>
                  <a:schemeClr val="tx1"/>
                </a:solidFill>
                <a:latin typeface="Times New Roman" panose="02020603050405020304" pitchFamily="18" charset="0"/>
                <a:cs typeface="Times New Roman" panose="02020603050405020304" pitchFamily="18" charset="0"/>
              </a:rPr>
              <a:t>    void (*</a:t>
            </a:r>
            <a:r>
              <a:rPr lang="en-US" sz="1200" dirty="0" err="1">
                <a:solidFill>
                  <a:schemeClr val="tx1"/>
                </a:solidFill>
                <a:latin typeface="Times New Roman" panose="02020603050405020304" pitchFamily="18" charset="0"/>
                <a:cs typeface="Times New Roman" panose="02020603050405020304" pitchFamily="18" charset="0"/>
              </a:rPr>
              <a:t>arr</a:t>
            </a:r>
            <a:r>
              <a:rPr lang="en-US" sz="1200" dirty="0">
                <a:solidFill>
                  <a:schemeClr val="tx1"/>
                </a:solidFill>
                <a:latin typeface="Times New Roman" panose="02020603050405020304" pitchFamily="18" charset="0"/>
                <a:cs typeface="Times New Roman" panose="02020603050405020304" pitchFamily="18" charset="0"/>
              </a:rPr>
              <a:t>[4])(int, int)</a:t>
            </a:r>
          </a:p>
          <a:p>
            <a:pPr algn="just"/>
            <a:r>
              <a:rPr lang="en-US" sz="1200" dirty="0">
                <a:solidFill>
                  <a:schemeClr val="tx1"/>
                </a:solidFill>
                <a:latin typeface="Times New Roman" panose="02020603050405020304" pitchFamily="18" charset="0"/>
                <a:cs typeface="Times New Roman" panose="02020603050405020304" pitchFamily="18" charset="0"/>
              </a:rPr>
              <a:t>        = { &amp;add, &amp;subtract, &amp;multiply, &amp;divide };</a:t>
            </a:r>
          </a:p>
          <a:p>
            <a:pPr algn="just"/>
            <a:r>
              <a:rPr lang="en-US" sz="1200" dirty="0">
                <a:solidFill>
                  <a:schemeClr val="tx1"/>
                </a:solidFill>
                <a:latin typeface="Times New Roman" panose="02020603050405020304" pitchFamily="18" charset="0"/>
                <a:cs typeface="Times New Roman" panose="02020603050405020304" pitchFamily="18" charset="0"/>
              </a:rPr>
              <a:t>    for (int </a:t>
            </a:r>
            <a:r>
              <a:rPr lang="en-US" sz="1200" dirty="0" err="1">
                <a:solidFill>
                  <a:schemeClr val="tx1"/>
                </a:solidFill>
                <a:latin typeface="Times New Roman" panose="02020603050405020304" pitchFamily="18" charset="0"/>
                <a:cs typeface="Times New Roman" panose="02020603050405020304" pitchFamily="18" charset="0"/>
              </a:rPr>
              <a:t>i</a:t>
            </a:r>
            <a:r>
              <a:rPr lang="en-US" sz="1200" dirty="0">
                <a:solidFill>
                  <a:schemeClr val="tx1"/>
                </a:solidFill>
                <a:latin typeface="Times New Roman" panose="02020603050405020304" pitchFamily="18" charset="0"/>
                <a:cs typeface="Times New Roman" panose="02020603050405020304" pitchFamily="18" charset="0"/>
              </a:rPr>
              <a:t> = 0; </a:t>
            </a:r>
            <a:r>
              <a:rPr lang="en-US" sz="1200" dirty="0" err="1">
                <a:solidFill>
                  <a:schemeClr val="tx1"/>
                </a:solidFill>
                <a:latin typeface="Times New Roman" panose="02020603050405020304" pitchFamily="18" charset="0"/>
                <a:cs typeface="Times New Roman" panose="02020603050405020304" pitchFamily="18" charset="0"/>
              </a:rPr>
              <a:t>i</a:t>
            </a:r>
            <a:r>
              <a:rPr lang="en-US" sz="1200" dirty="0">
                <a:solidFill>
                  <a:schemeClr val="tx1"/>
                </a:solidFill>
                <a:latin typeface="Times New Roman" panose="02020603050405020304" pitchFamily="18" charset="0"/>
                <a:cs typeface="Times New Roman" panose="02020603050405020304" pitchFamily="18" charset="0"/>
              </a:rPr>
              <a:t> &lt; 4; </a:t>
            </a:r>
            <a:r>
              <a:rPr lang="en-US" sz="1200" dirty="0" err="1">
                <a:solidFill>
                  <a:schemeClr val="tx1"/>
                </a:solidFill>
                <a:latin typeface="Times New Roman" panose="02020603050405020304" pitchFamily="18" charset="0"/>
                <a:cs typeface="Times New Roman" panose="02020603050405020304" pitchFamily="18" charset="0"/>
              </a:rPr>
              <a:t>i</a:t>
            </a:r>
            <a:r>
              <a:rPr lang="en-US" sz="1200" dirty="0">
                <a:solidFill>
                  <a:schemeClr val="tx1"/>
                </a:solidFill>
                <a:latin typeface="Times New Roman" panose="02020603050405020304" pitchFamily="18" charset="0"/>
                <a:cs typeface="Times New Roman" panose="02020603050405020304" pitchFamily="18" charset="0"/>
              </a:rPr>
              <a:t>++) {</a:t>
            </a:r>
          </a:p>
          <a:p>
            <a:pPr algn="just"/>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arr</a:t>
            </a:r>
            <a:r>
              <a:rPr lang="en-US" sz="1200" dirty="0">
                <a:solidFill>
                  <a:schemeClr val="tx1"/>
                </a:solidFill>
                <a:latin typeface="Times New Roman" panose="02020603050405020304" pitchFamily="18" charset="0"/>
                <a:cs typeface="Times New Roman" panose="02020603050405020304" pitchFamily="18" charset="0"/>
              </a:rPr>
              <a:t>[</a:t>
            </a:r>
            <a:r>
              <a:rPr lang="en-US" sz="1200" dirty="0" err="1">
                <a:solidFill>
                  <a:schemeClr val="tx1"/>
                </a:solidFill>
                <a:latin typeface="Times New Roman" panose="02020603050405020304" pitchFamily="18" charset="0"/>
                <a:cs typeface="Times New Roman" panose="02020603050405020304" pitchFamily="18" charset="0"/>
              </a:rPr>
              <a:t>i</a:t>
            </a:r>
            <a:r>
              <a:rPr lang="en-US" sz="1200" dirty="0">
                <a:solidFill>
                  <a:schemeClr val="tx1"/>
                </a:solidFill>
                <a:latin typeface="Times New Roman" panose="02020603050405020304" pitchFamily="18" charset="0"/>
                <a:cs typeface="Times New Roman" panose="02020603050405020304" pitchFamily="18" charset="0"/>
              </a:rPr>
              <a:t>](x, y);</a:t>
            </a:r>
          </a:p>
          <a:p>
            <a:pPr algn="just"/>
            <a:r>
              <a:rPr lang="en-US" sz="1200" dirty="0">
                <a:solidFill>
                  <a:schemeClr val="tx1"/>
                </a:solidFill>
                <a:latin typeface="Times New Roman" panose="02020603050405020304" pitchFamily="18" charset="0"/>
                <a:cs typeface="Times New Roman" panose="02020603050405020304" pitchFamily="18" charset="0"/>
              </a:rPr>
              <a:t>    }    </a:t>
            </a:r>
          </a:p>
          <a:p>
            <a:pPr algn="just"/>
            <a:r>
              <a:rPr lang="en-US" sz="1200" dirty="0">
                <a:solidFill>
                  <a:schemeClr val="tx1"/>
                </a:solidFill>
                <a:latin typeface="Times New Roman" panose="02020603050405020304" pitchFamily="18" charset="0"/>
                <a:cs typeface="Times New Roman" panose="02020603050405020304" pitchFamily="18" charset="0"/>
              </a:rPr>
              <a:t>return 0; }</a:t>
            </a:r>
            <a:endParaRPr lang="en-IN" sz="6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4D5A92E-5818-0A8D-95D7-7CA078F606DF}"/>
              </a:ext>
            </a:extLst>
          </p:cNvPr>
          <p:cNvSpPr txBox="1"/>
          <p:nvPr/>
        </p:nvSpPr>
        <p:spPr>
          <a:xfrm>
            <a:off x="6803921" y="2107695"/>
            <a:ext cx="769763" cy="307777"/>
          </a:xfrm>
          <a:prstGeom prst="rect">
            <a:avLst/>
          </a:prstGeom>
          <a:noFill/>
        </p:spPr>
        <p:txBody>
          <a:bodyPr wrap="none" rtlCol="0">
            <a:spAutoFit/>
          </a:bodyPr>
          <a:lstStyle/>
          <a:p>
            <a:r>
              <a:rPr lang="en-US" b="1" dirty="0"/>
              <a:t>Output</a:t>
            </a:r>
            <a:endParaRPr lang="en-IN" b="1" dirty="0"/>
          </a:p>
        </p:txBody>
      </p:sp>
      <p:sp>
        <p:nvSpPr>
          <p:cNvPr id="10" name="TextBox 9">
            <a:extLst>
              <a:ext uri="{FF2B5EF4-FFF2-40B4-BE49-F238E27FC236}">
                <a16:creationId xmlns:a16="http://schemas.microsoft.com/office/drawing/2014/main" id="{E24C2D1A-416F-5FE4-87A1-B9C697A707E1}"/>
              </a:ext>
            </a:extLst>
          </p:cNvPr>
          <p:cNvSpPr txBox="1"/>
          <p:nvPr/>
        </p:nvSpPr>
        <p:spPr>
          <a:xfrm>
            <a:off x="3596" y="760512"/>
            <a:ext cx="631904" cy="307777"/>
          </a:xfrm>
          <a:prstGeom prst="rect">
            <a:avLst/>
          </a:prstGeom>
          <a:noFill/>
        </p:spPr>
        <p:txBody>
          <a:bodyPr wrap="none" rtlCol="0">
            <a:spAutoFit/>
          </a:bodyPr>
          <a:lstStyle/>
          <a:p>
            <a:r>
              <a:rPr lang="en-US" b="1" dirty="0"/>
              <a:t>Code</a:t>
            </a:r>
            <a:endParaRPr lang="en-IN" b="1" dirty="0"/>
          </a:p>
        </p:txBody>
      </p:sp>
      <p:pic>
        <p:nvPicPr>
          <p:cNvPr id="6" name="Picture 5">
            <a:extLst>
              <a:ext uri="{FF2B5EF4-FFF2-40B4-BE49-F238E27FC236}">
                <a16:creationId xmlns:a16="http://schemas.microsoft.com/office/drawing/2014/main" id="{A24208B5-0FB4-5334-5717-2B1A4149486C}"/>
              </a:ext>
            </a:extLst>
          </p:cNvPr>
          <p:cNvPicPr>
            <a:picLocks noChangeAspect="1"/>
          </p:cNvPicPr>
          <p:nvPr/>
        </p:nvPicPr>
        <p:blipFill>
          <a:blip r:embed="rId2"/>
          <a:stretch>
            <a:fillRect/>
          </a:stretch>
        </p:blipFill>
        <p:spPr>
          <a:xfrm>
            <a:off x="6803920" y="2552624"/>
            <a:ext cx="1877963" cy="1420828"/>
          </a:xfrm>
          <a:prstGeom prst="rect">
            <a:avLst/>
          </a:prstGeom>
        </p:spPr>
      </p:pic>
    </p:spTree>
    <p:extLst>
      <p:ext uri="{BB962C8B-B14F-4D97-AF65-F5344CB8AC3E}">
        <p14:creationId xmlns:p14="http://schemas.microsoft.com/office/powerpoint/2010/main" val="4286367445"/>
      </p:ext>
    </p:extLst>
  </p:cSld>
  <p:clrMapOvr>
    <a:masterClrMapping/>
  </p:clrMapOvr>
  <p:transition advTm="400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24CC3-87FC-B144-39B4-951D155A2FAE}"/>
              </a:ext>
            </a:extLst>
          </p:cNvPr>
          <p:cNvSpPr>
            <a:spLocks noGrp="1"/>
          </p:cNvSpPr>
          <p:nvPr>
            <p:ph type="ctrTitle"/>
          </p:nvPr>
        </p:nvSpPr>
        <p:spPr/>
        <p:txBody>
          <a:bodyPr/>
          <a:lstStyle/>
          <a:p>
            <a:r>
              <a:rPr lang="en-US" dirty="0"/>
              <a:t>Pointer Vs Array in C</a:t>
            </a:r>
            <a:endParaRPr lang="en-IN" dirty="0"/>
          </a:p>
        </p:txBody>
      </p:sp>
      <p:graphicFrame>
        <p:nvGraphicFramePr>
          <p:cNvPr id="21" name="Table 20">
            <a:extLst>
              <a:ext uri="{FF2B5EF4-FFF2-40B4-BE49-F238E27FC236}">
                <a16:creationId xmlns:a16="http://schemas.microsoft.com/office/drawing/2014/main" id="{E3B2806E-49A3-EBB9-6A92-F8C0282BA64C}"/>
              </a:ext>
            </a:extLst>
          </p:cNvPr>
          <p:cNvGraphicFramePr>
            <a:graphicFrameLocks noGrp="1"/>
          </p:cNvGraphicFramePr>
          <p:nvPr>
            <p:extLst>
              <p:ext uri="{D42A27DB-BD31-4B8C-83A1-F6EECF244321}">
                <p14:modId xmlns:p14="http://schemas.microsoft.com/office/powerpoint/2010/main" val="4271700962"/>
              </p:ext>
            </p:extLst>
          </p:nvPr>
        </p:nvGraphicFramePr>
        <p:xfrm>
          <a:off x="255640" y="914400"/>
          <a:ext cx="8642554" cy="5702709"/>
        </p:xfrm>
        <a:graphic>
          <a:graphicData uri="http://schemas.openxmlformats.org/drawingml/2006/table">
            <a:tbl>
              <a:tblPr firstRow="1" bandRow="1">
                <a:tableStyleId>{5C22544A-7EE6-4342-B048-85BDC9FD1C3A}</a:tableStyleId>
              </a:tblPr>
              <a:tblGrid>
                <a:gridCol w="1465005">
                  <a:extLst>
                    <a:ext uri="{9D8B030D-6E8A-4147-A177-3AD203B41FA5}">
                      <a16:colId xmlns:a16="http://schemas.microsoft.com/office/drawing/2014/main" val="2371348893"/>
                    </a:ext>
                  </a:extLst>
                </a:gridCol>
                <a:gridCol w="4296698">
                  <a:extLst>
                    <a:ext uri="{9D8B030D-6E8A-4147-A177-3AD203B41FA5}">
                      <a16:colId xmlns:a16="http://schemas.microsoft.com/office/drawing/2014/main" val="2856079878"/>
                    </a:ext>
                  </a:extLst>
                </a:gridCol>
                <a:gridCol w="2880851">
                  <a:extLst>
                    <a:ext uri="{9D8B030D-6E8A-4147-A177-3AD203B41FA5}">
                      <a16:colId xmlns:a16="http://schemas.microsoft.com/office/drawing/2014/main" val="2667044692"/>
                    </a:ext>
                  </a:extLst>
                </a:gridCol>
              </a:tblGrid>
              <a:tr h="390018">
                <a:tc>
                  <a:txBody>
                    <a:bodyPr/>
                    <a:lstStyle/>
                    <a:p>
                      <a:r>
                        <a:rPr lang="en-US" dirty="0"/>
                        <a:t>Feature</a:t>
                      </a:r>
                      <a:endParaRPr lang="en-IN" dirty="0"/>
                    </a:p>
                  </a:txBody>
                  <a:tcPr/>
                </a:tc>
                <a:tc>
                  <a:txBody>
                    <a:bodyPr/>
                    <a:lstStyle/>
                    <a:p>
                      <a:r>
                        <a:rPr lang="en-US" dirty="0"/>
                        <a:t>Pointer</a:t>
                      </a:r>
                      <a:endParaRPr lang="en-IN" dirty="0"/>
                    </a:p>
                  </a:txBody>
                  <a:tcPr/>
                </a:tc>
                <a:tc>
                  <a:txBody>
                    <a:bodyPr/>
                    <a:lstStyle/>
                    <a:p>
                      <a:r>
                        <a:rPr lang="en-US" dirty="0"/>
                        <a:t>Array</a:t>
                      </a:r>
                      <a:endParaRPr lang="en-IN" dirty="0"/>
                    </a:p>
                  </a:txBody>
                  <a:tcPr/>
                </a:tc>
                <a:extLst>
                  <a:ext uri="{0D108BD9-81ED-4DB2-BD59-A6C34878D82A}">
                    <a16:rowId xmlns:a16="http://schemas.microsoft.com/office/drawing/2014/main" val="3943861969"/>
                  </a:ext>
                </a:extLst>
              </a:tr>
              <a:tr h="805357">
                <a:tc>
                  <a:txBody>
                    <a:bodyPr/>
                    <a:lstStyle/>
                    <a:p>
                      <a:r>
                        <a:rPr lang="en-IN" dirty="0"/>
                        <a:t>Basic Concept</a:t>
                      </a:r>
                    </a:p>
                  </a:txBody>
                  <a:tcPr anchor="ctr"/>
                </a:tc>
                <a:tc>
                  <a:txBody>
                    <a:bodyPr/>
                    <a:lstStyle/>
                    <a:p>
                      <a:r>
                        <a:rPr lang="en-US" dirty="0"/>
                        <a:t>A variable that stores the memory address of another variable.</a:t>
                      </a:r>
                      <a:endParaRPr lang="en-IN" dirty="0"/>
                    </a:p>
                  </a:txBody>
                  <a:tcPr/>
                </a:tc>
                <a:tc>
                  <a:txBody>
                    <a:bodyPr/>
                    <a:lstStyle/>
                    <a:p>
                      <a:r>
                        <a:rPr lang="en-US" dirty="0"/>
                        <a:t>A collection of elements of the same type stored in contiguous memory locations.</a:t>
                      </a:r>
                      <a:endParaRPr lang="en-IN" dirty="0"/>
                    </a:p>
                  </a:txBody>
                  <a:tcPr/>
                </a:tc>
                <a:extLst>
                  <a:ext uri="{0D108BD9-81ED-4DB2-BD59-A6C34878D82A}">
                    <a16:rowId xmlns:a16="http://schemas.microsoft.com/office/drawing/2014/main" val="1199718284"/>
                  </a:ext>
                </a:extLst>
              </a:tr>
              <a:tr h="1011473">
                <a:tc>
                  <a:txBody>
                    <a:bodyPr/>
                    <a:lstStyle/>
                    <a:p>
                      <a:r>
                        <a:rPr lang="en-IN" dirty="0"/>
                        <a:t>Memory Allocation</a:t>
                      </a:r>
                    </a:p>
                  </a:txBody>
                  <a:tcPr/>
                </a:tc>
                <a:tc>
                  <a:txBody>
                    <a:bodyPr/>
                    <a:lstStyle/>
                    <a:p>
                      <a:r>
                        <a:rPr lang="en-US" dirty="0"/>
                        <a:t>Can be dynamically allocated and resized using functions like malloc() and </a:t>
                      </a:r>
                      <a:r>
                        <a:rPr lang="en-US" dirty="0" err="1"/>
                        <a:t>realloc</a:t>
                      </a:r>
                      <a:r>
                        <a:rPr lang="en-US" dirty="0"/>
                        <a:t>().</a:t>
                      </a:r>
                      <a:endParaRPr lang="en-IN" dirty="0"/>
                    </a:p>
                  </a:txBody>
                  <a:tcPr/>
                </a:tc>
                <a:tc>
                  <a:txBody>
                    <a:bodyPr/>
                    <a:lstStyle/>
                    <a:p>
                      <a:r>
                        <a:rPr lang="en-US" dirty="0"/>
                        <a:t>Typically has a fixed size, determined at compile time (static allocation) or at runtime (dynamic allocation).</a:t>
                      </a:r>
                      <a:endParaRPr lang="en-IN" dirty="0"/>
                    </a:p>
                  </a:txBody>
                  <a:tcPr/>
                </a:tc>
                <a:extLst>
                  <a:ext uri="{0D108BD9-81ED-4DB2-BD59-A6C34878D82A}">
                    <a16:rowId xmlns:a16="http://schemas.microsoft.com/office/drawing/2014/main" val="1725041215"/>
                  </a:ext>
                </a:extLst>
              </a:tr>
              <a:tr h="981843">
                <a:tc>
                  <a:txBody>
                    <a:bodyPr/>
                    <a:lstStyle/>
                    <a:p>
                      <a:r>
                        <a:rPr lang="en-IN" dirty="0"/>
                        <a:t>Syntax</a:t>
                      </a:r>
                    </a:p>
                  </a:txBody>
                  <a:tcPr/>
                </a:tc>
                <a:tc>
                  <a:txBody>
                    <a:bodyPr/>
                    <a:lstStyle/>
                    <a:p>
                      <a:r>
                        <a:rPr lang="en-US" dirty="0"/>
                        <a:t>Uses the * operator to dereference. For example, *</a:t>
                      </a:r>
                      <a:r>
                        <a:rPr lang="en-US" dirty="0" err="1"/>
                        <a:t>ptr</a:t>
                      </a:r>
                      <a:r>
                        <a:rPr lang="en-US" dirty="0"/>
                        <a:t> gives the value pointed by </a:t>
                      </a:r>
                      <a:r>
                        <a:rPr lang="en-US" dirty="0" err="1"/>
                        <a:t>ptr</a:t>
                      </a:r>
                      <a:r>
                        <a:rPr lang="en-US" dirty="0"/>
                        <a:t>.</a:t>
                      </a:r>
                      <a:endParaRPr lang="en-IN" dirty="0"/>
                    </a:p>
                  </a:txBody>
                  <a:tcPr/>
                </a:tc>
                <a:tc>
                  <a:txBody>
                    <a:bodyPr/>
                    <a:lstStyle/>
                    <a:p>
                      <a:r>
                        <a:rPr lang="en-US" dirty="0"/>
                        <a:t>Uses square brackets to access elements. For example, array[0] accesses the first element.</a:t>
                      </a:r>
                      <a:endParaRPr lang="en-IN" dirty="0"/>
                    </a:p>
                  </a:txBody>
                  <a:tcPr/>
                </a:tc>
                <a:extLst>
                  <a:ext uri="{0D108BD9-81ED-4DB2-BD59-A6C34878D82A}">
                    <a16:rowId xmlns:a16="http://schemas.microsoft.com/office/drawing/2014/main" val="3791322569"/>
                  </a:ext>
                </a:extLst>
              </a:tr>
              <a:tr h="760137">
                <a:tc>
                  <a:txBody>
                    <a:bodyPr/>
                    <a:lstStyle/>
                    <a:p>
                      <a:r>
                        <a:rPr lang="en-IN" dirty="0"/>
                        <a:t>Indirection</a:t>
                      </a:r>
                    </a:p>
                  </a:txBody>
                  <a:tcPr/>
                </a:tc>
                <a:tc>
                  <a:txBody>
                    <a:bodyPr/>
                    <a:lstStyle/>
                    <a:p>
                      <a:r>
                        <a:rPr lang="en-US" dirty="0"/>
                        <a:t>A pointer can be multi-level (e.g., a pointer to a pointer).</a:t>
                      </a:r>
                      <a:endParaRPr lang="en-IN" dirty="0"/>
                    </a:p>
                  </a:txBody>
                  <a:tcPr/>
                </a:tc>
                <a:tc>
                  <a:txBody>
                    <a:bodyPr/>
                    <a:lstStyle/>
                    <a:p>
                      <a:r>
                        <a:rPr lang="en-US" dirty="0"/>
                        <a:t>Arrays are essentially a single level of indirection (1-D array) but can be multidimensional.</a:t>
                      </a:r>
                      <a:endParaRPr lang="en-IN" dirty="0"/>
                    </a:p>
                  </a:txBody>
                  <a:tcPr/>
                </a:tc>
                <a:extLst>
                  <a:ext uri="{0D108BD9-81ED-4DB2-BD59-A6C34878D82A}">
                    <a16:rowId xmlns:a16="http://schemas.microsoft.com/office/drawing/2014/main" val="2396103518"/>
                  </a:ext>
                </a:extLst>
              </a:tr>
              <a:tr h="993744">
                <a:tc>
                  <a:txBody>
                    <a:bodyPr/>
                    <a:lstStyle/>
                    <a:p>
                      <a:r>
                        <a:rPr lang="en-IN" dirty="0"/>
                        <a:t>Memory Address Representation</a:t>
                      </a:r>
                    </a:p>
                  </a:txBody>
                  <a:tcPr/>
                </a:tc>
                <a:tc>
                  <a:txBody>
                    <a:bodyPr/>
                    <a:lstStyle/>
                    <a:p>
                      <a:r>
                        <a:rPr lang="en-US" dirty="0"/>
                        <a:t>Directly stores the address of the variable it points to.</a:t>
                      </a:r>
                      <a:endParaRPr lang="en-IN" dirty="0"/>
                    </a:p>
                  </a:txBody>
                  <a:tcPr/>
                </a:tc>
                <a:tc>
                  <a:txBody>
                    <a:bodyPr/>
                    <a:lstStyle/>
                    <a:p>
                      <a:r>
                        <a:rPr lang="en-US" dirty="0"/>
                        <a:t>The array name acts as a pointer to the first element, but itself does not store any address.</a:t>
                      </a:r>
                      <a:endParaRPr lang="en-IN" dirty="0"/>
                    </a:p>
                  </a:txBody>
                  <a:tcPr/>
                </a:tc>
                <a:extLst>
                  <a:ext uri="{0D108BD9-81ED-4DB2-BD59-A6C34878D82A}">
                    <a16:rowId xmlns:a16="http://schemas.microsoft.com/office/drawing/2014/main" val="4213118033"/>
                  </a:ext>
                </a:extLst>
              </a:tr>
              <a:tr h="760137">
                <a:tc>
                  <a:txBody>
                    <a:bodyPr/>
                    <a:lstStyle/>
                    <a:p>
                      <a:r>
                        <a:rPr lang="en-IN" dirty="0"/>
                        <a:t>Mutability</a:t>
                      </a:r>
                    </a:p>
                  </a:txBody>
                  <a:tcPr/>
                </a:tc>
                <a:tc>
                  <a:txBody>
                    <a:bodyPr/>
                    <a:lstStyle/>
                    <a:p>
                      <a:r>
                        <a:rPr lang="en-US" dirty="0"/>
                        <a:t>Can be reassigned to point to another memory address.</a:t>
                      </a:r>
                      <a:endParaRPr lang="en-IN" dirty="0"/>
                    </a:p>
                  </a:txBody>
                  <a:tcPr/>
                </a:tc>
                <a:tc>
                  <a:txBody>
                    <a:bodyPr/>
                    <a:lstStyle/>
                    <a:p>
                      <a:r>
                        <a:rPr lang="en-US" dirty="0"/>
                        <a:t>Cannot be reassigned to a different memory block but elements can be modified.</a:t>
                      </a:r>
                      <a:endParaRPr lang="en-IN" dirty="0"/>
                    </a:p>
                  </a:txBody>
                  <a:tcPr/>
                </a:tc>
                <a:extLst>
                  <a:ext uri="{0D108BD9-81ED-4DB2-BD59-A6C34878D82A}">
                    <a16:rowId xmlns:a16="http://schemas.microsoft.com/office/drawing/2014/main" val="1245001526"/>
                  </a:ext>
                </a:extLst>
              </a:tr>
            </a:tbl>
          </a:graphicData>
        </a:graphic>
      </p:graphicFrame>
    </p:spTree>
    <p:extLst>
      <p:ext uri="{BB962C8B-B14F-4D97-AF65-F5344CB8AC3E}">
        <p14:creationId xmlns:p14="http://schemas.microsoft.com/office/powerpoint/2010/main" val="3786465038"/>
      </p:ext>
    </p:extLst>
  </p:cSld>
  <p:clrMapOvr>
    <a:masterClrMapping/>
  </p:clrMapOvr>
  <p:transition advTm="4000">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7EF54-F18D-0891-D5CE-345392933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D84D7-634C-D045-7651-46D760CF0A7F}"/>
              </a:ext>
            </a:extLst>
          </p:cNvPr>
          <p:cNvSpPr>
            <a:spLocks noGrp="1"/>
          </p:cNvSpPr>
          <p:nvPr>
            <p:ph type="ctrTitle"/>
          </p:nvPr>
        </p:nvSpPr>
        <p:spPr/>
        <p:txBody>
          <a:bodyPr/>
          <a:lstStyle/>
          <a:p>
            <a:r>
              <a:rPr lang="en-US" dirty="0"/>
              <a:t>Pointer Vs Array in C</a:t>
            </a:r>
            <a:endParaRPr lang="en-IN" dirty="0"/>
          </a:p>
        </p:txBody>
      </p:sp>
      <p:sp>
        <p:nvSpPr>
          <p:cNvPr id="4" name="TextBox 3">
            <a:extLst>
              <a:ext uri="{FF2B5EF4-FFF2-40B4-BE49-F238E27FC236}">
                <a16:creationId xmlns:a16="http://schemas.microsoft.com/office/drawing/2014/main" id="{45C005E0-D679-7B60-37DE-88EC996A1943}"/>
              </a:ext>
            </a:extLst>
          </p:cNvPr>
          <p:cNvSpPr txBox="1"/>
          <p:nvPr/>
        </p:nvSpPr>
        <p:spPr>
          <a:xfrm>
            <a:off x="196645" y="914401"/>
            <a:ext cx="8750710" cy="5257850"/>
          </a:xfrm>
          <a:prstGeom prst="rect">
            <a:avLst/>
          </a:prstGeom>
          <a:noFill/>
        </p:spPr>
        <p:txBody>
          <a:bodyPr wrap="square">
            <a:spAutoFit/>
          </a:bodyPr>
          <a:lstStyle/>
          <a:p>
            <a:pPr algn="l" fontAlgn="base">
              <a:spcAft>
                <a:spcPts val="750"/>
              </a:spcAft>
            </a:pPr>
            <a:r>
              <a:rPr lang="en-US" sz="1800" b="0" i="0" dirty="0">
                <a:solidFill>
                  <a:schemeClr val="tx1"/>
                </a:solidFill>
                <a:effectLst/>
                <a:latin typeface="Times New Roman" panose="02020603050405020304" pitchFamily="18" charset="0"/>
                <a:cs typeface="Times New Roman" panose="02020603050405020304" pitchFamily="18" charset="0"/>
              </a:rPr>
              <a:t>Most of the time, pointer and array accesses can be treated as acting the same, the major exceptions being: </a:t>
            </a:r>
            <a:br>
              <a:rPr lang="en-US" sz="1800" b="0" i="0" dirty="0">
                <a:solidFill>
                  <a:schemeClr val="tx1"/>
                </a:solidFill>
                <a:effectLst/>
                <a:latin typeface="Times New Roman" panose="02020603050405020304" pitchFamily="18" charset="0"/>
                <a:cs typeface="Times New Roman" panose="02020603050405020304" pitchFamily="18" charset="0"/>
              </a:rPr>
            </a:br>
            <a:r>
              <a:rPr lang="en-US" sz="1800" b="0" i="0" dirty="0">
                <a:solidFill>
                  <a:schemeClr val="tx1"/>
                </a:solidFill>
                <a:effectLst/>
                <a:latin typeface="Times New Roman" panose="02020603050405020304" pitchFamily="18" charset="0"/>
                <a:cs typeface="Times New Roman" panose="02020603050405020304" pitchFamily="18" charset="0"/>
              </a:rPr>
              <a:t> </a:t>
            </a:r>
          </a:p>
          <a:p>
            <a:pPr algn="l" fontAlgn="base">
              <a:spcAft>
                <a:spcPts val="750"/>
              </a:spcAft>
            </a:pPr>
            <a:r>
              <a:rPr lang="en-US" sz="1800" b="1" i="0" dirty="0">
                <a:solidFill>
                  <a:schemeClr val="tx1"/>
                </a:solidFill>
                <a:effectLst/>
                <a:latin typeface="Times New Roman" panose="02020603050405020304" pitchFamily="18" charset="0"/>
                <a:cs typeface="Times New Roman" panose="02020603050405020304" pitchFamily="18" charset="0"/>
              </a:rPr>
              <a:t>1.</a:t>
            </a:r>
            <a:r>
              <a:rPr lang="en-US" sz="1800" b="0" i="0" dirty="0">
                <a:solidFill>
                  <a:schemeClr val="tx1"/>
                </a:solidFill>
                <a:effectLst/>
                <a:latin typeface="Times New Roman" panose="02020603050405020304" pitchFamily="18" charset="0"/>
                <a:cs typeface="Times New Roman" panose="02020603050405020304" pitchFamily="18" charset="0"/>
              </a:rPr>
              <a:t> the </a:t>
            </a:r>
            <a:r>
              <a:rPr lang="en-US" sz="1800" b="0" i="0" dirty="0" err="1">
                <a:solidFill>
                  <a:schemeClr val="tx1"/>
                </a:solidFill>
                <a:effectLst/>
                <a:latin typeface="Times New Roman" panose="02020603050405020304" pitchFamily="18" charset="0"/>
                <a:cs typeface="Times New Roman" panose="02020603050405020304" pitchFamily="18" charset="0"/>
              </a:rPr>
              <a:t>sizeof</a:t>
            </a:r>
            <a:r>
              <a:rPr lang="en-US" sz="1800" b="0" i="0" dirty="0">
                <a:solidFill>
                  <a:schemeClr val="tx1"/>
                </a:solidFill>
                <a:effectLst/>
                <a:latin typeface="Times New Roman" panose="02020603050405020304" pitchFamily="18" charset="0"/>
                <a:cs typeface="Times New Roman" panose="02020603050405020304" pitchFamily="18" charset="0"/>
              </a:rPr>
              <a:t> operator</a:t>
            </a:r>
          </a:p>
          <a:p>
            <a:pPr marL="285750" indent="-285750" algn="l" fontAlgn="base">
              <a:spcAft>
                <a:spcPts val="1800"/>
              </a:spcAft>
              <a:buFont typeface="Arial" panose="020B0604020202020204" pitchFamily="34" charset="0"/>
              <a:buChar char="•"/>
            </a:pPr>
            <a:r>
              <a:rPr lang="en-US" sz="1800" b="0" i="0" dirty="0" err="1">
                <a:solidFill>
                  <a:schemeClr val="tx1"/>
                </a:solidFill>
                <a:effectLst/>
                <a:latin typeface="Times New Roman" panose="02020603050405020304" pitchFamily="18" charset="0"/>
                <a:cs typeface="Times New Roman" panose="02020603050405020304" pitchFamily="18" charset="0"/>
              </a:rPr>
              <a:t>sizeof</a:t>
            </a:r>
            <a:r>
              <a:rPr lang="en-US" sz="1800" b="0" i="0" dirty="0">
                <a:solidFill>
                  <a:schemeClr val="tx1"/>
                </a:solidFill>
                <a:effectLst/>
                <a:latin typeface="Times New Roman" panose="02020603050405020304" pitchFamily="18" charset="0"/>
                <a:cs typeface="Times New Roman" panose="02020603050405020304" pitchFamily="18" charset="0"/>
              </a:rPr>
              <a:t>(array) returns the amount of memory used by all elements in the array </a:t>
            </a:r>
          </a:p>
          <a:p>
            <a:pPr marL="285750" indent="-285750" algn="l" fontAlgn="base">
              <a:spcAft>
                <a:spcPts val="1800"/>
              </a:spcAft>
              <a:buFont typeface="Arial" panose="020B0604020202020204" pitchFamily="34" charset="0"/>
              <a:buChar char="•"/>
            </a:pPr>
            <a:r>
              <a:rPr lang="en-US" sz="1800" b="0" i="0" dirty="0" err="1">
                <a:solidFill>
                  <a:schemeClr val="tx1"/>
                </a:solidFill>
                <a:effectLst/>
                <a:latin typeface="Times New Roman" panose="02020603050405020304" pitchFamily="18" charset="0"/>
                <a:cs typeface="Times New Roman" panose="02020603050405020304" pitchFamily="18" charset="0"/>
              </a:rPr>
              <a:t>sizeof</a:t>
            </a:r>
            <a:r>
              <a:rPr lang="en-US" sz="1800" b="0" i="0" dirty="0">
                <a:solidFill>
                  <a:schemeClr val="tx1"/>
                </a:solidFill>
                <a:effectLst/>
                <a:latin typeface="Times New Roman" panose="02020603050405020304" pitchFamily="18" charset="0"/>
                <a:cs typeface="Times New Roman" panose="02020603050405020304" pitchFamily="18" charset="0"/>
              </a:rPr>
              <a:t>(pointer) only returns the amount of memory used by the pointer variable itself </a:t>
            </a:r>
          </a:p>
          <a:p>
            <a:pPr algn="l" fontAlgn="base">
              <a:spcAft>
                <a:spcPts val="750"/>
              </a:spcAft>
            </a:pPr>
            <a:r>
              <a:rPr lang="en-US" sz="1800" b="1" i="0" dirty="0">
                <a:solidFill>
                  <a:schemeClr val="tx1"/>
                </a:solidFill>
                <a:effectLst/>
                <a:latin typeface="Times New Roman" panose="02020603050405020304" pitchFamily="18" charset="0"/>
                <a:cs typeface="Times New Roman" panose="02020603050405020304" pitchFamily="18" charset="0"/>
              </a:rPr>
              <a:t>2.</a:t>
            </a:r>
            <a:r>
              <a:rPr lang="en-US" sz="1800" b="0" i="0" dirty="0">
                <a:solidFill>
                  <a:schemeClr val="tx1"/>
                </a:solidFill>
                <a:effectLst/>
                <a:latin typeface="Times New Roman" panose="02020603050405020304" pitchFamily="18" charset="0"/>
                <a:cs typeface="Times New Roman" panose="02020603050405020304" pitchFamily="18" charset="0"/>
              </a:rPr>
              <a:t> the &amp; operator </a:t>
            </a:r>
          </a:p>
          <a:p>
            <a:pPr marL="285750" indent="-285750"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array is an alias for &amp;array[0] and returns the address of the first element in the array </a:t>
            </a:r>
          </a:p>
          <a:p>
            <a:pPr marL="285750" indent="-285750"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&amp;pointer returns the address of the pointer </a:t>
            </a:r>
          </a:p>
          <a:p>
            <a:pPr algn="l" fontAlgn="base">
              <a:spcAft>
                <a:spcPts val="750"/>
              </a:spcAft>
            </a:pPr>
            <a:r>
              <a:rPr lang="en-US" sz="1800" b="1" i="0" dirty="0">
                <a:solidFill>
                  <a:schemeClr val="tx1"/>
                </a:solidFill>
                <a:effectLst/>
                <a:latin typeface="Times New Roman" panose="02020603050405020304" pitchFamily="18" charset="0"/>
                <a:cs typeface="Times New Roman" panose="02020603050405020304" pitchFamily="18" charset="0"/>
              </a:rPr>
              <a:t>3.</a:t>
            </a:r>
            <a:r>
              <a:rPr lang="en-US" sz="1800" b="0" i="0" dirty="0">
                <a:solidFill>
                  <a:schemeClr val="tx1"/>
                </a:solidFill>
                <a:effectLst/>
                <a:latin typeface="Times New Roman" panose="02020603050405020304" pitchFamily="18" charset="0"/>
                <a:cs typeface="Times New Roman" panose="02020603050405020304" pitchFamily="18" charset="0"/>
              </a:rPr>
              <a:t> a string literal initialization of a character array </a:t>
            </a:r>
          </a:p>
          <a:p>
            <a:pPr marL="285750" indent="-285750"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char array[] = “</a:t>
            </a:r>
            <a:r>
              <a:rPr lang="en-US" sz="1800" b="0" i="0" dirty="0" err="1">
                <a:solidFill>
                  <a:schemeClr val="tx1"/>
                </a:solidFill>
                <a:effectLst/>
                <a:latin typeface="Times New Roman" panose="02020603050405020304" pitchFamily="18" charset="0"/>
                <a:cs typeface="Times New Roman" panose="02020603050405020304" pitchFamily="18" charset="0"/>
              </a:rPr>
              <a:t>abc</a:t>
            </a:r>
            <a:r>
              <a:rPr lang="en-US" sz="1800" b="0" i="0" dirty="0">
                <a:solidFill>
                  <a:schemeClr val="tx1"/>
                </a:solidFill>
                <a:effectLst/>
                <a:latin typeface="Times New Roman" panose="02020603050405020304" pitchFamily="18" charset="0"/>
                <a:cs typeface="Times New Roman" panose="02020603050405020304" pitchFamily="18" charset="0"/>
              </a:rPr>
              <a:t>” sets the first four elements in array to ‘a’, ‘b’, ‘c’, and ‘\0’ </a:t>
            </a:r>
          </a:p>
          <a:p>
            <a:pPr marL="285750" indent="-285750" algn="l" fontAlgn="base">
              <a:spcAft>
                <a:spcPts val="180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char *pointer = “</a:t>
            </a:r>
            <a:r>
              <a:rPr lang="en-US" sz="1800" b="0" i="0" dirty="0" err="1">
                <a:solidFill>
                  <a:schemeClr val="tx1"/>
                </a:solidFill>
                <a:effectLst/>
                <a:latin typeface="Times New Roman" panose="02020603050405020304" pitchFamily="18" charset="0"/>
                <a:cs typeface="Times New Roman" panose="02020603050405020304" pitchFamily="18" charset="0"/>
              </a:rPr>
              <a:t>abc</a:t>
            </a:r>
            <a:r>
              <a:rPr lang="en-US" sz="1800" b="0" i="0" dirty="0">
                <a:solidFill>
                  <a:schemeClr val="tx1"/>
                </a:solidFill>
                <a:effectLst/>
                <a:latin typeface="Times New Roman" panose="02020603050405020304" pitchFamily="18" charset="0"/>
                <a:cs typeface="Times New Roman" panose="02020603050405020304" pitchFamily="18" charset="0"/>
              </a:rPr>
              <a:t>” sets the pointer to the address of the “</a:t>
            </a:r>
            <a:r>
              <a:rPr lang="en-US" sz="1800" b="0" i="0" dirty="0" err="1">
                <a:solidFill>
                  <a:schemeClr val="tx1"/>
                </a:solidFill>
                <a:effectLst/>
                <a:latin typeface="Times New Roman" panose="02020603050405020304" pitchFamily="18" charset="0"/>
                <a:cs typeface="Times New Roman" panose="02020603050405020304" pitchFamily="18" charset="0"/>
              </a:rPr>
              <a:t>abc</a:t>
            </a:r>
            <a:r>
              <a:rPr lang="en-US" sz="1800" b="0" i="0" dirty="0">
                <a:solidFill>
                  <a:schemeClr val="tx1"/>
                </a:solidFill>
                <a:effectLst/>
                <a:latin typeface="Times New Roman" panose="02020603050405020304" pitchFamily="18" charset="0"/>
                <a:cs typeface="Times New Roman" panose="02020603050405020304" pitchFamily="18" charset="0"/>
              </a:rPr>
              <a:t>” string (which may be stored in read-only memory and thus unchangeable) </a:t>
            </a:r>
          </a:p>
        </p:txBody>
      </p:sp>
    </p:spTree>
    <p:extLst>
      <p:ext uri="{BB962C8B-B14F-4D97-AF65-F5344CB8AC3E}">
        <p14:creationId xmlns:p14="http://schemas.microsoft.com/office/powerpoint/2010/main" val="2698235649"/>
      </p:ext>
    </p:extLst>
  </p:cSld>
  <p:clrMapOvr>
    <a:masterClrMapping/>
  </p:clrMapOvr>
  <p:transition advTm="4000">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A02A8-5983-9515-E96A-1BFB1E589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63CB6-71FA-95B3-08DE-787B094D1C49}"/>
              </a:ext>
            </a:extLst>
          </p:cNvPr>
          <p:cNvSpPr>
            <a:spLocks noGrp="1"/>
          </p:cNvSpPr>
          <p:nvPr>
            <p:ph type="ctrTitle"/>
          </p:nvPr>
        </p:nvSpPr>
        <p:spPr/>
        <p:txBody>
          <a:bodyPr/>
          <a:lstStyle/>
          <a:p>
            <a:r>
              <a:rPr lang="en-US" dirty="0"/>
              <a:t>Pointer Vs Array in C</a:t>
            </a:r>
            <a:endParaRPr lang="en-IN" dirty="0"/>
          </a:p>
        </p:txBody>
      </p:sp>
      <p:sp>
        <p:nvSpPr>
          <p:cNvPr id="4" name="TextBox 3">
            <a:extLst>
              <a:ext uri="{FF2B5EF4-FFF2-40B4-BE49-F238E27FC236}">
                <a16:creationId xmlns:a16="http://schemas.microsoft.com/office/drawing/2014/main" id="{A6839C7A-C658-755B-A64A-FC9786D84105}"/>
              </a:ext>
            </a:extLst>
          </p:cNvPr>
          <p:cNvSpPr txBox="1"/>
          <p:nvPr/>
        </p:nvSpPr>
        <p:spPr>
          <a:xfrm>
            <a:off x="196645" y="914401"/>
            <a:ext cx="8750710" cy="5386090"/>
          </a:xfrm>
          <a:prstGeom prst="rect">
            <a:avLst/>
          </a:prstGeom>
          <a:noFill/>
        </p:spPr>
        <p:txBody>
          <a:bodyPr wrap="square">
            <a:spAutoFit/>
          </a:bodyPr>
          <a:lstStyle/>
          <a:p>
            <a:pPr algn="l" fontAlgn="base">
              <a:spcAft>
                <a:spcPts val="1800"/>
              </a:spcAft>
            </a:pPr>
            <a:r>
              <a:rPr lang="en-US" sz="2000" b="0" i="0" dirty="0">
                <a:solidFill>
                  <a:schemeClr val="tx1"/>
                </a:solidFill>
                <a:effectLst/>
                <a:latin typeface="Times New Roman" panose="02020603050405020304" pitchFamily="18" charset="0"/>
                <a:cs typeface="Times New Roman" panose="02020603050405020304" pitchFamily="18" charset="0"/>
              </a:rPr>
              <a:t>4. Pointer variable can be assigned a value whereas an array variable cannot be.</a:t>
            </a:r>
          </a:p>
          <a:p>
            <a:pPr algn="l" fontAlgn="base">
              <a:spcAft>
                <a:spcPts val="1800"/>
              </a:spcAft>
            </a:pPr>
            <a:r>
              <a:rPr lang="en-US" sz="2000" b="0" i="0" dirty="0">
                <a:solidFill>
                  <a:schemeClr val="tx1"/>
                </a:solidFill>
                <a:effectLst/>
                <a:latin typeface="Times New Roman" panose="02020603050405020304" pitchFamily="18" charset="0"/>
                <a:cs typeface="Times New Roman" panose="02020603050405020304" pitchFamily="18" charset="0"/>
              </a:rPr>
              <a:t>int a[10];</a:t>
            </a:r>
          </a:p>
          <a:p>
            <a:pPr algn="l" fontAlgn="base">
              <a:spcAft>
                <a:spcPts val="1800"/>
              </a:spcAft>
            </a:pPr>
            <a:r>
              <a:rPr lang="en-US" sz="2000" b="0" i="0" dirty="0">
                <a:solidFill>
                  <a:schemeClr val="tx1"/>
                </a:solidFill>
                <a:effectLst/>
                <a:latin typeface="Times New Roman" panose="02020603050405020304" pitchFamily="18" charset="0"/>
                <a:cs typeface="Times New Roman" panose="02020603050405020304" pitchFamily="18" charset="0"/>
              </a:rPr>
              <a:t>int *p; </a:t>
            </a:r>
          </a:p>
          <a:p>
            <a:pPr algn="l" fontAlgn="base">
              <a:spcAft>
                <a:spcPts val="1800"/>
              </a:spcAft>
            </a:pPr>
            <a:r>
              <a:rPr lang="en-US" sz="2000" b="0" i="0" dirty="0">
                <a:solidFill>
                  <a:schemeClr val="tx1"/>
                </a:solidFill>
                <a:effectLst/>
                <a:latin typeface="Times New Roman" panose="02020603050405020304" pitchFamily="18" charset="0"/>
                <a:cs typeface="Times New Roman" panose="02020603050405020304" pitchFamily="18" charset="0"/>
              </a:rPr>
              <a:t>p=a; /*legal*/</a:t>
            </a:r>
          </a:p>
          <a:p>
            <a:pPr algn="l" fontAlgn="base">
              <a:spcAft>
                <a:spcPts val="1800"/>
              </a:spcAft>
            </a:pPr>
            <a:r>
              <a:rPr lang="en-US" sz="2400" b="0" i="0" dirty="0">
                <a:solidFill>
                  <a:srgbClr val="273239"/>
                </a:solidFill>
                <a:effectLst/>
                <a:latin typeface="Times New Roman" panose="02020603050405020304" pitchFamily="18" charset="0"/>
                <a:cs typeface="Times New Roman" panose="02020603050405020304" pitchFamily="18" charset="0"/>
              </a:rPr>
              <a:t>a=p; /*illegal*/ </a:t>
            </a:r>
          </a:p>
          <a:p>
            <a:pPr algn="l" fontAlgn="base">
              <a:spcAft>
                <a:spcPts val="1800"/>
              </a:spcAft>
            </a:pPr>
            <a:r>
              <a:rPr lang="en-US" sz="2400" b="0" i="0" dirty="0">
                <a:solidFill>
                  <a:srgbClr val="273239"/>
                </a:solidFill>
                <a:effectLst/>
                <a:latin typeface="Nunito" pitchFamily="2" charset="0"/>
              </a:rPr>
              <a:t>5. Arithmetic on pointer variable is allowed. </a:t>
            </a:r>
          </a:p>
          <a:p>
            <a:pPr algn="l" fontAlgn="base">
              <a:spcAft>
                <a:spcPts val="1800"/>
              </a:spcAft>
            </a:pPr>
            <a:r>
              <a:rPr lang="en-US" sz="2400" b="0" i="0" dirty="0">
                <a:solidFill>
                  <a:srgbClr val="273239"/>
                </a:solidFill>
                <a:effectLst/>
                <a:latin typeface="Nunito" pitchFamily="2" charset="0"/>
              </a:rPr>
              <a:t>p++; /*Legal*/</a:t>
            </a:r>
          </a:p>
          <a:p>
            <a:pPr algn="l" fontAlgn="base">
              <a:spcAft>
                <a:spcPts val="1800"/>
              </a:spcAft>
            </a:pPr>
            <a:r>
              <a:rPr lang="en-US" sz="2400" b="0" i="0" dirty="0">
                <a:solidFill>
                  <a:srgbClr val="273239"/>
                </a:solidFill>
                <a:effectLst/>
                <a:latin typeface="Nunito" pitchFamily="2" charset="0"/>
              </a:rPr>
              <a:t>a++; /*illegal*/ </a:t>
            </a:r>
          </a:p>
          <a:p>
            <a:pPr algn="l" fontAlgn="base">
              <a:spcAft>
                <a:spcPts val="1800"/>
              </a:spcAft>
            </a:pPr>
            <a:r>
              <a:rPr lang="en-US" sz="2400" b="0" i="0" dirty="0">
                <a:solidFill>
                  <a:srgbClr val="273239"/>
                </a:solidFill>
                <a:effectLst/>
                <a:latin typeface="Nunito" pitchFamily="2" charset="0"/>
              </a:rPr>
              <a:t>6. Array is a collection of similar data types while the pointer variable stores the address of another variable.</a:t>
            </a:r>
            <a:endParaRPr lang="en-US" sz="1200" b="0" i="0" dirty="0">
              <a:solidFill>
                <a:srgbClr val="273239"/>
              </a:solidFill>
              <a:effectLst/>
              <a:latin typeface="Nunito" pitchFamily="2" charset="0"/>
            </a:endParaRPr>
          </a:p>
        </p:txBody>
      </p:sp>
    </p:spTree>
    <p:extLst>
      <p:ext uri="{BB962C8B-B14F-4D97-AF65-F5344CB8AC3E}">
        <p14:creationId xmlns:p14="http://schemas.microsoft.com/office/powerpoint/2010/main" val="2534404705"/>
      </p:ext>
    </p:extLst>
  </p:cSld>
  <p:clrMapOvr>
    <a:masterClrMapping/>
  </p:clrMapOvr>
  <p:transition advTm="4000">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EB4C5-52C0-F10E-AEDA-1CD2FDC1AD44}"/>
              </a:ext>
            </a:extLst>
          </p:cNvPr>
          <p:cNvSpPr>
            <a:spLocks noGrp="1"/>
          </p:cNvSpPr>
          <p:nvPr>
            <p:ph type="ctrTitle"/>
          </p:nvPr>
        </p:nvSpPr>
        <p:spPr>
          <a:xfrm>
            <a:off x="0" y="1"/>
            <a:ext cx="6390968" cy="914400"/>
          </a:xfrm>
        </p:spPr>
        <p:txBody>
          <a:bodyPr/>
          <a:lstStyle/>
          <a:p>
            <a:r>
              <a:rPr lang="en-US" dirty="0"/>
              <a:t>Passing Pointers to Functions in C</a:t>
            </a:r>
            <a:endParaRPr lang="en-IN" dirty="0"/>
          </a:p>
        </p:txBody>
      </p:sp>
      <p:sp>
        <p:nvSpPr>
          <p:cNvPr id="3" name="Subtitle 2">
            <a:extLst>
              <a:ext uri="{FF2B5EF4-FFF2-40B4-BE49-F238E27FC236}">
                <a16:creationId xmlns:a16="http://schemas.microsoft.com/office/drawing/2014/main" id="{543BEE07-F99C-83C5-4D5A-A49CAC8C09C6}"/>
              </a:ext>
            </a:extLst>
          </p:cNvPr>
          <p:cNvSpPr>
            <a:spLocks noGrp="1"/>
          </p:cNvSpPr>
          <p:nvPr>
            <p:ph type="subTitle" idx="1"/>
          </p:nvPr>
        </p:nvSpPr>
        <p:spPr/>
        <p:txBody>
          <a:bodyPr/>
          <a:lstStyle/>
          <a:p>
            <a:pPr algn="just">
              <a:buFont typeface="Arial" panose="020B0604020202020204" pitchFamily="34" charset="0"/>
              <a:buChar char="•"/>
            </a:pPr>
            <a:r>
              <a:rPr lang="en-US" sz="2400" dirty="0">
                <a:solidFill>
                  <a:schemeClr val="tx1"/>
                </a:solidFill>
              </a:rPr>
              <a:t>Passing the pointers to the function means the memory location of the variables is passed to the parameters in the function, and then the operations are performed. The function definition accepts these addresses using pointers, addresses are stored using pointers.</a:t>
            </a:r>
          </a:p>
          <a:p>
            <a:pPr algn="just">
              <a:buFont typeface="Arial" panose="020B0604020202020204" pitchFamily="34" charset="0"/>
              <a:buChar char="•"/>
            </a:pPr>
            <a:r>
              <a:rPr lang="en-IN" sz="2400" b="1" dirty="0">
                <a:solidFill>
                  <a:schemeClr val="tx1"/>
                </a:solidFill>
              </a:rPr>
              <a:t>Arguments Passing without pointer: </a:t>
            </a:r>
            <a:r>
              <a:rPr lang="en-US" sz="2400" dirty="0">
                <a:solidFill>
                  <a:schemeClr val="tx1"/>
                </a:solidFill>
              </a:rPr>
              <a:t>When we pass arguments without pointers the changes made by the function would be done to the local variables of the function.</a:t>
            </a:r>
            <a:endParaRPr lang="en-IN" sz="2400" dirty="0">
              <a:solidFill>
                <a:schemeClr val="tx1"/>
              </a:solidFill>
            </a:endParaRPr>
          </a:p>
        </p:txBody>
      </p:sp>
    </p:spTree>
    <p:extLst>
      <p:ext uri="{BB962C8B-B14F-4D97-AF65-F5344CB8AC3E}">
        <p14:creationId xmlns:p14="http://schemas.microsoft.com/office/powerpoint/2010/main" val="2030141929"/>
      </p:ext>
    </p:extLst>
  </p:cSld>
  <p:clrMapOvr>
    <a:masterClrMapping/>
  </p:clrMapOvr>
  <p:transition advTm="4000">
    <p:cut/>
  </p:transition>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E0A62-E92A-8664-0AC6-F3C6F191F125}"/>
              </a:ext>
            </a:extLst>
          </p:cNvPr>
          <p:cNvSpPr>
            <a:spLocks noGrp="1"/>
          </p:cNvSpPr>
          <p:nvPr>
            <p:ph type="ctrTitle"/>
          </p:nvPr>
        </p:nvSpPr>
        <p:spPr>
          <a:xfrm>
            <a:off x="0" y="1"/>
            <a:ext cx="6341806" cy="914400"/>
          </a:xfrm>
        </p:spPr>
        <p:txBody>
          <a:bodyPr/>
          <a:lstStyle/>
          <a:p>
            <a:r>
              <a:rPr lang="en-IN" dirty="0"/>
              <a:t>Arguments Passing without pointer</a:t>
            </a:r>
          </a:p>
        </p:txBody>
      </p:sp>
      <p:sp>
        <p:nvSpPr>
          <p:cNvPr id="4" name="Rectangle 2">
            <a:extLst>
              <a:ext uri="{FF2B5EF4-FFF2-40B4-BE49-F238E27FC236}">
                <a16:creationId xmlns:a16="http://schemas.microsoft.com/office/drawing/2014/main" id="{0411DB9E-A563-9CC8-69F8-828D9EB3B5AD}"/>
              </a:ext>
            </a:extLst>
          </p:cNvPr>
          <p:cNvSpPr>
            <a:spLocks noGrp="1" noChangeArrowheads="1"/>
          </p:cNvSpPr>
          <p:nvPr>
            <p:ph type="subTitle" idx="1"/>
          </p:nvPr>
        </p:nvSpPr>
        <p:spPr bwMode="auto">
          <a:xfrm>
            <a:off x="159774" y="914401"/>
            <a:ext cx="8153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8200"/>
                </a:solidFill>
                <a:effectLst/>
                <a:latin typeface="Consolas" panose="020B0609020204030204" pitchFamily="49" charset="0"/>
              </a:rPr>
              <a:t>// C program to swap two values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8200"/>
                </a:solidFill>
                <a:effectLst/>
                <a:latin typeface="Consolas" panose="020B0609020204030204" pitchFamily="49" charset="0"/>
              </a:rPr>
              <a:t>//  without passing pointer to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8200"/>
                </a:solidFill>
                <a:effectLst/>
                <a:latin typeface="Consolas" panose="020B0609020204030204" pitchFamily="49" charset="0"/>
              </a:rPr>
              <a:t>// swap function.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808080"/>
                </a:solidFill>
                <a:effectLst/>
                <a:latin typeface="Consolas" panose="020B0609020204030204" pitchFamily="49" charset="0"/>
              </a:rPr>
              <a:t>#include &lt;</a:t>
            </a:r>
            <a:r>
              <a:rPr kumimoji="0" lang="en-US" altLang="en-US" sz="1100" b="0" i="0" u="none" strike="noStrike" cap="none" normalizeH="0" baseline="0" dirty="0" err="1">
                <a:ln>
                  <a:noFill/>
                </a:ln>
                <a:solidFill>
                  <a:srgbClr val="808080"/>
                </a:solidFill>
                <a:effectLst/>
                <a:latin typeface="Consolas" panose="020B0609020204030204" pitchFamily="49" charset="0"/>
              </a:rPr>
              <a:t>stdio.h</a:t>
            </a:r>
            <a:r>
              <a:rPr kumimoji="0" lang="en-US" altLang="en-US" sz="1100" b="0" i="0" u="none" strike="noStrike" cap="none" normalizeH="0" baseline="0" dirty="0">
                <a:ln>
                  <a:noFill/>
                </a:ln>
                <a:solidFill>
                  <a:srgbClr val="808080"/>
                </a:solidFill>
                <a:effectLst/>
                <a:latin typeface="Consolas" panose="020B0609020204030204" pitchFamily="49" charset="0"/>
              </a:rPr>
              <a:t>&gt;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6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6699"/>
                </a:solidFill>
                <a:effectLst/>
                <a:latin typeface="Consolas" panose="020B0609020204030204" pitchFamily="49" charset="0"/>
              </a:rPr>
              <a:t>void</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swap(</a:t>
            </a:r>
            <a:r>
              <a:rPr kumimoji="0" lang="en-US" altLang="en-US" sz="1100" b="1" i="0" u="none" strike="noStrike" cap="none" normalizeH="0" baseline="0" dirty="0">
                <a:ln>
                  <a:noFill/>
                </a:ln>
                <a:solidFill>
                  <a:srgbClr val="808080"/>
                </a:solidFill>
                <a:effectLst/>
                <a:latin typeface="Consolas" panose="020B0609020204030204" pitchFamily="49" charset="0"/>
              </a:rPr>
              <a:t>int</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 </a:t>
            </a:r>
            <a:r>
              <a:rPr kumimoji="0" lang="en-US" altLang="en-US" sz="1100" b="1" i="0" u="none" strike="noStrike" cap="none" normalizeH="0" baseline="0" dirty="0">
                <a:ln>
                  <a:noFill/>
                </a:ln>
                <a:solidFill>
                  <a:srgbClr val="808080"/>
                </a:solidFill>
                <a:effectLst/>
                <a:latin typeface="Consolas" panose="020B0609020204030204" pitchFamily="49" charset="0"/>
              </a:rPr>
              <a:t>int</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b)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a:ln>
                  <a:noFill/>
                </a:ln>
                <a:solidFill>
                  <a:srgbClr val="808080"/>
                </a:solidFill>
                <a:effectLst/>
                <a:latin typeface="Consolas" panose="020B0609020204030204" pitchFamily="49" charset="0"/>
              </a:rPr>
              <a:t>int</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temp = a;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 = b;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b = temp;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6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8200"/>
                </a:solidFill>
                <a:effectLst/>
                <a:latin typeface="Consolas" panose="020B0609020204030204" pitchFamily="49" charset="0"/>
              </a:rPr>
              <a:t>// Driver code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808080"/>
                </a:solidFill>
                <a:effectLst/>
                <a:latin typeface="Consolas" panose="020B0609020204030204" pitchFamily="49" charset="0"/>
              </a:rPr>
              <a:t>int</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main()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a:ln>
                  <a:noFill/>
                </a:ln>
                <a:solidFill>
                  <a:srgbClr val="808080"/>
                </a:solidFill>
                <a:effectLst/>
                <a:latin typeface="Consolas" panose="020B0609020204030204" pitchFamily="49" charset="0"/>
              </a:rPr>
              <a:t>int</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 = 10, b = 20;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swap(a, b);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err="1">
                <a:ln>
                  <a:noFill/>
                </a:ln>
                <a:solidFill>
                  <a:srgbClr val="FF1493"/>
                </a:solidFill>
                <a:effectLst/>
                <a:latin typeface="Consolas" panose="020B0609020204030204" pitchFamily="49" charset="0"/>
              </a:rPr>
              <a:t>printf</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"Values after swap function are: %d, %d"</a:t>
            </a: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 b);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return</a:t>
            </a:r>
            <a:r>
              <a:rPr kumimoji="0" lang="en-US" altLang="en-US" sz="6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0;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CD480767-4FB9-6CE9-C776-99CB96540515}"/>
              </a:ext>
            </a:extLst>
          </p:cNvPr>
          <p:cNvSpPr>
            <a:spLocks noChangeArrowheads="1"/>
          </p:cNvSpPr>
          <p:nvPr/>
        </p:nvSpPr>
        <p:spPr bwMode="auto">
          <a:xfrm>
            <a:off x="5466736" y="3709457"/>
            <a:ext cx="3382296" cy="24876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Values after swap function are: 10, 20</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6FA6D9C-BC2F-55D3-92DC-E017D61DBD4E}"/>
              </a:ext>
            </a:extLst>
          </p:cNvPr>
          <p:cNvSpPr txBox="1"/>
          <p:nvPr/>
        </p:nvSpPr>
        <p:spPr>
          <a:xfrm>
            <a:off x="5466736" y="3276601"/>
            <a:ext cx="1021433" cy="307777"/>
          </a:xfrm>
          <a:prstGeom prst="rect">
            <a:avLst/>
          </a:prstGeom>
          <a:noFill/>
        </p:spPr>
        <p:txBody>
          <a:bodyPr wrap="none" rtlCol="0">
            <a:spAutoFit/>
          </a:bodyPr>
          <a:lstStyle/>
          <a:p>
            <a:r>
              <a:rPr lang="en-US" b="1" dirty="0"/>
              <a:t>OUTPUT: </a:t>
            </a:r>
            <a:endParaRPr lang="en-IN" b="1" dirty="0"/>
          </a:p>
        </p:txBody>
      </p:sp>
    </p:spTree>
    <p:extLst>
      <p:ext uri="{BB962C8B-B14F-4D97-AF65-F5344CB8AC3E}">
        <p14:creationId xmlns:p14="http://schemas.microsoft.com/office/powerpoint/2010/main" val="4280222716"/>
      </p:ext>
    </p:extLst>
  </p:cSld>
  <p:clrMapOvr>
    <a:masterClrMapping/>
  </p:clrMapOvr>
  <p:transition advTm="4000">
    <p:cut/>
  </p:transition>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5E3656C6-423F-05AB-20C8-E4446FCC2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D1478-27AF-5678-8B28-6EC067DAD94C}"/>
              </a:ext>
            </a:extLst>
          </p:cNvPr>
          <p:cNvSpPr>
            <a:spLocks noGrp="1"/>
          </p:cNvSpPr>
          <p:nvPr>
            <p:ph type="ctrTitle"/>
          </p:nvPr>
        </p:nvSpPr>
        <p:spPr>
          <a:xfrm>
            <a:off x="0" y="1"/>
            <a:ext cx="6341806" cy="914400"/>
          </a:xfrm>
        </p:spPr>
        <p:txBody>
          <a:bodyPr/>
          <a:lstStyle/>
          <a:p>
            <a:r>
              <a:rPr lang="en-IN" dirty="0"/>
              <a:t>Arguments Passing with pointers</a:t>
            </a:r>
          </a:p>
        </p:txBody>
      </p:sp>
      <p:sp>
        <p:nvSpPr>
          <p:cNvPr id="6" name="TextBox 5">
            <a:extLst>
              <a:ext uri="{FF2B5EF4-FFF2-40B4-BE49-F238E27FC236}">
                <a16:creationId xmlns:a16="http://schemas.microsoft.com/office/drawing/2014/main" id="{66941CC9-4625-5C4E-A5D8-499FB6808D77}"/>
              </a:ext>
            </a:extLst>
          </p:cNvPr>
          <p:cNvSpPr txBox="1"/>
          <p:nvPr/>
        </p:nvSpPr>
        <p:spPr>
          <a:xfrm>
            <a:off x="5466736" y="3276601"/>
            <a:ext cx="1021433" cy="307777"/>
          </a:xfrm>
          <a:prstGeom prst="rect">
            <a:avLst/>
          </a:prstGeom>
          <a:noFill/>
        </p:spPr>
        <p:txBody>
          <a:bodyPr wrap="none" rtlCol="0">
            <a:spAutoFit/>
          </a:bodyPr>
          <a:lstStyle/>
          <a:p>
            <a:r>
              <a:rPr lang="en-US" b="1" dirty="0"/>
              <a:t>OUTPUT: </a:t>
            </a:r>
            <a:endParaRPr lang="en-IN" b="1" dirty="0"/>
          </a:p>
        </p:txBody>
      </p:sp>
      <p:sp>
        <p:nvSpPr>
          <p:cNvPr id="7" name="Rectangle 3">
            <a:extLst>
              <a:ext uri="{FF2B5EF4-FFF2-40B4-BE49-F238E27FC236}">
                <a16:creationId xmlns:a16="http://schemas.microsoft.com/office/drawing/2014/main" id="{21759504-382B-0D1F-95CF-C78218D602AB}"/>
              </a:ext>
            </a:extLst>
          </p:cNvPr>
          <p:cNvSpPr>
            <a:spLocks noGrp="1" noChangeArrowheads="1"/>
          </p:cNvSpPr>
          <p:nvPr>
            <p:ph type="subTitle" idx="1"/>
          </p:nvPr>
        </p:nvSpPr>
        <p:spPr bwMode="auto">
          <a:xfrm>
            <a:off x="160338" y="3138488"/>
            <a:ext cx="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8200"/>
                </a:solidFill>
                <a:effectLst/>
                <a:latin typeface="Consolas" panose="020B0609020204030204" pitchFamily="49" charset="0"/>
              </a:rPr>
              <a:t>// C program to swap two values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8200"/>
                </a:solidFill>
                <a:effectLst/>
                <a:latin typeface="Consolas" panose="020B0609020204030204" pitchFamily="49" charset="0"/>
              </a:rPr>
              <a:t>// without passing pointer to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8200"/>
                </a:solidFill>
                <a:effectLst/>
                <a:latin typeface="Consolas" panose="020B0609020204030204" pitchFamily="49" charset="0"/>
              </a:rPr>
              <a:t>// swap function.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808080"/>
                </a:solidFill>
                <a:effectLst/>
                <a:latin typeface="Consolas" panose="020B0609020204030204" pitchFamily="49" charset="0"/>
              </a:rPr>
              <a:t>#include &lt;stdio.h&gt;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600" b="0" i="0" u="none" strike="noStrike" cap="none" normalizeH="0" baseline="0">
                <a:ln>
                  <a:noFill/>
                </a:ln>
                <a:solidFill>
                  <a:srgbClr val="273239"/>
                </a:solidFill>
                <a:effectLst/>
                <a:latin typeface="Consolas" panose="020B0609020204030204" pitchFamily="49"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6699"/>
                </a:solidFill>
                <a:effectLst/>
                <a:latin typeface="Consolas" panose="020B0609020204030204" pitchFamily="49" charset="0"/>
              </a:rPr>
              <a:t>void</a:t>
            </a:r>
            <a:r>
              <a:rPr kumimoji="0" lang="en-US" altLang="en-US" sz="6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swap(</a:t>
            </a:r>
            <a:r>
              <a:rPr kumimoji="0" lang="en-US" altLang="en-US" sz="1100" b="1" i="0" u="none" strike="noStrike" cap="none" normalizeH="0" baseline="0">
                <a:ln>
                  <a:noFill/>
                </a:ln>
                <a:solidFill>
                  <a:srgbClr val="808080"/>
                </a:solidFill>
                <a:effectLst/>
                <a:latin typeface="Consolas" panose="020B0609020204030204" pitchFamily="49" charset="0"/>
              </a:rPr>
              <a:t>int</a:t>
            </a:r>
            <a:r>
              <a:rPr kumimoji="0" lang="en-US" altLang="en-US" sz="1100" b="0" i="0" u="none" strike="noStrike" cap="none" normalizeH="0" baseline="0">
                <a:ln>
                  <a:noFill/>
                </a:ln>
                <a:solidFill>
                  <a:srgbClr val="000000"/>
                </a:solidFill>
                <a:effectLst/>
                <a:latin typeface="Consolas" panose="020B0609020204030204" pitchFamily="49" charset="0"/>
              </a:rPr>
              <a:t>* a, </a:t>
            </a:r>
            <a:r>
              <a:rPr kumimoji="0" lang="en-US" altLang="en-US" sz="1100" b="1" i="0" u="none" strike="noStrike" cap="none" normalizeH="0" baseline="0">
                <a:ln>
                  <a:noFill/>
                </a:ln>
                <a:solidFill>
                  <a:srgbClr val="808080"/>
                </a:solidFill>
                <a:effectLst/>
                <a:latin typeface="Consolas" panose="020B0609020204030204" pitchFamily="49" charset="0"/>
              </a:rPr>
              <a:t>int</a:t>
            </a:r>
            <a:r>
              <a:rPr kumimoji="0" lang="en-US" altLang="en-US" sz="1100" b="0" i="0" u="none" strike="noStrike" cap="none" normalizeH="0" baseline="0">
                <a:ln>
                  <a:noFill/>
                </a:ln>
                <a:solidFill>
                  <a:srgbClr val="000000"/>
                </a:solidFill>
                <a:effectLst/>
                <a:latin typeface="Consolas" panose="020B0609020204030204" pitchFamily="49" charset="0"/>
              </a:rPr>
              <a:t>* b)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onsolas" panose="020B0609020204030204" pitchFamily="49"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1" i="0" u="none" strike="noStrike" cap="none" normalizeH="0" baseline="0">
                <a:ln>
                  <a:noFill/>
                </a:ln>
                <a:solidFill>
                  <a:srgbClr val="808080"/>
                </a:solidFill>
                <a:effectLst/>
                <a:latin typeface="Consolas" panose="020B0609020204030204" pitchFamily="49" charset="0"/>
              </a:rPr>
              <a:t>int</a:t>
            </a:r>
            <a:r>
              <a:rPr kumimoji="0" lang="en-US" altLang="en-US" sz="6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temp;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temp = *a;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*a = *b;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*b = temp;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onsolas" panose="020B0609020204030204" pitchFamily="49"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600" b="0" i="0" u="none" strike="noStrike" cap="none" normalizeH="0" baseline="0">
                <a:ln>
                  <a:noFill/>
                </a:ln>
                <a:solidFill>
                  <a:srgbClr val="273239"/>
                </a:solidFill>
                <a:effectLst/>
                <a:latin typeface="Consolas" panose="020B0609020204030204" pitchFamily="49"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8200"/>
                </a:solidFill>
                <a:effectLst/>
                <a:latin typeface="Consolas" panose="020B0609020204030204" pitchFamily="49" charset="0"/>
              </a:rPr>
              <a:t>// Driver code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808080"/>
                </a:solidFill>
                <a:effectLst/>
                <a:latin typeface="Consolas" panose="020B0609020204030204" pitchFamily="49" charset="0"/>
              </a:rPr>
              <a:t>int</a:t>
            </a:r>
            <a:r>
              <a:rPr kumimoji="0" lang="en-US" altLang="en-US" sz="6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main()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onsolas" panose="020B0609020204030204" pitchFamily="49"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1" i="0" u="none" strike="noStrike" cap="none" normalizeH="0" baseline="0">
                <a:ln>
                  <a:noFill/>
                </a:ln>
                <a:solidFill>
                  <a:srgbClr val="808080"/>
                </a:solidFill>
                <a:effectLst/>
                <a:latin typeface="Consolas" panose="020B0609020204030204" pitchFamily="49" charset="0"/>
              </a:rPr>
              <a:t>int</a:t>
            </a:r>
            <a:r>
              <a:rPr kumimoji="0" lang="en-US" altLang="en-US" sz="6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a = 10, b = 20;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1" i="0" u="none" strike="noStrike" cap="none" normalizeH="0" baseline="0">
                <a:ln>
                  <a:noFill/>
                </a:ln>
                <a:solidFill>
                  <a:srgbClr val="FF1493"/>
                </a:solidFill>
                <a:effectLst/>
                <a:latin typeface="Consolas" panose="020B0609020204030204" pitchFamily="49" charset="0"/>
              </a:rPr>
              <a:t>printf</a:t>
            </a:r>
            <a:r>
              <a:rPr kumimoji="0" lang="en-US" altLang="en-US" sz="1100" b="0" i="0" u="none" strike="noStrike" cap="none" normalizeH="0" baseline="0">
                <a:ln>
                  <a:noFill/>
                </a:ln>
                <a:solidFill>
                  <a:srgbClr val="000000"/>
                </a:solidFill>
                <a:effectLst/>
                <a:latin typeface="Consolas" panose="020B0609020204030204" pitchFamily="49" charset="0"/>
              </a:rPr>
              <a:t>(</a:t>
            </a:r>
            <a:r>
              <a:rPr kumimoji="0" lang="en-US" altLang="en-US" sz="1100" b="0" i="0" u="none" strike="noStrike" cap="none" normalizeH="0" baseline="0">
                <a:ln>
                  <a:noFill/>
                </a:ln>
                <a:solidFill>
                  <a:srgbClr val="0000FF"/>
                </a:solidFill>
                <a:effectLst/>
                <a:latin typeface="Consolas" panose="020B0609020204030204" pitchFamily="49" charset="0"/>
              </a:rPr>
              <a:t>"Values before swap function are: %d, %d\n"</a:t>
            </a:r>
            <a:r>
              <a:rPr kumimoji="0" lang="en-US" altLang="en-US" sz="1100" b="0" i="0" u="none" strike="noStrike" cap="none" normalizeH="0" baseline="0">
                <a:ln>
                  <a:noFill/>
                </a:ln>
                <a:solidFill>
                  <a:srgbClr val="000000"/>
                </a:solidFill>
                <a:effectLst/>
                <a:latin typeface="Consolas" panose="020B0609020204030204" pitchFamily="49"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a, b);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swap(&amp;a, &amp;b);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1" i="0" u="none" strike="noStrike" cap="none" normalizeH="0" baseline="0">
                <a:ln>
                  <a:noFill/>
                </a:ln>
                <a:solidFill>
                  <a:srgbClr val="FF1493"/>
                </a:solidFill>
                <a:effectLst/>
                <a:latin typeface="Consolas" panose="020B0609020204030204" pitchFamily="49" charset="0"/>
              </a:rPr>
              <a:t>printf</a:t>
            </a:r>
            <a:r>
              <a:rPr kumimoji="0" lang="en-US" altLang="en-US" sz="1100" b="0" i="0" u="none" strike="noStrike" cap="none" normalizeH="0" baseline="0">
                <a:ln>
                  <a:noFill/>
                </a:ln>
                <a:solidFill>
                  <a:srgbClr val="000000"/>
                </a:solidFill>
                <a:effectLst/>
                <a:latin typeface="Consolas" panose="020B0609020204030204" pitchFamily="49" charset="0"/>
              </a:rPr>
              <a:t>(</a:t>
            </a:r>
            <a:r>
              <a:rPr kumimoji="0" lang="en-US" altLang="en-US" sz="1100" b="0" i="0" u="none" strike="noStrike" cap="none" normalizeH="0" baseline="0">
                <a:ln>
                  <a:noFill/>
                </a:ln>
                <a:solidFill>
                  <a:srgbClr val="0000FF"/>
                </a:solidFill>
                <a:effectLst/>
                <a:latin typeface="Consolas" panose="020B0609020204030204" pitchFamily="49" charset="0"/>
              </a:rPr>
              <a:t>"Values after swap function are: %d, %d"</a:t>
            </a:r>
            <a:r>
              <a:rPr kumimoji="0" lang="en-US" altLang="en-US" sz="1100" b="0" i="0" u="none" strike="noStrike" cap="none" normalizeH="0" baseline="0">
                <a:ln>
                  <a:noFill/>
                </a:ln>
                <a:solidFill>
                  <a:srgbClr val="000000"/>
                </a:solidFill>
                <a:effectLst/>
                <a:latin typeface="Consolas" panose="020B0609020204030204" pitchFamily="49"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a, b);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73239"/>
                </a:solidFill>
                <a:effectLst/>
                <a:latin typeface="Consolas" panose="020B0609020204030204" pitchFamily="49" charset="0"/>
              </a:rPr>
              <a:t>  </a:t>
            </a:r>
            <a:r>
              <a:rPr kumimoji="0" lang="en-US" altLang="en-US" sz="1100" b="1" i="0" u="none" strike="noStrike" cap="none" normalizeH="0" baseline="0">
                <a:ln>
                  <a:noFill/>
                </a:ln>
                <a:solidFill>
                  <a:srgbClr val="006699"/>
                </a:solidFill>
                <a:effectLst/>
                <a:latin typeface="Consolas" panose="020B0609020204030204" pitchFamily="49" charset="0"/>
              </a:rPr>
              <a:t>return</a:t>
            </a:r>
            <a:r>
              <a:rPr kumimoji="0" lang="en-US" altLang="en-US" sz="600" b="0" i="0" u="none" strike="noStrike" cap="none" normalizeH="0" baseline="0">
                <a:ln>
                  <a:noFill/>
                </a:ln>
                <a:solidFill>
                  <a:srgbClr val="273239"/>
                </a:solidFill>
                <a:effectLst/>
                <a:latin typeface="Consolas" panose="020B0609020204030204" pitchFamily="49" charset="0"/>
              </a:rPr>
              <a:t> </a:t>
            </a:r>
            <a:r>
              <a:rPr kumimoji="0" lang="en-US" altLang="en-US" sz="1100" b="0" i="0" u="none" strike="noStrike" cap="none" normalizeH="0" baseline="0">
                <a:ln>
                  <a:noFill/>
                </a:ln>
                <a:solidFill>
                  <a:srgbClr val="000000"/>
                </a:solidFill>
                <a:effectLst/>
                <a:latin typeface="Consolas" panose="020B0609020204030204" pitchFamily="49" charset="0"/>
              </a:rPr>
              <a:t>0;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onsolas" panose="020B0609020204030204" pitchFamily="49"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A5995F93-4716-2B4A-54F5-CAC7C32EF8C1}"/>
              </a:ext>
            </a:extLst>
          </p:cNvPr>
          <p:cNvSpPr>
            <a:spLocks noChangeArrowheads="1"/>
          </p:cNvSpPr>
          <p:nvPr/>
        </p:nvSpPr>
        <p:spPr bwMode="auto">
          <a:xfrm>
            <a:off x="4945626" y="3786972"/>
            <a:ext cx="3775587" cy="43343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onsolas" panose="020B0609020204030204" pitchFamily="49" charset="0"/>
              </a:rPr>
              <a:t>Values before swap function are: 10, 20 Values after swap function are: 20, 10</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5484AF4-346B-BCAF-CD6F-A81695FEEEE3}"/>
              </a:ext>
            </a:extLst>
          </p:cNvPr>
          <p:cNvSpPr txBox="1"/>
          <p:nvPr/>
        </p:nvSpPr>
        <p:spPr>
          <a:xfrm>
            <a:off x="3328219" y="1147818"/>
            <a:ext cx="5471651" cy="1169551"/>
          </a:xfrm>
          <a:prstGeom prst="rect">
            <a:avLst/>
          </a:prstGeom>
          <a:noFill/>
        </p:spPr>
        <p:txBody>
          <a:bodyPr wrap="square">
            <a:spAutoFit/>
          </a:bodyPr>
          <a:lstStyle/>
          <a:p>
            <a:pPr algn="just"/>
            <a:r>
              <a:rPr lang="en-US" b="0" i="0" dirty="0">
                <a:solidFill>
                  <a:schemeClr val="tx1"/>
                </a:solidFill>
                <a:effectLst/>
                <a:latin typeface="Nunito" pitchFamily="2" charset="0"/>
              </a:rPr>
              <a:t>A pointer to a function is passed in this example. As an argument, a pointer is passed instead of a variable and its address is passed instead of its value. As a result, any change made by the function using the pointer is permanently stored at the address of the passed variable. In C, this is referred to as call by reference.</a:t>
            </a:r>
            <a:endParaRPr lang="en-IN" dirty="0">
              <a:solidFill>
                <a:schemeClr val="tx1"/>
              </a:solidFill>
            </a:endParaRPr>
          </a:p>
        </p:txBody>
      </p:sp>
    </p:spTree>
    <p:extLst>
      <p:ext uri="{BB962C8B-B14F-4D97-AF65-F5344CB8AC3E}">
        <p14:creationId xmlns:p14="http://schemas.microsoft.com/office/powerpoint/2010/main" val="974475099"/>
      </p:ext>
    </p:extLst>
  </p:cSld>
  <p:clrMapOvr>
    <a:masterClrMapping/>
  </p:clrMapOvr>
  <p:transition advTm="4000">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AC47-C662-5CA6-4D47-25659B5433A6}"/>
              </a:ext>
            </a:extLst>
          </p:cNvPr>
          <p:cNvSpPr>
            <a:spLocks noGrp="1"/>
          </p:cNvSpPr>
          <p:nvPr>
            <p:ph type="ctrTitle"/>
          </p:nvPr>
        </p:nvSpPr>
        <p:spPr>
          <a:xfrm>
            <a:off x="0" y="1"/>
            <a:ext cx="6263148" cy="914400"/>
          </a:xfrm>
        </p:spPr>
        <p:txBody>
          <a:bodyPr/>
          <a:lstStyle/>
          <a:p>
            <a:r>
              <a:rPr lang="en-US" dirty="0"/>
              <a:t>Dynamic Memory Allocation in C</a:t>
            </a:r>
            <a:endParaRPr lang="en-IN" dirty="0"/>
          </a:p>
        </p:txBody>
      </p:sp>
      <p:sp>
        <p:nvSpPr>
          <p:cNvPr id="3" name="Subtitle 2">
            <a:extLst>
              <a:ext uri="{FF2B5EF4-FFF2-40B4-BE49-F238E27FC236}">
                <a16:creationId xmlns:a16="http://schemas.microsoft.com/office/drawing/2014/main" id="{2888BFCA-8EE4-8C26-B16D-FAC717FF4548}"/>
              </a:ext>
            </a:extLst>
          </p:cNvPr>
          <p:cNvSpPr>
            <a:spLocks noGrp="1"/>
          </p:cNvSpPr>
          <p:nvPr>
            <p:ph type="subTitle" idx="1"/>
          </p:nvPr>
        </p:nvSpPr>
        <p:spPr>
          <a:xfrm>
            <a:off x="376084" y="1066800"/>
            <a:ext cx="8153400" cy="4724400"/>
          </a:xfrm>
        </p:spPr>
        <p:txBody>
          <a:bodyPr/>
          <a:lstStyle/>
          <a:p>
            <a:pPr algn="just" rtl="0" fontAlgn="base">
              <a:spcAft>
                <a:spcPts val="750"/>
              </a:spcAft>
            </a:pPr>
            <a:r>
              <a:rPr lang="en-US" sz="2400" b="0" i="0" dirty="0">
                <a:solidFill>
                  <a:schemeClr val="tx1"/>
                </a:solidFill>
                <a:effectLst/>
                <a:latin typeface="Nunito" pitchFamily="2" charset="0"/>
              </a:rPr>
              <a:t>There are 4 library functions provided by C defined under </a:t>
            </a:r>
            <a:r>
              <a:rPr lang="en-US" sz="2400" b="1" i="0" dirty="0">
                <a:solidFill>
                  <a:schemeClr val="tx1"/>
                </a:solidFill>
                <a:effectLst/>
                <a:latin typeface="Nunito" pitchFamily="2" charset="0"/>
              </a:rPr>
              <a:t>&lt;</a:t>
            </a:r>
            <a:r>
              <a:rPr lang="en-US" sz="2400" b="1" i="0" dirty="0" err="1">
                <a:solidFill>
                  <a:schemeClr val="tx1"/>
                </a:solidFill>
                <a:effectLst/>
                <a:latin typeface="Nunito" pitchFamily="2" charset="0"/>
              </a:rPr>
              <a:t>stdlib.h</a:t>
            </a:r>
            <a:r>
              <a:rPr lang="en-US" sz="2400" b="1" i="0" dirty="0">
                <a:solidFill>
                  <a:schemeClr val="tx1"/>
                </a:solidFill>
                <a:effectLst/>
                <a:latin typeface="Nunito" pitchFamily="2" charset="0"/>
              </a:rPr>
              <a:t>&gt;</a:t>
            </a:r>
            <a:r>
              <a:rPr lang="en-US" sz="2400" b="0" i="0" dirty="0">
                <a:solidFill>
                  <a:schemeClr val="tx1"/>
                </a:solidFill>
                <a:effectLst/>
                <a:latin typeface="Nunito" pitchFamily="2" charset="0"/>
              </a:rPr>
              <a:t> header file to facilitate dynamic memory allocation in C programming. They are: </a:t>
            </a:r>
          </a:p>
          <a:p>
            <a:pPr marL="482600" indent="-457200" algn="just" fontAlgn="base">
              <a:spcAft>
                <a:spcPts val="1800"/>
              </a:spcAft>
              <a:buFont typeface="+mj-lt"/>
              <a:buAutoNum type="arabicPeriod"/>
            </a:pPr>
            <a:r>
              <a:rPr lang="en-US" sz="2400" b="0" i="0" dirty="0">
                <a:solidFill>
                  <a:schemeClr val="tx1"/>
                </a:solidFill>
                <a:effectLst/>
                <a:latin typeface="Nunito" pitchFamily="2" charset="0"/>
              </a:rPr>
              <a:t>malloc()</a:t>
            </a:r>
          </a:p>
          <a:p>
            <a:pPr marL="482600" indent="-457200" algn="just" fontAlgn="base">
              <a:spcAft>
                <a:spcPts val="1800"/>
              </a:spcAft>
              <a:buFont typeface="+mj-lt"/>
              <a:buAutoNum type="arabicPeriod"/>
            </a:pPr>
            <a:r>
              <a:rPr lang="en-US" sz="2400" b="0" i="0" dirty="0" err="1">
                <a:solidFill>
                  <a:schemeClr val="tx1"/>
                </a:solidFill>
                <a:effectLst/>
                <a:latin typeface="Nunito" pitchFamily="2" charset="0"/>
              </a:rPr>
              <a:t>calloc</a:t>
            </a:r>
            <a:r>
              <a:rPr lang="en-US" sz="2400" b="0" i="0" dirty="0">
                <a:solidFill>
                  <a:schemeClr val="tx1"/>
                </a:solidFill>
                <a:effectLst/>
                <a:latin typeface="Nunito" pitchFamily="2" charset="0"/>
              </a:rPr>
              <a:t>()</a:t>
            </a:r>
          </a:p>
          <a:p>
            <a:pPr marL="482600" indent="-457200" algn="just" fontAlgn="base">
              <a:spcAft>
                <a:spcPts val="1800"/>
              </a:spcAft>
              <a:buFont typeface="+mj-lt"/>
              <a:buAutoNum type="arabicPeriod"/>
            </a:pPr>
            <a:r>
              <a:rPr lang="en-US" sz="2400" b="0" i="0" dirty="0">
                <a:solidFill>
                  <a:schemeClr val="tx1"/>
                </a:solidFill>
                <a:effectLst/>
                <a:latin typeface="Nunito" pitchFamily="2" charset="0"/>
              </a:rPr>
              <a:t>free()</a:t>
            </a:r>
          </a:p>
          <a:p>
            <a:pPr marL="482600" indent="-457200" algn="just" fontAlgn="base">
              <a:spcAft>
                <a:spcPts val="1800"/>
              </a:spcAft>
              <a:buFont typeface="+mj-lt"/>
              <a:buAutoNum type="arabicPeriod"/>
            </a:pPr>
            <a:r>
              <a:rPr lang="en-US" sz="2400" b="0" i="0" dirty="0" err="1">
                <a:solidFill>
                  <a:schemeClr val="tx1"/>
                </a:solidFill>
                <a:effectLst/>
                <a:latin typeface="Nunito" pitchFamily="2" charset="0"/>
              </a:rPr>
              <a:t>realloc</a:t>
            </a:r>
            <a:r>
              <a:rPr lang="en-US" sz="2400" b="0" i="0" dirty="0">
                <a:solidFill>
                  <a:schemeClr val="tx1"/>
                </a:solidFill>
                <a:effectLst/>
                <a:latin typeface="Nunito" pitchFamily="2" charset="0"/>
              </a:rPr>
              <a:t>()</a:t>
            </a:r>
          </a:p>
          <a:p>
            <a:pPr algn="l"/>
            <a:endParaRPr lang="en-IN" dirty="0"/>
          </a:p>
        </p:txBody>
      </p:sp>
    </p:spTree>
    <p:extLst>
      <p:ext uri="{BB962C8B-B14F-4D97-AF65-F5344CB8AC3E}">
        <p14:creationId xmlns:p14="http://schemas.microsoft.com/office/powerpoint/2010/main" val="4193568617"/>
      </p:ext>
    </p:extLst>
  </p:cSld>
  <p:clrMapOvr>
    <a:masterClrMapping/>
  </p:clrMapOvr>
  <p:transition advTm="4000">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4" name="TextBox 3">
            <a:extLst>
              <a:ext uri="{FF2B5EF4-FFF2-40B4-BE49-F238E27FC236}">
                <a16:creationId xmlns:a16="http://schemas.microsoft.com/office/drawing/2014/main" id="{A7C25DD9-9C1F-8B9E-B54D-5E3499B011CA}"/>
              </a:ext>
            </a:extLst>
          </p:cNvPr>
          <p:cNvSpPr txBox="1"/>
          <p:nvPr/>
        </p:nvSpPr>
        <p:spPr>
          <a:xfrm>
            <a:off x="403122" y="1347019"/>
            <a:ext cx="8298425" cy="4708981"/>
          </a:xfrm>
          <a:prstGeom prst="rect">
            <a:avLst/>
          </a:prstGeom>
          <a:noFill/>
        </p:spPr>
        <p:txBody>
          <a:bodyPr wrap="square" rtlCol="0">
            <a:spAutoFit/>
          </a:bodyPr>
          <a:lstStyle/>
          <a:p>
            <a:pPr algn="ctr"/>
            <a:r>
              <a:rPr lang="en-US" sz="15000" dirty="0">
                <a:solidFill>
                  <a:schemeClr val="accent2"/>
                </a:solidFill>
                <a:latin typeface="Calibri" panose="020F0502020204030204" pitchFamily="34" charset="0"/>
                <a:ea typeface="Calibri" panose="020F0502020204030204" pitchFamily="34" charset="0"/>
                <a:cs typeface="Calibri" panose="020F0502020204030204" pitchFamily="34" charset="0"/>
              </a:rPr>
              <a:t>Thank</a:t>
            </a:r>
          </a:p>
          <a:p>
            <a:pPr algn="ctr"/>
            <a:r>
              <a:rPr lang="en-US" sz="15000" dirty="0">
                <a:solidFill>
                  <a:schemeClr val="accent2"/>
                </a:solidFill>
                <a:latin typeface="Calibri" panose="020F0502020204030204" pitchFamily="34" charset="0"/>
                <a:ea typeface="Calibri" panose="020F0502020204030204" pitchFamily="34" charset="0"/>
                <a:cs typeface="Calibri" panose="020F0502020204030204" pitchFamily="34" charset="0"/>
              </a:rPr>
              <a:t>You!</a:t>
            </a:r>
          </a:p>
        </p:txBody>
      </p:sp>
    </p:spTree>
  </p:cSld>
  <p:clrMapOvr>
    <a:masterClrMapping/>
  </p:clrMapOvr>
  <p:transition advTm="4000">
    <p:cut/>
  </p:transition>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2783</Words>
  <Application>Microsoft Office PowerPoint</Application>
  <PresentationFormat>On-screen Show (4:3)</PresentationFormat>
  <Paragraphs>352</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Nunito</vt:lpstr>
      <vt:lpstr>Consolas</vt:lpstr>
      <vt:lpstr>Arial</vt:lpstr>
      <vt:lpstr>Times New Roman</vt:lpstr>
      <vt:lpstr>Calibri</vt:lpstr>
      <vt:lpstr>Bubble Sort</vt:lpstr>
      <vt:lpstr>Pointer to an Array | Array Pointer</vt:lpstr>
      <vt:lpstr>Pointer to an Array | Array Pointer</vt:lpstr>
      <vt:lpstr>Pointer to an Array | Array Pointer</vt:lpstr>
      <vt:lpstr>Pointer to an Array | Array Pointer</vt:lpstr>
      <vt:lpstr>Pointer to Multidimensional Arrays</vt:lpstr>
      <vt:lpstr>Pointer to Multidimensional Arrays</vt:lpstr>
      <vt:lpstr>PowerPoint Presentation</vt:lpstr>
      <vt:lpstr>Array of Pointers in C</vt:lpstr>
      <vt:lpstr>PowerPoint Presentation</vt:lpstr>
      <vt:lpstr>Array of Pointers to Character</vt:lpstr>
      <vt:lpstr>Array of Pointers to Character</vt:lpstr>
      <vt:lpstr>Array of Pointers to Different Types</vt:lpstr>
      <vt:lpstr>Pointer Vs Array in C</vt:lpstr>
      <vt:lpstr>Pointer Vs Array in C</vt:lpstr>
      <vt:lpstr>Pointer Vs Array in C</vt:lpstr>
      <vt:lpstr>Passing Pointers to Functions in C</vt:lpstr>
      <vt:lpstr>Arguments Passing without pointer</vt:lpstr>
      <vt:lpstr>Arguments Passing with pointers</vt:lpstr>
      <vt:lpstr>Dynamic Memory Allocation in 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Mohammad Shuaib Khan</cp:lastModifiedBy>
  <cp:revision>8</cp:revision>
  <dcterms:created xsi:type="dcterms:W3CDTF">2022-12-12T14:14:00Z</dcterms:created>
  <dcterms:modified xsi:type="dcterms:W3CDTF">2026-04-09T05:27:45Z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2024-08-16T10:40:24Z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37573baf-977c-40f0-8e9b-6ecfbf81fd4b</vt:lpwstr>
  </property>
  <property fmtid="{D5CDD505-2E9C-101B-9397-08002B2CF9AE}" pid="7" name="MSIP_Label_defa4170-0d19-0005-0004-bc88714345d2_ActionId">
    <vt:lpwstr>895bb241-6d0c-47f6-a36d-0545160b3387</vt:lpwstr>
  </property>
  <property fmtid="{D5CDD505-2E9C-101B-9397-08002B2CF9AE}" pid="8" name="MSIP_Label_defa4170-0d19-0005-0004-bc88714345d2_ContentBits">
    <vt:lpwstr>0</vt:lpwstr>
  </property>
  <property fmtid="{D5CDD505-2E9C-101B-9397-08002B2CF9AE}" pid="9" name="ICV">
    <vt:lpwstr>02C795D27986430CA9EE0C6524092CE4_12</vt:lpwstr>
  </property>
  <property fmtid="{D5CDD505-2E9C-101B-9397-08002B2CF9AE}" pid="10" name="KSOProductBuildVer">
    <vt:lpwstr>1033-12.2.0.17545</vt:lpwstr>
  </property>
</Properties>
</file>