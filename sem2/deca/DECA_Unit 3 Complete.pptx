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6.jpg" ContentType="image/jp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7.jpg" ContentType="image/jpg"/>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70"/>
  </p:notesMasterIdLst>
  <p:sldIdLst>
    <p:sldId id="328" r:id="rId2"/>
    <p:sldId id="267" r:id="rId3"/>
    <p:sldId id="268" r:id="rId4"/>
    <p:sldId id="269" r:id="rId5"/>
    <p:sldId id="273" r:id="rId6"/>
    <p:sldId id="274" r:id="rId7"/>
    <p:sldId id="275" r:id="rId8"/>
    <p:sldId id="276" r:id="rId9"/>
    <p:sldId id="257" r:id="rId10"/>
    <p:sldId id="258" r:id="rId11"/>
    <p:sldId id="259" r:id="rId12"/>
    <p:sldId id="260" r:id="rId13"/>
    <p:sldId id="261" r:id="rId14"/>
    <p:sldId id="262" r:id="rId15"/>
    <p:sldId id="263" r:id="rId16"/>
    <p:sldId id="264" r:id="rId17"/>
    <p:sldId id="265" r:id="rId18"/>
    <p:sldId id="283" r:id="rId19"/>
    <p:sldId id="266"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2" r:id="rId47"/>
    <p:sldId id="313" r:id="rId48"/>
    <p:sldId id="314" r:id="rId49"/>
    <p:sldId id="315" r:id="rId50"/>
    <p:sldId id="316" r:id="rId51"/>
    <p:sldId id="317" r:id="rId52"/>
    <p:sldId id="318" r:id="rId53"/>
    <p:sldId id="319" r:id="rId54"/>
    <p:sldId id="320" r:id="rId55"/>
    <p:sldId id="322" r:id="rId56"/>
    <p:sldId id="323" r:id="rId57"/>
    <p:sldId id="324" r:id="rId58"/>
    <p:sldId id="325" r:id="rId59"/>
    <p:sldId id="335" r:id="rId60"/>
    <p:sldId id="336" r:id="rId61"/>
    <p:sldId id="337" r:id="rId62"/>
    <p:sldId id="278" r:id="rId63"/>
    <p:sldId id="279" r:id="rId64"/>
    <p:sldId id="280" r:id="rId65"/>
    <p:sldId id="281" r:id="rId66"/>
    <p:sldId id="334" r:id="rId67"/>
    <p:sldId id="282" r:id="rId68"/>
    <p:sldId id="326" r:id="rId6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1CFD26A-6370-4EA5-A01E-3F8699437F42}" type="datetimeFigureOut">
              <a:rPr lang="en-US" smtClean="0"/>
              <a:t>2/26/2024</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40E3DD3-8F95-440E-98E1-27A9ABFC687F}" type="slidenum">
              <a:rPr lang="en-US" smtClean="0"/>
              <a:t>‹#›</a:t>
            </a:fld>
            <a:endParaRPr lang="en-US"/>
          </a:p>
        </p:txBody>
      </p:sp>
    </p:spTree>
    <p:extLst>
      <p:ext uri="{BB962C8B-B14F-4D97-AF65-F5344CB8AC3E}">
        <p14:creationId xmlns:p14="http://schemas.microsoft.com/office/powerpoint/2010/main" val="2277332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 name="Google Shape;38;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3675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6673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8969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6660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1082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3933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668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0484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6" name="Google Shape;46;p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380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3" name="Google Shape;53;p1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6205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2" name="Google Shape;62;p1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50334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1" name="Google Shape;71;p1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6635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80" name="Google Shape;80;p1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0688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90" name="Google Shape;90;p1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9215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99" name="Google Shape;99;p1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4016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0" name="Google Shape;110;p1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5421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0" name="Google Shape;120;p1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6526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7" name="Google Shape;127;p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9745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7" name="Google Shape;127;p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5207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2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36" name="Google Shape;136;p2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8375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5" name="Google Shape;195;p2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34833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02" name="Google Shape;202;p2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2076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11" name="Google Shape;211;p2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83870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22" name="Google Shape;222;p3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0277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3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33" name="Google Shape;233;p3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43722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44" name="Google Shape;244;p3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511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52" name="Google Shape;252;p3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90574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 name="Google Shape;4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37389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p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85628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 name="Google Shape;60;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1411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4253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13492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7606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4088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05330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 name="Google Shape;4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0866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29331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 name="Google Shape;57;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72036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 name="Google Shape;64;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924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06717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23533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27109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77061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61" name="Google Shape;261;p3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12345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8"/>
        <p:cNvGrpSpPr/>
        <p:nvPr/>
      </p:nvGrpSpPr>
      <p:grpSpPr>
        <a:xfrm>
          <a:off x="0" y="0"/>
          <a:ext cx="0" cy="0"/>
          <a:chOff x="0" y="0"/>
          <a:chExt cx="0" cy="0"/>
        </a:xfrm>
      </p:grpSpPr>
      <p:grpSp>
        <p:nvGrpSpPr>
          <p:cNvPr id="19" name="Google Shape;19;p19"/>
          <p:cNvGrpSpPr/>
          <p:nvPr/>
        </p:nvGrpSpPr>
        <p:grpSpPr>
          <a:xfrm>
            <a:off x="8195733" y="0"/>
            <a:ext cx="3996267" cy="876300"/>
            <a:chOff x="6096000" y="3924300"/>
            <a:chExt cx="2997200" cy="876300"/>
          </a:xfrm>
        </p:grpSpPr>
        <p:sp>
          <p:nvSpPr>
            <p:cNvPr id="20" name="Google Shape;20;p19"/>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1" name="Google Shape;21;p19"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2" name="Google Shape;22;p19"/>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23" name="Google Shape;23;p19" descr="University_logo.jpg"/>
            <p:cNvPicPr preferRelativeResize="0"/>
            <p:nvPr/>
          </p:nvPicPr>
          <p:blipFill rotWithShape="1">
            <a:blip r:embed="rId3">
              <a:alphaModFix/>
            </a:blip>
            <a:srcRect/>
            <a:stretch/>
          </p:blipFill>
          <p:spPr>
            <a:xfrm>
              <a:off x="6572250" y="4257209"/>
              <a:ext cx="1876609" cy="457666"/>
            </a:xfrm>
            <a:prstGeom prst="rect">
              <a:avLst/>
            </a:prstGeom>
            <a:noFill/>
            <a:ln>
              <a:noFill/>
            </a:ln>
          </p:spPr>
        </p:pic>
      </p:grpSp>
      <p:pic>
        <p:nvPicPr>
          <p:cNvPr id="24" name="Google Shape;24;p19" descr="LOGO.gif"/>
          <p:cNvPicPr preferRelativeResize="0"/>
          <p:nvPr/>
        </p:nvPicPr>
        <p:blipFill rotWithShape="1">
          <a:blip r:embed="rId2">
            <a:alphaModFix/>
          </a:blip>
          <a:srcRect b="10713"/>
          <a:stretch/>
        </p:blipFill>
        <p:spPr>
          <a:xfrm>
            <a:off x="8737600" y="228600"/>
            <a:ext cx="2743200" cy="635000"/>
          </a:xfrm>
          <a:prstGeom prst="rect">
            <a:avLst/>
          </a:prstGeom>
          <a:noFill/>
          <a:ln>
            <a:noFill/>
          </a:ln>
        </p:spPr>
      </p:pic>
      <p:grpSp>
        <p:nvGrpSpPr>
          <p:cNvPr id="25" name="Google Shape;25;p19"/>
          <p:cNvGrpSpPr/>
          <p:nvPr/>
        </p:nvGrpSpPr>
        <p:grpSpPr>
          <a:xfrm>
            <a:off x="8195733" y="0"/>
            <a:ext cx="3996267" cy="876300"/>
            <a:chOff x="6096000" y="3924300"/>
            <a:chExt cx="2997200" cy="876300"/>
          </a:xfrm>
        </p:grpSpPr>
        <p:sp>
          <p:nvSpPr>
            <p:cNvPr id="26" name="Google Shape;26;p19"/>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7" name="Google Shape;27;p19"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8" name="Google Shape;28;p19"/>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grpSp>
      <p:pic>
        <p:nvPicPr>
          <p:cNvPr id="29" name="Google Shape;29;p19" descr="logo.jpg"/>
          <p:cNvPicPr preferRelativeResize="0"/>
          <p:nvPr/>
        </p:nvPicPr>
        <p:blipFill rotWithShape="1">
          <a:blip r:embed="rId4">
            <a:alphaModFix/>
          </a:blip>
          <a:srcRect/>
          <a:stretch/>
        </p:blipFill>
        <p:spPr>
          <a:xfrm>
            <a:off x="8737601" y="228600"/>
            <a:ext cx="2561167" cy="609600"/>
          </a:xfrm>
          <a:prstGeom prst="rect">
            <a:avLst/>
          </a:prstGeom>
          <a:noFill/>
          <a:ln>
            <a:noFill/>
          </a:ln>
        </p:spPr>
      </p:pic>
      <p:sp>
        <p:nvSpPr>
          <p:cNvPr id="30" name="Google Shape;30;p19"/>
          <p:cNvSpPr txBox="1">
            <a:spLocks noGrp="1"/>
          </p:cNvSpPr>
          <p:nvPr>
            <p:ph type="ctrTitle"/>
          </p:nvPr>
        </p:nvSpPr>
        <p:spPr>
          <a:xfrm>
            <a:off x="0" y="1"/>
            <a:ext cx="73152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19"/>
          <p:cNvSpPr txBox="1">
            <a:spLocks noGrp="1"/>
          </p:cNvSpPr>
          <p:nvPr>
            <p:ph type="subTitle" idx="1"/>
          </p:nvPr>
        </p:nvSpPr>
        <p:spPr>
          <a:xfrm>
            <a:off x="711200" y="1371600"/>
            <a:ext cx="108712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None/>
              <a:defRPr>
                <a:solidFill>
                  <a:schemeClr val="dk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2" name="Google Shape;32;p19"/>
          <p:cNvSpPr txBox="1">
            <a:spLocks noGrp="1"/>
          </p:cNvSpPr>
          <p:nvPr>
            <p:ph type="dt" idx="10"/>
          </p:nvPr>
        </p:nvSpPr>
        <p:spPr>
          <a:xfrm>
            <a:off x="304800" y="6324602"/>
            <a:ext cx="2844800" cy="38099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buClr>
                <a:srgbClr val="000000"/>
              </a:buClr>
            </a:pPr>
            <a:endParaRPr lang="en-US" kern="0">
              <a:solidFill>
                <a:srgbClr val="000000"/>
              </a:solidFill>
            </a:endParaRPr>
          </a:p>
        </p:txBody>
      </p:sp>
      <p:sp>
        <p:nvSpPr>
          <p:cNvPr id="33" name="Google Shape;33;p19"/>
          <p:cNvSpPr txBox="1">
            <a:spLocks noGrp="1"/>
          </p:cNvSpPr>
          <p:nvPr>
            <p:ph type="ftr" idx="11"/>
          </p:nvPr>
        </p:nvSpPr>
        <p:spPr>
          <a:xfrm>
            <a:off x="3962400" y="6248400"/>
            <a:ext cx="4064000" cy="457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buClr>
                <a:srgbClr val="000000"/>
              </a:buClr>
            </a:pPr>
            <a:endParaRPr lang="en-US" kern="0"/>
          </a:p>
        </p:txBody>
      </p:sp>
      <p:sp>
        <p:nvSpPr>
          <p:cNvPr id="34" name="Google Shape;34;p19"/>
          <p:cNvSpPr txBox="1">
            <a:spLocks noGrp="1"/>
          </p:cNvSpPr>
          <p:nvPr>
            <p:ph type="sldNum" idx="12"/>
          </p:nvPr>
        </p:nvSpPr>
        <p:spPr>
          <a:xfrm>
            <a:off x="8940800" y="6356351"/>
            <a:ext cx="2946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chemeClr val="dk1"/>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chemeClr val="dk1"/>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chemeClr val="dk1"/>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chemeClr val="dk1"/>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chemeClr val="dk1"/>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chemeClr val="dk1"/>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chemeClr val="dk1"/>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chemeClr val="dk1"/>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chemeClr val="dk1"/>
                </a:solidFill>
                <a:latin typeface="Calibri"/>
                <a:ea typeface="Calibri"/>
                <a:cs typeface="Calibri"/>
                <a:sym typeface="Calibri"/>
              </a:defRPr>
            </a:lvl9pPr>
          </a:lstStyle>
          <a:p>
            <a:pPr>
              <a:buClr>
                <a:srgbClr val="000000"/>
              </a:buClr>
            </a:pPr>
            <a:fld id="{00000000-1234-1234-1234-123412341234}" type="slidenum">
              <a:rPr lang="en-US" kern="0" smtClean="0">
                <a:solidFill>
                  <a:srgbClr val="000000"/>
                </a:solidFill>
              </a:rPr>
              <a:pPr>
                <a:buClr>
                  <a:srgbClr val="000000"/>
                </a:buClr>
              </a:pPr>
              <a:t>‹#›</a:t>
            </a:fld>
            <a:endParaRPr lang="en-US" kern="0">
              <a:solidFill>
                <a:srgbClr val="000000"/>
              </a:solidFill>
            </a:endParaRPr>
          </a:p>
        </p:txBody>
      </p:sp>
    </p:spTree>
    <p:extLst>
      <p:ext uri="{BB962C8B-B14F-4D97-AF65-F5344CB8AC3E}">
        <p14:creationId xmlns:p14="http://schemas.microsoft.com/office/powerpoint/2010/main" val="1981769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alphaModFix/>
          </a:blip>
          <a:srcRect b="10713"/>
          <a:stretch/>
        </p:blipFill>
        <p:spPr>
          <a:xfrm>
            <a:off x="8737600" y="228600"/>
            <a:ext cx="2743200" cy="635000"/>
          </a:xfrm>
          <a:prstGeom prst="rect">
            <a:avLst/>
          </a:prstGeom>
          <a:noFill/>
          <a:ln>
            <a:noFill/>
          </a:ln>
        </p:spPr>
      </p:pic>
      <p:grpSp>
        <p:nvGrpSpPr>
          <p:cNvPr id="26" name="Google Shape;26;p8"/>
          <p:cNvGrpSpPr/>
          <p:nvPr/>
        </p:nvGrpSpPr>
        <p:grpSpPr>
          <a:xfrm>
            <a:off x="8195733" y="0"/>
            <a:ext cx="3996267"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8"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8" descr="logo.jpg"/>
          <p:cNvPicPr preferRelativeResize="0"/>
          <p:nvPr/>
        </p:nvPicPr>
        <p:blipFill rotWithShape="1">
          <a:blip r:embed="rId3">
            <a:alphaModFix/>
          </a:blip>
          <a:srcRect/>
          <a:stretch/>
        </p:blipFill>
        <p:spPr>
          <a:xfrm>
            <a:off x="8737601" y="228600"/>
            <a:ext cx="2561167" cy="609600"/>
          </a:xfrm>
          <a:prstGeom prst="rect">
            <a:avLst/>
          </a:prstGeom>
          <a:noFill/>
          <a:ln>
            <a:noFill/>
          </a:ln>
        </p:spPr>
      </p:pic>
      <p:sp>
        <p:nvSpPr>
          <p:cNvPr id="31" name="Google Shape;31;p8"/>
          <p:cNvSpPr txBox="1">
            <a:spLocks noGrp="1"/>
          </p:cNvSpPr>
          <p:nvPr>
            <p:ph type="title"/>
          </p:nvPr>
        </p:nvSpPr>
        <p:spPr>
          <a:xfrm>
            <a:off x="0" y="0"/>
            <a:ext cx="8636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609600" y="1371601"/>
            <a:ext cx="109728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282141" y="6356350"/>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9250208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0" y="0"/>
            <a:ext cx="8636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8"/>
          <p:cNvSpPr txBox="1">
            <a:spLocks noGrp="1"/>
          </p:cNvSpPr>
          <p:nvPr>
            <p:ph type="body" idx="1"/>
          </p:nvPr>
        </p:nvSpPr>
        <p:spPr>
          <a:xfrm>
            <a:off x="609600" y="13716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pPr>
              <a:buClr>
                <a:srgbClr val="000000"/>
              </a:buClr>
            </a:pPr>
            <a:endParaRPr lang="en-US" kern="0"/>
          </a:p>
        </p:txBody>
      </p:sp>
      <p:sp>
        <p:nvSpPr>
          <p:cNvPr id="13" name="Google Shape;13;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pPr>
              <a:buClr>
                <a:srgbClr val="000000"/>
              </a:buClr>
            </a:pPr>
            <a:endParaRPr lang="en-US" kern="0"/>
          </a:p>
        </p:txBody>
      </p:sp>
      <p:sp>
        <p:nvSpPr>
          <p:cNvPr id="14" name="Google Shape;14;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a:buClr>
                <a:srgbClr val="000000"/>
              </a:buClr>
            </a:pPr>
            <a:fld id="{00000000-1234-1234-1234-123412341234}" type="slidenum">
              <a:rPr lang="en-US" kern="0" smtClean="0"/>
              <a:pPr>
                <a:buClr>
                  <a:srgbClr val="000000"/>
                </a:buClr>
              </a:pPr>
              <a:t>‹#›</a:t>
            </a:fld>
            <a:endParaRPr lang="en-US" kern="0"/>
          </a:p>
        </p:txBody>
      </p:sp>
      <p:sp>
        <p:nvSpPr>
          <p:cNvPr id="15" name="Google Shape;15;p18"/>
          <p:cNvSpPr/>
          <p:nvPr/>
        </p:nvSpPr>
        <p:spPr>
          <a:xfrm>
            <a:off x="0" y="0"/>
            <a:ext cx="12192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16;p18"/>
          <p:cNvSpPr/>
          <p:nvPr/>
        </p:nvSpPr>
        <p:spPr>
          <a:xfrm rot="10800000" flipH="1">
            <a:off x="0" y="6705600"/>
            <a:ext cx="12192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7" name="Google Shape;17;p18" descr="logo.jpg"/>
          <p:cNvPicPr preferRelativeResize="0"/>
          <p:nvPr/>
        </p:nvPicPr>
        <p:blipFill rotWithShape="1">
          <a:blip r:embed="rId4">
            <a:alphaModFix/>
          </a:blip>
          <a:srcRect/>
          <a:stretch/>
        </p:blipFill>
        <p:spPr>
          <a:xfrm>
            <a:off x="8737601" y="228600"/>
            <a:ext cx="2561167" cy="609600"/>
          </a:xfrm>
          <a:prstGeom prst="rect">
            <a:avLst/>
          </a:prstGeom>
          <a:noFill/>
          <a:ln>
            <a:noFill/>
          </a:ln>
        </p:spPr>
      </p:pic>
    </p:spTree>
    <p:extLst>
      <p:ext uri="{BB962C8B-B14F-4D97-AF65-F5344CB8AC3E}">
        <p14:creationId xmlns:p14="http://schemas.microsoft.com/office/powerpoint/2010/main" val="1214306486"/>
      </p:ext>
    </p:extLst>
  </p:cSld>
  <p:clrMap bg1="lt1" tx1="dk1" bg2="dk2" tx2="lt2" accent1="accent1" accent2="accent2" accent3="accent3" accent4="accent4" accent5="accent5" accent6="accent6" hlink="hlink" folHlink="folHlink"/>
  <p:sldLayoutIdLst>
    <p:sldLayoutId id="2147483678" r:id="rId1"/>
    <p:sldLayoutId id="214748367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latin typeface="Times New Roman"/>
                <a:ea typeface="Times New Roman"/>
                <a:cs typeface="Times New Roman"/>
                <a:sym typeface="Times New Roman"/>
              </a:rPr>
              <a:pPr/>
              <a:t>1</a:t>
            </a:fld>
            <a:endParaRPr>
              <a:latin typeface="Times New Roman"/>
              <a:ea typeface="Times New Roman"/>
              <a:cs typeface="Times New Roman"/>
              <a:sym typeface="Times New Roman"/>
            </a:endParaRPr>
          </a:p>
        </p:txBody>
      </p:sp>
      <p:pic>
        <p:nvPicPr>
          <p:cNvPr id="41" name="Google Shape;41;p10"/>
          <p:cNvPicPr preferRelativeResize="0"/>
          <p:nvPr/>
        </p:nvPicPr>
        <p:blipFill rotWithShape="1">
          <a:blip r:embed="rId3">
            <a:alphaModFix/>
          </a:blip>
          <a:srcRect/>
          <a:stretch/>
        </p:blipFill>
        <p:spPr>
          <a:xfrm>
            <a:off x="2045111" y="173570"/>
            <a:ext cx="1720645" cy="723209"/>
          </a:xfrm>
          <a:prstGeom prst="rect">
            <a:avLst/>
          </a:prstGeom>
          <a:noFill/>
          <a:ln>
            <a:noFill/>
          </a:ln>
        </p:spPr>
      </p:pic>
      <p:sp>
        <p:nvSpPr>
          <p:cNvPr id="42" name="Google Shape;42;p10"/>
          <p:cNvSpPr txBox="1"/>
          <p:nvPr/>
        </p:nvSpPr>
        <p:spPr>
          <a:xfrm>
            <a:off x="1524000" y="2569866"/>
            <a:ext cx="9144000" cy="3786485"/>
          </a:xfrm>
          <a:prstGeom prst="rect">
            <a:avLst/>
          </a:prstGeom>
          <a:noFill/>
          <a:ln>
            <a:noFill/>
          </a:ln>
        </p:spPr>
        <p:txBody>
          <a:bodyPr spcFirstLastPara="1" wrap="square" lIns="91425" tIns="33100" rIns="91425" bIns="45700" anchor="ctr" anchorCtr="0">
            <a:noAutofit/>
          </a:bodyPr>
          <a:lstStyle/>
          <a:p>
            <a:pPr algn="ctr">
              <a:buClr>
                <a:srgbClr val="000000"/>
              </a:buClr>
              <a:buSzPts val="3200"/>
            </a:pPr>
            <a:endParaRPr sz="3200" b="1" dirty="0">
              <a:solidFill>
                <a:srgbClr val="FF0000"/>
              </a:solidFill>
              <a:latin typeface="Times New Roman"/>
              <a:ea typeface="Times New Roman"/>
              <a:cs typeface="Times New Roman"/>
              <a:sym typeface="Times New Roman"/>
            </a:endParaRPr>
          </a:p>
          <a:p>
            <a:pPr algn="ctr">
              <a:buClr>
                <a:srgbClr val="000000"/>
              </a:buClr>
              <a:buSzPts val="3200"/>
            </a:pPr>
            <a:endParaRPr lang="en-US" sz="2800" b="1" dirty="0">
              <a:solidFill>
                <a:srgbClr val="002060"/>
              </a:solidFill>
              <a:latin typeface="Times New Roman"/>
              <a:ea typeface="Times New Roman"/>
              <a:cs typeface="Times New Roman"/>
              <a:sym typeface="Times New Roman"/>
            </a:endParaRPr>
          </a:p>
          <a:p>
            <a:pPr algn="ctr">
              <a:buClr>
                <a:srgbClr val="000000"/>
              </a:buClr>
              <a:buSzPts val="3200"/>
            </a:pPr>
            <a:endParaRPr lang="en-US" sz="2800" b="1" dirty="0">
              <a:solidFill>
                <a:srgbClr val="002060"/>
              </a:solidFill>
              <a:latin typeface="Times New Roman"/>
              <a:ea typeface="Times New Roman"/>
              <a:cs typeface="Times New Roman"/>
              <a:sym typeface="Times New Roman"/>
            </a:endParaRPr>
          </a:p>
          <a:p>
            <a:pPr algn="ctr">
              <a:buClr>
                <a:srgbClr val="000000"/>
              </a:buClr>
              <a:buSzPts val="3200"/>
            </a:pPr>
            <a:r>
              <a:rPr lang="en-US" sz="2800" b="1" dirty="0">
                <a:solidFill>
                  <a:srgbClr val="002060"/>
                </a:solidFill>
                <a:latin typeface="Times New Roman"/>
                <a:ea typeface="Times New Roman"/>
                <a:cs typeface="Times New Roman"/>
                <a:sym typeface="Times New Roman"/>
              </a:rPr>
              <a:t>Digital Electronics and Computer Architecture (DECA)</a:t>
            </a:r>
            <a:endParaRPr sz="2800" b="1" dirty="0">
              <a:solidFill>
                <a:srgbClr val="002060"/>
              </a:solidFill>
              <a:latin typeface="Times New Roman"/>
              <a:ea typeface="Times New Roman"/>
              <a:cs typeface="Times New Roman"/>
              <a:sym typeface="Times New Roman"/>
            </a:endParaRPr>
          </a:p>
          <a:p>
            <a:pPr algn="ctr">
              <a:buClr>
                <a:srgbClr val="000000"/>
              </a:buClr>
              <a:buSzPts val="3200"/>
            </a:pPr>
            <a:endParaRPr lang="en-US" sz="2800" b="1" dirty="0">
              <a:solidFill>
                <a:srgbClr val="FF0000"/>
              </a:solidFill>
              <a:latin typeface="Times New Roman"/>
              <a:ea typeface="Times New Roman"/>
              <a:cs typeface="Times New Roman"/>
              <a:sym typeface="Times New Roman"/>
            </a:endParaRPr>
          </a:p>
          <a:p>
            <a:pPr algn="ctr">
              <a:buClr>
                <a:srgbClr val="000000"/>
              </a:buClr>
              <a:buSzPts val="3200"/>
            </a:pPr>
            <a:r>
              <a:rPr lang="en-US" sz="2800" b="1" dirty="0">
                <a:solidFill>
                  <a:srgbClr val="FF0000"/>
                </a:solidFill>
                <a:latin typeface="Times New Roman"/>
                <a:ea typeface="Times New Roman"/>
                <a:cs typeface="Times New Roman"/>
                <a:sym typeface="Times New Roman"/>
              </a:rPr>
              <a:t>Digital Electronics </a:t>
            </a:r>
            <a:r>
              <a:rPr lang="en-US" sz="2400" b="1" i="1" dirty="0">
                <a:solidFill>
                  <a:srgbClr val="FF0000"/>
                </a:solidFill>
                <a:latin typeface="Times New Roman"/>
                <a:ea typeface="Times New Roman"/>
                <a:cs typeface="Times New Roman"/>
                <a:sym typeface="Times New Roman"/>
              </a:rPr>
              <a:t>(Unit-3): </a:t>
            </a:r>
          </a:p>
          <a:p>
            <a:pPr algn="ctr">
              <a:buClr>
                <a:srgbClr val="000000"/>
              </a:buClr>
              <a:buSzPts val="3200"/>
            </a:pPr>
            <a:r>
              <a:rPr lang="en-US" sz="2400" b="1" i="1" dirty="0">
                <a:solidFill>
                  <a:srgbClr val="FF0000"/>
                </a:solidFill>
                <a:latin typeface="Times New Roman"/>
                <a:ea typeface="Times New Roman"/>
                <a:cs typeface="Times New Roman"/>
                <a:sym typeface="Times New Roman"/>
              </a:rPr>
              <a:t>(Complete Unit)</a:t>
            </a:r>
            <a:endParaRPr sz="3200" b="1" i="1" dirty="0">
              <a:solidFill>
                <a:srgbClr val="FF0000"/>
              </a:solidFill>
              <a:latin typeface="Times New Roman"/>
              <a:ea typeface="Times New Roman"/>
              <a:cs typeface="Times New Roman"/>
              <a:sym typeface="Times New Roman"/>
            </a:endParaRPr>
          </a:p>
          <a:p>
            <a:pPr algn="ctr"/>
            <a:endParaRPr lang="en-US" dirty="0">
              <a:solidFill>
                <a:srgbClr val="366092"/>
              </a:solidFill>
              <a:latin typeface="Times New Roman"/>
              <a:cs typeface="Times New Roman"/>
              <a:sym typeface="Times New Roman"/>
            </a:endParaRPr>
          </a:p>
          <a:p>
            <a:pPr algn="ctr"/>
            <a:r>
              <a:rPr lang="en-US" dirty="0">
                <a:solidFill>
                  <a:srgbClr val="366092"/>
                </a:solidFill>
                <a:latin typeface="Times New Roman"/>
                <a:cs typeface="Times New Roman"/>
              </a:rPr>
              <a:t>Computer Organization: Introduction to Computer Organization &amp;</a:t>
            </a:r>
          </a:p>
          <a:p>
            <a:pPr algn="ctr"/>
            <a:r>
              <a:rPr lang="en-IN" dirty="0">
                <a:solidFill>
                  <a:srgbClr val="366092"/>
                </a:solidFill>
                <a:latin typeface="Times New Roman"/>
                <a:cs typeface="Times New Roman"/>
              </a:rPr>
              <a:t>Architecture, Basic Computer Organization, Instruction Codes, Computer Registers, Computer Instructions, Memory, </a:t>
            </a:r>
            <a:r>
              <a:rPr lang="en-US" dirty="0">
                <a:solidFill>
                  <a:srgbClr val="366092"/>
                </a:solidFill>
                <a:latin typeface="Times New Roman"/>
                <a:cs typeface="Times New Roman"/>
              </a:rPr>
              <a:t>Reference, Register Reference and I/O Instructions, instruction Set</a:t>
            </a:r>
          </a:p>
          <a:p>
            <a:pPr algn="ctr"/>
            <a:r>
              <a:rPr lang="en-IN" dirty="0">
                <a:solidFill>
                  <a:srgbClr val="366092"/>
                </a:solidFill>
                <a:latin typeface="Times New Roman"/>
                <a:cs typeface="Times New Roman"/>
              </a:rPr>
              <a:t>Completeness, </a:t>
            </a:r>
            <a:r>
              <a:rPr lang="en-US" dirty="0">
                <a:solidFill>
                  <a:srgbClr val="366092"/>
                </a:solidFill>
                <a:latin typeface="Times New Roman"/>
                <a:cs typeface="Times New Roman"/>
              </a:rPr>
              <a:t>Timing and Control, Instruction Cycle, Process to determine the type of</a:t>
            </a:r>
          </a:p>
          <a:p>
            <a:pPr algn="ctr"/>
            <a:r>
              <a:rPr lang="en-US" dirty="0">
                <a:solidFill>
                  <a:srgbClr val="366092"/>
                </a:solidFill>
                <a:latin typeface="Times New Roman"/>
                <a:cs typeface="Times New Roman"/>
              </a:rPr>
              <a:t>instructions, Input-Output and Program Interrupts.</a:t>
            </a:r>
          </a:p>
          <a:p>
            <a:pPr algn="ctr"/>
            <a:endParaRPr dirty="0">
              <a:solidFill>
                <a:srgbClr val="366092"/>
              </a:solidFill>
              <a:latin typeface="Times New Roman"/>
              <a:cs typeface="Times New Roman"/>
              <a:sym typeface="Times New Roman"/>
            </a:endParaRPr>
          </a:p>
          <a:p>
            <a:pPr algn="ctr">
              <a:buClr>
                <a:srgbClr val="000000"/>
              </a:buClr>
              <a:buSzPts val="2400"/>
            </a:pPr>
            <a:r>
              <a:rPr lang="en-US" sz="2400" b="1" dirty="0">
                <a:solidFill>
                  <a:srgbClr val="FF0000"/>
                </a:solidFill>
                <a:latin typeface="Times New Roman"/>
                <a:ea typeface="Times New Roman"/>
                <a:cs typeface="Times New Roman"/>
                <a:sym typeface="Times New Roman"/>
              </a:rPr>
              <a:t>B.E.-CSE 1</a:t>
            </a:r>
            <a:r>
              <a:rPr lang="en-US" sz="2400" b="1" baseline="30000" dirty="0">
                <a:solidFill>
                  <a:srgbClr val="FF0000"/>
                </a:solidFill>
                <a:latin typeface="Times New Roman"/>
                <a:ea typeface="Times New Roman"/>
                <a:cs typeface="Times New Roman"/>
                <a:sym typeface="Times New Roman"/>
              </a:rPr>
              <a:t>st</a:t>
            </a:r>
            <a:r>
              <a:rPr lang="en-US" sz="2400" b="1" dirty="0">
                <a:solidFill>
                  <a:srgbClr val="FF0000"/>
                </a:solidFill>
                <a:latin typeface="Times New Roman"/>
                <a:ea typeface="Times New Roman"/>
                <a:cs typeface="Times New Roman"/>
                <a:sym typeface="Times New Roman"/>
              </a:rPr>
              <a:t> Sem.</a:t>
            </a:r>
            <a:endParaRPr dirty="0"/>
          </a:p>
          <a:p>
            <a:pPr algn="ctr">
              <a:buClr>
                <a:srgbClr val="000000"/>
              </a:buClr>
              <a:buSzPts val="2400"/>
            </a:pPr>
            <a:endParaRPr sz="2400" b="1" dirty="0">
              <a:solidFill>
                <a:srgbClr val="FF0000"/>
              </a:solidFill>
              <a:latin typeface="Times New Roman"/>
              <a:ea typeface="Times New Roman"/>
              <a:cs typeface="Times New Roman"/>
              <a:sym typeface="Times New Roman"/>
            </a:endParaRPr>
          </a:p>
          <a:p>
            <a:pPr algn="ctr">
              <a:buClr>
                <a:srgbClr val="000000"/>
              </a:buClr>
              <a:buSzPts val="1600"/>
            </a:pPr>
            <a:r>
              <a:rPr lang="en-US" sz="1600" b="1" dirty="0">
                <a:solidFill>
                  <a:schemeClr val="dk1"/>
                </a:solidFill>
                <a:latin typeface="Times New Roman"/>
                <a:ea typeface="Times New Roman"/>
                <a:cs typeface="Times New Roman"/>
                <a:sym typeface="Times New Roman"/>
              </a:rPr>
              <a:t>Department of Interdisciplinary Courses in Engineering (DICE)</a:t>
            </a:r>
            <a:endParaRPr dirty="0"/>
          </a:p>
          <a:p>
            <a:pPr algn="ctr">
              <a:buClr>
                <a:srgbClr val="000000"/>
              </a:buClr>
              <a:buSzPts val="1600"/>
            </a:pPr>
            <a:r>
              <a:rPr lang="en-US" sz="1600" b="1" dirty="0">
                <a:solidFill>
                  <a:schemeClr val="dk1"/>
                </a:solidFill>
                <a:latin typeface="Times New Roman"/>
                <a:ea typeface="Times New Roman"/>
                <a:cs typeface="Times New Roman"/>
                <a:sym typeface="Times New Roman"/>
              </a:rPr>
              <a:t>&amp;</a:t>
            </a:r>
            <a:endParaRPr dirty="0"/>
          </a:p>
          <a:p>
            <a:pPr algn="ctr">
              <a:buClr>
                <a:srgbClr val="000000"/>
              </a:buClr>
              <a:buSzPts val="1600"/>
            </a:pPr>
            <a:r>
              <a:rPr lang="en-US" sz="1600" b="1" dirty="0">
                <a:solidFill>
                  <a:schemeClr val="dk1"/>
                </a:solidFill>
                <a:latin typeface="Times New Roman"/>
                <a:ea typeface="Times New Roman"/>
                <a:cs typeface="Times New Roman"/>
                <a:sym typeface="Times New Roman"/>
              </a:rPr>
              <a:t>Department of Computer Science and Engineering</a:t>
            </a:r>
            <a:endParaRPr sz="1600" b="1" dirty="0">
              <a:solidFill>
                <a:schemeClr val="dk1"/>
              </a:solidFill>
              <a:latin typeface="Times New Roman"/>
              <a:ea typeface="Times New Roman"/>
              <a:cs typeface="Times New Roman"/>
              <a:sym typeface="Times New Roman"/>
            </a:endParaRPr>
          </a:p>
          <a:p>
            <a:pPr algn="ctr">
              <a:buClr>
                <a:srgbClr val="000000"/>
              </a:buClr>
              <a:buSzPts val="3200"/>
            </a:pPr>
            <a:endParaRPr sz="3200" b="1" dirty="0">
              <a:solidFill>
                <a:srgbClr val="FF0000"/>
              </a:solidFill>
              <a:latin typeface="Times New Roman"/>
              <a:ea typeface="Times New Roman"/>
              <a:cs typeface="Times New Roman"/>
              <a:sym typeface="Times New Roman"/>
            </a:endParaRPr>
          </a:p>
          <a:p>
            <a:pPr algn="ctr">
              <a:buClr>
                <a:srgbClr val="000000"/>
              </a:buClr>
              <a:buSzPts val="3200"/>
            </a:pPr>
            <a:endParaRPr sz="3200" b="1" dirty="0">
              <a:solidFill>
                <a:srgbClr val="FF0000"/>
              </a:solidFill>
              <a:latin typeface="Times New Roman"/>
              <a:ea typeface="Times New Roman"/>
              <a:cs typeface="Times New Roman"/>
              <a:sym typeface="Times New Roman"/>
            </a:endParaRPr>
          </a:p>
          <a:p>
            <a:pPr algn="ctr">
              <a:buClr>
                <a:srgbClr val="000000"/>
              </a:buClr>
              <a:buSzPts val="3200"/>
            </a:pPr>
            <a:endParaRPr sz="3200" b="1" dirty="0">
              <a:solidFill>
                <a:srgbClr val="FF0000"/>
              </a:solidFill>
              <a:latin typeface="Times New Roman"/>
              <a:ea typeface="Times New Roman"/>
              <a:cs typeface="Times New Roman"/>
              <a:sym typeface="Times New Roman"/>
            </a:endParaRPr>
          </a:p>
          <a:p>
            <a:pPr algn="ctr">
              <a:buClr>
                <a:srgbClr val="000000"/>
              </a:buClr>
              <a:buSzPts val="4000"/>
            </a:pPr>
            <a:endParaRPr sz="4000" b="1" dirty="0">
              <a:solidFill>
                <a:srgbClr val="FF0000"/>
              </a:solidFill>
              <a:latin typeface="Times New Roman"/>
              <a:ea typeface="Times New Roman"/>
              <a:cs typeface="Times New Roman"/>
              <a:sym typeface="Times New Roman"/>
            </a:endParaRPr>
          </a:p>
          <a:p>
            <a:pPr algn="ctr">
              <a:buClr>
                <a:srgbClr val="000000"/>
              </a:buClr>
              <a:buSzPts val="4000"/>
            </a:pPr>
            <a:endParaRPr sz="40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 name="Title 1"/>
          <p:cNvSpPr txBox="1">
            <a:spLocks/>
          </p:cNvSpPr>
          <p:nvPr/>
        </p:nvSpPr>
        <p:spPr>
          <a:xfrm>
            <a:off x="668740" y="2459127"/>
            <a:ext cx="10849969" cy="164630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r>
              <a:rPr lang="en-US" sz="4400" b="1" kern="0" spc="-5" dirty="0">
                <a:latin typeface="Times New Roman"/>
                <a:cs typeface="Times New Roman"/>
              </a:rPr>
              <a:t>INTRODUCTION </a:t>
            </a:r>
            <a:r>
              <a:rPr lang="en-US" sz="4400" b="1" kern="0" dirty="0">
                <a:latin typeface="Times New Roman"/>
                <a:cs typeface="Times New Roman"/>
              </a:rPr>
              <a:t>TO </a:t>
            </a:r>
            <a:r>
              <a:rPr lang="en-US" sz="4400" b="1" kern="0" spc="-5" dirty="0">
                <a:latin typeface="Times New Roman"/>
                <a:cs typeface="Times New Roman"/>
              </a:rPr>
              <a:t>COMPUTER</a:t>
            </a:r>
            <a:r>
              <a:rPr lang="en-US" sz="4400" b="1" kern="0" spc="5" dirty="0">
                <a:latin typeface="Times New Roman"/>
                <a:cs typeface="Times New Roman"/>
              </a:rPr>
              <a:t> </a:t>
            </a:r>
            <a:r>
              <a:rPr lang="en-US" sz="4400" b="1" kern="0" spc="-5" dirty="0">
                <a:latin typeface="Times New Roman"/>
                <a:cs typeface="Times New Roman"/>
              </a:rPr>
              <a:t>ORGANIZATION</a:t>
            </a:r>
            <a:endParaRPr lang="en-US" sz="4400" b="1" kern="0" dirty="0"/>
          </a:p>
        </p:txBody>
      </p:sp>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676000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6" name="object 2"/>
          <p:cNvSpPr txBox="1">
            <a:spLocks/>
          </p:cNvSpPr>
          <p:nvPr/>
        </p:nvSpPr>
        <p:spPr>
          <a:xfrm>
            <a:off x="824509" y="760544"/>
            <a:ext cx="10029371" cy="2322174"/>
          </a:xfrm>
          <a:prstGeom prst="rect">
            <a:avLst/>
          </a:prstGeom>
          <a:noFill/>
          <a:ln>
            <a:noFill/>
          </a:ln>
        </p:spPr>
        <p:txBody>
          <a:bodyPr spcFirstLastPara="1" vert="horz" wrap="square" lIns="0" tIns="12700" rIns="0" bIns="0" rtlCol="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algn="l">
              <a:spcBef>
                <a:spcPts val="50"/>
              </a:spcBef>
            </a:pPr>
            <a:endParaRPr lang="en-US" sz="2000" kern="0" dirty="0">
              <a:latin typeface="Times New Roman"/>
              <a:cs typeface="Times New Roman"/>
            </a:endParaRPr>
          </a:p>
          <a:p>
            <a:pPr marL="241300" lvl="1" indent="-229235" algn="l">
              <a:buFont typeface="Arial"/>
              <a:buAutoNum type="arabicPeriod"/>
              <a:tabLst>
                <a:tab pos="241935" algn="l"/>
              </a:tabLst>
            </a:pPr>
            <a:r>
              <a:rPr lang="en-US" sz="2000" b="1" kern="0" spc="-5" dirty="0">
                <a:latin typeface="Times New Roman"/>
                <a:cs typeface="Times New Roman"/>
              </a:rPr>
              <a:t>BASIC COMPUTER</a:t>
            </a:r>
            <a:r>
              <a:rPr lang="en-US" sz="2000" b="1" kern="0" spc="-45" dirty="0">
                <a:latin typeface="Times New Roman"/>
                <a:cs typeface="Times New Roman"/>
              </a:rPr>
              <a:t> </a:t>
            </a:r>
            <a:r>
              <a:rPr lang="en-US" sz="2000" b="1" kern="0" spc="-5" dirty="0">
                <a:latin typeface="Times New Roman"/>
                <a:cs typeface="Times New Roman"/>
              </a:rPr>
              <a:t>ORGANIZATION:</a:t>
            </a:r>
            <a:endParaRPr lang="en-US" sz="2000" kern="0" dirty="0">
              <a:latin typeface="Times New Roman"/>
              <a:cs typeface="Times New Roman"/>
            </a:endParaRPr>
          </a:p>
          <a:p>
            <a:pPr marL="78105" marR="81915" algn="l">
              <a:lnSpc>
                <a:spcPct val="95900"/>
              </a:lnSpc>
              <a:spcBef>
                <a:spcPts val="75"/>
              </a:spcBef>
            </a:pPr>
            <a:r>
              <a:rPr lang="en-US" sz="2000" kern="0" dirty="0">
                <a:latin typeface="Times New Roman"/>
                <a:cs typeface="Times New Roman"/>
              </a:rPr>
              <a:t>The basic </a:t>
            </a:r>
            <a:r>
              <a:rPr lang="en-US" sz="2000" kern="0" spc="-5" dirty="0">
                <a:latin typeface="Times New Roman"/>
                <a:cs typeface="Times New Roman"/>
              </a:rPr>
              <a:t>computer organization has </a:t>
            </a:r>
            <a:r>
              <a:rPr lang="en-US" sz="2000" kern="0" spc="5" dirty="0">
                <a:latin typeface="Times New Roman"/>
                <a:cs typeface="Times New Roman"/>
              </a:rPr>
              <a:t>three </a:t>
            </a:r>
            <a:r>
              <a:rPr lang="en-US" sz="2000" kern="0" dirty="0">
                <a:latin typeface="Times New Roman"/>
                <a:cs typeface="Times New Roman"/>
              </a:rPr>
              <a:t>main  </a:t>
            </a:r>
            <a:r>
              <a:rPr lang="en-US" sz="2000" kern="0" spc="-5" dirty="0">
                <a:latin typeface="Times New Roman"/>
                <a:cs typeface="Times New Roman"/>
              </a:rPr>
              <a:t>components:</a:t>
            </a:r>
          </a:p>
          <a:p>
            <a:pPr marL="78105" marR="81915" algn="l">
              <a:lnSpc>
                <a:spcPct val="95900"/>
              </a:lnSpc>
              <a:spcBef>
                <a:spcPts val="75"/>
              </a:spcBef>
            </a:pPr>
            <a:endParaRPr lang="en-US" sz="2000" kern="0" dirty="0">
              <a:latin typeface="Times New Roman"/>
              <a:cs typeface="Times New Roman"/>
            </a:endParaRPr>
          </a:p>
          <a:p>
            <a:pPr marL="1907539" lvl="2" indent="-287655" algn="l">
              <a:lnSpc>
                <a:spcPts val="1350"/>
              </a:lnSpc>
              <a:buFont typeface="Wingdings"/>
              <a:buChar char=""/>
              <a:tabLst>
                <a:tab pos="1907539" algn="l"/>
                <a:tab pos="1908175" algn="l"/>
              </a:tabLst>
            </a:pPr>
            <a:r>
              <a:rPr lang="en-US" sz="2000" kern="0" spc="-5" dirty="0">
                <a:latin typeface="Times New Roman"/>
                <a:cs typeface="Times New Roman"/>
              </a:rPr>
              <a:t>CPU</a:t>
            </a:r>
            <a:endParaRPr lang="en-US" sz="2000" kern="0" dirty="0">
              <a:latin typeface="Times New Roman"/>
              <a:cs typeface="Times New Roman"/>
            </a:endParaRPr>
          </a:p>
          <a:p>
            <a:pPr marL="1907539" lvl="2" indent="-287655" algn="l">
              <a:lnSpc>
                <a:spcPts val="1380"/>
              </a:lnSpc>
              <a:buFont typeface="Wingdings"/>
              <a:buChar char=""/>
              <a:tabLst>
                <a:tab pos="1907539" algn="l"/>
                <a:tab pos="1908175" algn="l"/>
              </a:tabLst>
            </a:pPr>
            <a:r>
              <a:rPr lang="en-US" sz="2000" kern="0" dirty="0">
                <a:latin typeface="Times New Roman"/>
                <a:cs typeface="Times New Roman"/>
              </a:rPr>
              <a:t>Memory</a:t>
            </a:r>
            <a:r>
              <a:rPr lang="en-US" sz="2000" kern="0" spc="-65" dirty="0">
                <a:latin typeface="Times New Roman"/>
                <a:cs typeface="Times New Roman"/>
              </a:rPr>
              <a:t> </a:t>
            </a:r>
            <a:r>
              <a:rPr lang="en-US" sz="2000" kern="0" spc="-5" dirty="0">
                <a:latin typeface="Times New Roman"/>
                <a:cs typeface="Times New Roman"/>
              </a:rPr>
              <a:t>subsystem</a:t>
            </a:r>
            <a:endParaRPr lang="en-US" sz="2000" kern="0" dirty="0">
              <a:latin typeface="Times New Roman"/>
              <a:cs typeface="Times New Roman"/>
            </a:endParaRPr>
          </a:p>
          <a:p>
            <a:pPr marL="1907539" lvl="2" indent="-287655" algn="l">
              <a:lnSpc>
                <a:spcPts val="1380"/>
              </a:lnSpc>
              <a:buFont typeface="Wingdings"/>
              <a:buChar char=""/>
              <a:tabLst>
                <a:tab pos="1907539" algn="l"/>
                <a:tab pos="1908175" algn="l"/>
              </a:tabLst>
            </a:pPr>
            <a:r>
              <a:rPr lang="en-US" sz="2000" kern="0" spc="-10" dirty="0">
                <a:latin typeface="Times New Roman"/>
                <a:cs typeface="Times New Roman"/>
              </a:rPr>
              <a:t>I/O</a:t>
            </a:r>
            <a:r>
              <a:rPr lang="en-US" sz="2000" kern="0" spc="-45" dirty="0">
                <a:latin typeface="Times New Roman"/>
                <a:cs typeface="Times New Roman"/>
              </a:rPr>
              <a:t> </a:t>
            </a:r>
            <a:r>
              <a:rPr lang="en-US" sz="2000" kern="0" dirty="0">
                <a:latin typeface="Times New Roman"/>
                <a:cs typeface="Times New Roman"/>
              </a:rPr>
              <a:t>subsystem.</a:t>
            </a:r>
          </a:p>
          <a:p>
            <a:pPr marL="1619884" lvl="2" algn="l">
              <a:lnSpc>
                <a:spcPts val="1380"/>
              </a:lnSpc>
              <a:tabLst>
                <a:tab pos="1907539" algn="l"/>
                <a:tab pos="1908175" algn="l"/>
              </a:tabLst>
            </a:pPr>
            <a:endParaRPr lang="en-US" sz="2000" kern="0" dirty="0">
              <a:latin typeface="Times New Roman"/>
              <a:cs typeface="Times New Roman"/>
            </a:endParaRPr>
          </a:p>
          <a:p>
            <a:pPr marL="1907539" lvl="2" indent="-287655" algn="l">
              <a:lnSpc>
                <a:spcPts val="1380"/>
              </a:lnSpc>
              <a:buFont typeface="Wingdings"/>
              <a:buChar char=""/>
              <a:tabLst>
                <a:tab pos="1907539" algn="l"/>
                <a:tab pos="1908175" algn="l"/>
              </a:tabLst>
            </a:pPr>
            <a:endParaRPr lang="en-US" sz="2000" kern="0" dirty="0">
              <a:latin typeface="Times New Roman"/>
              <a:cs typeface="Times New Roman"/>
            </a:endParaRPr>
          </a:p>
          <a:p>
            <a:pPr marL="106363" algn="l">
              <a:lnSpc>
                <a:spcPts val="1410"/>
              </a:lnSpc>
            </a:pPr>
            <a:r>
              <a:rPr lang="en-US" sz="2000" kern="0" dirty="0">
                <a:latin typeface="Times New Roman"/>
                <a:cs typeface="Times New Roman"/>
              </a:rPr>
              <a:t>The generic </a:t>
            </a:r>
            <a:r>
              <a:rPr lang="en-US" sz="2000" kern="0" spc="-5" dirty="0">
                <a:latin typeface="Times New Roman"/>
                <a:cs typeface="Times New Roman"/>
              </a:rPr>
              <a:t>organization </a:t>
            </a:r>
            <a:r>
              <a:rPr lang="en-US" sz="2000" kern="0" dirty="0">
                <a:latin typeface="Times New Roman"/>
                <a:cs typeface="Times New Roman"/>
              </a:rPr>
              <a:t>of </a:t>
            </a:r>
            <a:r>
              <a:rPr lang="en-US" sz="2000" kern="0" spc="-5" dirty="0">
                <a:latin typeface="Times New Roman"/>
                <a:cs typeface="Times New Roman"/>
              </a:rPr>
              <a:t>these components is </a:t>
            </a:r>
            <a:r>
              <a:rPr lang="en-US" sz="2000" kern="0" dirty="0">
                <a:latin typeface="Times New Roman"/>
                <a:cs typeface="Times New Roman"/>
              </a:rPr>
              <a:t>shown in the </a:t>
            </a:r>
            <a:r>
              <a:rPr lang="en-US" sz="2000" kern="0" spc="-5" dirty="0">
                <a:latin typeface="Times New Roman"/>
                <a:cs typeface="Times New Roman"/>
              </a:rPr>
              <a:t>figure</a:t>
            </a:r>
            <a:r>
              <a:rPr lang="en-US" sz="2000" kern="0" spc="5" dirty="0">
                <a:latin typeface="Times New Roman"/>
                <a:cs typeface="Times New Roman"/>
              </a:rPr>
              <a:t> </a:t>
            </a:r>
            <a:r>
              <a:rPr lang="en-US" sz="2000" kern="0" dirty="0">
                <a:latin typeface="Times New Roman"/>
                <a:cs typeface="Times New Roman"/>
              </a:rPr>
              <a:t>below.</a:t>
            </a:r>
          </a:p>
        </p:txBody>
      </p:sp>
      <p:sp>
        <p:nvSpPr>
          <p:cNvPr id="3" name="Subtitle 2"/>
          <p:cNvSpPr>
            <a:spLocks noGrp="1"/>
          </p:cNvSpPr>
          <p:nvPr>
            <p:ph type="subTitle" idx="1"/>
          </p:nvPr>
        </p:nvSpPr>
        <p:spPr>
          <a:xfrm>
            <a:off x="653142" y="1028704"/>
            <a:ext cx="10871200" cy="2123620"/>
          </a:xfrm>
        </p:spPr>
        <p:txBody>
          <a:bodyPr/>
          <a:lstStyle/>
          <a:p>
            <a:r>
              <a:rPr lang="en-US" dirty="0"/>
              <a:t> </a:t>
            </a:r>
          </a:p>
        </p:txBody>
      </p:sp>
      <p:sp>
        <p:nvSpPr>
          <p:cNvPr id="9" name="object 5"/>
          <p:cNvSpPr/>
          <p:nvPr/>
        </p:nvSpPr>
        <p:spPr>
          <a:xfrm>
            <a:off x="2020435" y="3212040"/>
            <a:ext cx="7042245" cy="2945429"/>
          </a:xfrm>
          <a:prstGeom prst="rect">
            <a:avLst/>
          </a:prstGeom>
          <a:blipFill>
            <a:blip r:embed="rId3" cstate="print"/>
            <a:stretch>
              <a:fillRect/>
            </a:stretch>
          </a:blipFill>
        </p:spPr>
        <p:txBody>
          <a:bodyPr wrap="square" lIns="0" tIns="0" rIns="0" bIns="0" rtlCol="0"/>
          <a:lstStyle/>
          <a:p>
            <a:pPr algn="ctr"/>
            <a:endParaRPr dirty="0"/>
          </a:p>
        </p:txBody>
      </p:sp>
      <p:sp>
        <p:nvSpPr>
          <p:cNvPr id="10" name="object 3"/>
          <p:cNvSpPr txBox="1"/>
          <p:nvPr/>
        </p:nvSpPr>
        <p:spPr>
          <a:xfrm>
            <a:off x="3574234" y="6295571"/>
            <a:ext cx="4529919" cy="259045"/>
          </a:xfrm>
          <a:prstGeom prst="rect">
            <a:avLst/>
          </a:prstGeom>
        </p:spPr>
        <p:txBody>
          <a:bodyPr vert="horz" wrap="square" lIns="0" tIns="12700" rIns="0" bIns="0" rtlCol="0">
            <a:spAutoFit/>
          </a:bodyPr>
          <a:lstStyle/>
          <a:p>
            <a:pPr marL="12700" algn="ctr">
              <a:lnSpc>
                <a:spcPct val="100000"/>
              </a:lnSpc>
              <a:spcBef>
                <a:spcPts val="100"/>
              </a:spcBef>
            </a:pPr>
            <a:r>
              <a:rPr sz="1600" spc="-5" dirty="0">
                <a:latin typeface="Carlito"/>
                <a:cs typeface="Carlito"/>
              </a:rPr>
              <a:t>Fig </a:t>
            </a:r>
            <a:r>
              <a:rPr sz="1600" dirty="0">
                <a:latin typeface="Carlito"/>
                <a:cs typeface="Carlito"/>
              </a:rPr>
              <a:t>1.1 </a:t>
            </a:r>
            <a:r>
              <a:rPr sz="1600" spc="-5" dirty="0">
                <a:latin typeface="Carlito"/>
                <a:cs typeface="Carlito"/>
              </a:rPr>
              <a:t>Generic computer</a:t>
            </a:r>
            <a:r>
              <a:rPr sz="1600" spc="-25" dirty="0">
                <a:latin typeface="Carlito"/>
                <a:cs typeface="Carlito"/>
              </a:rPr>
              <a:t> </a:t>
            </a:r>
            <a:r>
              <a:rPr sz="1600" spc="-5" dirty="0">
                <a:latin typeface="Carlito"/>
                <a:cs typeface="Carlito"/>
              </a:rPr>
              <a:t>Organization</a:t>
            </a:r>
            <a:endParaRPr sz="1600" dirty="0">
              <a:latin typeface="Carlito"/>
              <a:cs typeface="Carlito"/>
            </a:endParaRPr>
          </a:p>
        </p:txBody>
      </p:sp>
    </p:spTree>
    <p:extLst>
      <p:ext uri="{BB962C8B-B14F-4D97-AF65-F5344CB8AC3E}">
        <p14:creationId xmlns:p14="http://schemas.microsoft.com/office/powerpoint/2010/main" val="1059767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9" name="object 4"/>
          <p:cNvSpPr txBox="1"/>
          <p:nvPr/>
        </p:nvSpPr>
        <p:spPr>
          <a:xfrm>
            <a:off x="190681" y="914401"/>
            <a:ext cx="11159490" cy="1720984"/>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System</a:t>
            </a:r>
            <a:r>
              <a:rPr sz="2000" b="1" spc="-2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bus:</a:t>
            </a:r>
            <a:endParaRPr sz="2000" dirty="0">
              <a:latin typeface="Times New Roman" panose="02020603050405020304" pitchFamily="18" charset="0"/>
              <a:cs typeface="Times New Roman" panose="02020603050405020304" pitchFamily="18" charset="0"/>
            </a:endParaRPr>
          </a:p>
          <a:p>
            <a:pPr>
              <a:lnSpc>
                <a:spcPct val="100000"/>
              </a:lnSpc>
              <a:spcBef>
                <a:spcPts val="30"/>
              </a:spcBef>
            </a:pPr>
            <a:endParaRPr sz="1400" dirty="0">
              <a:latin typeface="Times New Roman" panose="02020603050405020304" pitchFamily="18" charset="0"/>
              <a:cs typeface="Times New Roman" panose="02020603050405020304" pitchFamily="18" charset="0"/>
            </a:endParaRPr>
          </a:p>
          <a:p>
            <a:pPr marL="78105" marR="5080" algn="just">
              <a:lnSpc>
                <a:spcPct val="94600"/>
              </a:lnSpc>
            </a:pPr>
            <a:r>
              <a:rPr sz="2000" dirty="0">
                <a:latin typeface="Times New Roman" panose="02020603050405020304" pitchFamily="18" charset="0"/>
                <a:cs typeface="Times New Roman" panose="02020603050405020304" pitchFamily="18" charset="0"/>
              </a:rPr>
              <a:t>Physically the </a:t>
            </a:r>
            <a:r>
              <a:rPr sz="2000" spc="-5" dirty="0">
                <a:latin typeface="Times New Roman" panose="02020603050405020304" pitchFamily="18" charset="0"/>
                <a:cs typeface="Times New Roman" panose="02020603050405020304" pitchFamily="18" charset="0"/>
              </a:rPr>
              <a:t>bus </a:t>
            </a:r>
            <a:r>
              <a:rPr lang="en-US" sz="2000" spc="-5" dirty="0">
                <a:latin typeface="Times New Roman" panose="02020603050405020304" pitchFamily="18" charset="0"/>
                <a:cs typeface="Times New Roman" panose="02020603050405020304" pitchFamily="18" charset="0"/>
              </a:rPr>
              <a:t>is </a:t>
            </a:r>
            <a:r>
              <a:rPr sz="2000" dirty="0">
                <a:latin typeface="Times New Roman" panose="02020603050405020304" pitchFamily="18" charset="0"/>
                <a:cs typeface="Times New Roman" panose="02020603050405020304" pitchFamily="18" charset="0"/>
              </a:rPr>
              <a:t>a </a:t>
            </a:r>
            <a:r>
              <a:rPr sz="2000" spc="-5" dirty="0">
                <a:latin typeface="Times New Roman" panose="02020603050405020304" pitchFamily="18" charset="0"/>
                <a:cs typeface="Times New Roman" panose="02020603050405020304" pitchFamily="18" charset="0"/>
              </a:rPr>
              <a:t>set </a:t>
            </a:r>
            <a:r>
              <a:rPr sz="2000" spc="5" dirty="0">
                <a:latin typeface="Times New Roman" panose="02020603050405020304" pitchFamily="18" charset="0"/>
                <a:cs typeface="Times New Roman" panose="02020603050405020304" pitchFamily="18" charset="0"/>
              </a:rPr>
              <a:t>of </a:t>
            </a:r>
            <a:r>
              <a:rPr sz="2000" spc="-5" dirty="0">
                <a:latin typeface="Times New Roman" panose="02020603050405020304" pitchFamily="18" charset="0"/>
                <a:cs typeface="Times New Roman" panose="02020603050405020304" pitchFamily="18" charset="0"/>
              </a:rPr>
              <a:t>wires. </a:t>
            </a:r>
            <a:r>
              <a:rPr sz="2000" dirty="0">
                <a:latin typeface="Times New Roman" panose="02020603050405020304" pitchFamily="18" charset="0"/>
                <a:cs typeface="Times New Roman" panose="02020603050405020304" pitchFamily="18" charset="0"/>
              </a:rPr>
              <a:t>The </a:t>
            </a:r>
            <a:r>
              <a:rPr sz="2000" spc="-5" dirty="0">
                <a:latin typeface="Times New Roman" panose="02020603050405020304" pitchFamily="18" charset="0"/>
                <a:cs typeface="Times New Roman" panose="02020603050405020304" pitchFamily="18" charset="0"/>
              </a:rPr>
              <a:t>components </a:t>
            </a:r>
            <a:r>
              <a:rPr sz="2000" dirty="0">
                <a:latin typeface="Times New Roman" panose="02020603050405020304" pitchFamily="18" charset="0"/>
                <a:cs typeface="Times New Roman" panose="02020603050405020304" pitchFamily="18" charset="0"/>
              </a:rPr>
              <a:t>of a </a:t>
            </a:r>
            <a:r>
              <a:rPr sz="2000" spc="-5" dirty="0">
                <a:latin typeface="Times New Roman" panose="02020603050405020304" pitchFamily="18" charset="0"/>
                <a:cs typeface="Times New Roman" panose="02020603050405020304" pitchFamily="18" charset="0"/>
              </a:rPr>
              <a:t>computer are connected </a:t>
            </a:r>
            <a:r>
              <a:rPr sz="2000" dirty="0">
                <a:latin typeface="Times New Roman" panose="02020603050405020304" pitchFamily="18" charset="0"/>
                <a:cs typeface="Times New Roman" panose="02020603050405020304" pitchFamily="18" charset="0"/>
              </a:rPr>
              <a:t>to the </a:t>
            </a:r>
            <a:r>
              <a:rPr sz="2000" spc="-5" dirty="0">
                <a:latin typeface="Times New Roman" panose="02020603050405020304" pitchFamily="18" charset="0"/>
                <a:cs typeface="Times New Roman" panose="02020603050405020304" pitchFamily="18" charset="0"/>
              </a:rPr>
              <a:t>buses. </a:t>
            </a:r>
            <a:r>
              <a:rPr sz="2000" dirty="0">
                <a:latin typeface="Times New Roman" panose="02020603050405020304" pitchFamily="18" charset="0"/>
                <a:cs typeface="Times New Roman" panose="02020603050405020304" pitchFamily="18" charset="0"/>
              </a:rPr>
              <a:t>To </a:t>
            </a:r>
            <a:r>
              <a:rPr sz="2000" spc="-5" dirty="0">
                <a:latin typeface="Times New Roman" panose="02020603050405020304" pitchFamily="18" charset="0"/>
                <a:cs typeface="Times New Roman" panose="02020603050405020304" pitchFamily="18" charset="0"/>
              </a:rPr>
              <a:t>send  information from </a:t>
            </a:r>
            <a:r>
              <a:rPr sz="2000" dirty="0">
                <a:latin typeface="Times New Roman" panose="02020603050405020304" pitchFamily="18" charset="0"/>
                <a:cs typeface="Times New Roman" panose="02020603050405020304" pitchFamily="18" charset="0"/>
              </a:rPr>
              <a:t>one component to </a:t>
            </a:r>
            <a:r>
              <a:rPr sz="2000" spc="-5" dirty="0">
                <a:latin typeface="Times New Roman" panose="02020603050405020304" pitchFamily="18" charset="0"/>
                <a:cs typeface="Times New Roman" panose="02020603050405020304" pitchFamily="18" charset="0"/>
              </a:rPr>
              <a:t>another </a:t>
            </a:r>
            <a:r>
              <a:rPr sz="2000" dirty="0">
                <a:latin typeface="Times New Roman" panose="02020603050405020304" pitchFamily="18" charset="0"/>
                <a:cs typeface="Times New Roman" panose="02020603050405020304" pitchFamily="18" charset="0"/>
              </a:rPr>
              <a:t>the </a:t>
            </a:r>
            <a:r>
              <a:rPr sz="2000" spc="-5" dirty="0">
                <a:latin typeface="Times New Roman" panose="02020603050405020304" pitchFamily="18" charset="0"/>
                <a:cs typeface="Times New Roman" panose="02020603050405020304" pitchFamily="18" charset="0"/>
              </a:rPr>
              <a:t>source component </a:t>
            </a:r>
            <a:r>
              <a:rPr sz="2000" dirty="0">
                <a:latin typeface="Times New Roman" panose="02020603050405020304" pitchFamily="18" charset="0"/>
                <a:cs typeface="Times New Roman" panose="02020603050405020304" pitchFamily="18" charset="0"/>
              </a:rPr>
              <a:t>outputs </a:t>
            </a:r>
            <a:r>
              <a:rPr sz="2000" spc="-5" dirty="0">
                <a:latin typeface="Times New Roman" panose="02020603050405020304" pitchFamily="18" charset="0"/>
                <a:cs typeface="Times New Roman" panose="02020603050405020304" pitchFamily="18" charset="0"/>
              </a:rPr>
              <a:t>data </a:t>
            </a:r>
            <a:r>
              <a:rPr sz="2000" dirty="0">
                <a:latin typeface="Times New Roman" panose="02020603050405020304" pitchFamily="18" charset="0"/>
                <a:cs typeface="Times New Roman" panose="02020603050405020304" pitchFamily="18" charset="0"/>
              </a:rPr>
              <a:t>on to the bus. The  </a:t>
            </a:r>
            <a:r>
              <a:rPr sz="2000" spc="-5" dirty="0">
                <a:latin typeface="Times New Roman" panose="02020603050405020304" pitchFamily="18" charset="0"/>
                <a:cs typeface="Times New Roman" panose="02020603050405020304" pitchFamily="18" charset="0"/>
              </a:rPr>
              <a:t>destination component </a:t>
            </a:r>
            <a:r>
              <a:rPr sz="2000" dirty="0">
                <a:latin typeface="Times New Roman" panose="02020603050405020304" pitchFamily="18" charset="0"/>
                <a:cs typeface="Times New Roman" panose="02020603050405020304" pitchFamily="18" charset="0"/>
              </a:rPr>
              <a:t>then inputs the </a:t>
            </a:r>
            <a:r>
              <a:rPr sz="2000" spc="-5" dirty="0">
                <a:latin typeface="Times New Roman" panose="02020603050405020304" pitchFamily="18" charset="0"/>
                <a:cs typeface="Times New Roman" panose="02020603050405020304" pitchFamily="18" charset="0"/>
              </a:rPr>
              <a:t>data from</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bus.</a:t>
            </a:r>
          </a:p>
          <a:p>
            <a:pPr marL="52069" algn="just">
              <a:lnSpc>
                <a:spcPct val="100000"/>
              </a:lnSpc>
              <a:spcBef>
                <a:spcPts val="35"/>
              </a:spcBef>
            </a:pPr>
            <a:r>
              <a:rPr sz="2000" spc="-5" dirty="0">
                <a:latin typeface="Times New Roman" panose="02020603050405020304" pitchFamily="18" charset="0"/>
                <a:cs typeface="Times New Roman" panose="02020603050405020304" pitchFamily="18" charset="0"/>
              </a:rPr>
              <a:t>The system </a:t>
            </a:r>
            <a:r>
              <a:rPr sz="2000" dirty="0">
                <a:latin typeface="Times New Roman" panose="02020603050405020304" pitchFamily="18" charset="0"/>
                <a:cs typeface="Times New Roman" panose="02020603050405020304" pitchFamily="18" charset="0"/>
              </a:rPr>
              <a:t>has </a:t>
            </a:r>
            <a:r>
              <a:rPr sz="2000" spc="-5" dirty="0">
                <a:latin typeface="Times New Roman" panose="02020603050405020304" pitchFamily="18" charset="0"/>
                <a:cs typeface="Times New Roman" panose="02020603050405020304" pitchFamily="18" charset="0"/>
              </a:rPr>
              <a:t>three</a:t>
            </a:r>
            <a:r>
              <a:rPr sz="2000" spc="-8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buses</a:t>
            </a:r>
            <a:endParaRPr sz="2000" dirty="0">
              <a:latin typeface="Times New Roman" panose="02020603050405020304" pitchFamily="18" charset="0"/>
              <a:cs typeface="Times New Roman" panose="02020603050405020304" pitchFamily="18" charset="0"/>
            </a:endParaRPr>
          </a:p>
        </p:txBody>
      </p:sp>
      <p:sp>
        <p:nvSpPr>
          <p:cNvPr id="10" name="object 2"/>
          <p:cNvSpPr txBox="1"/>
          <p:nvPr/>
        </p:nvSpPr>
        <p:spPr>
          <a:xfrm>
            <a:off x="0" y="2751655"/>
            <a:ext cx="11159490" cy="3744615"/>
          </a:xfrm>
          <a:prstGeom prst="rect">
            <a:avLst/>
          </a:prstGeom>
        </p:spPr>
        <p:txBody>
          <a:bodyPr vert="horz" wrap="square" lIns="0" tIns="12700" rIns="0" bIns="0" rtlCol="0">
            <a:spAutoFit/>
          </a:bodyPr>
          <a:lstStyle/>
          <a:p>
            <a:pPr marL="1391920" indent="-285750">
              <a:lnSpc>
                <a:spcPts val="1395"/>
              </a:lnSpc>
              <a:spcBef>
                <a:spcPts val="100"/>
              </a:spcBef>
              <a:buFont typeface="Wingdings" panose="05000000000000000000" pitchFamily="2" charset="2"/>
              <a:buChar char="§"/>
              <a:tabLst>
                <a:tab pos="1336040" algn="l"/>
              </a:tabLst>
            </a:pPr>
            <a:r>
              <a:rPr sz="2000" spc="-5" dirty="0">
                <a:latin typeface="Times New Roman"/>
                <a:cs typeface="Times New Roman"/>
              </a:rPr>
              <a:t>Address</a:t>
            </a:r>
            <a:r>
              <a:rPr sz="2000" spc="-25" dirty="0">
                <a:latin typeface="Times New Roman"/>
                <a:cs typeface="Times New Roman"/>
              </a:rPr>
              <a:t> </a:t>
            </a:r>
            <a:r>
              <a:rPr sz="2000" spc="-5" dirty="0">
                <a:latin typeface="Times New Roman"/>
                <a:cs typeface="Times New Roman"/>
              </a:rPr>
              <a:t>bus</a:t>
            </a:r>
            <a:endParaRPr lang="en-US" sz="2000" spc="-5" dirty="0">
              <a:latin typeface="Times New Roman"/>
              <a:cs typeface="Times New Roman"/>
            </a:endParaRPr>
          </a:p>
          <a:p>
            <a:pPr marL="1106170">
              <a:lnSpc>
                <a:spcPts val="1395"/>
              </a:lnSpc>
              <a:spcBef>
                <a:spcPts val="100"/>
              </a:spcBef>
              <a:tabLst>
                <a:tab pos="1336040" algn="l"/>
              </a:tabLst>
            </a:pPr>
            <a:endParaRPr sz="2000" dirty="0">
              <a:latin typeface="Times New Roman"/>
              <a:cs typeface="Times New Roman"/>
            </a:endParaRPr>
          </a:p>
          <a:p>
            <a:pPr marL="1391920" indent="-285750">
              <a:lnSpc>
                <a:spcPts val="1365"/>
              </a:lnSpc>
              <a:buFont typeface="Wingdings" panose="05000000000000000000" pitchFamily="2" charset="2"/>
              <a:buChar char="§"/>
              <a:tabLst>
                <a:tab pos="1336040" algn="l"/>
              </a:tabLst>
            </a:pPr>
            <a:r>
              <a:rPr sz="2000" spc="-5" dirty="0">
                <a:latin typeface="Times New Roman"/>
                <a:cs typeface="Times New Roman"/>
              </a:rPr>
              <a:t>Data</a:t>
            </a:r>
            <a:r>
              <a:rPr sz="2000" spc="-35" dirty="0">
                <a:latin typeface="Times New Roman"/>
                <a:cs typeface="Times New Roman"/>
              </a:rPr>
              <a:t> </a:t>
            </a:r>
            <a:r>
              <a:rPr sz="2000" spc="-5" dirty="0">
                <a:latin typeface="Times New Roman"/>
                <a:cs typeface="Times New Roman"/>
              </a:rPr>
              <a:t>bu</a:t>
            </a:r>
            <a:r>
              <a:rPr lang="en-US" sz="2000" spc="-5" dirty="0">
                <a:latin typeface="Times New Roman"/>
                <a:cs typeface="Times New Roman"/>
              </a:rPr>
              <a:t>s</a:t>
            </a:r>
          </a:p>
          <a:p>
            <a:pPr marL="1106170">
              <a:lnSpc>
                <a:spcPts val="1365"/>
              </a:lnSpc>
              <a:tabLst>
                <a:tab pos="1336040" algn="l"/>
              </a:tabLst>
            </a:pPr>
            <a:endParaRPr sz="2000" dirty="0">
              <a:latin typeface="Times New Roman"/>
              <a:cs typeface="Times New Roman"/>
            </a:endParaRPr>
          </a:p>
          <a:p>
            <a:pPr marL="1391920" indent="-285750">
              <a:lnSpc>
                <a:spcPts val="1410"/>
              </a:lnSpc>
              <a:buFont typeface="Wingdings" panose="05000000000000000000" pitchFamily="2" charset="2"/>
              <a:buChar char="§"/>
              <a:tabLst>
                <a:tab pos="1336040" algn="l"/>
              </a:tabLst>
            </a:pPr>
            <a:r>
              <a:rPr sz="2000" dirty="0">
                <a:latin typeface="Times New Roman"/>
                <a:cs typeface="Times New Roman"/>
              </a:rPr>
              <a:t>Control</a:t>
            </a:r>
            <a:r>
              <a:rPr sz="2000" spc="-15" dirty="0">
                <a:latin typeface="Times New Roman"/>
                <a:cs typeface="Times New Roman"/>
              </a:rPr>
              <a:t> </a:t>
            </a:r>
            <a:r>
              <a:rPr sz="2000" spc="-5" dirty="0">
                <a:latin typeface="Times New Roman"/>
                <a:cs typeface="Times New Roman"/>
              </a:rPr>
              <a:t>bus</a:t>
            </a:r>
            <a:endParaRPr sz="2000" dirty="0">
              <a:latin typeface="Times New Roman"/>
              <a:cs typeface="Times New Roman"/>
            </a:endParaRPr>
          </a:p>
          <a:p>
            <a:pPr marL="404495" marR="106045" indent="-228600">
              <a:buFont typeface="Symbol"/>
              <a:buChar char=""/>
              <a:tabLst>
                <a:tab pos="307340" algn="l"/>
              </a:tabLst>
            </a:pPr>
            <a:r>
              <a:rPr sz="2000" dirty="0">
                <a:latin typeface="Times New Roman"/>
                <a:cs typeface="Times New Roman"/>
              </a:rPr>
              <a:t>The </a:t>
            </a:r>
            <a:r>
              <a:rPr sz="2000" spc="-5" dirty="0">
                <a:latin typeface="Times New Roman"/>
                <a:cs typeface="Times New Roman"/>
              </a:rPr>
              <a:t>uppermost bus </a:t>
            </a:r>
            <a:r>
              <a:rPr sz="2000" dirty="0">
                <a:latin typeface="Times New Roman"/>
                <a:cs typeface="Times New Roman"/>
              </a:rPr>
              <a:t>in this </a:t>
            </a:r>
            <a:r>
              <a:rPr sz="2000" spc="-5" dirty="0">
                <a:latin typeface="Times New Roman"/>
                <a:cs typeface="Times New Roman"/>
              </a:rPr>
              <a:t>figure is </a:t>
            </a:r>
            <a:r>
              <a:rPr sz="2000" dirty="0">
                <a:latin typeface="Times New Roman"/>
                <a:cs typeface="Times New Roman"/>
              </a:rPr>
              <a:t>the </a:t>
            </a:r>
            <a:r>
              <a:rPr sz="2000" b="1" spc="-5" dirty="0">
                <a:latin typeface="Times New Roman"/>
                <a:cs typeface="Times New Roman"/>
              </a:rPr>
              <a:t>address </a:t>
            </a:r>
            <a:r>
              <a:rPr sz="2000" b="1" dirty="0">
                <a:latin typeface="Times New Roman"/>
                <a:cs typeface="Times New Roman"/>
              </a:rPr>
              <a:t>bus</a:t>
            </a:r>
            <a:r>
              <a:rPr sz="2000" dirty="0">
                <a:latin typeface="Times New Roman"/>
                <a:cs typeface="Times New Roman"/>
              </a:rPr>
              <a:t>. When the </a:t>
            </a:r>
            <a:r>
              <a:rPr sz="2000" spc="-5" dirty="0">
                <a:latin typeface="Times New Roman"/>
                <a:cs typeface="Times New Roman"/>
              </a:rPr>
              <a:t>CPU reads data </a:t>
            </a:r>
            <a:r>
              <a:rPr sz="2000" dirty="0">
                <a:latin typeface="Times New Roman"/>
                <a:cs typeface="Times New Roman"/>
              </a:rPr>
              <a:t>or </a:t>
            </a:r>
            <a:r>
              <a:rPr sz="2000" spc="-5" dirty="0">
                <a:latin typeface="Times New Roman"/>
                <a:cs typeface="Times New Roman"/>
              </a:rPr>
              <a:t>instructions  from </a:t>
            </a:r>
            <a:r>
              <a:rPr sz="2000" dirty="0">
                <a:latin typeface="Times New Roman"/>
                <a:cs typeface="Times New Roman"/>
              </a:rPr>
              <a:t>or </a:t>
            </a:r>
            <a:r>
              <a:rPr sz="2000" spc="-5" dirty="0">
                <a:latin typeface="Times New Roman"/>
                <a:cs typeface="Times New Roman"/>
              </a:rPr>
              <a:t>writes </a:t>
            </a:r>
            <a:r>
              <a:rPr sz="2000" dirty="0">
                <a:latin typeface="Times New Roman"/>
                <a:cs typeface="Times New Roman"/>
              </a:rPr>
              <a:t>data to </a:t>
            </a:r>
            <a:r>
              <a:rPr sz="2000" spc="-5" dirty="0">
                <a:latin typeface="Times New Roman"/>
                <a:cs typeface="Times New Roman"/>
              </a:rPr>
              <a:t>memory, </a:t>
            </a:r>
            <a:r>
              <a:rPr sz="2000" dirty="0">
                <a:latin typeface="Times New Roman"/>
                <a:cs typeface="Times New Roman"/>
              </a:rPr>
              <a:t>it must specify the </a:t>
            </a:r>
            <a:r>
              <a:rPr sz="2000" spc="-5" dirty="0">
                <a:latin typeface="Times New Roman"/>
                <a:cs typeface="Times New Roman"/>
              </a:rPr>
              <a:t>address </a:t>
            </a:r>
            <a:r>
              <a:rPr sz="2000" dirty="0">
                <a:latin typeface="Times New Roman"/>
                <a:cs typeface="Times New Roman"/>
              </a:rPr>
              <a:t>of the memory </a:t>
            </a:r>
            <a:r>
              <a:rPr sz="2000" spc="-5" dirty="0">
                <a:latin typeface="Times New Roman"/>
                <a:cs typeface="Times New Roman"/>
              </a:rPr>
              <a:t>location </a:t>
            </a:r>
            <a:r>
              <a:rPr sz="2000" dirty="0">
                <a:latin typeface="Times New Roman"/>
                <a:cs typeface="Times New Roman"/>
              </a:rPr>
              <a:t>it </a:t>
            </a:r>
            <a:r>
              <a:rPr sz="2000" spc="-5" dirty="0">
                <a:latin typeface="Times New Roman"/>
                <a:cs typeface="Times New Roman"/>
              </a:rPr>
              <a:t>wishes </a:t>
            </a:r>
            <a:r>
              <a:rPr sz="2000" dirty="0">
                <a:latin typeface="Times New Roman"/>
                <a:cs typeface="Times New Roman"/>
              </a:rPr>
              <a:t>to  </a:t>
            </a:r>
            <a:r>
              <a:rPr sz="2000" spc="-5" dirty="0">
                <a:latin typeface="Times New Roman"/>
                <a:cs typeface="Times New Roman"/>
              </a:rPr>
              <a:t>access.</a:t>
            </a:r>
            <a:endParaRPr lang="en-US" sz="2000" spc="-5" dirty="0">
              <a:latin typeface="Times New Roman"/>
              <a:cs typeface="Times New Roman"/>
            </a:endParaRPr>
          </a:p>
          <a:p>
            <a:pPr marL="175895" marR="106045">
              <a:tabLst>
                <a:tab pos="307340" algn="l"/>
              </a:tabLst>
            </a:pPr>
            <a:endParaRPr sz="2000" dirty="0">
              <a:latin typeface="Times New Roman"/>
              <a:cs typeface="Times New Roman"/>
            </a:endParaRPr>
          </a:p>
          <a:p>
            <a:pPr marL="404495" marR="254635" indent="-228600">
              <a:spcBef>
                <a:spcPts val="114"/>
              </a:spcBef>
              <a:buFont typeface="Symbol"/>
              <a:buChar char=""/>
              <a:tabLst>
                <a:tab pos="307340" algn="l"/>
              </a:tabLst>
            </a:pPr>
            <a:r>
              <a:rPr sz="2000" spc="-5" dirty="0">
                <a:latin typeface="Times New Roman"/>
                <a:cs typeface="Times New Roman"/>
              </a:rPr>
              <a:t>Data is transferred </a:t>
            </a:r>
            <a:r>
              <a:rPr sz="2000" dirty="0">
                <a:latin typeface="Times New Roman"/>
                <a:cs typeface="Times New Roman"/>
              </a:rPr>
              <a:t>via the </a:t>
            </a:r>
            <a:r>
              <a:rPr sz="2000" b="1" spc="-5" dirty="0">
                <a:latin typeface="Times New Roman"/>
                <a:cs typeface="Times New Roman"/>
              </a:rPr>
              <a:t>data bus</a:t>
            </a:r>
            <a:r>
              <a:rPr sz="2000" spc="-5" dirty="0">
                <a:latin typeface="Times New Roman"/>
                <a:cs typeface="Times New Roman"/>
              </a:rPr>
              <a:t>. </a:t>
            </a:r>
            <a:r>
              <a:rPr sz="2000" dirty="0">
                <a:latin typeface="Times New Roman"/>
                <a:cs typeface="Times New Roman"/>
              </a:rPr>
              <a:t>When CPU </a:t>
            </a:r>
            <a:r>
              <a:rPr sz="2000" spc="-5" dirty="0">
                <a:latin typeface="Times New Roman"/>
                <a:cs typeface="Times New Roman"/>
              </a:rPr>
              <a:t>fetches </a:t>
            </a:r>
            <a:r>
              <a:rPr sz="2000" dirty="0">
                <a:latin typeface="Times New Roman"/>
                <a:cs typeface="Times New Roman"/>
              </a:rPr>
              <a:t>data </a:t>
            </a:r>
            <a:r>
              <a:rPr sz="2000" spc="-5" dirty="0">
                <a:latin typeface="Times New Roman"/>
                <a:cs typeface="Times New Roman"/>
              </a:rPr>
              <a:t>from </a:t>
            </a:r>
            <a:r>
              <a:rPr sz="2000" dirty="0">
                <a:latin typeface="Times New Roman"/>
                <a:cs typeface="Times New Roman"/>
              </a:rPr>
              <a:t>memory it </a:t>
            </a:r>
            <a:r>
              <a:rPr sz="2000" spc="-5" dirty="0">
                <a:latin typeface="Times New Roman"/>
                <a:cs typeface="Times New Roman"/>
              </a:rPr>
              <a:t>first </a:t>
            </a:r>
            <a:r>
              <a:rPr sz="2000" dirty="0">
                <a:latin typeface="Times New Roman"/>
                <a:cs typeface="Times New Roman"/>
              </a:rPr>
              <a:t>outputs the  memory </a:t>
            </a:r>
            <a:r>
              <a:rPr sz="2000" spc="-5" dirty="0">
                <a:latin typeface="Times New Roman"/>
                <a:cs typeface="Times New Roman"/>
              </a:rPr>
              <a:t>address </a:t>
            </a:r>
            <a:r>
              <a:rPr sz="2000" dirty="0">
                <a:latin typeface="Times New Roman"/>
                <a:cs typeface="Times New Roman"/>
              </a:rPr>
              <a:t>on to </a:t>
            </a:r>
            <a:r>
              <a:rPr sz="2000" spc="-5" dirty="0">
                <a:latin typeface="Times New Roman"/>
                <a:cs typeface="Times New Roman"/>
              </a:rPr>
              <a:t>its address bus. Then </a:t>
            </a:r>
            <a:r>
              <a:rPr sz="2000" dirty="0">
                <a:latin typeface="Times New Roman"/>
                <a:cs typeface="Times New Roman"/>
              </a:rPr>
              <a:t>memory outputs the data onto the </a:t>
            </a:r>
            <a:r>
              <a:rPr sz="2000" spc="-5" dirty="0">
                <a:latin typeface="Times New Roman"/>
                <a:cs typeface="Times New Roman"/>
              </a:rPr>
              <a:t>data </a:t>
            </a:r>
            <a:r>
              <a:rPr sz="2000" dirty="0">
                <a:latin typeface="Times New Roman"/>
                <a:cs typeface="Times New Roman"/>
              </a:rPr>
              <a:t>bus.  Memory then </a:t>
            </a:r>
            <a:r>
              <a:rPr sz="2000" spc="-5" dirty="0">
                <a:latin typeface="Times New Roman"/>
                <a:cs typeface="Times New Roman"/>
              </a:rPr>
              <a:t>reads and stores </a:t>
            </a:r>
            <a:r>
              <a:rPr sz="2000" dirty="0">
                <a:latin typeface="Times New Roman"/>
                <a:cs typeface="Times New Roman"/>
              </a:rPr>
              <a:t>the </a:t>
            </a:r>
            <a:r>
              <a:rPr sz="2000" spc="-5" dirty="0">
                <a:latin typeface="Times New Roman"/>
                <a:cs typeface="Times New Roman"/>
              </a:rPr>
              <a:t>data at </a:t>
            </a:r>
            <a:r>
              <a:rPr sz="2000" dirty="0">
                <a:latin typeface="Times New Roman"/>
                <a:cs typeface="Times New Roman"/>
              </a:rPr>
              <a:t>the proper</a:t>
            </a:r>
            <a:r>
              <a:rPr sz="2000" spc="-110" dirty="0">
                <a:latin typeface="Times New Roman"/>
                <a:cs typeface="Times New Roman"/>
              </a:rPr>
              <a:t> </a:t>
            </a:r>
            <a:r>
              <a:rPr sz="2000" spc="-5" dirty="0">
                <a:latin typeface="Times New Roman"/>
                <a:cs typeface="Times New Roman"/>
              </a:rPr>
              <a:t>locations.</a:t>
            </a:r>
            <a:endParaRPr lang="en-US" sz="2000" spc="-5" dirty="0">
              <a:latin typeface="Times New Roman"/>
              <a:cs typeface="Times New Roman"/>
            </a:endParaRPr>
          </a:p>
          <a:p>
            <a:pPr marL="175895" marR="254635">
              <a:spcBef>
                <a:spcPts val="114"/>
              </a:spcBef>
              <a:tabLst>
                <a:tab pos="307340" algn="l"/>
              </a:tabLst>
            </a:pPr>
            <a:endParaRPr sz="2000" dirty="0">
              <a:latin typeface="Times New Roman"/>
              <a:cs typeface="Times New Roman"/>
            </a:endParaRPr>
          </a:p>
          <a:p>
            <a:pPr marL="404495" marR="5080" indent="-228600">
              <a:spcBef>
                <a:spcPts val="185"/>
              </a:spcBef>
              <a:buFont typeface="Symbol"/>
              <a:buChar char=""/>
              <a:tabLst>
                <a:tab pos="307340" algn="l"/>
              </a:tabLst>
            </a:pPr>
            <a:r>
              <a:rPr sz="2000" b="1" spc="-5" dirty="0">
                <a:latin typeface="Times New Roman"/>
                <a:cs typeface="Times New Roman"/>
              </a:rPr>
              <a:t>Control bus </a:t>
            </a:r>
            <a:r>
              <a:rPr sz="2000" spc="-5" dirty="0">
                <a:latin typeface="Times New Roman"/>
                <a:cs typeface="Times New Roman"/>
              </a:rPr>
              <a:t>carries </a:t>
            </a:r>
            <a:r>
              <a:rPr sz="2000" dirty="0">
                <a:latin typeface="Times New Roman"/>
                <a:cs typeface="Times New Roman"/>
              </a:rPr>
              <a:t>the </a:t>
            </a:r>
            <a:r>
              <a:rPr sz="2000" spc="-5" dirty="0">
                <a:latin typeface="Times New Roman"/>
                <a:cs typeface="Times New Roman"/>
              </a:rPr>
              <a:t>control signal. </a:t>
            </a:r>
            <a:r>
              <a:rPr sz="2000" dirty="0">
                <a:latin typeface="Times New Roman"/>
                <a:cs typeface="Times New Roman"/>
              </a:rPr>
              <a:t>Control </a:t>
            </a:r>
            <a:r>
              <a:rPr sz="2000" spc="-5" dirty="0">
                <a:latin typeface="Times New Roman"/>
                <a:cs typeface="Times New Roman"/>
              </a:rPr>
              <a:t>signal is </a:t>
            </a:r>
            <a:r>
              <a:rPr sz="2000" dirty="0">
                <a:latin typeface="Times New Roman"/>
                <a:cs typeface="Times New Roman"/>
              </a:rPr>
              <a:t>the </a:t>
            </a:r>
            <a:r>
              <a:rPr sz="2000" spc="-5" dirty="0">
                <a:latin typeface="Times New Roman"/>
                <a:cs typeface="Times New Roman"/>
              </a:rPr>
              <a:t>collection </a:t>
            </a:r>
            <a:r>
              <a:rPr sz="2000" dirty="0">
                <a:latin typeface="Times New Roman"/>
                <a:cs typeface="Times New Roman"/>
              </a:rPr>
              <a:t>of individual </a:t>
            </a:r>
            <a:r>
              <a:rPr sz="2000" spc="-5" dirty="0">
                <a:latin typeface="Times New Roman"/>
                <a:cs typeface="Times New Roman"/>
              </a:rPr>
              <a:t>control  signals. </a:t>
            </a:r>
            <a:r>
              <a:rPr sz="2000" dirty="0">
                <a:latin typeface="Times New Roman"/>
                <a:cs typeface="Times New Roman"/>
              </a:rPr>
              <a:t>These </a:t>
            </a:r>
            <a:r>
              <a:rPr sz="2000" spc="-5" dirty="0">
                <a:latin typeface="Times New Roman"/>
                <a:cs typeface="Times New Roman"/>
              </a:rPr>
              <a:t>signals indicate whether data is </a:t>
            </a:r>
            <a:r>
              <a:rPr sz="2000" dirty="0">
                <a:latin typeface="Times New Roman"/>
                <a:cs typeface="Times New Roman"/>
              </a:rPr>
              <a:t>to </a:t>
            </a:r>
            <a:r>
              <a:rPr sz="2000" spc="5" dirty="0">
                <a:latin typeface="Times New Roman"/>
                <a:cs typeface="Times New Roman"/>
              </a:rPr>
              <a:t>be </a:t>
            </a:r>
            <a:r>
              <a:rPr sz="2000" spc="-5" dirty="0">
                <a:latin typeface="Times New Roman"/>
                <a:cs typeface="Times New Roman"/>
              </a:rPr>
              <a:t>read </a:t>
            </a:r>
            <a:r>
              <a:rPr sz="2000" dirty="0">
                <a:latin typeface="Times New Roman"/>
                <a:cs typeface="Times New Roman"/>
              </a:rPr>
              <a:t>into or </a:t>
            </a:r>
            <a:r>
              <a:rPr sz="2000" spc="-5" dirty="0">
                <a:latin typeface="Times New Roman"/>
                <a:cs typeface="Times New Roman"/>
              </a:rPr>
              <a:t>written </a:t>
            </a:r>
            <a:r>
              <a:rPr sz="2000" dirty="0">
                <a:latin typeface="Times New Roman"/>
                <a:cs typeface="Times New Roman"/>
              </a:rPr>
              <a:t>out of the</a:t>
            </a:r>
            <a:r>
              <a:rPr sz="2000" spc="-70" dirty="0">
                <a:latin typeface="Times New Roman"/>
                <a:cs typeface="Times New Roman"/>
              </a:rPr>
              <a:t> </a:t>
            </a:r>
            <a:r>
              <a:rPr sz="2000" spc="-5" dirty="0">
                <a:latin typeface="Times New Roman"/>
                <a:cs typeface="Times New Roman"/>
              </a:rPr>
              <a:t>CPU.</a:t>
            </a:r>
            <a:endParaRPr sz="2000" dirty="0">
              <a:latin typeface="Times New Roman"/>
              <a:cs typeface="Times New Roman"/>
            </a:endParaRPr>
          </a:p>
        </p:txBody>
      </p:sp>
    </p:spTree>
    <p:extLst>
      <p:ext uri="{BB962C8B-B14F-4D97-AF65-F5344CB8AC3E}">
        <p14:creationId xmlns:p14="http://schemas.microsoft.com/office/powerpoint/2010/main" val="492626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4" name="Rectangle 3"/>
          <p:cNvSpPr/>
          <p:nvPr/>
        </p:nvSpPr>
        <p:spPr>
          <a:xfrm>
            <a:off x="278219" y="457201"/>
            <a:ext cx="11690868" cy="5051126"/>
          </a:xfrm>
          <a:prstGeom prst="rect">
            <a:avLst/>
          </a:prstGeom>
        </p:spPr>
        <p:txBody>
          <a:bodyPr wrap="square">
            <a:spAutoFit/>
          </a:bodyPr>
          <a:lstStyle/>
          <a:p>
            <a:pPr marL="78105" algn="just">
              <a:lnSpc>
                <a:spcPct val="100000"/>
              </a:lnSpc>
              <a:spcBef>
                <a:spcPts val="1150"/>
              </a:spcBef>
            </a:pPr>
            <a:r>
              <a:rPr lang="en-US" b="1" dirty="0">
                <a:latin typeface="Times New Roman"/>
                <a:cs typeface="Times New Roman"/>
              </a:rPr>
              <a:t> </a:t>
            </a:r>
            <a:r>
              <a:rPr lang="en-US" b="1" spc="-5" dirty="0">
                <a:latin typeface="Times New Roman"/>
                <a:cs typeface="Times New Roman"/>
              </a:rPr>
              <a:t>CPU</a:t>
            </a:r>
            <a:r>
              <a:rPr lang="en-US" b="1" spc="-25" dirty="0">
                <a:latin typeface="Times New Roman"/>
                <a:cs typeface="Times New Roman"/>
              </a:rPr>
              <a:t> </a:t>
            </a:r>
            <a:r>
              <a:rPr lang="en-US" b="1" spc="-5" dirty="0">
                <a:latin typeface="Times New Roman"/>
                <a:cs typeface="Times New Roman"/>
              </a:rPr>
              <a:t>ORGANIZATION:</a:t>
            </a:r>
            <a:endParaRPr lang="en-US" dirty="0">
              <a:latin typeface="Times New Roman"/>
              <a:cs typeface="Times New Roman"/>
            </a:endParaRPr>
          </a:p>
          <a:p>
            <a:pPr>
              <a:lnSpc>
                <a:spcPct val="100000"/>
              </a:lnSpc>
              <a:spcBef>
                <a:spcPts val="40"/>
              </a:spcBef>
            </a:pPr>
            <a:endParaRPr lang="en-US" dirty="0">
              <a:latin typeface="Times New Roman"/>
              <a:cs typeface="Times New Roman"/>
            </a:endParaRPr>
          </a:p>
          <a:p>
            <a:pPr marL="200025" marR="85090" algn="just">
              <a:lnSpc>
                <a:spcPct val="94600"/>
              </a:lnSpc>
            </a:pPr>
            <a:r>
              <a:rPr lang="en-US" b="1" spc="-5" dirty="0">
                <a:latin typeface="Times New Roman"/>
                <a:cs typeface="Times New Roman"/>
              </a:rPr>
              <a:t>Central processing unit </a:t>
            </a:r>
            <a:r>
              <a:rPr lang="en-US" spc="-5" dirty="0">
                <a:latin typeface="Times New Roman"/>
                <a:cs typeface="Times New Roman"/>
              </a:rPr>
              <a:t>(</a:t>
            </a:r>
            <a:r>
              <a:rPr lang="en-US" b="1" spc="-5" dirty="0">
                <a:latin typeface="Times New Roman"/>
                <a:cs typeface="Times New Roman"/>
              </a:rPr>
              <a:t>CPU</a:t>
            </a:r>
            <a:r>
              <a:rPr lang="en-US" spc="-5" dirty="0">
                <a:latin typeface="Times New Roman"/>
                <a:cs typeface="Times New Roman"/>
              </a:rPr>
              <a:t>) is </a:t>
            </a:r>
            <a:r>
              <a:rPr lang="en-US" dirty="0">
                <a:latin typeface="Times New Roman"/>
                <a:cs typeface="Times New Roman"/>
              </a:rPr>
              <a:t>the electronic circuitry within a computer that </a:t>
            </a:r>
            <a:r>
              <a:rPr lang="en-US" spc="-5" dirty="0">
                <a:latin typeface="Times New Roman"/>
                <a:cs typeface="Times New Roman"/>
              </a:rPr>
              <a:t>carries </a:t>
            </a:r>
            <a:r>
              <a:rPr lang="en-US" dirty="0">
                <a:latin typeface="Times New Roman"/>
                <a:cs typeface="Times New Roman"/>
              </a:rPr>
              <a:t>out the  </a:t>
            </a:r>
            <a:r>
              <a:rPr lang="en-US" spc="-5" dirty="0">
                <a:latin typeface="Times New Roman"/>
                <a:cs typeface="Times New Roman"/>
              </a:rPr>
              <a:t>instructions </a:t>
            </a:r>
            <a:r>
              <a:rPr lang="en-US" dirty="0">
                <a:latin typeface="Times New Roman"/>
                <a:cs typeface="Times New Roman"/>
              </a:rPr>
              <a:t>of a </a:t>
            </a:r>
            <a:r>
              <a:rPr lang="en-US" spc="-5" dirty="0">
                <a:latin typeface="Times New Roman"/>
                <a:cs typeface="Times New Roman"/>
              </a:rPr>
              <a:t>computer program </a:t>
            </a:r>
            <a:r>
              <a:rPr lang="en-US" spc="10" dirty="0">
                <a:latin typeface="Times New Roman"/>
                <a:cs typeface="Times New Roman"/>
              </a:rPr>
              <a:t>by </a:t>
            </a:r>
            <a:r>
              <a:rPr lang="en-US" dirty="0">
                <a:latin typeface="Times New Roman"/>
                <a:cs typeface="Times New Roman"/>
              </a:rPr>
              <a:t>performing the </a:t>
            </a:r>
            <a:r>
              <a:rPr lang="en-US" spc="-5" dirty="0">
                <a:latin typeface="Times New Roman"/>
                <a:cs typeface="Times New Roman"/>
              </a:rPr>
              <a:t>basic arithmetic, logical, control and  </a:t>
            </a:r>
            <a:r>
              <a:rPr lang="en-US" dirty="0">
                <a:latin typeface="Times New Roman"/>
                <a:cs typeface="Times New Roman"/>
              </a:rPr>
              <a:t>input/output </a:t>
            </a:r>
            <a:r>
              <a:rPr lang="en-US" spc="-5" dirty="0">
                <a:latin typeface="Times New Roman"/>
                <a:cs typeface="Times New Roman"/>
              </a:rPr>
              <a:t>(I/O) </a:t>
            </a:r>
            <a:r>
              <a:rPr lang="en-US" dirty="0">
                <a:latin typeface="Times New Roman"/>
                <a:cs typeface="Times New Roman"/>
              </a:rPr>
              <a:t>operations </a:t>
            </a:r>
            <a:r>
              <a:rPr lang="en-US" spc="-5" dirty="0">
                <a:latin typeface="Times New Roman"/>
                <a:cs typeface="Times New Roman"/>
              </a:rPr>
              <a:t>specified </a:t>
            </a:r>
            <a:r>
              <a:rPr lang="en-US" spc="10" dirty="0">
                <a:latin typeface="Times New Roman"/>
                <a:cs typeface="Times New Roman"/>
              </a:rPr>
              <a:t>by </a:t>
            </a:r>
            <a:r>
              <a:rPr lang="en-US" dirty="0">
                <a:latin typeface="Times New Roman"/>
                <a:cs typeface="Times New Roman"/>
              </a:rPr>
              <a:t>the</a:t>
            </a:r>
            <a:r>
              <a:rPr lang="en-US" spc="-120" dirty="0">
                <a:latin typeface="Times New Roman"/>
                <a:cs typeface="Times New Roman"/>
              </a:rPr>
              <a:t> </a:t>
            </a:r>
            <a:r>
              <a:rPr lang="en-US" dirty="0">
                <a:latin typeface="Times New Roman"/>
                <a:cs typeface="Times New Roman"/>
              </a:rPr>
              <a:t>instructions</a:t>
            </a:r>
            <a:r>
              <a:rPr lang="en-US" dirty="0">
                <a:solidFill>
                  <a:srgbClr val="232323"/>
                </a:solidFill>
                <a:latin typeface="Times New Roman"/>
                <a:cs typeface="Times New Roman"/>
              </a:rPr>
              <a:t>.</a:t>
            </a:r>
            <a:endParaRPr lang="en-US" dirty="0">
              <a:latin typeface="Times New Roman"/>
              <a:cs typeface="Times New Roman"/>
            </a:endParaRPr>
          </a:p>
          <a:p>
            <a:pPr>
              <a:lnSpc>
                <a:spcPct val="100000"/>
              </a:lnSpc>
              <a:spcBef>
                <a:spcPts val="45"/>
              </a:spcBef>
            </a:pPr>
            <a:endParaRPr lang="en-US" sz="2000" dirty="0">
              <a:latin typeface="Times New Roman"/>
              <a:cs typeface="Times New Roman"/>
            </a:endParaRPr>
          </a:p>
          <a:p>
            <a:pPr marL="200025" marR="80010" algn="just">
              <a:spcBef>
                <a:spcPts val="5"/>
              </a:spcBef>
            </a:pPr>
            <a:r>
              <a:rPr lang="en-US" spc="-10" dirty="0">
                <a:latin typeface="Times New Roman"/>
                <a:cs typeface="Times New Roman"/>
              </a:rPr>
              <a:t>In </a:t>
            </a:r>
            <a:r>
              <a:rPr lang="en-US" dirty="0">
                <a:latin typeface="Times New Roman"/>
                <a:cs typeface="Times New Roman"/>
              </a:rPr>
              <a:t>the </a:t>
            </a:r>
            <a:r>
              <a:rPr lang="en-US" spc="-5" dirty="0">
                <a:latin typeface="Times New Roman"/>
                <a:cs typeface="Times New Roman"/>
              </a:rPr>
              <a:t>computer</a:t>
            </a:r>
            <a:r>
              <a:rPr lang="en-US" dirty="0">
                <a:latin typeface="Times New Roman"/>
                <a:cs typeface="Times New Roman"/>
              </a:rPr>
              <a:t> </a:t>
            </a:r>
            <a:r>
              <a:rPr lang="en-US" spc="-5" dirty="0">
                <a:latin typeface="Times New Roman"/>
                <a:cs typeface="Times New Roman"/>
              </a:rPr>
              <a:t>all </a:t>
            </a:r>
            <a:r>
              <a:rPr lang="en-US" dirty="0">
                <a:latin typeface="Times New Roman"/>
                <a:cs typeface="Times New Roman"/>
              </a:rPr>
              <a:t>the major </a:t>
            </a:r>
            <a:r>
              <a:rPr lang="en-US" spc="-5" dirty="0">
                <a:latin typeface="Times New Roman"/>
                <a:cs typeface="Times New Roman"/>
              </a:rPr>
              <a:t>components are connected </a:t>
            </a:r>
            <a:r>
              <a:rPr lang="en-US" dirty="0">
                <a:latin typeface="Times New Roman"/>
                <a:cs typeface="Times New Roman"/>
              </a:rPr>
              <a:t>with the </a:t>
            </a:r>
            <a:r>
              <a:rPr lang="en-US" spc="-5" dirty="0">
                <a:latin typeface="Times New Roman"/>
                <a:cs typeface="Times New Roman"/>
              </a:rPr>
              <a:t>help </a:t>
            </a:r>
            <a:r>
              <a:rPr lang="en-US" dirty="0">
                <a:latin typeface="Times New Roman"/>
                <a:cs typeface="Times New Roman"/>
              </a:rPr>
              <a:t>of the </a:t>
            </a:r>
            <a:r>
              <a:rPr lang="en-US" b="1" spc="-5" dirty="0">
                <a:latin typeface="Times New Roman"/>
                <a:cs typeface="Times New Roman"/>
              </a:rPr>
              <a:t>system </a:t>
            </a:r>
            <a:r>
              <a:rPr lang="en-US" b="1" dirty="0">
                <a:latin typeface="Times New Roman"/>
                <a:cs typeface="Times New Roman"/>
              </a:rPr>
              <a:t>bus</a:t>
            </a:r>
            <a:r>
              <a:rPr lang="en-US" dirty="0">
                <a:latin typeface="Times New Roman"/>
                <a:cs typeface="Times New Roman"/>
              </a:rPr>
              <a:t>.  </a:t>
            </a:r>
          </a:p>
          <a:p>
            <a:pPr marL="200025" marR="80010" algn="just">
              <a:spcBef>
                <a:spcPts val="5"/>
              </a:spcBef>
            </a:pPr>
            <a:endParaRPr lang="en-US" b="1" spc="-5" dirty="0">
              <a:latin typeface="Times New Roman"/>
              <a:cs typeface="Times New Roman"/>
            </a:endParaRPr>
          </a:p>
          <a:p>
            <a:pPr marL="200025" marR="80010" algn="just">
              <a:spcBef>
                <a:spcPts val="5"/>
              </a:spcBef>
            </a:pPr>
            <a:r>
              <a:rPr lang="en-US" b="1" spc="-5" dirty="0">
                <a:latin typeface="Times New Roman"/>
                <a:cs typeface="Times New Roman"/>
              </a:rPr>
              <a:t>Data bus : Data bus </a:t>
            </a:r>
            <a:r>
              <a:rPr lang="en-US" spc="-5" dirty="0">
                <a:latin typeface="Times New Roman"/>
                <a:cs typeface="Times New Roman"/>
              </a:rPr>
              <a:t>is used </a:t>
            </a:r>
            <a:r>
              <a:rPr lang="en-US" dirty="0">
                <a:latin typeface="Times New Roman"/>
                <a:cs typeface="Times New Roman"/>
              </a:rPr>
              <a:t>to </a:t>
            </a:r>
            <a:r>
              <a:rPr lang="en-US" spc="-5" dirty="0">
                <a:latin typeface="Times New Roman"/>
                <a:cs typeface="Times New Roman"/>
              </a:rPr>
              <a:t>shuffle data between </a:t>
            </a:r>
            <a:r>
              <a:rPr lang="en-US" dirty="0">
                <a:latin typeface="Times New Roman"/>
                <a:cs typeface="Times New Roman"/>
              </a:rPr>
              <a:t>the various </a:t>
            </a:r>
            <a:r>
              <a:rPr lang="en-US" spc="-5" dirty="0">
                <a:latin typeface="Times New Roman"/>
                <a:cs typeface="Times New Roman"/>
              </a:rPr>
              <a:t>components </a:t>
            </a:r>
            <a:r>
              <a:rPr lang="en-US" dirty="0">
                <a:latin typeface="Times New Roman"/>
                <a:cs typeface="Times New Roman"/>
              </a:rPr>
              <a:t>in a computer</a:t>
            </a:r>
            <a:r>
              <a:rPr lang="en-US" spc="-85" dirty="0">
                <a:latin typeface="Times New Roman"/>
                <a:cs typeface="Times New Roman"/>
              </a:rPr>
              <a:t> </a:t>
            </a:r>
            <a:r>
              <a:rPr lang="en-US" spc="-5" dirty="0">
                <a:latin typeface="Times New Roman"/>
                <a:cs typeface="Times New Roman"/>
              </a:rPr>
              <a:t>system.</a:t>
            </a:r>
            <a:endParaRPr lang="en-US" dirty="0">
              <a:latin typeface="Times New Roman"/>
              <a:cs typeface="Times New Roman"/>
            </a:endParaRPr>
          </a:p>
          <a:p>
            <a:pPr>
              <a:lnSpc>
                <a:spcPct val="100000"/>
              </a:lnSpc>
              <a:spcBef>
                <a:spcPts val="25"/>
              </a:spcBef>
            </a:pPr>
            <a:endParaRPr lang="en-US" sz="1400" dirty="0">
              <a:latin typeface="Times New Roman"/>
              <a:cs typeface="Times New Roman"/>
            </a:endParaRPr>
          </a:p>
          <a:p>
            <a:pPr marL="177800" marR="80010" indent="-127000" algn="just">
              <a:lnSpc>
                <a:spcPct val="110200"/>
              </a:lnSpc>
            </a:pPr>
            <a:r>
              <a:rPr lang="en-US" b="1" spc="-5" dirty="0">
                <a:latin typeface="Times New Roman"/>
                <a:cs typeface="Times New Roman"/>
              </a:rPr>
              <a:t>  Address </a:t>
            </a:r>
            <a:r>
              <a:rPr lang="en-US" b="1" dirty="0">
                <a:latin typeface="Times New Roman"/>
                <a:cs typeface="Times New Roman"/>
              </a:rPr>
              <a:t>bus : </a:t>
            </a:r>
            <a:r>
              <a:rPr lang="en-US" dirty="0">
                <a:latin typeface="Times New Roman"/>
                <a:cs typeface="Times New Roman"/>
              </a:rPr>
              <a:t>To </a:t>
            </a:r>
            <a:r>
              <a:rPr lang="en-US" spc="-5" dirty="0">
                <a:latin typeface="Times New Roman"/>
                <a:cs typeface="Times New Roman"/>
              </a:rPr>
              <a:t>differentiate </a:t>
            </a:r>
            <a:r>
              <a:rPr lang="en-US" dirty="0">
                <a:latin typeface="Times New Roman"/>
                <a:cs typeface="Times New Roman"/>
              </a:rPr>
              <a:t>memory locations </a:t>
            </a:r>
            <a:r>
              <a:rPr lang="en-US" spc="-5" dirty="0">
                <a:latin typeface="Times New Roman"/>
                <a:cs typeface="Times New Roman"/>
              </a:rPr>
              <a:t>and </a:t>
            </a:r>
            <a:r>
              <a:rPr lang="en-US" spc="-10" dirty="0">
                <a:latin typeface="Times New Roman"/>
                <a:cs typeface="Times New Roman"/>
              </a:rPr>
              <a:t>I/O </a:t>
            </a:r>
            <a:r>
              <a:rPr lang="en-US" spc="-5" dirty="0">
                <a:latin typeface="Times New Roman"/>
                <a:cs typeface="Times New Roman"/>
              </a:rPr>
              <a:t>devices </a:t>
            </a:r>
            <a:r>
              <a:rPr lang="en-US" dirty="0">
                <a:latin typeface="Times New Roman"/>
                <a:cs typeface="Times New Roman"/>
              </a:rPr>
              <a:t>the </a:t>
            </a:r>
            <a:r>
              <a:rPr lang="en-US" spc="-5" dirty="0">
                <a:latin typeface="Times New Roman"/>
                <a:cs typeface="Times New Roman"/>
              </a:rPr>
              <a:t>system </a:t>
            </a:r>
            <a:r>
              <a:rPr lang="en-US" dirty="0">
                <a:latin typeface="Times New Roman"/>
                <a:cs typeface="Times New Roman"/>
              </a:rPr>
              <a:t>designer </a:t>
            </a:r>
            <a:r>
              <a:rPr lang="en-US" spc="-5" dirty="0">
                <a:latin typeface="Times New Roman"/>
                <a:cs typeface="Times New Roman"/>
              </a:rPr>
              <a:t>assigns </a:t>
            </a:r>
            <a:r>
              <a:rPr lang="en-US" dirty="0">
                <a:latin typeface="Times New Roman"/>
                <a:cs typeface="Times New Roman"/>
              </a:rPr>
              <a:t>a unique memory  </a:t>
            </a:r>
            <a:r>
              <a:rPr lang="en-US" spc="-5" dirty="0">
                <a:latin typeface="Times New Roman"/>
                <a:cs typeface="Times New Roman"/>
              </a:rPr>
              <a:t>address </a:t>
            </a:r>
            <a:r>
              <a:rPr lang="en-US" dirty="0">
                <a:latin typeface="Times New Roman"/>
                <a:cs typeface="Times New Roman"/>
              </a:rPr>
              <a:t>to   </a:t>
            </a:r>
            <a:r>
              <a:rPr lang="en-US" spc="-5" dirty="0">
                <a:latin typeface="Times New Roman"/>
                <a:cs typeface="Times New Roman"/>
              </a:rPr>
              <a:t>each </a:t>
            </a:r>
            <a:r>
              <a:rPr lang="en-US" dirty="0">
                <a:latin typeface="Times New Roman"/>
                <a:cs typeface="Times New Roman"/>
              </a:rPr>
              <a:t>memory </a:t>
            </a:r>
            <a:r>
              <a:rPr lang="en-US" spc="-5" dirty="0">
                <a:latin typeface="Times New Roman"/>
                <a:cs typeface="Times New Roman"/>
              </a:rPr>
              <a:t>element and </a:t>
            </a:r>
            <a:r>
              <a:rPr lang="en-US" spc="-10" dirty="0">
                <a:latin typeface="Times New Roman"/>
                <a:cs typeface="Times New Roman"/>
              </a:rPr>
              <a:t>I/O </a:t>
            </a:r>
            <a:r>
              <a:rPr lang="en-US" spc="-5" dirty="0">
                <a:latin typeface="Times New Roman"/>
                <a:cs typeface="Times New Roman"/>
              </a:rPr>
              <a:t>device. </a:t>
            </a:r>
            <a:r>
              <a:rPr lang="en-US" dirty="0">
                <a:latin typeface="Times New Roman"/>
                <a:cs typeface="Times New Roman"/>
              </a:rPr>
              <a:t>When </a:t>
            </a:r>
            <a:r>
              <a:rPr lang="en-US" spc="5" dirty="0">
                <a:latin typeface="Times New Roman"/>
                <a:cs typeface="Times New Roman"/>
              </a:rPr>
              <a:t>the </a:t>
            </a:r>
            <a:r>
              <a:rPr lang="en-US" spc="-5" dirty="0">
                <a:latin typeface="Times New Roman"/>
                <a:cs typeface="Times New Roman"/>
              </a:rPr>
              <a:t>software wants </a:t>
            </a:r>
            <a:r>
              <a:rPr lang="en-US" dirty="0">
                <a:latin typeface="Times New Roman"/>
                <a:cs typeface="Times New Roman"/>
              </a:rPr>
              <a:t>to </a:t>
            </a:r>
            <a:r>
              <a:rPr lang="en-US" spc="-5" dirty="0">
                <a:latin typeface="Times New Roman"/>
                <a:cs typeface="Times New Roman"/>
              </a:rPr>
              <a:t>access </a:t>
            </a:r>
            <a:r>
              <a:rPr lang="en-US" dirty="0">
                <a:latin typeface="Times New Roman"/>
                <a:cs typeface="Times New Roman"/>
              </a:rPr>
              <a:t>some </a:t>
            </a:r>
            <a:r>
              <a:rPr lang="en-US" spc="-5" dirty="0">
                <a:latin typeface="Times New Roman"/>
                <a:cs typeface="Times New Roman"/>
              </a:rPr>
              <a:t>particular  </a:t>
            </a:r>
            <a:r>
              <a:rPr lang="en-US" dirty="0">
                <a:latin typeface="Times New Roman"/>
                <a:cs typeface="Times New Roman"/>
              </a:rPr>
              <a:t>memory location or </a:t>
            </a:r>
            <a:r>
              <a:rPr lang="en-US" spc="-10" dirty="0">
                <a:latin typeface="Times New Roman"/>
                <a:cs typeface="Times New Roman"/>
              </a:rPr>
              <a:t>I/O </a:t>
            </a:r>
            <a:r>
              <a:rPr lang="en-US" spc="-5" dirty="0">
                <a:latin typeface="Times New Roman"/>
                <a:cs typeface="Times New Roman"/>
              </a:rPr>
              <a:t>device </a:t>
            </a:r>
            <a:r>
              <a:rPr lang="en-US" dirty="0">
                <a:latin typeface="Times New Roman"/>
                <a:cs typeface="Times New Roman"/>
              </a:rPr>
              <a:t>it </a:t>
            </a:r>
            <a:r>
              <a:rPr lang="en-US" spc="-5" dirty="0">
                <a:latin typeface="Times New Roman"/>
                <a:cs typeface="Times New Roman"/>
              </a:rPr>
              <a:t>places </a:t>
            </a:r>
            <a:r>
              <a:rPr lang="en-US" dirty="0">
                <a:latin typeface="Times New Roman"/>
                <a:cs typeface="Times New Roman"/>
              </a:rPr>
              <a:t>the </a:t>
            </a:r>
            <a:r>
              <a:rPr lang="en-US" spc="-5" dirty="0">
                <a:latin typeface="Times New Roman"/>
                <a:cs typeface="Times New Roman"/>
              </a:rPr>
              <a:t>corresponding address </a:t>
            </a:r>
            <a:r>
              <a:rPr lang="en-US" dirty="0">
                <a:latin typeface="Times New Roman"/>
                <a:cs typeface="Times New Roman"/>
              </a:rPr>
              <a:t>on the </a:t>
            </a:r>
            <a:r>
              <a:rPr lang="en-US" b="1" spc="-5" dirty="0">
                <a:latin typeface="Times New Roman"/>
                <a:cs typeface="Times New Roman"/>
              </a:rPr>
              <a:t>address </a:t>
            </a:r>
            <a:r>
              <a:rPr lang="en-US" b="1" dirty="0">
                <a:latin typeface="Times New Roman"/>
                <a:cs typeface="Times New Roman"/>
              </a:rPr>
              <a:t>bus</a:t>
            </a:r>
            <a:r>
              <a:rPr lang="en-US" dirty="0">
                <a:latin typeface="Times New Roman"/>
                <a:cs typeface="Times New Roman"/>
              </a:rPr>
              <a:t>. Circuitry  </a:t>
            </a:r>
            <a:r>
              <a:rPr lang="en-US" spc="-5" dirty="0">
                <a:latin typeface="Times New Roman"/>
                <a:cs typeface="Times New Roman"/>
              </a:rPr>
              <a:t>associated </a:t>
            </a:r>
            <a:r>
              <a:rPr lang="en-US" dirty="0">
                <a:latin typeface="Times New Roman"/>
                <a:cs typeface="Times New Roman"/>
              </a:rPr>
              <a:t>with the memory or </a:t>
            </a:r>
            <a:r>
              <a:rPr lang="en-US" spc="-10" dirty="0">
                <a:latin typeface="Times New Roman"/>
                <a:cs typeface="Times New Roman"/>
              </a:rPr>
              <a:t>I/O </a:t>
            </a:r>
            <a:r>
              <a:rPr lang="en-US" dirty="0">
                <a:latin typeface="Times New Roman"/>
                <a:cs typeface="Times New Roman"/>
              </a:rPr>
              <a:t>device recognizes this </a:t>
            </a:r>
            <a:r>
              <a:rPr lang="en-US" spc="-5" dirty="0">
                <a:latin typeface="Times New Roman"/>
                <a:cs typeface="Times New Roman"/>
              </a:rPr>
              <a:t>address and instructs </a:t>
            </a:r>
            <a:r>
              <a:rPr lang="en-US" dirty="0">
                <a:latin typeface="Times New Roman"/>
                <a:cs typeface="Times New Roman"/>
              </a:rPr>
              <a:t>the memory or </a:t>
            </a:r>
            <a:r>
              <a:rPr lang="en-US" spc="-5" dirty="0">
                <a:latin typeface="Times New Roman"/>
                <a:cs typeface="Times New Roman"/>
              </a:rPr>
              <a:t>I/O  device </a:t>
            </a:r>
            <a:r>
              <a:rPr lang="en-US" dirty="0">
                <a:latin typeface="Times New Roman"/>
                <a:cs typeface="Times New Roman"/>
              </a:rPr>
              <a:t>to </a:t>
            </a:r>
            <a:r>
              <a:rPr lang="en-US" spc="-5" dirty="0">
                <a:latin typeface="Times New Roman"/>
                <a:cs typeface="Times New Roman"/>
              </a:rPr>
              <a:t>read </a:t>
            </a:r>
            <a:r>
              <a:rPr lang="en-US" dirty="0">
                <a:latin typeface="Times New Roman"/>
                <a:cs typeface="Times New Roman"/>
              </a:rPr>
              <a:t>the </a:t>
            </a:r>
            <a:r>
              <a:rPr lang="en-US" spc="-5" dirty="0">
                <a:latin typeface="Times New Roman"/>
                <a:cs typeface="Times New Roman"/>
              </a:rPr>
              <a:t>data </a:t>
            </a:r>
            <a:r>
              <a:rPr lang="en-US" dirty="0">
                <a:latin typeface="Times New Roman"/>
                <a:cs typeface="Times New Roman"/>
              </a:rPr>
              <a:t>from or </a:t>
            </a:r>
            <a:r>
              <a:rPr lang="en-US" spc="-5" dirty="0">
                <a:latin typeface="Times New Roman"/>
                <a:cs typeface="Times New Roman"/>
              </a:rPr>
              <a:t>place data </a:t>
            </a:r>
            <a:r>
              <a:rPr lang="en-US" dirty="0">
                <a:latin typeface="Times New Roman"/>
                <a:cs typeface="Times New Roman"/>
              </a:rPr>
              <a:t>on the </a:t>
            </a:r>
            <a:r>
              <a:rPr lang="en-US" spc="-5" dirty="0">
                <a:latin typeface="Times New Roman"/>
                <a:cs typeface="Times New Roman"/>
              </a:rPr>
              <a:t>data </a:t>
            </a:r>
            <a:r>
              <a:rPr lang="en-US" dirty="0">
                <a:latin typeface="Times New Roman"/>
                <a:cs typeface="Times New Roman"/>
              </a:rPr>
              <a:t>bus. Only the device </a:t>
            </a:r>
            <a:r>
              <a:rPr lang="en-US" spc="-5" dirty="0">
                <a:latin typeface="Times New Roman"/>
                <a:cs typeface="Times New Roman"/>
              </a:rPr>
              <a:t>whose address matches </a:t>
            </a:r>
            <a:r>
              <a:rPr lang="en-US" dirty="0">
                <a:latin typeface="Times New Roman"/>
                <a:cs typeface="Times New Roman"/>
              </a:rPr>
              <a:t>the  </a:t>
            </a:r>
            <a:r>
              <a:rPr lang="en-US" spc="-5" dirty="0">
                <a:latin typeface="Times New Roman"/>
                <a:cs typeface="Times New Roman"/>
              </a:rPr>
              <a:t>value </a:t>
            </a:r>
            <a:r>
              <a:rPr lang="en-US" dirty="0">
                <a:latin typeface="Times New Roman"/>
                <a:cs typeface="Times New Roman"/>
              </a:rPr>
              <a:t>on the </a:t>
            </a:r>
            <a:r>
              <a:rPr lang="en-US" spc="-5" dirty="0">
                <a:latin typeface="Times New Roman"/>
                <a:cs typeface="Times New Roman"/>
              </a:rPr>
              <a:t>address bus</a:t>
            </a:r>
            <a:r>
              <a:rPr lang="en-US" spc="-50" dirty="0">
                <a:latin typeface="Times New Roman"/>
                <a:cs typeface="Times New Roman"/>
              </a:rPr>
              <a:t> </a:t>
            </a:r>
            <a:r>
              <a:rPr lang="en-US" spc="-5" dirty="0">
                <a:latin typeface="Times New Roman"/>
                <a:cs typeface="Times New Roman"/>
              </a:rPr>
              <a:t>responds.</a:t>
            </a:r>
            <a:endParaRPr lang="en-US" dirty="0">
              <a:latin typeface="Times New Roman"/>
              <a:cs typeface="Times New Roman"/>
            </a:endParaRPr>
          </a:p>
          <a:p>
            <a:pPr marL="177800" marR="81280" indent="-65088" algn="just">
              <a:lnSpc>
                <a:spcPct val="110000"/>
              </a:lnSpc>
              <a:spcBef>
                <a:spcPts val="1005"/>
              </a:spcBef>
            </a:pPr>
            <a:r>
              <a:rPr lang="en-US" b="1" spc="-5" dirty="0">
                <a:latin typeface="Times New Roman"/>
                <a:cs typeface="Times New Roman"/>
              </a:rPr>
              <a:t>  Control bus : </a:t>
            </a:r>
            <a:r>
              <a:rPr lang="en-US" dirty="0">
                <a:latin typeface="Times New Roman"/>
                <a:cs typeface="Times New Roman"/>
              </a:rPr>
              <a:t>The </a:t>
            </a:r>
            <a:r>
              <a:rPr lang="en-US" b="1" spc="-5" dirty="0">
                <a:latin typeface="Times New Roman"/>
                <a:cs typeface="Times New Roman"/>
              </a:rPr>
              <a:t>control bus </a:t>
            </a:r>
            <a:r>
              <a:rPr lang="en-US" spc="-5" dirty="0">
                <a:latin typeface="Times New Roman"/>
                <a:cs typeface="Times New Roman"/>
              </a:rPr>
              <a:t>is an eclectic collection </a:t>
            </a:r>
            <a:r>
              <a:rPr lang="en-US" dirty="0">
                <a:latin typeface="Times New Roman"/>
                <a:cs typeface="Times New Roman"/>
              </a:rPr>
              <a:t>of </a:t>
            </a:r>
            <a:r>
              <a:rPr lang="en-US" spc="-5" dirty="0">
                <a:latin typeface="Times New Roman"/>
                <a:cs typeface="Times New Roman"/>
              </a:rPr>
              <a:t>signals </a:t>
            </a:r>
            <a:r>
              <a:rPr lang="en-US" dirty="0">
                <a:latin typeface="Times New Roman"/>
                <a:cs typeface="Times New Roman"/>
              </a:rPr>
              <a:t>that </a:t>
            </a:r>
            <a:r>
              <a:rPr lang="en-US" spc="-5" dirty="0">
                <a:latin typeface="Times New Roman"/>
                <a:cs typeface="Times New Roman"/>
              </a:rPr>
              <a:t>control </a:t>
            </a:r>
            <a:r>
              <a:rPr lang="en-US" dirty="0">
                <a:latin typeface="Times New Roman"/>
                <a:cs typeface="Times New Roman"/>
              </a:rPr>
              <a:t>how the processor </a:t>
            </a:r>
            <a:r>
              <a:rPr lang="en-US" spc="-5" dirty="0">
                <a:latin typeface="Times New Roman"/>
                <a:cs typeface="Times New Roman"/>
              </a:rPr>
              <a:t>communicates </a:t>
            </a:r>
            <a:r>
              <a:rPr lang="en-US" dirty="0">
                <a:latin typeface="Times New Roman"/>
                <a:cs typeface="Times New Roman"/>
              </a:rPr>
              <a:t>with  the</a:t>
            </a:r>
            <a:r>
              <a:rPr lang="en-US" spc="55" dirty="0">
                <a:latin typeface="Times New Roman"/>
                <a:cs typeface="Times New Roman"/>
              </a:rPr>
              <a:t> </a:t>
            </a:r>
            <a:r>
              <a:rPr lang="en-US" spc="-5" dirty="0">
                <a:latin typeface="Times New Roman"/>
                <a:cs typeface="Times New Roman"/>
              </a:rPr>
              <a:t>rest</a:t>
            </a:r>
            <a:r>
              <a:rPr lang="en-US" spc="65" dirty="0">
                <a:latin typeface="Times New Roman"/>
                <a:cs typeface="Times New Roman"/>
              </a:rPr>
              <a:t> </a:t>
            </a:r>
            <a:r>
              <a:rPr lang="en-US" dirty="0">
                <a:latin typeface="Times New Roman"/>
                <a:cs typeface="Times New Roman"/>
              </a:rPr>
              <a:t>of</a:t>
            </a:r>
            <a:r>
              <a:rPr lang="en-US" spc="60" dirty="0">
                <a:latin typeface="Times New Roman"/>
                <a:cs typeface="Times New Roman"/>
              </a:rPr>
              <a:t> </a:t>
            </a:r>
            <a:r>
              <a:rPr lang="en-US" dirty="0">
                <a:latin typeface="Times New Roman"/>
                <a:cs typeface="Times New Roman"/>
              </a:rPr>
              <a:t>the</a:t>
            </a:r>
            <a:r>
              <a:rPr lang="en-US" spc="60" dirty="0">
                <a:latin typeface="Times New Roman"/>
                <a:cs typeface="Times New Roman"/>
              </a:rPr>
              <a:t> </a:t>
            </a:r>
            <a:r>
              <a:rPr lang="en-US" spc="-5" dirty="0">
                <a:latin typeface="Times New Roman"/>
                <a:cs typeface="Times New Roman"/>
              </a:rPr>
              <a:t>system.</a:t>
            </a:r>
            <a:r>
              <a:rPr lang="en-US" spc="65" dirty="0">
                <a:latin typeface="Times New Roman"/>
                <a:cs typeface="Times New Roman"/>
              </a:rPr>
              <a:t> </a:t>
            </a:r>
            <a:r>
              <a:rPr lang="en-US" dirty="0">
                <a:latin typeface="Times New Roman"/>
                <a:cs typeface="Times New Roman"/>
              </a:rPr>
              <a:t>The</a:t>
            </a:r>
            <a:r>
              <a:rPr lang="en-US" spc="70" dirty="0">
                <a:latin typeface="Times New Roman"/>
                <a:cs typeface="Times New Roman"/>
              </a:rPr>
              <a:t> </a:t>
            </a:r>
            <a:r>
              <a:rPr lang="en-US" b="1" spc="-5" dirty="0">
                <a:latin typeface="Times New Roman"/>
                <a:cs typeface="Times New Roman"/>
              </a:rPr>
              <a:t>read</a:t>
            </a:r>
            <a:r>
              <a:rPr lang="en-US" b="1" spc="105" dirty="0">
                <a:latin typeface="Times New Roman"/>
                <a:cs typeface="Times New Roman"/>
              </a:rPr>
              <a:t> </a:t>
            </a:r>
            <a:r>
              <a:rPr lang="en-US" spc="-5" dirty="0">
                <a:latin typeface="Times New Roman"/>
                <a:cs typeface="Times New Roman"/>
              </a:rPr>
              <a:t>and</a:t>
            </a:r>
            <a:r>
              <a:rPr lang="en-US" spc="65" dirty="0">
                <a:latin typeface="Times New Roman"/>
                <a:cs typeface="Times New Roman"/>
              </a:rPr>
              <a:t> </a:t>
            </a:r>
            <a:r>
              <a:rPr lang="en-US" b="1" dirty="0">
                <a:latin typeface="Times New Roman"/>
                <a:cs typeface="Times New Roman"/>
              </a:rPr>
              <a:t>write</a:t>
            </a:r>
            <a:r>
              <a:rPr lang="en-US" b="1" spc="95" dirty="0">
                <a:latin typeface="Times New Roman"/>
                <a:cs typeface="Times New Roman"/>
              </a:rPr>
              <a:t> </a:t>
            </a:r>
            <a:r>
              <a:rPr lang="en-US" dirty="0">
                <a:latin typeface="Times New Roman"/>
                <a:cs typeface="Times New Roman"/>
              </a:rPr>
              <a:t>control</a:t>
            </a:r>
            <a:r>
              <a:rPr lang="en-US" spc="65" dirty="0">
                <a:latin typeface="Times New Roman"/>
                <a:cs typeface="Times New Roman"/>
              </a:rPr>
              <a:t> </a:t>
            </a:r>
            <a:r>
              <a:rPr lang="en-US" spc="-5" dirty="0">
                <a:latin typeface="Times New Roman"/>
                <a:cs typeface="Times New Roman"/>
              </a:rPr>
              <a:t>lines</a:t>
            </a:r>
            <a:r>
              <a:rPr lang="en-US" spc="65" dirty="0">
                <a:latin typeface="Times New Roman"/>
                <a:cs typeface="Times New Roman"/>
              </a:rPr>
              <a:t> </a:t>
            </a:r>
            <a:r>
              <a:rPr lang="en-US" spc="-5" dirty="0">
                <a:latin typeface="Times New Roman"/>
                <a:cs typeface="Times New Roman"/>
              </a:rPr>
              <a:t>control</a:t>
            </a:r>
            <a:r>
              <a:rPr lang="en-US" spc="65" dirty="0">
                <a:latin typeface="Times New Roman"/>
                <a:cs typeface="Times New Roman"/>
              </a:rPr>
              <a:t> </a:t>
            </a:r>
            <a:r>
              <a:rPr lang="en-US" dirty="0">
                <a:latin typeface="Times New Roman"/>
                <a:cs typeface="Times New Roman"/>
              </a:rPr>
              <a:t>the</a:t>
            </a:r>
            <a:r>
              <a:rPr lang="en-US" spc="60" dirty="0">
                <a:latin typeface="Times New Roman"/>
                <a:cs typeface="Times New Roman"/>
              </a:rPr>
              <a:t> </a:t>
            </a:r>
            <a:r>
              <a:rPr lang="en-US" spc="-5" dirty="0">
                <a:latin typeface="Times New Roman"/>
                <a:cs typeface="Times New Roman"/>
              </a:rPr>
              <a:t>direction</a:t>
            </a:r>
            <a:r>
              <a:rPr lang="en-US" spc="65" dirty="0">
                <a:latin typeface="Times New Roman"/>
                <a:cs typeface="Times New Roman"/>
              </a:rPr>
              <a:t> </a:t>
            </a:r>
            <a:r>
              <a:rPr lang="en-US" dirty="0">
                <a:latin typeface="Times New Roman"/>
                <a:cs typeface="Times New Roman"/>
              </a:rPr>
              <a:t>of</a:t>
            </a:r>
            <a:r>
              <a:rPr lang="en-US" spc="60" dirty="0">
                <a:latin typeface="Times New Roman"/>
                <a:cs typeface="Times New Roman"/>
              </a:rPr>
              <a:t> </a:t>
            </a:r>
            <a:r>
              <a:rPr lang="en-US" spc="-5" dirty="0">
                <a:latin typeface="Times New Roman"/>
                <a:cs typeface="Times New Roman"/>
              </a:rPr>
              <a:t>data</a:t>
            </a:r>
            <a:r>
              <a:rPr lang="en-US" spc="60" dirty="0">
                <a:latin typeface="Times New Roman"/>
                <a:cs typeface="Times New Roman"/>
              </a:rPr>
              <a:t> </a:t>
            </a:r>
            <a:r>
              <a:rPr lang="en-US" dirty="0">
                <a:latin typeface="Times New Roman"/>
                <a:cs typeface="Times New Roman"/>
              </a:rPr>
              <a:t>on</a:t>
            </a:r>
            <a:r>
              <a:rPr lang="en-US" spc="60" dirty="0">
                <a:latin typeface="Times New Roman"/>
                <a:cs typeface="Times New Roman"/>
              </a:rPr>
              <a:t> </a:t>
            </a:r>
            <a:r>
              <a:rPr lang="en-US" dirty="0">
                <a:latin typeface="Times New Roman"/>
                <a:cs typeface="Times New Roman"/>
              </a:rPr>
              <a:t>the</a:t>
            </a:r>
            <a:r>
              <a:rPr lang="en-US" spc="60" dirty="0">
                <a:latin typeface="Times New Roman"/>
                <a:cs typeface="Times New Roman"/>
              </a:rPr>
              <a:t> </a:t>
            </a:r>
            <a:r>
              <a:rPr lang="en-US" spc="-5" dirty="0">
                <a:latin typeface="Times New Roman"/>
                <a:cs typeface="Times New Roman"/>
              </a:rPr>
              <a:t>data</a:t>
            </a:r>
            <a:r>
              <a:rPr lang="en-US" spc="60" dirty="0">
                <a:latin typeface="Times New Roman"/>
                <a:cs typeface="Times New Roman"/>
              </a:rPr>
              <a:t> </a:t>
            </a:r>
            <a:r>
              <a:rPr lang="en-US" dirty="0">
                <a:latin typeface="Times New Roman"/>
                <a:cs typeface="Times New Roman"/>
              </a:rPr>
              <a:t>bus</a:t>
            </a:r>
            <a:endParaRPr lang="en-US" dirty="0"/>
          </a:p>
        </p:txBody>
      </p:sp>
    </p:spTree>
    <p:extLst>
      <p:ext uri="{BB962C8B-B14F-4D97-AF65-F5344CB8AC3E}">
        <p14:creationId xmlns:p14="http://schemas.microsoft.com/office/powerpoint/2010/main" val="737477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4" name="object 2"/>
          <p:cNvSpPr txBox="1"/>
          <p:nvPr/>
        </p:nvSpPr>
        <p:spPr>
          <a:xfrm>
            <a:off x="355163" y="972459"/>
            <a:ext cx="10990891" cy="2351156"/>
          </a:xfrm>
          <a:prstGeom prst="rect">
            <a:avLst/>
          </a:prstGeom>
        </p:spPr>
        <p:txBody>
          <a:bodyPr vert="horz" wrap="square" lIns="0" tIns="13970" rIns="0" bIns="0" rtlCol="0">
            <a:spAutoFit/>
          </a:bodyPr>
          <a:lstStyle/>
          <a:p>
            <a:pPr marL="41275" marR="5080" algn="just">
              <a:lnSpc>
                <a:spcPct val="110300"/>
              </a:lnSpc>
              <a:spcBef>
                <a:spcPts val="110"/>
              </a:spcBef>
            </a:pPr>
            <a:r>
              <a:rPr dirty="0">
                <a:latin typeface="Times New Roman"/>
                <a:cs typeface="Times New Roman"/>
              </a:rPr>
              <a:t>When both </a:t>
            </a:r>
            <a:r>
              <a:rPr spc="-5" dirty="0">
                <a:latin typeface="Times New Roman"/>
                <a:cs typeface="Times New Roman"/>
              </a:rPr>
              <a:t>contain logic </a:t>
            </a:r>
            <a:r>
              <a:rPr dirty="0">
                <a:latin typeface="Times New Roman"/>
                <a:cs typeface="Times New Roman"/>
              </a:rPr>
              <a:t>one the </a:t>
            </a:r>
            <a:r>
              <a:rPr spc="-5" dirty="0">
                <a:latin typeface="Times New Roman"/>
                <a:cs typeface="Times New Roman"/>
              </a:rPr>
              <a:t>CPU and </a:t>
            </a:r>
            <a:r>
              <a:rPr dirty="0">
                <a:latin typeface="Times New Roman"/>
                <a:cs typeface="Times New Roman"/>
              </a:rPr>
              <a:t>memory-I/O </a:t>
            </a:r>
            <a:r>
              <a:rPr spc="-5" dirty="0">
                <a:latin typeface="Times New Roman"/>
                <a:cs typeface="Times New Roman"/>
              </a:rPr>
              <a:t>are </a:t>
            </a:r>
            <a:r>
              <a:rPr dirty="0">
                <a:latin typeface="Times New Roman"/>
                <a:cs typeface="Times New Roman"/>
              </a:rPr>
              <a:t>not communicating with one </a:t>
            </a:r>
            <a:r>
              <a:rPr spc="-5" dirty="0">
                <a:latin typeface="Times New Roman"/>
                <a:cs typeface="Times New Roman"/>
              </a:rPr>
              <a:t>another. </a:t>
            </a:r>
            <a:endParaRPr lang="en-US" spc="-5" dirty="0">
              <a:latin typeface="Times New Roman"/>
              <a:cs typeface="Times New Roman"/>
            </a:endParaRPr>
          </a:p>
          <a:p>
            <a:pPr marL="41275" marR="5080" algn="just">
              <a:lnSpc>
                <a:spcPct val="110300"/>
              </a:lnSpc>
              <a:spcBef>
                <a:spcPts val="110"/>
              </a:spcBef>
            </a:pPr>
            <a:r>
              <a:rPr dirty="0">
                <a:latin typeface="Times New Roman"/>
                <a:cs typeface="Times New Roman"/>
              </a:rPr>
              <a:t>If  the </a:t>
            </a:r>
            <a:r>
              <a:rPr b="1" spc="-5" dirty="0">
                <a:latin typeface="Times New Roman"/>
                <a:cs typeface="Times New Roman"/>
              </a:rPr>
              <a:t>read </a:t>
            </a:r>
            <a:r>
              <a:rPr b="1" dirty="0">
                <a:latin typeface="Times New Roman"/>
                <a:cs typeface="Times New Roman"/>
              </a:rPr>
              <a:t>line </a:t>
            </a:r>
            <a:r>
              <a:rPr spc="-5" dirty="0">
                <a:latin typeface="Times New Roman"/>
                <a:cs typeface="Times New Roman"/>
              </a:rPr>
              <a:t>is low (logic </a:t>
            </a:r>
            <a:r>
              <a:rPr dirty="0">
                <a:latin typeface="Times New Roman"/>
                <a:cs typeface="Times New Roman"/>
              </a:rPr>
              <a:t>zero) the </a:t>
            </a:r>
            <a:r>
              <a:rPr spc="-5" dirty="0">
                <a:latin typeface="Times New Roman"/>
                <a:cs typeface="Times New Roman"/>
              </a:rPr>
              <a:t>CPU is reading </a:t>
            </a:r>
            <a:r>
              <a:rPr dirty="0">
                <a:latin typeface="Times New Roman"/>
                <a:cs typeface="Times New Roman"/>
              </a:rPr>
              <a:t>data </a:t>
            </a:r>
            <a:r>
              <a:rPr spc="-5" dirty="0">
                <a:latin typeface="Times New Roman"/>
                <a:cs typeface="Times New Roman"/>
              </a:rPr>
              <a:t>from </a:t>
            </a:r>
            <a:r>
              <a:rPr dirty="0">
                <a:latin typeface="Times New Roman"/>
                <a:cs typeface="Times New Roman"/>
              </a:rPr>
              <a:t>memory </a:t>
            </a:r>
            <a:r>
              <a:rPr spc="-5" dirty="0">
                <a:latin typeface="Times New Roman"/>
                <a:cs typeface="Times New Roman"/>
              </a:rPr>
              <a:t>(that is </a:t>
            </a:r>
            <a:r>
              <a:rPr dirty="0">
                <a:latin typeface="Times New Roman"/>
                <a:cs typeface="Times New Roman"/>
              </a:rPr>
              <a:t>the </a:t>
            </a:r>
            <a:r>
              <a:rPr spc="-5" dirty="0">
                <a:latin typeface="Times New Roman"/>
                <a:cs typeface="Times New Roman"/>
              </a:rPr>
              <a:t>system is  transferring </a:t>
            </a:r>
            <a:r>
              <a:rPr dirty="0">
                <a:latin typeface="Times New Roman"/>
                <a:cs typeface="Times New Roman"/>
              </a:rPr>
              <a:t>data </a:t>
            </a:r>
            <a:r>
              <a:rPr spc="-5" dirty="0">
                <a:latin typeface="Times New Roman"/>
                <a:cs typeface="Times New Roman"/>
              </a:rPr>
              <a:t>from </a:t>
            </a:r>
            <a:r>
              <a:rPr dirty="0">
                <a:latin typeface="Times New Roman"/>
                <a:cs typeface="Times New Roman"/>
              </a:rPr>
              <a:t>memory to </a:t>
            </a:r>
            <a:r>
              <a:rPr spc="5" dirty="0">
                <a:latin typeface="Times New Roman"/>
                <a:cs typeface="Times New Roman"/>
              </a:rPr>
              <a:t>the </a:t>
            </a:r>
            <a:r>
              <a:rPr spc="-5" dirty="0">
                <a:latin typeface="Times New Roman"/>
                <a:cs typeface="Times New Roman"/>
              </a:rPr>
              <a:t>CPU). </a:t>
            </a:r>
            <a:endParaRPr lang="en-US" spc="-5" dirty="0">
              <a:latin typeface="Times New Roman"/>
              <a:cs typeface="Times New Roman"/>
            </a:endParaRPr>
          </a:p>
          <a:p>
            <a:pPr marL="41275" marR="5080" algn="just">
              <a:lnSpc>
                <a:spcPct val="110300"/>
              </a:lnSpc>
              <a:spcBef>
                <a:spcPts val="110"/>
              </a:spcBef>
            </a:pPr>
            <a:r>
              <a:rPr spc="-15" dirty="0">
                <a:latin typeface="Times New Roman"/>
                <a:cs typeface="Times New Roman"/>
              </a:rPr>
              <a:t>If </a:t>
            </a:r>
            <a:r>
              <a:rPr dirty="0">
                <a:latin typeface="Times New Roman"/>
                <a:cs typeface="Times New Roman"/>
              </a:rPr>
              <a:t>the </a:t>
            </a:r>
            <a:r>
              <a:rPr b="1" spc="-5" dirty="0">
                <a:latin typeface="Times New Roman"/>
                <a:cs typeface="Times New Roman"/>
              </a:rPr>
              <a:t>write </a:t>
            </a:r>
            <a:r>
              <a:rPr b="1" dirty="0">
                <a:latin typeface="Times New Roman"/>
                <a:cs typeface="Times New Roman"/>
              </a:rPr>
              <a:t>line </a:t>
            </a:r>
            <a:r>
              <a:rPr spc="-5" dirty="0">
                <a:latin typeface="Times New Roman"/>
                <a:cs typeface="Times New Roman"/>
              </a:rPr>
              <a:t>is low </a:t>
            </a:r>
            <a:r>
              <a:rPr dirty="0">
                <a:latin typeface="Times New Roman"/>
                <a:cs typeface="Times New Roman"/>
              </a:rPr>
              <a:t>the </a:t>
            </a:r>
            <a:r>
              <a:rPr spc="-5" dirty="0">
                <a:latin typeface="Times New Roman"/>
                <a:cs typeface="Times New Roman"/>
              </a:rPr>
              <a:t>system transfers data from </a:t>
            </a:r>
            <a:r>
              <a:rPr dirty="0">
                <a:latin typeface="Times New Roman"/>
                <a:cs typeface="Times New Roman"/>
              </a:rPr>
              <a:t>the  </a:t>
            </a:r>
            <a:r>
              <a:rPr spc="-5" dirty="0">
                <a:latin typeface="Times New Roman"/>
                <a:cs typeface="Times New Roman"/>
              </a:rPr>
              <a:t>CPU </a:t>
            </a:r>
            <a:r>
              <a:rPr dirty="0">
                <a:latin typeface="Times New Roman"/>
                <a:cs typeface="Times New Roman"/>
              </a:rPr>
              <a:t>to</a:t>
            </a:r>
            <a:r>
              <a:rPr spc="-120" dirty="0">
                <a:latin typeface="Times New Roman"/>
                <a:cs typeface="Times New Roman"/>
              </a:rPr>
              <a:t> </a:t>
            </a:r>
            <a:r>
              <a:rPr spc="-5" dirty="0">
                <a:latin typeface="Times New Roman"/>
                <a:cs typeface="Times New Roman"/>
              </a:rPr>
              <a:t>memory.</a:t>
            </a:r>
            <a:endParaRPr dirty="0">
              <a:latin typeface="Times New Roman"/>
              <a:cs typeface="Times New Roman"/>
            </a:endParaRPr>
          </a:p>
          <a:p>
            <a:pPr marL="163830" marR="9525">
              <a:lnSpc>
                <a:spcPts val="1380"/>
              </a:lnSpc>
            </a:pPr>
            <a:endParaRPr lang="en-US" dirty="0">
              <a:latin typeface="Times New Roman"/>
              <a:cs typeface="Times New Roman"/>
            </a:endParaRPr>
          </a:p>
          <a:p>
            <a:pPr marR="9525" algn="just">
              <a:lnSpc>
                <a:spcPts val="1380"/>
              </a:lnSpc>
            </a:pPr>
            <a:r>
              <a:rPr dirty="0">
                <a:latin typeface="Times New Roman"/>
                <a:cs typeface="Times New Roman"/>
              </a:rPr>
              <a:t>The </a:t>
            </a:r>
            <a:r>
              <a:rPr spc="-5" dirty="0">
                <a:latin typeface="Times New Roman"/>
                <a:cs typeface="Times New Roman"/>
              </a:rPr>
              <a:t>CPU controls </a:t>
            </a:r>
            <a:r>
              <a:rPr dirty="0">
                <a:latin typeface="Times New Roman"/>
                <a:cs typeface="Times New Roman"/>
              </a:rPr>
              <a:t>the </a:t>
            </a:r>
            <a:r>
              <a:rPr spc="-5" dirty="0">
                <a:latin typeface="Times New Roman"/>
                <a:cs typeface="Times New Roman"/>
              </a:rPr>
              <a:t>computer. </a:t>
            </a:r>
            <a:r>
              <a:rPr spc="-10" dirty="0">
                <a:latin typeface="Times New Roman"/>
                <a:cs typeface="Times New Roman"/>
              </a:rPr>
              <a:t>It </a:t>
            </a:r>
            <a:r>
              <a:rPr b="1" spc="-5" dirty="0">
                <a:latin typeface="Times New Roman"/>
                <a:cs typeface="Times New Roman"/>
              </a:rPr>
              <a:t>fetches </a:t>
            </a:r>
            <a:r>
              <a:rPr dirty="0">
                <a:latin typeface="Times New Roman"/>
                <a:cs typeface="Times New Roman"/>
              </a:rPr>
              <a:t>instructions </a:t>
            </a:r>
            <a:r>
              <a:rPr spc="-5" dirty="0">
                <a:latin typeface="Times New Roman"/>
                <a:cs typeface="Times New Roman"/>
              </a:rPr>
              <a:t>from memory, </a:t>
            </a:r>
            <a:r>
              <a:rPr dirty="0">
                <a:latin typeface="Times New Roman"/>
                <a:cs typeface="Times New Roman"/>
              </a:rPr>
              <a:t>supply the </a:t>
            </a:r>
            <a:r>
              <a:rPr spc="-5" dirty="0">
                <a:latin typeface="Times New Roman"/>
                <a:cs typeface="Times New Roman"/>
              </a:rPr>
              <a:t>address and  control signals needed </a:t>
            </a:r>
            <a:r>
              <a:rPr spc="10" dirty="0">
                <a:latin typeface="Times New Roman"/>
                <a:cs typeface="Times New Roman"/>
              </a:rPr>
              <a:t>by </a:t>
            </a:r>
            <a:r>
              <a:rPr dirty="0">
                <a:latin typeface="Times New Roman"/>
                <a:cs typeface="Times New Roman"/>
              </a:rPr>
              <a:t>the memory to </a:t>
            </a:r>
            <a:r>
              <a:rPr spc="-5" dirty="0">
                <a:latin typeface="Times New Roman"/>
                <a:cs typeface="Times New Roman"/>
              </a:rPr>
              <a:t>access its</a:t>
            </a:r>
            <a:r>
              <a:rPr spc="-125" dirty="0">
                <a:latin typeface="Times New Roman"/>
                <a:cs typeface="Times New Roman"/>
              </a:rPr>
              <a:t> </a:t>
            </a:r>
            <a:r>
              <a:rPr spc="-5" dirty="0">
                <a:latin typeface="Times New Roman"/>
                <a:cs typeface="Times New Roman"/>
              </a:rPr>
              <a:t>data.</a:t>
            </a:r>
            <a:endParaRPr dirty="0">
              <a:latin typeface="Times New Roman"/>
              <a:cs typeface="Times New Roman"/>
            </a:endParaRPr>
          </a:p>
          <a:p>
            <a:pPr>
              <a:lnSpc>
                <a:spcPct val="100000"/>
              </a:lnSpc>
              <a:spcBef>
                <a:spcPts val="45"/>
              </a:spcBef>
            </a:pPr>
            <a:endParaRPr dirty="0">
              <a:latin typeface="Times New Roman"/>
              <a:cs typeface="Times New Roman"/>
            </a:endParaRPr>
          </a:p>
          <a:p>
            <a:pPr marL="12700" algn="just">
              <a:lnSpc>
                <a:spcPct val="100000"/>
              </a:lnSpc>
            </a:pPr>
            <a:r>
              <a:rPr spc="-5" dirty="0">
                <a:latin typeface="Times New Roman"/>
                <a:cs typeface="Times New Roman"/>
              </a:rPr>
              <a:t>Internally, </a:t>
            </a:r>
            <a:r>
              <a:rPr dirty="0">
                <a:latin typeface="Times New Roman"/>
                <a:cs typeface="Times New Roman"/>
              </a:rPr>
              <a:t>CPU </a:t>
            </a:r>
            <a:r>
              <a:rPr spc="-5" dirty="0">
                <a:latin typeface="Times New Roman"/>
                <a:cs typeface="Times New Roman"/>
              </a:rPr>
              <a:t>has </a:t>
            </a:r>
            <a:r>
              <a:rPr dirty="0">
                <a:latin typeface="Times New Roman"/>
                <a:cs typeface="Times New Roman"/>
              </a:rPr>
              <a:t>three </a:t>
            </a:r>
            <a:r>
              <a:rPr spc="-5" dirty="0">
                <a:latin typeface="Times New Roman"/>
                <a:cs typeface="Times New Roman"/>
              </a:rPr>
              <a:t>sections as shown </a:t>
            </a:r>
            <a:r>
              <a:rPr dirty="0">
                <a:latin typeface="Times New Roman"/>
                <a:cs typeface="Times New Roman"/>
              </a:rPr>
              <a:t>in the </a:t>
            </a:r>
            <a:r>
              <a:rPr spc="-5" dirty="0">
                <a:latin typeface="Times New Roman"/>
                <a:cs typeface="Times New Roman"/>
              </a:rPr>
              <a:t>fig</a:t>
            </a:r>
            <a:r>
              <a:rPr spc="-100" dirty="0">
                <a:latin typeface="Times New Roman"/>
                <a:cs typeface="Times New Roman"/>
              </a:rPr>
              <a:t> </a:t>
            </a:r>
            <a:r>
              <a:rPr spc="-5" dirty="0">
                <a:latin typeface="Times New Roman"/>
                <a:cs typeface="Times New Roman"/>
              </a:rPr>
              <a:t>below</a:t>
            </a:r>
            <a:endParaRPr dirty="0">
              <a:latin typeface="Times New Roman"/>
              <a:cs typeface="Times New Roman"/>
            </a:endParaRPr>
          </a:p>
        </p:txBody>
      </p:sp>
      <p:sp>
        <p:nvSpPr>
          <p:cNvPr id="5" name="object 4"/>
          <p:cNvSpPr/>
          <p:nvPr/>
        </p:nvSpPr>
        <p:spPr>
          <a:xfrm>
            <a:off x="2852382" y="3452473"/>
            <a:ext cx="5909481" cy="2702667"/>
          </a:xfrm>
          <a:prstGeom prst="rect">
            <a:avLst/>
          </a:prstGeom>
          <a:blipFill>
            <a:blip r:embed="rId3" cstate="print"/>
            <a:stretch>
              <a:fillRect/>
            </a:stretch>
          </a:blipFill>
        </p:spPr>
        <p:txBody>
          <a:bodyPr wrap="square" lIns="0" tIns="0" rIns="0" bIns="0" rtlCol="0"/>
          <a:lstStyle/>
          <a:p>
            <a:endParaRPr/>
          </a:p>
        </p:txBody>
      </p:sp>
      <p:sp>
        <p:nvSpPr>
          <p:cNvPr id="6" name="object 3"/>
          <p:cNvSpPr txBox="1"/>
          <p:nvPr/>
        </p:nvSpPr>
        <p:spPr>
          <a:xfrm>
            <a:off x="2379478" y="6227024"/>
            <a:ext cx="6382385" cy="548868"/>
          </a:xfrm>
          <a:prstGeom prst="rect">
            <a:avLst/>
          </a:prstGeom>
        </p:spPr>
        <p:txBody>
          <a:bodyPr vert="horz" wrap="square" lIns="0" tIns="12700" rIns="0" bIns="0" rtlCol="0">
            <a:spAutoFit/>
          </a:bodyPr>
          <a:lstStyle/>
          <a:p>
            <a:pPr marL="184785" algn="ctr">
              <a:lnSpc>
                <a:spcPct val="100000"/>
              </a:lnSpc>
              <a:spcBef>
                <a:spcPts val="100"/>
              </a:spcBef>
            </a:pPr>
            <a:r>
              <a:rPr spc="-5" dirty="0">
                <a:latin typeface="Times New Roman"/>
                <a:cs typeface="Times New Roman"/>
              </a:rPr>
              <a:t>Fig </a:t>
            </a:r>
            <a:r>
              <a:rPr dirty="0">
                <a:latin typeface="Times New Roman"/>
                <a:cs typeface="Times New Roman"/>
              </a:rPr>
              <a:t>1.</a:t>
            </a:r>
            <a:r>
              <a:rPr lang="en-US" dirty="0">
                <a:latin typeface="Times New Roman"/>
                <a:cs typeface="Times New Roman"/>
              </a:rPr>
              <a:t>2</a:t>
            </a:r>
            <a:r>
              <a:rPr dirty="0">
                <a:latin typeface="Times New Roman"/>
                <a:cs typeface="Times New Roman"/>
              </a:rPr>
              <a:t>: </a:t>
            </a:r>
            <a:r>
              <a:rPr spc="-5" dirty="0">
                <a:latin typeface="Times New Roman"/>
                <a:cs typeface="Times New Roman"/>
              </a:rPr>
              <a:t>CPU</a:t>
            </a:r>
            <a:r>
              <a:rPr spc="-10" dirty="0">
                <a:latin typeface="Times New Roman"/>
                <a:cs typeface="Times New Roman"/>
              </a:rPr>
              <a:t> </a:t>
            </a:r>
            <a:r>
              <a:rPr spc="-5" dirty="0">
                <a:latin typeface="Times New Roman"/>
                <a:cs typeface="Times New Roman"/>
              </a:rPr>
              <a:t>Organization</a:t>
            </a:r>
            <a:endParaRPr dirty="0">
              <a:latin typeface="Times New Roman"/>
              <a:cs typeface="Times New Roman"/>
            </a:endParaRPr>
          </a:p>
          <a:p>
            <a:pPr>
              <a:lnSpc>
                <a:spcPct val="100000"/>
              </a:lnSpc>
              <a:spcBef>
                <a:spcPts val="55"/>
              </a:spcBef>
            </a:pPr>
            <a:endParaRPr sz="1600" dirty="0">
              <a:latin typeface="Times New Roman"/>
              <a:cs typeface="Times New Roman"/>
            </a:endParaRPr>
          </a:p>
        </p:txBody>
      </p:sp>
    </p:spTree>
    <p:extLst>
      <p:ext uri="{BB962C8B-B14F-4D97-AF65-F5344CB8AC3E}">
        <p14:creationId xmlns:p14="http://schemas.microsoft.com/office/powerpoint/2010/main" val="2862700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4" name="Rectangle 3"/>
          <p:cNvSpPr/>
          <p:nvPr/>
        </p:nvSpPr>
        <p:spPr>
          <a:xfrm>
            <a:off x="191452" y="807254"/>
            <a:ext cx="11572918" cy="5634876"/>
          </a:xfrm>
          <a:prstGeom prst="rect">
            <a:avLst/>
          </a:prstGeom>
        </p:spPr>
        <p:txBody>
          <a:bodyPr wrap="square">
            <a:spAutoFit/>
          </a:bodyPr>
          <a:lstStyle/>
          <a:p>
            <a:pPr marL="186690" marR="5080" indent="-174625" algn="just">
              <a:lnSpc>
                <a:spcPct val="150000"/>
              </a:lnSpc>
              <a:buFont typeface="Symbol"/>
              <a:buChar char=""/>
              <a:tabLst>
                <a:tab pos="187325" algn="l"/>
              </a:tabLst>
            </a:pPr>
            <a:r>
              <a:rPr lang="en-US" dirty="0">
                <a:latin typeface="Times New Roman"/>
                <a:cs typeface="Times New Roman"/>
              </a:rPr>
              <a:t>The </a:t>
            </a:r>
            <a:r>
              <a:rPr lang="en-US" spc="-5" dirty="0">
                <a:latin typeface="Times New Roman"/>
                <a:cs typeface="Times New Roman"/>
              </a:rPr>
              <a:t>register section, as </a:t>
            </a:r>
            <a:r>
              <a:rPr lang="en-US" dirty="0">
                <a:latin typeface="Times New Roman"/>
                <a:cs typeface="Times New Roman"/>
              </a:rPr>
              <a:t>its </a:t>
            </a:r>
            <a:r>
              <a:rPr lang="en-US" spc="-5" dirty="0">
                <a:latin typeface="Times New Roman"/>
                <a:cs typeface="Times New Roman"/>
              </a:rPr>
              <a:t>name </a:t>
            </a:r>
            <a:r>
              <a:rPr lang="en-US" dirty="0">
                <a:latin typeface="Times New Roman"/>
                <a:cs typeface="Times New Roman"/>
              </a:rPr>
              <a:t>implies, </a:t>
            </a:r>
            <a:r>
              <a:rPr lang="en-US" spc="-5" dirty="0">
                <a:latin typeface="Times New Roman"/>
                <a:cs typeface="Times New Roman"/>
              </a:rPr>
              <a:t>includes </a:t>
            </a:r>
            <a:r>
              <a:rPr lang="en-US" dirty="0">
                <a:latin typeface="Times New Roman"/>
                <a:cs typeface="Times New Roman"/>
              </a:rPr>
              <a:t>a </a:t>
            </a:r>
            <a:r>
              <a:rPr lang="en-US" spc="-5" dirty="0">
                <a:latin typeface="Times New Roman"/>
                <a:cs typeface="Times New Roman"/>
              </a:rPr>
              <a:t>set </a:t>
            </a:r>
            <a:r>
              <a:rPr lang="en-US" dirty="0">
                <a:latin typeface="Times New Roman"/>
                <a:cs typeface="Times New Roman"/>
              </a:rPr>
              <a:t>of </a:t>
            </a:r>
            <a:r>
              <a:rPr lang="en-US" spc="-5" dirty="0">
                <a:latin typeface="Times New Roman"/>
                <a:cs typeface="Times New Roman"/>
              </a:rPr>
              <a:t>registers and </a:t>
            </a:r>
            <a:r>
              <a:rPr lang="en-US" dirty="0">
                <a:latin typeface="Times New Roman"/>
                <a:cs typeface="Times New Roman"/>
              </a:rPr>
              <a:t>a bus or </a:t>
            </a:r>
            <a:r>
              <a:rPr lang="en-US" spc="-5" dirty="0">
                <a:latin typeface="Times New Roman"/>
                <a:cs typeface="Times New Roman"/>
              </a:rPr>
              <a:t>other communication  mechanism.</a:t>
            </a:r>
            <a:endParaRPr lang="en-US" dirty="0">
              <a:latin typeface="Times New Roman"/>
              <a:cs typeface="Times New Roman"/>
            </a:endParaRPr>
          </a:p>
          <a:p>
            <a:pPr marL="186690" indent="-174625" algn="just">
              <a:lnSpc>
                <a:spcPct val="150000"/>
              </a:lnSpc>
              <a:spcBef>
                <a:spcPts val="225"/>
              </a:spcBef>
              <a:buFont typeface="Symbol"/>
              <a:buChar char=""/>
              <a:tabLst>
                <a:tab pos="187325" algn="l"/>
              </a:tabLst>
            </a:pPr>
            <a:r>
              <a:rPr lang="en-US" dirty="0">
                <a:latin typeface="Times New Roman"/>
                <a:cs typeface="Times New Roman"/>
              </a:rPr>
              <a:t>The</a:t>
            </a:r>
            <a:r>
              <a:rPr lang="en-US" spc="-20" dirty="0">
                <a:latin typeface="Times New Roman"/>
                <a:cs typeface="Times New Roman"/>
              </a:rPr>
              <a:t> </a:t>
            </a:r>
            <a:r>
              <a:rPr lang="en-US" spc="-5" dirty="0">
                <a:latin typeface="Times New Roman"/>
                <a:cs typeface="Times New Roman"/>
              </a:rPr>
              <a:t>register</a:t>
            </a:r>
            <a:r>
              <a:rPr lang="en-US" spc="-20" dirty="0">
                <a:latin typeface="Times New Roman"/>
                <a:cs typeface="Times New Roman"/>
              </a:rPr>
              <a:t> </a:t>
            </a:r>
            <a:r>
              <a:rPr lang="en-US" dirty="0">
                <a:latin typeface="Times New Roman"/>
                <a:cs typeface="Times New Roman"/>
              </a:rPr>
              <a:t>in</a:t>
            </a:r>
            <a:r>
              <a:rPr lang="en-US" spc="-25" dirty="0">
                <a:latin typeface="Times New Roman"/>
                <a:cs typeface="Times New Roman"/>
              </a:rPr>
              <a:t> </a:t>
            </a:r>
            <a:r>
              <a:rPr lang="en-US" dirty="0">
                <a:latin typeface="Times New Roman"/>
                <a:cs typeface="Times New Roman"/>
              </a:rPr>
              <a:t>a</a:t>
            </a:r>
            <a:r>
              <a:rPr lang="en-US" spc="-25" dirty="0">
                <a:latin typeface="Times New Roman"/>
                <a:cs typeface="Times New Roman"/>
              </a:rPr>
              <a:t> </a:t>
            </a:r>
            <a:r>
              <a:rPr lang="en-US" spc="-5" dirty="0">
                <a:latin typeface="Times New Roman"/>
                <a:cs typeface="Times New Roman"/>
              </a:rPr>
              <a:t>processor’s instruction</a:t>
            </a:r>
            <a:r>
              <a:rPr lang="en-US" spc="-25" dirty="0">
                <a:latin typeface="Times New Roman"/>
                <a:cs typeface="Times New Roman"/>
              </a:rPr>
              <a:t> </a:t>
            </a:r>
            <a:r>
              <a:rPr lang="en-US" spc="-5" dirty="0">
                <a:latin typeface="Times New Roman"/>
                <a:cs typeface="Times New Roman"/>
              </a:rPr>
              <a:t>set</a:t>
            </a:r>
            <a:r>
              <a:rPr lang="en-US" spc="-20" dirty="0">
                <a:latin typeface="Times New Roman"/>
                <a:cs typeface="Times New Roman"/>
              </a:rPr>
              <a:t> </a:t>
            </a:r>
            <a:r>
              <a:rPr lang="en-US" spc="-5" dirty="0">
                <a:latin typeface="Times New Roman"/>
                <a:cs typeface="Times New Roman"/>
              </a:rPr>
              <a:t>architecture</a:t>
            </a:r>
            <a:r>
              <a:rPr lang="en-US" spc="-15" dirty="0">
                <a:latin typeface="Times New Roman"/>
                <a:cs typeface="Times New Roman"/>
              </a:rPr>
              <a:t> </a:t>
            </a:r>
            <a:r>
              <a:rPr lang="en-US" spc="-5" dirty="0">
                <a:latin typeface="Times New Roman"/>
                <a:cs typeface="Times New Roman"/>
              </a:rPr>
              <a:t>are</a:t>
            </a:r>
            <a:r>
              <a:rPr lang="en-US" spc="-20" dirty="0">
                <a:latin typeface="Times New Roman"/>
                <a:cs typeface="Times New Roman"/>
              </a:rPr>
              <a:t> </a:t>
            </a:r>
            <a:r>
              <a:rPr lang="en-US" dirty="0">
                <a:latin typeface="Times New Roman"/>
                <a:cs typeface="Times New Roman"/>
              </a:rPr>
              <a:t>found in the</a:t>
            </a:r>
            <a:r>
              <a:rPr lang="en-US" spc="-25" dirty="0">
                <a:latin typeface="Times New Roman"/>
                <a:cs typeface="Times New Roman"/>
              </a:rPr>
              <a:t> </a:t>
            </a:r>
            <a:r>
              <a:rPr lang="en-US" dirty="0">
                <a:latin typeface="Times New Roman"/>
                <a:cs typeface="Times New Roman"/>
              </a:rPr>
              <a:t>section</a:t>
            </a:r>
            <a:r>
              <a:rPr lang="en-US" spc="-25" dirty="0">
                <a:latin typeface="Times New Roman"/>
                <a:cs typeface="Times New Roman"/>
              </a:rPr>
              <a:t> </a:t>
            </a:r>
            <a:r>
              <a:rPr lang="en-US" dirty="0">
                <a:latin typeface="Times New Roman"/>
                <a:cs typeface="Times New Roman"/>
              </a:rPr>
              <a:t>of</a:t>
            </a:r>
            <a:r>
              <a:rPr lang="en-US" spc="-20" dirty="0">
                <a:latin typeface="Times New Roman"/>
                <a:cs typeface="Times New Roman"/>
              </a:rPr>
              <a:t> </a:t>
            </a:r>
            <a:r>
              <a:rPr lang="en-US" dirty="0">
                <a:latin typeface="Times New Roman"/>
                <a:cs typeface="Times New Roman"/>
              </a:rPr>
              <a:t>the</a:t>
            </a:r>
            <a:r>
              <a:rPr lang="en-US" spc="-10" dirty="0">
                <a:latin typeface="Times New Roman"/>
                <a:cs typeface="Times New Roman"/>
              </a:rPr>
              <a:t> </a:t>
            </a:r>
            <a:r>
              <a:rPr lang="en-US" spc="5" dirty="0">
                <a:latin typeface="Times New Roman"/>
                <a:cs typeface="Times New Roman"/>
              </a:rPr>
              <a:t>CPU.</a:t>
            </a:r>
            <a:endParaRPr lang="en-US" dirty="0">
              <a:latin typeface="Times New Roman"/>
              <a:cs typeface="Times New Roman"/>
            </a:endParaRPr>
          </a:p>
          <a:p>
            <a:pPr marL="186690" marR="6985" indent="-174625" algn="just">
              <a:lnSpc>
                <a:spcPct val="150000"/>
              </a:lnSpc>
              <a:spcBef>
                <a:spcPts val="110"/>
              </a:spcBef>
              <a:buFont typeface="Symbol"/>
              <a:buChar char=""/>
              <a:tabLst>
                <a:tab pos="187325" algn="l"/>
                <a:tab pos="6122035" algn="l"/>
              </a:tabLst>
            </a:pPr>
            <a:r>
              <a:rPr lang="en-US" dirty="0">
                <a:latin typeface="Times New Roman"/>
                <a:cs typeface="Times New Roman"/>
              </a:rPr>
              <a:t>The </a:t>
            </a:r>
            <a:r>
              <a:rPr lang="en-US" spc="-95" dirty="0">
                <a:latin typeface="Times New Roman"/>
                <a:cs typeface="Times New Roman"/>
              </a:rPr>
              <a:t> </a:t>
            </a:r>
            <a:r>
              <a:rPr lang="en-US" spc="5" dirty="0">
                <a:latin typeface="Times New Roman"/>
                <a:cs typeface="Times New Roman"/>
              </a:rPr>
              <a:t>s</a:t>
            </a:r>
            <a:r>
              <a:rPr lang="en-US" spc="-25" dirty="0">
                <a:latin typeface="Times New Roman"/>
                <a:cs typeface="Times New Roman"/>
              </a:rPr>
              <a:t>y</a:t>
            </a:r>
            <a:r>
              <a:rPr lang="en-US" dirty="0">
                <a:latin typeface="Times New Roman"/>
                <a:cs typeface="Times New Roman"/>
              </a:rPr>
              <a:t>stem </a:t>
            </a:r>
            <a:r>
              <a:rPr lang="en-US" spc="-85" dirty="0">
                <a:latin typeface="Times New Roman"/>
                <a:cs typeface="Times New Roman"/>
              </a:rPr>
              <a:t> </a:t>
            </a:r>
            <a:r>
              <a:rPr lang="en-US" spc="-5" dirty="0">
                <a:latin typeface="Times New Roman"/>
                <a:cs typeface="Times New Roman"/>
              </a:rPr>
              <a:t>a</a:t>
            </a:r>
            <a:r>
              <a:rPr lang="en-US" dirty="0">
                <a:latin typeface="Times New Roman"/>
                <a:cs typeface="Times New Roman"/>
              </a:rPr>
              <a:t>dd</a:t>
            </a:r>
            <a:r>
              <a:rPr lang="en-US" spc="5" dirty="0">
                <a:latin typeface="Times New Roman"/>
                <a:cs typeface="Times New Roman"/>
              </a:rPr>
              <a:t>r</a:t>
            </a:r>
            <a:r>
              <a:rPr lang="en-US" spc="-5" dirty="0">
                <a:latin typeface="Times New Roman"/>
                <a:cs typeface="Times New Roman"/>
              </a:rPr>
              <a:t>ess</a:t>
            </a:r>
            <a:r>
              <a:rPr lang="en-US" dirty="0">
                <a:latin typeface="Times New Roman"/>
                <a:cs typeface="Times New Roman"/>
              </a:rPr>
              <a:t> </a:t>
            </a:r>
            <a:r>
              <a:rPr lang="en-US" spc="-85" dirty="0">
                <a:latin typeface="Times New Roman"/>
                <a:cs typeface="Times New Roman"/>
              </a:rPr>
              <a:t> </a:t>
            </a:r>
            <a:r>
              <a:rPr lang="en-US" spc="-5" dirty="0">
                <a:latin typeface="Times New Roman"/>
                <a:cs typeface="Times New Roman"/>
              </a:rPr>
              <a:t>a</a:t>
            </a:r>
            <a:r>
              <a:rPr lang="en-US" dirty="0">
                <a:latin typeface="Times New Roman"/>
                <a:cs typeface="Times New Roman"/>
              </a:rPr>
              <a:t>nd </a:t>
            </a:r>
            <a:r>
              <a:rPr lang="en-US" spc="-90" dirty="0">
                <a:latin typeface="Times New Roman"/>
                <a:cs typeface="Times New Roman"/>
              </a:rPr>
              <a:t> </a:t>
            </a:r>
            <a:r>
              <a:rPr lang="en-US" dirty="0">
                <a:latin typeface="Times New Roman"/>
                <a:cs typeface="Times New Roman"/>
              </a:rPr>
              <a:t>d</a:t>
            </a:r>
            <a:r>
              <a:rPr lang="en-US" spc="-5" dirty="0">
                <a:latin typeface="Times New Roman"/>
                <a:cs typeface="Times New Roman"/>
              </a:rPr>
              <a:t>a</a:t>
            </a:r>
            <a:r>
              <a:rPr lang="en-US" dirty="0">
                <a:latin typeface="Times New Roman"/>
                <a:cs typeface="Times New Roman"/>
              </a:rPr>
              <a:t>ta </a:t>
            </a:r>
            <a:r>
              <a:rPr lang="en-US" spc="-90" dirty="0">
                <a:latin typeface="Times New Roman"/>
                <a:cs typeface="Times New Roman"/>
              </a:rPr>
              <a:t> </a:t>
            </a:r>
            <a:r>
              <a:rPr lang="en-US" spc="-5" dirty="0">
                <a:latin typeface="Times New Roman"/>
                <a:cs typeface="Times New Roman"/>
              </a:rPr>
              <a:t>buses</a:t>
            </a:r>
            <a:r>
              <a:rPr lang="en-US" dirty="0">
                <a:latin typeface="Times New Roman"/>
                <a:cs typeface="Times New Roman"/>
              </a:rPr>
              <a:t> </a:t>
            </a:r>
            <a:r>
              <a:rPr lang="en-US" spc="-90" dirty="0">
                <a:latin typeface="Times New Roman"/>
                <a:cs typeface="Times New Roman"/>
              </a:rPr>
              <a:t> </a:t>
            </a:r>
            <a:r>
              <a:rPr lang="en-US" dirty="0">
                <a:latin typeface="Times New Roman"/>
                <a:cs typeface="Times New Roman"/>
              </a:rPr>
              <a:t>int</a:t>
            </a:r>
            <a:r>
              <a:rPr lang="en-US" spc="-5" dirty="0">
                <a:latin typeface="Times New Roman"/>
                <a:cs typeface="Times New Roman"/>
              </a:rPr>
              <a:t>e</a:t>
            </a:r>
            <a:r>
              <a:rPr lang="en-US" dirty="0">
                <a:latin typeface="Times New Roman"/>
                <a:cs typeface="Times New Roman"/>
              </a:rPr>
              <a:t>r</a:t>
            </a:r>
            <a:r>
              <a:rPr lang="en-US" spc="-10" dirty="0">
                <a:latin typeface="Times New Roman"/>
                <a:cs typeface="Times New Roman"/>
              </a:rPr>
              <a:t>a</a:t>
            </a:r>
            <a:r>
              <a:rPr lang="en-US" spc="-5" dirty="0">
                <a:latin typeface="Times New Roman"/>
                <a:cs typeface="Times New Roman"/>
              </a:rPr>
              <a:t>c</a:t>
            </a:r>
            <a:r>
              <a:rPr lang="en-US" dirty="0">
                <a:latin typeface="Times New Roman"/>
                <a:cs typeface="Times New Roman"/>
              </a:rPr>
              <a:t>t </a:t>
            </a:r>
            <a:r>
              <a:rPr lang="en-US" spc="-85" dirty="0">
                <a:latin typeface="Times New Roman"/>
                <a:cs typeface="Times New Roman"/>
              </a:rPr>
              <a:t> </a:t>
            </a:r>
            <a:r>
              <a:rPr lang="en-US" dirty="0">
                <a:latin typeface="Times New Roman"/>
                <a:cs typeface="Times New Roman"/>
              </a:rPr>
              <a:t>with </a:t>
            </a:r>
            <a:r>
              <a:rPr lang="en-US" spc="-85" dirty="0">
                <a:latin typeface="Times New Roman"/>
                <a:cs typeface="Times New Roman"/>
              </a:rPr>
              <a:t> </a:t>
            </a:r>
            <a:r>
              <a:rPr lang="en-US" dirty="0">
                <a:latin typeface="Times New Roman"/>
                <a:cs typeface="Times New Roman"/>
              </a:rPr>
              <a:t>thi</a:t>
            </a:r>
            <a:r>
              <a:rPr lang="en-US" spc="-5" dirty="0">
                <a:latin typeface="Times New Roman"/>
                <a:cs typeface="Times New Roman"/>
              </a:rPr>
              <a:t>s</a:t>
            </a:r>
            <a:r>
              <a:rPr lang="en-US" dirty="0">
                <a:latin typeface="Times New Roman"/>
                <a:cs typeface="Times New Roman"/>
              </a:rPr>
              <a:t> </a:t>
            </a:r>
            <a:r>
              <a:rPr lang="en-US" spc="-85" dirty="0">
                <a:latin typeface="Times New Roman"/>
                <a:cs typeface="Times New Roman"/>
              </a:rPr>
              <a:t> </a:t>
            </a:r>
            <a:r>
              <a:rPr lang="en-US" spc="-5" dirty="0">
                <a:latin typeface="Times New Roman"/>
                <a:cs typeface="Times New Roman"/>
              </a:rPr>
              <a:t>s</a:t>
            </a:r>
            <a:r>
              <a:rPr lang="en-US" spc="-10" dirty="0">
                <a:latin typeface="Times New Roman"/>
                <a:cs typeface="Times New Roman"/>
              </a:rPr>
              <a:t>e</a:t>
            </a:r>
            <a:r>
              <a:rPr lang="en-US" spc="-5" dirty="0">
                <a:latin typeface="Times New Roman"/>
                <a:cs typeface="Times New Roman"/>
              </a:rPr>
              <a:t>c</a:t>
            </a:r>
            <a:r>
              <a:rPr lang="en-US" dirty="0">
                <a:latin typeface="Times New Roman"/>
                <a:cs typeface="Times New Roman"/>
              </a:rPr>
              <a:t>tion </a:t>
            </a:r>
            <a:r>
              <a:rPr lang="en-US" spc="-90" dirty="0">
                <a:latin typeface="Times New Roman"/>
                <a:cs typeface="Times New Roman"/>
              </a:rPr>
              <a:t> </a:t>
            </a:r>
            <a:r>
              <a:rPr lang="en-US" dirty="0">
                <a:latin typeface="Times New Roman"/>
                <a:cs typeface="Times New Roman"/>
              </a:rPr>
              <a:t>of </a:t>
            </a:r>
            <a:r>
              <a:rPr lang="en-US" spc="-105" dirty="0">
                <a:latin typeface="Times New Roman"/>
                <a:cs typeface="Times New Roman"/>
              </a:rPr>
              <a:t> </a:t>
            </a:r>
            <a:r>
              <a:rPr lang="en-US" dirty="0">
                <a:latin typeface="Times New Roman"/>
                <a:cs typeface="Times New Roman"/>
              </a:rPr>
              <a:t>C</a:t>
            </a:r>
            <a:r>
              <a:rPr lang="en-US" spc="-5" dirty="0">
                <a:latin typeface="Times New Roman"/>
                <a:cs typeface="Times New Roman"/>
              </a:rPr>
              <a:t>PU.</a:t>
            </a:r>
            <a:r>
              <a:rPr lang="en-US" dirty="0">
                <a:latin typeface="Times New Roman"/>
                <a:cs typeface="Times New Roman"/>
              </a:rPr>
              <a:t> </a:t>
            </a:r>
            <a:r>
              <a:rPr lang="en-US" spc="-100" dirty="0">
                <a:latin typeface="Times New Roman"/>
                <a:cs typeface="Times New Roman"/>
              </a:rPr>
              <a:t> </a:t>
            </a:r>
            <a:r>
              <a:rPr lang="en-US" dirty="0">
                <a:latin typeface="Times New Roman"/>
                <a:cs typeface="Times New Roman"/>
              </a:rPr>
              <a:t>The </a:t>
            </a:r>
            <a:r>
              <a:rPr lang="en-US" spc="-60" dirty="0">
                <a:latin typeface="Times New Roman"/>
                <a:cs typeface="Times New Roman"/>
              </a:rPr>
              <a:t> </a:t>
            </a:r>
            <a:r>
              <a:rPr lang="en-US" dirty="0">
                <a:latin typeface="Times New Roman"/>
                <a:cs typeface="Times New Roman"/>
              </a:rPr>
              <a:t>re</a:t>
            </a:r>
            <a:r>
              <a:rPr lang="en-US" spc="-15" dirty="0">
                <a:latin typeface="Times New Roman"/>
                <a:cs typeface="Times New Roman"/>
              </a:rPr>
              <a:t>g</a:t>
            </a:r>
            <a:r>
              <a:rPr lang="en-US" spc="-5" dirty="0">
                <a:latin typeface="Times New Roman"/>
                <a:cs typeface="Times New Roman"/>
              </a:rPr>
              <a:t>iste</a:t>
            </a:r>
            <a:r>
              <a:rPr lang="en-US" dirty="0">
                <a:latin typeface="Times New Roman"/>
                <a:cs typeface="Times New Roman"/>
              </a:rPr>
              <a:t>r </a:t>
            </a:r>
            <a:r>
              <a:rPr lang="en-US" spc="-90" dirty="0">
                <a:latin typeface="Times New Roman"/>
                <a:cs typeface="Times New Roman"/>
              </a:rPr>
              <a:t> </a:t>
            </a:r>
            <a:r>
              <a:rPr lang="en-US" spc="-5" dirty="0">
                <a:latin typeface="Times New Roman"/>
                <a:cs typeface="Times New Roman"/>
              </a:rPr>
              <a:t>s</a:t>
            </a:r>
            <a:r>
              <a:rPr lang="en-US" spc="-10" dirty="0">
                <a:latin typeface="Times New Roman"/>
                <a:cs typeface="Times New Roman"/>
              </a:rPr>
              <a:t>e</a:t>
            </a:r>
            <a:r>
              <a:rPr lang="en-US" spc="-5" dirty="0">
                <a:latin typeface="Times New Roman"/>
                <a:cs typeface="Times New Roman"/>
              </a:rPr>
              <a:t>c</a:t>
            </a:r>
            <a:r>
              <a:rPr lang="en-US" dirty="0">
                <a:latin typeface="Times New Roman"/>
                <a:cs typeface="Times New Roman"/>
              </a:rPr>
              <a:t>tion	</a:t>
            </a:r>
            <a:r>
              <a:rPr lang="en-US" spc="-5" dirty="0">
                <a:latin typeface="Times New Roman"/>
                <a:cs typeface="Times New Roman"/>
              </a:rPr>
              <a:t>also  contains other registers that are </a:t>
            </a:r>
            <a:r>
              <a:rPr lang="en-US" dirty="0">
                <a:latin typeface="Times New Roman"/>
                <a:cs typeface="Times New Roman"/>
              </a:rPr>
              <a:t>not directly accessible </a:t>
            </a:r>
            <a:r>
              <a:rPr lang="en-US" spc="5" dirty="0">
                <a:latin typeface="Times New Roman"/>
                <a:cs typeface="Times New Roman"/>
              </a:rPr>
              <a:t>by</a:t>
            </a:r>
            <a:r>
              <a:rPr lang="en-US" spc="-25" dirty="0">
                <a:latin typeface="Times New Roman"/>
                <a:cs typeface="Times New Roman"/>
              </a:rPr>
              <a:t> </a:t>
            </a:r>
            <a:r>
              <a:rPr lang="en-US" spc="5" dirty="0">
                <a:latin typeface="Times New Roman"/>
                <a:cs typeface="Times New Roman"/>
              </a:rPr>
              <a:t>the programmer.</a:t>
            </a:r>
            <a:endParaRPr lang="en-US" dirty="0">
              <a:latin typeface="Times New Roman"/>
              <a:cs typeface="Times New Roman"/>
            </a:endParaRPr>
          </a:p>
          <a:p>
            <a:pPr marL="186690" marR="13335" indent="-174625" algn="just">
              <a:lnSpc>
                <a:spcPct val="150000"/>
              </a:lnSpc>
              <a:spcBef>
                <a:spcPts val="65"/>
              </a:spcBef>
              <a:buFont typeface="Symbol"/>
              <a:buChar char=""/>
              <a:tabLst>
                <a:tab pos="187325" algn="l"/>
              </a:tabLst>
            </a:pPr>
            <a:r>
              <a:rPr lang="en-US" dirty="0">
                <a:latin typeface="Times New Roman"/>
                <a:cs typeface="Times New Roman"/>
              </a:rPr>
              <a:t>The </a:t>
            </a:r>
            <a:r>
              <a:rPr lang="en-US" spc="-5" dirty="0">
                <a:latin typeface="Times New Roman"/>
                <a:cs typeface="Times New Roman"/>
              </a:rPr>
              <a:t>fetch </a:t>
            </a:r>
            <a:r>
              <a:rPr lang="en-US" dirty="0">
                <a:latin typeface="Times New Roman"/>
                <a:cs typeface="Times New Roman"/>
              </a:rPr>
              <a:t>portion of the </a:t>
            </a:r>
            <a:r>
              <a:rPr lang="en-US" spc="-5" dirty="0">
                <a:latin typeface="Times New Roman"/>
                <a:cs typeface="Times New Roman"/>
              </a:rPr>
              <a:t>instruction cycle, </a:t>
            </a:r>
            <a:r>
              <a:rPr lang="en-US" dirty="0">
                <a:latin typeface="Times New Roman"/>
                <a:cs typeface="Times New Roman"/>
              </a:rPr>
              <a:t>the </a:t>
            </a:r>
            <a:r>
              <a:rPr lang="en-US" spc="-5" dirty="0">
                <a:latin typeface="Times New Roman"/>
                <a:cs typeface="Times New Roman"/>
              </a:rPr>
              <a:t>processor first </a:t>
            </a:r>
            <a:r>
              <a:rPr lang="en-US" dirty="0">
                <a:latin typeface="Times New Roman"/>
                <a:cs typeface="Times New Roman"/>
              </a:rPr>
              <a:t>outputs the </a:t>
            </a:r>
            <a:r>
              <a:rPr lang="en-US" spc="-5" dirty="0">
                <a:latin typeface="Times New Roman"/>
                <a:cs typeface="Times New Roman"/>
              </a:rPr>
              <a:t>address </a:t>
            </a:r>
            <a:r>
              <a:rPr lang="en-US" dirty="0">
                <a:latin typeface="Times New Roman"/>
                <a:cs typeface="Times New Roman"/>
              </a:rPr>
              <a:t>of the </a:t>
            </a:r>
            <a:r>
              <a:rPr lang="en-US" spc="-5" dirty="0">
                <a:latin typeface="Times New Roman"/>
                <a:cs typeface="Times New Roman"/>
              </a:rPr>
              <a:t>instruction  </a:t>
            </a:r>
            <a:r>
              <a:rPr lang="en-US" dirty="0">
                <a:latin typeface="Times New Roman"/>
                <a:cs typeface="Times New Roman"/>
              </a:rPr>
              <a:t>onto the </a:t>
            </a:r>
            <a:r>
              <a:rPr lang="en-US" spc="-5" dirty="0">
                <a:latin typeface="Times New Roman"/>
                <a:cs typeface="Times New Roman"/>
              </a:rPr>
              <a:t>address bus. </a:t>
            </a:r>
            <a:r>
              <a:rPr lang="en-US" dirty="0">
                <a:latin typeface="Times New Roman"/>
                <a:cs typeface="Times New Roman"/>
              </a:rPr>
              <a:t>The </a:t>
            </a:r>
            <a:r>
              <a:rPr lang="en-US" spc="-5" dirty="0">
                <a:latin typeface="Times New Roman"/>
                <a:cs typeface="Times New Roman"/>
              </a:rPr>
              <a:t>processor has </a:t>
            </a:r>
            <a:r>
              <a:rPr lang="en-US" dirty="0">
                <a:latin typeface="Times New Roman"/>
                <a:cs typeface="Times New Roman"/>
              </a:rPr>
              <a:t>a </a:t>
            </a:r>
            <a:r>
              <a:rPr lang="en-US" spc="-5" dirty="0">
                <a:latin typeface="Times New Roman"/>
                <a:cs typeface="Times New Roman"/>
              </a:rPr>
              <a:t>register called </a:t>
            </a:r>
            <a:r>
              <a:rPr lang="en-US" dirty="0">
                <a:latin typeface="Times New Roman"/>
                <a:cs typeface="Times New Roman"/>
              </a:rPr>
              <a:t>the “</a:t>
            </a:r>
            <a:r>
              <a:rPr lang="en-US" b="1" dirty="0">
                <a:latin typeface="Times New Roman"/>
                <a:cs typeface="Times New Roman"/>
              </a:rPr>
              <a:t>program</a:t>
            </a:r>
            <a:r>
              <a:rPr lang="en-US" b="1" spc="-95" dirty="0">
                <a:latin typeface="Times New Roman"/>
                <a:cs typeface="Times New Roman"/>
              </a:rPr>
              <a:t> </a:t>
            </a:r>
            <a:r>
              <a:rPr lang="en-US" b="1" spc="-5" dirty="0">
                <a:latin typeface="Times New Roman"/>
                <a:cs typeface="Times New Roman"/>
              </a:rPr>
              <a:t>counter</a:t>
            </a:r>
            <a:r>
              <a:rPr lang="en-US" spc="-5" dirty="0">
                <a:latin typeface="Times New Roman"/>
                <a:cs typeface="Times New Roman"/>
              </a:rPr>
              <a:t>”.</a:t>
            </a:r>
            <a:endParaRPr lang="en-US" dirty="0">
              <a:latin typeface="Times New Roman"/>
              <a:cs typeface="Times New Roman"/>
            </a:endParaRPr>
          </a:p>
          <a:p>
            <a:pPr marL="186690" marR="5080" indent="-174625" algn="just">
              <a:lnSpc>
                <a:spcPct val="150000"/>
              </a:lnSpc>
              <a:spcBef>
                <a:spcPts val="95"/>
              </a:spcBef>
              <a:buFont typeface="Symbol"/>
              <a:buChar char=""/>
              <a:tabLst>
                <a:tab pos="187325" algn="l"/>
              </a:tabLst>
            </a:pPr>
            <a:r>
              <a:rPr lang="en-US" dirty="0">
                <a:latin typeface="Times New Roman"/>
                <a:cs typeface="Times New Roman"/>
              </a:rPr>
              <a:t>The </a:t>
            </a:r>
            <a:r>
              <a:rPr lang="en-US" spc="-5" dirty="0">
                <a:latin typeface="Times New Roman"/>
                <a:cs typeface="Times New Roman"/>
              </a:rPr>
              <a:t>CPU </a:t>
            </a:r>
            <a:r>
              <a:rPr lang="en-US" dirty="0">
                <a:latin typeface="Times New Roman"/>
                <a:cs typeface="Times New Roman"/>
              </a:rPr>
              <a:t>keeps the </a:t>
            </a:r>
            <a:r>
              <a:rPr lang="en-US" spc="-5" dirty="0">
                <a:latin typeface="Times New Roman"/>
                <a:cs typeface="Times New Roman"/>
              </a:rPr>
              <a:t>address </a:t>
            </a:r>
            <a:r>
              <a:rPr lang="en-US" dirty="0">
                <a:latin typeface="Times New Roman"/>
                <a:cs typeface="Times New Roman"/>
              </a:rPr>
              <a:t>of the next </a:t>
            </a:r>
            <a:r>
              <a:rPr lang="en-US" spc="-5" dirty="0">
                <a:latin typeface="Times New Roman"/>
                <a:cs typeface="Times New Roman"/>
              </a:rPr>
              <a:t>instruction </a:t>
            </a:r>
            <a:r>
              <a:rPr lang="en-US" dirty="0">
                <a:latin typeface="Times New Roman"/>
                <a:cs typeface="Times New Roman"/>
              </a:rPr>
              <a:t>to be </a:t>
            </a:r>
            <a:r>
              <a:rPr lang="en-US" spc="-5" dirty="0">
                <a:latin typeface="Times New Roman"/>
                <a:cs typeface="Times New Roman"/>
              </a:rPr>
              <a:t>fetched </a:t>
            </a:r>
            <a:r>
              <a:rPr lang="en-US" dirty="0">
                <a:latin typeface="Times New Roman"/>
                <a:cs typeface="Times New Roman"/>
              </a:rPr>
              <a:t>in </a:t>
            </a:r>
            <a:r>
              <a:rPr lang="en-US" spc="-5" dirty="0">
                <a:latin typeface="Times New Roman"/>
                <a:cs typeface="Times New Roman"/>
              </a:rPr>
              <a:t>this register. Before </a:t>
            </a:r>
            <a:r>
              <a:rPr lang="en-US" dirty="0">
                <a:latin typeface="Times New Roman"/>
                <a:cs typeface="Times New Roman"/>
              </a:rPr>
              <a:t>the CPU  outputs the </a:t>
            </a:r>
            <a:r>
              <a:rPr lang="en-US" spc="-5" dirty="0">
                <a:latin typeface="Times New Roman"/>
                <a:cs typeface="Times New Roman"/>
              </a:rPr>
              <a:t>address </a:t>
            </a:r>
            <a:r>
              <a:rPr lang="en-US" dirty="0">
                <a:latin typeface="Times New Roman"/>
                <a:cs typeface="Times New Roman"/>
              </a:rPr>
              <a:t>on to the </a:t>
            </a:r>
            <a:r>
              <a:rPr lang="en-US" spc="-5" dirty="0">
                <a:latin typeface="Times New Roman"/>
                <a:cs typeface="Times New Roman"/>
              </a:rPr>
              <a:t>system </a:t>
            </a:r>
            <a:r>
              <a:rPr lang="en-US" dirty="0">
                <a:latin typeface="Times New Roman"/>
                <a:cs typeface="Times New Roman"/>
              </a:rPr>
              <a:t>bus, it </a:t>
            </a:r>
            <a:r>
              <a:rPr lang="en-US" spc="-5" dirty="0">
                <a:latin typeface="Times New Roman"/>
                <a:cs typeface="Times New Roman"/>
              </a:rPr>
              <a:t>retrieves </a:t>
            </a:r>
            <a:r>
              <a:rPr lang="en-US" dirty="0">
                <a:latin typeface="Times New Roman"/>
                <a:cs typeface="Times New Roman"/>
              </a:rPr>
              <a:t>the </a:t>
            </a:r>
            <a:r>
              <a:rPr lang="en-US" spc="-5" dirty="0">
                <a:latin typeface="Times New Roman"/>
                <a:cs typeface="Times New Roman"/>
              </a:rPr>
              <a:t>address from </a:t>
            </a:r>
            <a:r>
              <a:rPr lang="en-US" dirty="0">
                <a:latin typeface="Times New Roman"/>
                <a:cs typeface="Times New Roman"/>
              </a:rPr>
              <a:t>the </a:t>
            </a:r>
            <a:r>
              <a:rPr lang="en-US" spc="-5" dirty="0">
                <a:latin typeface="Times New Roman"/>
                <a:cs typeface="Times New Roman"/>
              </a:rPr>
              <a:t>program </a:t>
            </a:r>
            <a:r>
              <a:rPr lang="en-US" dirty="0">
                <a:latin typeface="Times New Roman"/>
                <a:cs typeface="Times New Roman"/>
              </a:rPr>
              <a:t>counter</a:t>
            </a:r>
            <a:r>
              <a:rPr lang="en-US" spc="55" dirty="0">
                <a:latin typeface="Times New Roman"/>
                <a:cs typeface="Times New Roman"/>
              </a:rPr>
              <a:t> </a:t>
            </a:r>
            <a:r>
              <a:rPr lang="en-US" spc="-5" dirty="0">
                <a:latin typeface="Times New Roman"/>
                <a:cs typeface="Times New Roman"/>
              </a:rPr>
              <a:t>register.</a:t>
            </a:r>
            <a:endParaRPr lang="en-US" dirty="0">
              <a:latin typeface="Times New Roman"/>
              <a:cs typeface="Times New Roman"/>
            </a:endParaRPr>
          </a:p>
          <a:p>
            <a:pPr marL="186690" indent="-174625" algn="just">
              <a:lnSpc>
                <a:spcPct val="150000"/>
              </a:lnSpc>
              <a:spcBef>
                <a:spcPts val="240"/>
              </a:spcBef>
              <a:buFont typeface="Symbol"/>
              <a:buChar char=""/>
              <a:tabLst>
                <a:tab pos="187325" algn="l"/>
              </a:tabLst>
            </a:pPr>
            <a:r>
              <a:rPr lang="en-US" spc="-5" dirty="0">
                <a:latin typeface="Times New Roman"/>
                <a:cs typeface="Times New Roman"/>
              </a:rPr>
              <a:t>At </a:t>
            </a:r>
            <a:r>
              <a:rPr lang="en-US" dirty="0">
                <a:latin typeface="Times New Roman"/>
                <a:cs typeface="Times New Roman"/>
              </a:rPr>
              <a:t>the </a:t>
            </a:r>
            <a:r>
              <a:rPr lang="en-US" spc="-5" dirty="0">
                <a:latin typeface="Times New Roman"/>
                <a:cs typeface="Times New Roman"/>
              </a:rPr>
              <a:t>end </a:t>
            </a:r>
            <a:r>
              <a:rPr lang="en-US" dirty="0">
                <a:latin typeface="Times New Roman"/>
                <a:cs typeface="Times New Roman"/>
              </a:rPr>
              <a:t>of the instruction </a:t>
            </a:r>
            <a:r>
              <a:rPr lang="en-US" spc="-5" dirty="0">
                <a:latin typeface="Times New Roman"/>
                <a:cs typeface="Times New Roman"/>
              </a:rPr>
              <a:t>fetch, </a:t>
            </a:r>
            <a:r>
              <a:rPr lang="en-US" dirty="0">
                <a:latin typeface="Times New Roman"/>
                <a:cs typeface="Times New Roman"/>
              </a:rPr>
              <a:t>the </a:t>
            </a:r>
            <a:r>
              <a:rPr lang="en-US" spc="-5" dirty="0">
                <a:latin typeface="Times New Roman"/>
                <a:cs typeface="Times New Roman"/>
              </a:rPr>
              <a:t>CPU reads </a:t>
            </a:r>
            <a:r>
              <a:rPr lang="en-US" dirty="0">
                <a:latin typeface="Times New Roman"/>
                <a:cs typeface="Times New Roman"/>
              </a:rPr>
              <a:t>the </a:t>
            </a:r>
            <a:r>
              <a:rPr lang="en-US" spc="-5" dirty="0">
                <a:latin typeface="Times New Roman"/>
                <a:cs typeface="Times New Roman"/>
              </a:rPr>
              <a:t>instruction code from </a:t>
            </a:r>
            <a:r>
              <a:rPr lang="en-US" dirty="0">
                <a:latin typeface="Times New Roman"/>
                <a:cs typeface="Times New Roman"/>
              </a:rPr>
              <a:t>the </a:t>
            </a:r>
            <a:r>
              <a:rPr lang="en-US" spc="-5" dirty="0">
                <a:latin typeface="Times New Roman"/>
                <a:cs typeface="Times New Roman"/>
              </a:rPr>
              <a:t>system </a:t>
            </a:r>
            <a:r>
              <a:rPr lang="en-US" dirty="0">
                <a:latin typeface="Times New Roman"/>
                <a:cs typeface="Times New Roman"/>
              </a:rPr>
              <a:t>data</a:t>
            </a:r>
            <a:r>
              <a:rPr lang="en-US" spc="70" dirty="0">
                <a:latin typeface="Times New Roman"/>
                <a:cs typeface="Times New Roman"/>
              </a:rPr>
              <a:t> </a:t>
            </a:r>
            <a:r>
              <a:rPr lang="en-US" dirty="0">
                <a:latin typeface="Times New Roman"/>
                <a:cs typeface="Times New Roman"/>
              </a:rPr>
              <a:t>bus.</a:t>
            </a:r>
          </a:p>
          <a:p>
            <a:pPr marL="186690" indent="-174625" algn="just">
              <a:lnSpc>
                <a:spcPct val="150000"/>
              </a:lnSpc>
              <a:spcBef>
                <a:spcPts val="215"/>
              </a:spcBef>
              <a:buFont typeface="Symbol"/>
              <a:buChar char=""/>
              <a:tabLst>
                <a:tab pos="187325" algn="l"/>
              </a:tabLst>
            </a:pPr>
            <a:r>
              <a:rPr lang="en-US" spc="-10" dirty="0">
                <a:latin typeface="Times New Roman"/>
                <a:cs typeface="Times New Roman"/>
              </a:rPr>
              <a:t>It </a:t>
            </a:r>
            <a:r>
              <a:rPr lang="en-US" spc="-5" dirty="0">
                <a:latin typeface="Times New Roman"/>
                <a:cs typeface="Times New Roman"/>
              </a:rPr>
              <a:t>stores </a:t>
            </a:r>
            <a:r>
              <a:rPr lang="en-US" dirty="0">
                <a:latin typeface="Times New Roman"/>
                <a:cs typeface="Times New Roman"/>
              </a:rPr>
              <a:t>this value in </a:t>
            </a:r>
            <a:r>
              <a:rPr lang="en-US" spc="-5" dirty="0">
                <a:latin typeface="Times New Roman"/>
                <a:cs typeface="Times New Roman"/>
              </a:rPr>
              <a:t>an internal register, </a:t>
            </a:r>
            <a:r>
              <a:rPr lang="en-US" dirty="0">
                <a:latin typeface="Times New Roman"/>
                <a:cs typeface="Times New Roman"/>
              </a:rPr>
              <a:t>usually </a:t>
            </a:r>
            <a:r>
              <a:rPr lang="en-US" spc="-5" dirty="0">
                <a:latin typeface="Times New Roman"/>
                <a:cs typeface="Times New Roman"/>
              </a:rPr>
              <a:t>called </a:t>
            </a:r>
            <a:r>
              <a:rPr lang="en-US" dirty="0">
                <a:latin typeface="Times New Roman"/>
                <a:cs typeface="Times New Roman"/>
              </a:rPr>
              <a:t>the </a:t>
            </a:r>
            <a:r>
              <a:rPr lang="en-US" spc="-5" dirty="0">
                <a:latin typeface="Times New Roman"/>
                <a:cs typeface="Times New Roman"/>
              </a:rPr>
              <a:t>“</a:t>
            </a:r>
            <a:r>
              <a:rPr lang="en-US" b="1" spc="-5" dirty="0">
                <a:latin typeface="Times New Roman"/>
                <a:cs typeface="Times New Roman"/>
              </a:rPr>
              <a:t>instruction</a:t>
            </a:r>
            <a:r>
              <a:rPr lang="en-US" b="1" spc="-100" dirty="0">
                <a:latin typeface="Times New Roman"/>
                <a:cs typeface="Times New Roman"/>
              </a:rPr>
              <a:t> </a:t>
            </a:r>
            <a:r>
              <a:rPr lang="en-US" b="1" spc="-5" dirty="0">
                <a:latin typeface="Times New Roman"/>
                <a:cs typeface="Times New Roman"/>
              </a:rPr>
              <a:t>register</a:t>
            </a:r>
            <a:r>
              <a:rPr lang="en-US" spc="-5" dirty="0">
                <a:latin typeface="Times New Roman"/>
                <a:cs typeface="Times New Roman"/>
              </a:rPr>
              <a:t>”.</a:t>
            </a:r>
            <a:endParaRPr lang="en-US" dirty="0">
              <a:latin typeface="Times New Roman"/>
              <a:cs typeface="Times New Roman"/>
            </a:endParaRPr>
          </a:p>
          <a:p>
            <a:pPr marL="186690" marR="9525" indent="-174625" algn="just">
              <a:lnSpc>
                <a:spcPct val="150000"/>
              </a:lnSpc>
              <a:spcBef>
                <a:spcPts val="85"/>
              </a:spcBef>
              <a:buFont typeface="Symbol"/>
              <a:buChar char=""/>
              <a:tabLst>
                <a:tab pos="187325" algn="l"/>
              </a:tabLst>
            </a:pPr>
            <a:r>
              <a:rPr lang="en-US" dirty="0">
                <a:latin typeface="Times New Roman"/>
                <a:cs typeface="Times New Roman"/>
              </a:rPr>
              <a:t>The </a:t>
            </a:r>
            <a:r>
              <a:rPr lang="en-US" spc="-5" dirty="0">
                <a:latin typeface="Times New Roman"/>
                <a:cs typeface="Times New Roman"/>
              </a:rPr>
              <a:t>arithmetic </a:t>
            </a:r>
            <a:r>
              <a:rPr lang="en-US" dirty="0">
                <a:latin typeface="Times New Roman"/>
                <a:cs typeface="Times New Roman"/>
              </a:rPr>
              <a:t>/ </a:t>
            </a:r>
            <a:r>
              <a:rPr lang="en-US" spc="-5" dirty="0">
                <a:latin typeface="Times New Roman"/>
                <a:cs typeface="Times New Roman"/>
              </a:rPr>
              <a:t>logic </a:t>
            </a:r>
            <a:r>
              <a:rPr lang="en-US" dirty="0">
                <a:latin typeface="Times New Roman"/>
                <a:cs typeface="Times New Roman"/>
              </a:rPr>
              <a:t>unit </a:t>
            </a:r>
            <a:r>
              <a:rPr lang="en-US" spc="-5" dirty="0">
                <a:latin typeface="Times New Roman"/>
                <a:cs typeface="Times New Roman"/>
              </a:rPr>
              <a:t>(or) ALU </a:t>
            </a:r>
            <a:r>
              <a:rPr lang="en-US" dirty="0">
                <a:latin typeface="Times New Roman"/>
                <a:cs typeface="Times New Roman"/>
              </a:rPr>
              <a:t>performs most </a:t>
            </a:r>
            <a:r>
              <a:rPr lang="en-US" spc="-5" dirty="0">
                <a:latin typeface="Times New Roman"/>
                <a:cs typeface="Times New Roman"/>
              </a:rPr>
              <a:t>arithmetic and logic operations </a:t>
            </a:r>
            <a:r>
              <a:rPr lang="en-US" dirty="0">
                <a:latin typeface="Times New Roman"/>
                <a:cs typeface="Times New Roman"/>
              </a:rPr>
              <a:t>such </a:t>
            </a:r>
            <a:r>
              <a:rPr lang="en-US" spc="-5" dirty="0">
                <a:latin typeface="Times New Roman"/>
                <a:cs typeface="Times New Roman"/>
              </a:rPr>
              <a:t>as </a:t>
            </a:r>
            <a:r>
              <a:rPr lang="en-US" dirty="0">
                <a:latin typeface="Times New Roman"/>
                <a:cs typeface="Times New Roman"/>
              </a:rPr>
              <a:t>adding  </a:t>
            </a:r>
            <a:r>
              <a:rPr lang="en-US" spc="-5" dirty="0">
                <a:latin typeface="Times New Roman"/>
                <a:cs typeface="Times New Roman"/>
              </a:rPr>
              <a:t>and </a:t>
            </a:r>
            <a:r>
              <a:rPr lang="en-US" dirty="0" err="1">
                <a:latin typeface="Times New Roman"/>
                <a:cs typeface="Times New Roman"/>
              </a:rPr>
              <a:t>ANDing</a:t>
            </a:r>
            <a:r>
              <a:rPr lang="en-US" dirty="0">
                <a:latin typeface="Times New Roman"/>
                <a:cs typeface="Times New Roman"/>
              </a:rPr>
              <a:t> </a:t>
            </a:r>
            <a:r>
              <a:rPr lang="en-US" spc="-5" dirty="0">
                <a:latin typeface="Times New Roman"/>
                <a:cs typeface="Times New Roman"/>
              </a:rPr>
              <a:t>values. </a:t>
            </a:r>
            <a:r>
              <a:rPr lang="en-US" spc="-10" dirty="0">
                <a:latin typeface="Times New Roman"/>
                <a:cs typeface="Times New Roman"/>
              </a:rPr>
              <a:t>It </a:t>
            </a:r>
            <a:r>
              <a:rPr lang="en-US" dirty="0">
                <a:latin typeface="Times New Roman"/>
                <a:cs typeface="Times New Roman"/>
              </a:rPr>
              <a:t>receives </a:t>
            </a:r>
            <a:r>
              <a:rPr lang="en-US" spc="-5" dirty="0">
                <a:latin typeface="Times New Roman"/>
                <a:cs typeface="Times New Roman"/>
              </a:rPr>
              <a:t>its operands form </a:t>
            </a:r>
            <a:r>
              <a:rPr lang="en-US" dirty="0">
                <a:latin typeface="Times New Roman"/>
                <a:cs typeface="Times New Roman"/>
              </a:rPr>
              <a:t>the </a:t>
            </a:r>
            <a:r>
              <a:rPr lang="en-US" spc="-5" dirty="0">
                <a:latin typeface="Times New Roman"/>
                <a:cs typeface="Times New Roman"/>
              </a:rPr>
              <a:t>register </a:t>
            </a:r>
            <a:r>
              <a:rPr lang="en-US" dirty="0">
                <a:latin typeface="Times New Roman"/>
                <a:cs typeface="Times New Roman"/>
              </a:rPr>
              <a:t>section of the</a:t>
            </a:r>
            <a:r>
              <a:rPr lang="en-US" spc="35" dirty="0">
                <a:latin typeface="Times New Roman"/>
                <a:cs typeface="Times New Roman"/>
              </a:rPr>
              <a:t> </a:t>
            </a:r>
            <a:r>
              <a:rPr lang="en-US" spc="-5" dirty="0">
                <a:latin typeface="Times New Roman"/>
                <a:cs typeface="Times New Roman"/>
              </a:rPr>
              <a:t>CPU and </a:t>
            </a:r>
            <a:r>
              <a:rPr lang="en-US" dirty="0">
                <a:latin typeface="Times New Roman"/>
                <a:cs typeface="Times New Roman"/>
              </a:rPr>
              <a:t>stores </a:t>
            </a:r>
            <a:r>
              <a:rPr lang="en-US" spc="-5" dirty="0">
                <a:latin typeface="Times New Roman"/>
                <a:cs typeface="Times New Roman"/>
              </a:rPr>
              <a:t>its </a:t>
            </a:r>
            <a:r>
              <a:rPr lang="en-US" dirty="0">
                <a:latin typeface="Times New Roman"/>
                <a:cs typeface="Times New Roman"/>
              </a:rPr>
              <a:t>result </a:t>
            </a:r>
            <a:r>
              <a:rPr lang="en-US" spc="-5" dirty="0">
                <a:latin typeface="Times New Roman"/>
                <a:cs typeface="Times New Roman"/>
              </a:rPr>
              <a:t>back </a:t>
            </a:r>
            <a:r>
              <a:rPr lang="en-US" dirty="0">
                <a:latin typeface="Times New Roman"/>
                <a:cs typeface="Times New Roman"/>
              </a:rPr>
              <a:t>in the </a:t>
            </a:r>
            <a:r>
              <a:rPr lang="en-US" spc="-5" dirty="0">
                <a:latin typeface="Times New Roman"/>
                <a:cs typeface="Times New Roman"/>
              </a:rPr>
              <a:t>register</a:t>
            </a:r>
            <a:r>
              <a:rPr lang="en-US" spc="-100" dirty="0">
                <a:latin typeface="Times New Roman"/>
                <a:cs typeface="Times New Roman"/>
              </a:rPr>
              <a:t> </a:t>
            </a:r>
            <a:r>
              <a:rPr lang="en-US" dirty="0">
                <a:latin typeface="Times New Roman"/>
                <a:cs typeface="Times New Roman"/>
              </a:rPr>
              <a:t>section.</a:t>
            </a:r>
          </a:p>
          <a:p>
            <a:pPr marL="12065" marR="9525" algn="just">
              <a:lnSpc>
                <a:spcPct val="150000"/>
              </a:lnSpc>
              <a:spcBef>
                <a:spcPts val="85"/>
              </a:spcBef>
              <a:tabLst>
                <a:tab pos="187325" algn="l"/>
              </a:tabLst>
            </a:pPr>
            <a:endParaRPr lang="en-US" dirty="0">
              <a:latin typeface="Times New Roman"/>
              <a:cs typeface="Times New Roman"/>
            </a:endParaRPr>
          </a:p>
        </p:txBody>
      </p:sp>
    </p:spTree>
    <p:extLst>
      <p:ext uri="{BB962C8B-B14F-4D97-AF65-F5344CB8AC3E}">
        <p14:creationId xmlns:p14="http://schemas.microsoft.com/office/powerpoint/2010/main" val="29816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4" name="object 2"/>
          <p:cNvSpPr txBox="1"/>
          <p:nvPr/>
        </p:nvSpPr>
        <p:spPr>
          <a:xfrm>
            <a:off x="643477" y="1157040"/>
            <a:ext cx="10881083" cy="1542345"/>
          </a:xfrm>
          <a:prstGeom prst="rect">
            <a:avLst/>
          </a:prstGeom>
        </p:spPr>
        <p:txBody>
          <a:bodyPr vert="horz" wrap="square" lIns="0" tIns="43180" rIns="0" bIns="0" rtlCol="0">
            <a:spAutoFit/>
          </a:bodyPr>
          <a:lstStyle/>
          <a:p>
            <a:pPr marL="237490" marR="86360" indent="-174625" algn="just">
              <a:lnSpc>
                <a:spcPct val="110000"/>
              </a:lnSpc>
              <a:spcBef>
                <a:spcPts val="100"/>
              </a:spcBef>
              <a:buFont typeface="Symbol"/>
              <a:buChar char=""/>
              <a:tabLst>
                <a:tab pos="238125" algn="l"/>
              </a:tabLst>
            </a:pPr>
            <a:r>
              <a:rPr dirty="0">
                <a:latin typeface="Times New Roman"/>
                <a:cs typeface="Times New Roman"/>
              </a:rPr>
              <a:t>Just </a:t>
            </a:r>
            <a:r>
              <a:rPr spc="-5" dirty="0">
                <a:latin typeface="Times New Roman"/>
                <a:cs typeface="Times New Roman"/>
              </a:rPr>
              <a:t>as CPU controls </a:t>
            </a:r>
            <a:r>
              <a:rPr dirty="0">
                <a:latin typeface="Times New Roman"/>
                <a:cs typeface="Times New Roman"/>
              </a:rPr>
              <a:t>the </a:t>
            </a:r>
            <a:r>
              <a:rPr spc="-5" dirty="0">
                <a:latin typeface="Times New Roman"/>
                <a:cs typeface="Times New Roman"/>
              </a:rPr>
              <a:t>computer, </a:t>
            </a:r>
            <a:r>
              <a:rPr dirty="0">
                <a:latin typeface="Times New Roman"/>
                <a:cs typeface="Times New Roman"/>
              </a:rPr>
              <a:t>the </a:t>
            </a:r>
            <a:r>
              <a:rPr spc="-5" dirty="0">
                <a:latin typeface="Times New Roman"/>
                <a:cs typeface="Times New Roman"/>
              </a:rPr>
              <a:t>control </a:t>
            </a:r>
            <a:r>
              <a:rPr dirty="0">
                <a:latin typeface="Times New Roman"/>
                <a:cs typeface="Times New Roman"/>
              </a:rPr>
              <a:t>unit </a:t>
            </a:r>
            <a:r>
              <a:rPr spc="-5" dirty="0">
                <a:latin typeface="Times New Roman"/>
                <a:cs typeface="Times New Roman"/>
              </a:rPr>
              <a:t>controls </a:t>
            </a:r>
            <a:r>
              <a:rPr dirty="0">
                <a:latin typeface="Times New Roman"/>
                <a:cs typeface="Times New Roman"/>
              </a:rPr>
              <a:t>the </a:t>
            </a:r>
            <a:r>
              <a:rPr spc="5" dirty="0">
                <a:latin typeface="Times New Roman"/>
                <a:cs typeface="Times New Roman"/>
              </a:rPr>
              <a:t>CPU. </a:t>
            </a:r>
            <a:r>
              <a:rPr dirty="0">
                <a:latin typeface="Times New Roman"/>
                <a:cs typeface="Times New Roman"/>
              </a:rPr>
              <a:t>The </a:t>
            </a:r>
            <a:r>
              <a:rPr spc="-5" dirty="0">
                <a:latin typeface="Times New Roman"/>
                <a:cs typeface="Times New Roman"/>
              </a:rPr>
              <a:t>control </a:t>
            </a:r>
            <a:r>
              <a:rPr dirty="0">
                <a:latin typeface="Times New Roman"/>
                <a:cs typeface="Times New Roman"/>
              </a:rPr>
              <a:t>unit </a:t>
            </a:r>
            <a:r>
              <a:rPr spc="-5" dirty="0">
                <a:latin typeface="Times New Roman"/>
                <a:cs typeface="Times New Roman"/>
              </a:rPr>
              <a:t>receives </a:t>
            </a:r>
            <a:r>
              <a:rPr dirty="0">
                <a:latin typeface="Times New Roman"/>
                <a:cs typeface="Times New Roman"/>
              </a:rPr>
              <a:t>some  </a:t>
            </a:r>
            <a:r>
              <a:rPr spc="-5" dirty="0">
                <a:latin typeface="Times New Roman"/>
                <a:cs typeface="Times New Roman"/>
              </a:rPr>
              <a:t>data </a:t>
            </a:r>
            <a:r>
              <a:rPr dirty="0">
                <a:latin typeface="Times New Roman"/>
                <a:cs typeface="Times New Roman"/>
              </a:rPr>
              <a:t>values from the register unit, </a:t>
            </a:r>
            <a:r>
              <a:rPr spc="-5" dirty="0">
                <a:latin typeface="Times New Roman"/>
                <a:cs typeface="Times New Roman"/>
              </a:rPr>
              <a:t>which </a:t>
            </a:r>
            <a:r>
              <a:rPr dirty="0">
                <a:latin typeface="Times New Roman"/>
                <a:cs typeface="Times New Roman"/>
              </a:rPr>
              <a:t>it used to </a:t>
            </a:r>
            <a:r>
              <a:rPr spc="-5" dirty="0">
                <a:latin typeface="Times New Roman"/>
                <a:cs typeface="Times New Roman"/>
              </a:rPr>
              <a:t>generate </a:t>
            </a:r>
            <a:r>
              <a:rPr dirty="0">
                <a:latin typeface="Times New Roman"/>
                <a:cs typeface="Times New Roman"/>
              </a:rPr>
              <a:t>the </a:t>
            </a:r>
            <a:r>
              <a:rPr spc="-5" dirty="0">
                <a:latin typeface="Times New Roman"/>
                <a:cs typeface="Times New Roman"/>
              </a:rPr>
              <a:t>control signals. </a:t>
            </a:r>
            <a:r>
              <a:rPr dirty="0">
                <a:latin typeface="Times New Roman"/>
                <a:cs typeface="Times New Roman"/>
              </a:rPr>
              <a:t>This code </a:t>
            </a:r>
            <a:r>
              <a:rPr spc="-5" dirty="0">
                <a:latin typeface="Times New Roman"/>
                <a:cs typeface="Times New Roman"/>
              </a:rPr>
              <a:t>generates  </a:t>
            </a:r>
            <a:r>
              <a:rPr dirty="0">
                <a:latin typeface="Times New Roman"/>
                <a:cs typeface="Times New Roman"/>
              </a:rPr>
              <a:t>the </a:t>
            </a:r>
            <a:r>
              <a:rPr spc="-5" dirty="0">
                <a:latin typeface="Times New Roman"/>
                <a:cs typeface="Times New Roman"/>
              </a:rPr>
              <a:t>instruction codes </a:t>
            </a:r>
            <a:r>
              <a:rPr dirty="0">
                <a:latin typeface="Times New Roman"/>
                <a:cs typeface="Times New Roman"/>
              </a:rPr>
              <a:t>&amp; the </a:t>
            </a:r>
            <a:r>
              <a:rPr spc="-5" dirty="0">
                <a:latin typeface="Times New Roman"/>
                <a:cs typeface="Times New Roman"/>
              </a:rPr>
              <a:t>values </a:t>
            </a:r>
            <a:r>
              <a:rPr dirty="0">
                <a:latin typeface="Times New Roman"/>
                <a:cs typeface="Times New Roman"/>
              </a:rPr>
              <a:t>of some </a:t>
            </a:r>
            <a:r>
              <a:rPr spc="5" dirty="0">
                <a:latin typeface="Times New Roman"/>
                <a:cs typeface="Times New Roman"/>
              </a:rPr>
              <a:t>flag</a:t>
            </a:r>
            <a:r>
              <a:rPr lang="en-US" spc="5" dirty="0">
                <a:latin typeface="Times New Roman"/>
                <a:cs typeface="Times New Roman"/>
              </a:rPr>
              <a:t> </a:t>
            </a:r>
            <a:r>
              <a:rPr spc="5" dirty="0">
                <a:latin typeface="Times New Roman"/>
                <a:cs typeface="Times New Roman"/>
              </a:rPr>
              <a:t>registers.</a:t>
            </a:r>
            <a:endParaRPr dirty="0">
              <a:latin typeface="Times New Roman"/>
              <a:cs typeface="Times New Roman"/>
            </a:endParaRPr>
          </a:p>
          <a:p>
            <a:pPr marL="237490" marR="209550" indent="-174625" algn="just">
              <a:lnSpc>
                <a:spcPct val="111700"/>
              </a:lnSpc>
              <a:spcBef>
                <a:spcPts val="60"/>
              </a:spcBef>
              <a:buFont typeface="Symbol"/>
              <a:buChar char=""/>
              <a:tabLst>
                <a:tab pos="238125" algn="l"/>
              </a:tabLst>
            </a:pPr>
            <a:r>
              <a:rPr dirty="0">
                <a:latin typeface="Times New Roman"/>
                <a:cs typeface="Times New Roman"/>
              </a:rPr>
              <a:t>The </a:t>
            </a:r>
            <a:r>
              <a:rPr spc="-5" dirty="0">
                <a:latin typeface="Times New Roman"/>
                <a:cs typeface="Times New Roman"/>
              </a:rPr>
              <a:t>control </a:t>
            </a:r>
            <a:r>
              <a:rPr dirty="0">
                <a:latin typeface="Times New Roman"/>
                <a:cs typeface="Times New Roman"/>
              </a:rPr>
              <a:t>unit </a:t>
            </a:r>
            <a:r>
              <a:rPr spc="-5" dirty="0">
                <a:latin typeface="Times New Roman"/>
                <a:cs typeface="Times New Roman"/>
              </a:rPr>
              <a:t>also generates </a:t>
            </a:r>
            <a:r>
              <a:rPr dirty="0">
                <a:latin typeface="Times New Roman"/>
                <a:cs typeface="Times New Roman"/>
              </a:rPr>
              <a:t>the </a:t>
            </a:r>
            <a:r>
              <a:rPr spc="-5" dirty="0">
                <a:latin typeface="Times New Roman"/>
                <a:cs typeface="Times New Roman"/>
              </a:rPr>
              <a:t>signals </a:t>
            </a:r>
            <a:r>
              <a:rPr dirty="0">
                <a:latin typeface="Times New Roman"/>
                <a:cs typeface="Times New Roman"/>
              </a:rPr>
              <a:t>for the </a:t>
            </a:r>
            <a:r>
              <a:rPr spc="-5" dirty="0">
                <a:latin typeface="Times New Roman"/>
                <a:cs typeface="Times New Roman"/>
              </a:rPr>
              <a:t>system control bus </a:t>
            </a:r>
            <a:r>
              <a:rPr dirty="0">
                <a:latin typeface="Times New Roman"/>
                <a:cs typeface="Times New Roman"/>
              </a:rPr>
              <a:t>such </a:t>
            </a:r>
            <a:r>
              <a:rPr spc="-5" dirty="0">
                <a:latin typeface="Times New Roman"/>
                <a:cs typeface="Times New Roman"/>
              </a:rPr>
              <a:t>as READ, </a:t>
            </a:r>
            <a:r>
              <a:rPr spc="-10" dirty="0">
                <a:latin typeface="Times New Roman"/>
                <a:cs typeface="Times New Roman"/>
              </a:rPr>
              <a:t>WRITE, </a:t>
            </a:r>
            <a:r>
              <a:rPr spc="-20" dirty="0">
                <a:latin typeface="Times New Roman"/>
                <a:cs typeface="Times New Roman"/>
              </a:rPr>
              <a:t>I</a:t>
            </a:r>
            <a:r>
              <a:rPr lang="en-US" spc="-20" dirty="0">
                <a:latin typeface="Times New Roman"/>
                <a:cs typeface="Times New Roman"/>
              </a:rPr>
              <a:t>/</a:t>
            </a:r>
            <a:r>
              <a:rPr spc="-20" dirty="0">
                <a:latin typeface="Times New Roman"/>
                <a:cs typeface="Times New Roman"/>
              </a:rPr>
              <a:t>O</a:t>
            </a:r>
            <a:r>
              <a:rPr spc="260" dirty="0">
                <a:latin typeface="Times New Roman"/>
                <a:cs typeface="Times New Roman"/>
              </a:rPr>
              <a:t> </a:t>
            </a:r>
            <a:r>
              <a:rPr spc="-5" dirty="0">
                <a:latin typeface="Times New Roman"/>
                <a:cs typeface="Times New Roman"/>
              </a:rPr>
              <a:t>signals.</a:t>
            </a:r>
            <a:endParaRPr dirty="0">
              <a:latin typeface="Times New Roman"/>
              <a:cs typeface="Times New Roman"/>
            </a:endParaRPr>
          </a:p>
          <a:p>
            <a:pPr>
              <a:lnSpc>
                <a:spcPct val="100000"/>
              </a:lnSpc>
            </a:pPr>
            <a:endParaRPr sz="1700" dirty="0">
              <a:latin typeface="Times New Roman"/>
              <a:cs typeface="Times New Roman"/>
            </a:endParaRPr>
          </a:p>
        </p:txBody>
      </p:sp>
    </p:spTree>
    <p:extLst>
      <p:ext uri="{BB962C8B-B14F-4D97-AF65-F5344CB8AC3E}">
        <p14:creationId xmlns:p14="http://schemas.microsoft.com/office/powerpoint/2010/main" val="2613847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1"/>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9</a:t>
            </a:fld>
            <a:endParaRPr/>
          </a:p>
        </p:txBody>
      </p:sp>
      <p:sp>
        <p:nvSpPr>
          <p:cNvPr id="49" name="Google Shape;49;p11"/>
          <p:cNvSpPr txBox="1"/>
          <p:nvPr/>
        </p:nvSpPr>
        <p:spPr>
          <a:xfrm>
            <a:off x="2041707" y="2644727"/>
            <a:ext cx="8047703" cy="2082019"/>
          </a:xfrm>
          <a:prstGeom prst="rect">
            <a:avLst/>
          </a:prstGeom>
          <a:noFill/>
          <a:ln>
            <a:noFill/>
          </a:ln>
        </p:spPr>
        <p:txBody>
          <a:bodyPr spcFirstLastPara="1" wrap="square" lIns="91425" tIns="33100" rIns="91425" bIns="45700" anchor="ctr" anchorCtr="0">
            <a:noAutofit/>
          </a:bodyPr>
          <a:lstStyle/>
          <a:p>
            <a:pPr algn="ctr">
              <a:lnSpc>
                <a:spcPct val="150000"/>
              </a:lnSpc>
            </a:pPr>
            <a:r>
              <a:rPr lang="en-US" sz="5400" b="1">
                <a:solidFill>
                  <a:srgbClr val="000000"/>
                </a:solidFill>
                <a:latin typeface="Times New Roman"/>
                <a:ea typeface="Times New Roman"/>
                <a:cs typeface="Times New Roman"/>
                <a:sym typeface="Times New Roman"/>
              </a:rPr>
              <a:t>Instruction Codes</a:t>
            </a:r>
            <a:endParaRPr sz="5400" b="1">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10</a:t>
            </a:fld>
            <a:endParaRPr/>
          </a:p>
        </p:txBody>
      </p:sp>
      <p:sp>
        <p:nvSpPr>
          <p:cNvPr id="58" name="Google Shape;58;p12"/>
          <p:cNvSpPr/>
          <p:nvPr/>
        </p:nvSpPr>
        <p:spPr>
          <a:xfrm>
            <a:off x="1101176" y="1847427"/>
            <a:ext cx="9717077" cy="4375516"/>
          </a:xfrm>
          <a:prstGeom prst="rect">
            <a:avLst/>
          </a:prstGeom>
          <a:noFill/>
          <a:ln>
            <a:noFill/>
          </a:ln>
        </p:spPr>
        <p:txBody>
          <a:bodyPr spcFirstLastPara="1" wrap="square" lIns="91425" tIns="45700" rIns="91425" bIns="45700" anchor="t" anchorCtr="0">
            <a:spAutoFit/>
          </a:bodyPr>
          <a:lstStyle/>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The organization of the computer is defined by its internal registers, the timing and control structure, and the set of instructions that it uses.</a:t>
            </a:r>
            <a:endParaRPr sz="2000" dirty="0"/>
          </a:p>
          <a:p>
            <a:pPr marL="457200" indent="-317500" algn="just">
              <a:spcBef>
                <a:spcPts val="1000"/>
              </a:spcBef>
            </a:pPr>
            <a:endParaRPr dirty="0">
              <a:solidFill>
                <a:srgbClr val="000000"/>
              </a:solidFill>
              <a:latin typeface="Times New Roman"/>
              <a:ea typeface="Times New Roman"/>
              <a:cs typeface="Times New Roman"/>
              <a:sym typeface="Times New Roman"/>
            </a:endParaRPr>
          </a:p>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A </a:t>
            </a:r>
            <a:r>
              <a:rPr lang="en-US" b="1" dirty="0">
                <a:solidFill>
                  <a:srgbClr val="000000"/>
                </a:solidFill>
                <a:latin typeface="Times New Roman"/>
                <a:ea typeface="Times New Roman"/>
                <a:cs typeface="Times New Roman"/>
                <a:sym typeface="Times New Roman"/>
              </a:rPr>
              <a:t>computer instruction</a:t>
            </a:r>
            <a:r>
              <a:rPr lang="en-US" dirty="0">
                <a:solidFill>
                  <a:srgbClr val="000000"/>
                </a:solidFill>
                <a:latin typeface="Times New Roman"/>
                <a:ea typeface="Times New Roman"/>
                <a:cs typeface="Times New Roman"/>
                <a:sym typeface="Times New Roman"/>
              </a:rPr>
              <a:t> is a binary code that specifies a sequence of micro-operations for the computer. </a:t>
            </a:r>
            <a:endParaRPr sz="2000" dirty="0"/>
          </a:p>
          <a:p>
            <a:pPr marL="457200" indent="-317500" algn="just"/>
            <a:endParaRPr dirty="0">
              <a:solidFill>
                <a:srgbClr val="000000"/>
              </a:solidFill>
              <a:latin typeface="Times New Roman"/>
              <a:ea typeface="Times New Roman"/>
              <a:cs typeface="Times New Roman"/>
              <a:sym typeface="Times New Roman"/>
            </a:endParaRPr>
          </a:p>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An </a:t>
            </a:r>
            <a:r>
              <a:rPr lang="en-US" b="1" dirty="0">
                <a:solidFill>
                  <a:srgbClr val="000000"/>
                </a:solidFill>
                <a:latin typeface="Times New Roman"/>
                <a:ea typeface="Times New Roman"/>
                <a:cs typeface="Times New Roman"/>
                <a:sym typeface="Times New Roman"/>
              </a:rPr>
              <a:t>instruction code</a:t>
            </a:r>
            <a:r>
              <a:rPr lang="en-US" dirty="0">
                <a:solidFill>
                  <a:srgbClr val="000000"/>
                </a:solidFill>
                <a:latin typeface="Times New Roman"/>
                <a:ea typeface="Times New Roman"/>
                <a:cs typeface="Times New Roman"/>
                <a:sym typeface="Times New Roman"/>
              </a:rPr>
              <a:t> is a group of bits that instruct the computer to perform a specific operation.</a:t>
            </a:r>
            <a:endParaRPr sz="2000" dirty="0"/>
          </a:p>
          <a:p>
            <a:pPr marL="457200" indent="-317500" algn="just"/>
            <a:endParaRPr dirty="0">
              <a:solidFill>
                <a:srgbClr val="000000"/>
              </a:solidFill>
              <a:latin typeface="Times New Roman"/>
              <a:ea typeface="Times New Roman"/>
              <a:cs typeface="Times New Roman"/>
              <a:sym typeface="Times New Roman"/>
            </a:endParaRPr>
          </a:p>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Instruction code is usually divided into two parts.</a:t>
            </a:r>
            <a:endParaRPr sz="2000" dirty="0"/>
          </a:p>
          <a:p>
            <a:pPr marL="914400" lvl="1" indent="-317500" algn="just">
              <a:buClr>
                <a:schemeClr val="accent5"/>
              </a:buClr>
              <a:buSzPts val="1400"/>
              <a:buFont typeface="Ubuntu"/>
              <a:buChar char="○"/>
            </a:pPr>
            <a:r>
              <a:rPr lang="en-US" b="1" dirty="0">
                <a:solidFill>
                  <a:srgbClr val="000000"/>
                </a:solidFill>
                <a:latin typeface="Times New Roman"/>
                <a:ea typeface="Times New Roman"/>
                <a:cs typeface="Times New Roman"/>
                <a:sym typeface="Times New Roman"/>
              </a:rPr>
              <a:t>Operation part</a:t>
            </a:r>
            <a:r>
              <a:rPr lang="en-US" dirty="0">
                <a:solidFill>
                  <a:srgbClr val="000000"/>
                </a:solidFill>
                <a:latin typeface="Times New Roman"/>
                <a:ea typeface="Times New Roman"/>
                <a:cs typeface="Times New Roman"/>
                <a:sym typeface="Times New Roman"/>
              </a:rPr>
              <a:t> - Group of bits that define such operations as add, subtract, multiply, shift, and complement.</a:t>
            </a:r>
            <a:endParaRPr sz="2000" dirty="0"/>
          </a:p>
          <a:p>
            <a:pPr marL="914400" lvl="1" indent="-317500" algn="just">
              <a:buClr>
                <a:schemeClr val="accent5"/>
              </a:buClr>
              <a:buSzPts val="1400"/>
              <a:buFont typeface="Ubuntu"/>
              <a:buChar char="○"/>
            </a:pPr>
            <a:r>
              <a:rPr lang="en-US" b="1" dirty="0">
                <a:solidFill>
                  <a:srgbClr val="000000"/>
                </a:solidFill>
                <a:latin typeface="Times New Roman"/>
                <a:ea typeface="Times New Roman"/>
                <a:cs typeface="Times New Roman"/>
                <a:sym typeface="Times New Roman"/>
              </a:rPr>
              <a:t>Address part</a:t>
            </a:r>
            <a:r>
              <a:rPr lang="en-US" dirty="0">
                <a:solidFill>
                  <a:srgbClr val="000000"/>
                </a:solidFill>
                <a:latin typeface="Times New Roman"/>
                <a:ea typeface="Times New Roman"/>
                <a:cs typeface="Times New Roman"/>
                <a:sym typeface="Times New Roman"/>
              </a:rPr>
              <a:t> - Contains registers or memory words where the address of operand is found or the result is to be stored.</a:t>
            </a:r>
            <a:endParaRPr sz="2000" dirty="0"/>
          </a:p>
          <a:p>
            <a:pPr marL="914400" lvl="1" indent="-317500" algn="just"/>
            <a:endParaRPr dirty="0">
              <a:solidFill>
                <a:srgbClr val="000000"/>
              </a:solidFill>
              <a:latin typeface="Times New Roman"/>
              <a:ea typeface="Times New Roman"/>
              <a:cs typeface="Times New Roman"/>
              <a:sym typeface="Times New Roman"/>
            </a:endParaRPr>
          </a:p>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Each computer has its own instruction code format. </a:t>
            </a:r>
            <a:endParaRPr dirty="0">
              <a:solidFill>
                <a:srgbClr val="000000"/>
              </a:solidFill>
              <a:latin typeface="Times New Roman"/>
              <a:ea typeface="Times New Roman"/>
              <a:cs typeface="Times New Roman"/>
              <a:sym typeface="Times New Roman"/>
            </a:endParaRPr>
          </a:p>
        </p:txBody>
      </p:sp>
      <p:sp>
        <p:nvSpPr>
          <p:cNvPr id="59" name="Google Shape;59;p12"/>
          <p:cNvSpPr/>
          <p:nvPr/>
        </p:nvSpPr>
        <p:spPr>
          <a:xfrm>
            <a:off x="4039683" y="990137"/>
            <a:ext cx="2929008"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Instruction Codes</a:t>
            </a:r>
            <a:endParaRPr sz="28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11</a:t>
            </a:fld>
            <a:endParaRPr/>
          </a:p>
        </p:txBody>
      </p:sp>
      <p:sp>
        <p:nvSpPr>
          <p:cNvPr id="67" name="Google Shape;67;p13"/>
          <p:cNvSpPr/>
          <p:nvPr/>
        </p:nvSpPr>
        <p:spPr>
          <a:xfrm>
            <a:off x="1204207" y="1911779"/>
            <a:ext cx="9433742" cy="3036688"/>
          </a:xfrm>
          <a:prstGeom prst="rect">
            <a:avLst/>
          </a:prstGeom>
          <a:noFill/>
          <a:ln>
            <a:noFill/>
          </a:ln>
        </p:spPr>
        <p:txBody>
          <a:bodyPr spcFirstLastPara="1" wrap="square" lIns="91425" tIns="45700" rIns="91425" bIns="45700" anchor="t" anchorCtr="0">
            <a:spAutoFit/>
          </a:bodyPr>
          <a:lstStyle/>
          <a:p>
            <a:pPr marL="457200" indent="-317500" algn="just">
              <a:buClr>
                <a:schemeClr val="accent5"/>
              </a:buClr>
              <a:buSzPts val="1400"/>
              <a:buFont typeface="Noto Sans Symbols"/>
              <a:buChar char="▪"/>
            </a:pPr>
            <a:r>
              <a:rPr lang="en-US" sz="2000" dirty="0">
                <a:solidFill>
                  <a:srgbClr val="000000"/>
                </a:solidFill>
                <a:latin typeface="Times New Roman"/>
                <a:ea typeface="Times New Roman"/>
                <a:cs typeface="Times New Roman"/>
                <a:sym typeface="Times New Roman"/>
              </a:rPr>
              <a:t>The </a:t>
            </a:r>
            <a:r>
              <a:rPr lang="en-US" sz="2000" b="1" dirty="0">
                <a:solidFill>
                  <a:srgbClr val="000000"/>
                </a:solidFill>
                <a:latin typeface="Times New Roman"/>
                <a:ea typeface="Times New Roman"/>
                <a:cs typeface="Times New Roman"/>
                <a:sym typeface="Times New Roman"/>
              </a:rPr>
              <a:t>operation code (op-code)</a:t>
            </a:r>
            <a:r>
              <a:rPr lang="en-US" sz="2000" dirty="0">
                <a:solidFill>
                  <a:srgbClr val="000000"/>
                </a:solidFill>
                <a:latin typeface="Times New Roman"/>
                <a:ea typeface="Times New Roman"/>
                <a:cs typeface="Times New Roman"/>
                <a:sym typeface="Times New Roman"/>
              </a:rPr>
              <a:t> of an instruction is a group of bits that define such operations as add, subtract, multiply, shift, and complement.</a:t>
            </a:r>
            <a:endParaRPr sz="2000" dirty="0"/>
          </a:p>
          <a:p>
            <a:pPr marL="457200" indent="-317500" algn="just">
              <a:spcBef>
                <a:spcPts val="1000"/>
              </a:spcBef>
            </a:pPr>
            <a:endParaRPr sz="2000" dirty="0">
              <a:solidFill>
                <a:srgbClr val="000000"/>
              </a:solidFill>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r>
              <a:rPr lang="en-US" sz="2000" dirty="0">
                <a:solidFill>
                  <a:srgbClr val="000000"/>
                </a:solidFill>
                <a:latin typeface="Times New Roman"/>
                <a:ea typeface="Times New Roman"/>
                <a:cs typeface="Times New Roman"/>
                <a:sym typeface="Times New Roman"/>
              </a:rPr>
              <a:t>The number of bits required for the operation code of an instruction depends on the total number of operations available in the computer (</a:t>
            </a:r>
            <a:r>
              <a:rPr lang="en-US" sz="2000" b="1" dirty="0">
                <a:solidFill>
                  <a:srgbClr val="000000"/>
                </a:solidFill>
                <a:latin typeface="Times New Roman"/>
                <a:ea typeface="Times New Roman"/>
                <a:cs typeface="Times New Roman"/>
                <a:sym typeface="Times New Roman"/>
              </a:rPr>
              <a:t>n bits for 2</a:t>
            </a:r>
            <a:r>
              <a:rPr lang="en-US" sz="2000" b="1" baseline="30000" dirty="0">
                <a:solidFill>
                  <a:srgbClr val="000000"/>
                </a:solidFill>
                <a:latin typeface="Times New Roman"/>
                <a:ea typeface="Times New Roman"/>
                <a:cs typeface="Times New Roman"/>
                <a:sym typeface="Times New Roman"/>
              </a:rPr>
              <a:t>n</a:t>
            </a:r>
            <a:r>
              <a:rPr lang="en-US" sz="2000" b="1" dirty="0">
                <a:solidFill>
                  <a:srgbClr val="000000"/>
                </a:solidFill>
                <a:latin typeface="Times New Roman"/>
                <a:ea typeface="Times New Roman"/>
                <a:cs typeface="Times New Roman"/>
                <a:sym typeface="Times New Roman"/>
              </a:rPr>
              <a:t> operations).</a:t>
            </a:r>
            <a:endParaRPr sz="2000" b="1" dirty="0"/>
          </a:p>
          <a:p>
            <a:pPr marL="457200" indent="-317500" algn="just">
              <a:spcBef>
                <a:spcPts val="1000"/>
              </a:spcBef>
            </a:pPr>
            <a:endParaRPr sz="2000" dirty="0">
              <a:solidFill>
                <a:srgbClr val="000000"/>
              </a:solidFill>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endParaRPr sz="2000" dirty="0"/>
          </a:p>
          <a:p>
            <a:pPr marL="457200" indent="-228600" algn="just">
              <a:buClr>
                <a:schemeClr val="accent5"/>
              </a:buClr>
              <a:buSzPts val="1400"/>
            </a:pPr>
            <a:endParaRPr dirty="0">
              <a:solidFill>
                <a:srgbClr val="000000"/>
              </a:solidFill>
              <a:latin typeface="Times New Roman"/>
              <a:ea typeface="Times New Roman"/>
              <a:cs typeface="Times New Roman"/>
              <a:sym typeface="Times New Roman"/>
            </a:endParaRPr>
          </a:p>
        </p:txBody>
      </p:sp>
      <p:sp>
        <p:nvSpPr>
          <p:cNvPr id="68" name="Google Shape;68;p13"/>
          <p:cNvSpPr/>
          <p:nvPr/>
        </p:nvSpPr>
        <p:spPr>
          <a:xfrm>
            <a:off x="4786658" y="1207162"/>
            <a:ext cx="2648481" cy="523220"/>
          </a:xfrm>
          <a:prstGeom prst="rect">
            <a:avLst/>
          </a:prstGeom>
          <a:noFill/>
          <a:ln>
            <a:noFill/>
          </a:ln>
        </p:spPr>
        <p:txBody>
          <a:bodyPr spcFirstLastPara="1" wrap="square" lIns="91425" tIns="45700" rIns="91425" bIns="45700" anchor="t" anchorCtr="0">
            <a:spAutoFit/>
          </a:bodyPr>
          <a:lstStyle/>
          <a:p>
            <a:pPr algn="ctr"/>
            <a:r>
              <a:rPr lang="en-US" sz="2800" b="1">
                <a:solidFill>
                  <a:srgbClr val="000000"/>
                </a:solidFill>
                <a:latin typeface="Times New Roman"/>
                <a:ea typeface="Times New Roman"/>
                <a:cs typeface="Times New Roman"/>
                <a:sym typeface="Times New Roman"/>
              </a:rPr>
              <a:t>Operation Code</a:t>
            </a:r>
            <a:endParaRPr sz="2800" b="1">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12</a:t>
            </a:fld>
            <a:endParaRPr/>
          </a:p>
        </p:txBody>
      </p:sp>
      <p:sp>
        <p:nvSpPr>
          <p:cNvPr id="74" name="Google Shape;74;p14"/>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76" name="Google Shape;76;p14"/>
          <p:cNvSpPr/>
          <p:nvPr/>
        </p:nvSpPr>
        <p:spPr>
          <a:xfrm>
            <a:off x="1779641" y="2024319"/>
            <a:ext cx="7835704" cy="3913852"/>
          </a:xfrm>
          <a:prstGeom prst="rect">
            <a:avLst/>
          </a:prstGeom>
          <a:noFill/>
          <a:ln>
            <a:noFill/>
          </a:ln>
        </p:spPr>
        <p:txBody>
          <a:bodyPr spcFirstLastPara="1" wrap="square" lIns="91425" tIns="45700" rIns="91425" bIns="45700" anchor="t" anchorCtr="0">
            <a:spAutoFit/>
          </a:bodyPr>
          <a:lstStyle/>
          <a:p>
            <a:pPr marL="457200" indent="-317500" algn="just">
              <a:buClr>
                <a:srgbClr val="000000"/>
              </a:buClr>
              <a:buSzPts val="1400"/>
              <a:buFont typeface="Courier New"/>
              <a:buChar char="o"/>
            </a:pPr>
            <a:r>
              <a:rPr lang="en-US" sz="2000" dirty="0">
                <a:solidFill>
                  <a:srgbClr val="000000"/>
                </a:solidFill>
                <a:highlight>
                  <a:srgbClr val="FFFFFF"/>
                </a:highlight>
                <a:latin typeface="Times New Roman"/>
                <a:ea typeface="Times New Roman"/>
                <a:cs typeface="Times New Roman"/>
                <a:sym typeface="Times New Roman"/>
              </a:rPr>
              <a:t>Simplest way to organize computer is to have one processor register(Accumulator AC) and an instruction code format with two parts:</a:t>
            </a:r>
            <a:endParaRPr sz="2000" dirty="0"/>
          </a:p>
          <a:p>
            <a:pPr marL="457200" indent="-317500" algn="just">
              <a:spcBef>
                <a:spcPts val="1000"/>
              </a:spcBef>
            </a:pPr>
            <a:endParaRPr sz="2000" dirty="0">
              <a:solidFill>
                <a:srgbClr val="000000"/>
              </a:solidFill>
              <a:highlight>
                <a:srgbClr val="FFFFFF"/>
              </a:highlight>
              <a:latin typeface="Times New Roman"/>
              <a:ea typeface="Times New Roman"/>
              <a:cs typeface="Times New Roman"/>
              <a:sym typeface="Times New Roman"/>
            </a:endParaRPr>
          </a:p>
          <a:p>
            <a:pPr marL="914400" lvl="1" indent="-317500" algn="just">
              <a:buClr>
                <a:srgbClr val="000000"/>
              </a:buClr>
              <a:buSzPts val="1400"/>
              <a:buFont typeface="Arial"/>
              <a:buChar char="○"/>
            </a:pPr>
            <a:r>
              <a:rPr lang="en-US" sz="2000" b="1" dirty="0">
                <a:solidFill>
                  <a:srgbClr val="000000"/>
                </a:solidFill>
                <a:highlight>
                  <a:srgbClr val="FFFFFF"/>
                </a:highlight>
                <a:latin typeface="Times New Roman"/>
                <a:ea typeface="Times New Roman"/>
                <a:cs typeface="Times New Roman"/>
                <a:sym typeface="Times New Roman"/>
              </a:rPr>
              <a:t>First</a:t>
            </a:r>
            <a:r>
              <a:rPr lang="en-US" sz="2000" dirty="0">
                <a:solidFill>
                  <a:srgbClr val="000000"/>
                </a:solidFill>
                <a:highlight>
                  <a:srgbClr val="FFFFFF"/>
                </a:highlight>
                <a:latin typeface="Times New Roman"/>
                <a:ea typeface="Times New Roman"/>
                <a:cs typeface="Times New Roman"/>
                <a:sym typeface="Times New Roman"/>
              </a:rPr>
              <a:t>-Operation to be performed</a:t>
            </a:r>
            <a:endParaRPr sz="2000" dirty="0"/>
          </a:p>
          <a:p>
            <a:pPr marL="914400" lvl="1" indent="-317500" algn="just">
              <a:buClr>
                <a:srgbClr val="000000"/>
              </a:buClr>
              <a:buSzPts val="1400"/>
              <a:buFont typeface="Arial"/>
              <a:buChar char="○"/>
            </a:pPr>
            <a:r>
              <a:rPr lang="en-US" sz="2000" b="1" dirty="0">
                <a:solidFill>
                  <a:srgbClr val="000000"/>
                </a:solidFill>
                <a:highlight>
                  <a:srgbClr val="FFFFFF"/>
                </a:highlight>
                <a:latin typeface="Times New Roman"/>
                <a:ea typeface="Times New Roman"/>
                <a:cs typeface="Times New Roman"/>
                <a:sym typeface="Times New Roman"/>
              </a:rPr>
              <a:t>Second </a:t>
            </a:r>
            <a:r>
              <a:rPr lang="en-US" sz="2000" dirty="0">
                <a:solidFill>
                  <a:srgbClr val="000000"/>
                </a:solidFill>
                <a:highlight>
                  <a:srgbClr val="FFFFFF"/>
                </a:highlight>
                <a:latin typeface="Times New Roman"/>
                <a:ea typeface="Times New Roman"/>
                <a:cs typeface="Times New Roman"/>
                <a:sym typeface="Times New Roman"/>
              </a:rPr>
              <a:t>– Address</a:t>
            </a:r>
            <a:endParaRPr sz="2000" dirty="0"/>
          </a:p>
          <a:p>
            <a:pPr marL="914400" lvl="1" indent="-317500" algn="just"/>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buClr>
                <a:srgbClr val="000000"/>
              </a:buClr>
              <a:buSzPts val="1400"/>
              <a:buFont typeface="Courier New"/>
              <a:buChar char="o"/>
            </a:pPr>
            <a:r>
              <a:rPr lang="en-US" sz="2000" dirty="0">
                <a:solidFill>
                  <a:srgbClr val="000000"/>
                </a:solidFill>
                <a:highlight>
                  <a:srgbClr val="FFFFFF"/>
                </a:highlight>
                <a:latin typeface="Times New Roman"/>
                <a:ea typeface="Times New Roman"/>
                <a:cs typeface="Times New Roman"/>
                <a:sym typeface="Times New Roman"/>
              </a:rPr>
              <a:t>The memory address tells the control where to find an operand in memory.</a:t>
            </a:r>
            <a:endParaRPr sz="2000" dirty="0"/>
          </a:p>
          <a:p>
            <a:pPr marL="457200" indent="-317500" algn="just"/>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buClr>
                <a:srgbClr val="000000"/>
              </a:buClr>
              <a:buSzPts val="1400"/>
              <a:buFont typeface="Courier New"/>
              <a:buChar char="o"/>
            </a:pPr>
            <a:r>
              <a:rPr lang="en-US" sz="2000" dirty="0">
                <a:solidFill>
                  <a:srgbClr val="000000"/>
                </a:solidFill>
                <a:highlight>
                  <a:srgbClr val="FFFFFF"/>
                </a:highlight>
                <a:latin typeface="Times New Roman"/>
                <a:ea typeface="Times New Roman"/>
                <a:cs typeface="Times New Roman"/>
                <a:sym typeface="Times New Roman"/>
              </a:rPr>
              <a:t>This operand is read from memory and used as the data to be operated on together with the data stored in the processor register.</a:t>
            </a:r>
            <a:endParaRPr sz="2000" dirty="0">
              <a:solidFill>
                <a:srgbClr val="000000"/>
              </a:solidFill>
              <a:highlight>
                <a:srgbClr val="FFFFFF"/>
              </a:highlight>
              <a:latin typeface="Times New Roman"/>
              <a:ea typeface="Times New Roman"/>
              <a:cs typeface="Times New Roman"/>
              <a:sym typeface="Times New Roman"/>
            </a:endParaRPr>
          </a:p>
        </p:txBody>
      </p:sp>
      <p:sp>
        <p:nvSpPr>
          <p:cNvPr id="77" name="Google Shape;77;p14"/>
          <p:cNvSpPr/>
          <p:nvPr/>
        </p:nvSpPr>
        <p:spPr>
          <a:xfrm>
            <a:off x="3717513" y="1097100"/>
            <a:ext cx="4791697"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Stored Program Organization</a:t>
            </a:r>
            <a:endParaRPr sz="28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5"/>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13</a:t>
            </a:fld>
            <a:endParaRPr/>
          </a:p>
        </p:txBody>
      </p:sp>
      <p:sp>
        <p:nvSpPr>
          <p:cNvPr id="83" name="Google Shape;83;p15"/>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85" name="Google Shape;85;p15"/>
          <p:cNvSpPr/>
          <p:nvPr/>
        </p:nvSpPr>
        <p:spPr>
          <a:xfrm>
            <a:off x="3830055" y="1263432"/>
            <a:ext cx="4791697" cy="523220"/>
          </a:xfrm>
          <a:prstGeom prst="rect">
            <a:avLst/>
          </a:prstGeom>
          <a:noFill/>
          <a:ln>
            <a:noFill/>
          </a:ln>
        </p:spPr>
        <p:txBody>
          <a:bodyPr spcFirstLastPara="1" wrap="square" lIns="91425" tIns="45700" rIns="91425" bIns="45700" anchor="t" anchorCtr="0">
            <a:spAutoFit/>
          </a:bodyPr>
          <a:lstStyle/>
          <a:p>
            <a:pPr algn="ctr"/>
            <a:r>
              <a:rPr lang="en-US" sz="2800" b="1">
                <a:solidFill>
                  <a:srgbClr val="000000"/>
                </a:solidFill>
                <a:latin typeface="Times New Roman"/>
                <a:ea typeface="Times New Roman"/>
                <a:cs typeface="Times New Roman"/>
                <a:sym typeface="Times New Roman"/>
              </a:rPr>
              <a:t>Stored Program Organization</a:t>
            </a:r>
            <a:endParaRPr sz="2800" b="1">
              <a:solidFill>
                <a:srgbClr val="000000"/>
              </a:solidFill>
              <a:latin typeface="Times New Roman"/>
              <a:ea typeface="Times New Roman"/>
              <a:cs typeface="Times New Roman"/>
              <a:sym typeface="Times New Roman"/>
            </a:endParaRPr>
          </a:p>
        </p:txBody>
      </p:sp>
      <p:pic>
        <p:nvPicPr>
          <p:cNvPr id="86" name="Google Shape;86;p15"/>
          <p:cNvPicPr preferRelativeResize="0"/>
          <p:nvPr/>
        </p:nvPicPr>
        <p:blipFill rotWithShape="1">
          <a:blip r:embed="rId3">
            <a:alphaModFix/>
          </a:blip>
          <a:srcRect l="797" r="787"/>
          <a:stretch/>
        </p:blipFill>
        <p:spPr>
          <a:xfrm>
            <a:off x="1322441" y="1786652"/>
            <a:ext cx="4829830" cy="4614148"/>
          </a:xfrm>
          <a:prstGeom prst="rect">
            <a:avLst/>
          </a:prstGeom>
          <a:noFill/>
          <a:ln>
            <a:noFill/>
          </a:ln>
        </p:spPr>
      </p:pic>
      <p:sp>
        <p:nvSpPr>
          <p:cNvPr id="87" name="Google Shape;87;p15"/>
          <p:cNvSpPr/>
          <p:nvPr/>
        </p:nvSpPr>
        <p:spPr>
          <a:xfrm>
            <a:off x="6225903" y="2390515"/>
            <a:ext cx="4572000" cy="3170058"/>
          </a:xfrm>
          <a:prstGeom prst="rect">
            <a:avLst/>
          </a:prstGeom>
          <a:noFill/>
          <a:ln>
            <a:noFill/>
          </a:ln>
        </p:spPr>
        <p:txBody>
          <a:bodyPr spcFirstLastPara="1" wrap="square" lIns="91425" tIns="45700" rIns="91425" bIns="45700" anchor="t" anchorCtr="0">
            <a:spAutoFit/>
          </a:bodyPr>
          <a:lstStyle/>
          <a:p>
            <a:pPr marL="457200" indent="-317500">
              <a:buClr>
                <a:schemeClr val="accent5"/>
              </a:buClr>
              <a:buSzPts val="1400"/>
              <a:buFont typeface="Ubuntu"/>
              <a:buChar char="●"/>
            </a:pPr>
            <a:r>
              <a:rPr lang="en-US" sz="2000" dirty="0">
                <a:solidFill>
                  <a:srgbClr val="000000"/>
                </a:solidFill>
                <a:latin typeface="Times New Roman"/>
                <a:ea typeface="Times New Roman"/>
                <a:cs typeface="Times New Roman"/>
                <a:sym typeface="Times New Roman"/>
              </a:rPr>
              <a:t>Instructions are stored in one section of the memory and data in another.</a:t>
            </a:r>
            <a:endParaRPr sz="2000" dirty="0"/>
          </a:p>
          <a:p>
            <a:pPr marL="457200" indent="-317500"/>
            <a:endParaRPr sz="2000" dirty="0">
              <a:solidFill>
                <a:srgbClr val="000000"/>
              </a:solidFill>
              <a:latin typeface="Times New Roman"/>
              <a:ea typeface="Times New Roman"/>
              <a:cs typeface="Times New Roman"/>
              <a:sym typeface="Times New Roman"/>
            </a:endParaRPr>
          </a:p>
          <a:p>
            <a:pPr marL="457200" indent="-317500">
              <a:buClr>
                <a:schemeClr val="accent5"/>
              </a:buClr>
              <a:buSzPts val="1400"/>
              <a:buFont typeface="Ubuntu"/>
              <a:buChar char="●"/>
            </a:pPr>
            <a:r>
              <a:rPr lang="en-US" sz="2000" dirty="0">
                <a:solidFill>
                  <a:srgbClr val="000000"/>
                </a:solidFill>
                <a:latin typeface="Times New Roman"/>
                <a:ea typeface="Times New Roman"/>
                <a:cs typeface="Times New Roman"/>
                <a:sym typeface="Times New Roman"/>
              </a:rPr>
              <a:t>For a memory unit with 4096 words we need 12 bits to specify an address since 2</a:t>
            </a:r>
            <a:r>
              <a:rPr lang="en-US" sz="2000" baseline="30000" dirty="0">
                <a:solidFill>
                  <a:srgbClr val="000000"/>
                </a:solidFill>
                <a:latin typeface="Times New Roman"/>
                <a:ea typeface="Times New Roman"/>
                <a:cs typeface="Times New Roman"/>
                <a:sym typeface="Times New Roman"/>
              </a:rPr>
              <a:t>12</a:t>
            </a:r>
            <a:r>
              <a:rPr lang="en-US" sz="2000" dirty="0">
                <a:solidFill>
                  <a:srgbClr val="000000"/>
                </a:solidFill>
                <a:latin typeface="Times New Roman"/>
                <a:ea typeface="Times New Roman"/>
                <a:cs typeface="Times New Roman"/>
                <a:sym typeface="Times New Roman"/>
              </a:rPr>
              <a:t>=4096.</a:t>
            </a:r>
            <a:endParaRPr sz="2000" dirty="0"/>
          </a:p>
          <a:p>
            <a:pPr marL="457200" indent="-317500"/>
            <a:endParaRPr sz="2000" dirty="0">
              <a:solidFill>
                <a:srgbClr val="000000"/>
              </a:solidFill>
              <a:latin typeface="Times New Roman"/>
              <a:ea typeface="Times New Roman"/>
              <a:cs typeface="Times New Roman"/>
              <a:sym typeface="Times New Roman"/>
            </a:endParaRPr>
          </a:p>
          <a:p>
            <a:pPr marL="457200" indent="-317500">
              <a:buClr>
                <a:schemeClr val="accent5"/>
              </a:buClr>
              <a:buSzPts val="1400"/>
              <a:buFont typeface="Ubuntu"/>
              <a:buChar char="●"/>
            </a:pPr>
            <a:r>
              <a:rPr lang="en-US" sz="2000" dirty="0">
                <a:solidFill>
                  <a:srgbClr val="000000"/>
                </a:solidFill>
                <a:latin typeface="Times New Roman"/>
                <a:ea typeface="Times New Roman"/>
                <a:cs typeface="Times New Roman"/>
                <a:sym typeface="Times New Roman"/>
              </a:rPr>
              <a:t>4 bits are available for opcode to specify one out of 16 possible operations.</a:t>
            </a:r>
            <a:endParaRPr sz="20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14</a:t>
            </a:fld>
            <a:endParaRPr/>
          </a:p>
        </p:txBody>
      </p:sp>
      <p:sp>
        <p:nvSpPr>
          <p:cNvPr id="95" name="Google Shape;95;p16"/>
          <p:cNvSpPr/>
          <p:nvPr/>
        </p:nvSpPr>
        <p:spPr>
          <a:xfrm>
            <a:off x="965915" y="1997699"/>
            <a:ext cx="9994006" cy="3631723"/>
          </a:xfrm>
          <a:prstGeom prst="rect">
            <a:avLst/>
          </a:prstGeom>
          <a:noFill/>
          <a:ln>
            <a:noFill/>
          </a:ln>
        </p:spPr>
        <p:txBody>
          <a:bodyPr spcFirstLastPara="1" wrap="square" lIns="91425" tIns="45700" rIns="91425" bIns="45700" anchor="t" anchorCtr="0">
            <a:spAutoFit/>
          </a:bodyPr>
          <a:lstStyle/>
          <a:p>
            <a:pPr marL="457200" indent="-317500" algn="just">
              <a:buClr>
                <a:schemeClr val="accent5"/>
              </a:buClr>
              <a:buSzPts val="1400"/>
              <a:buFont typeface="Noto Sans Symbols"/>
              <a:buChar char="▪"/>
            </a:pPr>
            <a:r>
              <a:rPr lang="en-US" sz="2000" dirty="0">
                <a:solidFill>
                  <a:srgbClr val="000000"/>
                </a:solidFill>
                <a:highlight>
                  <a:srgbClr val="FFFFFF"/>
                </a:highlight>
                <a:latin typeface="Times New Roman"/>
                <a:ea typeface="Times New Roman"/>
                <a:cs typeface="Times New Roman"/>
                <a:sym typeface="Times New Roman"/>
              </a:rPr>
              <a:t>The control reads a 16-bit instruction from the program portion of memory.</a:t>
            </a:r>
            <a:endParaRPr sz="2000" dirty="0"/>
          </a:p>
          <a:p>
            <a:pPr marL="457200" indent="-317500" algn="just">
              <a:spcBef>
                <a:spcPts val="1000"/>
              </a:spcBef>
            </a:pPr>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r>
              <a:rPr lang="en-US" sz="2000" dirty="0">
                <a:solidFill>
                  <a:srgbClr val="000000"/>
                </a:solidFill>
                <a:highlight>
                  <a:srgbClr val="FFFFFF"/>
                </a:highlight>
                <a:latin typeface="Times New Roman"/>
                <a:ea typeface="Times New Roman"/>
                <a:cs typeface="Times New Roman"/>
                <a:sym typeface="Times New Roman"/>
              </a:rPr>
              <a:t>It uses the 12-bit address part of the instruction to read a 16-bit operand from the data portion of memory. </a:t>
            </a:r>
            <a:endParaRPr sz="2000" dirty="0"/>
          </a:p>
          <a:p>
            <a:pPr marL="457200" indent="-317500" algn="just">
              <a:spcBef>
                <a:spcPts val="1000"/>
              </a:spcBef>
            </a:pPr>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r>
              <a:rPr lang="en-US" sz="2000" dirty="0">
                <a:solidFill>
                  <a:srgbClr val="000000"/>
                </a:solidFill>
                <a:highlight>
                  <a:srgbClr val="FFFFFF"/>
                </a:highlight>
                <a:latin typeface="Times New Roman"/>
                <a:ea typeface="Times New Roman"/>
                <a:cs typeface="Times New Roman"/>
                <a:sym typeface="Times New Roman"/>
              </a:rPr>
              <a:t>It then executes the operation specified by the operation code.</a:t>
            </a:r>
            <a:endParaRPr sz="2000" dirty="0"/>
          </a:p>
          <a:p>
            <a:pPr marL="457200" indent="-317500" algn="just">
              <a:spcBef>
                <a:spcPts val="1000"/>
              </a:spcBef>
            </a:pPr>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r>
              <a:rPr lang="en-US" sz="2000" dirty="0">
                <a:solidFill>
                  <a:srgbClr val="000000"/>
                </a:solidFill>
                <a:highlight>
                  <a:srgbClr val="FFFFFF"/>
                </a:highlight>
                <a:latin typeface="Times New Roman"/>
                <a:ea typeface="Times New Roman"/>
                <a:cs typeface="Times New Roman"/>
                <a:sym typeface="Times New Roman"/>
              </a:rPr>
              <a:t>The operation is performed with the memory operand and the content of AC.</a:t>
            </a:r>
            <a:endParaRPr sz="2000" i="1" dirty="0">
              <a:solidFill>
                <a:srgbClr val="000000"/>
              </a:solidFill>
              <a:highlight>
                <a:srgbClr val="FFFFFF"/>
              </a:highlight>
              <a:latin typeface="Times New Roman"/>
              <a:ea typeface="Times New Roman"/>
              <a:cs typeface="Times New Roman"/>
              <a:sym typeface="Times New Roman"/>
            </a:endParaRPr>
          </a:p>
          <a:p>
            <a:pPr marL="457200" indent="-317500" algn="just"/>
            <a:r>
              <a:rPr lang="en-US" sz="2000" dirty="0">
                <a:solidFill>
                  <a:srgbClr val="000000"/>
                </a:solidFill>
                <a:latin typeface="Times New Roman"/>
                <a:ea typeface="Times New Roman"/>
                <a:cs typeface="Times New Roman"/>
                <a:sym typeface="Times New Roman"/>
              </a:rPr>
              <a:t> </a:t>
            </a:r>
            <a:endParaRPr sz="2000" dirty="0">
              <a:solidFill>
                <a:srgbClr val="000000"/>
              </a:solidFill>
              <a:latin typeface="Times New Roman"/>
              <a:ea typeface="Times New Roman"/>
              <a:cs typeface="Times New Roman"/>
              <a:sym typeface="Times New Roman"/>
            </a:endParaRPr>
          </a:p>
        </p:txBody>
      </p:sp>
      <p:sp>
        <p:nvSpPr>
          <p:cNvPr id="96" name="Google Shape;96;p16"/>
          <p:cNvSpPr/>
          <p:nvPr/>
        </p:nvSpPr>
        <p:spPr>
          <a:xfrm>
            <a:off x="5032347" y="1165158"/>
            <a:ext cx="1407090" cy="584735"/>
          </a:xfrm>
          <a:prstGeom prst="rect">
            <a:avLst/>
          </a:prstGeom>
          <a:noFill/>
          <a:ln>
            <a:noFill/>
          </a:ln>
        </p:spPr>
        <p:txBody>
          <a:bodyPr spcFirstLastPara="1" wrap="square" lIns="91425" tIns="45700" rIns="91425" bIns="45700" anchor="t" anchorCtr="0">
            <a:spAutoFit/>
          </a:bodyPr>
          <a:lstStyle/>
          <a:p>
            <a:pPr algn="ctr"/>
            <a:r>
              <a:rPr lang="en-US" sz="3200" b="1" dirty="0">
                <a:solidFill>
                  <a:srgbClr val="000000"/>
                </a:solidFill>
                <a:latin typeface="Times New Roman"/>
                <a:ea typeface="Times New Roman"/>
                <a:cs typeface="Times New Roman"/>
                <a:sym typeface="Times New Roman"/>
              </a:rPr>
              <a:t>Steps</a:t>
            </a:r>
            <a:endParaRPr sz="32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15</a:t>
            </a:fld>
            <a:endParaRPr/>
          </a:p>
        </p:txBody>
      </p:sp>
      <p:sp>
        <p:nvSpPr>
          <p:cNvPr id="104" name="Google Shape;104;p17"/>
          <p:cNvSpPr/>
          <p:nvPr/>
        </p:nvSpPr>
        <p:spPr>
          <a:xfrm>
            <a:off x="2311791" y="2011369"/>
            <a:ext cx="7835704" cy="338554"/>
          </a:xfrm>
          <a:prstGeom prst="rect">
            <a:avLst/>
          </a:prstGeom>
          <a:noFill/>
          <a:ln>
            <a:noFill/>
          </a:ln>
        </p:spPr>
        <p:txBody>
          <a:bodyPr spcFirstLastPara="1" wrap="square" lIns="91425" tIns="45700" rIns="91425" bIns="45700" anchor="t" anchorCtr="0">
            <a:spAutoFit/>
          </a:bodyPr>
          <a:lstStyle/>
          <a:p>
            <a:pPr marL="457200" indent="-228600">
              <a:buClr>
                <a:schemeClr val="accent5"/>
              </a:buClr>
              <a:buSzPts val="1400"/>
            </a:pPr>
            <a:endParaRPr sz="1600">
              <a:solidFill>
                <a:srgbClr val="000000"/>
              </a:solidFill>
              <a:latin typeface="Times New Roman"/>
              <a:ea typeface="Times New Roman"/>
              <a:cs typeface="Times New Roman"/>
              <a:sym typeface="Times New Roman"/>
            </a:endParaRPr>
          </a:p>
        </p:txBody>
      </p:sp>
      <p:sp>
        <p:nvSpPr>
          <p:cNvPr id="105" name="Google Shape;105;p17"/>
          <p:cNvSpPr/>
          <p:nvPr/>
        </p:nvSpPr>
        <p:spPr>
          <a:xfrm>
            <a:off x="2961376" y="982024"/>
            <a:ext cx="6067688"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Direct and Indirect Addressing Modes</a:t>
            </a:r>
            <a:endParaRPr sz="2800" b="1" dirty="0">
              <a:solidFill>
                <a:srgbClr val="000000"/>
              </a:solidFill>
              <a:latin typeface="Times New Roman"/>
              <a:ea typeface="Times New Roman"/>
              <a:cs typeface="Times New Roman"/>
              <a:sym typeface="Times New Roman"/>
            </a:endParaRPr>
          </a:p>
        </p:txBody>
      </p:sp>
      <p:sp>
        <p:nvSpPr>
          <p:cNvPr id="106" name="Google Shape;106;p17"/>
          <p:cNvSpPr/>
          <p:nvPr/>
        </p:nvSpPr>
        <p:spPr>
          <a:xfrm>
            <a:off x="5575494" y="1675608"/>
            <a:ext cx="5723739" cy="4098518"/>
          </a:xfrm>
          <a:prstGeom prst="rect">
            <a:avLst/>
          </a:prstGeom>
          <a:noFill/>
          <a:ln>
            <a:noFill/>
          </a:ln>
        </p:spPr>
        <p:txBody>
          <a:bodyPr spcFirstLastPara="1" wrap="square" lIns="91425" tIns="45700" rIns="91425" bIns="45700" anchor="t" anchorCtr="0">
            <a:spAutoFit/>
          </a:bodyPr>
          <a:lstStyle/>
          <a:p>
            <a:pPr marL="457200" indent="-317500" algn="just">
              <a:buClr>
                <a:srgbClr val="000000"/>
              </a:buClr>
              <a:buSzPts val="1400"/>
              <a:buFont typeface="Noto Sans Symbols"/>
              <a:buChar char="❑"/>
            </a:pPr>
            <a:r>
              <a:rPr lang="en-US" dirty="0">
                <a:solidFill>
                  <a:srgbClr val="000000"/>
                </a:solidFill>
                <a:highlight>
                  <a:srgbClr val="FFFFFF"/>
                </a:highlight>
                <a:latin typeface="Times New Roman"/>
                <a:ea typeface="Times New Roman"/>
                <a:cs typeface="Times New Roman"/>
                <a:sym typeface="Times New Roman"/>
              </a:rPr>
              <a:t>Following </a:t>
            </a:r>
            <a:r>
              <a:rPr lang="en-US" b="1" dirty="0">
                <a:solidFill>
                  <a:srgbClr val="000000"/>
                </a:solidFill>
                <a:highlight>
                  <a:srgbClr val="FFFFFF"/>
                </a:highlight>
                <a:latin typeface="Times New Roman"/>
                <a:ea typeface="Times New Roman"/>
                <a:cs typeface="Times New Roman"/>
                <a:sym typeface="Times New Roman"/>
              </a:rPr>
              <a:t>Addressing Modes</a:t>
            </a:r>
            <a:r>
              <a:rPr lang="en-US" dirty="0">
                <a:solidFill>
                  <a:srgbClr val="000000"/>
                </a:solidFill>
                <a:highlight>
                  <a:srgbClr val="FFFFFF"/>
                </a:highlight>
                <a:latin typeface="Times New Roman"/>
                <a:ea typeface="Times New Roman"/>
                <a:cs typeface="Times New Roman"/>
                <a:sym typeface="Times New Roman"/>
              </a:rPr>
              <a:t> are used for address portion of the instruction code.</a:t>
            </a:r>
            <a:endParaRPr dirty="0"/>
          </a:p>
          <a:p>
            <a:pPr marL="457200" indent="-317500" algn="just">
              <a:spcBef>
                <a:spcPts val="1000"/>
              </a:spcBef>
            </a:pPr>
            <a:endParaRPr dirty="0">
              <a:solidFill>
                <a:srgbClr val="000000"/>
              </a:solidFill>
              <a:highlight>
                <a:srgbClr val="FFFFFF"/>
              </a:highlight>
              <a:latin typeface="Times New Roman"/>
              <a:ea typeface="Times New Roman"/>
              <a:cs typeface="Times New Roman"/>
              <a:sym typeface="Times New Roman"/>
            </a:endParaRPr>
          </a:p>
          <a:p>
            <a:pPr marL="914400" lvl="1" indent="-317500" algn="just">
              <a:buClr>
                <a:srgbClr val="000000"/>
              </a:buClr>
              <a:buSzPts val="1400"/>
              <a:buFont typeface="Arial"/>
              <a:buChar char="○"/>
            </a:pPr>
            <a:r>
              <a:rPr lang="en-US" b="1" dirty="0">
                <a:solidFill>
                  <a:srgbClr val="000000"/>
                </a:solidFill>
                <a:highlight>
                  <a:srgbClr val="FFFFFF"/>
                </a:highlight>
                <a:latin typeface="Times New Roman"/>
                <a:ea typeface="Times New Roman"/>
                <a:cs typeface="Times New Roman"/>
                <a:sym typeface="Times New Roman"/>
              </a:rPr>
              <a:t>Immediate</a:t>
            </a:r>
            <a:r>
              <a:rPr lang="en-US" dirty="0">
                <a:solidFill>
                  <a:srgbClr val="000000"/>
                </a:solidFill>
                <a:highlight>
                  <a:srgbClr val="FFFFFF"/>
                </a:highlight>
                <a:latin typeface="Times New Roman"/>
                <a:ea typeface="Times New Roman"/>
                <a:cs typeface="Times New Roman"/>
                <a:sym typeface="Times New Roman"/>
              </a:rPr>
              <a:t>- The address part specifies an operand.</a:t>
            </a:r>
            <a:br>
              <a:rPr lang="en-US" dirty="0">
                <a:solidFill>
                  <a:srgbClr val="000000"/>
                </a:solidFill>
                <a:highlight>
                  <a:srgbClr val="FFFFFF"/>
                </a:highlight>
                <a:latin typeface="Times New Roman"/>
                <a:ea typeface="Times New Roman"/>
                <a:cs typeface="Times New Roman"/>
                <a:sym typeface="Times New Roman"/>
              </a:rPr>
            </a:br>
            <a:r>
              <a:rPr lang="en-US" dirty="0" err="1">
                <a:solidFill>
                  <a:srgbClr val="000000"/>
                </a:solidFill>
                <a:highlight>
                  <a:srgbClr val="FFFFFF"/>
                </a:highlight>
                <a:latin typeface="Times New Roman"/>
                <a:ea typeface="Times New Roman"/>
                <a:cs typeface="Times New Roman"/>
                <a:sym typeface="Times New Roman"/>
              </a:rPr>
              <a:t>Eg</a:t>
            </a:r>
            <a:r>
              <a:rPr lang="en-US" dirty="0">
                <a:solidFill>
                  <a:srgbClr val="000000"/>
                </a:solidFill>
                <a:highlight>
                  <a:srgbClr val="FFFFFF"/>
                </a:highlight>
                <a:latin typeface="Times New Roman"/>
                <a:ea typeface="Times New Roman"/>
                <a:cs typeface="Times New Roman"/>
                <a:sym typeface="Times New Roman"/>
              </a:rPr>
              <a:t>: ADD 5 </a:t>
            </a:r>
            <a:endParaRPr dirty="0"/>
          </a:p>
          <a:p>
            <a:pPr marL="914400" lvl="1" indent="-317500" algn="just">
              <a:buClr>
                <a:srgbClr val="000000"/>
              </a:buClr>
              <a:buSzPts val="1400"/>
              <a:buFont typeface="Arial"/>
              <a:buChar char="○"/>
            </a:pPr>
            <a:r>
              <a:rPr lang="en-US" b="1" dirty="0">
                <a:solidFill>
                  <a:srgbClr val="000000"/>
                </a:solidFill>
                <a:highlight>
                  <a:srgbClr val="FFFFFF"/>
                </a:highlight>
                <a:latin typeface="Times New Roman"/>
                <a:ea typeface="Times New Roman"/>
                <a:cs typeface="Times New Roman"/>
                <a:sym typeface="Times New Roman"/>
              </a:rPr>
              <a:t>Direct</a:t>
            </a:r>
            <a:r>
              <a:rPr lang="en-US" dirty="0">
                <a:solidFill>
                  <a:srgbClr val="000000"/>
                </a:solidFill>
                <a:highlight>
                  <a:srgbClr val="FFFFFF"/>
                </a:highlight>
                <a:latin typeface="Times New Roman"/>
                <a:ea typeface="Times New Roman"/>
                <a:cs typeface="Times New Roman"/>
                <a:sym typeface="Times New Roman"/>
              </a:rPr>
              <a:t>- The address part specifies the address of an operand.</a:t>
            </a:r>
            <a:endParaRPr dirty="0"/>
          </a:p>
          <a:p>
            <a:pPr marL="914400" lvl="1" indent="-317500" algn="just">
              <a:buClr>
                <a:srgbClr val="000000"/>
              </a:buClr>
              <a:buSzPts val="1400"/>
              <a:buFont typeface="Arial"/>
              <a:buChar char="○"/>
            </a:pPr>
            <a:r>
              <a:rPr lang="en-US" b="1" dirty="0">
                <a:solidFill>
                  <a:srgbClr val="000000"/>
                </a:solidFill>
                <a:highlight>
                  <a:srgbClr val="FFFFFF"/>
                </a:highlight>
                <a:latin typeface="Times New Roman"/>
                <a:ea typeface="Times New Roman"/>
                <a:cs typeface="Times New Roman"/>
                <a:sym typeface="Times New Roman"/>
              </a:rPr>
              <a:t>Indirect</a:t>
            </a:r>
            <a:r>
              <a:rPr lang="en-US" dirty="0">
                <a:solidFill>
                  <a:srgbClr val="000000"/>
                </a:solidFill>
                <a:highlight>
                  <a:srgbClr val="FFFFFF"/>
                </a:highlight>
                <a:latin typeface="Times New Roman"/>
                <a:ea typeface="Times New Roman"/>
                <a:cs typeface="Times New Roman"/>
                <a:sym typeface="Times New Roman"/>
              </a:rPr>
              <a:t>-  The address part specifies a pointer(another address) where the address of the operand can be found.</a:t>
            </a:r>
            <a:endParaRPr dirty="0"/>
          </a:p>
          <a:p>
            <a:pPr marL="914400" lvl="1" indent="-317500" algn="just"/>
            <a:endParaRPr dirty="0">
              <a:solidFill>
                <a:srgbClr val="000000"/>
              </a:solidFill>
              <a:highlight>
                <a:srgbClr val="FFFFFF"/>
              </a:highlight>
              <a:latin typeface="Times New Roman"/>
              <a:ea typeface="Times New Roman"/>
              <a:cs typeface="Times New Roman"/>
              <a:sym typeface="Times New Roman"/>
            </a:endParaRPr>
          </a:p>
          <a:p>
            <a:pPr marL="457200" indent="-317500" algn="just">
              <a:buClr>
                <a:srgbClr val="000000"/>
              </a:buClr>
              <a:buSzPts val="1400"/>
              <a:buFont typeface="Noto Sans Symbols"/>
              <a:buChar char="❑"/>
            </a:pPr>
            <a:r>
              <a:rPr lang="en-US" dirty="0">
                <a:solidFill>
                  <a:srgbClr val="000000"/>
                </a:solidFill>
                <a:highlight>
                  <a:srgbClr val="FFFFFF"/>
                </a:highlight>
                <a:latin typeface="Times New Roman"/>
                <a:ea typeface="Times New Roman"/>
                <a:cs typeface="Times New Roman"/>
                <a:sym typeface="Times New Roman"/>
              </a:rPr>
              <a:t>One bit of the instruction code(</a:t>
            </a:r>
            <a:r>
              <a:rPr lang="en-US" b="1" dirty="0">
                <a:solidFill>
                  <a:srgbClr val="000000"/>
                </a:solidFill>
                <a:highlight>
                  <a:srgbClr val="FFFFFF"/>
                </a:highlight>
                <a:latin typeface="Times New Roman"/>
                <a:ea typeface="Times New Roman"/>
                <a:cs typeface="Times New Roman"/>
                <a:sym typeface="Times New Roman"/>
              </a:rPr>
              <a:t>I</a:t>
            </a:r>
            <a:r>
              <a:rPr lang="en-US" dirty="0">
                <a:solidFill>
                  <a:srgbClr val="000000"/>
                </a:solidFill>
                <a:highlight>
                  <a:srgbClr val="FFFFFF"/>
                </a:highlight>
                <a:latin typeface="Times New Roman"/>
                <a:ea typeface="Times New Roman"/>
                <a:cs typeface="Times New Roman"/>
                <a:sym typeface="Times New Roman"/>
              </a:rPr>
              <a:t>) can be used to distinguish between a direct and an indirect address.</a:t>
            </a:r>
            <a:endParaRPr dirty="0">
              <a:solidFill>
                <a:srgbClr val="000000"/>
              </a:solidFill>
              <a:highlight>
                <a:srgbClr val="FFFFFF"/>
              </a:highlight>
              <a:latin typeface="Times New Roman"/>
              <a:ea typeface="Times New Roman"/>
              <a:cs typeface="Times New Roman"/>
              <a:sym typeface="Times New Roman"/>
            </a:endParaRPr>
          </a:p>
        </p:txBody>
      </p:sp>
      <p:pic>
        <p:nvPicPr>
          <p:cNvPr id="107" name="Google Shape;107;p17"/>
          <p:cNvPicPr preferRelativeResize="0"/>
          <p:nvPr/>
        </p:nvPicPr>
        <p:blipFill rotWithShape="1">
          <a:blip r:embed="rId3">
            <a:alphaModFix/>
          </a:blip>
          <a:srcRect/>
          <a:stretch/>
        </p:blipFill>
        <p:spPr>
          <a:xfrm>
            <a:off x="1300766" y="1671492"/>
            <a:ext cx="3816044" cy="468485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8"/>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16</a:t>
            </a:fld>
            <a:endParaRPr/>
          </a:p>
        </p:txBody>
      </p:sp>
      <p:sp>
        <p:nvSpPr>
          <p:cNvPr id="113" name="Google Shape;113;p18"/>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115" name="Google Shape;115;p18"/>
          <p:cNvSpPr/>
          <p:nvPr/>
        </p:nvSpPr>
        <p:spPr>
          <a:xfrm>
            <a:off x="5884985" y="2475602"/>
            <a:ext cx="4894632" cy="3513742"/>
          </a:xfrm>
          <a:prstGeom prst="rect">
            <a:avLst/>
          </a:prstGeom>
          <a:noFill/>
          <a:ln>
            <a:noFill/>
          </a:ln>
        </p:spPr>
        <p:txBody>
          <a:bodyPr spcFirstLastPara="1" wrap="square" lIns="91425" tIns="45700" rIns="91425" bIns="45700" anchor="t" anchorCtr="0">
            <a:spAutoFit/>
          </a:bodyPr>
          <a:lstStyle/>
          <a:p>
            <a:pPr algn="just"/>
            <a:r>
              <a:rPr lang="en-US" sz="2400" dirty="0">
                <a:solidFill>
                  <a:srgbClr val="000000"/>
                </a:solidFill>
                <a:latin typeface="Times New Roman"/>
                <a:ea typeface="Times New Roman"/>
                <a:cs typeface="Times New Roman"/>
                <a:sym typeface="Times New Roman"/>
              </a:rPr>
              <a:t>It is the address of the operand in a computation-type instruction or the target address in a branch-type </a:t>
            </a:r>
            <a:r>
              <a:rPr lang="en-US" sz="2800" dirty="0">
                <a:solidFill>
                  <a:srgbClr val="000000"/>
                </a:solidFill>
                <a:latin typeface="Times New Roman"/>
                <a:ea typeface="Times New Roman"/>
                <a:cs typeface="Times New Roman"/>
                <a:sym typeface="Times New Roman"/>
              </a:rPr>
              <a:t>instruction</a:t>
            </a:r>
            <a:r>
              <a:rPr lang="en-US" sz="2400" dirty="0">
                <a:solidFill>
                  <a:srgbClr val="000000"/>
                </a:solidFill>
                <a:latin typeface="Times New Roman"/>
                <a:ea typeface="Times New Roman"/>
                <a:cs typeface="Times New Roman"/>
                <a:sym typeface="Times New Roman"/>
              </a:rPr>
              <a:t>.</a:t>
            </a:r>
            <a:endParaRPr sz="2400" dirty="0"/>
          </a:p>
          <a:p>
            <a:endParaRPr sz="2400" dirty="0">
              <a:solidFill>
                <a:srgbClr val="000000"/>
              </a:solidFill>
              <a:latin typeface="Times New Roman"/>
              <a:ea typeface="Times New Roman"/>
              <a:cs typeface="Times New Roman"/>
              <a:sym typeface="Times New Roman"/>
            </a:endParaRPr>
          </a:p>
          <a:p>
            <a:r>
              <a:rPr lang="en-US" sz="2400" dirty="0">
                <a:solidFill>
                  <a:srgbClr val="000000"/>
                </a:solidFill>
                <a:latin typeface="Times New Roman"/>
                <a:ea typeface="Times New Roman"/>
                <a:cs typeface="Times New Roman"/>
                <a:sym typeface="Times New Roman"/>
              </a:rPr>
              <a:t>The effective address in the instruction of the figures are </a:t>
            </a:r>
            <a:r>
              <a:rPr lang="en-US" sz="2400" b="1" dirty="0">
                <a:solidFill>
                  <a:srgbClr val="000000"/>
                </a:solidFill>
                <a:latin typeface="Times New Roman"/>
                <a:ea typeface="Times New Roman"/>
                <a:cs typeface="Times New Roman"/>
                <a:sym typeface="Times New Roman"/>
              </a:rPr>
              <a:t>457 </a:t>
            </a:r>
            <a:r>
              <a:rPr lang="en-US" sz="2400" dirty="0">
                <a:solidFill>
                  <a:srgbClr val="000000"/>
                </a:solidFill>
                <a:latin typeface="Times New Roman"/>
                <a:ea typeface="Times New Roman"/>
                <a:cs typeface="Times New Roman"/>
                <a:sym typeface="Times New Roman"/>
              </a:rPr>
              <a:t>and</a:t>
            </a:r>
            <a:r>
              <a:rPr lang="en-US" sz="2400" b="1" dirty="0">
                <a:solidFill>
                  <a:srgbClr val="000000"/>
                </a:solidFill>
                <a:latin typeface="Times New Roman"/>
                <a:ea typeface="Times New Roman"/>
                <a:cs typeface="Times New Roman"/>
                <a:sym typeface="Times New Roman"/>
              </a:rPr>
              <a:t> 1350.</a:t>
            </a:r>
            <a:endParaRPr sz="2400" dirty="0">
              <a:solidFill>
                <a:srgbClr val="000000"/>
              </a:solidFill>
              <a:latin typeface="Times New Roman"/>
              <a:ea typeface="Times New Roman"/>
              <a:cs typeface="Times New Roman"/>
              <a:sym typeface="Times New Roman"/>
            </a:endParaRPr>
          </a:p>
          <a:p>
            <a:pPr marL="457200" indent="-317500">
              <a:spcBef>
                <a:spcPts val="1000"/>
              </a:spcBef>
            </a:pPr>
            <a:endParaRPr sz="2000" dirty="0">
              <a:solidFill>
                <a:srgbClr val="000000"/>
              </a:solidFill>
              <a:latin typeface="Times New Roman"/>
              <a:ea typeface="Times New Roman"/>
              <a:cs typeface="Times New Roman"/>
              <a:sym typeface="Times New Roman"/>
            </a:endParaRPr>
          </a:p>
        </p:txBody>
      </p:sp>
      <p:sp>
        <p:nvSpPr>
          <p:cNvPr id="116" name="Google Shape;116;p18"/>
          <p:cNvSpPr/>
          <p:nvPr/>
        </p:nvSpPr>
        <p:spPr>
          <a:xfrm>
            <a:off x="4812415" y="982024"/>
            <a:ext cx="2885726"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Effective Address</a:t>
            </a:r>
            <a:endParaRPr sz="2800" b="1" dirty="0">
              <a:solidFill>
                <a:srgbClr val="000000"/>
              </a:solidFill>
              <a:latin typeface="Times New Roman"/>
              <a:ea typeface="Times New Roman"/>
              <a:cs typeface="Times New Roman"/>
              <a:sym typeface="Times New Roman"/>
            </a:endParaRPr>
          </a:p>
        </p:txBody>
      </p:sp>
      <p:pic>
        <p:nvPicPr>
          <p:cNvPr id="117" name="Google Shape;117;p18"/>
          <p:cNvPicPr preferRelativeResize="0"/>
          <p:nvPr/>
        </p:nvPicPr>
        <p:blipFill rotWithShape="1">
          <a:blip r:embed="rId3">
            <a:alphaModFix/>
          </a:blip>
          <a:srcRect/>
          <a:stretch/>
        </p:blipFill>
        <p:spPr>
          <a:xfrm>
            <a:off x="1413513" y="1488930"/>
            <a:ext cx="3956758" cy="486742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17</a:t>
            </a:fld>
            <a:endParaRPr/>
          </a:p>
        </p:txBody>
      </p:sp>
      <p:sp>
        <p:nvSpPr>
          <p:cNvPr id="123" name="Google Shape;123;p19"/>
          <p:cNvSpPr txBox="1"/>
          <p:nvPr/>
        </p:nvSpPr>
        <p:spPr>
          <a:xfrm>
            <a:off x="2041707" y="2644727"/>
            <a:ext cx="8047703" cy="2082019"/>
          </a:xfrm>
          <a:prstGeom prst="rect">
            <a:avLst/>
          </a:prstGeom>
          <a:noFill/>
          <a:ln>
            <a:noFill/>
          </a:ln>
        </p:spPr>
        <p:txBody>
          <a:bodyPr spcFirstLastPara="1" wrap="square" lIns="91425" tIns="33100" rIns="91425" bIns="45700" anchor="ctr" anchorCtr="0">
            <a:noAutofit/>
          </a:bodyPr>
          <a:lstStyle/>
          <a:p>
            <a:pPr algn="ctr">
              <a:lnSpc>
                <a:spcPct val="150000"/>
              </a:lnSpc>
            </a:pPr>
            <a:r>
              <a:rPr lang="en-US" sz="5400" b="1">
                <a:solidFill>
                  <a:srgbClr val="000000"/>
                </a:solidFill>
                <a:latin typeface="Times New Roman"/>
                <a:ea typeface="Times New Roman"/>
                <a:cs typeface="Times New Roman"/>
                <a:sym typeface="Times New Roman"/>
              </a:rPr>
              <a:t>Computer Registers</a:t>
            </a:r>
            <a:endParaRPr sz="5400" b="1">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18</a:t>
            </a:fld>
            <a:endParaRPr/>
          </a:p>
        </p:txBody>
      </p:sp>
      <p:sp>
        <p:nvSpPr>
          <p:cNvPr id="130" name="Google Shape;130;p20"/>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133" name="Google Shape;133;p20"/>
          <p:cNvSpPr/>
          <p:nvPr/>
        </p:nvSpPr>
        <p:spPr>
          <a:xfrm>
            <a:off x="3027597" y="1148949"/>
            <a:ext cx="6263416" cy="52318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Basic Computer Registers and Memory</a:t>
            </a:r>
            <a:endParaRPr sz="2800" b="1" dirty="0">
              <a:solidFill>
                <a:srgbClr val="000000"/>
              </a:solidFill>
              <a:latin typeface="Times New Roman"/>
              <a:ea typeface="Times New Roman"/>
              <a:cs typeface="Times New Roman"/>
              <a:sym typeface="Times New Roman"/>
            </a:endParaRPr>
          </a:p>
        </p:txBody>
      </p:sp>
      <p:pic>
        <p:nvPicPr>
          <p:cNvPr id="1026" name="Picture 2"/>
          <p:cNvPicPr>
            <a:picLocks noChangeAspect="1" noChangeArrowheads="1"/>
          </p:cNvPicPr>
          <p:nvPr/>
        </p:nvPicPr>
        <p:blipFill>
          <a:blip r:embed="rId3"/>
          <a:srcRect/>
          <a:stretch>
            <a:fillRect/>
          </a:stretch>
        </p:blipFill>
        <p:spPr bwMode="auto">
          <a:xfrm>
            <a:off x="1976142" y="1795313"/>
            <a:ext cx="8366325" cy="41593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19</a:t>
            </a:fld>
            <a:endParaRPr/>
          </a:p>
        </p:txBody>
      </p:sp>
      <p:sp>
        <p:nvSpPr>
          <p:cNvPr id="132" name="Google Shape;132;p20"/>
          <p:cNvSpPr/>
          <p:nvPr/>
        </p:nvSpPr>
        <p:spPr>
          <a:xfrm>
            <a:off x="1629211" y="1703798"/>
            <a:ext cx="10039048" cy="4180591"/>
          </a:xfrm>
          <a:prstGeom prst="rect">
            <a:avLst/>
          </a:prstGeom>
          <a:noFill/>
          <a:ln>
            <a:noFill/>
          </a:ln>
        </p:spPr>
        <p:txBody>
          <a:bodyPr spcFirstLastPara="1" wrap="square" lIns="91425" tIns="45700" rIns="91425" bIns="45700" anchor="t" anchorCtr="0">
            <a:spAutoFit/>
          </a:bodyPr>
          <a:lstStyle/>
          <a:p>
            <a:pPr marL="457200" algn="just"/>
            <a:r>
              <a:rPr lang="en-US" b="1" dirty="0">
                <a:solidFill>
                  <a:srgbClr val="000000"/>
                </a:solidFill>
                <a:latin typeface="Times New Roman"/>
                <a:ea typeface="Times New Roman"/>
                <a:cs typeface="Times New Roman"/>
                <a:sym typeface="Times New Roman"/>
              </a:rPr>
              <a:t>Need of Registers?</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Computer instructions are normally stored in consecutive memory locations and are executed sequentially one at a time.</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The control reads an instruction from a specific address in memory and executes it. It then continues by reading the next instruction in sequence and executes it, and so on.</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This type of instruction sequencing needs a </a:t>
            </a:r>
            <a:r>
              <a:rPr lang="en-US" b="1" dirty="0">
                <a:solidFill>
                  <a:srgbClr val="000000"/>
                </a:solidFill>
                <a:latin typeface="Times New Roman"/>
                <a:ea typeface="Times New Roman"/>
                <a:cs typeface="Times New Roman"/>
                <a:sym typeface="Times New Roman"/>
              </a:rPr>
              <a:t>counter</a:t>
            </a:r>
            <a:r>
              <a:rPr lang="en-US" dirty="0">
                <a:solidFill>
                  <a:srgbClr val="000000"/>
                </a:solidFill>
                <a:latin typeface="Times New Roman"/>
                <a:ea typeface="Times New Roman"/>
                <a:cs typeface="Times New Roman"/>
                <a:sym typeface="Times New Roman"/>
              </a:rPr>
              <a:t> to calculate the address of the next instruction after execution of the current instruction is completed.</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It is also necessary to </a:t>
            </a:r>
            <a:r>
              <a:rPr lang="en-US" sz="1600" dirty="0">
                <a:solidFill>
                  <a:srgbClr val="000000"/>
                </a:solidFill>
                <a:latin typeface="Times New Roman"/>
                <a:ea typeface="Times New Roman"/>
                <a:cs typeface="Times New Roman"/>
                <a:sym typeface="Times New Roman"/>
              </a:rPr>
              <a:t>provide</a:t>
            </a:r>
            <a:r>
              <a:rPr lang="en-US" dirty="0">
                <a:solidFill>
                  <a:srgbClr val="000000"/>
                </a:solidFill>
                <a:latin typeface="Times New Roman"/>
                <a:ea typeface="Times New Roman"/>
                <a:cs typeface="Times New Roman"/>
                <a:sym typeface="Times New Roman"/>
              </a:rPr>
              <a:t> a register in the control unit for storing the </a:t>
            </a:r>
            <a:r>
              <a:rPr lang="en-US" b="1" dirty="0">
                <a:solidFill>
                  <a:srgbClr val="000000"/>
                </a:solidFill>
                <a:latin typeface="Times New Roman"/>
                <a:ea typeface="Times New Roman"/>
                <a:cs typeface="Times New Roman"/>
                <a:sym typeface="Times New Roman"/>
              </a:rPr>
              <a:t>instruction code</a:t>
            </a:r>
            <a:r>
              <a:rPr lang="en-US" dirty="0">
                <a:solidFill>
                  <a:srgbClr val="000000"/>
                </a:solidFill>
                <a:latin typeface="Times New Roman"/>
                <a:ea typeface="Times New Roman"/>
                <a:cs typeface="Times New Roman"/>
                <a:sym typeface="Times New Roman"/>
              </a:rPr>
              <a:t> after it is read from memory.</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The computer needs </a:t>
            </a:r>
            <a:r>
              <a:rPr lang="en-US" b="1" dirty="0">
                <a:solidFill>
                  <a:srgbClr val="000000"/>
                </a:solidFill>
                <a:latin typeface="Times New Roman"/>
                <a:ea typeface="Times New Roman"/>
                <a:cs typeface="Times New Roman"/>
                <a:sym typeface="Times New Roman"/>
              </a:rPr>
              <a:t>processor registers</a:t>
            </a:r>
            <a:r>
              <a:rPr lang="en-US" dirty="0">
                <a:solidFill>
                  <a:srgbClr val="000000"/>
                </a:solidFill>
                <a:latin typeface="Times New Roman"/>
                <a:ea typeface="Times New Roman"/>
                <a:cs typeface="Times New Roman"/>
                <a:sym typeface="Times New Roman"/>
              </a:rPr>
              <a:t> for manipulating data and a register for holding a memory </a:t>
            </a:r>
            <a:r>
              <a:rPr lang="en-US" b="1" dirty="0">
                <a:solidFill>
                  <a:srgbClr val="000000"/>
                </a:solidFill>
                <a:latin typeface="Times New Roman"/>
                <a:ea typeface="Times New Roman"/>
                <a:cs typeface="Times New Roman"/>
                <a:sym typeface="Times New Roman"/>
              </a:rPr>
              <a:t>address</a:t>
            </a:r>
            <a:r>
              <a:rPr lang="en-US" dirty="0">
                <a:solidFill>
                  <a:srgbClr val="000000"/>
                </a:solidFill>
                <a:latin typeface="Times New Roman"/>
                <a:ea typeface="Times New Roman"/>
                <a:cs typeface="Times New Roman"/>
                <a:sym typeface="Times New Roman"/>
              </a:rPr>
              <a:t>.</a:t>
            </a:r>
            <a:endParaRPr dirty="0"/>
          </a:p>
          <a:p>
            <a:pPr marL="457200" indent="-228600" algn="just">
              <a:buClr>
                <a:schemeClr val="accent5"/>
              </a:buClr>
              <a:buSzPts val="1400"/>
            </a:pPr>
            <a:endParaRPr sz="1600" dirty="0">
              <a:solidFill>
                <a:srgbClr val="000000"/>
              </a:solidFill>
              <a:latin typeface="Times New Roman"/>
              <a:ea typeface="Times New Roman"/>
              <a:cs typeface="Times New Roman"/>
              <a:sym typeface="Times New Roman"/>
            </a:endParaRPr>
          </a:p>
        </p:txBody>
      </p:sp>
      <p:sp>
        <p:nvSpPr>
          <p:cNvPr id="133" name="Google Shape;133;p20"/>
          <p:cNvSpPr/>
          <p:nvPr/>
        </p:nvSpPr>
        <p:spPr>
          <a:xfrm>
            <a:off x="4811562" y="1025765"/>
            <a:ext cx="3265638"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Computer Registers</a:t>
            </a:r>
            <a:endParaRPr sz="28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20</a:t>
            </a:fld>
            <a:endParaRPr/>
          </a:p>
        </p:txBody>
      </p:sp>
      <p:sp>
        <p:nvSpPr>
          <p:cNvPr id="139" name="Google Shape;139;p21"/>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141" name="Google Shape;141;p21"/>
          <p:cNvSpPr/>
          <p:nvPr/>
        </p:nvSpPr>
        <p:spPr>
          <a:xfrm>
            <a:off x="2311791" y="2011369"/>
            <a:ext cx="7835704" cy="338554"/>
          </a:xfrm>
          <a:prstGeom prst="rect">
            <a:avLst/>
          </a:prstGeom>
          <a:noFill/>
          <a:ln>
            <a:noFill/>
          </a:ln>
        </p:spPr>
        <p:txBody>
          <a:bodyPr spcFirstLastPara="1" wrap="square" lIns="91425" tIns="45700" rIns="91425" bIns="45700" anchor="t" anchorCtr="0">
            <a:spAutoFit/>
          </a:bodyPr>
          <a:lstStyle/>
          <a:p>
            <a:pPr marL="457200" indent="-317500"/>
            <a:endParaRPr sz="1600">
              <a:solidFill>
                <a:srgbClr val="000000"/>
              </a:solidFill>
              <a:latin typeface="Times New Roman"/>
              <a:ea typeface="Times New Roman"/>
              <a:cs typeface="Times New Roman"/>
              <a:sym typeface="Times New Roman"/>
            </a:endParaRPr>
          </a:p>
        </p:txBody>
      </p:sp>
      <p:sp>
        <p:nvSpPr>
          <p:cNvPr id="142" name="Google Shape;142;p21"/>
          <p:cNvSpPr/>
          <p:nvPr/>
        </p:nvSpPr>
        <p:spPr>
          <a:xfrm>
            <a:off x="3574458" y="1025765"/>
            <a:ext cx="5796780"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List of Registers for Basic Computer</a:t>
            </a:r>
            <a:endParaRPr sz="2800" b="1" dirty="0">
              <a:solidFill>
                <a:srgbClr val="000000"/>
              </a:solidFill>
              <a:latin typeface="Times New Roman"/>
              <a:ea typeface="Times New Roman"/>
              <a:cs typeface="Times New Roman"/>
              <a:sym typeface="Times New Roman"/>
            </a:endParaRPr>
          </a:p>
        </p:txBody>
      </p:sp>
      <p:pic>
        <p:nvPicPr>
          <p:cNvPr id="143" name="Google Shape;143;p21"/>
          <p:cNvPicPr preferRelativeResize="0"/>
          <p:nvPr/>
        </p:nvPicPr>
        <p:blipFill rotWithShape="1">
          <a:blip r:embed="rId3">
            <a:alphaModFix/>
          </a:blip>
          <a:srcRect/>
          <a:stretch/>
        </p:blipFill>
        <p:spPr>
          <a:xfrm>
            <a:off x="2788278" y="1847792"/>
            <a:ext cx="7230794" cy="430141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7"/>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21</a:t>
            </a:fld>
            <a:endParaRPr/>
          </a:p>
        </p:txBody>
      </p:sp>
      <p:sp>
        <p:nvSpPr>
          <p:cNvPr id="198" name="Google Shape;198;p27"/>
          <p:cNvSpPr txBox="1"/>
          <p:nvPr/>
        </p:nvSpPr>
        <p:spPr>
          <a:xfrm>
            <a:off x="2041707" y="2644727"/>
            <a:ext cx="8047703" cy="2082019"/>
          </a:xfrm>
          <a:prstGeom prst="rect">
            <a:avLst/>
          </a:prstGeom>
          <a:noFill/>
          <a:ln>
            <a:noFill/>
          </a:ln>
        </p:spPr>
        <p:txBody>
          <a:bodyPr spcFirstLastPara="1" wrap="square" lIns="91425" tIns="33100" rIns="91425" bIns="45700" anchor="ctr" anchorCtr="0">
            <a:noAutofit/>
          </a:bodyPr>
          <a:lstStyle/>
          <a:p>
            <a:pPr algn="ctr">
              <a:lnSpc>
                <a:spcPct val="150000"/>
              </a:lnSpc>
            </a:pPr>
            <a:r>
              <a:rPr lang="en-US" sz="5400" b="1">
                <a:solidFill>
                  <a:srgbClr val="000000"/>
                </a:solidFill>
                <a:latin typeface="Times New Roman"/>
                <a:ea typeface="Times New Roman"/>
                <a:cs typeface="Times New Roman"/>
                <a:sym typeface="Times New Roman"/>
              </a:rPr>
              <a:t>Computer Instructions</a:t>
            </a:r>
            <a:endParaRPr sz="5400" b="1">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22</a:t>
            </a:fld>
            <a:endParaRPr/>
          </a:p>
        </p:txBody>
      </p:sp>
      <p:sp>
        <p:nvSpPr>
          <p:cNvPr id="207" name="Google Shape;207;p28"/>
          <p:cNvSpPr/>
          <p:nvPr/>
        </p:nvSpPr>
        <p:spPr>
          <a:xfrm>
            <a:off x="1790163" y="2011369"/>
            <a:ext cx="9105364" cy="2682745"/>
          </a:xfrm>
          <a:prstGeom prst="rect">
            <a:avLst/>
          </a:prstGeom>
          <a:noFill/>
          <a:ln>
            <a:noFill/>
          </a:ln>
        </p:spPr>
        <p:txBody>
          <a:bodyPr spcFirstLastPara="1" wrap="square" lIns="91425" tIns="45700" rIns="91425" bIns="45700" anchor="t" anchorCtr="0">
            <a:spAutoFit/>
          </a:bodyPr>
          <a:lstStyle/>
          <a:p>
            <a:pPr marL="457200" indent="-317500" algn="just">
              <a:buClr>
                <a:srgbClr val="000000"/>
              </a:buClr>
              <a:buSzPts val="1400"/>
              <a:buFont typeface="Noto Sans Symbols"/>
              <a:buChar char="▪"/>
            </a:pPr>
            <a:r>
              <a:rPr lang="en-US" sz="2000" dirty="0">
                <a:solidFill>
                  <a:srgbClr val="434343"/>
                </a:solidFill>
                <a:latin typeface="Times New Roman"/>
                <a:ea typeface="Times New Roman"/>
                <a:cs typeface="Times New Roman"/>
                <a:sym typeface="Times New Roman"/>
              </a:rPr>
              <a:t>The basic computer has three instruction code formats each having 16 bits:</a:t>
            </a:r>
            <a:endParaRPr sz="2000" dirty="0"/>
          </a:p>
          <a:p>
            <a:pPr marL="457200" indent="-317500" algn="just">
              <a:spcBef>
                <a:spcPts val="1000"/>
              </a:spcBef>
            </a:pPr>
            <a:endParaRPr sz="2000" dirty="0">
              <a:solidFill>
                <a:srgbClr val="434343"/>
              </a:solidFill>
              <a:latin typeface="Times New Roman"/>
              <a:ea typeface="Times New Roman"/>
              <a:cs typeface="Times New Roman"/>
              <a:sym typeface="Times New Roman"/>
            </a:endParaRPr>
          </a:p>
          <a:p>
            <a:pPr marL="914400" lvl="1" indent="-317500" algn="just">
              <a:buClr>
                <a:srgbClr val="000000"/>
              </a:buClr>
              <a:buSzPts val="1400"/>
              <a:buFont typeface="Arial"/>
              <a:buChar char="○"/>
            </a:pPr>
            <a:r>
              <a:rPr lang="en-US" sz="2000" dirty="0">
                <a:solidFill>
                  <a:srgbClr val="434343"/>
                </a:solidFill>
                <a:latin typeface="Times New Roman"/>
                <a:ea typeface="Times New Roman"/>
                <a:cs typeface="Times New Roman"/>
                <a:sym typeface="Times New Roman"/>
              </a:rPr>
              <a:t>Memory reference instructions</a:t>
            </a:r>
            <a:endParaRPr sz="2000" dirty="0"/>
          </a:p>
          <a:p>
            <a:pPr marL="914400" lvl="1" indent="-317500" algn="just">
              <a:buClr>
                <a:srgbClr val="000000"/>
              </a:buClr>
              <a:buSzPts val="1400"/>
              <a:buFont typeface="Arial"/>
              <a:buChar char="○"/>
            </a:pPr>
            <a:r>
              <a:rPr lang="en-US" sz="2000" dirty="0">
                <a:solidFill>
                  <a:srgbClr val="434343"/>
                </a:solidFill>
                <a:latin typeface="Times New Roman"/>
                <a:ea typeface="Times New Roman"/>
                <a:cs typeface="Times New Roman"/>
                <a:sym typeface="Times New Roman"/>
              </a:rPr>
              <a:t>Register reference instructions</a:t>
            </a:r>
            <a:endParaRPr sz="2000" dirty="0"/>
          </a:p>
          <a:p>
            <a:pPr marL="914400" lvl="1" indent="-317500" algn="just">
              <a:buClr>
                <a:srgbClr val="000000"/>
              </a:buClr>
              <a:buSzPts val="1400"/>
              <a:buFont typeface="Arial"/>
              <a:buChar char="○"/>
            </a:pPr>
            <a:r>
              <a:rPr lang="en-US" sz="2000" dirty="0">
                <a:solidFill>
                  <a:srgbClr val="434343"/>
                </a:solidFill>
                <a:latin typeface="Times New Roman"/>
                <a:ea typeface="Times New Roman"/>
                <a:cs typeface="Times New Roman"/>
                <a:sym typeface="Times New Roman"/>
              </a:rPr>
              <a:t>I/O instructions</a:t>
            </a:r>
            <a:endParaRPr sz="2000" dirty="0"/>
          </a:p>
          <a:p>
            <a:pPr marL="914400" lvl="1" indent="-317500" algn="just"/>
            <a:endParaRPr sz="2000" dirty="0">
              <a:solidFill>
                <a:srgbClr val="434343"/>
              </a:solidFill>
              <a:latin typeface="Times New Roman"/>
              <a:ea typeface="Times New Roman"/>
              <a:cs typeface="Times New Roman"/>
              <a:sym typeface="Times New Roman"/>
            </a:endParaRPr>
          </a:p>
          <a:p>
            <a:pPr marL="457200" indent="-317500" algn="just">
              <a:buClr>
                <a:srgbClr val="000000"/>
              </a:buClr>
              <a:buSzPts val="1400"/>
              <a:buFont typeface="Noto Sans Symbols"/>
              <a:buChar char="▪"/>
            </a:pPr>
            <a:r>
              <a:rPr lang="en-US" sz="2000" dirty="0">
                <a:solidFill>
                  <a:srgbClr val="434343"/>
                </a:solidFill>
                <a:latin typeface="Times New Roman"/>
                <a:ea typeface="Times New Roman"/>
                <a:cs typeface="Times New Roman"/>
                <a:sym typeface="Times New Roman"/>
              </a:rPr>
              <a:t> The opcode part of the instruction contains three bits and the meaning of the remaining 13 bits depends on the operation code encountered.</a:t>
            </a:r>
            <a:endParaRPr sz="2000" dirty="0">
              <a:solidFill>
                <a:srgbClr val="434343"/>
              </a:solidFill>
              <a:latin typeface="Times New Roman"/>
              <a:ea typeface="Times New Roman"/>
              <a:cs typeface="Times New Roman"/>
              <a:sym typeface="Times New Roman"/>
            </a:endParaRPr>
          </a:p>
        </p:txBody>
      </p:sp>
      <p:sp>
        <p:nvSpPr>
          <p:cNvPr id="208" name="Google Shape;208;p28"/>
          <p:cNvSpPr/>
          <p:nvPr/>
        </p:nvSpPr>
        <p:spPr>
          <a:xfrm>
            <a:off x="4786658" y="1207162"/>
            <a:ext cx="3148619" cy="523220"/>
          </a:xfrm>
          <a:prstGeom prst="rect">
            <a:avLst/>
          </a:prstGeom>
          <a:noFill/>
          <a:ln>
            <a:noFill/>
          </a:ln>
        </p:spPr>
        <p:txBody>
          <a:bodyPr spcFirstLastPara="1" wrap="square" lIns="91425" tIns="45700" rIns="91425" bIns="45700" anchor="t" anchorCtr="0">
            <a:spAutoFit/>
          </a:bodyPr>
          <a:lstStyle/>
          <a:p>
            <a:pPr algn="ctr"/>
            <a:r>
              <a:rPr lang="en-US" sz="2800" b="1">
                <a:solidFill>
                  <a:srgbClr val="000000"/>
                </a:solidFill>
                <a:latin typeface="Times New Roman"/>
                <a:ea typeface="Times New Roman"/>
                <a:cs typeface="Times New Roman"/>
                <a:sym typeface="Times New Roman"/>
              </a:rPr>
              <a:t>Instruction Format</a:t>
            </a:r>
            <a:endParaRPr sz="2800" b="1">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9"/>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23</a:t>
            </a:fld>
            <a:endParaRPr/>
          </a:p>
        </p:txBody>
      </p:sp>
      <p:sp>
        <p:nvSpPr>
          <p:cNvPr id="214" name="Google Shape;214;p29"/>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216" name="Google Shape;216;p29"/>
          <p:cNvSpPr/>
          <p:nvPr/>
        </p:nvSpPr>
        <p:spPr>
          <a:xfrm>
            <a:off x="2311791" y="2011370"/>
            <a:ext cx="7835704" cy="1980029"/>
          </a:xfrm>
          <a:prstGeom prst="rect">
            <a:avLst/>
          </a:prstGeom>
          <a:noFill/>
          <a:ln>
            <a:noFill/>
          </a:ln>
        </p:spPr>
        <p:txBody>
          <a:bodyPr spcFirstLastPara="1" wrap="square" lIns="91425" tIns="45700" rIns="91425" bIns="45700" anchor="t" anchorCtr="0">
            <a:spAutoFit/>
          </a:bodyPr>
          <a:lstStyle/>
          <a:p>
            <a:pPr marL="457200" indent="-317500">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Bits 0-11 for specifying address.</a:t>
            </a:r>
            <a:endParaRPr dirty="0"/>
          </a:p>
          <a:p>
            <a:pPr marL="457200" indent="-317500">
              <a:spcBef>
                <a:spcPts val="1000"/>
              </a:spcBef>
            </a:pPr>
            <a:endParaRPr dirty="0">
              <a:solidFill>
                <a:srgbClr val="434343"/>
              </a:solidFill>
              <a:latin typeface="Times New Roman"/>
              <a:ea typeface="Times New Roman"/>
              <a:cs typeface="Times New Roman"/>
              <a:sym typeface="Times New Roman"/>
            </a:endParaRPr>
          </a:p>
          <a:p>
            <a:pPr marL="457200" indent="-317500">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Bits 12-14 for Opcode.</a:t>
            </a:r>
            <a:endParaRPr dirty="0"/>
          </a:p>
          <a:p>
            <a:pPr marL="457200" indent="-317500"/>
            <a:endParaRPr dirty="0">
              <a:solidFill>
                <a:srgbClr val="434343"/>
              </a:solidFill>
              <a:latin typeface="Times New Roman"/>
              <a:ea typeface="Times New Roman"/>
              <a:cs typeface="Times New Roman"/>
              <a:sym typeface="Times New Roman"/>
            </a:endParaRPr>
          </a:p>
          <a:p>
            <a:pPr marL="457200" indent="-317500">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15th bit specifies addressing modes. (0 for direct and 1 for indirect)</a:t>
            </a:r>
            <a:endParaRPr dirty="0"/>
          </a:p>
          <a:p>
            <a:pPr marL="457200" indent="-317500">
              <a:spcBef>
                <a:spcPts val="1000"/>
              </a:spcBef>
            </a:pPr>
            <a:endParaRPr sz="1600" dirty="0">
              <a:solidFill>
                <a:srgbClr val="000000"/>
              </a:solidFill>
              <a:latin typeface="Times New Roman"/>
              <a:ea typeface="Times New Roman"/>
              <a:cs typeface="Times New Roman"/>
              <a:sym typeface="Times New Roman"/>
            </a:endParaRPr>
          </a:p>
        </p:txBody>
      </p:sp>
      <p:sp>
        <p:nvSpPr>
          <p:cNvPr id="217" name="Google Shape;217;p29"/>
          <p:cNvSpPr/>
          <p:nvPr/>
        </p:nvSpPr>
        <p:spPr>
          <a:xfrm>
            <a:off x="3450228" y="1164959"/>
            <a:ext cx="5067413"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Memory Reference Instructions</a:t>
            </a:r>
            <a:endParaRPr sz="2800" b="1" dirty="0">
              <a:solidFill>
                <a:srgbClr val="000000"/>
              </a:solidFill>
              <a:latin typeface="Times New Roman"/>
              <a:ea typeface="Times New Roman"/>
              <a:cs typeface="Times New Roman"/>
              <a:sym typeface="Times New Roman"/>
            </a:endParaRPr>
          </a:p>
        </p:txBody>
      </p:sp>
      <p:pic>
        <p:nvPicPr>
          <p:cNvPr id="218" name="Google Shape;218;p29"/>
          <p:cNvPicPr preferRelativeResize="0"/>
          <p:nvPr/>
        </p:nvPicPr>
        <p:blipFill rotWithShape="1">
          <a:blip r:embed="rId3">
            <a:alphaModFix/>
          </a:blip>
          <a:srcRect/>
          <a:stretch/>
        </p:blipFill>
        <p:spPr>
          <a:xfrm>
            <a:off x="3010363" y="4314590"/>
            <a:ext cx="5969714" cy="105227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0"/>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24</a:t>
            </a:fld>
            <a:endParaRPr/>
          </a:p>
        </p:txBody>
      </p:sp>
      <p:sp>
        <p:nvSpPr>
          <p:cNvPr id="225" name="Google Shape;225;p30"/>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227" name="Google Shape;227;p30"/>
          <p:cNvSpPr/>
          <p:nvPr/>
        </p:nvSpPr>
        <p:spPr>
          <a:xfrm>
            <a:off x="2311791" y="2011369"/>
            <a:ext cx="7835704" cy="2236510"/>
          </a:xfrm>
          <a:prstGeom prst="rect">
            <a:avLst/>
          </a:prstGeom>
          <a:noFill/>
          <a:ln>
            <a:noFill/>
          </a:ln>
        </p:spPr>
        <p:txBody>
          <a:bodyPr spcFirstLastPara="1" wrap="square" lIns="91425" tIns="45700" rIns="91425" bIns="45700" anchor="t" anchorCtr="0">
            <a:spAutoFit/>
          </a:bodyPr>
          <a:lstStyle/>
          <a:p>
            <a:pPr marL="457200" indent="-317500">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Recognized by the operation code 111 with a 0 in the 15th bit of the instruction. </a:t>
            </a:r>
            <a:endParaRPr dirty="0"/>
          </a:p>
          <a:p>
            <a:pPr marL="457200" indent="-317500">
              <a:spcBef>
                <a:spcPts val="1000"/>
              </a:spcBef>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Specifies an operation on or a test of the AC register.</a:t>
            </a:r>
            <a:endParaRPr dirty="0"/>
          </a:p>
          <a:p>
            <a:pPr marL="457200" indent="-317500">
              <a:spcBef>
                <a:spcPts val="1000"/>
              </a:spcBef>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An operand from memory is not needed.</a:t>
            </a:r>
            <a:endParaRPr dirty="0"/>
          </a:p>
          <a:p>
            <a:pPr marL="457200" indent="-317500">
              <a:spcBef>
                <a:spcPts val="1000"/>
              </a:spcBef>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Therefore the 12 bits are used to specify the operation to be executed. </a:t>
            </a:r>
            <a:endParaRPr dirty="0"/>
          </a:p>
          <a:p>
            <a:pPr marL="457200" indent="-317500">
              <a:spcBef>
                <a:spcPts val="1000"/>
              </a:spcBef>
            </a:pPr>
            <a:endParaRPr sz="1600" dirty="0">
              <a:solidFill>
                <a:srgbClr val="000000"/>
              </a:solidFill>
              <a:latin typeface="Times New Roman"/>
              <a:ea typeface="Times New Roman"/>
              <a:cs typeface="Times New Roman"/>
              <a:sym typeface="Times New Roman"/>
            </a:endParaRPr>
          </a:p>
        </p:txBody>
      </p:sp>
      <p:sp>
        <p:nvSpPr>
          <p:cNvPr id="228" name="Google Shape;228;p30"/>
          <p:cNvSpPr/>
          <p:nvPr/>
        </p:nvSpPr>
        <p:spPr>
          <a:xfrm>
            <a:off x="3830054" y="1207162"/>
            <a:ext cx="5027338"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Register Reference Instructions</a:t>
            </a:r>
            <a:endParaRPr sz="2800" b="1" dirty="0">
              <a:solidFill>
                <a:srgbClr val="000000"/>
              </a:solidFill>
              <a:latin typeface="Times New Roman"/>
              <a:ea typeface="Times New Roman"/>
              <a:cs typeface="Times New Roman"/>
              <a:sym typeface="Times New Roman"/>
            </a:endParaRPr>
          </a:p>
        </p:txBody>
      </p:sp>
      <p:pic>
        <p:nvPicPr>
          <p:cNvPr id="229" name="Google Shape;229;p30"/>
          <p:cNvPicPr preferRelativeResize="0"/>
          <p:nvPr/>
        </p:nvPicPr>
        <p:blipFill rotWithShape="1">
          <a:blip r:embed="rId3">
            <a:alphaModFix/>
          </a:blip>
          <a:srcRect/>
          <a:stretch/>
        </p:blipFill>
        <p:spPr>
          <a:xfrm>
            <a:off x="2846102" y="4140559"/>
            <a:ext cx="6204113" cy="811268"/>
          </a:xfrm>
          <a:prstGeom prst="rect">
            <a:avLst/>
          </a:prstGeom>
          <a:noFill/>
          <a:ln>
            <a:noFill/>
          </a:ln>
        </p:spPr>
      </p:pic>
      <p:sp>
        <p:nvSpPr>
          <p:cNvPr id="230" name="Google Shape;230;p30"/>
          <p:cNvSpPr/>
          <p:nvPr/>
        </p:nvSpPr>
        <p:spPr>
          <a:xfrm>
            <a:off x="2712721" y="5240161"/>
            <a:ext cx="4572000" cy="923330"/>
          </a:xfrm>
          <a:prstGeom prst="rect">
            <a:avLst/>
          </a:prstGeom>
          <a:noFill/>
          <a:ln>
            <a:noFill/>
          </a:ln>
        </p:spPr>
        <p:txBody>
          <a:bodyPr spcFirstLastPara="1" wrap="square" lIns="91425" tIns="45700" rIns="91425" bIns="45700" anchor="t" anchorCtr="0">
            <a:spAutoFit/>
          </a:bodyPr>
          <a:lstStyle/>
          <a:p>
            <a:pPr marL="457200" indent="-317500"/>
            <a:r>
              <a:rPr lang="en-US">
                <a:solidFill>
                  <a:srgbClr val="434343"/>
                </a:solidFill>
                <a:latin typeface="Times New Roman"/>
                <a:ea typeface="Times New Roman"/>
                <a:cs typeface="Times New Roman"/>
                <a:sym typeface="Times New Roman"/>
              </a:rPr>
              <a:t>Eg:</a:t>
            </a:r>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CLA - 7800 : Clear AC</a:t>
            </a:r>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CLE - 7400 : Clear E</a:t>
            </a:r>
            <a:endParaRPr>
              <a:solidFill>
                <a:srgbClr val="434343"/>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1"/>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25</a:t>
            </a:fld>
            <a:endParaRPr/>
          </a:p>
        </p:txBody>
      </p:sp>
      <p:sp>
        <p:nvSpPr>
          <p:cNvPr id="236" name="Google Shape;236;p31"/>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238" name="Google Shape;238;p31"/>
          <p:cNvSpPr/>
          <p:nvPr/>
        </p:nvSpPr>
        <p:spPr>
          <a:xfrm>
            <a:off x="2311791" y="2011370"/>
            <a:ext cx="7835704" cy="1831271"/>
          </a:xfrm>
          <a:prstGeom prst="rect">
            <a:avLst/>
          </a:prstGeom>
          <a:noFill/>
          <a:ln>
            <a:noFill/>
          </a:ln>
        </p:spPr>
        <p:txBody>
          <a:bodyPr spcFirstLastPara="1" wrap="square" lIns="91425" tIns="45700" rIns="91425" bIns="45700" anchor="t" anchorCtr="0">
            <a:spAutoFit/>
          </a:bodyPr>
          <a:lstStyle/>
          <a:p>
            <a:pPr marL="457200" indent="-317500">
              <a:buClr>
                <a:srgbClr val="000000"/>
              </a:buClr>
              <a:buSzPts val="1400"/>
              <a:buFont typeface="Noto Sans Symbols"/>
              <a:buChar char="▪"/>
            </a:pPr>
            <a:r>
              <a:rPr lang="en-US">
                <a:solidFill>
                  <a:srgbClr val="434343"/>
                </a:solidFill>
                <a:latin typeface="Times New Roman"/>
                <a:ea typeface="Times New Roman"/>
                <a:cs typeface="Times New Roman"/>
                <a:sym typeface="Times New Roman"/>
              </a:rPr>
              <a:t>These instructions are needed for transferring information to and from AC register.</a:t>
            </a:r>
            <a:endParaRPr/>
          </a:p>
          <a:p>
            <a:pPr marL="457200" indent="-317500">
              <a:spcBef>
                <a:spcPts val="1000"/>
              </a:spcBef>
              <a:buClr>
                <a:srgbClr val="000000"/>
              </a:buClr>
              <a:buSzPts val="1400"/>
              <a:buFont typeface="Noto Sans Symbols"/>
              <a:buChar char="▪"/>
            </a:pPr>
            <a:r>
              <a:rPr lang="en-US">
                <a:solidFill>
                  <a:srgbClr val="434343"/>
                </a:solidFill>
                <a:latin typeface="Times New Roman"/>
                <a:ea typeface="Times New Roman"/>
                <a:cs typeface="Times New Roman"/>
                <a:sym typeface="Times New Roman"/>
              </a:rPr>
              <a:t>Recognized by the opcode 111 and a 1 in the 15th bit.</a:t>
            </a:r>
            <a:endParaRPr/>
          </a:p>
          <a:p>
            <a:pPr marL="457200" indent="-317500">
              <a:spcBef>
                <a:spcPts val="1000"/>
              </a:spcBef>
              <a:buClr>
                <a:srgbClr val="000000"/>
              </a:buClr>
              <a:buSzPts val="1400"/>
              <a:buFont typeface="Noto Sans Symbols"/>
              <a:buChar char="▪"/>
            </a:pPr>
            <a:r>
              <a:rPr lang="en-US">
                <a:solidFill>
                  <a:srgbClr val="434343"/>
                </a:solidFill>
                <a:latin typeface="Times New Roman"/>
                <a:ea typeface="Times New Roman"/>
                <a:cs typeface="Times New Roman"/>
                <a:sym typeface="Times New Roman"/>
              </a:rPr>
              <a:t>Bits 0-11 specify the type of I/O Operation performed.</a:t>
            </a:r>
            <a:endParaRPr/>
          </a:p>
          <a:p>
            <a:pPr marL="457200" indent="-317500">
              <a:spcBef>
                <a:spcPts val="1000"/>
              </a:spcBef>
            </a:pPr>
            <a:endParaRPr sz="1600">
              <a:solidFill>
                <a:srgbClr val="000000"/>
              </a:solidFill>
              <a:latin typeface="Times New Roman"/>
              <a:ea typeface="Times New Roman"/>
              <a:cs typeface="Times New Roman"/>
              <a:sym typeface="Times New Roman"/>
            </a:endParaRPr>
          </a:p>
        </p:txBody>
      </p:sp>
      <p:sp>
        <p:nvSpPr>
          <p:cNvPr id="239" name="Google Shape;239;p31"/>
          <p:cNvSpPr/>
          <p:nvPr/>
        </p:nvSpPr>
        <p:spPr>
          <a:xfrm>
            <a:off x="3801920" y="1193094"/>
            <a:ext cx="4232249" cy="523220"/>
          </a:xfrm>
          <a:prstGeom prst="rect">
            <a:avLst/>
          </a:prstGeom>
          <a:noFill/>
          <a:ln>
            <a:noFill/>
          </a:ln>
        </p:spPr>
        <p:txBody>
          <a:bodyPr spcFirstLastPara="1" wrap="square" lIns="91425" tIns="45700" rIns="91425" bIns="45700" anchor="t" anchorCtr="0">
            <a:spAutoFit/>
          </a:bodyPr>
          <a:lstStyle/>
          <a:p>
            <a:pPr algn="ctr"/>
            <a:r>
              <a:rPr lang="en-US" sz="2800" b="1">
                <a:solidFill>
                  <a:srgbClr val="000000"/>
                </a:solidFill>
                <a:latin typeface="Times New Roman"/>
                <a:ea typeface="Times New Roman"/>
                <a:cs typeface="Times New Roman"/>
                <a:sym typeface="Times New Roman"/>
              </a:rPr>
              <a:t>Input-Output Instructions</a:t>
            </a:r>
            <a:endParaRPr sz="2800" b="1">
              <a:solidFill>
                <a:srgbClr val="000000"/>
              </a:solidFill>
              <a:latin typeface="Times New Roman"/>
              <a:ea typeface="Times New Roman"/>
              <a:cs typeface="Times New Roman"/>
              <a:sym typeface="Times New Roman"/>
            </a:endParaRPr>
          </a:p>
        </p:txBody>
      </p:sp>
      <p:pic>
        <p:nvPicPr>
          <p:cNvPr id="240" name="Google Shape;240;p31"/>
          <p:cNvPicPr preferRelativeResize="0"/>
          <p:nvPr/>
        </p:nvPicPr>
        <p:blipFill rotWithShape="1">
          <a:blip r:embed="rId3">
            <a:alphaModFix/>
          </a:blip>
          <a:srcRect/>
          <a:stretch/>
        </p:blipFill>
        <p:spPr>
          <a:xfrm>
            <a:off x="2929524" y="3646297"/>
            <a:ext cx="6022218" cy="799094"/>
          </a:xfrm>
          <a:prstGeom prst="rect">
            <a:avLst/>
          </a:prstGeom>
          <a:noFill/>
          <a:ln>
            <a:noFill/>
          </a:ln>
        </p:spPr>
      </p:pic>
      <p:sp>
        <p:nvSpPr>
          <p:cNvPr id="241" name="Google Shape;241;p31"/>
          <p:cNvSpPr/>
          <p:nvPr/>
        </p:nvSpPr>
        <p:spPr>
          <a:xfrm>
            <a:off x="2529840" y="4804062"/>
            <a:ext cx="5648178" cy="923330"/>
          </a:xfrm>
          <a:prstGeom prst="rect">
            <a:avLst/>
          </a:prstGeom>
          <a:noFill/>
          <a:ln>
            <a:noFill/>
          </a:ln>
        </p:spPr>
        <p:txBody>
          <a:bodyPr spcFirstLastPara="1" wrap="square" lIns="91425" tIns="45700" rIns="91425" bIns="45700" anchor="t" anchorCtr="0">
            <a:spAutoFit/>
          </a:bodyPr>
          <a:lstStyle/>
          <a:p>
            <a:pPr marL="457200" indent="-317500"/>
            <a:r>
              <a:rPr lang="en-US">
                <a:solidFill>
                  <a:srgbClr val="434343"/>
                </a:solidFill>
                <a:latin typeface="Times New Roman"/>
                <a:ea typeface="Times New Roman"/>
                <a:cs typeface="Times New Roman"/>
                <a:sym typeface="Times New Roman"/>
              </a:rPr>
              <a:t>Eg:</a:t>
            </a:r>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INP - F800 : Input characters to AC</a:t>
            </a:r>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OUT - F400 : Output characters from AC</a:t>
            </a:r>
            <a:endParaRPr>
              <a:solidFill>
                <a:srgbClr val="434343"/>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2"/>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26</a:t>
            </a:fld>
            <a:endParaRPr/>
          </a:p>
        </p:txBody>
      </p:sp>
      <p:sp>
        <p:nvSpPr>
          <p:cNvPr id="247" name="Google Shape;247;p32"/>
          <p:cNvSpPr txBox="1"/>
          <p:nvPr/>
        </p:nvSpPr>
        <p:spPr>
          <a:xfrm>
            <a:off x="-477994" y="247575"/>
            <a:ext cx="8047703" cy="258950"/>
          </a:xfrm>
          <a:prstGeom prst="rect">
            <a:avLst/>
          </a:prstGeom>
          <a:noFill/>
          <a:ln>
            <a:noFill/>
          </a:ln>
        </p:spPr>
        <p:txBody>
          <a:bodyPr spcFirstLastPara="1" wrap="square" lIns="91425" tIns="33100" rIns="91425" bIns="45700" anchor="ctr" anchorCtr="0">
            <a:noAutofit/>
          </a:bodyPr>
          <a:lstStyle/>
          <a:p>
            <a:pPr algn="ctr"/>
            <a:r>
              <a:rPr lang="en-US" sz="2800" b="1" dirty="0">
                <a:solidFill>
                  <a:srgbClr val="000000"/>
                </a:solidFill>
                <a:latin typeface="Times New Roman"/>
                <a:ea typeface="Times New Roman"/>
                <a:cs typeface="Times New Roman"/>
                <a:sym typeface="Times New Roman"/>
              </a:rPr>
              <a:t>Basic Computer Instructions</a:t>
            </a:r>
            <a:endParaRPr sz="2800" b="1" dirty="0">
              <a:solidFill>
                <a:srgbClr val="000000"/>
              </a:solidFill>
              <a:latin typeface="Times New Roman"/>
              <a:ea typeface="Times New Roman"/>
              <a:cs typeface="Times New Roman"/>
              <a:sym typeface="Times New Roman"/>
            </a:endParaRPr>
          </a:p>
        </p:txBody>
      </p:sp>
      <p:pic>
        <p:nvPicPr>
          <p:cNvPr id="249" name="Google Shape;249;p32"/>
          <p:cNvPicPr preferRelativeResize="0"/>
          <p:nvPr/>
        </p:nvPicPr>
        <p:blipFill rotWithShape="1">
          <a:blip r:embed="rId3">
            <a:alphaModFix/>
          </a:blip>
          <a:srcRect/>
          <a:stretch/>
        </p:blipFill>
        <p:spPr>
          <a:xfrm>
            <a:off x="2009104" y="965916"/>
            <a:ext cx="7946266" cy="539043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3"/>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27</a:t>
            </a:fld>
            <a:endParaRPr/>
          </a:p>
        </p:txBody>
      </p:sp>
      <p:sp>
        <p:nvSpPr>
          <p:cNvPr id="255" name="Google Shape;255;p33"/>
          <p:cNvSpPr txBox="1"/>
          <p:nvPr/>
        </p:nvSpPr>
        <p:spPr>
          <a:xfrm>
            <a:off x="1971369" y="1025765"/>
            <a:ext cx="8047703" cy="517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257" name="Google Shape;257;p33"/>
          <p:cNvSpPr/>
          <p:nvPr/>
        </p:nvSpPr>
        <p:spPr>
          <a:xfrm>
            <a:off x="2199250" y="2377440"/>
            <a:ext cx="8088923" cy="3544560"/>
          </a:xfrm>
          <a:prstGeom prst="rect">
            <a:avLst/>
          </a:prstGeom>
          <a:noFill/>
          <a:ln>
            <a:noFill/>
          </a:ln>
        </p:spPr>
        <p:txBody>
          <a:bodyPr spcFirstLastPara="1" wrap="square" lIns="91425" tIns="45700" rIns="91425" bIns="45700" anchor="t" anchorCtr="0">
            <a:spAutoFit/>
          </a:bodyPr>
          <a:lstStyle/>
          <a:p>
            <a:pPr marL="457200" indent="-317500">
              <a:buClr>
                <a:srgbClr val="000000"/>
              </a:buClr>
              <a:buSzPts val="1400"/>
              <a:buFont typeface="Noto Sans Symbols"/>
              <a:buChar char="▪"/>
            </a:pPr>
            <a:r>
              <a:rPr lang="en-US">
                <a:solidFill>
                  <a:srgbClr val="434343"/>
                </a:solidFill>
                <a:latin typeface="Times New Roman"/>
                <a:ea typeface="Times New Roman"/>
                <a:cs typeface="Times New Roman"/>
                <a:sym typeface="Times New Roman"/>
              </a:rPr>
              <a:t>The set of instructions are said to be complete if the computer includes a sufficient number of instructions in each of the following categories:</a:t>
            </a:r>
            <a:endParaRPr/>
          </a:p>
          <a:p>
            <a:pPr marL="457200" indent="-317500">
              <a:spcBef>
                <a:spcPts val="1000"/>
              </a:spcBef>
            </a:pPr>
            <a:endParaRPr>
              <a:solidFill>
                <a:srgbClr val="434343"/>
              </a:solidFill>
              <a:latin typeface="Times New Roman"/>
              <a:ea typeface="Times New Roman"/>
              <a:cs typeface="Times New Roman"/>
              <a:sym typeface="Times New Roman"/>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Arithmetic, logical, and shift instructions.</a:t>
            </a:r>
            <a:endParaRPr/>
          </a:p>
          <a:p>
            <a:pPr marL="914400" lvl="1" indent="-317500"/>
            <a:endParaRPr>
              <a:solidFill>
                <a:srgbClr val="434343"/>
              </a:solidFill>
              <a:latin typeface="Times New Roman"/>
              <a:ea typeface="Times New Roman"/>
              <a:cs typeface="Times New Roman"/>
              <a:sym typeface="Times New Roman"/>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Instructions for moving information to and from memory and processor registers.</a:t>
            </a:r>
            <a:endParaRPr/>
          </a:p>
          <a:p>
            <a:pPr marL="914400" lvl="1" indent="-317500"/>
            <a:endParaRPr>
              <a:solidFill>
                <a:srgbClr val="434343"/>
              </a:solidFill>
              <a:latin typeface="Times New Roman"/>
              <a:ea typeface="Times New Roman"/>
              <a:cs typeface="Times New Roman"/>
              <a:sym typeface="Times New Roman"/>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Program control instructions.</a:t>
            </a:r>
            <a:endParaRPr/>
          </a:p>
          <a:p>
            <a:pPr marL="914400" lvl="1" indent="-317500"/>
            <a:endParaRPr>
              <a:solidFill>
                <a:srgbClr val="434343"/>
              </a:solidFill>
              <a:latin typeface="Times New Roman"/>
              <a:ea typeface="Times New Roman"/>
              <a:cs typeface="Times New Roman"/>
              <a:sym typeface="Times New Roman"/>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Input and output instructions.</a:t>
            </a:r>
            <a:endParaRPr/>
          </a:p>
          <a:p>
            <a:pPr marL="914400" lvl="1" indent="-317500"/>
            <a:endParaRPr>
              <a:solidFill>
                <a:srgbClr val="000000"/>
              </a:solidFill>
              <a:latin typeface="Times New Roman"/>
              <a:ea typeface="Times New Roman"/>
              <a:cs typeface="Times New Roman"/>
              <a:sym typeface="Times New Roman"/>
            </a:endParaRPr>
          </a:p>
        </p:txBody>
      </p:sp>
      <p:sp>
        <p:nvSpPr>
          <p:cNvPr id="258" name="Google Shape;258;p33"/>
          <p:cNvSpPr/>
          <p:nvPr/>
        </p:nvSpPr>
        <p:spPr>
          <a:xfrm>
            <a:off x="4116823" y="1404110"/>
            <a:ext cx="4033476" cy="461665"/>
          </a:xfrm>
          <a:prstGeom prst="rect">
            <a:avLst/>
          </a:prstGeom>
          <a:noFill/>
          <a:ln>
            <a:noFill/>
          </a:ln>
        </p:spPr>
        <p:txBody>
          <a:bodyPr spcFirstLastPara="1" wrap="square" lIns="91425" tIns="45700" rIns="91425" bIns="45700" anchor="t" anchorCtr="0">
            <a:spAutoFit/>
          </a:bodyPr>
          <a:lstStyle/>
          <a:p>
            <a:r>
              <a:rPr lang="en-US" sz="2400" b="1">
                <a:solidFill>
                  <a:srgbClr val="000000"/>
                </a:solidFill>
                <a:latin typeface="Times New Roman"/>
                <a:ea typeface="Times New Roman"/>
                <a:cs typeface="Times New Roman"/>
                <a:sym typeface="Times New Roman"/>
              </a:rPr>
              <a:t>Instruction Set Completeness</a:t>
            </a:r>
            <a:endParaRPr sz="2400" b="1">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9058" y="781664"/>
            <a:ext cx="6477000" cy="589936"/>
          </a:xfrm>
        </p:spPr>
        <p:txBody>
          <a:bodyPr/>
          <a:lstStyle/>
          <a:p>
            <a:r>
              <a:rPr lang="en-IN" b="1" dirty="0">
                <a:latin typeface="Times New Roman" pitchFamily="18" charset="0"/>
                <a:cs typeface="Times New Roman" pitchFamily="18" charset="0"/>
              </a:rPr>
              <a:t>Timing and Control</a:t>
            </a:r>
          </a:p>
        </p:txBody>
      </p:sp>
      <p:sp>
        <p:nvSpPr>
          <p:cNvPr id="3" name="Text Placeholder 2"/>
          <p:cNvSpPr>
            <a:spLocks noGrp="1"/>
          </p:cNvSpPr>
          <p:nvPr>
            <p:ph type="body" idx="1"/>
          </p:nvPr>
        </p:nvSpPr>
        <p:spPr>
          <a:xfrm>
            <a:off x="1981200" y="1371600"/>
            <a:ext cx="8450826" cy="5102942"/>
          </a:xfrm>
        </p:spPr>
        <p:txBody>
          <a:bodyPr/>
          <a:lstStyle/>
          <a:p>
            <a:pPr algn="just"/>
            <a:r>
              <a:rPr lang="en-IN" sz="2400" dirty="0">
                <a:latin typeface="Times New Roman" pitchFamily="18" charset="0"/>
                <a:cs typeface="Times New Roman" pitchFamily="18" charset="0"/>
              </a:rPr>
              <a:t>The timing for all register in computer is controlled by a master clock generator.</a:t>
            </a:r>
          </a:p>
          <a:p>
            <a:pPr algn="just"/>
            <a:r>
              <a:rPr lang="en-IN" sz="2400" dirty="0">
                <a:latin typeface="Times New Roman" pitchFamily="18" charset="0"/>
                <a:cs typeface="Times New Roman" pitchFamily="18" charset="0"/>
              </a:rPr>
              <a:t>Control signals are generated in the control unit and provide control inputs for the multiplexers, common bus, processor registers, and accumulator.</a:t>
            </a:r>
          </a:p>
          <a:p>
            <a:pPr algn="just"/>
            <a:r>
              <a:rPr lang="en-IN" sz="2400" dirty="0">
                <a:latin typeface="Times New Roman" pitchFamily="18" charset="0"/>
                <a:cs typeface="Times New Roman" pitchFamily="18" charset="0"/>
              </a:rPr>
              <a:t>Two major types of control organizations:</a:t>
            </a:r>
          </a:p>
          <a:p>
            <a:pPr marL="114300" indent="0" algn="just">
              <a:buNone/>
            </a:pPr>
            <a:r>
              <a:rPr lang="en-IN" sz="2400" dirty="0">
                <a:latin typeface="Times New Roman" pitchFamily="18" charset="0"/>
                <a:cs typeface="Times New Roman" pitchFamily="18" charset="0"/>
              </a:rPr>
              <a:t>	-Hardwired Control</a:t>
            </a:r>
          </a:p>
          <a:p>
            <a:pPr marL="114300" indent="0" algn="just">
              <a:buNone/>
            </a:pPr>
            <a:r>
              <a:rPr lang="en-IN" sz="2400" dirty="0">
                <a:latin typeface="Times New Roman" pitchFamily="18" charset="0"/>
                <a:cs typeface="Times New Roman" pitchFamily="18" charset="0"/>
              </a:rPr>
              <a:t>	- </a:t>
            </a:r>
            <a:r>
              <a:rPr lang="en-IN" sz="2400" dirty="0" err="1">
                <a:latin typeface="Times New Roman" pitchFamily="18" charset="0"/>
                <a:cs typeface="Times New Roman" pitchFamily="18" charset="0"/>
              </a:rPr>
              <a:t>Microprogrammed</a:t>
            </a:r>
            <a:r>
              <a:rPr lang="en-IN" sz="2400" dirty="0">
                <a:latin typeface="Times New Roman" pitchFamily="18" charset="0"/>
                <a:cs typeface="Times New Roman" pitchFamily="18" charset="0"/>
              </a:rPr>
              <a:t> Control</a:t>
            </a:r>
          </a:p>
          <a:p>
            <a:pPr algn="just"/>
            <a:r>
              <a:rPr lang="en-IN" sz="2400" dirty="0">
                <a:latin typeface="Times New Roman" pitchFamily="18" charset="0"/>
                <a:cs typeface="Times New Roman" pitchFamily="18" charset="0"/>
              </a:rPr>
              <a:t>Hardwired control is implemented with gates, flip-flops, decoders, and other digital circuits.</a:t>
            </a:r>
          </a:p>
          <a:p>
            <a:pPr algn="just"/>
            <a:r>
              <a:rPr lang="en-IN" sz="2400" dirty="0">
                <a:latin typeface="Times New Roman" pitchFamily="18" charset="0"/>
                <a:cs typeface="Times New Roman" pitchFamily="18" charset="0"/>
              </a:rPr>
              <a:t>In </a:t>
            </a:r>
            <a:r>
              <a:rPr lang="en-IN" sz="2400" dirty="0" err="1">
                <a:latin typeface="Times New Roman" pitchFamily="18" charset="0"/>
                <a:cs typeface="Times New Roman" pitchFamily="18" charset="0"/>
              </a:rPr>
              <a:t>microprogrammed</a:t>
            </a:r>
            <a:r>
              <a:rPr lang="en-IN" sz="2400" dirty="0">
                <a:latin typeface="Times New Roman" pitchFamily="18" charset="0"/>
                <a:cs typeface="Times New Roman" pitchFamily="18" charset="0"/>
              </a:rPr>
              <a:t> control, control information is stored in control memory, and any required change or modification can be done by updating the </a:t>
            </a:r>
            <a:r>
              <a:rPr lang="en-IN" sz="2400" dirty="0" err="1">
                <a:latin typeface="Times New Roman" pitchFamily="18" charset="0"/>
                <a:cs typeface="Times New Roman" pitchFamily="18" charset="0"/>
              </a:rPr>
              <a:t>microprogram</a:t>
            </a:r>
            <a:r>
              <a:rPr lang="en-IN" sz="2400" dirty="0">
                <a:latin typeface="Times New Roman" pitchFamily="18" charset="0"/>
                <a:cs typeface="Times New Roman" pitchFamily="18" charset="0"/>
              </a:rPr>
              <a:t> in the control memory.</a:t>
            </a:r>
          </a:p>
        </p:txBody>
      </p:sp>
      <p:sp>
        <p:nvSpPr>
          <p:cNvPr id="4" name="Slide Number Placeholder 3"/>
          <p:cNvSpPr>
            <a:spLocks noGrp="1"/>
          </p:cNvSpPr>
          <p:nvPr>
            <p:ph type="sldNum" idx="12"/>
          </p:nvPr>
        </p:nvSpPr>
        <p:spPr/>
        <p:txBody>
          <a:bodyPr/>
          <a:lstStyle/>
          <a:p>
            <a:fld id="{00000000-1234-1234-1234-123412341234}" type="slidenum">
              <a:rPr lang="en-US" smtClean="0"/>
              <a:pPr/>
              <a:t>28</a:t>
            </a:fld>
            <a:endParaRPr lang="en-US"/>
          </a:p>
        </p:txBody>
      </p:sp>
    </p:spTree>
    <p:extLst>
      <p:ext uri="{BB962C8B-B14F-4D97-AF65-F5344CB8AC3E}">
        <p14:creationId xmlns:p14="http://schemas.microsoft.com/office/powerpoint/2010/main" val="90510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8904" y="781664"/>
            <a:ext cx="7347155" cy="589936"/>
          </a:xfrm>
        </p:spPr>
        <p:txBody>
          <a:bodyPr/>
          <a:lstStyle/>
          <a:p>
            <a:r>
              <a:rPr lang="en-IN" b="1" dirty="0">
                <a:latin typeface="Times New Roman" pitchFamily="18" charset="0"/>
                <a:cs typeface="Times New Roman" pitchFamily="18" charset="0"/>
              </a:rPr>
              <a:t>Hardwired Control unit of basic Computer</a:t>
            </a:r>
          </a:p>
        </p:txBody>
      </p:sp>
      <p:sp>
        <p:nvSpPr>
          <p:cNvPr id="3" name="Text Placeholder 2"/>
          <p:cNvSpPr>
            <a:spLocks noGrp="1"/>
          </p:cNvSpPr>
          <p:nvPr>
            <p:ph type="body" idx="1"/>
          </p:nvPr>
        </p:nvSpPr>
        <p:spPr>
          <a:xfrm>
            <a:off x="1981200" y="1371600"/>
            <a:ext cx="8450826" cy="5102942"/>
          </a:xfrm>
        </p:spPr>
        <p:txBody>
          <a:bodyPr/>
          <a:lstStyle/>
          <a:p>
            <a:pPr marL="114300" indent="0" algn="just">
              <a:buNone/>
            </a:pPr>
            <a:r>
              <a:rPr lang="en-IN" sz="2400" dirty="0">
                <a:latin typeface="Times New Roman" pitchFamily="18" charset="0"/>
                <a:cs typeface="Times New Roman" pitchFamily="18" charset="0"/>
              </a:rPr>
              <a:t>.</a:t>
            </a:r>
          </a:p>
        </p:txBody>
      </p:sp>
      <p:sp>
        <p:nvSpPr>
          <p:cNvPr id="4" name="Slide Number Placeholder 3"/>
          <p:cNvSpPr>
            <a:spLocks noGrp="1"/>
          </p:cNvSpPr>
          <p:nvPr>
            <p:ph type="sldNum" idx="12"/>
          </p:nvPr>
        </p:nvSpPr>
        <p:spPr/>
        <p:txBody>
          <a:bodyPr/>
          <a:lstStyle/>
          <a:p>
            <a:fld id="{00000000-1234-1234-1234-123412341234}" type="slidenum">
              <a:rPr lang="en-US" smtClean="0"/>
              <a:pPr/>
              <a:t>29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213" y="1452563"/>
            <a:ext cx="8672052" cy="5213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3945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8904" y="781664"/>
            <a:ext cx="7347155" cy="589936"/>
          </a:xfrm>
        </p:spPr>
        <p:txBody>
          <a:bodyPr/>
          <a:lstStyle/>
          <a:p>
            <a:r>
              <a:rPr lang="en-IN" b="1" dirty="0">
                <a:latin typeface="Times New Roman" pitchFamily="18" charset="0"/>
                <a:cs typeface="Times New Roman" pitchFamily="18" charset="0"/>
              </a:rPr>
              <a:t>Example of Control Timing Signals</a:t>
            </a:r>
          </a:p>
        </p:txBody>
      </p:sp>
      <p:sp>
        <p:nvSpPr>
          <p:cNvPr id="3" name="Text Placeholder 2"/>
          <p:cNvSpPr>
            <a:spLocks noGrp="1"/>
          </p:cNvSpPr>
          <p:nvPr>
            <p:ph type="body" idx="1"/>
          </p:nvPr>
        </p:nvSpPr>
        <p:spPr>
          <a:xfrm>
            <a:off x="1981200" y="1371600"/>
            <a:ext cx="8450826" cy="5102942"/>
          </a:xfrm>
        </p:spPr>
        <p:txBody>
          <a:bodyPr/>
          <a:lstStyle/>
          <a:p>
            <a:pPr marL="114300" indent="0" algn="just">
              <a:buNone/>
            </a:pPr>
            <a:r>
              <a:rPr lang="en-IN" sz="2400" dirty="0">
                <a:latin typeface="Times New Roman" pitchFamily="18" charset="0"/>
                <a:cs typeface="Times New Roman" pitchFamily="18" charset="0"/>
              </a:rPr>
              <a:t>. At time T4, SC is cleared to 0 if decoder output D3 is active.</a:t>
            </a:r>
          </a:p>
          <a:p>
            <a:pPr marL="114300" indent="0" algn="just">
              <a:buNone/>
            </a:pPr>
            <a:r>
              <a:rPr lang="en-IN" sz="2400" dirty="0">
                <a:latin typeface="Times New Roman" pitchFamily="18" charset="0"/>
                <a:cs typeface="Times New Roman" pitchFamily="18" charset="0"/>
              </a:rPr>
              <a:t> D3T4:   SC</a:t>
            </a:r>
            <a:r>
              <a:rPr lang="en-IN" sz="2400" dirty="0">
                <a:latin typeface="Times New Roman" pitchFamily="18" charset="0"/>
                <a:cs typeface="Times New Roman" pitchFamily="18" charset="0"/>
                <a:sym typeface="Wingdings" pitchFamily="2" charset="2"/>
              </a:rPr>
              <a:t>0</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fld id="{00000000-1234-1234-1234-123412341234}" type="slidenum">
              <a:rPr lang="en-US" smtClean="0"/>
              <a:pPr/>
              <a:t>30</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110" y="2210407"/>
            <a:ext cx="7317831" cy="439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6589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3300" y="1028598"/>
            <a:ext cx="6477000" cy="589936"/>
          </a:xfrm>
        </p:spPr>
        <p:txBody>
          <a:bodyPr/>
          <a:lstStyle/>
          <a:p>
            <a:r>
              <a:rPr lang="en-IN" sz="3600" b="1" dirty="0">
                <a:latin typeface="Times New Roman" pitchFamily="18" charset="0"/>
                <a:cs typeface="Times New Roman" pitchFamily="18" charset="0"/>
              </a:rPr>
              <a:t>Instruction Cycle</a:t>
            </a:r>
          </a:p>
        </p:txBody>
      </p:sp>
      <p:sp>
        <p:nvSpPr>
          <p:cNvPr id="3" name="Text Placeholder 2"/>
          <p:cNvSpPr>
            <a:spLocks noGrp="1"/>
          </p:cNvSpPr>
          <p:nvPr>
            <p:ph type="body" idx="1"/>
          </p:nvPr>
        </p:nvSpPr>
        <p:spPr>
          <a:xfrm>
            <a:off x="1275009" y="1735740"/>
            <a:ext cx="10032641" cy="5102942"/>
          </a:xfrm>
        </p:spPr>
        <p:txBody>
          <a:bodyPr/>
          <a:lstStyle/>
          <a:p>
            <a:pPr algn="just"/>
            <a:r>
              <a:rPr lang="en-IN" sz="2400" dirty="0">
                <a:latin typeface="Times New Roman" pitchFamily="18" charset="0"/>
                <a:cs typeface="Times New Roman" pitchFamily="18" charset="0"/>
              </a:rPr>
              <a:t>A program residing in the memory unit of computer consists of a sequence of instructions.</a:t>
            </a:r>
          </a:p>
          <a:p>
            <a:pPr algn="just"/>
            <a:r>
              <a:rPr lang="en-IN" sz="2400" dirty="0">
                <a:latin typeface="Times New Roman" pitchFamily="18" charset="0"/>
                <a:cs typeface="Times New Roman" pitchFamily="18" charset="0"/>
              </a:rPr>
              <a:t>The program is executed in the computer by going through a cycle for each instruction.</a:t>
            </a:r>
          </a:p>
          <a:p>
            <a:pPr algn="just"/>
            <a:r>
              <a:rPr lang="en-IN" sz="2400" dirty="0">
                <a:latin typeface="Times New Roman" pitchFamily="18" charset="0"/>
                <a:cs typeface="Times New Roman" pitchFamily="18" charset="0"/>
              </a:rPr>
              <a:t>Each instruction cycle is subdivided into sequence of </a:t>
            </a:r>
            <a:r>
              <a:rPr lang="en-IN" sz="2400" dirty="0" err="1">
                <a:latin typeface="Times New Roman" pitchFamily="18" charset="0"/>
                <a:cs typeface="Times New Roman" pitchFamily="18" charset="0"/>
              </a:rPr>
              <a:t>subcycles</a:t>
            </a:r>
            <a:r>
              <a:rPr lang="en-IN" sz="2400" dirty="0">
                <a:latin typeface="Times New Roman" pitchFamily="18" charset="0"/>
                <a:cs typeface="Times New Roman" pitchFamily="18" charset="0"/>
              </a:rPr>
              <a:t> of phases.</a:t>
            </a:r>
          </a:p>
          <a:p>
            <a:pPr lvl="1" algn="just"/>
            <a:r>
              <a:rPr lang="en-IN" sz="2000" dirty="0">
                <a:latin typeface="Times New Roman" pitchFamily="18" charset="0"/>
                <a:cs typeface="Times New Roman" pitchFamily="18" charset="0"/>
              </a:rPr>
              <a:t>1. Fetch an instruction from memory</a:t>
            </a:r>
          </a:p>
          <a:p>
            <a:pPr lvl="1" algn="just"/>
            <a:r>
              <a:rPr lang="en-IN" sz="2000" dirty="0">
                <a:latin typeface="Times New Roman" pitchFamily="18" charset="0"/>
                <a:cs typeface="Times New Roman" pitchFamily="18" charset="0"/>
              </a:rPr>
              <a:t>2. Decode the instruction</a:t>
            </a:r>
          </a:p>
          <a:p>
            <a:pPr lvl="1" algn="just"/>
            <a:r>
              <a:rPr lang="en-IN" sz="2000" dirty="0">
                <a:latin typeface="Times New Roman" pitchFamily="18" charset="0"/>
                <a:cs typeface="Times New Roman" pitchFamily="18" charset="0"/>
              </a:rPr>
              <a:t>3. Read the effective address from memory if the information has an indirect address.</a:t>
            </a:r>
          </a:p>
          <a:p>
            <a:pPr lvl="1" algn="just"/>
            <a:r>
              <a:rPr lang="en-IN" sz="2000" dirty="0">
                <a:latin typeface="Times New Roman" pitchFamily="18" charset="0"/>
                <a:cs typeface="Times New Roman" pitchFamily="18" charset="0"/>
              </a:rPr>
              <a:t>4. Execute the instruction</a:t>
            </a:r>
          </a:p>
          <a:p>
            <a:pPr marL="342900" lvl="1" algn="just">
              <a:buFont typeface="Arial" pitchFamily="34" charset="0"/>
              <a:buChar char="•"/>
            </a:pPr>
            <a:r>
              <a:rPr lang="en-IN" sz="2000" dirty="0">
                <a:latin typeface="Times New Roman" pitchFamily="18" charset="0"/>
                <a:cs typeface="Times New Roman" pitchFamily="18" charset="0"/>
              </a:rPr>
              <a:t>Upon completion of step 4, control goes back to step 1 to fetch, decode and execute the next instruction.</a:t>
            </a:r>
          </a:p>
          <a:p>
            <a:pPr marL="342900" lvl="1" algn="just">
              <a:buFont typeface="Arial" pitchFamily="34" charset="0"/>
              <a:buChar char="•"/>
            </a:pPr>
            <a:r>
              <a:rPr lang="en-IN" sz="2000" dirty="0">
                <a:latin typeface="Times New Roman" pitchFamily="18" charset="0"/>
                <a:cs typeface="Times New Roman" pitchFamily="18" charset="0"/>
              </a:rPr>
              <a:t>This process continues indefinitely unless a HALT instruction is encountered.</a:t>
            </a:r>
          </a:p>
        </p:txBody>
      </p:sp>
      <p:sp>
        <p:nvSpPr>
          <p:cNvPr id="4" name="Slide Number Placeholder 3"/>
          <p:cNvSpPr>
            <a:spLocks noGrp="1"/>
          </p:cNvSpPr>
          <p:nvPr>
            <p:ph type="sldNum" idx="12"/>
          </p:nvPr>
        </p:nvSpPr>
        <p:spPr/>
        <p:txBody>
          <a:bodyPr/>
          <a:lstStyle/>
          <a:p>
            <a:fld id="{00000000-1234-1234-1234-123412341234}" type="slidenum">
              <a:rPr lang="en-US" smtClean="0"/>
              <a:pPr/>
              <a:t>31</a:t>
            </a:fld>
            <a:endParaRPr lang="en-US" dirty="0"/>
          </a:p>
        </p:txBody>
      </p:sp>
    </p:spTree>
    <p:extLst>
      <p:ext uri="{BB962C8B-B14F-4D97-AF65-F5344CB8AC3E}">
        <p14:creationId xmlns:p14="http://schemas.microsoft.com/office/powerpoint/2010/main" val="962419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9058" y="781664"/>
            <a:ext cx="6477000" cy="589936"/>
          </a:xfrm>
        </p:spPr>
        <p:txBody>
          <a:bodyPr/>
          <a:lstStyle/>
          <a:p>
            <a:r>
              <a:rPr lang="en-IN" b="1" dirty="0">
                <a:latin typeface="Times New Roman" pitchFamily="18" charset="0"/>
                <a:cs typeface="Times New Roman" pitchFamily="18" charset="0"/>
              </a:rPr>
              <a:t>Fetch and Decode</a:t>
            </a:r>
          </a:p>
        </p:txBody>
      </p:sp>
      <p:sp>
        <p:nvSpPr>
          <p:cNvPr id="3" name="Text Placeholder 2"/>
          <p:cNvSpPr>
            <a:spLocks noGrp="1"/>
          </p:cNvSpPr>
          <p:nvPr>
            <p:ph type="body" idx="1"/>
          </p:nvPr>
        </p:nvSpPr>
        <p:spPr>
          <a:xfrm>
            <a:off x="1981200" y="1371600"/>
            <a:ext cx="8450826" cy="5102942"/>
          </a:xfrm>
        </p:spPr>
        <p:txBody>
          <a:bodyPr/>
          <a:lstStyle/>
          <a:p>
            <a:pPr algn="just"/>
            <a:r>
              <a:rPr lang="en-IN" sz="2400" dirty="0">
                <a:latin typeface="Times New Roman" pitchFamily="18" charset="0"/>
                <a:cs typeface="Times New Roman" pitchFamily="18" charset="0"/>
              </a:rPr>
              <a:t>Initially program counter PC is loaded with the address of first instruction in the program. And sequence counter (SC) is cleared to 0.</a:t>
            </a:r>
          </a:p>
          <a:p>
            <a:pPr algn="just"/>
            <a:r>
              <a:rPr lang="en-IN" sz="2400" dirty="0">
                <a:latin typeface="Times New Roman" pitchFamily="18" charset="0"/>
                <a:cs typeface="Times New Roman" pitchFamily="18" charset="0"/>
              </a:rPr>
              <a:t>After each clock pulse, SC is incremented by 1.</a:t>
            </a:r>
          </a:p>
          <a:p>
            <a:pPr algn="just"/>
            <a:r>
              <a:rPr lang="en-IN" sz="2400" dirty="0">
                <a:latin typeface="Times New Roman" pitchFamily="18" charset="0"/>
                <a:cs typeface="Times New Roman" pitchFamily="18" charset="0"/>
              </a:rPr>
              <a:t>The micro operations for the fetch and decode phase can be specified by following register transfer statement.</a:t>
            </a:r>
          </a:p>
          <a:p>
            <a:pPr algn="just"/>
            <a:endParaRPr lang="en-IN" sz="2400" dirty="0">
              <a:latin typeface="Times New Roman" pitchFamily="18" charset="0"/>
              <a:cs typeface="Times New Roman" pitchFamily="18" charset="0"/>
            </a:endParaRPr>
          </a:p>
          <a:p>
            <a:pPr algn="just"/>
            <a:endParaRPr lang="en-IN" sz="2000"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fld id="{00000000-1234-1234-1234-123412341234}" type="slidenum">
              <a:rPr lang="en-US" smtClean="0"/>
              <a:pPr/>
              <a:t>32</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6392" y="4004802"/>
            <a:ext cx="9041608" cy="1570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9220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335" y="44245"/>
            <a:ext cx="6477000" cy="589936"/>
          </a:xfrm>
        </p:spPr>
        <p:txBody>
          <a:bodyPr/>
          <a:lstStyle/>
          <a:p>
            <a:r>
              <a:rPr lang="en-IN" b="1" dirty="0" err="1">
                <a:latin typeface="Times New Roman" pitchFamily="18" charset="0"/>
                <a:cs typeface="Times New Roman" pitchFamily="18" charset="0"/>
              </a:rPr>
              <a:t>Cont</a:t>
            </a:r>
            <a:r>
              <a:rPr lang="en-IN" b="1" dirty="0">
                <a:latin typeface="Times New Roman" pitchFamily="18" charset="0"/>
                <a:cs typeface="Times New Roman" pitchFamily="18" charset="0"/>
              </a:rPr>
              <a:t>…</a:t>
            </a:r>
          </a:p>
        </p:txBody>
      </p:sp>
      <p:sp>
        <p:nvSpPr>
          <p:cNvPr id="4" name="Slide Number Placeholder 3"/>
          <p:cNvSpPr>
            <a:spLocks noGrp="1"/>
          </p:cNvSpPr>
          <p:nvPr>
            <p:ph type="sldNum" idx="12"/>
          </p:nvPr>
        </p:nvSpPr>
        <p:spPr/>
        <p:txBody>
          <a:bodyPr/>
          <a:lstStyle/>
          <a:p>
            <a:fld id="{00000000-1234-1234-1234-123412341234}" type="slidenum">
              <a:rPr lang="en-US" smtClean="0"/>
              <a:pPr/>
              <a:t>33</a:t>
            </a:fld>
            <a:endParaRPr lang="en-US" dirty="0"/>
          </a:p>
        </p:txBody>
      </p:sp>
      <p:sp>
        <p:nvSpPr>
          <p:cNvPr id="6" name="Text Placeholder 5"/>
          <p:cNvSpPr>
            <a:spLocks noGrp="1"/>
          </p:cNvSpPr>
          <p:nvPr>
            <p:ph type="body" idx="1"/>
          </p:nvPr>
        </p:nvSpPr>
        <p:spPr/>
        <p:txBody>
          <a:bodyPr/>
          <a:lstStyle/>
          <a:p>
            <a:pPr marL="114300" indent="0">
              <a:buNone/>
            </a:pPr>
            <a:r>
              <a:rPr lang="en-IN"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60182"/>
            <a:ext cx="6430297" cy="5578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Placeholder 5"/>
          <p:cNvSpPr txBox="1">
            <a:spLocks/>
          </p:cNvSpPr>
          <p:nvPr/>
        </p:nvSpPr>
        <p:spPr>
          <a:xfrm>
            <a:off x="7600335" y="1500804"/>
            <a:ext cx="2920181" cy="362810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algn="just"/>
            <a:r>
              <a:rPr lang="en-IN" sz="2400" dirty="0">
                <a:latin typeface="Times New Roman" pitchFamily="18" charset="0"/>
                <a:cs typeface="Times New Roman" pitchFamily="18" charset="0"/>
              </a:rPr>
              <a:t>Place the content of PC onto the bus by making the bus selection inputs S2 S1 S0=010.</a:t>
            </a:r>
          </a:p>
          <a:p>
            <a:pPr marL="114300" indent="0" algn="just">
              <a:buNone/>
            </a:pP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Transfer the content of the bus to AR.</a:t>
            </a:r>
          </a:p>
        </p:txBody>
      </p:sp>
    </p:spTree>
    <p:extLst>
      <p:ext uri="{BB962C8B-B14F-4D97-AF65-F5344CB8AC3E}">
        <p14:creationId xmlns:p14="http://schemas.microsoft.com/office/powerpoint/2010/main" val="9944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5313" y="931859"/>
            <a:ext cx="8571202" cy="589936"/>
          </a:xfrm>
        </p:spPr>
        <p:txBody>
          <a:bodyPr/>
          <a:lstStyle/>
          <a:p>
            <a:r>
              <a:rPr lang="en-IN" b="1" dirty="0" smtClean="0">
                <a:latin typeface="Times New Roman" pitchFamily="18" charset="0"/>
                <a:cs typeface="Times New Roman" pitchFamily="18" charset="0"/>
              </a:rPr>
              <a:t>Process to Determine </a:t>
            </a:r>
            <a:r>
              <a:rPr lang="en-IN" b="1" dirty="0">
                <a:latin typeface="Times New Roman" pitchFamily="18" charset="0"/>
                <a:cs typeface="Times New Roman" pitchFamily="18" charset="0"/>
              </a:rPr>
              <a:t>the Type of Instruction</a:t>
            </a:r>
          </a:p>
        </p:txBody>
      </p:sp>
      <p:sp>
        <p:nvSpPr>
          <p:cNvPr id="4" name="Slide Number Placeholder 3"/>
          <p:cNvSpPr>
            <a:spLocks noGrp="1"/>
          </p:cNvSpPr>
          <p:nvPr>
            <p:ph type="sldNum" idx="12"/>
          </p:nvPr>
        </p:nvSpPr>
        <p:spPr/>
        <p:txBody>
          <a:bodyPr/>
          <a:lstStyle/>
          <a:p>
            <a:fld id="{00000000-1234-1234-1234-123412341234}" type="slidenum">
              <a:rPr lang="en-US" smtClean="0"/>
              <a:pPr/>
              <a:t>34</a:t>
            </a:fld>
            <a:endParaRPr lang="en-US" dirty="0"/>
          </a:p>
        </p:txBody>
      </p:sp>
      <p:sp>
        <p:nvSpPr>
          <p:cNvPr id="3" name="Text Placeholder 2"/>
          <p:cNvSpPr>
            <a:spLocks noGrp="1"/>
          </p:cNvSpPr>
          <p:nvPr>
            <p:ph type="body" idx="1"/>
          </p:nvPr>
        </p:nvSpPr>
        <p:spPr>
          <a:xfrm>
            <a:off x="609600" y="1693573"/>
            <a:ext cx="10972800" cy="4525963"/>
          </a:xfrm>
        </p:spPr>
        <p:txBody>
          <a:bodyPr/>
          <a:lstStyle/>
          <a:p>
            <a:pPr algn="just"/>
            <a:r>
              <a:rPr lang="en-IN" sz="2000" dirty="0">
                <a:latin typeface="Times New Roman" pitchFamily="18" charset="0"/>
                <a:cs typeface="Times New Roman" pitchFamily="18" charset="0"/>
              </a:rPr>
              <a:t>During time T3, the control unit determines the type of instruction that was just read from the memory.</a:t>
            </a:r>
          </a:p>
          <a:p>
            <a:pPr marL="114300" indent="0" algn="just">
              <a:buNone/>
            </a:pPr>
            <a:endParaRPr lang="en-IN"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Purpose is to determine the type of instruction by control unit whether it is </a:t>
            </a:r>
          </a:p>
          <a:p>
            <a:pPr marL="114300" indent="0" algn="just">
              <a:buNone/>
            </a:pPr>
            <a:r>
              <a:rPr lang="en-IN" sz="2000" dirty="0">
                <a:latin typeface="Times New Roman" pitchFamily="18" charset="0"/>
                <a:cs typeface="Times New Roman" pitchFamily="18" charset="0"/>
              </a:rPr>
              <a:t>	</a:t>
            </a:r>
            <a:r>
              <a:rPr lang="en-IN" sz="2000" i="1" dirty="0" err="1">
                <a:latin typeface="Times New Roman" pitchFamily="18" charset="0"/>
                <a:cs typeface="Times New Roman" pitchFamily="18" charset="0"/>
              </a:rPr>
              <a:t>i</a:t>
            </a:r>
            <a:r>
              <a:rPr lang="en-IN" sz="2000" i="1" dirty="0">
                <a:latin typeface="Times New Roman" pitchFamily="18" charset="0"/>
                <a:cs typeface="Times New Roman" pitchFamily="18" charset="0"/>
              </a:rPr>
              <a:t>. </a:t>
            </a:r>
            <a:r>
              <a:rPr lang="en-IN" sz="2000" dirty="0">
                <a:latin typeface="Times New Roman" pitchFamily="18" charset="0"/>
                <a:cs typeface="Times New Roman" pitchFamily="18" charset="0"/>
              </a:rPr>
              <a:t>Memory Reference Instruction</a:t>
            </a:r>
          </a:p>
          <a:p>
            <a:pPr marL="114300" indent="0" algn="just">
              <a:buNone/>
            </a:pPr>
            <a:r>
              <a:rPr lang="en-IN" sz="2000" dirty="0">
                <a:latin typeface="Times New Roman" pitchFamily="18" charset="0"/>
                <a:cs typeface="Times New Roman" pitchFamily="18" charset="0"/>
              </a:rPr>
              <a:t>	</a:t>
            </a:r>
            <a:r>
              <a:rPr lang="en-IN" sz="2000" i="1" dirty="0">
                <a:latin typeface="Times New Roman" pitchFamily="18" charset="0"/>
                <a:cs typeface="Times New Roman" pitchFamily="18" charset="0"/>
              </a:rPr>
              <a:t>ii.</a:t>
            </a:r>
            <a:r>
              <a:rPr lang="en-IN" sz="2000" dirty="0">
                <a:latin typeface="Times New Roman" pitchFamily="18" charset="0"/>
                <a:cs typeface="Times New Roman" pitchFamily="18" charset="0"/>
              </a:rPr>
              <a:t> Register Reference Instruction</a:t>
            </a:r>
          </a:p>
          <a:p>
            <a:pPr marL="114300" indent="0" algn="just">
              <a:buNone/>
            </a:pPr>
            <a:r>
              <a:rPr lang="en-IN" sz="2000" dirty="0">
                <a:latin typeface="Times New Roman" pitchFamily="18" charset="0"/>
                <a:cs typeface="Times New Roman" pitchFamily="18" charset="0"/>
              </a:rPr>
              <a:t>	</a:t>
            </a:r>
            <a:r>
              <a:rPr lang="en-IN" sz="2000" i="1" dirty="0">
                <a:latin typeface="Times New Roman" pitchFamily="18" charset="0"/>
                <a:cs typeface="Times New Roman" pitchFamily="18" charset="0"/>
              </a:rPr>
              <a:t>iii. </a:t>
            </a:r>
            <a:r>
              <a:rPr lang="en-IN" sz="2000" dirty="0">
                <a:latin typeface="Times New Roman" pitchFamily="18" charset="0"/>
                <a:cs typeface="Times New Roman" pitchFamily="18" charset="0"/>
              </a:rPr>
              <a:t>I/O Instruction                                                                                                                                              </a:t>
            </a:r>
          </a:p>
        </p:txBody>
      </p:sp>
    </p:spTree>
    <p:extLst>
      <p:ext uri="{BB962C8B-B14F-4D97-AF65-F5344CB8AC3E}">
        <p14:creationId xmlns:p14="http://schemas.microsoft.com/office/powerpoint/2010/main" val="2257165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10" y="88488"/>
            <a:ext cx="8080353" cy="589936"/>
          </a:xfrm>
        </p:spPr>
        <p:txBody>
          <a:bodyPr/>
          <a:lstStyle/>
          <a:p>
            <a:r>
              <a:rPr lang="en-IN" b="1" dirty="0">
                <a:latin typeface="Times New Roman" pitchFamily="18" charset="0"/>
                <a:cs typeface="Times New Roman" pitchFamily="18" charset="0"/>
              </a:rPr>
              <a:t>Determine the Type of Instruction- Flow Chart</a:t>
            </a:r>
          </a:p>
        </p:txBody>
      </p:sp>
      <p:sp>
        <p:nvSpPr>
          <p:cNvPr id="4" name="Slide Number Placeholder 3"/>
          <p:cNvSpPr>
            <a:spLocks noGrp="1"/>
          </p:cNvSpPr>
          <p:nvPr>
            <p:ph type="sldNum" idx="12"/>
          </p:nvPr>
        </p:nvSpPr>
        <p:spPr/>
        <p:txBody>
          <a:bodyPr/>
          <a:lstStyle/>
          <a:p>
            <a:fld id="{00000000-1234-1234-1234-123412341234}" type="slidenum">
              <a:rPr lang="en-US" smtClean="0"/>
              <a:pPr/>
              <a:t>35</a:t>
            </a:fld>
            <a:endParaRPr lang="en-US" dirty="0"/>
          </a:p>
        </p:txBody>
      </p:sp>
      <p:sp>
        <p:nvSpPr>
          <p:cNvPr id="3" name="Text Placeholder 2"/>
          <p:cNvSpPr>
            <a:spLocks noGrp="1"/>
          </p:cNvSpPr>
          <p:nvPr>
            <p:ph type="body" idx="1"/>
          </p:nvPr>
        </p:nvSpPr>
        <p:spPr/>
        <p:txBody>
          <a:bodyPr/>
          <a:lstStyle/>
          <a:p>
            <a:pPr marL="114300" indent="0" algn="just">
              <a:buNone/>
            </a:pPr>
            <a:r>
              <a:rPr lang="en-IN" sz="2000" dirty="0">
                <a:latin typeface="Times New Roman" pitchFamily="18" charset="0"/>
                <a:cs typeface="Times New Roman" pitchFamily="18" charset="0"/>
              </a:rPr>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8127" y="884903"/>
            <a:ext cx="6720420" cy="5836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4248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2"/>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None/>
            </a:pPr>
            <a:r>
              <a:rPr lang="en-US" sz="2600">
                <a:latin typeface="Constantia"/>
                <a:ea typeface="Constantia"/>
                <a:cs typeface="Constantia"/>
                <a:sym typeface="Constantia"/>
              </a:rPr>
              <a:t> </a:t>
            </a:r>
            <a:endParaRPr/>
          </a:p>
        </p:txBody>
      </p:sp>
      <p:pic>
        <p:nvPicPr>
          <p:cNvPr id="48" name="Google Shape;48;p2"/>
          <p:cNvPicPr preferRelativeResize="0"/>
          <p:nvPr/>
        </p:nvPicPr>
        <p:blipFill rotWithShape="1">
          <a:blip r:embed="rId3">
            <a:alphaModFix/>
          </a:blip>
          <a:srcRect/>
          <a:stretch/>
        </p:blipFill>
        <p:spPr>
          <a:xfrm>
            <a:off x="1985963" y="1847850"/>
            <a:ext cx="6243637" cy="3028950"/>
          </a:xfrm>
          <a:prstGeom prst="rect">
            <a:avLst/>
          </a:prstGeom>
          <a:noFill/>
          <a:ln>
            <a:noFill/>
          </a:ln>
        </p:spPr>
      </p:pic>
      <p:pic>
        <p:nvPicPr>
          <p:cNvPr id="49" name="Google Shape;49;p2"/>
          <p:cNvPicPr preferRelativeResize="0"/>
          <p:nvPr/>
        </p:nvPicPr>
        <p:blipFill rotWithShape="1">
          <a:blip r:embed="rId4">
            <a:alphaModFix/>
          </a:blip>
          <a:srcRect/>
          <a:stretch/>
        </p:blipFill>
        <p:spPr>
          <a:xfrm>
            <a:off x="8229600" y="1905000"/>
            <a:ext cx="2438400" cy="2971800"/>
          </a:xfrm>
          <a:prstGeom prst="rect">
            <a:avLst/>
          </a:prstGeom>
          <a:noFill/>
          <a:ln>
            <a:noFill/>
          </a:ln>
        </p:spPr>
      </p:pic>
      <p:sp>
        <p:nvSpPr>
          <p:cNvPr id="50" name="Google Shape;50;p2"/>
          <p:cNvSpPr txBox="1"/>
          <p:nvPr/>
        </p:nvSpPr>
        <p:spPr>
          <a:xfrm>
            <a:off x="3277387" y="0"/>
            <a:ext cx="4723613" cy="838200"/>
          </a:xfrm>
          <a:prstGeom prst="rect">
            <a:avLst/>
          </a:prstGeom>
          <a:noFill/>
          <a:ln>
            <a:noFill/>
          </a:ln>
        </p:spPr>
        <p:txBody>
          <a:bodyPr spcFirstLastPara="1" wrap="square" lIns="91425" tIns="45700" rIns="91425" bIns="45700" anchor="ctr" anchorCtr="0">
            <a:noAutofit/>
          </a:bodyPr>
          <a:lstStyle/>
          <a:p>
            <a:r>
              <a:rPr lang="en-US" sz="2800" b="1" dirty="0">
                <a:latin typeface="Calibri"/>
                <a:ea typeface="Calibri"/>
                <a:cs typeface="Calibri"/>
                <a:sym typeface="Calibri"/>
              </a:rPr>
              <a:t>Memory reference instruction</a:t>
            </a:r>
            <a:endParaRPr sz="2800" b="1" dirty="0">
              <a:latin typeface="Calibri"/>
              <a:ea typeface="Calibri"/>
              <a:cs typeface="Calibri"/>
              <a:sym typeface="Calibri"/>
            </a:endParaRPr>
          </a:p>
        </p:txBody>
      </p:sp>
    </p:spTree>
    <p:extLst>
      <p:ext uri="{BB962C8B-B14F-4D97-AF65-F5344CB8AC3E}">
        <p14:creationId xmlns:p14="http://schemas.microsoft.com/office/powerpoint/2010/main" val="819242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4EC2F2-C0D8-4556-BBC7-4C606EF7D412}"/>
              </a:ext>
            </a:extLst>
          </p:cNvPr>
          <p:cNvSpPr>
            <a:spLocks noGrp="1"/>
          </p:cNvSpPr>
          <p:nvPr>
            <p:ph type="title"/>
          </p:nvPr>
        </p:nvSpPr>
        <p:spPr>
          <a:xfrm>
            <a:off x="-90152" y="425003"/>
            <a:ext cx="8636000" cy="399246"/>
          </a:xfrm>
        </p:spPr>
        <p:txBody>
          <a:bodyPr/>
          <a:lstStyle/>
          <a:p>
            <a:r>
              <a:rPr lang="en-US" sz="3200" b="1" dirty="0"/>
              <a:t>                      Memory reference instruction</a:t>
            </a:r>
            <a:r>
              <a:rPr lang="en-US" sz="3600" b="1" dirty="0"/>
              <a:t/>
            </a:r>
            <a:br>
              <a:rPr lang="en-US" sz="3600" b="1" dirty="0"/>
            </a:br>
            <a:endParaRPr lang="en-IN" sz="3200" dirty="0"/>
          </a:p>
        </p:txBody>
      </p:sp>
      <p:sp>
        <p:nvSpPr>
          <p:cNvPr id="3" name="Text Placeholder 2">
            <a:extLst>
              <a:ext uri="{FF2B5EF4-FFF2-40B4-BE49-F238E27FC236}">
                <a16:creationId xmlns:a16="http://schemas.microsoft.com/office/drawing/2014/main" xmlns="" id="{85D3D826-6596-452D-A907-E458F99D3C2F}"/>
              </a:ext>
            </a:extLst>
          </p:cNvPr>
          <p:cNvSpPr>
            <a:spLocks noGrp="1"/>
          </p:cNvSpPr>
          <p:nvPr>
            <p:ph type="body" idx="1"/>
          </p:nvPr>
        </p:nvSpPr>
        <p:spPr>
          <a:xfrm>
            <a:off x="347730" y="1056290"/>
            <a:ext cx="11359166" cy="5491655"/>
          </a:xfrm>
        </p:spPr>
        <p:txBody>
          <a:bodyPr/>
          <a:lstStyle/>
          <a:p>
            <a:pPr algn="just"/>
            <a:r>
              <a:rPr lang="en-US" sz="2100" dirty="0">
                <a:latin typeface="Times New Roman" panose="02020603050405020304" pitchFamily="18" charset="0"/>
                <a:cs typeface="Times New Roman" panose="02020603050405020304" pitchFamily="18" charset="0"/>
              </a:rPr>
              <a:t>Memory reference instructions are those commands or instructions which are in the custom to generate a reference to the memory and approval to a program to have an approach to the commanded information and that states as to from where the data is cache continually. These instructions are known as Memory Reference Instructions.</a:t>
            </a:r>
          </a:p>
          <a:p>
            <a:pPr algn="just"/>
            <a:r>
              <a:rPr lang="en-US" sz="2100" dirty="0">
                <a:latin typeface="Times New Roman" panose="02020603050405020304" pitchFamily="18" charset="0"/>
                <a:cs typeface="Times New Roman" panose="02020603050405020304" pitchFamily="18" charset="0"/>
              </a:rPr>
              <a:t>There are seven memory reference instructions which are as follows &amp;</a:t>
            </a:r>
          </a:p>
          <a:p>
            <a:pPr marL="114300" indent="0" algn="just">
              <a:buNone/>
            </a:pPr>
            <a:r>
              <a:rPr lang="en-US" sz="2100" b="1" dirty="0">
                <a:latin typeface="Times New Roman" panose="02020603050405020304" pitchFamily="18" charset="0"/>
                <a:cs typeface="Times New Roman" panose="02020603050405020304" pitchFamily="18" charset="0"/>
              </a:rPr>
              <a:t>AND</a:t>
            </a:r>
          </a:p>
          <a:p>
            <a:pPr algn="just"/>
            <a:r>
              <a:rPr lang="en-US" sz="2100" dirty="0">
                <a:latin typeface="Times New Roman" panose="02020603050405020304" pitchFamily="18" charset="0"/>
                <a:cs typeface="Times New Roman" panose="02020603050405020304" pitchFamily="18" charset="0"/>
              </a:rPr>
              <a:t>The AND instruction implements the AND logic operation on the bit collection from the register and the memory word that is determined by the effective address. The result of this operation is moved back to the register.</a:t>
            </a:r>
          </a:p>
          <a:p>
            <a:pPr marL="114300" indent="0" algn="just">
              <a:buNone/>
            </a:pPr>
            <a:r>
              <a:rPr lang="en-US" sz="2100" b="1" dirty="0">
                <a:latin typeface="Times New Roman" panose="02020603050405020304" pitchFamily="18" charset="0"/>
                <a:cs typeface="Times New Roman" panose="02020603050405020304" pitchFamily="18" charset="0"/>
              </a:rPr>
              <a:t>ADD</a:t>
            </a:r>
          </a:p>
          <a:p>
            <a:pPr algn="just"/>
            <a:r>
              <a:rPr lang="en-US" sz="2100" dirty="0">
                <a:latin typeface="Times New Roman" panose="02020603050405020304" pitchFamily="18" charset="0"/>
                <a:cs typeface="Times New Roman" panose="02020603050405020304" pitchFamily="18" charset="0"/>
              </a:rPr>
              <a:t>The ADD instruction adds the content of the memory word that is denoted by the effective address to the value of the register.</a:t>
            </a:r>
          </a:p>
          <a:p>
            <a:pPr algn="just"/>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1887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BC746CBF-43BD-4670-BF9B-1F5FB75318A5}"/>
              </a:ext>
            </a:extLst>
          </p:cNvPr>
          <p:cNvSpPr>
            <a:spLocks noGrp="1"/>
          </p:cNvSpPr>
          <p:nvPr>
            <p:ph type="subTitle" idx="1"/>
          </p:nvPr>
        </p:nvSpPr>
        <p:spPr>
          <a:xfrm>
            <a:off x="734095" y="1178417"/>
            <a:ext cx="10835425" cy="5042079"/>
          </a:xfrm>
        </p:spPr>
        <p:txBody>
          <a:bodyPr/>
          <a:lstStyle/>
          <a:p>
            <a:pPr marL="114300" indent="0" algn="just"/>
            <a:r>
              <a:rPr lang="en-US" sz="2000" b="1" dirty="0" smtClean="0">
                <a:solidFill>
                  <a:schemeClr val="tx1"/>
                </a:solidFill>
                <a:latin typeface="Times New Roman" panose="02020603050405020304" pitchFamily="18" charset="0"/>
                <a:cs typeface="Times New Roman" panose="02020603050405020304" pitchFamily="18" charset="0"/>
              </a:rPr>
              <a:t>LDA</a:t>
            </a:r>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The LDA instruction shares the memory word denoted by the effective address to the register.</a:t>
            </a:r>
          </a:p>
          <a:p>
            <a:pPr algn="just"/>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b="1" dirty="0">
                <a:solidFill>
                  <a:schemeClr val="tx1"/>
                </a:solidFill>
                <a:latin typeface="Times New Roman" panose="02020603050405020304" pitchFamily="18" charset="0"/>
                <a:cs typeface="Times New Roman" panose="02020603050405020304" pitchFamily="18" charset="0"/>
              </a:rPr>
              <a:t>STA</a:t>
            </a:r>
          </a:p>
          <a:p>
            <a:pPr marL="431800" algn="just"/>
            <a:r>
              <a:rPr lang="en-US" sz="2000" dirty="0">
                <a:solidFill>
                  <a:schemeClr val="tx1"/>
                </a:solidFill>
                <a:latin typeface="Times New Roman" panose="02020603050405020304" pitchFamily="18" charset="0"/>
                <a:cs typeface="Times New Roman" panose="02020603050405020304" pitchFamily="18" charset="0"/>
              </a:rPr>
              <a:t>STA saves the content of the register into the memory word that is defined by the effective address. The output is next used to the common bus and the data input is linked to the bus. It needed only one micro-operation</a:t>
            </a:r>
            <a:r>
              <a:rPr lang="en-US" sz="2000" dirty="0" smtClean="0">
                <a:solidFill>
                  <a:schemeClr val="tx1"/>
                </a:solidFill>
                <a:latin typeface="Times New Roman" panose="02020603050405020304" pitchFamily="18" charset="0"/>
                <a:cs typeface="Times New Roman" panose="02020603050405020304" pitchFamily="18" charset="0"/>
              </a:rPr>
              <a:t>.</a:t>
            </a:r>
          </a:p>
          <a:p>
            <a:pPr marL="431800" algn="just"/>
            <a:r>
              <a:rPr lang="en-US" sz="2000" b="1" dirty="0" smtClean="0">
                <a:solidFill>
                  <a:schemeClr val="tx1"/>
                </a:solidFill>
                <a:latin typeface="Times New Roman" panose="02020603050405020304" pitchFamily="18" charset="0"/>
                <a:cs typeface="Times New Roman" panose="02020603050405020304" pitchFamily="18" charset="0"/>
              </a:rPr>
              <a:t>BUN</a:t>
            </a:r>
            <a:endParaRPr lang="en-US" sz="2000" dirty="0" smtClean="0">
              <a:solidFill>
                <a:schemeClr val="tx1"/>
              </a:solidFill>
              <a:latin typeface="Times New Roman" panose="02020603050405020304" pitchFamily="18" charset="0"/>
              <a:cs typeface="Times New Roman" panose="02020603050405020304" pitchFamily="18" charset="0"/>
            </a:endParaRPr>
          </a:p>
          <a:p>
            <a:pPr algn="just"/>
            <a:r>
              <a:rPr lang="en-US" sz="2000" dirty="0" smtClean="0">
                <a:solidFill>
                  <a:schemeClr val="tx1"/>
                </a:solidFill>
                <a:latin typeface="Times New Roman" panose="02020603050405020304" pitchFamily="18" charset="0"/>
                <a:cs typeface="Times New Roman" panose="02020603050405020304" pitchFamily="18" charset="0"/>
              </a:rPr>
              <a:t>The </a:t>
            </a:r>
            <a:r>
              <a:rPr lang="en-US" sz="2000" dirty="0">
                <a:solidFill>
                  <a:schemeClr val="tx1"/>
                </a:solidFill>
                <a:latin typeface="Times New Roman" panose="02020603050405020304" pitchFamily="18" charset="0"/>
                <a:cs typeface="Times New Roman" panose="02020603050405020304" pitchFamily="18" charset="0"/>
              </a:rPr>
              <a:t>Branch Unconditionally (BUN) instruction can send the instruction that is determined by the effective address. They understand that the address of the next instruction to be performed is held by the PC and it should be incremented by one to receive the address of the next instruction in the sequence. If the control needs to implement multiple instructions that are not next in the sequence, it can execute the BUN instruction.</a:t>
            </a:r>
          </a:p>
          <a:p>
            <a:pPr marL="431800" algn="just"/>
            <a:endParaRPr lang="en-US" sz="2000" dirty="0">
              <a:solidFill>
                <a:schemeClr val="tx1"/>
              </a:solidFill>
              <a:latin typeface="Times New Roman" panose="02020603050405020304" pitchFamily="18" charset="0"/>
              <a:cs typeface="Times New Roman" panose="02020603050405020304" pitchFamily="18" charset="0"/>
            </a:endParaRPr>
          </a:p>
          <a:p>
            <a:pPr algn="just"/>
            <a:endParaRPr lang="en-US"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4756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703531-9B04-417A-9F16-C88EEAA27311}"/>
              </a:ext>
            </a:extLst>
          </p:cNvPr>
          <p:cNvSpPr>
            <a:spLocks noGrp="1"/>
          </p:cNvSpPr>
          <p:nvPr>
            <p:ph type="ctrTitle"/>
          </p:nvPr>
        </p:nvSpPr>
        <p:spPr>
          <a:xfrm>
            <a:off x="708338" y="179110"/>
            <a:ext cx="7758503" cy="914400"/>
          </a:xfrm>
        </p:spPr>
        <p:txBody>
          <a:bodyPr/>
          <a:lstStyle/>
          <a:p>
            <a:r>
              <a:rPr lang="en-US" sz="3200" b="1" dirty="0"/>
              <a:t>Memory reference instruction</a:t>
            </a:r>
            <a:br>
              <a:rPr lang="en-US" sz="3200" b="1" dirty="0"/>
            </a:br>
            <a:endParaRPr lang="en-IN" dirty="0"/>
          </a:p>
        </p:txBody>
      </p:sp>
      <p:sp>
        <p:nvSpPr>
          <p:cNvPr id="3" name="Subtitle 2">
            <a:extLst>
              <a:ext uri="{FF2B5EF4-FFF2-40B4-BE49-F238E27FC236}">
                <a16:creationId xmlns:a16="http://schemas.microsoft.com/office/drawing/2014/main" xmlns="" id="{8FD23ECD-6429-42B6-B3E8-2B2A45C665B8}"/>
              </a:ext>
            </a:extLst>
          </p:cNvPr>
          <p:cNvSpPr>
            <a:spLocks noGrp="1"/>
          </p:cNvSpPr>
          <p:nvPr>
            <p:ph type="subTitle" idx="1"/>
          </p:nvPr>
        </p:nvSpPr>
        <p:spPr>
          <a:xfrm>
            <a:off x="592430" y="1093510"/>
            <a:ext cx="10522038" cy="4224270"/>
          </a:xfrm>
        </p:spPr>
        <p:txBody>
          <a:bodyPr/>
          <a:lstStyle/>
          <a:p>
            <a:r>
              <a:rPr lang="en-US" sz="2000" b="1" dirty="0" smtClean="0">
                <a:solidFill>
                  <a:schemeClr val="tx1"/>
                </a:solidFill>
                <a:latin typeface="Times New Roman" panose="02020603050405020304" pitchFamily="18" charset="0"/>
                <a:cs typeface="Times New Roman" panose="02020603050405020304" pitchFamily="18" charset="0"/>
              </a:rPr>
              <a:t>BSA</a:t>
            </a:r>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BSA stands for Branch and Save return Address. These instructions can branch a part of the program (known as subroutine or procedure). When this instruction is performed, BSA will store the address of the next instruction from the PC into a memory location that is determined by the effective address.</a:t>
            </a:r>
          </a:p>
          <a:p>
            <a:r>
              <a:rPr lang="en-US" sz="2000" b="1" dirty="0">
                <a:solidFill>
                  <a:schemeClr val="tx1"/>
                </a:solidFill>
                <a:latin typeface="Times New Roman" panose="02020603050405020304" pitchFamily="18" charset="0"/>
                <a:cs typeface="Times New Roman" panose="02020603050405020304" pitchFamily="18" charset="0"/>
              </a:rPr>
              <a:t>ISZ</a:t>
            </a:r>
          </a:p>
          <a:p>
            <a:pPr algn="just"/>
            <a:r>
              <a:rPr lang="en-US" sz="2000" dirty="0">
                <a:solidFill>
                  <a:schemeClr val="tx1"/>
                </a:solidFill>
                <a:latin typeface="Times New Roman" panose="02020603050405020304" pitchFamily="18" charset="0"/>
                <a:cs typeface="Times New Roman" panose="02020603050405020304" pitchFamily="18" charset="0"/>
              </a:rPr>
              <a:t>The Increment if Zero (ISZ) instruction increments the word determined by effective address. If the incremented cost is zero, thus PC is incremented by 1. A negative value is saved in the memory word through the programmer. It can influence the zero value after getting incremented repeatedly. Thus, the PC is incremented and the next instruction is skipped.</a:t>
            </a:r>
          </a:p>
          <a:p>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3374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3"/>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is an instruction that performs the AND logic operation on pair of bits in AC and the Memory word specified by effective address.</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result of the operation is transferred to AC.</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6</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56" name="Google Shape;56;p3"/>
          <p:cNvPicPr preferRelativeResize="0"/>
          <p:nvPr/>
        </p:nvPicPr>
        <p:blipFill rotWithShape="1">
          <a:blip r:embed="rId3">
            <a:alphaModFix/>
          </a:blip>
          <a:srcRect/>
          <a:stretch/>
        </p:blipFill>
        <p:spPr>
          <a:xfrm>
            <a:off x="4114801" y="4572000"/>
            <a:ext cx="3381375" cy="685800"/>
          </a:xfrm>
          <a:prstGeom prst="rect">
            <a:avLst/>
          </a:prstGeom>
          <a:noFill/>
          <a:ln>
            <a:noFill/>
          </a:ln>
        </p:spPr>
      </p:pic>
      <p:sp>
        <p:nvSpPr>
          <p:cNvPr id="57" name="Google Shape;57;p3"/>
          <p:cNvSpPr txBox="1"/>
          <p:nvPr/>
        </p:nvSpPr>
        <p:spPr>
          <a:xfrm>
            <a:off x="4823381" y="0"/>
            <a:ext cx="3177619" cy="838200"/>
          </a:xfrm>
          <a:prstGeom prst="rect">
            <a:avLst/>
          </a:prstGeom>
          <a:noFill/>
          <a:ln>
            <a:noFill/>
          </a:ln>
        </p:spPr>
        <p:txBody>
          <a:bodyPr spcFirstLastPara="1" wrap="square" lIns="91425" tIns="45700" rIns="91425" bIns="45700" anchor="ctr" anchorCtr="0">
            <a:noAutofit/>
          </a:bodyPr>
          <a:lstStyle/>
          <a:p>
            <a:r>
              <a:rPr lang="en-US" sz="3600" b="1" dirty="0">
                <a:latin typeface="Calibri"/>
                <a:ea typeface="Calibri"/>
                <a:cs typeface="Calibri"/>
                <a:sym typeface="Calibri"/>
              </a:rPr>
              <a:t>1. AND to AC</a:t>
            </a:r>
            <a:endParaRPr sz="3600" b="1" dirty="0">
              <a:latin typeface="Calibri"/>
              <a:ea typeface="Calibri"/>
              <a:cs typeface="Calibri"/>
              <a:sym typeface="Calibri"/>
            </a:endParaRPr>
          </a:p>
        </p:txBody>
      </p:sp>
    </p:spTree>
    <p:extLst>
      <p:ext uri="{BB962C8B-B14F-4D97-AF65-F5344CB8AC3E}">
        <p14:creationId xmlns:p14="http://schemas.microsoft.com/office/powerpoint/2010/main" val="381319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4"/>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instruction adds the content of memory word specified by effective address to the value to AC.</a:t>
            </a:r>
            <a:endParaRPr/>
          </a:p>
          <a:p>
            <a:pPr marL="273050" indent="-273050">
              <a:spcBef>
                <a:spcPts val="560"/>
              </a:spcBef>
              <a:buClr>
                <a:srgbClr val="0BD0D9"/>
              </a:buClr>
              <a:buSzPts val="2470"/>
              <a:buFont typeface="Noto Sans Symbols"/>
              <a:buChar char="⚫"/>
            </a:pPr>
            <a:r>
              <a:rPr lang="en-US" sz="2600">
                <a:latin typeface="Constantia"/>
                <a:ea typeface="Constantia"/>
                <a:cs typeface="Constantia"/>
                <a:sym typeface="Constantia"/>
              </a:rPr>
              <a:t>The sum is transferred to AC and the output carry C</a:t>
            </a:r>
            <a:r>
              <a:rPr lang="en-US" sz="1800">
                <a:latin typeface="Constantia"/>
                <a:ea typeface="Constantia"/>
                <a:cs typeface="Constantia"/>
                <a:sym typeface="Constantia"/>
              </a:rPr>
              <a:t>out </a:t>
            </a:r>
            <a:r>
              <a:rPr lang="en-US" sz="2800">
                <a:latin typeface="Constantia"/>
                <a:ea typeface="Constantia"/>
                <a:cs typeface="Constantia"/>
                <a:sym typeface="Constantia"/>
              </a:rPr>
              <a:t>is transferred to the E (extended AC) flip-flop.</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6</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63" name="Google Shape;63;p4"/>
          <p:cNvPicPr preferRelativeResize="0"/>
          <p:nvPr/>
        </p:nvPicPr>
        <p:blipFill rotWithShape="1">
          <a:blip r:embed="rId3">
            <a:alphaModFix/>
          </a:blip>
          <a:srcRect/>
          <a:stretch/>
        </p:blipFill>
        <p:spPr>
          <a:xfrm>
            <a:off x="3962401" y="4648200"/>
            <a:ext cx="4549775" cy="762000"/>
          </a:xfrm>
          <a:prstGeom prst="rect">
            <a:avLst/>
          </a:prstGeom>
          <a:noFill/>
          <a:ln>
            <a:noFill/>
          </a:ln>
        </p:spPr>
      </p:pic>
      <p:sp>
        <p:nvSpPr>
          <p:cNvPr id="64" name="Google Shape;64;p4"/>
          <p:cNvSpPr txBox="1"/>
          <p:nvPr/>
        </p:nvSpPr>
        <p:spPr>
          <a:xfrm>
            <a:off x="5200454" y="0"/>
            <a:ext cx="2800546" cy="838200"/>
          </a:xfrm>
          <a:prstGeom prst="rect">
            <a:avLst/>
          </a:prstGeom>
          <a:noFill/>
          <a:ln>
            <a:noFill/>
          </a:ln>
        </p:spPr>
        <p:txBody>
          <a:bodyPr spcFirstLastPara="1" wrap="square" lIns="91425" tIns="45700" rIns="91425" bIns="45700" anchor="ctr" anchorCtr="0">
            <a:noAutofit/>
          </a:bodyPr>
          <a:lstStyle/>
          <a:p>
            <a:r>
              <a:rPr lang="en-US" sz="3600" b="1" dirty="0">
                <a:latin typeface="Calibri"/>
                <a:ea typeface="Calibri"/>
                <a:cs typeface="Calibri"/>
                <a:sym typeface="Calibri"/>
              </a:rPr>
              <a:t>2. ADD to AC</a:t>
            </a:r>
            <a:endParaRPr sz="3600" b="1" dirty="0">
              <a:latin typeface="Calibri"/>
              <a:ea typeface="Calibri"/>
              <a:cs typeface="Calibri"/>
              <a:sym typeface="Calibri"/>
            </a:endParaRPr>
          </a:p>
        </p:txBody>
      </p:sp>
    </p:spTree>
    <p:extLst>
      <p:ext uri="{BB962C8B-B14F-4D97-AF65-F5344CB8AC3E}">
        <p14:creationId xmlns:p14="http://schemas.microsoft.com/office/powerpoint/2010/main" val="193862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5"/>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instruction transferred the content of memory word specified by effective address to the AC.</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6</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70" name="Google Shape;70;p5"/>
          <p:cNvPicPr preferRelativeResize="0"/>
          <p:nvPr/>
        </p:nvPicPr>
        <p:blipFill rotWithShape="1">
          <a:blip r:embed="rId3">
            <a:alphaModFix/>
          </a:blip>
          <a:srcRect/>
          <a:stretch/>
        </p:blipFill>
        <p:spPr>
          <a:xfrm>
            <a:off x="4267200" y="4267200"/>
            <a:ext cx="3460750" cy="838200"/>
          </a:xfrm>
          <a:prstGeom prst="rect">
            <a:avLst/>
          </a:prstGeom>
          <a:noFill/>
          <a:ln>
            <a:noFill/>
          </a:ln>
        </p:spPr>
      </p:pic>
      <p:sp>
        <p:nvSpPr>
          <p:cNvPr id="71" name="Google Shape;71;p5"/>
          <p:cNvSpPr txBox="1"/>
          <p:nvPr/>
        </p:nvSpPr>
        <p:spPr>
          <a:xfrm>
            <a:off x="4154078" y="0"/>
            <a:ext cx="3846922" cy="838200"/>
          </a:xfrm>
          <a:prstGeom prst="rect">
            <a:avLst/>
          </a:prstGeom>
          <a:noFill/>
          <a:ln>
            <a:noFill/>
          </a:ln>
        </p:spPr>
        <p:txBody>
          <a:bodyPr spcFirstLastPara="1" wrap="square" lIns="91425" tIns="45700" rIns="91425" bIns="45700" anchor="ctr" anchorCtr="0">
            <a:noAutofit/>
          </a:bodyPr>
          <a:lstStyle/>
          <a:p>
            <a:r>
              <a:rPr lang="en-US" sz="3600" b="1">
                <a:latin typeface="Calibri"/>
                <a:ea typeface="Calibri"/>
                <a:cs typeface="Calibri"/>
                <a:sym typeface="Calibri"/>
              </a:rPr>
              <a:t>3. LDA : Load to Ac</a:t>
            </a:r>
            <a:endParaRPr sz="3600" b="1">
              <a:latin typeface="Calibri"/>
              <a:ea typeface="Calibri"/>
              <a:cs typeface="Calibri"/>
              <a:sym typeface="Calibri"/>
            </a:endParaRPr>
          </a:p>
        </p:txBody>
      </p:sp>
    </p:spTree>
    <p:extLst>
      <p:ext uri="{BB962C8B-B14F-4D97-AF65-F5344CB8AC3E}">
        <p14:creationId xmlns:p14="http://schemas.microsoft.com/office/powerpoint/2010/main" val="231736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6"/>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instruction store the content of AC in to the memory word specified by effective address .</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5</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77" name="Google Shape;77;p6"/>
          <p:cNvPicPr preferRelativeResize="0"/>
          <p:nvPr/>
        </p:nvPicPr>
        <p:blipFill rotWithShape="1">
          <a:blip r:embed="rId3">
            <a:alphaModFix/>
          </a:blip>
          <a:srcRect/>
          <a:stretch/>
        </p:blipFill>
        <p:spPr>
          <a:xfrm>
            <a:off x="4038600" y="3962401"/>
            <a:ext cx="3352800" cy="600075"/>
          </a:xfrm>
          <a:prstGeom prst="rect">
            <a:avLst/>
          </a:prstGeom>
          <a:noFill/>
          <a:ln>
            <a:noFill/>
          </a:ln>
        </p:spPr>
      </p:pic>
      <p:sp>
        <p:nvSpPr>
          <p:cNvPr id="78" name="Google Shape;78;p6"/>
          <p:cNvSpPr txBox="1"/>
          <p:nvPr/>
        </p:nvSpPr>
        <p:spPr>
          <a:xfrm>
            <a:off x="4540578" y="0"/>
            <a:ext cx="3460423" cy="838200"/>
          </a:xfrm>
          <a:prstGeom prst="rect">
            <a:avLst/>
          </a:prstGeom>
          <a:noFill/>
          <a:ln>
            <a:noFill/>
          </a:ln>
        </p:spPr>
        <p:txBody>
          <a:bodyPr spcFirstLastPara="1" wrap="square" lIns="91425" tIns="45700" rIns="91425" bIns="45700" anchor="ctr" anchorCtr="0">
            <a:noAutofit/>
          </a:bodyPr>
          <a:lstStyle/>
          <a:p>
            <a:r>
              <a:rPr lang="en-US" sz="3600" b="1" dirty="0">
                <a:latin typeface="Calibri"/>
                <a:ea typeface="Calibri"/>
                <a:cs typeface="Calibri"/>
                <a:sym typeface="Calibri"/>
              </a:rPr>
              <a:t>4. STA : Store AC</a:t>
            </a:r>
            <a:endParaRPr sz="3600" b="1" dirty="0">
              <a:latin typeface="Calibri"/>
              <a:ea typeface="Calibri"/>
              <a:cs typeface="Calibri"/>
              <a:sym typeface="Calibri"/>
            </a:endParaRPr>
          </a:p>
        </p:txBody>
      </p:sp>
    </p:spTree>
    <p:extLst>
      <p:ext uri="{BB962C8B-B14F-4D97-AF65-F5344CB8AC3E}">
        <p14:creationId xmlns:p14="http://schemas.microsoft.com/office/powerpoint/2010/main" val="421499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7"/>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instruction transfers the program to the instruction specified by the effective address. PC holds the address of instruction to be read from memory in the next instruction cycle.</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It allows the programmer to specify an instruction out of sequence.</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5</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84" name="Google Shape;84;p7"/>
          <p:cNvPicPr preferRelativeResize="0"/>
          <p:nvPr/>
        </p:nvPicPr>
        <p:blipFill rotWithShape="1">
          <a:blip r:embed="rId3">
            <a:alphaModFix/>
          </a:blip>
          <a:srcRect/>
          <a:stretch/>
        </p:blipFill>
        <p:spPr>
          <a:xfrm>
            <a:off x="4495800" y="5029200"/>
            <a:ext cx="3048000" cy="557212"/>
          </a:xfrm>
          <a:prstGeom prst="rect">
            <a:avLst/>
          </a:prstGeom>
          <a:noFill/>
          <a:ln>
            <a:noFill/>
          </a:ln>
        </p:spPr>
      </p:pic>
      <p:sp>
        <p:nvSpPr>
          <p:cNvPr id="85" name="Google Shape;85;p7"/>
          <p:cNvSpPr txBox="1"/>
          <p:nvPr/>
        </p:nvSpPr>
        <p:spPr>
          <a:xfrm>
            <a:off x="1981200" y="0"/>
            <a:ext cx="6019800" cy="838200"/>
          </a:xfrm>
          <a:prstGeom prst="rect">
            <a:avLst/>
          </a:prstGeom>
          <a:noFill/>
          <a:ln>
            <a:noFill/>
          </a:ln>
        </p:spPr>
        <p:txBody>
          <a:bodyPr spcFirstLastPara="1" wrap="square" lIns="91425" tIns="45700" rIns="91425" bIns="45700" anchor="ctr" anchorCtr="0">
            <a:noAutofit/>
          </a:bodyPr>
          <a:lstStyle/>
          <a:p>
            <a:r>
              <a:rPr lang="en-US" sz="2400" b="1" dirty="0">
                <a:latin typeface="Calibri"/>
                <a:ea typeface="Calibri"/>
                <a:cs typeface="Calibri"/>
                <a:sym typeface="Calibri"/>
              </a:rPr>
              <a:t>5. BUN: Branch Unconditionally</a:t>
            </a:r>
            <a:endParaRPr sz="2400" b="1" dirty="0">
              <a:latin typeface="Calibri"/>
              <a:ea typeface="Calibri"/>
              <a:cs typeface="Calibri"/>
              <a:sym typeface="Calibri"/>
            </a:endParaRPr>
          </a:p>
        </p:txBody>
      </p:sp>
    </p:spTree>
    <p:extLst>
      <p:ext uri="{BB962C8B-B14F-4D97-AF65-F5344CB8AC3E}">
        <p14:creationId xmlns:p14="http://schemas.microsoft.com/office/powerpoint/2010/main" val="168105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8"/>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Font typeface="Noto Sans Symbols"/>
              <a:buChar char="⚫"/>
            </a:pPr>
            <a:r>
              <a:rPr lang="en-US" sz="2600">
                <a:latin typeface="Constantia"/>
                <a:ea typeface="Constantia"/>
                <a:cs typeface="Constantia"/>
                <a:sym typeface="Constantia"/>
              </a:rPr>
              <a:t>This instruction is useful for branching to a portion of the program called a subroutine or procedure.</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1</a:t>
            </a:r>
            <a:r>
              <a:rPr lang="en-US" sz="2600" baseline="30000">
                <a:latin typeface="Constantia"/>
                <a:ea typeface="Constantia"/>
                <a:cs typeface="Constantia"/>
                <a:sym typeface="Constantia"/>
              </a:rPr>
              <a:t>st</a:t>
            </a:r>
            <a:r>
              <a:rPr lang="en-US" sz="2600">
                <a:latin typeface="Constantia"/>
                <a:ea typeface="Constantia"/>
                <a:cs typeface="Constantia"/>
                <a:sym typeface="Constantia"/>
              </a:rPr>
              <a:t> it stores the address of next instruction in sequence into memory location specified by effective address. Then effective address plus one is transferred to PC to serve the address of next instruction.</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6</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91" name="Google Shape;91;p8"/>
          <p:cNvPicPr preferRelativeResize="0"/>
          <p:nvPr/>
        </p:nvPicPr>
        <p:blipFill rotWithShape="1">
          <a:blip r:embed="rId3">
            <a:alphaModFix/>
          </a:blip>
          <a:srcRect/>
          <a:stretch/>
        </p:blipFill>
        <p:spPr>
          <a:xfrm>
            <a:off x="3810000" y="4495800"/>
            <a:ext cx="4762500" cy="762000"/>
          </a:xfrm>
          <a:prstGeom prst="rect">
            <a:avLst/>
          </a:prstGeom>
          <a:noFill/>
          <a:ln>
            <a:noFill/>
          </a:ln>
        </p:spPr>
      </p:pic>
      <p:sp>
        <p:nvSpPr>
          <p:cNvPr id="92" name="Google Shape;92;p8"/>
          <p:cNvSpPr txBox="1"/>
          <p:nvPr/>
        </p:nvSpPr>
        <p:spPr>
          <a:xfrm>
            <a:off x="1981200" y="84841"/>
            <a:ext cx="6217763" cy="838200"/>
          </a:xfrm>
          <a:prstGeom prst="rect">
            <a:avLst/>
          </a:prstGeom>
          <a:noFill/>
          <a:ln>
            <a:noFill/>
          </a:ln>
        </p:spPr>
        <p:txBody>
          <a:bodyPr spcFirstLastPara="1" wrap="square" lIns="91425" tIns="45700" rIns="91425" bIns="45700" anchor="ctr" anchorCtr="0">
            <a:noAutofit/>
          </a:bodyPr>
          <a:lstStyle/>
          <a:p>
            <a:r>
              <a:rPr lang="en-US" sz="2400" b="1" dirty="0">
                <a:latin typeface="Calibri"/>
                <a:ea typeface="Calibri"/>
                <a:cs typeface="Calibri"/>
                <a:sym typeface="Calibri"/>
              </a:rPr>
              <a:t>6. BSA: Branch and Save return Address</a:t>
            </a:r>
            <a:endParaRPr sz="2400" b="1" dirty="0">
              <a:latin typeface="Calibri"/>
              <a:ea typeface="Calibri"/>
              <a:cs typeface="Calibri"/>
              <a:sym typeface="Calibri"/>
            </a:endParaRPr>
          </a:p>
        </p:txBody>
      </p:sp>
    </p:spTree>
    <p:extLst>
      <p:ext uri="{BB962C8B-B14F-4D97-AF65-F5344CB8AC3E}">
        <p14:creationId xmlns:p14="http://schemas.microsoft.com/office/powerpoint/2010/main" val="329551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1"/>
          <p:cNvSpPr txBox="1"/>
          <p:nvPr/>
        </p:nvSpPr>
        <p:spPr>
          <a:xfrm>
            <a:off x="1524000" y="871975"/>
            <a:ext cx="9144000" cy="6019800"/>
          </a:xfrm>
          <a:prstGeom prst="rect">
            <a:avLst/>
          </a:prstGeom>
          <a:noFill/>
          <a:ln>
            <a:noFill/>
          </a:ln>
        </p:spPr>
        <p:txBody>
          <a:bodyPr spcFirstLastPara="1" wrap="square" lIns="91425" tIns="33100" rIns="91425" bIns="45700" anchor="ctr" anchorCtr="0">
            <a:noAutofit/>
          </a:bodyPr>
          <a:lstStyle/>
          <a:p>
            <a:pPr algn="ctr">
              <a:buClr>
                <a:schemeClr val="dk1"/>
              </a:buClr>
              <a:buSzPts val="1100"/>
            </a:pPr>
            <a:endParaRPr lang="en-US" sz="3200" dirty="0">
              <a:solidFill>
                <a:srgbClr val="FF0000"/>
              </a:solidFill>
            </a:endParaRPr>
          </a:p>
          <a:p>
            <a:pPr algn="ctr">
              <a:buClr>
                <a:schemeClr val="dk1"/>
              </a:buClr>
              <a:buSzPts val="1100"/>
            </a:pPr>
            <a:endParaRPr lang="en-US" sz="3200" dirty="0">
              <a:solidFill>
                <a:srgbClr val="FF0000"/>
              </a:solidFill>
            </a:endParaRPr>
          </a:p>
          <a:p>
            <a:pPr algn="ctr">
              <a:buClr>
                <a:schemeClr val="dk1"/>
              </a:buClr>
              <a:buSzPts val="1100"/>
            </a:pPr>
            <a:endParaRPr lang="en-US" sz="3200" dirty="0">
              <a:solidFill>
                <a:srgbClr val="FF0000"/>
              </a:solidFill>
            </a:endParaRPr>
          </a:p>
          <a:p>
            <a:pPr algn="ctr">
              <a:buClr>
                <a:schemeClr val="dk1"/>
              </a:buClr>
              <a:buSzPts val="1100"/>
            </a:pPr>
            <a:endParaRPr lang="en-US" sz="3200" dirty="0">
              <a:solidFill>
                <a:srgbClr val="FF0000"/>
              </a:solidFill>
            </a:endParaRPr>
          </a:p>
          <a:p>
            <a:pPr algn="ctr">
              <a:buClr>
                <a:schemeClr val="dk1"/>
              </a:buClr>
              <a:buSzPts val="1100"/>
            </a:pPr>
            <a:endParaRPr lang="en-US" sz="3200" dirty="0">
              <a:solidFill>
                <a:srgbClr val="FF0000"/>
              </a:solidFill>
            </a:endParaRPr>
          </a:p>
          <a:p>
            <a:pPr algn="ctr">
              <a:buClr>
                <a:schemeClr val="dk1"/>
              </a:buClr>
              <a:buSzPts val="1100"/>
            </a:pPr>
            <a:r>
              <a:rPr lang="en-US" sz="3200" dirty="0">
                <a:solidFill>
                  <a:srgbClr val="FF0000"/>
                </a:solidFill>
              </a:rPr>
              <a:t>Input-Output and Interrupt</a:t>
            </a:r>
            <a:endParaRPr sz="3200" dirty="0">
              <a:solidFill>
                <a:srgbClr val="FF0000"/>
              </a:solidFill>
            </a:endParaRPr>
          </a:p>
          <a:p>
            <a:pPr>
              <a:buSzPts val="1100"/>
            </a:pPr>
            <a:endParaRPr sz="3200" dirty="0">
              <a:solidFill>
                <a:srgbClr val="FF0000"/>
              </a:solidFill>
            </a:endParaRPr>
          </a:p>
          <a:p>
            <a:pPr algn="ctr"/>
            <a:endParaRPr sz="3200" b="1" dirty="0">
              <a:solidFill>
                <a:srgbClr val="FF0000"/>
              </a:solidFill>
              <a:latin typeface="Calibri"/>
              <a:ea typeface="Calibri"/>
              <a:cs typeface="Calibri"/>
              <a:sym typeface="Calibri"/>
            </a:endParaRPr>
          </a:p>
          <a:p>
            <a:pPr algn="ctr"/>
            <a:endParaRPr sz="3200" b="1" dirty="0">
              <a:solidFill>
                <a:srgbClr val="FF0000"/>
              </a:solidFill>
              <a:latin typeface="Calibri"/>
              <a:ea typeface="Calibri"/>
              <a:cs typeface="Calibri"/>
              <a:sym typeface="Calibri"/>
            </a:endParaRPr>
          </a:p>
          <a:p>
            <a:pPr algn="ctr"/>
            <a:endParaRPr sz="3200" b="1" dirty="0">
              <a:solidFill>
                <a:srgbClr val="FF0000"/>
              </a:solidFill>
              <a:latin typeface="Calibri"/>
              <a:ea typeface="Calibri"/>
              <a:cs typeface="Calibri"/>
              <a:sym typeface="Calibri"/>
            </a:endParaRPr>
          </a:p>
          <a:p>
            <a:pPr algn="ctr"/>
            <a:endParaRPr sz="3200" b="1" dirty="0">
              <a:solidFill>
                <a:srgbClr val="FF0000"/>
              </a:solidFill>
              <a:latin typeface="Sen"/>
              <a:ea typeface="Sen"/>
              <a:cs typeface="Sen"/>
              <a:sym typeface="Sen"/>
            </a:endParaRPr>
          </a:p>
          <a:p>
            <a:pPr algn="ctr"/>
            <a:endParaRPr sz="4000" b="1" dirty="0">
              <a:solidFill>
                <a:srgbClr val="FF0000"/>
              </a:solidFill>
              <a:latin typeface="Calibri"/>
              <a:ea typeface="Calibri"/>
              <a:cs typeface="Calibri"/>
              <a:sym typeface="Calibri"/>
            </a:endParaRPr>
          </a:p>
          <a:p>
            <a:pPr algn="ctr"/>
            <a:endParaRPr sz="4000" b="1"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741157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2"/>
          <p:cNvSpPr txBox="1">
            <a:spLocks noGrp="1"/>
          </p:cNvSpPr>
          <p:nvPr>
            <p:ph type="title"/>
          </p:nvPr>
        </p:nvSpPr>
        <p:spPr>
          <a:xfrm>
            <a:off x="2096425" y="168812"/>
            <a:ext cx="2516957" cy="545085"/>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Introduction</a:t>
            </a:r>
            <a:endParaRPr dirty="0"/>
          </a:p>
        </p:txBody>
      </p:sp>
      <p:sp>
        <p:nvSpPr>
          <p:cNvPr id="48" name="Google Shape;48;p2"/>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342900" algn="just">
              <a:spcBef>
                <a:spcPts val="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A Computer can serve no useful purpose unless it communicates with the external environment.</a:t>
            </a:r>
            <a:endParaRPr sz="2800" dirty="0">
              <a:latin typeface="Times New Roman" pitchFamily="18" charset="0"/>
              <a:cs typeface="Times New Roman" pitchFamily="18" charset="0"/>
            </a:endParaRPr>
          </a:p>
          <a:p>
            <a:pPr marL="342900" algn="just">
              <a:spcBef>
                <a:spcPts val="52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Instructions and data stored in memory must come from some </a:t>
            </a:r>
            <a:r>
              <a:rPr lang="en-US" sz="2400" i="1" dirty="0">
                <a:latin typeface="Times New Roman" pitchFamily="18" charset="0"/>
                <a:ea typeface="Constantia"/>
                <a:cs typeface="Times New Roman" pitchFamily="18" charset="0"/>
                <a:sym typeface="Constantia"/>
              </a:rPr>
              <a:t>input device</a:t>
            </a:r>
            <a:r>
              <a:rPr lang="en-US" sz="2400" dirty="0">
                <a:latin typeface="Times New Roman" pitchFamily="18" charset="0"/>
                <a:ea typeface="Constantia"/>
                <a:cs typeface="Times New Roman" pitchFamily="18" charset="0"/>
                <a:sym typeface="Constantia"/>
              </a:rPr>
              <a:t>.</a:t>
            </a:r>
            <a:endParaRPr sz="2800" dirty="0">
              <a:latin typeface="Times New Roman" pitchFamily="18" charset="0"/>
              <a:cs typeface="Times New Roman" pitchFamily="18" charset="0"/>
            </a:endParaRPr>
          </a:p>
          <a:p>
            <a:pPr marL="342900" algn="just">
              <a:spcBef>
                <a:spcPts val="52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Computational results must be transmitted to user through some </a:t>
            </a:r>
            <a:r>
              <a:rPr lang="en-US" sz="2400" i="1" dirty="0">
                <a:latin typeface="Times New Roman" pitchFamily="18" charset="0"/>
                <a:ea typeface="Constantia"/>
                <a:cs typeface="Times New Roman" pitchFamily="18" charset="0"/>
                <a:sym typeface="Constantia"/>
              </a:rPr>
              <a:t>output device</a:t>
            </a:r>
            <a:r>
              <a:rPr lang="en-US" sz="2400" dirty="0">
                <a:latin typeface="Times New Roman" pitchFamily="18" charset="0"/>
                <a:ea typeface="Constantia"/>
                <a:cs typeface="Times New Roman" pitchFamily="18" charset="0"/>
                <a:sym typeface="Constantia"/>
              </a:rPr>
              <a:t>.</a:t>
            </a:r>
            <a:endParaRPr sz="2800" dirty="0">
              <a:latin typeface="Times New Roman" pitchFamily="18" charset="0"/>
              <a:cs typeface="Times New Roman" pitchFamily="18" charset="0"/>
            </a:endParaRPr>
          </a:p>
          <a:p>
            <a:pPr marL="342900" algn="just">
              <a:spcBef>
                <a:spcPts val="52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Commercial computers include many types of input and output devices.</a:t>
            </a:r>
            <a:endParaRPr sz="2800" dirty="0">
              <a:latin typeface="Times New Roman" pitchFamily="18" charset="0"/>
              <a:cs typeface="Times New Roman" pitchFamily="18" charset="0"/>
            </a:endParaRPr>
          </a:p>
          <a:p>
            <a:pPr marL="342900" algn="just">
              <a:spcBef>
                <a:spcPts val="52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To demonstrate the most basic requirements for input and output communication, we will use as a illustration a terminal unit with a </a:t>
            </a:r>
            <a:r>
              <a:rPr lang="en-US" sz="2400" i="1" dirty="0">
                <a:latin typeface="Times New Roman" pitchFamily="18" charset="0"/>
                <a:ea typeface="Constantia"/>
                <a:cs typeface="Times New Roman" pitchFamily="18" charset="0"/>
                <a:sym typeface="Constantia"/>
              </a:rPr>
              <a:t>keyboard </a:t>
            </a:r>
            <a:r>
              <a:rPr lang="en-US" sz="2400" dirty="0">
                <a:latin typeface="Times New Roman" pitchFamily="18" charset="0"/>
                <a:ea typeface="Constantia"/>
                <a:cs typeface="Times New Roman" pitchFamily="18" charset="0"/>
                <a:sym typeface="Constantia"/>
              </a:rPr>
              <a:t>and </a:t>
            </a:r>
            <a:r>
              <a:rPr lang="en-US" sz="2400" i="1" dirty="0">
                <a:latin typeface="Times New Roman" pitchFamily="18" charset="0"/>
                <a:ea typeface="Constantia"/>
                <a:cs typeface="Times New Roman" pitchFamily="18" charset="0"/>
                <a:sym typeface="Constantia"/>
              </a:rPr>
              <a:t>printer.</a:t>
            </a:r>
            <a:endParaRPr sz="2800" dirty="0">
              <a:latin typeface="Times New Roman" pitchFamily="18" charset="0"/>
              <a:cs typeface="Times New Roman" pitchFamily="18" charset="0"/>
            </a:endParaRPr>
          </a:p>
        </p:txBody>
      </p:sp>
    </p:spTree>
    <p:extLst>
      <p:ext uri="{BB962C8B-B14F-4D97-AF65-F5344CB8AC3E}">
        <p14:creationId xmlns:p14="http://schemas.microsoft.com/office/powerpoint/2010/main" val="4287191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
          <p:cNvSpPr txBox="1">
            <a:spLocks noGrp="1"/>
          </p:cNvSpPr>
          <p:nvPr>
            <p:ph type="title"/>
          </p:nvPr>
        </p:nvSpPr>
        <p:spPr>
          <a:xfrm>
            <a:off x="1758462" y="-407639"/>
            <a:ext cx="5185951" cy="1143000"/>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2800" b="1" dirty="0">
                <a:solidFill>
                  <a:schemeClr val="dk2"/>
                </a:solidFill>
              </a:rPr>
              <a:t>Input-Output Configuration</a:t>
            </a:r>
            <a:endParaRPr sz="2800" dirty="0"/>
          </a:p>
        </p:txBody>
      </p:sp>
      <p:sp>
        <p:nvSpPr>
          <p:cNvPr id="54" name="Google Shape;54;p3"/>
          <p:cNvSpPr txBox="1">
            <a:spLocks noGrp="1"/>
          </p:cNvSpPr>
          <p:nvPr>
            <p:ph type="body" idx="1"/>
          </p:nvPr>
        </p:nvSpPr>
        <p:spPr>
          <a:xfrm>
            <a:off x="858130" y="1203960"/>
            <a:ext cx="10775852" cy="5105400"/>
          </a:xfrm>
          <a:prstGeom prst="rect">
            <a:avLst/>
          </a:prstGeom>
          <a:noFill/>
          <a:ln>
            <a:noFill/>
          </a:ln>
        </p:spPr>
        <p:txBody>
          <a:bodyPr spcFirstLastPara="1" wrap="square" lIns="91425" tIns="45700" rIns="91425" bIns="45700" anchor="t" anchorCtr="0">
            <a:noAutofit/>
          </a:bodyPr>
          <a:lstStyle/>
          <a:p>
            <a:pPr indent="-457200" algn="just">
              <a:spcBef>
                <a:spcPts val="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The terminal sends and receives serial information.</a:t>
            </a:r>
            <a:endParaRPr dirty="0"/>
          </a:p>
          <a:p>
            <a:pPr indent="-457200" algn="just">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Each quantity of information has eight bits of an alphanumeric code.</a:t>
            </a:r>
            <a:endParaRPr dirty="0"/>
          </a:p>
          <a:p>
            <a:pPr indent="-457200" algn="just">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The serial information from the keyboard is shifted into the input register </a:t>
            </a:r>
            <a:r>
              <a:rPr lang="en-US" sz="2600" b="1" i="1" dirty="0">
                <a:latin typeface="Constantia"/>
                <a:ea typeface="Constantia"/>
                <a:cs typeface="Constantia"/>
                <a:sym typeface="Constantia"/>
              </a:rPr>
              <a:t>INPR.</a:t>
            </a:r>
            <a:endParaRPr dirty="0"/>
          </a:p>
          <a:p>
            <a:pPr indent="-457200" algn="just">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The serial information for printer is stored in output register </a:t>
            </a:r>
            <a:r>
              <a:rPr lang="en-US" sz="2600" b="1" i="1" dirty="0">
                <a:latin typeface="Constantia"/>
                <a:ea typeface="Constantia"/>
                <a:cs typeface="Constantia"/>
                <a:sym typeface="Constantia"/>
              </a:rPr>
              <a:t>OUTR.</a:t>
            </a:r>
            <a:endParaRPr dirty="0"/>
          </a:p>
          <a:p>
            <a:pPr indent="-457200" algn="just">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These two registers communicate with communication interface serially and with the AC in parallel.</a:t>
            </a:r>
            <a:endParaRPr dirty="0"/>
          </a:p>
          <a:p>
            <a:pPr marL="273050" indent="-116204" algn="just">
              <a:spcBef>
                <a:spcPts val="520"/>
              </a:spcBef>
              <a:buClr>
                <a:srgbClr val="0BD0D9"/>
              </a:buClr>
              <a:buSzPts val="2470"/>
              <a:buNone/>
            </a:pPr>
            <a:endParaRPr sz="2600" dirty="0">
              <a:latin typeface="Constantia"/>
              <a:ea typeface="Constantia"/>
              <a:cs typeface="Constantia"/>
              <a:sym typeface="Constantia"/>
            </a:endParaRPr>
          </a:p>
        </p:txBody>
      </p:sp>
    </p:spTree>
    <p:extLst>
      <p:ext uri="{BB962C8B-B14F-4D97-AF65-F5344CB8AC3E}">
        <p14:creationId xmlns:p14="http://schemas.microsoft.com/office/powerpoint/2010/main" val="18495080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4"/>
          <p:cNvSpPr txBox="1">
            <a:spLocks noGrp="1"/>
          </p:cNvSpPr>
          <p:nvPr>
            <p:ph type="title"/>
          </p:nvPr>
        </p:nvSpPr>
        <p:spPr>
          <a:xfrm>
            <a:off x="1688124" y="-494588"/>
            <a:ext cx="4992340" cy="1256588"/>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Input-Output Configuration</a:t>
            </a:r>
            <a:endParaRPr dirty="0"/>
          </a:p>
        </p:txBody>
      </p:sp>
      <p:sp>
        <p:nvSpPr>
          <p:cNvPr id="60" name="Google Shape;60;p4"/>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None/>
            </a:pPr>
            <a:r>
              <a:rPr lang="en-US" sz="2600">
                <a:latin typeface="Constantia"/>
                <a:ea typeface="Constantia"/>
                <a:cs typeface="Constantia"/>
                <a:sym typeface="Constantia"/>
              </a:rPr>
              <a:t> </a:t>
            </a:r>
            <a:endParaRPr/>
          </a:p>
        </p:txBody>
      </p:sp>
      <p:pic>
        <p:nvPicPr>
          <p:cNvPr id="61" name="Google Shape;61;p4"/>
          <p:cNvPicPr preferRelativeResize="0"/>
          <p:nvPr/>
        </p:nvPicPr>
        <p:blipFill rotWithShape="1">
          <a:blip r:embed="rId3">
            <a:alphaModFix/>
          </a:blip>
          <a:srcRect/>
          <a:stretch/>
        </p:blipFill>
        <p:spPr>
          <a:xfrm>
            <a:off x="2514600" y="1768476"/>
            <a:ext cx="7315200" cy="4327525"/>
          </a:xfrm>
          <a:prstGeom prst="rect">
            <a:avLst/>
          </a:prstGeom>
          <a:noFill/>
          <a:ln>
            <a:noFill/>
          </a:ln>
        </p:spPr>
      </p:pic>
    </p:spTree>
    <p:extLst>
      <p:ext uri="{BB962C8B-B14F-4D97-AF65-F5344CB8AC3E}">
        <p14:creationId xmlns:p14="http://schemas.microsoft.com/office/powerpoint/2010/main" val="10418818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5"/>
          <p:cNvSpPr txBox="1">
            <a:spLocks noGrp="1"/>
          </p:cNvSpPr>
          <p:nvPr>
            <p:ph type="title"/>
          </p:nvPr>
        </p:nvSpPr>
        <p:spPr>
          <a:xfrm>
            <a:off x="4182359" y="-364331"/>
            <a:ext cx="3685880" cy="1143000"/>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a:solidFill>
                  <a:schemeClr val="dk2"/>
                </a:solidFill>
              </a:rPr>
              <a:t>Input-Output Flags</a:t>
            </a:r>
            <a:endParaRPr/>
          </a:p>
        </p:txBody>
      </p:sp>
      <p:sp>
        <p:nvSpPr>
          <p:cNvPr id="67" name="Google Shape;67;p5"/>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None/>
            </a:pPr>
            <a:r>
              <a:rPr lang="en-US" sz="2600" dirty="0">
                <a:latin typeface="Constantia"/>
                <a:ea typeface="Constantia"/>
                <a:cs typeface="Constantia"/>
                <a:sym typeface="Constantia"/>
              </a:rPr>
              <a:t> </a:t>
            </a:r>
            <a:endParaRPr dirty="0"/>
          </a:p>
        </p:txBody>
      </p:sp>
      <p:sp>
        <p:nvSpPr>
          <p:cNvPr id="68" name="Google Shape;68;p5"/>
          <p:cNvSpPr txBox="1"/>
          <p:nvPr/>
        </p:nvSpPr>
        <p:spPr>
          <a:xfrm>
            <a:off x="618979" y="1676401"/>
            <a:ext cx="9828360" cy="1938337"/>
          </a:xfrm>
          <a:prstGeom prst="rect">
            <a:avLst/>
          </a:prstGeom>
          <a:noFill/>
          <a:ln>
            <a:noFill/>
          </a:ln>
        </p:spPr>
        <p:txBody>
          <a:bodyPr spcFirstLastPara="1" wrap="square" lIns="91425" tIns="45700" rIns="91425" bIns="45700" anchor="t" anchorCtr="0">
            <a:spAutoFit/>
          </a:bodyPr>
          <a:lstStyle/>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1 bit input flag </a:t>
            </a:r>
            <a:r>
              <a:rPr lang="en-US" sz="2000" b="1" i="1" dirty="0">
                <a:solidFill>
                  <a:schemeClr val="dk1"/>
                </a:solidFill>
                <a:latin typeface="Arial"/>
                <a:ea typeface="Arial"/>
                <a:cs typeface="Arial"/>
                <a:sym typeface="Arial"/>
              </a:rPr>
              <a:t>FGI </a:t>
            </a:r>
            <a:r>
              <a:rPr lang="en-US" sz="2000" dirty="0">
                <a:solidFill>
                  <a:schemeClr val="dk1"/>
                </a:solidFill>
                <a:latin typeface="Arial"/>
                <a:ea typeface="Arial"/>
                <a:cs typeface="Arial"/>
                <a:sym typeface="Arial"/>
              </a:rPr>
              <a:t>is a control flip-flop. The flag bit is 1 when new </a:t>
            </a:r>
            <a:r>
              <a:rPr lang="en-US" sz="2000" dirty="0" smtClean="0">
                <a:solidFill>
                  <a:schemeClr val="dk1"/>
                </a:solidFill>
                <a:latin typeface="Arial"/>
                <a:ea typeface="Arial"/>
                <a:cs typeface="Arial"/>
                <a:sym typeface="Arial"/>
              </a:rPr>
              <a:t>information</a:t>
            </a:r>
            <a:r>
              <a:rPr lang="en-US" dirty="0">
                <a:sym typeface="Arial"/>
              </a:rPr>
              <a:t> </a:t>
            </a:r>
            <a:r>
              <a:rPr lang="en-US" sz="2000" dirty="0" smtClean="0">
                <a:solidFill>
                  <a:schemeClr val="dk1"/>
                </a:solidFill>
                <a:latin typeface="Arial"/>
                <a:ea typeface="Arial"/>
                <a:cs typeface="Arial"/>
                <a:sym typeface="Arial"/>
              </a:rPr>
              <a:t>is </a:t>
            </a:r>
            <a:r>
              <a:rPr lang="en-US" sz="2000" dirty="0">
                <a:solidFill>
                  <a:schemeClr val="dk1"/>
                </a:solidFill>
                <a:latin typeface="Arial"/>
                <a:ea typeface="Arial"/>
                <a:cs typeface="Arial"/>
                <a:sym typeface="Arial"/>
              </a:rPr>
              <a:t>available in input device and cleared to zero when accepted by computer.</a:t>
            </a:r>
            <a:endParaRPr dirty="0"/>
          </a:p>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Flag is used to synchronize the timing rate difference between input device </a:t>
            </a:r>
            <a:r>
              <a:rPr lang="en-US" dirty="0">
                <a:sym typeface="Arial"/>
              </a:rPr>
              <a:t> </a:t>
            </a:r>
            <a:r>
              <a:rPr lang="en-US" sz="2000" dirty="0" smtClean="0">
                <a:solidFill>
                  <a:schemeClr val="dk1"/>
                </a:solidFill>
                <a:latin typeface="Arial"/>
                <a:ea typeface="Arial"/>
                <a:cs typeface="Arial"/>
                <a:sym typeface="Arial"/>
              </a:rPr>
              <a:t>and </a:t>
            </a:r>
            <a:r>
              <a:rPr lang="en-US" sz="2000" dirty="0">
                <a:solidFill>
                  <a:schemeClr val="dk1"/>
                </a:solidFill>
                <a:latin typeface="Arial"/>
                <a:ea typeface="Arial"/>
                <a:cs typeface="Arial"/>
                <a:sym typeface="Arial"/>
              </a:rPr>
              <a:t>computer.</a:t>
            </a:r>
            <a:endParaRPr dirty="0"/>
          </a:p>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Initially FGI is set to 0. when a key is struck in the keyboard, an 8-bit </a:t>
            </a:r>
            <a:r>
              <a:rPr lang="en-US" dirty="0">
                <a:sym typeface="Arial"/>
              </a:rPr>
              <a:t> </a:t>
            </a:r>
            <a:r>
              <a:rPr lang="en-US" sz="2000" dirty="0" smtClean="0">
                <a:solidFill>
                  <a:schemeClr val="dk1"/>
                </a:solidFill>
                <a:latin typeface="Arial"/>
                <a:ea typeface="Arial"/>
                <a:cs typeface="Arial"/>
                <a:sym typeface="Arial"/>
              </a:rPr>
              <a:t>alphanumeric </a:t>
            </a:r>
            <a:r>
              <a:rPr lang="en-US" sz="2000" dirty="0">
                <a:solidFill>
                  <a:schemeClr val="dk1"/>
                </a:solidFill>
                <a:latin typeface="Arial"/>
                <a:ea typeface="Arial"/>
                <a:cs typeface="Arial"/>
                <a:sym typeface="Arial"/>
              </a:rPr>
              <a:t>code is shifted in to INPR and the input flag FGI is set to 1. </a:t>
            </a:r>
            <a:endParaRPr dirty="0"/>
          </a:p>
        </p:txBody>
      </p:sp>
      <p:sp>
        <p:nvSpPr>
          <p:cNvPr id="69" name="Google Shape;69;p5"/>
          <p:cNvSpPr txBox="1"/>
          <p:nvPr/>
        </p:nvSpPr>
        <p:spPr>
          <a:xfrm>
            <a:off x="618979" y="3893712"/>
            <a:ext cx="9828360" cy="1631950"/>
          </a:xfrm>
          <a:prstGeom prst="rect">
            <a:avLst/>
          </a:prstGeom>
          <a:noFill/>
          <a:ln>
            <a:noFill/>
          </a:ln>
        </p:spPr>
        <p:txBody>
          <a:bodyPr spcFirstLastPara="1" wrap="square" lIns="91425" tIns="45700" rIns="91425" bIns="45700" anchor="t" anchorCtr="0">
            <a:spAutoFit/>
          </a:bodyPr>
          <a:lstStyle/>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The output register </a:t>
            </a:r>
            <a:r>
              <a:rPr lang="en-US" sz="2000" b="1" i="1" dirty="0">
                <a:solidFill>
                  <a:schemeClr val="dk1"/>
                </a:solidFill>
                <a:latin typeface="Arial"/>
                <a:ea typeface="Arial"/>
                <a:cs typeface="Arial"/>
                <a:sym typeface="Arial"/>
              </a:rPr>
              <a:t>OUTR </a:t>
            </a:r>
            <a:r>
              <a:rPr lang="en-US" sz="2000" dirty="0">
                <a:solidFill>
                  <a:schemeClr val="dk1"/>
                </a:solidFill>
                <a:latin typeface="Arial"/>
                <a:ea typeface="Arial"/>
                <a:cs typeface="Arial"/>
                <a:sym typeface="Arial"/>
              </a:rPr>
              <a:t>works similarly but the direction of information </a:t>
            </a:r>
            <a:r>
              <a:rPr lang="en-US" sz="2000" dirty="0" smtClean="0">
                <a:solidFill>
                  <a:schemeClr val="dk1"/>
                </a:solidFill>
                <a:latin typeface="Arial"/>
                <a:ea typeface="Arial"/>
                <a:cs typeface="Arial"/>
                <a:sym typeface="Arial"/>
              </a:rPr>
              <a:t>flow</a:t>
            </a:r>
            <a:r>
              <a:rPr lang="en-US" dirty="0">
                <a:sym typeface="Arial"/>
              </a:rPr>
              <a:t> </a:t>
            </a:r>
            <a:r>
              <a:rPr lang="en-US" sz="2000" dirty="0" smtClean="0">
                <a:solidFill>
                  <a:schemeClr val="dk1"/>
                </a:solidFill>
                <a:latin typeface="Arial"/>
                <a:ea typeface="Arial"/>
                <a:cs typeface="Arial"/>
                <a:sym typeface="Arial"/>
              </a:rPr>
              <a:t>is </a:t>
            </a:r>
            <a:r>
              <a:rPr lang="en-US" sz="2000" dirty="0">
                <a:solidFill>
                  <a:schemeClr val="dk1"/>
                </a:solidFill>
                <a:latin typeface="Arial"/>
                <a:ea typeface="Arial"/>
                <a:cs typeface="Arial"/>
                <a:sym typeface="Arial"/>
              </a:rPr>
              <a:t>reversed.</a:t>
            </a:r>
            <a:endParaRPr dirty="0"/>
          </a:p>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Initially, the output flag </a:t>
            </a:r>
            <a:r>
              <a:rPr lang="en-US" sz="2000" b="1" i="1" dirty="0">
                <a:solidFill>
                  <a:schemeClr val="dk1"/>
                </a:solidFill>
                <a:latin typeface="Arial"/>
                <a:ea typeface="Arial"/>
                <a:cs typeface="Arial"/>
                <a:sym typeface="Arial"/>
              </a:rPr>
              <a:t>FGO </a:t>
            </a:r>
            <a:r>
              <a:rPr lang="en-US" sz="2000" dirty="0">
                <a:solidFill>
                  <a:schemeClr val="dk1"/>
                </a:solidFill>
                <a:latin typeface="Arial"/>
                <a:ea typeface="Arial"/>
                <a:cs typeface="Arial"/>
                <a:sym typeface="Arial"/>
              </a:rPr>
              <a:t> is set to 1.</a:t>
            </a:r>
            <a:endParaRPr dirty="0"/>
          </a:p>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Computer checks FGO, and if it is 1, the information from AC is transferred in </a:t>
            </a:r>
            <a:r>
              <a:rPr lang="en-US" dirty="0">
                <a:sym typeface="Arial"/>
              </a:rPr>
              <a:t> </a:t>
            </a:r>
            <a:r>
              <a:rPr lang="en-US" sz="2000" dirty="0" smtClean="0">
                <a:solidFill>
                  <a:schemeClr val="dk1"/>
                </a:solidFill>
                <a:latin typeface="Arial"/>
                <a:ea typeface="Arial"/>
                <a:cs typeface="Arial"/>
                <a:sym typeface="Arial"/>
              </a:rPr>
              <a:t>a </a:t>
            </a:r>
            <a:r>
              <a:rPr lang="en-US" sz="2000" dirty="0">
                <a:solidFill>
                  <a:schemeClr val="dk1"/>
                </a:solidFill>
                <a:latin typeface="Arial"/>
                <a:ea typeface="Arial"/>
                <a:cs typeface="Arial"/>
                <a:sym typeface="Arial"/>
              </a:rPr>
              <a:t>parallel to OUTR and FGO is cleared to 0.</a:t>
            </a:r>
            <a:endParaRPr dirty="0"/>
          </a:p>
        </p:txBody>
      </p:sp>
    </p:spTree>
    <p:extLst>
      <p:ext uri="{BB962C8B-B14F-4D97-AF65-F5344CB8AC3E}">
        <p14:creationId xmlns:p14="http://schemas.microsoft.com/office/powerpoint/2010/main" val="371111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6"/>
          <p:cNvSpPr txBox="1">
            <a:spLocks noGrp="1"/>
          </p:cNvSpPr>
          <p:nvPr>
            <p:ph type="title"/>
          </p:nvPr>
        </p:nvSpPr>
        <p:spPr>
          <a:xfrm>
            <a:off x="1249250" y="151295"/>
            <a:ext cx="6926489" cy="610705"/>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Input-Output Instructions.</a:t>
            </a:r>
            <a:endParaRPr dirty="0"/>
          </a:p>
        </p:txBody>
      </p:sp>
      <p:sp>
        <p:nvSpPr>
          <p:cNvPr id="75" name="Google Shape;75;p6"/>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indent="-457200">
              <a:spcBef>
                <a:spcPts val="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For this type of information I=1, and </a:t>
            </a:r>
            <a:endParaRPr dirty="0"/>
          </a:p>
          <a:p>
            <a:pPr marL="0" indent="0">
              <a:spcBef>
                <a:spcPts val="520"/>
              </a:spcBef>
              <a:buClr>
                <a:srgbClr val="0BD0D9"/>
              </a:buClr>
              <a:buSzPts val="2470"/>
              <a:buNone/>
            </a:pPr>
            <a:r>
              <a:rPr lang="en-US" sz="2600" dirty="0">
                <a:latin typeface="Constantia"/>
                <a:ea typeface="Constantia"/>
                <a:cs typeface="Constantia"/>
                <a:sym typeface="Constantia"/>
              </a:rPr>
              <a:t>				D7 (i.e. IR(12-14)=111)</a:t>
            </a:r>
            <a:endParaRPr dirty="0"/>
          </a:p>
          <a:p>
            <a:pPr indent="-457200">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For basic Computer only 6 input-output instruction.</a:t>
            </a:r>
            <a:endParaRPr dirty="0"/>
          </a:p>
          <a:p>
            <a:pPr marL="273050" indent="-116204">
              <a:spcBef>
                <a:spcPts val="520"/>
              </a:spcBef>
              <a:buClr>
                <a:srgbClr val="0BD0D9"/>
              </a:buClr>
              <a:buSzPts val="2470"/>
              <a:buNone/>
            </a:pPr>
            <a:endParaRPr sz="2600" dirty="0">
              <a:latin typeface="Constantia"/>
              <a:ea typeface="Constantia"/>
              <a:cs typeface="Constantia"/>
              <a:sym typeface="Constantia"/>
            </a:endParaRPr>
          </a:p>
        </p:txBody>
      </p:sp>
      <p:pic>
        <p:nvPicPr>
          <p:cNvPr id="76" name="Google Shape;76;p6"/>
          <p:cNvPicPr preferRelativeResize="0"/>
          <p:nvPr/>
        </p:nvPicPr>
        <p:blipFill rotWithShape="1">
          <a:blip r:embed="rId3">
            <a:alphaModFix/>
          </a:blip>
          <a:srcRect/>
          <a:stretch/>
        </p:blipFill>
        <p:spPr>
          <a:xfrm>
            <a:off x="2743201" y="3124200"/>
            <a:ext cx="7081837" cy="2743200"/>
          </a:xfrm>
          <a:prstGeom prst="rect">
            <a:avLst/>
          </a:prstGeom>
          <a:noFill/>
          <a:ln>
            <a:noFill/>
          </a:ln>
        </p:spPr>
      </p:pic>
    </p:spTree>
    <p:extLst>
      <p:ext uri="{BB962C8B-B14F-4D97-AF65-F5344CB8AC3E}">
        <p14:creationId xmlns:p14="http://schemas.microsoft.com/office/powerpoint/2010/main" val="55720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7"/>
          <p:cNvSpPr txBox="1">
            <a:spLocks noGrp="1"/>
          </p:cNvSpPr>
          <p:nvPr>
            <p:ph type="title"/>
          </p:nvPr>
        </p:nvSpPr>
        <p:spPr>
          <a:xfrm>
            <a:off x="4427456" y="-308475"/>
            <a:ext cx="3308808" cy="1143000"/>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Program Interrupt</a:t>
            </a:r>
            <a:endParaRPr dirty="0"/>
          </a:p>
        </p:txBody>
      </p:sp>
      <p:sp>
        <p:nvSpPr>
          <p:cNvPr id="82" name="Google Shape;82;p7"/>
          <p:cNvSpPr txBox="1">
            <a:spLocks noGrp="1"/>
          </p:cNvSpPr>
          <p:nvPr>
            <p:ph type="body" idx="1"/>
          </p:nvPr>
        </p:nvSpPr>
        <p:spPr>
          <a:xfrm>
            <a:off x="897988" y="1109003"/>
            <a:ext cx="9906000" cy="5105400"/>
          </a:xfrm>
          <a:prstGeom prst="rect">
            <a:avLst/>
          </a:prstGeom>
          <a:noFill/>
          <a:ln>
            <a:noFill/>
          </a:ln>
        </p:spPr>
        <p:txBody>
          <a:bodyPr spcFirstLastPara="1" wrap="square" lIns="91425" tIns="45700" rIns="91425" bIns="45700" anchor="t" anchorCtr="0">
            <a:noAutofit/>
          </a:bodyPr>
          <a:lstStyle/>
          <a:p>
            <a:pPr marL="342900" algn="just">
              <a:spcBef>
                <a:spcPts val="0"/>
              </a:spcBef>
              <a:buClrTx/>
              <a:buSzPts val="2280"/>
              <a:buFont typeface="Wingdings" panose="05000000000000000000" pitchFamily="2" charset="2"/>
              <a:buChar char="Ø"/>
            </a:pPr>
            <a:r>
              <a:rPr lang="en-US" sz="2400" dirty="0">
                <a:latin typeface="Constantia"/>
                <a:ea typeface="Constantia"/>
                <a:cs typeface="Constantia"/>
                <a:sym typeface="Constantia"/>
              </a:rPr>
              <a:t>An alternative to the programmed controlled procedure is to let the external device inform the computer when it is ready for the transfer.</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In the meantime computer can be busy with other tasks.</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This type of transfer use the </a:t>
            </a:r>
            <a:r>
              <a:rPr lang="en-US" sz="2400" b="1" i="1" dirty="0">
                <a:latin typeface="Constantia"/>
                <a:ea typeface="Constantia"/>
                <a:cs typeface="Constantia"/>
                <a:sym typeface="Constantia"/>
              </a:rPr>
              <a:t>interrupt facility</a:t>
            </a:r>
            <a:r>
              <a:rPr lang="en-US" sz="2400" dirty="0">
                <a:latin typeface="Constantia"/>
                <a:ea typeface="Constantia"/>
                <a:cs typeface="Constantia"/>
                <a:sym typeface="Constantia"/>
              </a:rPr>
              <a:t>. While computer is running the program, it does not check the flags, however when a flag is set then computer receives an interrupt.</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 The interrupt enable flip-flop </a:t>
            </a:r>
            <a:r>
              <a:rPr lang="en-US" sz="2400" b="1" i="1" dirty="0">
                <a:latin typeface="Constantia"/>
                <a:ea typeface="Constantia"/>
                <a:cs typeface="Constantia"/>
                <a:sym typeface="Constantia"/>
              </a:rPr>
              <a:t>IEN </a:t>
            </a:r>
            <a:r>
              <a:rPr lang="en-US" sz="2400" dirty="0">
                <a:latin typeface="Constantia"/>
                <a:ea typeface="Constantia"/>
                <a:cs typeface="Constantia"/>
                <a:sym typeface="Constantia"/>
              </a:rPr>
              <a:t>can be set and cleared with two instructions.</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 When IEN is cleared to zero (with </a:t>
            </a:r>
            <a:r>
              <a:rPr lang="en-US" sz="2400" b="1" i="1" dirty="0">
                <a:latin typeface="Constantia"/>
                <a:ea typeface="Constantia"/>
                <a:cs typeface="Constantia"/>
                <a:sym typeface="Constantia"/>
              </a:rPr>
              <a:t>IOF </a:t>
            </a:r>
            <a:r>
              <a:rPr lang="en-US" sz="2400" dirty="0">
                <a:latin typeface="Constantia"/>
                <a:ea typeface="Constantia"/>
                <a:cs typeface="Constantia"/>
                <a:sym typeface="Constantia"/>
              </a:rPr>
              <a:t>instruction), the flag can not interrupt the computer. </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When IEN is cleared to 1 (with </a:t>
            </a:r>
            <a:r>
              <a:rPr lang="en-US" sz="2400" b="1" i="1" dirty="0">
                <a:latin typeface="Constantia"/>
                <a:ea typeface="Constantia"/>
                <a:cs typeface="Constantia"/>
                <a:sym typeface="Constantia"/>
              </a:rPr>
              <a:t>ION </a:t>
            </a:r>
            <a:r>
              <a:rPr lang="en-US" sz="2400" dirty="0">
                <a:latin typeface="Constantia"/>
                <a:ea typeface="Constantia"/>
                <a:cs typeface="Constantia"/>
                <a:sym typeface="Constantia"/>
              </a:rPr>
              <a:t>instruction), the computer can be interrupted. </a:t>
            </a:r>
            <a:endParaRPr dirty="0"/>
          </a:p>
        </p:txBody>
      </p:sp>
    </p:spTree>
    <p:extLst>
      <p:ext uri="{BB962C8B-B14F-4D97-AF65-F5344CB8AC3E}">
        <p14:creationId xmlns:p14="http://schemas.microsoft.com/office/powerpoint/2010/main" val="79793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animEffect transition="in" filter="fade">
                                      <p:cBhvr>
                                        <p:cTn id="7" dur="500"/>
                                        <p:tgtEl>
                                          <p:spTgt spid="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
                                            <p:txEl>
                                              <p:pRg st="1" end="1"/>
                                            </p:txEl>
                                          </p:spTgt>
                                        </p:tgtEl>
                                        <p:attrNameLst>
                                          <p:attrName>style.visibility</p:attrName>
                                        </p:attrNameLst>
                                      </p:cBhvr>
                                      <p:to>
                                        <p:strVal val="visible"/>
                                      </p:to>
                                    </p:set>
                                    <p:animEffect transition="in" filter="fade">
                                      <p:cBhvr>
                                        <p:cTn id="12" dur="500"/>
                                        <p:tgtEl>
                                          <p:spTgt spid="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
                                            <p:txEl>
                                              <p:pRg st="2" end="2"/>
                                            </p:txEl>
                                          </p:spTgt>
                                        </p:tgtEl>
                                        <p:attrNameLst>
                                          <p:attrName>style.visibility</p:attrName>
                                        </p:attrNameLst>
                                      </p:cBhvr>
                                      <p:to>
                                        <p:strVal val="visible"/>
                                      </p:to>
                                    </p:set>
                                    <p:animEffect transition="in" filter="fade">
                                      <p:cBhvr>
                                        <p:cTn id="17" dur="500"/>
                                        <p:tgtEl>
                                          <p:spTgt spid="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2">
                                            <p:txEl>
                                              <p:pRg st="3" end="3"/>
                                            </p:txEl>
                                          </p:spTgt>
                                        </p:tgtEl>
                                        <p:attrNameLst>
                                          <p:attrName>style.visibility</p:attrName>
                                        </p:attrNameLst>
                                      </p:cBhvr>
                                      <p:to>
                                        <p:strVal val="visible"/>
                                      </p:to>
                                    </p:set>
                                    <p:animEffect transition="in" filter="fade">
                                      <p:cBhvr>
                                        <p:cTn id="22" dur="500"/>
                                        <p:tgtEl>
                                          <p:spTgt spid="8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2">
                                            <p:txEl>
                                              <p:pRg st="4" end="4"/>
                                            </p:txEl>
                                          </p:spTgt>
                                        </p:tgtEl>
                                        <p:attrNameLst>
                                          <p:attrName>style.visibility</p:attrName>
                                        </p:attrNameLst>
                                      </p:cBhvr>
                                      <p:to>
                                        <p:strVal val="visible"/>
                                      </p:to>
                                    </p:set>
                                    <p:animEffect transition="in" filter="fade">
                                      <p:cBhvr>
                                        <p:cTn id="27" dur="500"/>
                                        <p:tgtEl>
                                          <p:spTgt spid="8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2">
                                            <p:txEl>
                                              <p:pRg st="5" end="5"/>
                                            </p:txEl>
                                          </p:spTgt>
                                        </p:tgtEl>
                                        <p:attrNameLst>
                                          <p:attrName>style.visibility</p:attrName>
                                        </p:attrNameLst>
                                      </p:cBhvr>
                                      <p:to>
                                        <p:strVal val="visible"/>
                                      </p:to>
                                    </p:set>
                                    <p:animEffect transition="in" filter="fade">
                                      <p:cBhvr>
                                        <p:cTn id="32" dur="500"/>
                                        <p:tgtEl>
                                          <p:spTgt spid="8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8"/>
          <p:cNvSpPr txBox="1">
            <a:spLocks noGrp="1"/>
          </p:cNvSpPr>
          <p:nvPr>
            <p:ph type="title"/>
          </p:nvPr>
        </p:nvSpPr>
        <p:spPr>
          <a:xfrm>
            <a:off x="1981200" y="37513"/>
            <a:ext cx="5481687" cy="618214"/>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Flowchart of Interrupt cycle</a:t>
            </a:r>
            <a:endParaRPr dirty="0"/>
          </a:p>
        </p:txBody>
      </p:sp>
      <p:sp>
        <p:nvSpPr>
          <p:cNvPr id="88" name="Google Shape;88;p8"/>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None/>
            </a:pPr>
            <a:r>
              <a:rPr lang="en-US" sz="2600">
                <a:latin typeface="Constantia"/>
                <a:ea typeface="Constantia"/>
                <a:cs typeface="Constantia"/>
                <a:sym typeface="Constantia"/>
              </a:rPr>
              <a:t> </a:t>
            </a:r>
            <a:endParaRPr/>
          </a:p>
        </p:txBody>
      </p:sp>
      <p:pic>
        <p:nvPicPr>
          <p:cNvPr id="89" name="Google Shape;89;p8"/>
          <p:cNvPicPr preferRelativeResize="0"/>
          <p:nvPr/>
        </p:nvPicPr>
        <p:blipFill rotWithShape="1">
          <a:blip r:embed="rId3">
            <a:alphaModFix/>
          </a:blip>
          <a:srcRect/>
          <a:stretch/>
        </p:blipFill>
        <p:spPr>
          <a:xfrm>
            <a:off x="3200400" y="1247776"/>
            <a:ext cx="6477000" cy="5305425"/>
          </a:xfrm>
          <a:prstGeom prst="rect">
            <a:avLst/>
          </a:prstGeom>
          <a:noFill/>
          <a:ln>
            <a:noFill/>
          </a:ln>
        </p:spPr>
      </p:pic>
    </p:spTree>
    <p:extLst>
      <p:ext uri="{BB962C8B-B14F-4D97-AF65-F5344CB8AC3E}">
        <p14:creationId xmlns:p14="http://schemas.microsoft.com/office/powerpoint/2010/main" val="3187918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0"/>
          <p:cNvSpPr txBox="1">
            <a:spLocks noGrp="1"/>
          </p:cNvSpPr>
          <p:nvPr>
            <p:ph type="title"/>
          </p:nvPr>
        </p:nvSpPr>
        <p:spPr>
          <a:xfrm>
            <a:off x="4776247" y="0"/>
            <a:ext cx="3224753" cy="838200"/>
          </a:xfrm>
          <a:prstGeom prst="rect">
            <a:avLst/>
          </a:prstGeom>
          <a:noFill/>
          <a:ln>
            <a:noFill/>
          </a:ln>
        </p:spPr>
        <p:txBody>
          <a:bodyPr spcFirstLastPara="1" wrap="square" lIns="0" tIns="45700" rIns="0" bIns="0" anchor="b" anchorCtr="0">
            <a:noAutofit/>
          </a:bodyPr>
          <a:lstStyle/>
          <a:p>
            <a:pPr algn="l">
              <a:buClr>
                <a:schemeClr val="dk2"/>
              </a:buClr>
              <a:buSzPts val="5000"/>
            </a:pPr>
            <a:r>
              <a:rPr lang="en-US" sz="3200" b="1" dirty="0">
                <a:solidFill>
                  <a:schemeClr val="dk2"/>
                </a:solidFill>
              </a:rPr>
              <a:t>Interrupt cycle</a:t>
            </a:r>
            <a:endParaRPr sz="3200" b="1" dirty="0"/>
          </a:p>
        </p:txBody>
      </p:sp>
      <p:sp>
        <p:nvSpPr>
          <p:cNvPr id="104" name="Google Shape;104;p10"/>
          <p:cNvSpPr txBox="1">
            <a:spLocks noGrp="1"/>
          </p:cNvSpPr>
          <p:nvPr>
            <p:ph type="body" idx="1"/>
          </p:nvPr>
        </p:nvSpPr>
        <p:spPr>
          <a:xfrm>
            <a:off x="1981200" y="1371600"/>
            <a:ext cx="8229600" cy="4526100"/>
          </a:xfrm>
          <a:prstGeom prst="rect">
            <a:avLst/>
          </a:prstGeom>
          <a:noFill/>
          <a:ln>
            <a:noFill/>
          </a:ln>
        </p:spPr>
        <p:txBody>
          <a:bodyPr spcFirstLastPara="1" wrap="square" lIns="91425" tIns="45700" rIns="91425" bIns="45700" anchor="t" anchorCtr="0">
            <a:noAutofit/>
          </a:bodyPr>
          <a:lstStyle/>
          <a:p>
            <a:pPr marL="514350" indent="-514350">
              <a:spcBef>
                <a:spcPts val="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Here the modified fetch and decode phase of interrupt cycles as follow:</a:t>
            </a:r>
            <a:endParaRPr dirty="0"/>
          </a:p>
          <a:p>
            <a:pPr marL="273050" indent="-116204">
              <a:spcBef>
                <a:spcPts val="520"/>
              </a:spcBef>
              <a:buClr>
                <a:srgbClr val="0BD0D9"/>
              </a:buClr>
              <a:buSzPts val="2470"/>
              <a:buNone/>
            </a:pPr>
            <a:endParaRPr sz="2600" dirty="0">
              <a:latin typeface="Constantia"/>
              <a:ea typeface="Constantia"/>
              <a:cs typeface="Constantia"/>
              <a:sym typeface="Constantia"/>
            </a:endParaRPr>
          </a:p>
        </p:txBody>
      </p:sp>
      <p:pic>
        <p:nvPicPr>
          <p:cNvPr id="105" name="Google Shape;105;p10"/>
          <p:cNvPicPr preferRelativeResize="0"/>
          <p:nvPr/>
        </p:nvPicPr>
        <p:blipFill rotWithShape="1">
          <a:blip r:embed="rId3">
            <a:alphaModFix/>
          </a:blip>
          <a:srcRect/>
          <a:stretch/>
        </p:blipFill>
        <p:spPr>
          <a:xfrm>
            <a:off x="3760631" y="2895601"/>
            <a:ext cx="4449919" cy="1650641"/>
          </a:xfrm>
          <a:prstGeom prst="rect">
            <a:avLst/>
          </a:prstGeom>
          <a:noFill/>
          <a:ln>
            <a:noFill/>
          </a:ln>
        </p:spPr>
      </p:pic>
    </p:spTree>
    <p:extLst>
      <p:ext uri="{BB962C8B-B14F-4D97-AF65-F5344CB8AC3E}">
        <p14:creationId xmlns:p14="http://schemas.microsoft.com/office/powerpoint/2010/main" val="319673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solidFill>
                  <a:srgbClr val="FFFF00"/>
                </a:solidFill>
              </a:rPr>
              <a:t>Question </a:t>
            </a:r>
            <a:r>
              <a:rPr lang="en-IN" b="1" dirty="0" smtClean="0">
                <a:solidFill>
                  <a:srgbClr val="FFFF00"/>
                </a:solidFill>
              </a:rPr>
              <a:t>Practice (Subjective)</a:t>
            </a:r>
            <a:endParaRPr lang="en-IN" b="1" dirty="0">
              <a:solidFill>
                <a:srgbClr val="FFFF00"/>
              </a:solidFill>
            </a:endParaRPr>
          </a:p>
        </p:txBody>
      </p:sp>
      <p:sp>
        <p:nvSpPr>
          <p:cNvPr id="3" name="Subtitle 2"/>
          <p:cNvSpPr>
            <a:spLocks noGrp="1"/>
          </p:cNvSpPr>
          <p:nvPr>
            <p:ph type="subTitle" idx="1"/>
          </p:nvPr>
        </p:nvSpPr>
        <p:spPr>
          <a:xfrm>
            <a:off x="1877961" y="914401"/>
            <a:ext cx="8406581" cy="4916129"/>
          </a:xfrm>
        </p:spPr>
        <p:txBody>
          <a:bodyPr/>
          <a:lstStyle/>
          <a:p>
            <a:pPr algn="just"/>
            <a:r>
              <a:rPr lang="en-IN" sz="2000" dirty="0">
                <a:solidFill>
                  <a:schemeClr val="tx1"/>
                </a:solidFill>
              </a:rPr>
              <a:t>1. A computer uses a memory unit with 65536 words of 32 bits each. A binary instruction code is stored in one word of memory. The instruction has four parts: an indirect bit, an operation code, a register code part to specify one of 1024 registers and an address part.</a:t>
            </a:r>
          </a:p>
          <a:p>
            <a:pPr lvl="0" algn="just"/>
            <a:r>
              <a:rPr lang="en-IN" sz="2000" dirty="0">
                <a:solidFill>
                  <a:schemeClr val="tx1"/>
                </a:solidFill>
              </a:rPr>
              <a:t>(</a:t>
            </a:r>
            <a:r>
              <a:rPr lang="en-IN" sz="2000" dirty="0" err="1">
                <a:solidFill>
                  <a:schemeClr val="tx1"/>
                </a:solidFill>
              </a:rPr>
              <a:t>i</a:t>
            </a:r>
            <a:r>
              <a:rPr lang="en-IN" sz="2000" dirty="0">
                <a:solidFill>
                  <a:schemeClr val="tx1"/>
                </a:solidFill>
              </a:rPr>
              <a:t>). How many bits are there in the operation code, the register part, indirect bit and the address part?</a:t>
            </a:r>
          </a:p>
          <a:p>
            <a:pPr lvl="0" algn="just"/>
            <a:r>
              <a:rPr lang="en-IN" sz="2000" dirty="0">
                <a:solidFill>
                  <a:schemeClr val="tx1"/>
                </a:solidFill>
              </a:rPr>
              <a:t>(ii). Draw an instruction word format and indicate the number of bits in each part.</a:t>
            </a:r>
          </a:p>
          <a:p>
            <a:pPr marL="25400" indent="0" algn="just"/>
            <a:endParaRPr lang="en-IN" sz="2000" dirty="0">
              <a:solidFill>
                <a:schemeClr val="tx1"/>
              </a:solidFill>
            </a:endParaRPr>
          </a:p>
          <a:p>
            <a:pPr marL="25400" indent="0" algn="just"/>
            <a:endParaRPr lang="en-IN" sz="2000" dirty="0">
              <a:solidFill>
                <a:schemeClr val="tx1"/>
              </a:solidFill>
            </a:endParaRPr>
          </a:p>
          <a:p>
            <a:pPr marL="539750" indent="-514350" algn="just">
              <a:buAutoNum type="arabicPeriod"/>
            </a:pPr>
            <a:endParaRPr lang="en-IN" sz="2000" dirty="0">
              <a:solidFill>
                <a:schemeClr val="tx1"/>
              </a:solidFill>
            </a:endParaRPr>
          </a:p>
        </p:txBody>
      </p:sp>
      <p:sp>
        <p:nvSpPr>
          <p:cNvPr id="4" name="Slide Number Placeholder 3"/>
          <p:cNvSpPr>
            <a:spLocks noGrp="1"/>
          </p:cNvSpPr>
          <p:nvPr>
            <p:ph type="sldNum" idx="12"/>
          </p:nvPr>
        </p:nvSpPr>
        <p:spPr/>
        <p:txBody>
          <a:bodyPr/>
          <a:lstStyle/>
          <a:p>
            <a:fld id="{00000000-1234-1234-1234-123412341234}" type="slidenum">
              <a:rPr lang="en-US" smtClean="0"/>
              <a:pPr/>
              <a:t>55</a:t>
            </a:fld>
            <a:endParaRPr lang="en-US" dirty="0"/>
          </a:p>
        </p:txBody>
      </p:sp>
      <p:graphicFrame>
        <p:nvGraphicFramePr>
          <p:cNvPr id="5" name="Table 4"/>
          <p:cNvGraphicFramePr>
            <a:graphicFrameLocks noGrp="1"/>
          </p:cNvGraphicFramePr>
          <p:nvPr/>
        </p:nvGraphicFramePr>
        <p:xfrm>
          <a:off x="1877961" y="5161936"/>
          <a:ext cx="7595420" cy="905597"/>
        </p:xfrm>
        <a:graphic>
          <a:graphicData uri="http://schemas.openxmlformats.org/drawingml/2006/table">
            <a:tbl>
              <a:tblPr firstRow="1" firstCol="1" bandRow="1">
                <a:tableStyleId>{5940675A-B579-460E-94D1-54222C63F5DA}</a:tableStyleId>
              </a:tblPr>
              <a:tblGrid>
                <a:gridCol w="1899581">
                  <a:extLst>
                    <a:ext uri="{9D8B030D-6E8A-4147-A177-3AD203B41FA5}">
                      <a16:colId xmlns:a16="http://schemas.microsoft.com/office/drawing/2014/main" xmlns="" val="20000"/>
                    </a:ext>
                  </a:extLst>
                </a:gridCol>
                <a:gridCol w="1899581">
                  <a:extLst>
                    <a:ext uri="{9D8B030D-6E8A-4147-A177-3AD203B41FA5}">
                      <a16:colId xmlns:a16="http://schemas.microsoft.com/office/drawing/2014/main" xmlns="" val="20001"/>
                    </a:ext>
                  </a:extLst>
                </a:gridCol>
                <a:gridCol w="1898129">
                  <a:extLst>
                    <a:ext uri="{9D8B030D-6E8A-4147-A177-3AD203B41FA5}">
                      <a16:colId xmlns:a16="http://schemas.microsoft.com/office/drawing/2014/main" xmlns="" val="20002"/>
                    </a:ext>
                  </a:extLst>
                </a:gridCol>
                <a:gridCol w="1898129">
                  <a:extLst>
                    <a:ext uri="{9D8B030D-6E8A-4147-A177-3AD203B41FA5}">
                      <a16:colId xmlns:a16="http://schemas.microsoft.com/office/drawing/2014/main" xmlns="" val="20003"/>
                    </a:ext>
                  </a:extLst>
                </a:gridCol>
              </a:tblGrid>
              <a:tr h="445903">
                <a:tc>
                  <a:txBody>
                    <a:bodyPr/>
                    <a:lstStyle/>
                    <a:p>
                      <a:pPr algn="ctr">
                        <a:spcBef>
                          <a:spcPts val="600"/>
                        </a:spcBef>
                        <a:spcAft>
                          <a:spcPts val="0"/>
                        </a:spcAft>
                      </a:pPr>
                      <a:r>
                        <a:rPr lang="en-IN" sz="2400">
                          <a:effectLst/>
                        </a:rPr>
                        <a:t>1</a:t>
                      </a:r>
                      <a:endParaRPr lang="en-IN" sz="1800">
                        <a:effectLst/>
                        <a:latin typeface="Calibri"/>
                        <a:ea typeface="Times New Roman"/>
                      </a:endParaRPr>
                    </a:p>
                  </a:txBody>
                  <a:tcPr marL="68580" marR="68580" marT="0" marB="0"/>
                </a:tc>
                <a:tc>
                  <a:txBody>
                    <a:bodyPr/>
                    <a:lstStyle/>
                    <a:p>
                      <a:pPr algn="ctr">
                        <a:spcBef>
                          <a:spcPts val="600"/>
                        </a:spcBef>
                        <a:spcAft>
                          <a:spcPts val="0"/>
                        </a:spcAft>
                      </a:pPr>
                      <a:r>
                        <a:rPr lang="en-IN" sz="2400">
                          <a:effectLst/>
                        </a:rPr>
                        <a:t>5</a:t>
                      </a:r>
                      <a:endParaRPr lang="en-IN" sz="1800">
                        <a:effectLst/>
                        <a:latin typeface="Calibri"/>
                        <a:ea typeface="Times New Roman"/>
                      </a:endParaRPr>
                    </a:p>
                  </a:txBody>
                  <a:tcPr marL="68580" marR="68580" marT="0" marB="0"/>
                </a:tc>
                <a:tc>
                  <a:txBody>
                    <a:bodyPr/>
                    <a:lstStyle/>
                    <a:p>
                      <a:pPr algn="ctr">
                        <a:spcBef>
                          <a:spcPts val="600"/>
                        </a:spcBef>
                        <a:spcAft>
                          <a:spcPts val="0"/>
                        </a:spcAft>
                      </a:pPr>
                      <a:r>
                        <a:rPr lang="en-IN" sz="2400" dirty="0">
                          <a:effectLst/>
                        </a:rPr>
                        <a:t>10</a:t>
                      </a:r>
                      <a:endParaRPr lang="en-IN" sz="1800" dirty="0">
                        <a:effectLst/>
                        <a:latin typeface="Calibri"/>
                        <a:ea typeface="Times New Roman"/>
                      </a:endParaRPr>
                    </a:p>
                  </a:txBody>
                  <a:tcPr marL="68580" marR="68580" marT="0" marB="0"/>
                </a:tc>
                <a:tc>
                  <a:txBody>
                    <a:bodyPr/>
                    <a:lstStyle/>
                    <a:p>
                      <a:pPr algn="ctr">
                        <a:spcBef>
                          <a:spcPts val="600"/>
                        </a:spcBef>
                        <a:spcAft>
                          <a:spcPts val="0"/>
                        </a:spcAft>
                      </a:pPr>
                      <a:r>
                        <a:rPr lang="en-IN" sz="2400">
                          <a:effectLst/>
                        </a:rPr>
                        <a:t>16</a:t>
                      </a:r>
                      <a:endParaRPr lang="en-IN" sz="1800">
                        <a:effectLst/>
                        <a:latin typeface="Calibri"/>
                        <a:ea typeface="Times New Roman"/>
                      </a:endParaRPr>
                    </a:p>
                  </a:txBody>
                  <a:tcPr marL="68580" marR="68580" marT="0" marB="0"/>
                </a:tc>
                <a:extLst>
                  <a:ext uri="{0D108BD9-81ED-4DB2-BD59-A6C34878D82A}">
                    <a16:rowId xmlns:a16="http://schemas.microsoft.com/office/drawing/2014/main" xmlns="" val="10000"/>
                  </a:ext>
                </a:extLst>
              </a:tr>
              <a:tr h="459694">
                <a:tc>
                  <a:txBody>
                    <a:bodyPr/>
                    <a:lstStyle/>
                    <a:p>
                      <a:pPr algn="ctr">
                        <a:spcBef>
                          <a:spcPts val="600"/>
                        </a:spcBef>
                        <a:spcAft>
                          <a:spcPts val="0"/>
                        </a:spcAft>
                      </a:pPr>
                      <a:r>
                        <a:rPr lang="en-IN" sz="2400" dirty="0">
                          <a:effectLst/>
                        </a:rPr>
                        <a:t>I</a:t>
                      </a:r>
                      <a:endParaRPr lang="en-IN" sz="1800" dirty="0">
                        <a:effectLst/>
                        <a:latin typeface="Calibri"/>
                        <a:ea typeface="Times New Roman"/>
                      </a:endParaRPr>
                    </a:p>
                  </a:txBody>
                  <a:tcPr marL="68580" marR="68580" marT="0" marB="0"/>
                </a:tc>
                <a:tc>
                  <a:txBody>
                    <a:bodyPr/>
                    <a:lstStyle/>
                    <a:p>
                      <a:pPr algn="ctr">
                        <a:spcBef>
                          <a:spcPts val="600"/>
                        </a:spcBef>
                        <a:spcAft>
                          <a:spcPts val="0"/>
                        </a:spcAft>
                      </a:pPr>
                      <a:r>
                        <a:rPr lang="en-IN" sz="2400">
                          <a:effectLst/>
                        </a:rPr>
                        <a:t>Opcode</a:t>
                      </a:r>
                      <a:endParaRPr lang="en-IN" sz="1800">
                        <a:effectLst/>
                        <a:latin typeface="Calibri"/>
                        <a:ea typeface="Times New Roman"/>
                      </a:endParaRPr>
                    </a:p>
                  </a:txBody>
                  <a:tcPr marL="68580" marR="68580" marT="0" marB="0"/>
                </a:tc>
                <a:tc>
                  <a:txBody>
                    <a:bodyPr/>
                    <a:lstStyle/>
                    <a:p>
                      <a:pPr algn="ctr">
                        <a:spcBef>
                          <a:spcPts val="600"/>
                        </a:spcBef>
                        <a:spcAft>
                          <a:spcPts val="0"/>
                        </a:spcAft>
                      </a:pPr>
                      <a:r>
                        <a:rPr lang="en-IN" sz="2400">
                          <a:effectLst/>
                        </a:rPr>
                        <a:t>Register</a:t>
                      </a:r>
                      <a:endParaRPr lang="en-IN" sz="1800">
                        <a:effectLst/>
                        <a:latin typeface="Calibri"/>
                        <a:ea typeface="Times New Roman"/>
                      </a:endParaRPr>
                    </a:p>
                  </a:txBody>
                  <a:tcPr marL="68580" marR="68580" marT="0" marB="0"/>
                </a:tc>
                <a:tc>
                  <a:txBody>
                    <a:bodyPr/>
                    <a:lstStyle/>
                    <a:p>
                      <a:pPr algn="ctr">
                        <a:spcBef>
                          <a:spcPts val="600"/>
                        </a:spcBef>
                        <a:spcAft>
                          <a:spcPts val="0"/>
                        </a:spcAft>
                      </a:pPr>
                      <a:r>
                        <a:rPr lang="en-IN" sz="2400" dirty="0">
                          <a:effectLst/>
                        </a:rPr>
                        <a:t>Address</a:t>
                      </a:r>
                      <a:endParaRPr lang="en-IN" sz="1800" dirty="0">
                        <a:effectLst/>
                        <a:latin typeface="Calibri"/>
                        <a:ea typeface="Times New Roman"/>
                      </a:endParaRPr>
                    </a:p>
                  </a:txBody>
                  <a:tcPr marL="68580" marR="68580" marT="0" marB="0"/>
                </a:tc>
                <a:extLst>
                  <a:ext uri="{0D108BD9-81ED-4DB2-BD59-A6C34878D82A}">
                    <a16:rowId xmlns:a16="http://schemas.microsoft.com/office/drawing/2014/main" xmlns="" val="10001"/>
                  </a:ext>
                </a:extLst>
              </a:tr>
            </a:tbl>
          </a:graphicData>
        </a:graphic>
      </p:graphicFrame>
      <p:sp>
        <p:nvSpPr>
          <p:cNvPr id="6" name="Rectangle 1"/>
          <p:cNvSpPr>
            <a:spLocks noChangeArrowheads="1"/>
          </p:cNvSpPr>
          <p:nvPr/>
        </p:nvSpPr>
        <p:spPr bwMode="auto">
          <a:xfrm>
            <a:off x="3352801" y="3609969"/>
            <a:ext cx="761999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buFontTx/>
              <a:buChar char="•"/>
            </a:pPr>
            <a:r>
              <a:rPr lang="en-US" sz="1600" dirty="0">
                <a:latin typeface="Arial" pitchFamily="34" charset="0"/>
                <a:ea typeface="Times New Roman" pitchFamily="18" charset="0"/>
                <a:cs typeface="Calibri" pitchFamily="34" charset="0"/>
              </a:rPr>
              <a:t>Memory unit with word size 65536, So number of address bits = 16</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US" sz="1600" dirty="0">
                <a:latin typeface="Arial" pitchFamily="34" charset="0"/>
                <a:ea typeface="Times New Roman" pitchFamily="18" charset="0"/>
                <a:cs typeface="Calibri" pitchFamily="34" charset="0"/>
              </a:rPr>
              <a:t>Resister 1024, Register code 10 bits. </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US" sz="1600" dirty="0">
                <a:latin typeface="Arial" pitchFamily="34" charset="0"/>
                <a:ea typeface="Times New Roman" pitchFamily="18" charset="0"/>
                <a:cs typeface="Calibri" pitchFamily="34" charset="0"/>
              </a:rPr>
              <a:t>Indirect bit 1 bit. </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US" sz="1600" dirty="0">
                <a:latin typeface="Arial" pitchFamily="34" charset="0"/>
                <a:ea typeface="Times New Roman" pitchFamily="18" charset="0"/>
                <a:cs typeface="Calibri" pitchFamily="34" charset="0"/>
              </a:rPr>
              <a:t>So, operation code = (32-10-16-1)=5 bits</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buFontTx/>
              <a:buChar char="•"/>
            </a:pPr>
            <a:r>
              <a:rPr lang="en-US" sz="1600" dirty="0">
                <a:latin typeface="Arial" pitchFamily="34" charset="0"/>
                <a:ea typeface="Times New Roman" pitchFamily="18" charset="0"/>
                <a:cs typeface="Calibri" pitchFamily="34" charset="0"/>
              </a:rPr>
              <a:t>  </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US" sz="1600" dirty="0">
                <a:latin typeface="Arial" pitchFamily="34" charset="0"/>
                <a:ea typeface="Times New Roman" pitchFamily="18" charset="0"/>
                <a:cs typeface="Calibri" pitchFamily="34" charset="0"/>
              </a:rPr>
              <a:t>Total 32 bits.</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82848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9472" y="1165124"/>
            <a:ext cx="8421329" cy="5309419"/>
          </a:xfrm>
        </p:spPr>
        <p:txBody>
          <a:bodyPr/>
          <a:lstStyle/>
          <a:p>
            <a:pPr algn="just"/>
            <a:r>
              <a:rPr lang="en-IN" sz="2000" dirty="0">
                <a:solidFill>
                  <a:schemeClr val="tx1"/>
                </a:solidFill>
              </a:rPr>
              <a:t>2.  An instruction at address 021 in the basic computer has an address part equal to 083 (all numbers are in hexadecimal). The memory word at address 083 contains the operand C73A and the content of AC (Accumulator) is B239. Determine the contents of the registers at the end of the execute phase: PC (Program Counter), AR (Address Register), AC and IR (Instruction Register). Implement the problem using following operation codes (Hexadecimal code):</a:t>
            </a:r>
          </a:p>
          <a:p>
            <a:r>
              <a:rPr lang="en-IN" sz="2000" dirty="0" err="1">
                <a:solidFill>
                  <a:schemeClr val="tx1"/>
                </a:solidFill>
              </a:rPr>
              <a:t>i</a:t>
            </a:r>
            <a:r>
              <a:rPr lang="en-IN" sz="2000" dirty="0">
                <a:solidFill>
                  <a:schemeClr val="tx1"/>
                </a:solidFill>
              </a:rPr>
              <a:t>) AND (0083)</a:t>
            </a:r>
          </a:p>
          <a:p>
            <a:r>
              <a:rPr lang="en-IN" sz="2000" dirty="0">
                <a:solidFill>
                  <a:schemeClr val="tx1"/>
                </a:solidFill>
              </a:rPr>
              <a:t>ii) CMA (7200)</a:t>
            </a:r>
          </a:p>
          <a:p>
            <a:r>
              <a:rPr lang="en-IN" sz="2000" dirty="0">
                <a:solidFill>
                  <a:schemeClr val="tx1"/>
                </a:solidFill>
              </a:rPr>
              <a:t>iii) INC (7800)</a:t>
            </a:r>
          </a:p>
          <a:p>
            <a:r>
              <a:rPr lang="en-IN" sz="2000" dirty="0">
                <a:solidFill>
                  <a:schemeClr val="tx1"/>
                </a:solidFill>
              </a:rPr>
              <a:t>iv) BUN (4520)</a:t>
            </a:r>
          </a:p>
          <a:p>
            <a:pPr algn="just"/>
            <a:endParaRPr lang="en-IN" sz="2000" dirty="0">
              <a:solidFill>
                <a:schemeClr val="tx1"/>
              </a:solidFill>
            </a:endParaRPr>
          </a:p>
          <a:p>
            <a:pPr algn="just"/>
            <a:endParaRPr lang="en-IN" sz="2000" dirty="0">
              <a:solidFill>
                <a:schemeClr val="tx1"/>
              </a:solidFill>
            </a:endParaRPr>
          </a:p>
        </p:txBody>
      </p:sp>
      <p:sp>
        <p:nvSpPr>
          <p:cNvPr id="4" name="Slide Number Placeholder 3"/>
          <p:cNvSpPr>
            <a:spLocks noGrp="1"/>
          </p:cNvSpPr>
          <p:nvPr>
            <p:ph type="sldNum" idx="12"/>
          </p:nvPr>
        </p:nvSpPr>
        <p:spPr/>
        <p:txBody>
          <a:bodyPr/>
          <a:lstStyle/>
          <a:p>
            <a:fld id="{00000000-1234-1234-1234-123412341234}" type="slidenum">
              <a:rPr lang="en-US" smtClean="0"/>
              <a:pPr/>
              <a:t>56</a:t>
            </a:fld>
            <a:endParaRPr lang="en-US"/>
          </a:p>
        </p:txBody>
      </p:sp>
    </p:spTree>
    <p:extLst>
      <p:ext uri="{BB962C8B-B14F-4D97-AF65-F5344CB8AC3E}">
        <p14:creationId xmlns:p14="http://schemas.microsoft.com/office/powerpoint/2010/main" val="31094944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9472" y="1165124"/>
            <a:ext cx="8421329" cy="4930877"/>
          </a:xfrm>
        </p:spPr>
        <p:txBody>
          <a:bodyPr/>
          <a:lstStyle/>
          <a:p>
            <a:pPr algn="just"/>
            <a:r>
              <a:rPr lang="en-IN" sz="2000" dirty="0"/>
              <a:t>Ans. 2</a:t>
            </a:r>
          </a:p>
          <a:p>
            <a:pPr algn="just"/>
            <a:r>
              <a:rPr lang="en-IN" sz="2000" dirty="0"/>
              <a:t> Step 1</a:t>
            </a:r>
          </a:p>
          <a:p>
            <a:pPr algn="just"/>
            <a:endParaRPr lang="en-IN" sz="2000" dirty="0"/>
          </a:p>
        </p:txBody>
      </p:sp>
      <p:sp>
        <p:nvSpPr>
          <p:cNvPr id="4" name="Slide Number Placeholder 3"/>
          <p:cNvSpPr>
            <a:spLocks noGrp="1"/>
          </p:cNvSpPr>
          <p:nvPr>
            <p:ph type="sldNum" idx="12"/>
          </p:nvPr>
        </p:nvSpPr>
        <p:spPr/>
        <p:txBody>
          <a:bodyPr/>
          <a:lstStyle/>
          <a:p>
            <a:fld id="{00000000-1234-1234-1234-123412341234}" type="slidenum">
              <a:rPr lang="en-US" smtClean="0"/>
              <a:pPr/>
              <a:t>57</a:t>
            </a:fld>
            <a:endParaRPr lang="en-US"/>
          </a:p>
        </p:txBody>
      </p:sp>
      <p:graphicFrame>
        <p:nvGraphicFramePr>
          <p:cNvPr id="6" name="Table 5"/>
          <p:cNvGraphicFramePr>
            <a:graphicFrameLocks noGrp="1"/>
          </p:cNvGraphicFramePr>
          <p:nvPr/>
        </p:nvGraphicFramePr>
        <p:xfrm>
          <a:off x="1956618" y="2389818"/>
          <a:ext cx="8524568" cy="2316480"/>
        </p:xfrm>
        <a:graphic>
          <a:graphicData uri="http://schemas.openxmlformats.org/drawingml/2006/table">
            <a:tbl>
              <a:tblPr firstRow="1" firstCol="1" bandRow="1">
                <a:tableStyleId>{5940675A-B579-460E-94D1-54222C63F5DA}</a:tableStyleId>
              </a:tblPr>
              <a:tblGrid>
                <a:gridCol w="1421797">
                  <a:extLst>
                    <a:ext uri="{9D8B030D-6E8A-4147-A177-3AD203B41FA5}">
                      <a16:colId xmlns:a16="http://schemas.microsoft.com/office/drawing/2014/main" xmlns="" val="20000"/>
                    </a:ext>
                  </a:extLst>
                </a:gridCol>
                <a:gridCol w="1421107">
                  <a:extLst>
                    <a:ext uri="{9D8B030D-6E8A-4147-A177-3AD203B41FA5}">
                      <a16:colId xmlns:a16="http://schemas.microsoft.com/office/drawing/2014/main" xmlns="" val="20001"/>
                    </a:ext>
                  </a:extLst>
                </a:gridCol>
                <a:gridCol w="1420416">
                  <a:extLst>
                    <a:ext uri="{9D8B030D-6E8A-4147-A177-3AD203B41FA5}">
                      <a16:colId xmlns:a16="http://schemas.microsoft.com/office/drawing/2014/main" xmlns="" val="20002"/>
                    </a:ext>
                  </a:extLst>
                </a:gridCol>
                <a:gridCol w="1420416">
                  <a:extLst>
                    <a:ext uri="{9D8B030D-6E8A-4147-A177-3AD203B41FA5}">
                      <a16:colId xmlns:a16="http://schemas.microsoft.com/office/drawing/2014/main" xmlns="" val="20003"/>
                    </a:ext>
                  </a:extLst>
                </a:gridCol>
                <a:gridCol w="1420416">
                  <a:extLst>
                    <a:ext uri="{9D8B030D-6E8A-4147-A177-3AD203B41FA5}">
                      <a16:colId xmlns:a16="http://schemas.microsoft.com/office/drawing/2014/main" xmlns="" val="20004"/>
                    </a:ext>
                  </a:extLst>
                </a:gridCol>
                <a:gridCol w="1420416">
                  <a:extLst>
                    <a:ext uri="{9D8B030D-6E8A-4147-A177-3AD203B41FA5}">
                      <a16:colId xmlns:a16="http://schemas.microsoft.com/office/drawing/2014/main" xmlns="" val="20005"/>
                    </a:ext>
                  </a:extLst>
                </a:gridCol>
              </a:tblGrid>
              <a:tr h="292365">
                <a:tc>
                  <a:txBody>
                    <a:bodyPr/>
                    <a:lstStyle/>
                    <a:p>
                      <a:pPr indent="-1270" algn="just">
                        <a:spcBef>
                          <a:spcPts val="600"/>
                        </a:spcBef>
                        <a:spcAft>
                          <a:spcPts val="0"/>
                        </a:spcAft>
                      </a:pPr>
                      <a:r>
                        <a:rPr lang="en-IN" sz="2400" dirty="0">
                          <a:effectLst/>
                        </a:rPr>
                        <a:t> </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PC</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rPr>
                        <a:t>AR</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latin typeface="Calibri"/>
                          <a:ea typeface="Times New Roman"/>
                        </a:rPr>
                        <a:t>DR</a:t>
                      </a:r>
                    </a:p>
                  </a:txBody>
                  <a:tcPr marL="68580" marR="68580" marT="0" marB="0"/>
                </a:tc>
                <a:tc>
                  <a:txBody>
                    <a:bodyPr/>
                    <a:lstStyle/>
                    <a:p>
                      <a:pPr indent="-1270" algn="just">
                        <a:spcBef>
                          <a:spcPts val="600"/>
                        </a:spcBef>
                        <a:spcAft>
                          <a:spcPts val="0"/>
                        </a:spcAft>
                      </a:pPr>
                      <a:r>
                        <a:rPr lang="en-IN" sz="2400">
                          <a:effectLst/>
                        </a:rPr>
                        <a:t>AC</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IR</a:t>
                      </a:r>
                      <a:endParaRPr lang="en-IN" sz="1800">
                        <a:effectLst/>
                        <a:latin typeface="Calibri"/>
                        <a:ea typeface="Times New Roman"/>
                      </a:endParaRPr>
                    </a:p>
                  </a:txBody>
                  <a:tcPr marL="68580" marR="68580" marT="0" marB="0"/>
                </a:tc>
                <a:extLst>
                  <a:ext uri="{0D108BD9-81ED-4DB2-BD59-A6C34878D82A}">
                    <a16:rowId xmlns:a16="http://schemas.microsoft.com/office/drawing/2014/main" xmlns="" val="10000"/>
                  </a:ext>
                </a:extLst>
              </a:tr>
              <a:tr h="292365">
                <a:tc>
                  <a:txBody>
                    <a:bodyPr/>
                    <a:lstStyle/>
                    <a:p>
                      <a:pPr indent="-1270" algn="just">
                        <a:spcBef>
                          <a:spcPts val="600"/>
                        </a:spcBef>
                        <a:spcAft>
                          <a:spcPts val="0"/>
                        </a:spcAft>
                      </a:pPr>
                      <a:r>
                        <a:rPr lang="en-IN" sz="2400">
                          <a:effectLst/>
                        </a:rPr>
                        <a:t>Initial</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rPr>
                        <a:t>021</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083</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b="0" dirty="0">
                          <a:effectLst/>
                          <a:latin typeface="Calibri"/>
                          <a:ea typeface="Times New Roman"/>
                        </a:rPr>
                        <a:t>C73A</a:t>
                      </a:r>
                    </a:p>
                  </a:txBody>
                  <a:tcPr marL="68580" marR="68580" marT="0" marB="0"/>
                </a:tc>
                <a:tc>
                  <a:txBody>
                    <a:bodyPr/>
                    <a:lstStyle/>
                    <a:p>
                      <a:pPr indent="-1270" algn="just">
                        <a:spcBef>
                          <a:spcPts val="600"/>
                        </a:spcBef>
                        <a:spcAft>
                          <a:spcPts val="0"/>
                        </a:spcAft>
                      </a:pPr>
                      <a:r>
                        <a:rPr lang="en-IN" sz="2400" dirty="0">
                          <a:effectLst/>
                          <a:latin typeface="+mn-lt"/>
                          <a:ea typeface="+mn-ea"/>
                        </a:rPr>
                        <a:t>B239</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0083</a:t>
                      </a:r>
                      <a:endParaRPr lang="en-IN" sz="1800">
                        <a:effectLst/>
                        <a:latin typeface="Calibri"/>
                        <a:ea typeface="Times New Roman"/>
                      </a:endParaRPr>
                    </a:p>
                  </a:txBody>
                  <a:tcPr marL="68580" marR="68580" marT="0" marB="0"/>
                </a:tc>
                <a:extLst>
                  <a:ext uri="{0D108BD9-81ED-4DB2-BD59-A6C34878D82A}">
                    <a16:rowId xmlns:a16="http://schemas.microsoft.com/office/drawing/2014/main" xmlns="" val="10001"/>
                  </a:ext>
                </a:extLst>
              </a:tr>
              <a:tr h="292365">
                <a:tc>
                  <a:txBody>
                    <a:bodyPr/>
                    <a:lstStyle/>
                    <a:p>
                      <a:pPr indent="-1270" algn="just">
                        <a:spcBef>
                          <a:spcPts val="600"/>
                        </a:spcBef>
                        <a:spcAft>
                          <a:spcPts val="0"/>
                        </a:spcAft>
                      </a:pPr>
                      <a:r>
                        <a:rPr lang="en-IN" sz="2400">
                          <a:effectLst/>
                        </a:rPr>
                        <a:t>AND</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extLst>
                  <a:ext uri="{0D108BD9-81ED-4DB2-BD59-A6C34878D82A}">
                    <a16:rowId xmlns:a16="http://schemas.microsoft.com/office/drawing/2014/main" xmlns="" val="10002"/>
                  </a:ext>
                </a:extLst>
              </a:tr>
              <a:tr h="292365">
                <a:tc>
                  <a:txBody>
                    <a:bodyPr/>
                    <a:lstStyle/>
                    <a:p>
                      <a:pPr indent="-1270" algn="just">
                        <a:spcBef>
                          <a:spcPts val="600"/>
                        </a:spcBef>
                        <a:spcAft>
                          <a:spcPts val="0"/>
                        </a:spcAft>
                      </a:pPr>
                      <a:r>
                        <a:rPr lang="en-IN" sz="2400" dirty="0">
                          <a:effectLst/>
                        </a:rPr>
                        <a:t>CMA</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extLst>
                  <a:ext uri="{0D108BD9-81ED-4DB2-BD59-A6C34878D82A}">
                    <a16:rowId xmlns:a16="http://schemas.microsoft.com/office/drawing/2014/main" xmlns="" val="10003"/>
                  </a:ext>
                </a:extLst>
              </a:tr>
              <a:tr h="292365">
                <a:tc>
                  <a:txBody>
                    <a:bodyPr/>
                    <a:lstStyle/>
                    <a:p>
                      <a:pPr indent="-1270" algn="just">
                        <a:spcBef>
                          <a:spcPts val="600"/>
                        </a:spcBef>
                        <a:spcAft>
                          <a:spcPts val="0"/>
                        </a:spcAft>
                      </a:pPr>
                      <a:r>
                        <a:rPr lang="en-IN" sz="2800" dirty="0">
                          <a:effectLst/>
                          <a:latin typeface="Calibri"/>
                          <a:ea typeface="Times New Roman"/>
                        </a:rPr>
                        <a:t>INC</a:t>
                      </a: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extLst>
                  <a:ext uri="{0D108BD9-81ED-4DB2-BD59-A6C34878D82A}">
                    <a16:rowId xmlns:a16="http://schemas.microsoft.com/office/drawing/2014/main" xmlns="" val="10004"/>
                  </a:ext>
                </a:extLst>
              </a:tr>
              <a:tr h="292365">
                <a:tc>
                  <a:txBody>
                    <a:bodyPr/>
                    <a:lstStyle/>
                    <a:p>
                      <a:pPr indent="-1270" algn="just">
                        <a:spcBef>
                          <a:spcPts val="600"/>
                        </a:spcBef>
                        <a:spcAft>
                          <a:spcPts val="0"/>
                        </a:spcAft>
                      </a:pPr>
                      <a:r>
                        <a:rPr lang="en-IN" sz="2800" dirty="0">
                          <a:effectLst/>
                          <a:latin typeface="Calibri"/>
                          <a:ea typeface="Times New Roman"/>
                        </a:rPr>
                        <a:t>BUN</a:t>
                      </a: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36401791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9472" y="1165124"/>
            <a:ext cx="8421329" cy="4930877"/>
          </a:xfrm>
        </p:spPr>
        <p:txBody>
          <a:bodyPr/>
          <a:lstStyle/>
          <a:p>
            <a:pPr algn="just"/>
            <a:r>
              <a:rPr lang="en-IN" sz="2000" dirty="0"/>
              <a:t>Ans. 2</a:t>
            </a:r>
          </a:p>
          <a:p>
            <a:pPr algn="just"/>
            <a:endParaRPr lang="en-IN" sz="2000" dirty="0"/>
          </a:p>
          <a:p>
            <a:pPr algn="just"/>
            <a:endParaRPr lang="en-IN" sz="2000" dirty="0"/>
          </a:p>
        </p:txBody>
      </p:sp>
      <p:sp>
        <p:nvSpPr>
          <p:cNvPr id="4" name="Slide Number Placeholder 3"/>
          <p:cNvSpPr>
            <a:spLocks noGrp="1"/>
          </p:cNvSpPr>
          <p:nvPr>
            <p:ph type="sldNum" idx="12"/>
          </p:nvPr>
        </p:nvSpPr>
        <p:spPr/>
        <p:txBody>
          <a:bodyPr/>
          <a:lstStyle/>
          <a:p>
            <a:fld id="{00000000-1234-1234-1234-123412341234}" type="slidenum">
              <a:rPr lang="en-US" smtClean="0"/>
              <a:pPr/>
              <a:t>58</a:t>
            </a:fld>
            <a:endParaRPr lang="en-US"/>
          </a:p>
        </p:txBody>
      </p:sp>
      <p:graphicFrame>
        <p:nvGraphicFramePr>
          <p:cNvPr id="5" name="Table 4"/>
          <p:cNvGraphicFramePr>
            <a:graphicFrameLocks noGrp="1"/>
          </p:cNvGraphicFramePr>
          <p:nvPr/>
        </p:nvGraphicFramePr>
        <p:xfrm>
          <a:off x="1789470" y="1735972"/>
          <a:ext cx="8524568" cy="2194560"/>
        </p:xfrm>
        <a:graphic>
          <a:graphicData uri="http://schemas.openxmlformats.org/drawingml/2006/table">
            <a:tbl>
              <a:tblPr firstRow="1" firstCol="1" bandRow="1">
                <a:tableStyleId>{5940675A-B579-460E-94D1-54222C63F5DA}</a:tableStyleId>
              </a:tblPr>
              <a:tblGrid>
                <a:gridCol w="1421797">
                  <a:extLst>
                    <a:ext uri="{9D8B030D-6E8A-4147-A177-3AD203B41FA5}">
                      <a16:colId xmlns:a16="http://schemas.microsoft.com/office/drawing/2014/main" xmlns="" val="20000"/>
                    </a:ext>
                  </a:extLst>
                </a:gridCol>
                <a:gridCol w="1421107">
                  <a:extLst>
                    <a:ext uri="{9D8B030D-6E8A-4147-A177-3AD203B41FA5}">
                      <a16:colId xmlns:a16="http://schemas.microsoft.com/office/drawing/2014/main" xmlns="" val="20001"/>
                    </a:ext>
                  </a:extLst>
                </a:gridCol>
                <a:gridCol w="1420416">
                  <a:extLst>
                    <a:ext uri="{9D8B030D-6E8A-4147-A177-3AD203B41FA5}">
                      <a16:colId xmlns:a16="http://schemas.microsoft.com/office/drawing/2014/main" xmlns="" val="20002"/>
                    </a:ext>
                  </a:extLst>
                </a:gridCol>
                <a:gridCol w="1420416">
                  <a:extLst>
                    <a:ext uri="{9D8B030D-6E8A-4147-A177-3AD203B41FA5}">
                      <a16:colId xmlns:a16="http://schemas.microsoft.com/office/drawing/2014/main" xmlns="" val="20003"/>
                    </a:ext>
                  </a:extLst>
                </a:gridCol>
                <a:gridCol w="1420416">
                  <a:extLst>
                    <a:ext uri="{9D8B030D-6E8A-4147-A177-3AD203B41FA5}">
                      <a16:colId xmlns:a16="http://schemas.microsoft.com/office/drawing/2014/main" xmlns="" val="20004"/>
                    </a:ext>
                  </a:extLst>
                </a:gridCol>
                <a:gridCol w="1420416">
                  <a:extLst>
                    <a:ext uri="{9D8B030D-6E8A-4147-A177-3AD203B41FA5}">
                      <a16:colId xmlns:a16="http://schemas.microsoft.com/office/drawing/2014/main" xmlns="" val="20005"/>
                    </a:ext>
                  </a:extLst>
                </a:gridCol>
              </a:tblGrid>
              <a:tr h="292365">
                <a:tc>
                  <a:txBody>
                    <a:bodyPr/>
                    <a:lstStyle/>
                    <a:p>
                      <a:pPr indent="-1270" algn="just">
                        <a:spcBef>
                          <a:spcPts val="600"/>
                        </a:spcBef>
                        <a:spcAft>
                          <a:spcPts val="0"/>
                        </a:spcAft>
                      </a:pPr>
                      <a:r>
                        <a:rPr lang="en-IN" sz="2400" dirty="0">
                          <a:effectLst/>
                        </a:rPr>
                        <a:t> </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PC</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rPr>
                        <a:t>AR</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latin typeface="Calibri"/>
                          <a:ea typeface="Times New Roman"/>
                        </a:rPr>
                        <a:t>DR</a:t>
                      </a:r>
                    </a:p>
                  </a:txBody>
                  <a:tcPr marL="68580" marR="68580" marT="0" marB="0"/>
                </a:tc>
                <a:tc>
                  <a:txBody>
                    <a:bodyPr/>
                    <a:lstStyle/>
                    <a:p>
                      <a:pPr indent="-1270" algn="just">
                        <a:spcBef>
                          <a:spcPts val="600"/>
                        </a:spcBef>
                        <a:spcAft>
                          <a:spcPts val="0"/>
                        </a:spcAft>
                      </a:pPr>
                      <a:r>
                        <a:rPr lang="en-IN" sz="2400">
                          <a:effectLst/>
                        </a:rPr>
                        <a:t>AC</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IR</a:t>
                      </a:r>
                      <a:endParaRPr lang="en-IN" sz="1800">
                        <a:effectLst/>
                        <a:latin typeface="Calibri"/>
                        <a:ea typeface="Times New Roman"/>
                      </a:endParaRPr>
                    </a:p>
                  </a:txBody>
                  <a:tcPr marL="68580" marR="68580" marT="0" marB="0"/>
                </a:tc>
                <a:extLst>
                  <a:ext uri="{0D108BD9-81ED-4DB2-BD59-A6C34878D82A}">
                    <a16:rowId xmlns:a16="http://schemas.microsoft.com/office/drawing/2014/main" xmlns="" val="10000"/>
                  </a:ext>
                </a:extLst>
              </a:tr>
              <a:tr h="292365">
                <a:tc>
                  <a:txBody>
                    <a:bodyPr/>
                    <a:lstStyle/>
                    <a:p>
                      <a:pPr indent="-1270" algn="just">
                        <a:spcBef>
                          <a:spcPts val="600"/>
                        </a:spcBef>
                        <a:spcAft>
                          <a:spcPts val="0"/>
                        </a:spcAft>
                      </a:pPr>
                      <a:r>
                        <a:rPr lang="en-IN" sz="2400">
                          <a:effectLst/>
                        </a:rPr>
                        <a:t>Initial</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rPr>
                        <a:t>021</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083</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latin typeface="Calibri"/>
                          <a:ea typeface="Times New Roman"/>
                        </a:rPr>
                        <a:t>C73A</a:t>
                      </a:r>
                    </a:p>
                  </a:txBody>
                  <a:tcPr marL="68580" marR="68580" marT="0" marB="0"/>
                </a:tc>
                <a:tc>
                  <a:txBody>
                    <a:bodyPr/>
                    <a:lstStyle/>
                    <a:p>
                      <a:pPr indent="-1270" algn="just">
                        <a:spcBef>
                          <a:spcPts val="600"/>
                        </a:spcBef>
                        <a:spcAft>
                          <a:spcPts val="0"/>
                        </a:spcAft>
                      </a:pPr>
                      <a:r>
                        <a:rPr lang="en-IN" sz="2400" dirty="0">
                          <a:effectLst/>
                          <a:latin typeface="+mn-lt"/>
                          <a:ea typeface="+mn-ea"/>
                        </a:rPr>
                        <a:t>B239</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0083</a:t>
                      </a:r>
                      <a:endParaRPr lang="en-IN" sz="1800">
                        <a:effectLst/>
                        <a:latin typeface="Calibri"/>
                        <a:ea typeface="Times New Roman"/>
                      </a:endParaRPr>
                    </a:p>
                  </a:txBody>
                  <a:tcPr marL="68580" marR="68580" marT="0" marB="0"/>
                </a:tc>
                <a:extLst>
                  <a:ext uri="{0D108BD9-81ED-4DB2-BD59-A6C34878D82A}">
                    <a16:rowId xmlns:a16="http://schemas.microsoft.com/office/drawing/2014/main" xmlns="" val="10001"/>
                  </a:ext>
                </a:extLst>
              </a:tr>
              <a:tr h="292365">
                <a:tc>
                  <a:txBody>
                    <a:bodyPr/>
                    <a:lstStyle/>
                    <a:p>
                      <a:pPr indent="-1270" algn="just">
                        <a:spcBef>
                          <a:spcPts val="600"/>
                        </a:spcBef>
                        <a:spcAft>
                          <a:spcPts val="0"/>
                        </a:spcAft>
                      </a:pPr>
                      <a:r>
                        <a:rPr lang="en-IN" sz="2400">
                          <a:effectLst/>
                        </a:rPr>
                        <a:t>AND</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1800" dirty="0">
                          <a:effectLst/>
                          <a:latin typeface="Calibri"/>
                          <a:ea typeface="Times New Roman"/>
                        </a:rPr>
                        <a:t>022</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8238</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0083</a:t>
                      </a:r>
                    </a:p>
                  </a:txBody>
                  <a:tcPr marL="68580" marR="68580" marT="0" marB="0"/>
                </a:tc>
                <a:extLst>
                  <a:ext uri="{0D108BD9-81ED-4DB2-BD59-A6C34878D82A}">
                    <a16:rowId xmlns:a16="http://schemas.microsoft.com/office/drawing/2014/main" xmlns="" val="10002"/>
                  </a:ext>
                </a:extLst>
              </a:tr>
              <a:tr h="292365">
                <a:tc>
                  <a:txBody>
                    <a:bodyPr/>
                    <a:lstStyle/>
                    <a:p>
                      <a:pPr indent="-1270" algn="just">
                        <a:spcBef>
                          <a:spcPts val="600"/>
                        </a:spcBef>
                        <a:spcAft>
                          <a:spcPts val="0"/>
                        </a:spcAft>
                      </a:pPr>
                      <a:r>
                        <a:rPr lang="en-IN" sz="2400" dirty="0">
                          <a:effectLst/>
                        </a:rPr>
                        <a:t>CMA</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1800" dirty="0">
                          <a:effectLst/>
                          <a:latin typeface="Calibri"/>
                          <a:ea typeface="Times New Roman"/>
                        </a:rPr>
                        <a:t>022</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4DC6</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7200</a:t>
                      </a:r>
                    </a:p>
                  </a:txBody>
                  <a:tcPr marL="68580" marR="68580" marT="0" marB="0"/>
                </a:tc>
                <a:extLst>
                  <a:ext uri="{0D108BD9-81ED-4DB2-BD59-A6C34878D82A}">
                    <a16:rowId xmlns:a16="http://schemas.microsoft.com/office/drawing/2014/main" xmlns="" val="10003"/>
                  </a:ext>
                </a:extLst>
              </a:tr>
              <a:tr h="292365">
                <a:tc>
                  <a:txBody>
                    <a:bodyPr/>
                    <a:lstStyle/>
                    <a:p>
                      <a:pPr indent="-1270" algn="just">
                        <a:spcBef>
                          <a:spcPts val="600"/>
                        </a:spcBef>
                        <a:spcAft>
                          <a:spcPts val="0"/>
                        </a:spcAft>
                      </a:pPr>
                      <a:r>
                        <a:rPr lang="en-IN" sz="2400" b="0" dirty="0">
                          <a:effectLst/>
                          <a:latin typeface="Calibri"/>
                          <a:ea typeface="Times New Roman"/>
                        </a:rPr>
                        <a:t>INC</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022</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B23A</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7800</a:t>
                      </a:r>
                    </a:p>
                  </a:txBody>
                  <a:tcPr marL="68580" marR="68580" marT="0" marB="0"/>
                </a:tc>
                <a:extLst>
                  <a:ext uri="{0D108BD9-81ED-4DB2-BD59-A6C34878D82A}">
                    <a16:rowId xmlns:a16="http://schemas.microsoft.com/office/drawing/2014/main" xmlns="" val="10004"/>
                  </a:ext>
                </a:extLst>
              </a:tr>
              <a:tr h="292365">
                <a:tc>
                  <a:txBody>
                    <a:bodyPr/>
                    <a:lstStyle/>
                    <a:p>
                      <a:pPr indent="-1270" algn="just">
                        <a:spcBef>
                          <a:spcPts val="600"/>
                        </a:spcBef>
                        <a:spcAft>
                          <a:spcPts val="0"/>
                        </a:spcAft>
                      </a:pPr>
                      <a:r>
                        <a:rPr lang="en-IN" sz="2400" b="0" dirty="0">
                          <a:effectLst/>
                          <a:latin typeface="Calibri"/>
                          <a:ea typeface="Times New Roman"/>
                        </a:rPr>
                        <a:t>BUN</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1800" dirty="0">
                          <a:effectLst/>
                          <a:latin typeface="Calibri"/>
                          <a:ea typeface="Times New Roman"/>
                        </a:rPr>
                        <a:t>B239</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4520</a:t>
                      </a:r>
                    </a:p>
                  </a:txBody>
                  <a:tcPr marL="68580" marR="68580" marT="0" marB="0"/>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22363867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A2A3EC-F5DF-B527-A0C3-27D089C86CE2}"/>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xmlns="" id="{683171DE-FD4D-E55C-F0E3-D7F58B9A1F29}"/>
              </a:ext>
            </a:extLst>
          </p:cNvPr>
          <p:cNvSpPr>
            <a:spLocks noGrp="1"/>
          </p:cNvSpPr>
          <p:nvPr>
            <p:ph type="body" idx="1"/>
          </p:nvPr>
        </p:nvSpPr>
        <p:spPr>
          <a:xfrm>
            <a:off x="351692" y="1125415"/>
            <a:ext cx="11230708" cy="4772149"/>
          </a:xfrm>
        </p:spPr>
        <p:txBody>
          <a:bodyPr/>
          <a:lstStyle/>
          <a:p>
            <a:pPr marL="114300" indent="0">
              <a:buNone/>
            </a:pPr>
            <a:r>
              <a:rPr lang="en-US" sz="1100" dirty="0"/>
              <a:t>.</a:t>
            </a:r>
            <a:endParaRPr lang="en-IN" sz="1100" dirty="0"/>
          </a:p>
        </p:txBody>
      </p:sp>
      <p:sp>
        <p:nvSpPr>
          <p:cNvPr id="4" name="Slide Number Placeholder 3">
            <a:extLst>
              <a:ext uri="{FF2B5EF4-FFF2-40B4-BE49-F238E27FC236}">
                <a16:creationId xmlns:a16="http://schemas.microsoft.com/office/drawing/2014/main" xmlns="" id="{42A3B333-2C46-424B-346F-21233C3DF184}"/>
              </a:ext>
            </a:extLst>
          </p:cNvPr>
          <p:cNvSpPr>
            <a:spLocks noGrp="1"/>
          </p:cNvSpPr>
          <p:nvPr>
            <p:ph type="sldNum" idx="12"/>
          </p:nvPr>
        </p:nvSpPr>
        <p:spPr/>
        <p:txBody>
          <a:bodyPr/>
          <a:lstStyle/>
          <a:p>
            <a:fld id="{00000000-1234-1234-1234-123412341234}" type="slidenum">
              <a:rPr lang="en-US" smtClean="0"/>
              <a:pPr/>
              <a:t>59</a:t>
            </a:fld>
            <a:endParaRPr lang="en-US"/>
          </a:p>
        </p:txBody>
      </p:sp>
      <p:sp>
        <p:nvSpPr>
          <p:cNvPr id="6" name="TextBox 5">
            <a:extLst>
              <a:ext uri="{FF2B5EF4-FFF2-40B4-BE49-F238E27FC236}">
                <a16:creationId xmlns:a16="http://schemas.microsoft.com/office/drawing/2014/main" xmlns="" id="{1D4F3CA8-B93A-EE5F-E594-7CDB379B1A60}"/>
              </a:ext>
            </a:extLst>
          </p:cNvPr>
          <p:cNvSpPr txBox="1"/>
          <p:nvPr/>
        </p:nvSpPr>
        <p:spPr>
          <a:xfrm>
            <a:off x="351692" y="1125415"/>
            <a:ext cx="11099410" cy="1015663"/>
          </a:xfrm>
          <a:prstGeom prst="rect">
            <a:avLst/>
          </a:prstGeom>
          <a:noFill/>
        </p:spPr>
        <p:txBody>
          <a:bodyPr wrap="square">
            <a:spAutoFit/>
          </a:bodyPr>
          <a:lstStyle/>
          <a:p>
            <a:r>
              <a:rPr lang="en-US" sz="2000" b="0" i="0" u="none" strike="noStrike" dirty="0">
                <a:solidFill>
                  <a:srgbClr val="000000"/>
                </a:solidFill>
                <a:effectLst/>
                <a:latin typeface="Calibri" panose="020F0502020204030204" pitchFamily="34" charset="0"/>
              </a:rPr>
              <a:t>Q. 3    A computer uses the memory with unit of 256K words of 32 bit each. A binary instruction of code stored one word of the memory. The Instruction has four parts which are Indirect bit, register code, an operation code and address part with 64 registers. How many bit are there in operation code?</a:t>
            </a:r>
            <a:r>
              <a:rPr lang="en-US" sz="2000" dirty="0"/>
              <a:t> </a:t>
            </a:r>
            <a:endParaRPr lang="en-IN" sz="2000" dirty="0"/>
          </a:p>
        </p:txBody>
      </p:sp>
      <p:pic>
        <p:nvPicPr>
          <p:cNvPr id="8" name="Picture 7">
            <a:extLst>
              <a:ext uri="{FF2B5EF4-FFF2-40B4-BE49-F238E27FC236}">
                <a16:creationId xmlns:a16="http://schemas.microsoft.com/office/drawing/2014/main" xmlns="" id="{166875FA-31A5-1463-DE3E-98751CA78631}"/>
              </a:ext>
            </a:extLst>
          </p:cNvPr>
          <p:cNvPicPr>
            <a:picLocks noChangeAspect="1"/>
          </p:cNvPicPr>
          <p:nvPr/>
        </p:nvPicPr>
        <p:blipFill>
          <a:blip r:embed="rId2"/>
          <a:stretch>
            <a:fillRect/>
          </a:stretch>
        </p:blipFill>
        <p:spPr>
          <a:xfrm>
            <a:off x="3636498" y="2229663"/>
            <a:ext cx="4529797" cy="4309250"/>
          </a:xfrm>
          <a:prstGeom prst="rect">
            <a:avLst/>
          </a:prstGeom>
        </p:spPr>
      </p:pic>
    </p:spTree>
    <p:extLst>
      <p:ext uri="{BB962C8B-B14F-4D97-AF65-F5344CB8AC3E}">
        <p14:creationId xmlns:p14="http://schemas.microsoft.com/office/powerpoint/2010/main" val="5253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71F0F1-3075-CC3D-BF62-5149621DC3ED}"/>
              </a:ext>
            </a:extLst>
          </p:cNvPr>
          <p:cNvSpPr>
            <a:spLocks noGrp="1"/>
          </p:cNvSpPr>
          <p:nvPr>
            <p:ph type="title"/>
          </p:nvPr>
        </p:nvSpPr>
        <p:spPr/>
        <p:txBody>
          <a:bodyPr/>
          <a:lstStyle/>
          <a:p>
            <a:r>
              <a:rPr lang="en-US" dirty="0"/>
              <a:t>Cont..</a:t>
            </a:r>
            <a:endParaRPr lang="en-IN" dirty="0"/>
          </a:p>
        </p:txBody>
      </p:sp>
      <p:sp>
        <p:nvSpPr>
          <p:cNvPr id="3" name="Text Placeholder 2">
            <a:extLst>
              <a:ext uri="{FF2B5EF4-FFF2-40B4-BE49-F238E27FC236}">
                <a16:creationId xmlns:a16="http://schemas.microsoft.com/office/drawing/2014/main" xmlns="" id="{A257CA4C-F877-8002-CF51-32F342429903}"/>
              </a:ext>
            </a:extLst>
          </p:cNvPr>
          <p:cNvSpPr>
            <a:spLocks noGrp="1"/>
          </p:cNvSpPr>
          <p:nvPr>
            <p:ph type="body" idx="1"/>
          </p:nvPr>
        </p:nvSpPr>
        <p:spPr>
          <a:xfrm>
            <a:off x="609599" y="1667815"/>
            <a:ext cx="10972800" cy="2539309"/>
          </a:xfrm>
        </p:spPr>
        <p:txBody>
          <a:bodyPr/>
          <a:lstStyle/>
          <a:p>
            <a:pPr marL="114300" indent="0">
              <a:buNone/>
            </a:pPr>
            <a:r>
              <a:rPr lang="en-US" sz="2000" dirty="0"/>
              <a:t>.</a:t>
            </a:r>
            <a:endParaRPr lang="en-IN" sz="2000" dirty="0"/>
          </a:p>
        </p:txBody>
      </p:sp>
      <p:sp>
        <p:nvSpPr>
          <p:cNvPr id="4" name="Slide Number Placeholder 3">
            <a:extLst>
              <a:ext uri="{FF2B5EF4-FFF2-40B4-BE49-F238E27FC236}">
                <a16:creationId xmlns:a16="http://schemas.microsoft.com/office/drawing/2014/main" xmlns="" id="{875BE05B-1EDD-A0D9-DD34-73A74E6180A8}"/>
              </a:ext>
            </a:extLst>
          </p:cNvPr>
          <p:cNvSpPr>
            <a:spLocks noGrp="1"/>
          </p:cNvSpPr>
          <p:nvPr>
            <p:ph type="sldNum" idx="12"/>
          </p:nvPr>
        </p:nvSpPr>
        <p:spPr/>
        <p:txBody>
          <a:bodyPr/>
          <a:lstStyle/>
          <a:p>
            <a:fld id="{00000000-1234-1234-1234-123412341234}" type="slidenum">
              <a:rPr lang="en-US" smtClean="0"/>
              <a:pPr/>
              <a:t>60</a:t>
            </a:fld>
            <a:endParaRPr lang="en-US"/>
          </a:p>
        </p:txBody>
      </p:sp>
      <p:sp>
        <p:nvSpPr>
          <p:cNvPr id="6" name="TextBox 5">
            <a:extLst>
              <a:ext uri="{FF2B5EF4-FFF2-40B4-BE49-F238E27FC236}">
                <a16:creationId xmlns:a16="http://schemas.microsoft.com/office/drawing/2014/main" xmlns="" id="{FCE74A76-D709-0B53-2715-0C8FD540E4A9}"/>
              </a:ext>
            </a:extLst>
          </p:cNvPr>
          <p:cNvSpPr txBox="1"/>
          <p:nvPr/>
        </p:nvSpPr>
        <p:spPr>
          <a:xfrm>
            <a:off x="609599" y="1177224"/>
            <a:ext cx="11418277" cy="2062103"/>
          </a:xfrm>
          <a:prstGeom prst="rect">
            <a:avLst/>
          </a:prstGeom>
          <a:noFill/>
        </p:spPr>
        <p:txBody>
          <a:bodyPr wrap="square">
            <a:spAutoFit/>
          </a:bodyPr>
          <a:lstStyle/>
          <a:p>
            <a:r>
              <a:rPr lang="en-US" sz="2000" b="0" i="0" u="none" strike="noStrike" dirty="0">
                <a:solidFill>
                  <a:srgbClr val="000000"/>
                </a:solidFill>
                <a:effectLst/>
                <a:latin typeface="Calibri" panose="020F0502020204030204" pitchFamily="34" charset="0"/>
              </a:rPr>
              <a:t>Q. 4  The content of AC is </a:t>
            </a:r>
            <a:r>
              <a:rPr lang="en-US" sz="2000" dirty="0">
                <a:solidFill>
                  <a:srgbClr val="000000"/>
                </a:solidFill>
                <a:latin typeface="Calibri" panose="020F0502020204030204" pitchFamily="34" charset="0"/>
              </a:rPr>
              <a:t>A937</a:t>
            </a:r>
            <a:r>
              <a:rPr lang="en-US" sz="2000" b="0" i="0" u="none" strike="noStrike" dirty="0">
                <a:solidFill>
                  <a:srgbClr val="000000"/>
                </a:solidFill>
                <a:effectLst/>
                <a:latin typeface="Calibri" panose="020F0502020204030204" pitchFamily="34" charset="0"/>
              </a:rPr>
              <a:t>, the content of PC in basic computer is 021, what will the value of AC and PC after performing CIR ?</a:t>
            </a:r>
            <a:r>
              <a:rPr lang="en-US" sz="2000" dirty="0"/>
              <a:t> </a:t>
            </a:r>
          </a:p>
          <a:p>
            <a:endParaRPr lang="en-US" sz="2000" dirty="0"/>
          </a:p>
          <a:p>
            <a:r>
              <a:rPr lang="en-US" sz="2000" dirty="0"/>
              <a:t>Answer: </a:t>
            </a:r>
            <a:r>
              <a:rPr lang="en-US" sz="2000" dirty="0" smtClean="0"/>
              <a:t>hint: CIR-circulate right the contents of accumulator</a:t>
            </a:r>
          </a:p>
          <a:p>
            <a:r>
              <a:rPr lang="en-US" sz="2400" dirty="0" smtClean="0">
                <a:solidFill>
                  <a:srgbClr val="000000"/>
                </a:solidFill>
                <a:latin typeface="Calibri" panose="020F0502020204030204" pitchFamily="34" charset="0"/>
              </a:rPr>
              <a:t>C</a:t>
            </a:r>
            <a:r>
              <a:rPr lang="en-US" sz="2400" dirty="0" smtClean="0">
                <a:solidFill>
                  <a:srgbClr val="000000"/>
                </a:solidFill>
                <a:latin typeface="Calibri" panose="020F0502020204030204" pitchFamily="34" charset="0"/>
              </a:rPr>
              <a:t>ontent </a:t>
            </a:r>
            <a:r>
              <a:rPr lang="en-US" sz="2400" dirty="0">
                <a:solidFill>
                  <a:srgbClr val="000000"/>
                </a:solidFill>
                <a:latin typeface="Calibri" panose="020F0502020204030204" pitchFamily="34" charset="0"/>
              </a:rPr>
              <a:t>of AC is </a:t>
            </a:r>
            <a:r>
              <a:rPr lang="en-US" sz="2400" dirty="0" smtClean="0">
                <a:solidFill>
                  <a:srgbClr val="000000"/>
                </a:solidFill>
                <a:latin typeface="Calibri" panose="020F0502020204030204" pitchFamily="34" charset="0"/>
              </a:rPr>
              <a:t> </a:t>
            </a:r>
            <a:r>
              <a:rPr lang="en-US" sz="2400" dirty="0" smtClean="0"/>
              <a:t>D49B</a:t>
            </a:r>
          </a:p>
          <a:p>
            <a:r>
              <a:rPr lang="en-US" sz="2400" dirty="0">
                <a:solidFill>
                  <a:srgbClr val="000000"/>
                </a:solidFill>
                <a:latin typeface="Calibri" panose="020F0502020204030204" pitchFamily="34" charset="0"/>
              </a:rPr>
              <a:t>content of </a:t>
            </a:r>
            <a:r>
              <a:rPr lang="en-US" sz="2400" dirty="0" smtClean="0">
                <a:solidFill>
                  <a:srgbClr val="000000"/>
                </a:solidFill>
                <a:latin typeface="Calibri" panose="020F0502020204030204" pitchFamily="34" charset="0"/>
              </a:rPr>
              <a:t>PC is 022H</a:t>
            </a:r>
            <a:endParaRPr lang="en-IN" sz="2400" dirty="0"/>
          </a:p>
        </p:txBody>
      </p:sp>
    </p:spTree>
    <p:extLst>
      <p:ext uri="{BB962C8B-B14F-4D97-AF65-F5344CB8AC3E}">
        <p14:creationId xmlns:p14="http://schemas.microsoft.com/office/powerpoint/2010/main" val="820705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71F0F1-3075-CC3D-BF62-5149621DC3ED}"/>
              </a:ext>
            </a:extLst>
          </p:cNvPr>
          <p:cNvSpPr>
            <a:spLocks noGrp="1"/>
          </p:cNvSpPr>
          <p:nvPr>
            <p:ph type="title"/>
          </p:nvPr>
        </p:nvSpPr>
        <p:spPr/>
        <p:txBody>
          <a:bodyPr/>
          <a:lstStyle/>
          <a:p>
            <a:r>
              <a:rPr lang="en-US" dirty="0"/>
              <a:t>Cont..</a:t>
            </a:r>
            <a:endParaRPr lang="en-IN" dirty="0"/>
          </a:p>
        </p:txBody>
      </p:sp>
      <p:sp>
        <p:nvSpPr>
          <p:cNvPr id="3" name="Text Placeholder 2">
            <a:extLst>
              <a:ext uri="{FF2B5EF4-FFF2-40B4-BE49-F238E27FC236}">
                <a16:creationId xmlns:a16="http://schemas.microsoft.com/office/drawing/2014/main" xmlns="" id="{A257CA4C-F877-8002-CF51-32F342429903}"/>
              </a:ext>
            </a:extLst>
          </p:cNvPr>
          <p:cNvSpPr>
            <a:spLocks noGrp="1"/>
          </p:cNvSpPr>
          <p:nvPr>
            <p:ph type="body" idx="1"/>
          </p:nvPr>
        </p:nvSpPr>
        <p:spPr/>
        <p:txBody>
          <a:bodyPr/>
          <a:lstStyle/>
          <a:p>
            <a:pPr marL="114300" indent="0">
              <a:buNone/>
            </a:pPr>
            <a:r>
              <a:rPr lang="en-US" sz="2000" dirty="0"/>
              <a:t>.</a:t>
            </a:r>
            <a:endParaRPr lang="en-IN" sz="2000" dirty="0"/>
          </a:p>
        </p:txBody>
      </p:sp>
      <p:sp>
        <p:nvSpPr>
          <p:cNvPr id="4" name="Slide Number Placeholder 3">
            <a:extLst>
              <a:ext uri="{FF2B5EF4-FFF2-40B4-BE49-F238E27FC236}">
                <a16:creationId xmlns:a16="http://schemas.microsoft.com/office/drawing/2014/main" xmlns="" id="{875BE05B-1EDD-A0D9-DD34-73A74E6180A8}"/>
              </a:ext>
            </a:extLst>
          </p:cNvPr>
          <p:cNvSpPr>
            <a:spLocks noGrp="1"/>
          </p:cNvSpPr>
          <p:nvPr>
            <p:ph type="sldNum" idx="12"/>
          </p:nvPr>
        </p:nvSpPr>
        <p:spPr/>
        <p:txBody>
          <a:bodyPr/>
          <a:lstStyle/>
          <a:p>
            <a:fld id="{00000000-1234-1234-1234-123412341234}" type="slidenum">
              <a:rPr lang="en-US" smtClean="0"/>
              <a:pPr/>
              <a:t>61</a:t>
            </a:fld>
            <a:endParaRPr lang="en-US"/>
          </a:p>
        </p:txBody>
      </p:sp>
      <p:pic>
        <p:nvPicPr>
          <p:cNvPr id="7" name="Picture 6">
            <a:extLst>
              <a:ext uri="{FF2B5EF4-FFF2-40B4-BE49-F238E27FC236}">
                <a16:creationId xmlns:a16="http://schemas.microsoft.com/office/drawing/2014/main" xmlns="" id="{E0697F87-E7A0-8B22-077B-1FB86F8BAC42}"/>
              </a:ext>
            </a:extLst>
          </p:cNvPr>
          <p:cNvPicPr>
            <a:picLocks noChangeAspect="1"/>
          </p:cNvPicPr>
          <p:nvPr/>
        </p:nvPicPr>
        <p:blipFill>
          <a:blip r:embed="rId2"/>
          <a:stretch>
            <a:fillRect/>
          </a:stretch>
        </p:blipFill>
        <p:spPr>
          <a:xfrm>
            <a:off x="1777285" y="1124528"/>
            <a:ext cx="9242870" cy="1632960"/>
          </a:xfrm>
          <a:prstGeom prst="rect">
            <a:avLst/>
          </a:prstGeom>
        </p:spPr>
      </p:pic>
      <p:pic>
        <p:nvPicPr>
          <p:cNvPr id="9" name="Picture 8">
            <a:extLst>
              <a:ext uri="{FF2B5EF4-FFF2-40B4-BE49-F238E27FC236}">
                <a16:creationId xmlns:a16="http://schemas.microsoft.com/office/drawing/2014/main" xmlns="" id="{2419C1E1-258C-5334-0FC8-CDE31C38E31D}"/>
              </a:ext>
            </a:extLst>
          </p:cNvPr>
          <p:cNvPicPr>
            <a:picLocks noChangeAspect="1"/>
          </p:cNvPicPr>
          <p:nvPr/>
        </p:nvPicPr>
        <p:blipFill>
          <a:blip r:embed="rId3"/>
          <a:stretch>
            <a:fillRect/>
          </a:stretch>
        </p:blipFill>
        <p:spPr>
          <a:xfrm>
            <a:off x="3268638" y="2757488"/>
            <a:ext cx="5267325" cy="3781425"/>
          </a:xfrm>
          <a:prstGeom prst="rect">
            <a:avLst/>
          </a:prstGeom>
        </p:spPr>
      </p:pic>
      <p:sp>
        <p:nvSpPr>
          <p:cNvPr id="6" name="TextBox 5"/>
          <p:cNvSpPr txBox="1"/>
          <p:nvPr/>
        </p:nvSpPr>
        <p:spPr>
          <a:xfrm>
            <a:off x="1086119" y="1186935"/>
            <a:ext cx="1116169" cy="461665"/>
          </a:xfrm>
          <a:prstGeom prst="rect">
            <a:avLst/>
          </a:prstGeom>
          <a:noFill/>
        </p:spPr>
        <p:txBody>
          <a:bodyPr wrap="square" rtlCol="0">
            <a:spAutoFit/>
          </a:bodyPr>
          <a:lstStyle/>
          <a:p>
            <a:r>
              <a:rPr lang="en-US" sz="2400" b="1" dirty="0" smtClean="0"/>
              <a:t>Q 5.</a:t>
            </a:r>
            <a:endParaRPr lang="en-US" sz="2400" b="1" dirty="0"/>
          </a:p>
        </p:txBody>
      </p:sp>
    </p:spTree>
    <p:extLst>
      <p:ext uri="{BB962C8B-B14F-4D97-AF65-F5344CB8AC3E}">
        <p14:creationId xmlns:p14="http://schemas.microsoft.com/office/powerpoint/2010/main" val="279697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MCQs</a:t>
            </a:r>
          </a:p>
        </p:txBody>
      </p:sp>
      <p:sp>
        <p:nvSpPr>
          <p:cNvPr id="3" name="Subtitle 2"/>
          <p:cNvSpPr>
            <a:spLocks noGrp="1"/>
          </p:cNvSpPr>
          <p:nvPr>
            <p:ph type="subTitle" idx="1"/>
          </p:nvPr>
        </p:nvSpPr>
        <p:spPr/>
        <p:txBody>
          <a:bodyPr/>
          <a:lstStyle/>
          <a:p>
            <a:pPr algn="just"/>
            <a:r>
              <a:rPr lang="en-US" sz="2000" dirty="0"/>
              <a:t>1) Who developed the basic architecture of computer?</a:t>
            </a:r>
          </a:p>
          <a:p>
            <a:pPr algn="just"/>
            <a:endParaRPr lang="en-US" sz="2000" dirty="0"/>
          </a:p>
          <a:p>
            <a:pPr algn="just"/>
            <a:r>
              <a:rPr lang="en-US" sz="2000" dirty="0"/>
              <a:t>    a) Blaise Pascal</a:t>
            </a:r>
          </a:p>
          <a:p>
            <a:pPr algn="just"/>
            <a:r>
              <a:rPr lang="en-US" sz="2000" dirty="0"/>
              <a:t>    b) Charles Babbage</a:t>
            </a:r>
          </a:p>
          <a:p>
            <a:pPr algn="just"/>
            <a:r>
              <a:rPr lang="en-US" sz="2000" dirty="0"/>
              <a:t>    c) John Von Neumann</a:t>
            </a:r>
          </a:p>
          <a:p>
            <a:pPr algn="just"/>
            <a:r>
              <a:rPr lang="en-US" sz="2000" dirty="0"/>
              <a:t>    d) None of the above</a:t>
            </a:r>
          </a:p>
          <a:p>
            <a:pPr algn="just"/>
            <a:endParaRPr lang="en-US" sz="2000" dirty="0"/>
          </a:p>
          <a:p>
            <a:pPr algn="just"/>
            <a:r>
              <a:rPr lang="en-US" sz="2000" dirty="0"/>
              <a:t>2) Which of the following allows simultaneous write and read operations?</a:t>
            </a:r>
          </a:p>
          <a:p>
            <a:pPr algn="just"/>
            <a:r>
              <a:rPr lang="en-US" sz="2000" dirty="0"/>
              <a:t>    a) ROM</a:t>
            </a:r>
          </a:p>
          <a:p>
            <a:pPr algn="just"/>
            <a:r>
              <a:rPr lang="en-US" sz="2000" dirty="0"/>
              <a:t>    b) EROM</a:t>
            </a:r>
          </a:p>
          <a:p>
            <a:pPr algn="just"/>
            <a:r>
              <a:rPr lang="en-US" sz="2000" dirty="0"/>
              <a:t>    c) RAM</a:t>
            </a:r>
          </a:p>
          <a:p>
            <a:pPr algn="just"/>
            <a:r>
              <a:rPr lang="en-US" sz="2000" dirty="0"/>
              <a:t>    d) None of the above</a:t>
            </a:r>
          </a:p>
          <a:p>
            <a:pPr algn="just"/>
            <a:endParaRPr lang="en-US" sz="2000" dirty="0"/>
          </a:p>
          <a:p>
            <a:pPr algn="just"/>
            <a:endParaRPr lang="en-US" sz="2000"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62</a:t>
            </a:fld>
            <a:endParaRPr lang="en-US" kern="0">
              <a:solidFill>
                <a:srgbClr val="000000"/>
              </a:solidFill>
            </a:endParaRPr>
          </a:p>
        </p:txBody>
      </p:sp>
    </p:spTree>
    <p:extLst>
      <p:ext uri="{BB962C8B-B14F-4D97-AF65-F5344CB8AC3E}">
        <p14:creationId xmlns:p14="http://schemas.microsoft.com/office/powerpoint/2010/main" val="23842662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p:txBody>
          <a:bodyPr/>
          <a:lstStyle/>
          <a:p>
            <a:pPr algn="just"/>
            <a:r>
              <a:rPr lang="en-US" sz="2000" dirty="0"/>
              <a:t>3) Which of the following is not considered as a peripheral device?</a:t>
            </a:r>
          </a:p>
          <a:p>
            <a:pPr algn="just"/>
            <a:r>
              <a:rPr lang="en-US" sz="2000" dirty="0"/>
              <a:t>    a)CPU</a:t>
            </a:r>
          </a:p>
          <a:p>
            <a:pPr algn="just"/>
            <a:r>
              <a:rPr lang="en-US" sz="2000" dirty="0"/>
              <a:t>    b)Keyboard</a:t>
            </a:r>
          </a:p>
          <a:p>
            <a:pPr algn="just"/>
            <a:r>
              <a:rPr lang="en-US" sz="2000" dirty="0"/>
              <a:t>    c)Monitor</a:t>
            </a:r>
          </a:p>
          <a:p>
            <a:pPr algn="just"/>
            <a:r>
              <a:rPr lang="en-US" sz="2000" dirty="0"/>
              <a:t>    d)All of the </a:t>
            </a:r>
            <a:r>
              <a:rPr lang="en-US" sz="2000" dirty="0" smtClean="0"/>
              <a:t>above</a:t>
            </a:r>
          </a:p>
          <a:p>
            <a:pPr algn="just"/>
            <a:endParaRPr lang="en-US" sz="2000" dirty="0"/>
          </a:p>
          <a:p>
            <a:pPr algn="just"/>
            <a:r>
              <a:rPr lang="en-US" sz="2000" dirty="0"/>
              <a:t>4) Computer address bus is -</a:t>
            </a:r>
          </a:p>
          <a:p>
            <a:pPr algn="just"/>
            <a:r>
              <a:rPr lang="en-US" sz="2000" dirty="0"/>
              <a:t>    a)Multidirectional</a:t>
            </a:r>
          </a:p>
          <a:p>
            <a:pPr algn="just"/>
            <a:r>
              <a:rPr lang="en-US" sz="2000" dirty="0"/>
              <a:t>    b)Bidirectional</a:t>
            </a:r>
          </a:p>
          <a:p>
            <a:pPr algn="just"/>
            <a:r>
              <a:rPr lang="en-US" sz="2000" dirty="0"/>
              <a:t>    c)Unidirectional</a:t>
            </a:r>
          </a:p>
          <a:p>
            <a:pPr algn="just"/>
            <a:r>
              <a:rPr lang="en-US" sz="2000" dirty="0"/>
              <a:t>    d)None of the above</a:t>
            </a:r>
          </a:p>
          <a:p>
            <a:pPr algn="just"/>
            <a:endParaRPr lang="en-US" sz="2000"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63</a:t>
            </a:fld>
            <a:endParaRPr lang="en-US" kern="0">
              <a:solidFill>
                <a:srgbClr val="000000"/>
              </a:solidFill>
            </a:endParaRPr>
          </a:p>
        </p:txBody>
      </p:sp>
    </p:spTree>
    <p:extLst>
      <p:ext uri="{BB962C8B-B14F-4D97-AF65-F5344CB8AC3E}">
        <p14:creationId xmlns:p14="http://schemas.microsoft.com/office/powerpoint/2010/main" val="33354657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p:txBody>
          <a:bodyPr/>
          <a:lstStyle/>
          <a:p>
            <a:pPr algn="just"/>
            <a:r>
              <a:rPr lang="en-US" sz="2000" dirty="0"/>
              <a:t>5) Which of the following is a way in which the components of a computer are connected to each other?</a:t>
            </a:r>
          </a:p>
          <a:p>
            <a:pPr marL="25400" indent="0" algn="just"/>
            <a:r>
              <a:rPr lang="en-US" sz="2000" dirty="0"/>
              <a:t>    a)Computer parts</a:t>
            </a:r>
          </a:p>
          <a:p>
            <a:pPr marL="25400" indent="0" algn="just"/>
            <a:r>
              <a:rPr lang="en-US" sz="2000" dirty="0"/>
              <a:t>    b)Computer architecture</a:t>
            </a:r>
          </a:p>
          <a:p>
            <a:pPr marL="25400" indent="0" algn="just"/>
            <a:r>
              <a:rPr lang="en-US" sz="2000" dirty="0"/>
              <a:t>    c)Computer hardware</a:t>
            </a:r>
          </a:p>
          <a:p>
            <a:pPr marL="25400" indent="0" algn="just"/>
            <a:r>
              <a:rPr lang="en-US" sz="2000" dirty="0"/>
              <a:t>    d)None of the above</a:t>
            </a:r>
          </a:p>
          <a:p>
            <a:pPr marL="25400" indent="0" algn="just"/>
            <a:endParaRPr lang="en-US" sz="2000" dirty="0"/>
          </a:p>
          <a:p>
            <a:pPr algn="just"/>
            <a:r>
              <a:rPr lang="en-US" sz="2000" dirty="0"/>
              <a:t>6) Which of the following computer bus connects the CPU to a memory on the system board?</a:t>
            </a:r>
          </a:p>
          <a:p>
            <a:pPr marL="25400" indent="0" algn="just"/>
            <a:r>
              <a:rPr lang="en-US" sz="2000" dirty="0"/>
              <a:t>a) Expansion bus</a:t>
            </a:r>
          </a:p>
          <a:p>
            <a:pPr marL="25400" indent="0" algn="just"/>
            <a:r>
              <a:rPr lang="en-US" sz="2000" dirty="0"/>
              <a:t>b) Width bus</a:t>
            </a:r>
          </a:p>
          <a:p>
            <a:pPr marL="25400" indent="0" algn="just"/>
            <a:r>
              <a:rPr lang="en-US" sz="2000" dirty="0"/>
              <a:t>c) System bus</a:t>
            </a:r>
          </a:p>
          <a:p>
            <a:pPr marL="25400" indent="0" algn="just"/>
            <a:r>
              <a:rPr lang="en-US" sz="2000" dirty="0"/>
              <a:t>d)None of the above</a:t>
            </a:r>
          </a:p>
          <a:p>
            <a:pPr algn="just"/>
            <a:endParaRPr lang="en-US" sz="2000"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64</a:t>
            </a:fld>
            <a:endParaRPr lang="en-US" kern="0">
              <a:solidFill>
                <a:srgbClr val="000000"/>
              </a:solidFill>
            </a:endParaRPr>
          </a:p>
        </p:txBody>
      </p:sp>
    </p:spTree>
    <p:extLst>
      <p:ext uri="{BB962C8B-B14F-4D97-AF65-F5344CB8AC3E}">
        <p14:creationId xmlns:p14="http://schemas.microsoft.com/office/powerpoint/2010/main" val="34435377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p:txBody>
          <a:bodyPr/>
          <a:lstStyle/>
          <a:p>
            <a:pPr algn="just"/>
            <a:r>
              <a:rPr lang="en-US" sz="2000" dirty="0"/>
              <a:t>7) Which of the following memory unit communicates directly with the CPU?</a:t>
            </a:r>
          </a:p>
          <a:p>
            <a:pPr algn="just"/>
            <a:r>
              <a:rPr lang="en-US" sz="2000" dirty="0"/>
              <a:t>a) Auxiliary memory</a:t>
            </a:r>
          </a:p>
          <a:p>
            <a:pPr algn="just"/>
            <a:r>
              <a:rPr lang="en-US" sz="2000" dirty="0"/>
              <a:t>b) Main memory</a:t>
            </a:r>
          </a:p>
          <a:p>
            <a:pPr algn="just"/>
            <a:r>
              <a:rPr lang="en-US" sz="2000" dirty="0"/>
              <a:t>c) Secondary memory</a:t>
            </a:r>
          </a:p>
          <a:p>
            <a:pPr algn="just"/>
            <a:r>
              <a:rPr lang="en-US" sz="2000" dirty="0"/>
              <a:t>d) None of the above</a:t>
            </a:r>
          </a:p>
          <a:p>
            <a:pPr algn="just"/>
            <a:endParaRPr lang="en-US" sz="2000" dirty="0"/>
          </a:p>
          <a:p>
            <a:pPr algn="just"/>
            <a:r>
              <a:rPr lang="en-US" sz="2000" dirty="0"/>
              <a:t>8) In which of the following form the computer stores its data in memory?</a:t>
            </a:r>
          </a:p>
          <a:p>
            <a:pPr algn="just"/>
            <a:r>
              <a:rPr lang="en-US" sz="2000" dirty="0"/>
              <a:t>    a) Hexadecimal form</a:t>
            </a:r>
          </a:p>
          <a:p>
            <a:pPr algn="just"/>
            <a:r>
              <a:rPr lang="en-US" sz="2000" dirty="0"/>
              <a:t>    b) Octal form</a:t>
            </a:r>
          </a:p>
          <a:p>
            <a:pPr algn="just"/>
            <a:r>
              <a:rPr lang="en-US" sz="2000" dirty="0"/>
              <a:t>    c) Binary form</a:t>
            </a:r>
          </a:p>
          <a:p>
            <a:pPr algn="just"/>
            <a:r>
              <a:rPr lang="en-US" sz="2000" dirty="0"/>
              <a:t>    d) Decimal form</a:t>
            </a:r>
          </a:p>
          <a:p>
            <a:pPr algn="just"/>
            <a:endParaRPr lang="en-US" sz="2000"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65</a:t>
            </a:fld>
            <a:endParaRPr lang="en-US" kern="0">
              <a:solidFill>
                <a:srgbClr val="000000"/>
              </a:solidFill>
            </a:endParaRPr>
          </a:p>
        </p:txBody>
      </p:sp>
    </p:spTree>
    <p:extLst>
      <p:ext uri="{BB962C8B-B14F-4D97-AF65-F5344CB8AC3E}">
        <p14:creationId xmlns:p14="http://schemas.microsoft.com/office/powerpoint/2010/main" val="38528029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66</a:t>
            </a:fld>
            <a:endParaRPr lang="en-US" kern="0">
              <a:solidFill>
                <a:srgbClr val="000000"/>
              </a:solidFill>
            </a:endParaRPr>
          </a:p>
        </p:txBody>
      </p:sp>
      <p:sp>
        <p:nvSpPr>
          <p:cNvPr id="5" name="Subtitle 2"/>
          <p:cNvSpPr txBox="1">
            <a:spLocks/>
          </p:cNvSpPr>
          <p:nvPr/>
        </p:nvSpPr>
        <p:spPr>
          <a:xfrm>
            <a:off x="967093" y="1119864"/>
            <a:ext cx="8406581" cy="54190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25400" indent="0" algn="just">
              <a:buClrTx/>
            </a:pPr>
            <a:r>
              <a:rPr lang="en-IN" sz="2400" kern="0" dirty="0">
                <a:solidFill>
                  <a:schemeClr val="tx1"/>
                </a:solidFill>
              </a:rPr>
              <a:t>9</a:t>
            </a:r>
            <a:r>
              <a:rPr lang="en-IN" sz="2400" kern="0" dirty="0" smtClean="0">
                <a:solidFill>
                  <a:schemeClr val="tx1"/>
                </a:solidFill>
              </a:rPr>
              <a:t>. MRI Indicates</a:t>
            </a:r>
          </a:p>
          <a:p>
            <a:pPr marL="539750" indent="-514350" algn="just">
              <a:buClrTx/>
              <a:buFont typeface="Arial"/>
              <a:buAutoNum type="alphaLcParenR"/>
            </a:pPr>
            <a:r>
              <a:rPr lang="en-IN" sz="2400" kern="0" dirty="0" smtClean="0">
                <a:solidFill>
                  <a:schemeClr val="tx1"/>
                </a:solidFill>
              </a:rPr>
              <a:t>Memory Reference Information</a:t>
            </a:r>
          </a:p>
          <a:p>
            <a:pPr marL="539750" indent="-514350" algn="just">
              <a:buClrTx/>
              <a:buFont typeface="Arial"/>
              <a:buAutoNum type="alphaLcParenR"/>
            </a:pPr>
            <a:r>
              <a:rPr lang="en-IN" sz="2400" kern="0" dirty="0" smtClean="0">
                <a:solidFill>
                  <a:schemeClr val="tx1"/>
                </a:solidFill>
              </a:rPr>
              <a:t>Memory Reference Instruction</a:t>
            </a:r>
          </a:p>
          <a:p>
            <a:pPr marL="539750" indent="-514350" algn="just">
              <a:buClrTx/>
              <a:buFont typeface="Arial"/>
              <a:buAutoNum type="alphaLcParenR"/>
            </a:pPr>
            <a:r>
              <a:rPr lang="en-IN" sz="2400" kern="0" dirty="0" smtClean="0">
                <a:solidFill>
                  <a:schemeClr val="tx1"/>
                </a:solidFill>
              </a:rPr>
              <a:t>Memory Registers Instruction</a:t>
            </a:r>
          </a:p>
          <a:p>
            <a:pPr marL="539750" indent="-514350" algn="just">
              <a:buClrTx/>
              <a:buFont typeface="Arial"/>
              <a:buAutoNum type="alphaLcParenR"/>
            </a:pPr>
            <a:r>
              <a:rPr lang="en-IN" sz="2400" kern="0" dirty="0" smtClean="0">
                <a:solidFill>
                  <a:schemeClr val="tx1"/>
                </a:solidFill>
              </a:rPr>
              <a:t>Memory Registers Information</a:t>
            </a:r>
          </a:p>
          <a:p>
            <a:pPr marL="539750" indent="-514350" algn="just">
              <a:buClrTx/>
              <a:buFont typeface="Arial"/>
              <a:buAutoNum type="alphaLcParenR"/>
            </a:pPr>
            <a:endParaRPr lang="en-IN" sz="2400" kern="0" dirty="0">
              <a:solidFill>
                <a:schemeClr val="tx1"/>
              </a:solidFill>
            </a:endParaRPr>
          </a:p>
          <a:p>
            <a:pPr marL="25400" indent="0" algn="just">
              <a:buClrTx/>
            </a:pPr>
            <a:r>
              <a:rPr lang="en-IN" sz="2400" kern="0" dirty="0" smtClean="0">
                <a:solidFill>
                  <a:schemeClr val="tx1"/>
                </a:solidFill>
              </a:rPr>
              <a:t>10. </a:t>
            </a:r>
            <a:r>
              <a:rPr lang="en-US" sz="2400" dirty="0"/>
              <a:t>A group of bits that tell the computer to perform a specific operation is known </a:t>
            </a:r>
            <a:r>
              <a:rPr lang="en-US" sz="2400" dirty="0" smtClean="0"/>
              <a:t>as</a:t>
            </a:r>
          </a:p>
          <a:p>
            <a:pPr marL="25400" indent="0" algn="just">
              <a:buClrTx/>
            </a:pPr>
            <a:r>
              <a:rPr lang="en-US" sz="2400" b="1" dirty="0" smtClean="0"/>
              <a:t>a) </a:t>
            </a:r>
            <a:r>
              <a:rPr lang="en-US" sz="2400" dirty="0" smtClean="0"/>
              <a:t>Instruction code </a:t>
            </a:r>
          </a:p>
          <a:p>
            <a:pPr marL="25400" indent="0" algn="just">
              <a:buClrTx/>
            </a:pPr>
            <a:r>
              <a:rPr lang="en-US" sz="2400" b="1" dirty="0" smtClean="0"/>
              <a:t>b) </a:t>
            </a:r>
            <a:r>
              <a:rPr lang="en-US" sz="2400" dirty="0" smtClean="0"/>
              <a:t>Micro-operation </a:t>
            </a:r>
          </a:p>
          <a:p>
            <a:pPr marL="25400" indent="0" algn="just">
              <a:buClrTx/>
            </a:pPr>
            <a:r>
              <a:rPr lang="en-US" sz="2400" b="1" dirty="0" smtClean="0"/>
              <a:t>c) </a:t>
            </a:r>
            <a:r>
              <a:rPr lang="en-US" sz="2400" dirty="0" smtClean="0"/>
              <a:t>Accumulator </a:t>
            </a:r>
          </a:p>
          <a:p>
            <a:pPr marL="25400" indent="0" algn="just">
              <a:buClrTx/>
            </a:pPr>
            <a:r>
              <a:rPr lang="en-US" sz="2400" b="1" dirty="0" smtClean="0"/>
              <a:t>d) </a:t>
            </a:r>
            <a:r>
              <a:rPr lang="en-US" sz="2400" dirty="0" smtClean="0"/>
              <a:t>Register </a:t>
            </a:r>
            <a:endParaRPr lang="en-US" sz="2400" dirty="0"/>
          </a:p>
          <a:p>
            <a:pPr marL="25400" indent="0" algn="just"/>
            <a:endParaRPr lang="en-IN" kern="0" dirty="0" smtClean="0">
              <a:solidFill>
                <a:schemeClr val="tx1"/>
              </a:solidFill>
            </a:endParaRPr>
          </a:p>
          <a:p>
            <a:pPr marL="539750" indent="-514350" algn="just">
              <a:buFont typeface="Arial"/>
              <a:buAutoNum type="arabicPeriod"/>
            </a:pPr>
            <a:endParaRPr lang="en-IN" kern="0" dirty="0">
              <a:solidFill>
                <a:schemeClr val="tx1"/>
              </a:solidFill>
            </a:endParaRPr>
          </a:p>
        </p:txBody>
      </p:sp>
    </p:spTree>
    <p:extLst>
      <p:ext uri="{BB962C8B-B14F-4D97-AF65-F5344CB8AC3E}">
        <p14:creationId xmlns:p14="http://schemas.microsoft.com/office/powerpoint/2010/main" val="10116568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Answer Key</a:t>
            </a:r>
          </a:p>
        </p:txBody>
      </p:sp>
      <p:sp>
        <p:nvSpPr>
          <p:cNvPr id="3" name="Subtitle 2"/>
          <p:cNvSpPr>
            <a:spLocks noGrp="1"/>
          </p:cNvSpPr>
          <p:nvPr>
            <p:ph type="subTitle" idx="1"/>
          </p:nvPr>
        </p:nvSpPr>
        <p:spPr>
          <a:xfrm>
            <a:off x="711200" y="914401"/>
            <a:ext cx="10871200" cy="5807075"/>
          </a:xfrm>
        </p:spPr>
        <p:txBody>
          <a:bodyPr/>
          <a:lstStyle/>
          <a:p>
            <a:pPr marL="539750" indent="-514350" algn="just">
              <a:buAutoNum type="arabicPeriod"/>
            </a:pPr>
            <a:r>
              <a:rPr lang="en-US" dirty="0" smtClean="0"/>
              <a:t>C						</a:t>
            </a:r>
          </a:p>
          <a:p>
            <a:pPr marL="539750" indent="-514350" algn="just">
              <a:buAutoNum type="arabicPeriod"/>
            </a:pPr>
            <a:r>
              <a:rPr lang="en-US" dirty="0" smtClean="0"/>
              <a:t>C</a:t>
            </a:r>
          </a:p>
          <a:p>
            <a:pPr marL="539750" indent="-514350" algn="just">
              <a:buAutoNum type="arabicPeriod"/>
            </a:pPr>
            <a:r>
              <a:rPr lang="en-US" dirty="0" smtClean="0"/>
              <a:t>A</a:t>
            </a:r>
            <a:endParaRPr lang="en-US" dirty="0"/>
          </a:p>
          <a:p>
            <a:pPr marL="539750" indent="-514350" algn="just">
              <a:buAutoNum type="arabicPeriod"/>
            </a:pPr>
            <a:r>
              <a:rPr lang="en-US" dirty="0"/>
              <a:t>C</a:t>
            </a:r>
          </a:p>
          <a:p>
            <a:pPr marL="539750" indent="-514350" algn="just">
              <a:buAutoNum type="arabicPeriod"/>
            </a:pPr>
            <a:r>
              <a:rPr lang="en-US" dirty="0"/>
              <a:t>B</a:t>
            </a:r>
          </a:p>
          <a:p>
            <a:pPr marL="539750" indent="-514350" algn="just">
              <a:buAutoNum type="arabicPeriod"/>
            </a:pPr>
            <a:r>
              <a:rPr lang="en-US" dirty="0" smtClean="0"/>
              <a:t>C</a:t>
            </a:r>
          </a:p>
          <a:p>
            <a:pPr marL="539750" indent="-514350" algn="just">
              <a:buAutoNum type="arabicPeriod"/>
            </a:pPr>
            <a:r>
              <a:rPr lang="en-US" dirty="0" smtClean="0"/>
              <a:t>B</a:t>
            </a:r>
          </a:p>
          <a:p>
            <a:pPr marL="539750" indent="-514350" algn="just">
              <a:buAutoNum type="arabicPeriod"/>
            </a:pPr>
            <a:r>
              <a:rPr lang="en-US" dirty="0" smtClean="0"/>
              <a:t>C</a:t>
            </a:r>
          </a:p>
          <a:p>
            <a:pPr marL="539750" indent="-514350" algn="just">
              <a:buAutoNum type="arabicPeriod"/>
            </a:pPr>
            <a:r>
              <a:rPr lang="en-US" dirty="0" smtClean="0"/>
              <a:t>B</a:t>
            </a:r>
          </a:p>
          <a:p>
            <a:pPr marL="539750" indent="-514350" algn="just">
              <a:buAutoNum type="arabicPeriod"/>
            </a:pPr>
            <a:r>
              <a:rPr lang="en-US" dirty="0"/>
              <a:t> </a:t>
            </a:r>
            <a:r>
              <a:rPr lang="en-US" dirty="0" smtClean="0"/>
              <a:t>A</a:t>
            </a:r>
          </a:p>
          <a:p>
            <a:pPr marL="539750" indent="-514350" algn="just">
              <a:buAutoNum type="arabicPeriod"/>
            </a:pPr>
            <a:endParaRPr lang="en-US" dirty="0" smtClean="0"/>
          </a:p>
          <a:p>
            <a:pPr marL="539750" indent="-514350" algn="just">
              <a:buAutoNum type="arabicPeriod"/>
            </a:pPr>
            <a:endParaRPr lang="en-US" dirty="0"/>
          </a:p>
          <a:p>
            <a:pPr marL="539750" indent="-514350">
              <a:buAutoNum type="arabicPeriod"/>
            </a:pPr>
            <a:endParaRPr lang="en-US"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67</a:t>
            </a:fld>
            <a:endParaRPr lang="en-US" kern="0">
              <a:solidFill>
                <a:srgbClr val="000000"/>
              </a:solidFill>
            </a:endParaRPr>
          </a:p>
        </p:txBody>
      </p:sp>
    </p:spTree>
    <p:extLst>
      <p:ext uri="{BB962C8B-B14F-4D97-AF65-F5344CB8AC3E}">
        <p14:creationId xmlns:p14="http://schemas.microsoft.com/office/powerpoint/2010/main" val="29927412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4"/>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68</a:t>
            </a:fld>
            <a:endParaRPr/>
          </a:p>
        </p:txBody>
      </p:sp>
      <p:sp>
        <p:nvSpPr>
          <p:cNvPr id="265" name="Google Shape;265;p34"/>
          <p:cNvSpPr/>
          <p:nvPr/>
        </p:nvSpPr>
        <p:spPr>
          <a:xfrm>
            <a:off x="2002303" y="2996419"/>
            <a:ext cx="8088923" cy="1446550"/>
          </a:xfrm>
          <a:prstGeom prst="rect">
            <a:avLst/>
          </a:prstGeom>
          <a:noFill/>
          <a:ln>
            <a:noFill/>
          </a:ln>
        </p:spPr>
        <p:txBody>
          <a:bodyPr spcFirstLastPara="1" wrap="square" lIns="91425" tIns="45700" rIns="91425" bIns="45700" anchor="t" anchorCtr="0">
            <a:spAutoFit/>
          </a:bodyPr>
          <a:lstStyle/>
          <a:p>
            <a:pPr marL="914400" lvl="1" indent="-317500" algn="ctr"/>
            <a:r>
              <a:rPr lang="en-US" sz="8800" b="1">
                <a:solidFill>
                  <a:srgbClr val="000000"/>
                </a:solidFill>
                <a:latin typeface="Times New Roman"/>
                <a:ea typeface="Times New Roman"/>
                <a:cs typeface="Times New Roman"/>
                <a:sym typeface="Times New Roman"/>
              </a:rPr>
              <a:t>Thank You</a:t>
            </a:r>
            <a:endParaRPr sz="8800" b="1">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7529016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275</TotalTime>
  <Words>3911</Words>
  <Application>Microsoft Office PowerPoint</Application>
  <PresentationFormat>Widescreen</PresentationFormat>
  <Paragraphs>558</Paragraphs>
  <Slides>68</Slides>
  <Notes>44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68</vt:i4>
      </vt:variant>
    </vt:vector>
  </HeadingPairs>
  <TitlesOfParts>
    <vt:vector size="80" baseType="lpstr">
      <vt:lpstr>Arial</vt:lpstr>
      <vt:lpstr>Calibri</vt:lpstr>
      <vt:lpstr>Carlito</vt:lpstr>
      <vt:lpstr>Constantia</vt:lpstr>
      <vt:lpstr>Courier New</vt:lpstr>
      <vt:lpstr>Noto Sans Symbols</vt:lpstr>
      <vt:lpstr>Sen</vt:lpstr>
      <vt:lpstr>Symbol</vt:lpstr>
      <vt:lpstr>Times New Roman</vt:lpstr>
      <vt:lpstr>Ubuntu</vt:lpstr>
      <vt:lpstr>Wingdings</vt:lpstr>
      <vt:lpstr>Office Theme</vt:lpstr>
      <vt:lpstr>PowerPoint Presentation</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Timing and Control</vt:lpstr>
      <vt:lpstr>Hardwired Control unit of basic Computer</vt:lpstr>
      <vt:lpstr>Example of Control Timing Signals</vt:lpstr>
      <vt:lpstr>Instruction Cycle</vt:lpstr>
      <vt:lpstr>Fetch and Decode</vt:lpstr>
      <vt:lpstr>Cont…</vt:lpstr>
      <vt:lpstr>Process to Determine the Type of Instruction</vt:lpstr>
      <vt:lpstr>Determine the Type of Instruction- Flow Chart</vt:lpstr>
      <vt:lpstr>PowerPoint Presentation</vt:lpstr>
      <vt:lpstr>                      Memory reference instruction </vt:lpstr>
      <vt:lpstr>PowerPoint Presentation</vt:lpstr>
      <vt:lpstr>Memory reference instruction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Input-Output Configuration</vt:lpstr>
      <vt:lpstr>Input-Output Configuration</vt:lpstr>
      <vt:lpstr>Input-Output Flags</vt:lpstr>
      <vt:lpstr>Input-Output Instructions.</vt:lpstr>
      <vt:lpstr>Program Interrupt</vt:lpstr>
      <vt:lpstr>Flowchart of Interrupt cycle</vt:lpstr>
      <vt:lpstr>Interrupt cycle</vt:lpstr>
      <vt:lpstr>Question Practice (Subjective)</vt:lpstr>
      <vt:lpstr>PowerPoint Presentation</vt:lpstr>
      <vt:lpstr>PowerPoint Presentation</vt:lpstr>
      <vt:lpstr>PowerPoint Presentation</vt:lpstr>
      <vt:lpstr>Cont…</vt:lpstr>
      <vt:lpstr>Cont..</vt:lpstr>
      <vt:lpstr>Cont..</vt:lpstr>
      <vt:lpstr>MCQs</vt:lpstr>
      <vt:lpstr> </vt:lpstr>
      <vt:lpstr> </vt:lpstr>
      <vt:lpstr> </vt:lpstr>
      <vt:lpstr>PowerPoint Presentation</vt:lpstr>
      <vt:lpstr>Answer Key</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ORGANIZATION  BASIC COMPUTER ORGANIZATION: The basic computer organization has three main  components:  CPU Memory subsystem I/O subsystem.   The generic organization of these components is shown in the figure below.</dc:title>
  <dc:creator>PC</dc:creator>
  <cp:lastModifiedBy>TOSHIBA</cp:lastModifiedBy>
  <cp:revision>29</cp:revision>
  <cp:lastPrinted>2024-01-20T07:31:35Z</cp:lastPrinted>
  <dcterms:created xsi:type="dcterms:W3CDTF">2022-12-27T09:18:58Z</dcterms:created>
  <dcterms:modified xsi:type="dcterms:W3CDTF">2024-02-26T04:14:33Z</dcterms:modified>
</cp:coreProperties>
</file>